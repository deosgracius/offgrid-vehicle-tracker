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parts, one arc: the record of what broke, then the deepest dive we made into the failure that kept returning. Introduce the team and hand to Josiah.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expectations: this is a verification record, not a list of embarrassments. Show the entry: symptom as a stranger would see it, root cause, recovery, rule. Three failures struck the night before a test and all three were cleared in time because the signature was already written down.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it left to right. Failures cluster right before tests, and the same villain, battery death, returns three times. The New Mexico weekend went into the radios instead, which is why Part II exists.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Day one, none of it in a datasheet. Failure 1: the espressif32 platform with Arduino core 2.x boot-loops this panel; pioarduino with dio_opi fixed it. Failure 2: a stored bond makes the Meshtastic radio stop advertising to everyone; we pair Just-Works on every connect and never store a bond. Failure 3: RANDOM_PIN mode needs a keypad; rc=1284 is NimBLE 0x500+4, confirm value failed on our side. NO_PIN is a stored setting, so when a radio reverts, the display log shows status 261, the signature of failures 8 and 10.</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faults, one drive, none visible on a desk. Why 6 km: 2 to the power (32-13) times 1e-7 degrees is 0.052 degrees, 5.8 km of latitude; the default exists for privacy on public meshes. GPS jitter: a parked receiver's fix wanders a few metres and is reported as 1 to 3 mph; the deadband ignores anything under 4.5 km/h. Failures 5 and 6 are tooling: identity and verification.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Failure 7: slot = djb2(name) mod 104 = 43 for Group9, 902.125 + 43 x 0.25 = 912.875 MHz; the CLI reports what was written, the OLED what is radiating. Failure 8 is the hinge: three of four losses after a flat battery, partial and different each time; mitigations in October, root cause in Part II, do not pre-empt it. Failure 9 came from thirty seconds of night footage.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independent faults in one evening. Display 1: power banks shut off under a milliwatt load. Display 2: damaged USB-C pins on one side. The radio: third battery revert, named by status 261 in one line. Diagnosed in forty minutes because every one had a written signature.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campaigns; each found what the previous one could not. Canyon: behind rock the link is intermittent at any distance; a seven-minute outage healed with one packet; the rim antenna held 4.7 mi. New Mexico: on site below the Capitan Mountains on the 25th, a National Weather Service flash flood warning stopped the roof-top antenna drive; rescheduled for the next clear weekend.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words: the settings are files on a 16 MB flash chip, in a 3.4 MB corner of it. Worn out would look like random damage everywhere. Defective would look like fixed bad spots that stay bad. Written under bad power would look like fixed bad spots that heal when rewritten. The rest of Part II collects exactly the data that separates those three.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Red boxes in the figure are the policy weaknesses: the power gate that always returns true on ESP32 (weak default in PowerHAL.cpp, no override in src/platform/esp32), the one non-atomic file (nodes.proto), the ignored close() result, and the load-failure path in NodeDB.cpp that installs factory defaults and saves them with no retry and no backup consulted. The boot log shows device.proto re-saved on every boot. The one protection: the low-battery deep sleep skips the write, which proves the authors knew the danger. The damage happens in the reboot churn around a flat battery, not in the shutdown itself.</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sheet is the mechanism. Two chips share one supply line. The CPU keeps running down to 2.44 V, its brownout reset as the Arduino core is built. The flash is specified above 2.70 V and its datasheet says VCC must be held in range during all operations. A 27 dBm transmit draws about 750 mA; on a nearly flat cell the regulator cannot hold the rail through the pulse. A page program takes 0.6 ms, a sector erase 50 ms, and the firmware writes on every boot, so a write eventually lands in the dip. The 3.10 V deep-sleep trigger protects a slow discharge, not these fast dips. The rail excursion itself is the one link not yet measured; the scope capture closes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are not the first. The same loss has been reported on these boards since 2023 and the maintainers' reading matches ours. The nRF52 boards received a fix in 2026; the ESP32 boards we run did not. The community workaround on the last line is what became our fix 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predictions first, then the data. H1: the firmware touches about 20 of 864 sectors per boot; reaching 100k cycles would take millions of boots. H2 and H3 both predict fixed unstable sectors; only the erase-and-reprogram test separates them. H4: the LittleFS image mounts and every file decodes on both radios. H5: verified in NodeDB.cpp.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esptool loads a stub into RAM and takes over; the firmware is not running. Every chunk is MD5-checked, so a transfer error raises and a changed byte is what the chip returned. The pitfall cost two attempts and is itself evidence that the radio writes flash every time it starts. The LittleFS image also proved the configuration in flash on measurement day was correct. Attribution if asked: the recruiter supplied the hypothesis, the AI the experimental design and the code, the team the hardware, the authorisation of each destructive step and the checking; scripts and records are in the repository and the measurement repeats in four minutes without the AI.</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SF: 117 and 107 differing bytes between consecutive reads, 118 bits flipped in both directions, none inside erased areas, confined to 21 sectors with 12 carrying almost all of it. RG: zero. The live files on SF sat in clean sectors 25, 26 and 470 that day, which is why the radio was working; wear-levelling would have moved them onto the bad ones eventually. Plain words: the chip was asked the same question three times and gave different answers in the same 21 places; the control gave the same answer every time.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Numbers: fixed sectors, both bit directions, speed-independent, code partition stable: cells whose stored charge sits at the read threshold. Decisive test on sectors 57 and 31, free in LittleFS, so nothing was lost; sector 200 was the control. Zero mismatches in 45 reads: H2 falls, H3 stands. Repair: erase 0xC90000 to 0xFF0000 on USB, the first boot formats and installs defaults, --configure twice because the region write reboots mid-transaction (now User Guide 12.2), read back, reset, read back, three reads: 0 differing bytes; node key pair preserved. Thirty minutes end to end.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state today. The red bar is SF as found on the 27th; everything after it is zero, including SF after two days at zero percent battery on the new firmware; it reconnected at 18 percent and 3.40 V. Be honest: the radio was stored flat, not transmitting while it died, so the dangerous write may not have happened this time. Fix 1 makes a revert harmless; it does not remove the cause. The five running-flat cycles per radio, flash map read after each, are what prove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chain left to right: the battery goes flat; on recovery the radio boots and reboots; every boot writes a settings file with no check of the supply; the supply is sagging where the CPU runs but the flash is not guaranteed; cells are left half-written; next boot a file will not decode and the firmware installs factory defaults. One link is inferred rather than measured, the rail voltage during the event; an oscilloscope on the 3V3 pin during a transmit burst at 3.4 V cell voltage closes it, and we say so.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Fix 1 is the community's own answer to issue 4555: Meshtastic rebuilt from source with a userPrefs.jsonc naming channel, key, precision, region, preset, owner names, role and cadence, plus a one-line patch for default No PIN. The key is compiled into a binary that never leaves the private repository. Acceptance on 28 October: flash, --factory-reset, read back with zero provisioning; SF came back as SF and RG as RG on Group9 with the key. The snapshot restores the smart-broadcast minimums, the 21 presets and the original key pair. Fix 2 removes the cause, fix 3 cleans the past, fix 4 is the hardware-correct answer. The ask: approve the flat-battery campaign before the next drive.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Attribution policy: say exactly who supplied what. Hypothesis: the recruiter. Experimental design, code and analysis: the AI assistant, under the team's direction. Hardware, authorisation and checking: the team. Reproducibility: the repository; the sector map re-runs on either radio in four minutes.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bar. Then the ask: fix 1 is proven on both radios; approve the flat-battery campaign before the next field test.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59"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481328"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139696"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798063"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456431"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799"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773167"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31535"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089903"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748271"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406639"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5007"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723376"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381744"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40112"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698480"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1356848"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2015216"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64592" y="146304"/>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64592" y="804672"/>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64592" y="1463040"/>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64592" y="2121408"/>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64592" y="2779776"/>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64592" y="3438144"/>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64592" y="4096511"/>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64592" y="4754879"/>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64592" y="5413247"/>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64592" y="6071615"/>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34" name="TextBox 33"/>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TESTS, FAILURES, ROOT CAUSE</a:t>
            </a:r>
          </a:p>
        </p:txBody>
      </p:sp>
      <p:sp>
        <p:nvSpPr>
          <p:cNvPr id="35" name="TextBox 34"/>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01/21  REV E  2026-11-04</a:t>
            </a:r>
          </a:p>
        </p:txBody>
      </p:sp>
      <p:sp>
        <p:nvSpPr>
          <p:cNvPr id="36" name="Rectangle 35"/>
          <p:cNvSpPr/>
          <p:nvPr/>
        </p:nvSpPr>
        <p:spPr>
          <a:xfrm>
            <a:off x="9646920" y="347472"/>
            <a:ext cx="2148840" cy="420624"/>
          </a:xfrm>
          <a:prstGeom prst="rect">
            <a:avLst/>
          </a:prstGeom>
          <a:solidFill>
            <a:srgbClr val="FFFFFF"/>
          </a:solidFill>
          <a:ln w="19050">
            <a:solidFill>
              <a:srgbClr val="D948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D9488C"/>
                </a:solidFill>
                <a:latin typeface="Courier New"/>
              </a:rPr>
              <a:t>OWNER: CANNON</a:t>
            </a:r>
          </a:p>
        </p:txBody>
      </p:sp>
      <p:sp>
        <p:nvSpPr>
          <p:cNvPr id="38" name="TextBox 37"/>
          <p:cNvSpPr txBox="1"/>
          <p:nvPr/>
        </p:nvSpPr>
        <p:spPr>
          <a:xfrm>
            <a:off x="640080" y="914400"/>
            <a:ext cx="10881360" cy="822960"/>
          </a:xfrm>
          <a:prstGeom prst="rect">
            <a:avLst/>
          </a:prstGeom>
          <a:noFill/>
        </p:spPr>
        <p:txBody>
          <a:bodyPr wrap="square" lIns="0" rIns="0" tIns="0" bIns="0">
            <a:spAutoFit/>
          </a:bodyPr>
          <a:lstStyle/>
          <a:p>
            <a:pPr algn="l"/>
            <a:r>
              <a:rPr sz="3400" b="1" i="0" spc="300">
                <a:solidFill>
                  <a:srgbClr val="16213D"/>
                </a:solidFill>
                <a:latin typeface="Cambria"/>
              </a:rPr>
              <a:t>WHAT BROKE, AND WHAT IT TAUGHT US</a:t>
            </a:r>
          </a:p>
        </p:txBody>
      </p:sp>
      <p:sp>
        <p:nvSpPr>
          <p:cNvPr id="39" name="TextBox 38"/>
          <p:cNvSpPr txBox="1"/>
          <p:nvPr/>
        </p:nvSpPr>
        <p:spPr>
          <a:xfrm>
            <a:off x="658368" y="1755648"/>
            <a:ext cx="10881360" cy="411480"/>
          </a:xfrm>
          <a:prstGeom prst="rect">
            <a:avLst/>
          </a:prstGeom>
          <a:noFill/>
        </p:spPr>
        <p:txBody>
          <a:bodyPr wrap="square" lIns="0" rIns="0" tIns="0" bIns="0">
            <a:spAutoFit/>
          </a:bodyPr>
          <a:lstStyle/>
          <a:p>
            <a:pPr algn="l"/>
            <a:r>
              <a:rPr sz="1600" b="1" i="0" spc="100">
                <a:solidFill>
                  <a:srgbClr val="E58E1A"/>
                </a:solidFill>
                <a:latin typeface="Cambria"/>
              </a:rPr>
              <a:t>THE TEST AND FAILURE RECORD, AND THE ONE FAILURE WE CHASED TO THE SILICON</a:t>
            </a:r>
          </a:p>
        </p:txBody>
      </p:sp>
      <p:sp>
        <p:nvSpPr>
          <p:cNvPr id="40" name="TextBox 39"/>
          <p:cNvSpPr txBox="1"/>
          <p:nvPr/>
        </p:nvSpPr>
        <p:spPr>
          <a:xfrm>
            <a:off x="658368" y="2331720"/>
            <a:ext cx="7315200" cy="1188720"/>
          </a:xfrm>
          <a:prstGeom prst="rect">
            <a:avLst/>
          </a:prstGeom>
          <a:noFill/>
        </p:spPr>
        <p:txBody>
          <a:bodyPr wrap="square" lIns="0" rIns="0" tIns="0" bIns="0">
            <a:spAutoFit/>
          </a:bodyPr>
          <a:lstStyle/>
          <a:p>
            <a:pPr algn="l"/>
            <a:r>
              <a:rPr sz="1400" b="0" i="0">
                <a:solidFill>
                  <a:srgbClr val="222A3F"/>
                </a:solidFill>
                <a:latin typeface="Cambria"/>
              </a:rPr>
              <a:t>Part I: ten failures, each with the rule it left behind. Part II: the one that kept returning, traced to the flash cells, repaired, and fixed.</a:t>
            </a:r>
          </a:p>
        </p:txBody>
      </p:sp>
      <p:sp>
        <p:nvSpPr>
          <p:cNvPr id="41" name="TextBox 40"/>
          <p:cNvSpPr txBox="1"/>
          <p:nvPr/>
        </p:nvSpPr>
        <p:spPr>
          <a:xfrm>
            <a:off x="7589520" y="3657600"/>
            <a:ext cx="3931920" cy="2377440"/>
          </a:xfrm>
          <a:prstGeom prst="rect">
            <a:avLst/>
          </a:prstGeom>
          <a:noFill/>
        </p:spPr>
        <p:txBody>
          <a:bodyPr wrap="square" lIns="0" rIns="0" tIns="0" bIns="0">
            <a:spAutoFit/>
          </a:bodyPr>
          <a:lstStyle/>
          <a:p>
            <a:pPr algn="l"/>
            <a:r>
              <a:rPr sz="1300" b="0" i="0">
                <a:solidFill>
                  <a:srgbClr val="222A3F"/>
                </a:solidFill>
                <a:latin typeface="Courier New"/>
              </a:rPr>
              <a:t>Deo Grace Mwala
Josiah Horn
Victor Okwonna
Cannon Thomas
Sponsor: Dr. Richard Gale
4 November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 - THE FAILURES</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02/21  REV E  2026-11-04</a:t>
            </a:r>
          </a:p>
        </p:txBody>
      </p:sp>
      <p:sp>
        <p:nvSpPr>
          <p:cNvPr id="7" name="Rectangle 6"/>
          <p:cNvSpPr/>
          <p:nvPr/>
        </p:nvSpPr>
        <p:spPr>
          <a:xfrm>
            <a:off x="9646920" y="347472"/>
            <a:ext cx="2148840" cy="420624"/>
          </a:xfrm>
          <a:prstGeom prst="rect">
            <a:avLst/>
          </a:prstGeom>
          <a:solidFill>
            <a:srgbClr val="FFFFFF"/>
          </a:solidFill>
          <a:ln w="19050">
            <a:solidFill>
              <a:srgbClr val="6D4B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6D4BDB"/>
                </a:solidFill>
                <a:latin typeface="Courier New"/>
              </a:rPr>
              <a:t>OWNER: JOSIAH</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WHY THE FAILURES ARE THE DELIVERABLE</a:t>
            </a:r>
          </a:p>
        </p:txBody>
      </p:sp>
      <p:sp>
        <p:nvSpPr>
          <p:cNvPr id="10" name="Rectangle 9"/>
          <p:cNvSpPr/>
          <p:nvPr/>
        </p:nvSpPr>
        <p:spPr>
          <a:xfrm>
            <a:off x="502920" y="1234440"/>
            <a:ext cx="5394960" cy="141732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353312"/>
            <a:ext cx="5065776" cy="1179576"/>
          </a:xfrm>
          <a:prstGeom prst="rect">
            <a:avLst/>
          </a:prstGeom>
          <a:noFill/>
        </p:spPr>
        <p:txBody>
          <a:bodyPr wrap="square" lIns="0" rIns="0" tIns="0" bIns="0">
            <a:spAutoFit/>
          </a:bodyPr>
          <a:lstStyle/>
          <a:p>
            <a:r>
              <a:rPr sz="1300" b="1" spc="100">
                <a:solidFill>
                  <a:srgbClr val="16213D"/>
                </a:solidFill>
                <a:latin typeface="Cambria"/>
              </a:rPr>
              <a:t>A FAILURE IS ONLY USEFUL ONCE IT HAS A SIGNATURE</a:t>
            </a:r>
          </a:p>
          <a:p>
            <a:pPr>
              <a:spcBef>
                <a:spcPts val="500"/>
              </a:spcBef>
            </a:pPr>
            <a:r>
              <a:rPr sz="1250">
                <a:solidFill>
                  <a:srgbClr val="222A3F"/>
                </a:solidFill>
                <a:latin typeface="Cambria"/>
              </a:rPr>
              <a:t>Symptom as a stranger sees it, root cause, recovery.</a:t>
            </a:r>
          </a:p>
        </p:txBody>
      </p:sp>
      <p:sp>
        <p:nvSpPr>
          <p:cNvPr id="12" name="Rectangle 11"/>
          <p:cNvSpPr/>
          <p:nvPr/>
        </p:nvSpPr>
        <p:spPr>
          <a:xfrm>
            <a:off x="502920" y="2788920"/>
            <a:ext cx="5394960" cy="141732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 y="2907791"/>
            <a:ext cx="5065776" cy="1179576"/>
          </a:xfrm>
          <a:prstGeom prst="rect">
            <a:avLst/>
          </a:prstGeom>
          <a:noFill/>
        </p:spPr>
        <p:txBody>
          <a:bodyPr wrap="square" lIns="0" rIns="0" tIns="0" bIns="0">
            <a:spAutoFit/>
          </a:bodyPr>
          <a:lstStyle/>
          <a:p>
            <a:r>
              <a:rPr sz="1300" b="1" spc="100">
                <a:solidFill>
                  <a:srgbClr val="16213D"/>
                </a:solidFill>
                <a:latin typeface="Cambria"/>
              </a:rPr>
              <a:t>EACH FAILURE PRODUCED A RULE OR A FEATURE</a:t>
            </a:r>
          </a:p>
          <a:p>
            <a:pPr>
              <a:spcBef>
                <a:spcPts val="500"/>
              </a:spcBef>
            </a:pPr>
            <a:r>
              <a:rPr sz="1250">
                <a:solidFill>
                  <a:srgbClr val="222A3F"/>
                </a:solidFill>
                <a:latin typeface="Cambria"/>
              </a:rPr>
              <a:t>Pre-flight checks, the course-up compass, the config snapshot, LINK LOST.</a:t>
            </a:r>
          </a:p>
        </p:txBody>
      </p:sp>
      <p:sp>
        <p:nvSpPr>
          <p:cNvPr id="14" name="Rectangle 13"/>
          <p:cNvSpPr/>
          <p:nvPr/>
        </p:nvSpPr>
        <p:spPr>
          <a:xfrm>
            <a:off x="502920" y="4343400"/>
            <a:ext cx="5394960" cy="141732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 y="4462272"/>
            <a:ext cx="5065776" cy="1179576"/>
          </a:xfrm>
          <a:prstGeom prst="rect">
            <a:avLst/>
          </a:prstGeom>
          <a:noFill/>
        </p:spPr>
        <p:txBody>
          <a:bodyPr wrap="square" lIns="0" rIns="0" tIns="0" bIns="0">
            <a:spAutoFit/>
          </a:bodyPr>
          <a:lstStyle/>
          <a:p>
            <a:r>
              <a:rPr sz="1300" b="1" spc="100">
                <a:solidFill>
                  <a:srgbClr val="16213D"/>
                </a:solidFill>
                <a:latin typeface="Cambria"/>
              </a:rPr>
              <a:t>FIELD EQUIPMENT FAILS BETWEEN OUTINGS</a:t>
            </a:r>
          </a:p>
          <a:p>
            <a:pPr>
              <a:spcBef>
                <a:spcPts val="500"/>
              </a:spcBef>
            </a:pPr>
            <a:r>
              <a:rPr sz="1250">
                <a:solidFill>
                  <a:srgbClr val="222A3F"/>
                </a:solidFill>
                <a:latin typeface="Cambria"/>
              </a:rPr>
              <a:t>Three failures hit the night before a test. All three cleared in time.</a:t>
            </a:r>
          </a:p>
        </p:txBody>
      </p:sp>
      <p:sp>
        <p:nvSpPr>
          <p:cNvPr id="16" name="TextBox 15"/>
          <p:cNvSpPr txBox="1"/>
          <p:nvPr/>
        </p:nvSpPr>
        <p:spPr>
          <a:xfrm>
            <a:off x="6126480" y="1234440"/>
            <a:ext cx="5577840" cy="274320"/>
          </a:xfrm>
          <a:prstGeom prst="rect">
            <a:avLst/>
          </a:prstGeom>
          <a:noFill/>
        </p:spPr>
        <p:txBody>
          <a:bodyPr wrap="square" lIns="0" rIns="0" tIns="0" bIns="0">
            <a:spAutoFit/>
          </a:bodyPr>
          <a:lstStyle/>
          <a:p>
            <a:pPr algn="l"/>
            <a:r>
              <a:rPr sz="1100" b="1" i="0">
                <a:solidFill>
                  <a:srgbClr val="E58E1A"/>
                </a:solidFill>
                <a:latin typeface="Courier New"/>
              </a:rPr>
              <a:t>ONE CATALOG ENTRY, TECHNICAL MANUAL SECTION 16</a:t>
            </a:r>
          </a:p>
        </p:txBody>
      </p:sp>
      <p:graphicFrame>
        <p:nvGraphicFramePr>
          <p:cNvPr id="17" name="Table 16"/>
          <p:cNvGraphicFramePr>
            <a:graphicFrameLocks noGrp="1"/>
          </p:cNvGraphicFramePr>
          <p:nvPr/>
        </p:nvGraphicFramePr>
        <p:xfrm>
          <a:off x="6126480" y="1554480"/>
          <a:ext cx="5577840" cy="3291839"/>
        </p:xfrm>
        <a:graphic>
          <a:graphicData uri="http://schemas.openxmlformats.org/drawingml/2006/table">
            <a:tbl>
              <a:tblPr firstRow="1" bandRow="1">
                <a:tableStyleId>{5C22544A-7EE6-4342-B048-85BDC9FD1C3A}</a:tableStyleId>
              </a:tblPr>
              <a:tblGrid>
                <a:gridCol w="1143000"/>
                <a:gridCol w="4434840"/>
              </a:tblGrid>
              <a:tr h="658367">
                <a:tc>
                  <a:txBody>
                    <a:bodyPr/>
                    <a:lstStyle/>
                    <a:p>
                      <a:r>
                        <a:rPr sz="1100" b="1">
                          <a:solidFill>
                            <a:srgbClr val="FFFFFF"/>
                          </a:solidFill>
                          <a:latin typeface="Cambria"/>
                        </a:rPr>
                        <a:t>Field</a:t>
                      </a:r>
                    </a:p>
                  </a:txBody>
                  <a:tcPr marL="73152" marR="73152" marT="27432" marB="27432">
                    <a:solidFill>
                      <a:srgbClr val="16213D"/>
                    </a:solidFill>
                  </a:tcPr>
                </a:tc>
                <a:tc>
                  <a:txBody>
                    <a:bodyPr/>
                    <a:lstStyle/>
                    <a:p>
                      <a:r>
                        <a:rPr sz="1100" b="1">
                          <a:solidFill>
                            <a:srgbClr val="FFFFFF"/>
                          </a:solidFill>
                          <a:latin typeface="Cambria"/>
                        </a:rPr>
                        <a:t>Entry 1</a:t>
                      </a:r>
                    </a:p>
                  </a:txBody>
                  <a:tcPr marL="73152" marR="73152" marT="27432" marB="27432">
                    <a:solidFill>
                      <a:srgbClr val="16213D"/>
                    </a:solidFill>
                  </a:tcPr>
                </a:tc>
              </a:tr>
              <a:tr h="658367">
                <a:tc>
                  <a:txBody>
                    <a:bodyPr/>
                    <a:lstStyle/>
                    <a:p>
                      <a:r>
                        <a:rPr sz="1100" b="1">
                          <a:solidFill>
                            <a:srgbClr val="222A3F"/>
                          </a:solidFill>
                          <a:latin typeface="Cambria"/>
                        </a:rPr>
                        <a:t>Symptom</a:t>
                      </a:r>
                    </a:p>
                  </a:txBody>
                  <a:tcPr marL="73152" marR="73152" marT="27432" marB="27432">
                    <a:solidFill>
                      <a:srgbClr val="F2F5FA"/>
                    </a:solidFill>
                  </a:tcPr>
                </a:tc>
                <a:tc>
                  <a:txBody>
                    <a:bodyPr/>
                    <a:lstStyle/>
                    <a:p>
                      <a:r>
                        <a:rPr sz="1100" b="0">
                          <a:solidFill>
                            <a:srgbClr val="222A3F"/>
                          </a:solidFill>
                          <a:latin typeface="Cambria"/>
                        </a:rPr>
                        <a:t>Total silence; configs read back identical; 0 % channel use</a:t>
                      </a:r>
                    </a:p>
                  </a:txBody>
                  <a:tcPr marL="73152" marR="73152" marT="27432" marB="27432">
                    <a:solidFill>
                      <a:srgbClr val="F2F5FA"/>
                    </a:solidFill>
                  </a:tcPr>
                </a:tc>
              </a:tr>
              <a:tr h="658367">
                <a:tc>
                  <a:txBody>
                    <a:bodyPr/>
                    <a:lstStyle/>
                    <a:p>
                      <a:r>
                        <a:rPr sz="1100" b="1">
                          <a:solidFill>
                            <a:srgbClr val="222A3F"/>
                          </a:solidFill>
                          <a:latin typeface="Cambria"/>
                        </a:rPr>
                        <a:t>Root cause</a:t>
                      </a:r>
                    </a:p>
                  </a:txBody>
                  <a:tcPr marL="73152" marR="73152" marT="27432" marB="27432">
                    <a:solidFill>
                      <a:srgbClr val="FFFFFF"/>
                    </a:solidFill>
                  </a:tcPr>
                </a:tc>
                <a:tc>
                  <a:txBody>
                    <a:bodyPr/>
                    <a:lstStyle/>
                    <a:p>
                      <a:r>
                        <a:rPr sz="1100" b="0">
                          <a:solidFill>
                            <a:srgbClr val="222A3F"/>
                          </a:solidFill>
                          <a:latin typeface="Cambria"/>
                        </a:rPr>
                        <a:t>Frequency slot mismatch: one channel write silently reverted</a:t>
                      </a:r>
                    </a:p>
                  </a:txBody>
                  <a:tcPr marL="73152" marR="73152" marT="27432" marB="27432">
                    <a:solidFill>
                      <a:srgbClr val="FFFFFF"/>
                    </a:solidFill>
                  </a:tcPr>
                </a:tc>
              </a:tr>
              <a:tr h="658367">
                <a:tc>
                  <a:txBody>
                    <a:bodyPr/>
                    <a:lstStyle/>
                    <a:p>
                      <a:r>
                        <a:rPr sz="1100" b="1">
                          <a:solidFill>
                            <a:srgbClr val="222A3F"/>
                          </a:solidFill>
                          <a:latin typeface="Cambria"/>
                        </a:rPr>
                        <a:t>Recovery</a:t>
                      </a:r>
                    </a:p>
                  </a:txBody>
                  <a:tcPr marL="73152" marR="73152" marT="27432" marB="27432">
                    <a:solidFill>
                      <a:srgbClr val="F2F5FA"/>
                    </a:solidFill>
                  </a:tcPr>
                </a:tc>
                <a:tc>
                  <a:txBody>
                    <a:bodyPr/>
                    <a:lstStyle/>
                    <a:p>
                      <a:r>
                        <a:rPr sz="1100" b="0">
                          <a:solidFill>
                            <a:srgbClr val="222A3F"/>
                          </a:solidFill>
                          <a:latin typeface="Cambria"/>
                        </a:rPr>
                        <a:t>Both OLEDs must read 912.875; re-apply channel, verify, power-cycle</a:t>
                      </a:r>
                    </a:p>
                  </a:txBody>
                  <a:tcPr marL="73152" marR="73152" marT="27432" marB="27432">
                    <a:solidFill>
                      <a:srgbClr val="F2F5FA"/>
                    </a:solidFill>
                  </a:tcPr>
                </a:tc>
              </a:tr>
              <a:tr h="658371">
                <a:tc>
                  <a:txBody>
                    <a:bodyPr/>
                    <a:lstStyle/>
                    <a:p>
                      <a:r>
                        <a:rPr sz="1100" b="1">
                          <a:solidFill>
                            <a:srgbClr val="222A3F"/>
                          </a:solidFill>
                          <a:latin typeface="Cambria"/>
                        </a:rPr>
                        <a:t>Rule</a:t>
                      </a:r>
                    </a:p>
                  </a:txBody>
                  <a:tcPr marL="73152" marR="73152" marT="27432" marB="27432">
                    <a:solidFill>
                      <a:srgbClr val="FFFFFF"/>
                    </a:solidFill>
                  </a:tcPr>
                </a:tc>
                <a:tc>
                  <a:txBody>
                    <a:bodyPr/>
                    <a:lstStyle/>
                    <a:p>
                      <a:r>
                        <a:rPr sz="1100" b="0">
                          <a:solidFill>
                            <a:srgbClr val="222A3F"/>
                          </a:solidFill>
                          <a:latin typeface="Cambria"/>
                        </a:rPr>
                        <a:t>Pre-flight: both OLEDs read 912.875 before any drive</a:t>
                      </a:r>
                    </a:p>
                  </a:txBody>
                  <a:tcPr marL="73152" marR="73152" marT="27432" marB="27432">
                    <a:solidFill>
                      <a:srgbClr val="FFFFFF"/>
                    </a:solidFill>
                  </a:tcPr>
                </a:tc>
              </a:tr>
            </a:tbl>
          </a:graphicData>
        </a:graphic>
      </p:graphicFrame>
      <p:sp>
        <p:nvSpPr>
          <p:cNvPr id="18" name="TextBox 17"/>
          <p:cNvSpPr txBox="1"/>
          <p:nvPr/>
        </p:nvSpPr>
        <p:spPr>
          <a:xfrm>
            <a:off x="6126480" y="5029200"/>
            <a:ext cx="5577840" cy="731520"/>
          </a:xfrm>
          <a:prstGeom prst="rect">
            <a:avLst/>
          </a:prstGeom>
          <a:noFill/>
        </p:spPr>
        <p:txBody>
          <a:bodyPr wrap="square" lIns="0" rIns="0" tIns="0" bIns="0">
            <a:spAutoFit/>
          </a:bodyPr>
          <a:lstStyle/>
          <a:p>
            <a:pPr algn="l"/>
            <a:r>
              <a:rPr sz="1150" b="0" i="1">
                <a:solidFill>
                  <a:srgbClr val="5E6B85"/>
                </a:solidFill>
                <a:latin typeface="Cambria"/>
              </a:rPr>
              <a:t>Eleven entries in this form, every one reproduced on this hardware.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 - THE FAILURES</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03/21  REV E  2026-11-04</a:t>
            </a:r>
          </a:p>
        </p:txBody>
      </p:sp>
      <p:sp>
        <p:nvSpPr>
          <p:cNvPr id="7" name="Rectangle 6"/>
          <p:cNvSpPr/>
          <p:nvPr/>
        </p:nvSpPr>
        <p:spPr>
          <a:xfrm>
            <a:off x="9646920" y="347472"/>
            <a:ext cx="2148840" cy="420624"/>
          </a:xfrm>
          <a:prstGeom prst="rect">
            <a:avLst/>
          </a:prstGeom>
          <a:solidFill>
            <a:srgbClr val="FFFFFF"/>
          </a:solidFill>
          <a:ln w="19050">
            <a:solidFill>
              <a:srgbClr val="D948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D9488C"/>
                </a:solidFill>
                <a:latin typeface="Courier New"/>
              </a:rPr>
              <a:t>OWNER: CANNON</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THE SEMESTER ON ONE LINE</a:t>
            </a:r>
          </a:p>
        </p:txBody>
      </p:sp>
      <p:pic>
        <p:nvPicPr>
          <p:cNvPr id="10" name="Picture 9" descr="g_failtimeline.png"/>
          <p:cNvPicPr>
            <a:picLocks noChangeAspect="1"/>
          </p:cNvPicPr>
          <p:nvPr/>
        </p:nvPicPr>
        <p:blipFill>
          <a:blip r:embed="rId2"/>
          <a:stretch>
            <a:fillRect/>
          </a:stretch>
        </p:blipFill>
        <p:spPr>
          <a:xfrm>
            <a:off x="502920" y="1188720"/>
            <a:ext cx="11155680" cy="4732713"/>
          </a:xfrm>
          <a:prstGeom prst="rect">
            <a:avLst/>
          </a:prstGeom>
        </p:spPr>
      </p:pic>
      <p:sp>
        <p:nvSpPr>
          <p:cNvPr id="11" name="TextBox 10"/>
          <p:cNvSpPr txBox="1"/>
          <p:nvPr/>
        </p:nvSpPr>
        <p:spPr>
          <a:xfrm>
            <a:off x="502920" y="5897880"/>
            <a:ext cx="11155680" cy="320040"/>
          </a:xfrm>
          <a:prstGeom prst="rect">
            <a:avLst/>
          </a:prstGeom>
          <a:noFill/>
        </p:spPr>
        <p:txBody>
          <a:bodyPr wrap="square" lIns="0" rIns="0" tIns="0" bIns="0">
            <a:spAutoFit/>
          </a:bodyPr>
          <a:lstStyle/>
          <a:p>
            <a:pPr algn="ctr"/>
            <a:r>
              <a:rPr sz="1050" b="1" i="0">
                <a:solidFill>
                  <a:srgbClr val="5E6B85"/>
                </a:solidFill>
                <a:latin typeface="Courier New"/>
              </a:rPr>
              <a:t>RED: FAILURES.  GREEN: TESTS.  HOLLOW TRIANGLE: NEW MEXICO, STOPPED BY A FLASH FLOOD WARNING.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 - THE FAILURES</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04/21  REV E  2026-11-04</a:t>
            </a:r>
          </a:p>
        </p:txBody>
      </p:sp>
      <p:sp>
        <p:nvSpPr>
          <p:cNvPr id="7" name="Rectangle 6"/>
          <p:cNvSpPr/>
          <p:nvPr/>
        </p:nvSpPr>
        <p:spPr>
          <a:xfrm>
            <a:off x="9646920" y="347472"/>
            <a:ext cx="2148840" cy="420624"/>
          </a:xfrm>
          <a:prstGeom prst="rect">
            <a:avLst/>
          </a:prstGeom>
          <a:solidFill>
            <a:srgbClr val="FFFFFF"/>
          </a:solidFill>
          <a:ln w="19050">
            <a:solidFill>
              <a:srgbClr val="6D4B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6D4BDB"/>
                </a:solidFill>
                <a:latin typeface="Courier New"/>
              </a:rPr>
              <a:t>OWNER: JOSIAH</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FAILURES 1-3: BRING-UP, AUGUST 30-31</a:t>
            </a:r>
          </a:p>
        </p:txBody>
      </p:sp>
      <p:sp>
        <p:nvSpPr>
          <p:cNvPr id="10" name="TextBox 9"/>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Cause, impact, fix, and what each one became</a:t>
            </a:r>
          </a:p>
        </p:txBody>
      </p:sp>
      <p:graphicFrame>
        <p:nvGraphicFramePr>
          <p:cNvPr id="11" name="Table 10"/>
          <p:cNvGraphicFramePr>
            <a:graphicFrameLocks noGrp="1"/>
          </p:cNvGraphicFramePr>
          <p:nvPr/>
        </p:nvGraphicFramePr>
        <p:xfrm>
          <a:off x="502920" y="1234440"/>
          <a:ext cx="11155680" cy="2852928"/>
        </p:xfrm>
        <a:graphic>
          <a:graphicData uri="http://schemas.openxmlformats.org/drawingml/2006/table">
            <a:tbl>
              <a:tblPr firstRow="1" bandRow="1">
                <a:tableStyleId>{5C22544A-7EE6-4342-B048-85BDC9FD1C3A}</a:tableStyleId>
              </a:tblPr>
              <a:tblGrid>
                <a:gridCol w="1554480"/>
                <a:gridCol w="2834640"/>
                <a:gridCol w="2103120"/>
                <a:gridCol w="2286000"/>
                <a:gridCol w="2377440"/>
              </a:tblGrid>
              <a:tr h="713232">
                <a:tc>
                  <a:txBody>
                    <a:bodyPr/>
                    <a:lstStyle/>
                    <a:p>
                      <a:r>
                        <a:rPr sz="1100" b="1">
                          <a:solidFill>
                            <a:srgbClr val="FFFFFF"/>
                          </a:solidFill>
                          <a:latin typeface="Cambria"/>
                        </a:rPr>
                        <a:t>Failure</a:t>
                      </a:r>
                    </a:p>
                  </a:txBody>
                  <a:tcPr marL="73152" marR="73152" marT="27432" marB="27432">
                    <a:solidFill>
                      <a:srgbClr val="16213D"/>
                    </a:solidFill>
                  </a:tcPr>
                </a:tc>
                <a:tc>
                  <a:txBody>
                    <a:bodyPr/>
                    <a:lstStyle/>
                    <a:p>
                      <a:r>
                        <a:rPr sz="1100" b="1">
                          <a:solidFill>
                            <a:srgbClr val="FFFFFF"/>
                          </a:solidFill>
                          <a:latin typeface="Cambria"/>
                        </a:rPr>
                        <a:t>Cause</a:t>
                      </a:r>
                    </a:p>
                  </a:txBody>
                  <a:tcPr marL="73152" marR="73152" marT="27432" marB="27432">
                    <a:solidFill>
                      <a:srgbClr val="16213D"/>
                    </a:solidFill>
                  </a:tcPr>
                </a:tc>
                <a:tc>
                  <a:txBody>
                    <a:bodyPr/>
                    <a:lstStyle/>
                    <a:p>
                      <a:r>
                        <a:rPr sz="1100" b="1">
                          <a:solidFill>
                            <a:srgbClr val="FFFFFF"/>
                          </a:solidFill>
                          <a:latin typeface="Cambria"/>
                        </a:rPr>
                        <a:t>Impact</a:t>
                      </a:r>
                    </a:p>
                  </a:txBody>
                  <a:tcPr marL="73152" marR="73152" marT="27432" marB="27432">
                    <a:solidFill>
                      <a:srgbClr val="16213D"/>
                    </a:solidFill>
                  </a:tcPr>
                </a:tc>
                <a:tc>
                  <a:txBody>
                    <a:bodyPr/>
                    <a:lstStyle/>
                    <a:p>
                      <a:r>
                        <a:rPr sz="1100" b="1">
                          <a:solidFill>
                            <a:srgbClr val="FFFFFF"/>
                          </a:solidFill>
                          <a:latin typeface="Cambria"/>
                        </a:rPr>
                        <a:t>Fix</a:t>
                      </a:r>
                    </a:p>
                  </a:txBody>
                  <a:tcPr marL="73152" marR="73152" marT="27432" marB="27432">
                    <a:solidFill>
                      <a:srgbClr val="16213D"/>
                    </a:solidFill>
                  </a:tcPr>
                </a:tc>
                <a:tc>
                  <a:txBody>
                    <a:bodyPr/>
                    <a:lstStyle/>
                    <a:p>
                      <a:r>
                        <a:rPr sz="1100" b="1">
                          <a:solidFill>
                            <a:srgbClr val="FFFFFF"/>
                          </a:solidFill>
                          <a:latin typeface="Cambria"/>
                        </a:rPr>
                        <a:t>Became</a:t>
                      </a:r>
                    </a:p>
                  </a:txBody>
                  <a:tcPr marL="73152" marR="73152" marT="27432" marB="27432">
                    <a:solidFill>
                      <a:srgbClr val="16213D"/>
                    </a:solidFill>
                  </a:tcPr>
                </a:tc>
              </a:tr>
              <a:tr h="713232">
                <a:tc>
                  <a:txBody>
                    <a:bodyPr/>
                    <a:lstStyle/>
                    <a:p>
                      <a:r>
                        <a:rPr sz="1100" b="1">
                          <a:solidFill>
                            <a:srgbClr val="222A3F"/>
                          </a:solidFill>
                          <a:latin typeface="Cambria"/>
                        </a:rPr>
                        <a:t>1  Display boot-loop</a:t>
                      </a:r>
                    </a:p>
                  </a:txBody>
                  <a:tcPr marL="73152" marR="73152" marT="27432" marB="27432">
                    <a:solidFill>
                      <a:srgbClr val="F2F5FA"/>
                    </a:solidFill>
                  </a:tcPr>
                </a:tc>
                <a:tc>
                  <a:txBody>
                    <a:bodyPr/>
                    <a:lstStyle/>
                    <a:p>
                      <a:r>
                        <a:rPr sz="1100" b="0">
                          <a:solidFill>
                            <a:srgbClr val="222A3F"/>
                          </a:solidFill>
                          <a:latin typeface="Cambria"/>
                        </a:rPr>
                        <a:t>Official platform cannot start this chip revision</a:t>
                      </a:r>
                    </a:p>
                  </a:txBody>
                  <a:tcPr marL="73152" marR="73152" marT="27432" marB="27432">
                    <a:solidFill>
                      <a:srgbClr val="F2F5FA"/>
                    </a:solidFill>
                  </a:tcPr>
                </a:tc>
                <a:tc>
                  <a:txBody>
                    <a:bodyPr/>
                    <a:lstStyle/>
                    <a:p>
                      <a:r>
                        <a:rPr sz="1100" b="0">
                          <a:solidFill>
                            <a:srgbClr val="222A3F"/>
                          </a:solidFill>
                          <a:latin typeface="Cambria"/>
                        </a:rPr>
                        <a:t>No display; a day lost</a:t>
                      </a:r>
                    </a:p>
                  </a:txBody>
                  <a:tcPr marL="73152" marR="73152" marT="27432" marB="27432">
                    <a:solidFill>
                      <a:srgbClr val="F2F5FA"/>
                    </a:solidFill>
                  </a:tcPr>
                </a:tc>
                <a:tc>
                  <a:txBody>
                    <a:bodyPr/>
                    <a:lstStyle/>
                    <a:p>
                      <a:r>
                        <a:rPr sz="1100" b="0">
                          <a:solidFill>
                            <a:srgbClr val="222A3F"/>
                          </a:solidFill>
                          <a:latin typeface="Cambria"/>
                        </a:rPr>
                        <a:t>pioarduino, dio_opi memory</a:t>
                      </a:r>
                    </a:p>
                  </a:txBody>
                  <a:tcPr marL="73152" marR="73152" marT="27432" marB="27432">
                    <a:solidFill>
                      <a:srgbClr val="F2F5FA"/>
                    </a:solidFill>
                  </a:tcPr>
                </a:tc>
                <a:tc>
                  <a:txBody>
                    <a:bodyPr/>
                    <a:lstStyle/>
                    <a:p>
                      <a:r>
                        <a:rPr sz="1100" b="0">
                          <a:solidFill>
                            <a:srgbClr val="222A3F"/>
                          </a:solidFill>
                          <a:latin typeface="Cambria"/>
                        </a:rPr>
                        <a:t>Rule: vendor IDF config is ground truth</a:t>
                      </a:r>
                    </a:p>
                  </a:txBody>
                  <a:tcPr marL="73152" marR="73152" marT="27432" marB="27432">
                    <a:solidFill>
                      <a:srgbClr val="F2F5FA"/>
                    </a:solidFill>
                  </a:tcPr>
                </a:tc>
              </a:tr>
              <a:tr h="713232">
                <a:tc>
                  <a:txBody>
                    <a:bodyPr/>
                    <a:lstStyle/>
                    <a:p>
                      <a:r>
                        <a:rPr sz="1100" b="1">
                          <a:solidFill>
                            <a:srgbClr val="222A3F"/>
                          </a:solidFill>
                          <a:latin typeface="Cambria"/>
                        </a:rPr>
                        <a:t>2  Bonded radio invisible</a:t>
                      </a:r>
                    </a:p>
                  </a:txBody>
                  <a:tcPr marL="73152" marR="73152" marT="27432" marB="27432">
                    <a:solidFill>
                      <a:srgbClr val="FFFFFF"/>
                    </a:solidFill>
                  </a:tcPr>
                </a:tc>
                <a:tc>
                  <a:txBody>
                    <a:bodyPr/>
                    <a:lstStyle/>
                    <a:p>
                      <a:r>
                        <a:rPr sz="1100" b="0">
                          <a:solidFill>
                            <a:srgbClr val="222A3F"/>
                          </a:solidFill>
                          <a:latin typeface="Cambria"/>
                        </a:rPr>
                        <a:t>A stored BLE bond stops the radio advertising</a:t>
                      </a:r>
                    </a:p>
                  </a:txBody>
                  <a:tcPr marL="73152" marR="73152" marT="27432" marB="27432">
                    <a:solidFill>
                      <a:srgbClr val="FFFFFF"/>
                    </a:solidFill>
                  </a:tcPr>
                </a:tc>
                <a:tc>
                  <a:txBody>
                    <a:bodyPr/>
                    <a:lstStyle/>
                    <a:p>
                      <a:r>
                        <a:rPr sz="1100" b="0">
                          <a:solidFill>
                            <a:srgbClr val="222A3F"/>
                          </a:solidFill>
                          <a:latin typeface="Cambria"/>
                        </a:rPr>
                        <a:t>Display cannot find the radio</a:t>
                      </a:r>
                    </a:p>
                  </a:txBody>
                  <a:tcPr marL="73152" marR="73152" marT="27432" marB="27432">
                    <a:solidFill>
                      <a:srgbClr val="FFFFFF"/>
                    </a:solidFill>
                  </a:tcPr>
                </a:tc>
                <a:tc>
                  <a:txBody>
                    <a:bodyPr/>
                    <a:lstStyle/>
                    <a:p>
                      <a:r>
                        <a:rPr sz="1100" b="0">
                          <a:solidFill>
                            <a:srgbClr val="222A3F"/>
                          </a:solidFill>
                          <a:latin typeface="Cambria"/>
                        </a:rPr>
                        <a:t>Just-Works pairing, no stored bond</a:t>
                      </a:r>
                    </a:p>
                  </a:txBody>
                  <a:tcPr marL="73152" marR="73152" marT="27432" marB="27432">
                    <a:solidFill>
                      <a:srgbClr val="FFFFFF"/>
                    </a:solidFill>
                  </a:tcPr>
                </a:tc>
                <a:tc>
                  <a:txBody>
                    <a:bodyPr/>
                    <a:lstStyle/>
                    <a:p>
                      <a:r>
                        <a:rPr sz="1100" b="0">
                          <a:solidFill>
                            <a:srgbClr val="222A3F"/>
                          </a:solidFill>
                          <a:latin typeface="Cambria"/>
                        </a:rPr>
                        <a:t>Feature: one-path BLE state machine</a:t>
                      </a:r>
                    </a:p>
                  </a:txBody>
                  <a:tcPr marL="73152" marR="73152" marT="27432" marB="27432">
                    <a:solidFill>
                      <a:srgbClr val="FFFFFF"/>
                    </a:solidFill>
                  </a:tcPr>
                </a:tc>
              </a:tr>
              <a:tr h="713232">
                <a:tc>
                  <a:txBody>
                    <a:bodyPr/>
                    <a:lstStyle/>
                    <a:p>
                      <a:r>
                        <a:rPr sz="1100" b="1">
                          <a:solidFill>
                            <a:srgbClr val="222A3F"/>
                          </a:solidFill>
                          <a:latin typeface="Cambria"/>
                        </a:rPr>
                        <a:t>3  PIN pairing refused (rc=1284)</a:t>
                      </a:r>
                    </a:p>
                  </a:txBody>
                  <a:tcPr marL="73152" marR="73152" marT="27432" marB="27432">
                    <a:solidFill>
                      <a:srgbClr val="F2F5FA"/>
                    </a:solidFill>
                  </a:tcPr>
                </a:tc>
                <a:tc>
                  <a:txBody>
                    <a:bodyPr/>
                    <a:lstStyle/>
                    <a:p>
                      <a:r>
                        <a:rPr sz="1100" b="0">
                          <a:solidFill>
                            <a:srgbClr val="222A3F"/>
                          </a:solidFill>
                          <a:latin typeface="Cambria"/>
                        </a:rPr>
                        <a:t>Radio wants a PIN typed; the display has no keypad</a:t>
                      </a:r>
                    </a:p>
                  </a:txBody>
                  <a:tcPr marL="73152" marR="73152" marT="27432" marB="27432">
                    <a:solidFill>
                      <a:srgbClr val="F2F5FA"/>
                    </a:solidFill>
                  </a:tcPr>
                </a:tc>
                <a:tc>
                  <a:txBody>
                    <a:bodyPr/>
                    <a:lstStyle/>
                    <a:p>
                      <a:r>
                        <a:rPr sz="1100" b="0">
                          <a:solidFill>
                            <a:srgbClr val="222A3F"/>
                          </a:solidFill>
                          <a:latin typeface="Cambria"/>
                        </a:rPr>
                        <a:t>No encrypted link, no GPS</a:t>
                      </a:r>
                    </a:p>
                  </a:txBody>
                  <a:tcPr marL="73152" marR="73152" marT="27432" marB="27432">
                    <a:solidFill>
                      <a:srgbClr val="F2F5FA"/>
                    </a:solidFill>
                  </a:tcPr>
                </a:tc>
                <a:tc>
                  <a:txBody>
                    <a:bodyPr/>
                    <a:lstStyle/>
                    <a:p>
                      <a:r>
                        <a:rPr sz="1100" b="0">
                          <a:solidFill>
                            <a:srgbClr val="222A3F"/>
                          </a:solidFill>
                          <a:latin typeface="Cambria"/>
                        </a:rPr>
                        <a:t>Radios run NO_PIN</a:t>
                      </a:r>
                    </a:p>
                  </a:txBody>
                  <a:tcPr marL="73152" marR="73152" marT="27432" marB="27432">
                    <a:solidFill>
                      <a:srgbClr val="F2F5FA"/>
                    </a:solidFill>
                  </a:tcPr>
                </a:tc>
                <a:tc>
                  <a:txBody>
                    <a:bodyPr/>
                    <a:lstStyle/>
                    <a:p>
                      <a:r>
                        <a:rPr sz="1100" b="0">
                          <a:solidFill>
                            <a:srgbClr val="222A3F"/>
                          </a:solidFill>
                          <a:latin typeface="Cambria"/>
                        </a:rPr>
                        <a:t>Signature: status 261 when a radio reverts</a:t>
                      </a:r>
                    </a:p>
                  </a:txBody>
                  <a:tcPr marL="73152" marR="73152" marT="27432" marB="27432">
                    <a:solidFill>
                      <a:srgbClr val="F2F5FA"/>
                    </a:solidFill>
                  </a:tcPr>
                </a:tc>
              </a:tr>
            </a:tbl>
          </a:graphicData>
        </a:graphic>
      </p:graphicFrame>
      <p:pic>
        <p:nvPicPr>
          <p:cNvPr id="12" name="Picture 11" descr="g_bringup.png"/>
          <p:cNvPicPr>
            <a:picLocks noChangeAspect="1"/>
          </p:cNvPicPr>
          <p:nvPr/>
        </p:nvPicPr>
        <p:blipFill>
          <a:blip r:embed="rId2"/>
          <a:stretch>
            <a:fillRect/>
          </a:stretch>
        </p:blipFill>
        <p:spPr>
          <a:xfrm>
            <a:off x="502920" y="4297680"/>
            <a:ext cx="8001000" cy="1742153"/>
          </a:xfrm>
          <a:prstGeom prst="rect">
            <a:avLst/>
          </a:prstGeom>
        </p:spPr>
      </p:pic>
      <p:sp>
        <p:nvSpPr>
          <p:cNvPr id="13" name="Rectangle 12"/>
          <p:cNvSpPr/>
          <p:nvPr/>
        </p:nvSpPr>
        <p:spPr>
          <a:xfrm>
            <a:off x="8686800" y="4297680"/>
            <a:ext cx="3017520" cy="1746504"/>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51392" y="4416552"/>
            <a:ext cx="2688336" cy="1508760"/>
          </a:xfrm>
          <a:prstGeom prst="rect">
            <a:avLst/>
          </a:prstGeom>
          <a:noFill/>
        </p:spPr>
        <p:txBody>
          <a:bodyPr wrap="square" lIns="0" rIns="0" tIns="0" bIns="0">
            <a:spAutoFit/>
          </a:bodyPr>
          <a:lstStyle/>
          <a:p>
            <a:r>
              <a:rPr sz="1200" b="1" spc="100">
                <a:solidFill>
                  <a:srgbClr val="16213D"/>
                </a:solidFill>
                <a:latin typeface="Cambria"/>
              </a:rPr>
              <a:t>THE FIGURE</a:t>
            </a:r>
          </a:p>
          <a:p>
            <a:pPr>
              <a:spcBef>
                <a:spcPts val="500"/>
              </a:spcBef>
            </a:pPr>
            <a:r>
              <a:rPr sz="1100">
                <a:solidFill>
                  <a:srgbClr val="222A3F"/>
                </a:solidFill>
                <a:latin typeface="Cambria"/>
              </a:rPr>
              <a:t>The display's start-up path and the three places it stopped on day one. rc=1284 is the Bluetooth stack's 'confirm value failed'.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 - THE FAILURES</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05/21  REV E  2026-11-04</a:t>
            </a:r>
          </a:p>
        </p:txBody>
      </p:sp>
      <p:sp>
        <p:nvSpPr>
          <p:cNvPr id="7" name="Rectangle 6"/>
          <p:cNvSpPr/>
          <p:nvPr/>
        </p:nvSpPr>
        <p:spPr>
          <a:xfrm>
            <a:off x="9646920" y="347472"/>
            <a:ext cx="2148840" cy="420624"/>
          </a:xfrm>
          <a:prstGeom prst="rect">
            <a:avLst/>
          </a:prstGeom>
          <a:solidFill>
            <a:srgbClr val="FFFFFF"/>
          </a:solidFill>
          <a:ln w="19050">
            <a:solidFill>
              <a:srgbClr val="6D4B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6D4BDB"/>
                </a:solidFill>
                <a:latin typeface="Courier New"/>
              </a:rPr>
              <a:t>OWNER: JOSIAH</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FAILURES 4-6: FIRST DRIVE, WRONG FLASH, LYING CLI</a:t>
            </a:r>
          </a:p>
        </p:txBody>
      </p:sp>
      <p:sp>
        <p:nvSpPr>
          <p:cNvPr id="10" name="TextBox 9"/>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September 1 to 3</a:t>
            </a:r>
          </a:p>
        </p:txBody>
      </p:sp>
      <p:graphicFrame>
        <p:nvGraphicFramePr>
          <p:cNvPr id="11" name="Table 10"/>
          <p:cNvGraphicFramePr>
            <a:graphicFrameLocks noGrp="1"/>
          </p:cNvGraphicFramePr>
          <p:nvPr/>
        </p:nvGraphicFramePr>
        <p:xfrm>
          <a:off x="502920" y="1234440"/>
          <a:ext cx="11155680" cy="2852928"/>
        </p:xfrm>
        <a:graphic>
          <a:graphicData uri="http://schemas.openxmlformats.org/drawingml/2006/table">
            <a:tbl>
              <a:tblPr firstRow="1" bandRow="1">
                <a:tableStyleId>{5C22544A-7EE6-4342-B048-85BDC9FD1C3A}</a:tableStyleId>
              </a:tblPr>
              <a:tblGrid>
                <a:gridCol w="1554480"/>
                <a:gridCol w="2834640"/>
                <a:gridCol w="2103120"/>
                <a:gridCol w="2286000"/>
                <a:gridCol w="2377440"/>
              </a:tblGrid>
              <a:tr h="713232">
                <a:tc>
                  <a:txBody>
                    <a:bodyPr/>
                    <a:lstStyle/>
                    <a:p>
                      <a:r>
                        <a:rPr sz="1100" b="1">
                          <a:solidFill>
                            <a:srgbClr val="FFFFFF"/>
                          </a:solidFill>
                          <a:latin typeface="Cambria"/>
                        </a:rPr>
                        <a:t>Failure</a:t>
                      </a:r>
                    </a:p>
                  </a:txBody>
                  <a:tcPr marL="73152" marR="73152" marT="27432" marB="27432">
                    <a:solidFill>
                      <a:srgbClr val="16213D"/>
                    </a:solidFill>
                  </a:tcPr>
                </a:tc>
                <a:tc>
                  <a:txBody>
                    <a:bodyPr/>
                    <a:lstStyle/>
                    <a:p>
                      <a:r>
                        <a:rPr sz="1100" b="1">
                          <a:solidFill>
                            <a:srgbClr val="FFFFFF"/>
                          </a:solidFill>
                          <a:latin typeface="Cambria"/>
                        </a:rPr>
                        <a:t>Cause</a:t>
                      </a:r>
                    </a:p>
                  </a:txBody>
                  <a:tcPr marL="73152" marR="73152" marT="27432" marB="27432">
                    <a:solidFill>
                      <a:srgbClr val="16213D"/>
                    </a:solidFill>
                  </a:tcPr>
                </a:tc>
                <a:tc>
                  <a:txBody>
                    <a:bodyPr/>
                    <a:lstStyle/>
                    <a:p>
                      <a:r>
                        <a:rPr sz="1100" b="1">
                          <a:solidFill>
                            <a:srgbClr val="FFFFFF"/>
                          </a:solidFill>
                          <a:latin typeface="Cambria"/>
                        </a:rPr>
                        <a:t>Impact</a:t>
                      </a:r>
                    </a:p>
                  </a:txBody>
                  <a:tcPr marL="73152" marR="73152" marT="27432" marB="27432">
                    <a:solidFill>
                      <a:srgbClr val="16213D"/>
                    </a:solidFill>
                  </a:tcPr>
                </a:tc>
                <a:tc>
                  <a:txBody>
                    <a:bodyPr/>
                    <a:lstStyle/>
                    <a:p>
                      <a:r>
                        <a:rPr sz="1100" b="1">
                          <a:solidFill>
                            <a:srgbClr val="FFFFFF"/>
                          </a:solidFill>
                          <a:latin typeface="Cambria"/>
                        </a:rPr>
                        <a:t>Fix</a:t>
                      </a:r>
                    </a:p>
                  </a:txBody>
                  <a:tcPr marL="73152" marR="73152" marT="27432" marB="27432">
                    <a:solidFill>
                      <a:srgbClr val="16213D"/>
                    </a:solidFill>
                  </a:tcPr>
                </a:tc>
                <a:tc>
                  <a:txBody>
                    <a:bodyPr/>
                    <a:lstStyle/>
                    <a:p>
                      <a:r>
                        <a:rPr sz="1100" b="1">
                          <a:solidFill>
                            <a:srgbClr val="FFFFFF"/>
                          </a:solidFill>
                          <a:latin typeface="Cambria"/>
                        </a:rPr>
                        <a:t>Became</a:t>
                      </a:r>
                    </a:p>
                  </a:txBody>
                  <a:tcPr marL="73152" marR="73152" marT="27432" marB="27432">
                    <a:solidFill>
                      <a:srgbClr val="16213D"/>
                    </a:solidFill>
                  </a:tcPr>
                </a:tc>
              </a:tr>
              <a:tr h="713232">
                <a:tc>
                  <a:txBody>
                    <a:bodyPr/>
                    <a:lstStyle/>
                    <a:p>
                      <a:r>
                        <a:rPr sz="1100" b="1">
                          <a:solidFill>
                            <a:srgbClr val="222A3F"/>
                          </a:solidFill>
                          <a:latin typeface="Cambria"/>
                        </a:rPr>
                        <a:t>4  First drive: five faults</a:t>
                      </a:r>
                    </a:p>
                  </a:txBody>
                  <a:tcPr marL="73152" marR="73152" marT="27432" marB="27432">
                    <a:solidFill>
                      <a:srgbClr val="F2F5FA"/>
                    </a:solidFill>
                  </a:tcPr>
                </a:tc>
                <a:tc>
                  <a:txBody>
                    <a:bodyPr/>
                    <a:lstStyle/>
                    <a:p>
                      <a:r>
                        <a:rPr sz="1100" b="0">
                          <a:solidFill>
                            <a:srgbClr val="222A3F"/>
                          </a:solidFill>
                          <a:latin typeface="Cambria"/>
                        </a:rPr>
                        <a:t>Precision 13 snaps positions to a 5.8 km cell; 120 s GPS; km/h on the wire; jitter; time zone</a:t>
                      </a:r>
                    </a:p>
                  </a:txBody>
                  <a:tcPr marL="73152" marR="73152" marT="27432" marB="27432">
                    <a:solidFill>
                      <a:srgbClr val="F2F5FA"/>
                    </a:solidFill>
                  </a:tcPr>
                </a:tc>
                <a:tc>
                  <a:txBody>
                    <a:bodyPr/>
                    <a:lstStyle/>
                    <a:p>
                      <a:r>
                        <a:rPr sz="1100" b="0">
                          <a:solidFill>
                            <a:srgbClr val="222A3F"/>
                          </a:solidFill>
                          <a:latin typeface="Cambria"/>
                        </a:rPr>
                        <a:t>Partner frozen, 4 min late, wrong speed, clock off</a:t>
                      </a:r>
                    </a:p>
                  </a:txBody>
                  <a:tcPr marL="73152" marR="73152" marT="27432" marB="27432">
                    <a:solidFill>
                      <a:srgbClr val="F2F5FA"/>
                    </a:solidFill>
                  </a:tcPr>
                </a:tc>
                <a:tc>
                  <a:txBody>
                    <a:bodyPr/>
                    <a:lstStyle/>
                    <a:p>
                      <a:r>
                        <a:rPr sz="1100" b="0">
                          <a:solidFill>
                            <a:srgbClr val="222A3F"/>
                          </a:solidFill>
                          <a:latin typeface="Cambria"/>
                        </a:rPr>
                        <a:t>Precision 32; 10 s GPS; km/h decode; deadband</a:t>
                      </a:r>
                    </a:p>
                  </a:txBody>
                  <a:tcPr marL="73152" marR="73152" marT="27432" marB="27432">
                    <a:solidFill>
                      <a:srgbClr val="F2F5FA"/>
                    </a:solidFill>
                  </a:tcPr>
                </a:tc>
                <a:tc>
                  <a:txBody>
                    <a:bodyPr/>
                    <a:lstStyle/>
                    <a:p>
                      <a:r>
                        <a:rPr sz="1100" b="0">
                          <a:solidFill>
                            <a:srgbClr val="222A3F"/>
                          </a:solidFill>
                          <a:latin typeface="Cambria"/>
                        </a:rPr>
                        <a:t>Rule: validate on the road, never on a desk</a:t>
                      </a:r>
                    </a:p>
                  </a:txBody>
                  <a:tcPr marL="73152" marR="73152" marT="27432" marB="27432">
                    <a:solidFill>
                      <a:srgbClr val="F2F5FA"/>
                    </a:solidFill>
                  </a:tcPr>
                </a:tc>
              </a:tr>
              <a:tr h="713232">
                <a:tc>
                  <a:txBody>
                    <a:bodyPr/>
                    <a:lstStyle/>
                    <a:p>
                      <a:r>
                        <a:rPr sz="1100" b="1">
                          <a:solidFill>
                            <a:srgbClr val="222A3F"/>
                          </a:solidFill>
                          <a:latin typeface="Cambria"/>
                        </a:rPr>
                        <a:t>5  Wrong board flashed</a:t>
                      </a:r>
                    </a:p>
                  </a:txBody>
                  <a:tcPr marL="73152" marR="73152" marT="27432" marB="27432">
                    <a:solidFill>
                      <a:srgbClr val="FFFFFF"/>
                    </a:solidFill>
                  </a:tcPr>
                </a:tc>
                <a:tc>
                  <a:txBody>
                    <a:bodyPr/>
                    <a:lstStyle/>
                    <a:p>
                      <a:r>
                        <a:rPr sz="1100" b="0">
                          <a:solidFill>
                            <a:srgbClr val="222A3F"/>
                          </a:solidFill>
                          <a:latin typeface="Cambria"/>
                        </a:rPr>
                        <a:t>Radios and displays share one USB ID; a tool picked the port</a:t>
                      </a:r>
                    </a:p>
                  </a:txBody>
                  <a:tcPr marL="73152" marR="73152" marT="27432" marB="27432">
                    <a:solidFill>
                      <a:srgbClr val="FFFFFF"/>
                    </a:solidFill>
                  </a:tcPr>
                </a:tc>
                <a:tc>
                  <a:txBody>
                    <a:bodyPr/>
                    <a:lstStyle/>
                    <a:p>
                      <a:r>
                        <a:rPr sz="1100" b="0">
                          <a:solidFill>
                            <a:srgbClr val="222A3F"/>
                          </a:solidFill>
                          <a:latin typeface="Cambria"/>
                        </a:rPr>
                        <a:t>Radio erased for an afternoon</a:t>
                      </a:r>
                    </a:p>
                  </a:txBody>
                  <a:tcPr marL="73152" marR="73152" marT="27432" marB="27432">
                    <a:solidFill>
                      <a:srgbClr val="FFFFFF"/>
                    </a:solidFill>
                  </a:tcPr>
                </a:tc>
                <a:tc>
                  <a:txBody>
                    <a:bodyPr/>
                    <a:lstStyle/>
                    <a:p>
                      <a:r>
                        <a:rPr sz="1100" b="0">
                          <a:solidFill>
                            <a:srgbClr val="222A3F"/>
                          </a:solidFill>
                          <a:latin typeface="Cambria"/>
                        </a:rPr>
                        <a:t>Erase, factory image, re-provision</a:t>
                      </a:r>
                    </a:p>
                  </a:txBody>
                  <a:tcPr marL="73152" marR="73152" marT="27432" marB="27432">
                    <a:solidFill>
                      <a:srgbClr val="FFFFFF"/>
                    </a:solidFill>
                  </a:tcPr>
                </a:tc>
                <a:tc>
                  <a:txBody>
                    <a:bodyPr/>
                    <a:lstStyle/>
                    <a:p>
                      <a:r>
                        <a:rPr sz="1100" b="0">
                          <a:solidFill>
                            <a:srgbClr val="222A3F"/>
                          </a:solidFill>
                          <a:latin typeface="Cambria"/>
                        </a:rPr>
                        <a:t>Rule: identify every board by MAC first</a:t>
                      </a:r>
                    </a:p>
                  </a:txBody>
                  <a:tcPr marL="73152" marR="73152" marT="27432" marB="27432">
                    <a:solidFill>
                      <a:srgbClr val="FFFFFF"/>
                    </a:solidFill>
                  </a:tcPr>
                </a:tc>
              </a:tr>
              <a:tr h="713232">
                <a:tc>
                  <a:txBody>
                    <a:bodyPr/>
                    <a:lstStyle/>
                    <a:p>
                      <a:r>
                        <a:rPr sz="1100" b="1">
                          <a:solidFill>
                            <a:srgbClr val="222A3F"/>
                          </a:solidFill>
                          <a:latin typeface="Cambria"/>
                        </a:rPr>
                        <a:t>6  Config write reverted</a:t>
                      </a:r>
                    </a:p>
                  </a:txBody>
                  <a:tcPr marL="73152" marR="73152" marT="27432" marB="27432">
                    <a:solidFill>
                      <a:srgbClr val="F2F5FA"/>
                    </a:solidFill>
                  </a:tcPr>
                </a:tc>
                <a:tc>
                  <a:txBody>
                    <a:bodyPr/>
                    <a:lstStyle/>
                    <a:p>
                      <a:r>
                        <a:rPr sz="1100" b="0">
                          <a:solidFill>
                            <a:srgbClr val="222A3F"/>
                          </a:solidFill>
                          <a:latin typeface="Cambria"/>
                        </a:rPr>
                        <a:t>Closing the CLI port resets the radio mid-save</a:t>
                      </a:r>
                    </a:p>
                  </a:txBody>
                  <a:tcPr marL="73152" marR="73152" marT="27432" marB="27432">
                    <a:solidFill>
                      <a:srgbClr val="F2F5FA"/>
                    </a:solidFill>
                  </a:tcPr>
                </a:tc>
                <a:tc>
                  <a:txBody>
                    <a:bodyPr/>
                    <a:lstStyle/>
                    <a:p>
                      <a:r>
                        <a:rPr sz="1100" b="0">
                          <a:solidFill>
                            <a:srgbClr val="222A3F"/>
                          </a:solidFill>
                          <a:latin typeface="Cambria"/>
                        </a:rPr>
                        <a:t>Write 'succeeds'; old value comes back</a:t>
                      </a:r>
                    </a:p>
                  </a:txBody>
                  <a:tcPr marL="73152" marR="73152" marT="27432" marB="27432">
                    <a:solidFill>
                      <a:srgbClr val="F2F5FA"/>
                    </a:solidFill>
                  </a:tcPr>
                </a:tc>
                <a:tc>
                  <a:txBody>
                    <a:bodyPr/>
                    <a:lstStyle/>
                    <a:p>
                      <a:r>
                        <a:rPr sz="1100" b="0">
                          <a:solidFill>
                            <a:srgbClr val="222A3F"/>
                          </a:solidFill>
                          <a:latin typeface="Cambria"/>
                        </a:rPr>
                        <a:t>Hold the port open; re-run the block</a:t>
                      </a:r>
                    </a:p>
                  </a:txBody>
                  <a:tcPr marL="73152" marR="73152" marT="27432" marB="27432">
                    <a:solidFill>
                      <a:srgbClr val="F2F5FA"/>
                    </a:solidFill>
                  </a:tcPr>
                </a:tc>
                <a:tc>
                  <a:txBody>
                    <a:bodyPr/>
                    <a:lstStyle/>
                    <a:p>
                      <a:r>
                        <a:rPr sz="1100" b="0">
                          <a:solidFill>
                            <a:srgbClr val="222A3F"/>
                          </a:solidFill>
                          <a:latin typeface="Cambria"/>
                        </a:rPr>
                        <a:t>Rule: read back every write; the OLED outranks the CLI</a:t>
                      </a:r>
                    </a:p>
                  </a:txBody>
                  <a:tcPr marL="73152" marR="73152" marT="27432" marB="27432">
                    <a:solidFill>
                      <a:srgbClr val="F2F5FA"/>
                    </a:solidFill>
                  </a:tcPr>
                </a:tc>
              </a:tr>
            </a:tbl>
          </a:graphicData>
        </a:graphic>
      </p:graphicFrame>
      <p:pic>
        <p:nvPicPr>
          <p:cNvPr id="12" name="Picture 11" descr="g_precision.png"/>
          <p:cNvPicPr>
            <a:picLocks noChangeAspect="1"/>
          </p:cNvPicPr>
          <p:nvPr/>
        </p:nvPicPr>
        <p:blipFill>
          <a:blip r:embed="rId2"/>
          <a:stretch>
            <a:fillRect/>
          </a:stretch>
        </p:blipFill>
        <p:spPr>
          <a:xfrm>
            <a:off x="502920" y="4297680"/>
            <a:ext cx="8001000" cy="1742153"/>
          </a:xfrm>
          <a:prstGeom prst="rect">
            <a:avLst/>
          </a:prstGeom>
        </p:spPr>
      </p:pic>
      <p:sp>
        <p:nvSpPr>
          <p:cNvPr id="13" name="Rectangle 12"/>
          <p:cNvSpPr/>
          <p:nvPr/>
        </p:nvSpPr>
        <p:spPr>
          <a:xfrm>
            <a:off x="8686800" y="4297680"/>
            <a:ext cx="3017520" cy="1746504"/>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51392" y="4416552"/>
            <a:ext cx="2688336" cy="1508760"/>
          </a:xfrm>
          <a:prstGeom prst="rect">
            <a:avLst/>
          </a:prstGeom>
          <a:noFill/>
        </p:spPr>
        <p:txBody>
          <a:bodyPr wrap="square" lIns="0" rIns="0" tIns="0" bIns="0">
            <a:spAutoFit/>
          </a:bodyPr>
          <a:lstStyle/>
          <a:p>
            <a:r>
              <a:rPr sz="1200" b="1" spc="100">
                <a:solidFill>
                  <a:srgbClr val="16213D"/>
                </a:solidFill>
                <a:latin typeface="Cambria"/>
              </a:rPr>
              <a:t>THE FIGURE</a:t>
            </a:r>
          </a:p>
          <a:p>
            <a:pPr>
              <a:spcBef>
                <a:spcPts val="500"/>
              </a:spcBef>
            </a:pPr>
            <a:r>
              <a:rPr sz="1100">
                <a:solidFill>
                  <a:srgbClr val="222A3F"/>
                </a:solidFill>
                <a:latin typeface="Cambria"/>
              </a:rPr>
              <a:t>How many of the 32 position bits the channel keeps. Default 13: a 5.8 km cell. Ours 32: the exact fix.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 - THE FAILURES</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06/21  REV E  2026-11-04</a:t>
            </a:r>
          </a:p>
        </p:txBody>
      </p:sp>
      <p:sp>
        <p:nvSpPr>
          <p:cNvPr id="7" name="Rectangle 6"/>
          <p:cNvSpPr/>
          <p:nvPr/>
        </p:nvSpPr>
        <p:spPr>
          <a:xfrm>
            <a:off x="9646920" y="347472"/>
            <a:ext cx="2148840" cy="420624"/>
          </a:xfrm>
          <a:prstGeom prst="rect">
            <a:avLst/>
          </a:prstGeom>
          <a:solidFill>
            <a:srgbClr val="FFFFFF"/>
          </a:solidFill>
          <a:ln w="19050">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E58E1A"/>
                </a:solidFill>
                <a:latin typeface="Courier New"/>
              </a:rPr>
              <a:t>OWNER: VICTOR</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FAILURES 7-9: SILENCE, BATTERY DEATH, THE COMPASS</a:t>
            </a:r>
          </a:p>
        </p:txBody>
      </p:sp>
      <p:sp>
        <p:nvSpPr>
          <p:cNvPr id="10" name="TextBox 9"/>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September 25 to October 24</a:t>
            </a:r>
          </a:p>
        </p:txBody>
      </p:sp>
      <p:graphicFrame>
        <p:nvGraphicFramePr>
          <p:cNvPr id="11" name="Table 10"/>
          <p:cNvGraphicFramePr>
            <a:graphicFrameLocks noGrp="1"/>
          </p:cNvGraphicFramePr>
          <p:nvPr/>
        </p:nvGraphicFramePr>
        <p:xfrm>
          <a:off x="502920" y="1234440"/>
          <a:ext cx="11155680" cy="2852928"/>
        </p:xfrm>
        <a:graphic>
          <a:graphicData uri="http://schemas.openxmlformats.org/drawingml/2006/table">
            <a:tbl>
              <a:tblPr firstRow="1" bandRow="1">
                <a:tableStyleId>{5C22544A-7EE6-4342-B048-85BDC9FD1C3A}</a:tableStyleId>
              </a:tblPr>
              <a:tblGrid>
                <a:gridCol w="1554480"/>
                <a:gridCol w="2834640"/>
                <a:gridCol w="2103120"/>
                <a:gridCol w="2286000"/>
                <a:gridCol w="2377440"/>
              </a:tblGrid>
              <a:tr h="713232">
                <a:tc>
                  <a:txBody>
                    <a:bodyPr/>
                    <a:lstStyle/>
                    <a:p>
                      <a:r>
                        <a:rPr sz="1100" b="1">
                          <a:solidFill>
                            <a:srgbClr val="FFFFFF"/>
                          </a:solidFill>
                          <a:latin typeface="Cambria"/>
                        </a:rPr>
                        <a:t>Failure</a:t>
                      </a:r>
                    </a:p>
                  </a:txBody>
                  <a:tcPr marL="73152" marR="73152" marT="27432" marB="27432">
                    <a:solidFill>
                      <a:srgbClr val="16213D"/>
                    </a:solidFill>
                  </a:tcPr>
                </a:tc>
                <a:tc>
                  <a:txBody>
                    <a:bodyPr/>
                    <a:lstStyle/>
                    <a:p>
                      <a:r>
                        <a:rPr sz="1100" b="1">
                          <a:solidFill>
                            <a:srgbClr val="FFFFFF"/>
                          </a:solidFill>
                          <a:latin typeface="Cambria"/>
                        </a:rPr>
                        <a:t>Cause</a:t>
                      </a:r>
                    </a:p>
                  </a:txBody>
                  <a:tcPr marL="73152" marR="73152" marT="27432" marB="27432">
                    <a:solidFill>
                      <a:srgbClr val="16213D"/>
                    </a:solidFill>
                  </a:tcPr>
                </a:tc>
                <a:tc>
                  <a:txBody>
                    <a:bodyPr/>
                    <a:lstStyle/>
                    <a:p>
                      <a:r>
                        <a:rPr sz="1100" b="1">
                          <a:solidFill>
                            <a:srgbClr val="FFFFFF"/>
                          </a:solidFill>
                          <a:latin typeface="Cambria"/>
                        </a:rPr>
                        <a:t>Impact</a:t>
                      </a:r>
                    </a:p>
                  </a:txBody>
                  <a:tcPr marL="73152" marR="73152" marT="27432" marB="27432">
                    <a:solidFill>
                      <a:srgbClr val="16213D"/>
                    </a:solidFill>
                  </a:tcPr>
                </a:tc>
                <a:tc>
                  <a:txBody>
                    <a:bodyPr/>
                    <a:lstStyle/>
                    <a:p>
                      <a:r>
                        <a:rPr sz="1100" b="1">
                          <a:solidFill>
                            <a:srgbClr val="FFFFFF"/>
                          </a:solidFill>
                          <a:latin typeface="Cambria"/>
                        </a:rPr>
                        <a:t>Fix</a:t>
                      </a:r>
                    </a:p>
                  </a:txBody>
                  <a:tcPr marL="73152" marR="73152" marT="27432" marB="27432">
                    <a:solidFill>
                      <a:srgbClr val="16213D"/>
                    </a:solidFill>
                  </a:tcPr>
                </a:tc>
                <a:tc>
                  <a:txBody>
                    <a:bodyPr/>
                    <a:lstStyle/>
                    <a:p>
                      <a:r>
                        <a:rPr sz="1100" b="1">
                          <a:solidFill>
                            <a:srgbClr val="FFFFFF"/>
                          </a:solidFill>
                          <a:latin typeface="Cambria"/>
                        </a:rPr>
                        <a:t>Became</a:t>
                      </a:r>
                    </a:p>
                  </a:txBody>
                  <a:tcPr marL="73152" marR="73152" marT="27432" marB="27432">
                    <a:solidFill>
                      <a:srgbClr val="16213D"/>
                    </a:solidFill>
                  </a:tcPr>
                </a:tc>
              </a:tr>
              <a:tr h="713232">
                <a:tc>
                  <a:txBody>
                    <a:bodyPr/>
                    <a:lstStyle/>
                    <a:p>
                      <a:r>
                        <a:rPr sz="1100" b="1">
                          <a:solidFill>
                            <a:srgbClr val="222A3F"/>
                          </a:solidFill>
                          <a:latin typeface="Cambria"/>
                        </a:rPr>
                        <a:t>7  '0 online', same configs</a:t>
                      </a:r>
                    </a:p>
                  </a:txBody>
                  <a:tcPr marL="73152" marR="73152" marT="27432" marB="27432">
                    <a:solidFill>
                      <a:srgbClr val="F2F5FA"/>
                    </a:solidFill>
                  </a:tcPr>
                </a:tc>
                <a:tc>
                  <a:txBody>
                    <a:bodyPr/>
                    <a:lstStyle/>
                    <a:p>
                      <a:r>
                        <a:rPr sz="1100" b="0">
                          <a:solidFill>
                            <a:srgbClr val="222A3F"/>
                          </a:solidFill>
                          <a:latin typeface="Cambria"/>
                        </a:rPr>
                        <a:t>Frequency comes from the channel name; one write reverted, one radio moved slot</a:t>
                      </a:r>
                    </a:p>
                  </a:txBody>
                  <a:tcPr marL="73152" marR="73152" marT="27432" marB="27432">
                    <a:solidFill>
                      <a:srgbClr val="F2F5FA"/>
                    </a:solidFill>
                  </a:tcPr>
                </a:tc>
                <a:tc>
                  <a:txBody>
                    <a:bodyPr/>
                    <a:lstStyle/>
                    <a:p>
                      <a:r>
                        <a:rPr sz="1100" b="0">
                          <a:solidFill>
                            <a:srgbClr val="222A3F"/>
                          </a:solidFill>
                          <a:latin typeface="Cambria"/>
                        </a:rPr>
                        <a:t>Total silence with healthy screens</a:t>
                      </a:r>
                    </a:p>
                  </a:txBody>
                  <a:tcPr marL="73152" marR="73152" marT="27432" marB="27432">
                    <a:solidFill>
                      <a:srgbClr val="F2F5FA"/>
                    </a:solidFill>
                  </a:tcPr>
                </a:tc>
                <a:tc>
                  <a:txBody>
                    <a:bodyPr/>
                    <a:lstStyle/>
                    <a:p>
                      <a:r>
                        <a:rPr sz="1100" b="0">
                          <a:solidFill>
                            <a:srgbClr val="222A3F"/>
                          </a:solidFill>
                          <a:latin typeface="Cambria"/>
                        </a:rPr>
                        <a:t>Re-apply the channel; verify on the OLED</a:t>
                      </a:r>
                    </a:p>
                  </a:txBody>
                  <a:tcPr marL="73152" marR="73152" marT="27432" marB="27432">
                    <a:solidFill>
                      <a:srgbClr val="F2F5FA"/>
                    </a:solidFill>
                  </a:tcPr>
                </a:tc>
                <a:tc>
                  <a:txBody>
                    <a:bodyPr/>
                    <a:lstStyle/>
                    <a:p>
                      <a:r>
                        <a:rPr sz="1100" b="0">
                          <a:solidFill>
                            <a:srgbClr val="222A3F"/>
                          </a:solidFill>
                          <a:latin typeface="Cambria"/>
                        </a:rPr>
                        <a:t>Rule: both OLEDs read 912.875 before any drive</a:t>
                      </a:r>
                    </a:p>
                  </a:txBody>
                  <a:tcPr marL="73152" marR="73152" marT="27432" marB="27432">
                    <a:solidFill>
                      <a:srgbClr val="F2F5FA"/>
                    </a:solidFill>
                  </a:tcPr>
                </a:tc>
              </a:tr>
              <a:tr h="713232">
                <a:tc>
                  <a:txBody>
                    <a:bodyPr/>
                    <a:lstStyle/>
                    <a:p>
                      <a:r>
                        <a:rPr sz="1100" b="1">
                          <a:solidFill>
                            <a:srgbClr val="222A3F"/>
                          </a:solidFill>
                          <a:latin typeface="Cambria"/>
                        </a:rPr>
                        <a:t>8  Battery death reverts config  (Sep 30, Oct 17, Oct 24)</a:t>
                      </a:r>
                    </a:p>
                  </a:txBody>
                  <a:tcPr marL="73152" marR="73152" marT="27432" marB="27432">
                    <a:solidFill>
                      <a:srgbClr val="FFFFFF"/>
                    </a:solidFill>
                  </a:tcPr>
                </a:tc>
                <a:tc>
                  <a:txBody>
                    <a:bodyPr/>
                    <a:lstStyle/>
                    <a:p>
                      <a:r>
                        <a:rPr sz="1100" b="0">
                          <a:solidFill>
                            <a:srgbClr val="222A3F"/>
                          </a:solidFill>
                          <a:latin typeface="Cambria"/>
                        </a:rPr>
                        <a:t>Flat battery; the firmware overwrites unreadable settings with defaults</a:t>
                      </a:r>
                    </a:p>
                  </a:txBody>
                  <a:tcPr marL="73152" marR="73152" marT="27432" marB="27432">
                    <a:solidFill>
                      <a:srgbClr val="FFFFFF"/>
                    </a:solidFill>
                  </a:tcPr>
                </a:tc>
                <a:tc>
                  <a:txBody>
                    <a:bodyPr/>
                    <a:lstStyle/>
                    <a:p>
                      <a:r>
                        <a:rPr sz="1100" b="0">
                          <a:solidFill>
                            <a:srgbClr val="222A3F"/>
                          </a:solidFill>
                          <a:latin typeface="Cambria"/>
                        </a:rPr>
                        <a:t>Channel, key, role, PIN mode, name lost; SF three times</a:t>
                      </a:r>
                    </a:p>
                  </a:txBody>
                  <a:tcPr marL="73152" marR="73152" marT="27432" marB="27432">
                    <a:solidFill>
                      <a:srgbClr val="FFFFFF"/>
                    </a:solidFill>
                  </a:tcPr>
                </a:tc>
                <a:tc>
                  <a:txBody>
                    <a:bodyPr/>
                    <a:lstStyle/>
                    <a:p>
                      <a:r>
                        <a:rPr sz="1100" b="0">
                          <a:solidFill>
                            <a:srgbClr val="222A3F"/>
                          </a:solidFill>
                          <a:latin typeface="Cambria"/>
                        </a:rPr>
                        <a:t>Snapshot restored in 90 s; phone QR path</a:t>
                      </a:r>
                    </a:p>
                  </a:txBody>
                  <a:tcPr marL="73152" marR="73152" marT="27432" marB="27432">
                    <a:solidFill>
                      <a:srgbClr val="FFFFFF"/>
                    </a:solidFill>
                  </a:tcPr>
                </a:tc>
                <a:tc>
                  <a:txBody>
                    <a:bodyPr/>
                    <a:lstStyle/>
                    <a:p>
                      <a:r>
                        <a:rPr sz="1100" b="0">
                          <a:solidFill>
                            <a:srgbClr val="222A3F"/>
                          </a:solidFill>
                          <a:latin typeface="Cambria"/>
                        </a:rPr>
                        <a:t>Rule: never store a radio flat. Part II</a:t>
                      </a:r>
                    </a:p>
                  </a:txBody>
                  <a:tcPr marL="73152" marR="73152" marT="27432" marB="27432">
                    <a:solidFill>
                      <a:srgbClr val="FFFFFF"/>
                    </a:solidFill>
                  </a:tcPr>
                </a:tc>
              </a:tr>
              <a:tr h="713232">
                <a:tc>
                  <a:txBody>
                    <a:bodyPr/>
                    <a:lstStyle/>
                    <a:p>
                      <a:r>
                        <a:rPr sz="1100" b="1">
                          <a:solidFill>
                            <a:srgbClr val="222A3F"/>
                          </a:solidFill>
                          <a:latin typeface="Cambria"/>
                        </a:rPr>
                        <a:t>9  Hand-rotated compass</a:t>
                      </a:r>
                    </a:p>
                  </a:txBody>
                  <a:tcPr marL="73152" marR="73152" marT="27432" marB="27432">
                    <a:solidFill>
                      <a:srgbClr val="F2F5FA"/>
                    </a:solidFill>
                  </a:tcPr>
                </a:tc>
                <a:tc>
                  <a:txBody>
                    <a:bodyPr/>
                    <a:lstStyle/>
                    <a:p>
                      <a:r>
                        <a:rPr sz="1100" b="0">
                          <a:solidFill>
                            <a:srgbClr val="222A3F"/>
                          </a:solidFill>
                          <a:latin typeface="Cambria"/>
                        </a:rPr>
                        <a:t>North-up ring; staleness cue cried wolf</a:t>
                      </a:r>
                    </a:p>
                  </a:txBody>
                  <a:tcPr marL="73152" marR="73152" marT="27432" marB="27432">
                    <a:solidFill>
                      <a:srgbClr val="F2F5FA"/>
                    </a:solidFill>
                  </a:tcPr>
                </a:tc>
                <a:tc>
                  <a:txBody>
                    <a:bodyPr/>
                    <a:lstStyle/>
                    <a:p>
                      <a:r>
                        <a:rPr sz="1100" b="0">
                          <a:solidFill>
                            <a:srgbClr val="222A3F"/>
                          </a:solidFill>
                          <a:latin typeface="Cambria"/>
                        </a:rPr>
                        <a:t>Unreadable at night</a:t>
                      </a:r>
                    </a:p>
                  </a:txBody>
                  <a:tcPr marL="73152" marR="73152" marT="27432" marB="27432">
                    <a:solidFill>
                      <a:srgbClr val="F2F5FA"/>
                    </a:solidFill>
                  </a:tcPr>
                </a:tc>
                <a:tc>
                  <a:txBody>
                    <a:bodyPr/>
                    <a:lstStyle/>
                    <a:p>
                      <a:r>
                        <a:rPr sz="1100" b="0">
                          <a:solidFill>
                            <a:srgbClr val="222A3F"/>
                          </a:solidFill>
                          <a:latin typeface="Cambria"/>
                        </a:rPr>
                        <a:t>Course-up, clock positions; 30 s / 90 s staleness</a:t>
                      </a:r>
                    </a:p>
                  </a:txBody>
                  <a:tcPr marL="73152" marR="73152" marT="27432" marB="27432">
                    <a:solidFill>
                      <a:srgbClr val="F2F5FA"/>
                    </a:solidFill>
                  </a:tcPr>
                </a:tc>
                <a:tc>
                  <a:txBody>
                    <a:bodyPr/>
                    <a:lstStyle/>
                    <a:p>
                      <a:r>
                        <a:rPr sz="1100" b="0">
                          <a:solidFill>
                            <a:srgbClr val="222A3F"/>
                          </a:solidFill>
                          <a:latin typeface="Cambria"/>
                        </a:rPr>
                        <a:t>Feature: the honest display</a:t>
                      </a:r>
                    </a:p>
                  </a:txBody>
                  <a:tcPr marL="73152" marR="73152" marT="27432" marB="27432">
                    <a:solidFill>
                      <a:srgbClr val="F2F5FA"/>
                    </a:solidFill>
                  </a:tcPr>
                </a:tc>
              </a:tr>
            </a:tbl>
          </a:graphicData>
        </a:graphic>
      </p:graphicFrame>
      <p:pic>
        <p:nvPicPr>
          <p:cNvPr id="12" name="Picture 11" descr="g_slots.png"/>
          <p:cNvPicPr>
            <a:picLocks noChangeAspect="1"/>
          </p:cNvPicPr>
          <p:nvPr/>
        </p:nvPicPr>
        <p:blipFill>
          <a:blip r:embed="rId2"/>
          <a:stretch>
            <a:fillRect/>
          </a:stretch>
        </p:blipFill>
        <p:spPr>
          <a:xfrm>
            <a:off x="502920" y="4297680"/>
            <a:ext cx="8001000" cy="1742153"/>
          </a:xfrm>
          <a:prstGeom prst="rect">
            <a:avLst/>
          </a:prstGeom>
        </p:spPr>
      </p:pic>
      <p:sp>
        <p:nvSpPr>
          <p:cNvPr id="13" name="Rectangle 12"/>
          <p:cNvSpPr/>
          <p:nvPr/>
        </p:nvSpPr>
        <p:spPr>
          <a:xfrm>
            <a:off x="8686800" y="4297680"/>
            <a:ext cx="3017520" cy="1746504"/>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51392" y="4416552"/>
            <a:ext cx="2688336" cy="1508760"/>
          </a:xfrm>
          <a:prstGeom prst="rect">
            <a:avLst/>
          </a:prstGeom>
          <a:noFill/>
        </p:spPr>
        <p:txBody>
          <a:bodyPr wrap="square" lIns="0" rIns="0" tIns="0" bIns="0">
            <a:spAutoFit/>
          </a:bodyPr>
          <a:lstStyle/>
          <a:p>
            <a:r>
              <a:rPr sz="1200" b="1" spc="100">
                <a:solidFill>
                  <a:srgbClr val="16213D"/>
                </a:solidFill>
                <a:latin typeface="Cambria"/>
              </a:rPr>
              <a:t>THE FIGURE</a:t>
            </a:r>
          </a:p>
          <a:p>
            <a:pPr>
              <a:spcBef>
                <a:spcPts val="500"/>
              </a:spcBef>
            </a:pPr>
            <a:r>
              <a:rPr sz="1100">
                <a:solidFill>
                  <a:srgbClr val="222A3F"/>
                </a:solidFill>
                <a:latin typeface="Cambria"/>
              </a:rPr>
              <a:t>104 slots in the US band; the channel name picks the slot. A reverted radio moves to 906.875 while its partner stays on 912.875.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 - THE FAILURES</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07/21  REV E  2026-11-04</a:t>
            </a:r>
          </a:p>
        </p:txBody>
      </p:sp>
      <p:sp>
        <p:nvSpPr>
          <p:cNvPr id="7" name="Rectangle 6"/>
          <p:cNvSpPr/>
          <p:nvPr/>
        </p:nvSpPr>
        <p:spPr>
          <a:xfrm>
            <a:off x="9646920" y="347472"/>
            <a:ext cx="2148840" cy="420624"/>
          </a:xfrm>
          <a:prstGeom prst="rect">
            <a:avLst/>
          </a:prstGeom>
          <a:solidFill>
            <a:srgbClr val="FFFFFF"/>
          </a:solidFill>
          <a:ln w="19050">
            <a:solidFill>
              <a:srgbClr val="6D4B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6D4BDB"/>
                </a:solidFill>
                <a:latin typeface="Courier New"/>
              </a:rPr>
              <a:t>OWNER: JOSIAH</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FAILURE 10: THE NIGHT BEFORE THE CANYON (OCT 17)</a:t>
            </a:r>
          </a:p>
        </p:txBody>
      </p:sp>
      <p:sp>
        <p:nvSpPr>
          <p:cNvPr id="10" name="Rectangle 9"/>
          <p:cNvSpPr/>
          <p:nvPr/>
        </p:nvSpPr>
        <p:spPr>
          <a:xfrm>
            <a:off x="502920" y="1234440"/>
            <a:ext cx="3657600" cy="1828800"/>
          </a:xfrm>
          <a:prstGeom prst="rect">
            <a:avLst/>
          </a:prstGeom>
          <a:solidFill>
            <a:srgbClr val="F2F5FA"/>
          </a:solidFill>
          <a:ln w="15875">
            <a:solidFill>
              <a:srgbClr val="5E6B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353312"/>
            <a:ext cx="3328416" cy="1591056"/>
          </a:xfrm>
          <a:prstGeom prst="rect">
            <a:avLst/>
          </a:prstGeom>
          <a:noFill/>
        </p:spPr>
        <p:txBody>
          <a:bodyPr wrap="square" lIns="0" rIns="0" tIns="0" bIns="0">
            <a:spAutoFit/>
          </a:bodyPr>
          <a:lstStyle/>
          <a:p>
            <a:r>
              <a:rPr sz="1350" b="1" spc="100">
                <a:solidFill>
                  <a:srgbClr val="5E6B85"/>
                </a:solidFill>
                <a:latin typeface="Cambria"/>
              </a:rPr>
              <a:t>DISPLAY 1 "DEAD"</a:t>
            </a:r>
          </a:p>
          <a:p>
            <a:pPr>
              <a:spcBef>
                <a:spcPts val="500"/>
              </a:spcBef>
            </a:pPr>
            <a:r>
              <a:rPr sz="1250">
                <a:solidFill>
                  <a:srgbClr val="222A3F"/>
                </a:solidFill>
                <a:latin typeface="Cambria"/>
              </a:rPr>
              <a:t>Power bank shut off; reflective screen in a dim room. Flashlight test first.</a:t>
            </a:r>
          </a:p>
        </p:txBody>
      </p:sp>
      <p:sp>
        <p:nvSpPr>
          <p:cNvPr id="12" name="Rectangle 11"/>
          <p:cNvSpPr/>
          <p:nvPr/>
        </p:nvSpPr>
        <p:spPr>
          <a:xfrm>
            <a:off x="4325112" y="1234440"/>
            <a:ext cx="3657600" cy="1828800"/>
          </a:xfrm>
          <a:prstGeom prst="rect">
            <a:avLst/>
          </a:prstGeom>
          <a:solidFill>
            <a:srgbClr val="F2F5FA"/>
          </a:solidFill>
          <a:ln w="15875">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89703" y="1353312"/>
            <a:ext cx="3328416" cy="1591056"/>
          </a:xfrm>
          <a:prstGeom prst="rect">
            <a:avLst/>
          </a:prstGeom>
          <a:noFill/>
        </p:spPr>
        <p:txBody>
          <a:bodyPr wrap="square" lIns="0" rIns="0" tIns="0" bIns="0">
            <a:spAutoFit/>
          </a:bodyPr>
          <a:lstStyle/>
          <a:p>
            <a:r>
              <a:rPr sz="1350" b="1" spc="100">
                <a:solidFill>
                  <a:srgbClr val="E58E1A"/>
                </a:solidFill>
                <a:latin typeface="Cambria"/>
              </a:rPr>
              <a:t>DISPLAY 2 HALF-DEAD USB-C</a:t>
            </a:r>
          </a:p>
          <a:p>
            <a:pPr>
              <a:spcBef>
                <a:spcPts val="500"/>
              </a:spcBef>
            </a:pPr>
            <a:r>
              <a:rPr sz="1250">
                <a:solidFill>
                  <a:srgbClr val="222A3F"/>
                </a:solidFill>
                <a:latin typeface="Cambria"/>
              </a:rPr>
              <a:t>Powers in one plug orientation only. Marked; a repair item.</a:t>
            </a:r>
          </a:p>
        </p:txBody>
      </p:sp>
      <p:sp>
        <p:nvSpPr>
          <p:cNvPr id="14" name="Rectangle 13"/>
          <p:cNvSpPr/>
          <p:nvPr/>
        </p:nvSpPr>
        <p:spPr>
          <a:xfrm>
            <a:off x="8147304" y="1234440"/>
            <a:ext cx="3657600" cy="1828800"/>
          </a:xfrm>
          <a:prstGeom prst="rect">
            <a:avLst/>
          </a:prstGeom>
          <a:solidFill>
            <a:srgbClr val="F2F5FA"/>
          </a:solidFill>
          <a:ln w="15875">
            <a:solidFill>
              <a:srgbClr val="C43A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11896" y="1353312"/>
            <a:ext cx="3328416" cy="1591056"/>
          </a:xfrm>
          <a:prstGeom prst="rect">
            <a:avLst/>
          </a:prstGeom>
          <a:noFill/>
        </p:spPr>
        <p:txBody>
          <a:bodyPr wrap="square" lIns="0" rIns="0" tIns="0" bIns="0">
            <a:spAutoFit/>
          </a:bodyPr>
          <a:lstStyle/>
          <a:p>
            <a:r>
              <a:rPr sz="1350" b="1" spc="100">
                <a:solidFill>
                  <a:srgbClr val="C43A4B"/>
                </a:solidFill>
                <a:latin typeface="Cambria"/>
              </a:rPr>
              <a:t>RADIO EA:D4 REVERTED</a:t>
            </a:r>
          </a:p>
          <a:p>
            <a:pPr>
              <a:spcBef>
                <a:spcPts val="500"/>
              </a:spcBef>
            </a:pPr>
            <a:r>
              <a:rPr sz="1250">
                <a:solidFill>
                  <a:srgbClr val="222A3F"/>
                </a:solidFill>
                <a:latin typeface="Cambria"/>
              </a:rPr>
              <a:t>A week idle, battery flat: PIN mode, channel and name gone. One log line named it.</a:t>
            </a:r>
          </a:p>
        </p:txBody>
      </p:sp>
      <p:sp>
        <p:nvSpPr>
          <p:cNvPr id="16" name="Rectangle 15"/>
          <p:cNvSpPr/>
          <p:nvPr/>
        </p:nvSpPr>
        <p:spPr>
          <a:xfrm>
            <a:off x="502920" y="3291840"/>
            <a:ext cx="11155680" cy="1691640"/>
          </a:xfrm>
          <a:prstGeom prst="rect">
            <a:avLst/>
          </a:prstGeom>
          <a:solidFill>
            <a:srgbClr val="1B24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3383280"/>
            <a:ext cx="10826496" cy="274320"/>
          </a:xfrm>
          <a:prstGeom prst="rect">
            <a:avLst/>
          </a:prstGeom>
          <a:noFill/>
        </p:spPr>
        <p:txBody>
          <a:bodyPr wrap="square" lIns="0" rIns="0" tIns="0" bIns="0">
            <a:spAutoFit/>
          </a:bodyPr>
          <a:lstStyle/>
          <a:p>
            <a:pPr algn="l"/>
            <a:r>
              <a:rPr sz="1000" b="1" i="0">
                <a:solidFill>
                  <a:srgbClr val="E58E1A"/>
                </a:solidFill>
                <a:latin typeface="Courier New"/>
              </a:rPr>
              <a:t>DISPLAY SERIAL LOG - THE SIGNATURE</a:t>
            </a:r>
          </a:p>
        </p:txBody>
      </p:sp>
      <p:sp>
        <p:nvSpPr>
          <p:cNvPr id="18" name="TextBox 17"/>
          <p:cNvSpPr txBox="1"/>
          <p:nvPr/>
        </p:nvSpPr>
        <p:spPr>
          <a:xfrm>
            <a:off x="667512" y="3675888"/>
            <a:ext cx="10826496" cy="1234440"/>
          </a:xfrm>
          <a:prstGeom prst="rect">
            <a:avLst/>
          </a:prstGeom>
          <a:noFill/>
        </p:spPr>
        <p:txBody>
          <a:bodyPr wrap="square" lIns="0" rIns="0" tIns="0" bIns="0">
            <a:spAutoFit/>
          </a:bodyPr>
          <a:lstStyle/>
          <a:p>
            <a:r>
              <a:rPr sz="1100">
                <a:solidFill>
                  <a:srgbClr val="C9D8F0"/>
                </a:solidFill>
                <a:latin typeface="Courier New"/>
              </a:rPr>
              <a:t>[ble] auth complete: encrypted=1 bonded=0</a:t>
            </a:r>
          </a:p>
          <a:p>
            <a:r>
              <a:rPr sz="1100">
                <a:solidFill>
                  <a:srgbClr val="FF9AA8"/>
                </a:solidFill>
                <a:latin typeface="Courier New"/>
              </a:rPr>
              <a:t>Write complete; status=261            &lt;- insufficient authentication: radio not in NO_PIN</a:t>
            </a:r>
          </a:p>
          <a:p>
            <a:r>
              <a:rPr sz="1100">
                <a:solidFill>
                  <a:srgbClr val="C9D8F0"/>
                </a:solidFill>
                <a:latin typeface="Courier New"/>
              </a:rPr>
              <a:t>[ble] want_config write failed</a:t>
            </a:r>
          </a:p>
          <a:p>
            <a:r>
              <a:rPr sz="1100">
                <a:solidFill>
                  <a:srgbClr val="C9D8F0"/>
                </a:solidFill>
                <a:latin typeface="Courier New"/>
              </a:rPr>
              <a:t>[ble] disconnected (reason 534)       &lt;- our side hung up, by design, to retry</a:t>
            </a:r>
          </a:p>
        </p:txBody>
      </p:sp>
      <p:sp>
        <p:nvSpPr>
          <p:cNvPr id="19" name="TextBox 18"/>
          <p:cNvSpPr txBox="1"/>
          <p:nvPr/>
        </p:nvSpPr>
        <p:spPr>
          <a:xfrm>
            <a:off x="502920" y="5212080"/>
            <a:ext cx="11155680" cy="548640"/>
          </a:xfrm>
          <a:prstGeom prst="rect">
            <a:avLst/>
          </a:prstGeom>
          <a:noFill/>
        </p:spPr>
        <p:txBody>
          <a:bodyPr wrap="square" lIns="0" rIns="0" tIns="0" bIns="0">
            <a:spAutoFit/>
          </a:bodyPr>
          <a:lstStyle/>
          <a:p>
            <a:pPr algn="l"/>
            <a:r>
              <a:rPr sz="1300" b="0" i="0">
                <a:solidFill>
                  <a:srgbClr val="222A3F"/>
                </a:solidFill>
                <a:latin typeface="Cambria"/>
              </a:rPr>
              <a:t>Three faults, forty minutes, because each had a signature. The test ran the next morning.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 - THE TESTS</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08/21  REV E  2026-11-04</a:t>
            </a:r>
          </a:p>
        </p:txBody>
      </p:sp>
      <p:sp>
        <p:nvSpPr>
          <p:cNvPr id="7" name="Rectangle 6"/>
          <p:cNvSpPr/>
          <p:nvPr/>
        </p:nvSpPr>
        <p:spPr>
          <a:xfrm>
            <a:off x="9646920" y="347472"/>
            <a:ext cx="2148840" cy="420624"/>
          </a:xfrm>
          <a:prstGeom prst="rect">
            <a:avLst/>
          </a:prstGeom>
          <a:solidFill>
            <a:srgbClr val="FFFFFF"/>
          </a:solidFill>
          <a:ln w="19050">
            <a:solidFill>
              <a:srgbClr val="D948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D9488C"/>
                </a:solidFill>
                <a:latin typeface="Courier New"/>
              </a:rPr>
              <a:t>OWNER: CANNON</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THE TEST CAMPAIGNS</a:t>
            </a:r>
          </a:p>
        </p:txBody>
      </p:sp>
      <p:graphicFrame>
        <p:nvGraphicFramePr>
          <p:cNvPr id="10" name="Table 9"/>
          <p:cNvGraphicFramePr>
            <a:graphicFrameLocks noGrp="1"/>
          </p:cNvGraphicFramePr>
          <p:nvPr/>
        </p:nvGraphicFramePr>
        <p:xfrm>
          <a:off x="502920" y="1188720"/>
          <a:ext cx="5394960" cy="3803904"/>
        </p:xfrm>
        <a:graphic>
          <a:graphicData uri="http://schemas.openxmlformats.org/drawingml/2006/table">
            <a:tbl>
              <a:tblPr firstRow="1" bandRow="1">
                <a:tableStyleId>{5C22544A-7EE6-4342-B048-85BDC9FD1C3A}</a:tableStyleId>
              </a:tblPr>
              <a:tblGrid>
                <a:gridCol w="685800"/>
                <a:gridCol w="1737360"/>
                <a:gridCol w="1051560"/>
                <a:gridCol w="1920240"/>
              </a:tblGrid>
              <a:tr h="475488">
                <a:tc>
                  <a:txBody>
                    <a:bodyPr/>
                    <a:lstStyle/>
                    <a:p>
                      <a:r>
                        <a:rPr sz="1000" b="1">
                          <a:solidFill>
                            <a:srgbClr val="FFFFFF"/>
                          </a:solidFill>
                          <a:latin typeface="Cambria"/>
                        </a:rPr>
                        <a:t>Date</a:t>
                      </a:r>
                    </a:p>
                  </a:txBody>
                  <a:tcPr marL="73152" marR="73152" marT="27432" marB="27432">
                    <a:solidFill>
                      <a:srgbClr val="16213D"/>
                    </a:solidFill>
                  </a:tcPr>
                </a:tc>
                <a:tc>
                  <a:txBody>
                    <a:bodyPr/>
                    <a:lstStyle/>
                    <a:p>
                      <a:r>
                        <a:rPr sz="1000" b="1">
                          <a:solidFill>
                            <a:srgbClr val="FFFFFF"/>
                          </a:solidFill>
                          <a:latin typeface="Cambria"/>
                        </a:rPr>
                        <a:t>Campaign</a:t>
                      </a:r>
                    </a:p>
                  </a:txBody>
                  <a:tcPr marL="73152" marR="73152" marT="27432" marB="27432">
                    <a:solidFill>
                      <a:srgbClr val="16213D"/>
                    </a:solidFill>
                  </a:tcPr>
                </a:tc>
                <a:tc>
                  <a:txBody>
                    <a:bodyPr/>
                    <a:lstStyle/>
                    <a:p>
                      <a:r>
                        <a:rPr sz="1000" b="1">
                          <a:solidFill>
                            <a:srgbClr val="FFFFFF"/>
                          </a:solidFill>
                          <a:latin typeface="Cambria"/>
                        </a:rPr>
                        <a:t>Where</a:t>
                      </a:r>
                    </a:p>
                  </a:txBody>
                  <a:tcPr marL="73152" marR="73152" marT="27432" marB="27432">
                    <a:solidFill>
                      <a:srgbClr val="16213D"/>
                    </a:solidFill>
                  </a:tcPr>
                </a:tc>
                <a:tc>
                  <a:txBody>
                    <a:bodyPr/>
                    <a:lstStyle/>
                    <a:p>
                      <a:r>
                        <a:rPr sz="1000" b="1">
                          <a:solidFill>
                            <a:srgbClr val="FFFFFF"/>
                          </a:solidFill>
                          <a:latin typeface="Cambria"/>
                        </a:rPr>
                        <a:t>Result</a:t>
                      </a:r>
                    </a:p>
                  </a:txBody>
                  <a:tcPr marL="73152" marR="73152" marT="27432" marB="27432">
                    <a:solidFill>
                      <a:srgbClr val="16213D"/>
                    </a:solidFill>
                  </a:tcPr>
                </a:tc>
              </a:tr>
              <a:tr h="475488">
                <a:tc>
                  <a:txBody>
                    <a:bodyPr/>
                    <a:lstStyle/>
                    <a:p>
                      <a:r>
                        <a:rPr sz="1000" b="0">
                          <a:solidFill>
                            <a:srgbClr val="222A3F"/>
                          </a:solidFill>
                          <a:latin typeface="Cambria"/>
                        </a:rPr>
                        <a:t>Aug 31</a:t>
                      </a:r>
                    </a:p>
                  </a:txBody>
                  <a:tcPr marL="73152" marR="73152" marT="27432" marB="27432">
                    <a:solidFill>
                      <a:srgbClr val="F2F5FA"/>
                    </a:solidFill>
                  </a:tcPr>
                </a:tc>
                <a:tc>
                  <a:txBody>
                    <a:bodyPr/>
                    <a:lstStyle/>
                    <a:p>
                      <a:r>
                        <a:rPr sz="1000" b="0">
                          <a:solidFill>
                            <a:srgbClr val="222A3F"/>
                          </a:solidFill>
                          <a:latin typeface="Cambria"/>
                        </a:rPr>
                        <a:t>Bench, end-to-end</a:t>
                      </a:r>
                    </a:p>
                  </a:txBody>
                  <a:tcPr marL="73152" marR="73152" marT="27432" marB="27432">
                    <a:solidFill>
                      <a:srgbClr val="F2F5FA"/>
                    </a:solidFill>
                  </a:tcPr>
                </a:tc>
                <a:tc>
                  <a:txBody>
                    <a:bodyPr/>
                    <a:lstStyle/>
                    <a:p>
                      <a:r>
                        <a:rPr sz="1000" b="0">
                          <a:solidFill>
                            <a:srgbClr val="222A3F"/>
                          </a:solidFill>
                          <a:latin typeface="Cambria"/>
                        </a:rPr>
                        <a:t>Desk</a:t>
                      </a:r>
                    </a:p>
                  </a:txBody>
                  <a:tcPr marL="73152" marR="73152" marT="27432" marB="27432">
                    <a:solidFill>
                      <a:srgbClr val="F2F5FA"/>
                    </a:solidFill>
                  </a:tcPr>
                </a:tc>
                <a:tc>
                  <a:txBody>
                    <a:bodyPr/>
                    <a:lstStyle/>
                    <a:p>
                      <a:r>
                        <a:rPr sz="1000" b="0">
                          <a:solidFill>
                            <a:srgbClr val="222A3F"/>
                          </a:solidFill>
                          <a:latin typeface="Cambria"/>
                        </a:rPr>
                        <a:t>Live GPS radio to display</a:t>
                      </a:r>
                    </a:p>
                  </a:txBody>
                  <a:tcPr marL="73152" marR="73152" marT="27432" marB="27432">
                    <a:solidFill>
                      <a:srgbClr val="F2F5FA"/>
                    </a:solidFill>
                  </a:tcPr>
                </a:tc>
              </a:tr>
              <a:tr h="475488">
                <a:tc>
                  <a:txBody>
                    <a:bodyPr/>
                    <a:lstStyle/>
                    <a:p>
                      <a:r>
                        <a:rPr sz="1000" b="0">
                          <a:solidFill>
                            <a:srgbClr val="222A3F"/>
                          </a:solidFill>
                          <a:latin typeface="Cambria"/>
                        </a:rPr>
                        <a:t>Sep 1</a:t>
                      </a:r>
                    </a:p>
                  </a:txBody>
                  <a:tcPr marL="73152" marR="73152" marT="27432" marB="27432">
                    <a:solidFill>
                      <a:srgbClr val="FFFFFF"/>
                    </a:solidFill>
                  </a:tcPr>
                </a:tc>
                <a:tc>
                  <a:txBody>
                    <a:bodyPr/>
                    <a:lstStyle/>
                    <a:p>
                      <a:r>
                        <a:rPr sz="1000" b="0">
                          <a:solidFill>
                            <a:srgbClr val="222A3F"/>
                          </a:solidFill>
                          <a:latin typeface="Cambria"/>
                        </a:rPr>
                        <a:t>First drive</a:t>
                      </a:r>
                    </a:p>
                  </a:txBody>
                  <a:tcPr marL="73152" marR="73152" marT="27432" marB="27432">
                    <a:solidFill>
                      <a:srgbClr val="FFFFFF"/>
                    </a:solidFill>
                  </a:tcPr>
                </a:tc>
                <a:tc>
                  <a:txBody>
                    <a:bodyPr/>
                    <a:lstStyle/>
                    <a:p>
                      <a:r>
                        <a:rPr sz="1000" b="0">
                          <a:solidFill>
                            <a:srgbClr val="222A3F"/>
                          </a:solidFill>
                          <a:latin typeface="Cambria"/>
                        </a:rPr>
                        <a:t>Town</a:t>
                      </a:r>
                    </a:p>
                  </a:txBody>
                  <a:tcPr marL="73152" marR="73152" marT="27432" marB="27432">
                    <a:solidFill>
                      <a:srgbClr val="FFFFFF"/>
                    </a:solidFill>
                  </a:tcPr>
                </a:tc>
                <a:tc>
                  <a:txBody>
                    <a:bodyPr/>
                    <a:lstStyle/>
                    <a:p>
                      <a:r>
                        <a:rPr sz="1000" b="0">
                          <a:solidFill>
                            <a:srgbClr val="222A3F"/>
                          </a:solidFill>
                          <a:latin typeface="Cambria"/>
                        </a:rPr>
                        <a:t>Works at speed; five faults</a:t>
                      </a:r>
                    </a:p>
                  </a:txBody>
                  <a:tcPr marL="73152" marR="73152" marT="27432" marB="27432">
                    <a:solidFill>
                      <a:srgbClr val="FFFFFF"/>
                    </a:solidFill>
                  </a:tcPr>
                </a:tc>
              </a:tr>
              <a:tr h="475488">
                <a:tc>
                  <a:txBody>
                    <a:bodyPr/>
                    <a:lstStyle/>
                    <a:p>
                      <a:r>
                        <a:rPr sz="1000" b="0">
                          <a:solidFill>
                            <a:srgbClr val="222A3F"/>
                          </a:solidFill>
                          <a:latin typeface="Cambria"/>
                        </a:rPr>
                        <a:t>Sep 25</a:t>
                      </a:r>
                    </a:p>
                  </a:txBody>
                  <a:tcPr marL="73152" marR="73152" marT="27432" marB="27432">
                    <a:solidFill>
                      <a:srgbClr val="F2F5FA"/>
                    </a:solidFill>
                  </a:tcPr>
                </a:tc>
                <a:tc>
                  <a:txBody>
                    <a:bodyPr/>
                    <a:lstStyle/>
                    <a:p>
                      <a:r>
                        <a:rPr sz="1000" b="0">
                          <a:solidFill>
                            <a:srgbClr val="222A3F"/>
                          </a:solidFill>
                          <a:latin typeface="Cambria"/>
                        </a:rPr>
                        <a:t>Two-radio link</a:t>
                      </a:r>
                    </a:p>
                  </a:txBody>
                  <a:tcPr marL="73152" marR="73152" marT="27432" marB="27432">
                    <a:solidFill>
                      <a:srgbClr val="F2F5FA"/>
                    </a:solidFill>
                  </a:tcPr>
                </a:tc>
                <a:tc>
                  <a:txBody>
                    <a:bodyPr/>
                    <a:lstStyle/>
                    <a:p>
                      <a:r>
                        <a:rPr sz="1000" b="0">
                          <a:solidFill>
                            <a:srgbClr val="222A3F"/>
                          </a:solidFill>
                          <a:latin typeface="Cambria"/>
                        </a:rPr>
                        <a:t>Desk</a:t>
                      </a:r>
                    </a:p>
                  </a:txBody>
                  <a:tcPr marL="73152" marR="73152" marT="27432" marB="27432">
                    <a:solidFill>
                      <a:srgbClr val="F2F5FA"/>
                    </a:solidFill>
                  </a:tcPr>
                </a:tc>
                <a:tc>
                  <a:txBody>
                    <a:bodyPr/>
                    <a:lstStyle/>
                    <a:p>
                      <a:r>
                        <a:rPr sz="1000" b="0">
                          <a:solidFill>
                            <a:srgbClr val="222A3F"/>
                          </a:solidFill>
                          <a:latin typeface="Cambria"/>
                        </a:rPr>
                        <a:t>Traceroute 6.75 / 5.75 dB</a:t>
                      </a:r>
                    </a:p>
                  </a:txBody>
                  <a:tcPr marL="73152" marR="73152" marT="27432" marB="27432">
                    <a:solidFill>
                      <a:srgbClr val="F2F5FA"/>
                    </a:solidFill>
                  </a:tcPr>
                </a:tc>
              </a:tr>
              <a:tr h="475488">
                <a:tc>
                  <a:txBody>
                    <a:bodyPr/>
                    <a:lstStyle/>
                    <a:p>
                      <a:r>
                        <a:rPr sz="1000" b="0">
                          <a:solidFill>
                            <a:srgbClr val="222A3F"/>
                          </a:solidFill>
                          <a:latin typeface="Cambria"/>
                        </a:rPr>
                        <a:t>Oct 4</a:t>
                      </a:r>
                    </a:p>
                  </a:txBody>
                  <a:tcPr marL="73152" marR="73152" marT="27432" marB="27432">
                    <a:solidFill>
                      <a:srgbClr val="FFFFFF"/>
                    </a:solidFill>
                  </a:tcPr>
                </a:tc>
                <a:tc>
                  <a:txBody>
                    <a:bodyPr/>
                    <a:lstStyle/>
                    <a:p>
                      <a:r>
                        <a:rPr sz="1000" b="0">
                          <a:solidFill>
                            <a:srgbClr val="222A3F"/>
                          </a:solidFill>
                          <a:latin typeface="Cambria"/>
                        </a:rPr>
                        <a:t>Night convoy</a:t>
                      </a:r>
                    </a:p>
                  </a:txBody>
                  <a:tcPr marL="73152" marR="73152" marT="27432" marB="27432">
                    <a:solidFill>
                      <a:srgbClr val="FFFFFF"/>
                    </a:solidFill>
                  </a:tcPr>
                </a:tc>
                <a:tc>
                  <a:txBody>
                    <a:bodyPr/>
                    <a:lstStyle/>
                    <a:p>
                      <a:r>
                        <a:rPr sz="1000" b="0">
                          <a:solidFill>
                            <a:srgbClr val="222A3F"/>
                          </a:solidFill>
                          <a:latin typeface="Cambria"/>
                        </a:rPr>
                        <a:t>Town</a:t>
                      </a:r>
                    </a:p>
                  </a:txBody>
                  <a:tcPr marL="73152" marR="73152" marT="27432" marB="27432">
                    <a:solidFill>
                      <a:srgbClr val="FFFFFF"/>
                    </a:solidFill>
                  </a:tcPr>
                </a:tc>
                <a:tc>
                  <a:txBody>
                    <a:bodyPr/>
                    <a:lstStyle/>
                    <a:p>
                      <a:r>
                        <a:rPr sz="1000" b="0">
                          <a:solidFill>
                            <a:srgbClr val="222A3F"/>
                          </a:solidFill>
                          <a:latin typeface="Cambria"/>
                        </a:rPr>
                        <a:t>Stale at ~0.5 mi; course-up born</a:t>
                      </a:r>
                    </a:p>
                  </a:txBody>
                  <a:tcPr marL="73152" marR="73152" marT="27432" marB="27432">
                    <a:solidFill>
                      <a:srgbClr val="FFFFFF"/>
                    </a:solidFill>
                  </a:tcPr>
                </a:tc>
              </a:tr>
              <a:tr h="475488">
                <a:tc>
                  <a:txBody>
                    <a:bodyPr/>
                    <a:lstStyle/>
                    <a:p>
                      <a:r>
                        <a:rPr sz="1000" b="0">
                          <a:solidFill>
                            <a:srgbClr val="222A3F"/>
                          </a:solidFill>
                          <a:latin typeface="Cambria"/>
                        </a:rPr>
                        <a:t>Oct 5</a:t>
                      </a:r>
                    </a:p>
                  </a:txBody>
                  <a:tcPr marL="73152" marR="73152" marT="27432" marB="27432">
                    <a:solidFill>
                      <a:srgbClr val="F2F5FA"/>
                    </a:solidFill>
                  </a:tcPr>
                </a:tc>
                <a:tc>
                  <a:txBody>
                    <a:bodyPr/>
                    <a:lstStyle/>
                    <a:p>
                      <a:r>
                        <a:rPr sz="1000" b="0">
                          <a:solidFill>
                            <a:srgbClr val="222A3F"/>
                          </a:solidFill>
                          <a:latin typeface="Cambria"/>
                        </a:rPr>
                        <a:t>Open road</a:t>
                      </a:r>
                    </a:p>
                  </a:txBody>
                  <a:tcPr marL="73152" marR="73152" marT="27432" marB="27432">
                    <a:solidFill>
                      <a:srgbClr val="F2F5FA"/>
                    </a:solidFill>
                  </a:tcPr>
                </a:tc>
                <a:tc>
                  <a:txBody>
                    <a:bodyPr/>
                    <a:lstStyle/>
                    <a:p>
                      <a:r>
                        <a:rPr sz="1000" b="0">
                          <a:solidFill>
                            <a:srgbClr val="222A3F"/>
                          </a:solidFill>
                          <a:latin typeface="Cambria"/>
                        </a:rPr>
                        <a:t>Farm road</a:t>
                      </a:r>
                    </a:p>
                  </a:txBody>
                  <a:tcPr marL="73152" marR="73152" marT="27432" marB="27432">
                    <a:solidFill>
                      <a:srgbClr val="F2F5FA"/>
                    </a:solidFill>
                  </a:tcPr>
                </a:tc>
                <a:tc>
                  <a:txBody>
                    <a:bodyPr/>
                    <a:lstStyle/>
                    <a:p>
                      <a:r>
                        <a:rPr sz="1000" b="0">
                          <a:solidFill>
                            <a:srgbClr val="222A3F"/>
                          </a:solidFill>
                          <a:latin typeface="Cambria"/>
                        </a:rPr>
                        <a:t>Tracking to 3.26 mi; stale 3.75</a:t>
                      </a:r>
                    </a:p>
                  </a:txBody>
                  <a:tcPr marL="73152" marR="73152" marT="27432" marB="27432">
                    <a:solidFill>
                      <a:srgbClr val="F2F5FA"/>
                    </a:solidFill>
                  </a:tcPr>
                </a:tc>
              </a:tr>
              <a:tr h="475488">
                <a:tc>
                  <a:txBody>
                    <a:bodyPr/>
                    <a:lstStyle/>
                    <a:p>
                      <a:r>
                        <a:rPr sz="1000" b="0">
                          <a:solidFill>
                            <a:srgbClr val="222A3F"/>
                          </a:solidFill>
                          <a:latin typeface="Cambria"/>
                        </a:rPr>
                        <a:t>Oct 18</a:t>
                      </a:r>
                    </a:p>
                  </a:txBody>
                  <a:tcPr marL="73152" marR="73152" marT="27432" marB="27432">
                    <a:solidFill>
                      <a:srgbClr val="FFFFFF"/>
                    </a:solidFill>
                  </a:tcPr>
                </a:tc>
                <a:tc>
                  <a:txBody>
                    <a:bodyPr/>
                    <a:lstStyle/>
                    <a:p>
                      <a:r>
                        <a:rPr sz="1000" b="0">
                          <a:solidFill>
                            <a:srgbClr val="222A3F"/>
                          </a:solidFill>
                          <a:latin typeface="Cambria"/>
                        </a:rPr>
                        <a:t>Canyon</a:t>
                      </a:r>
                    </a:p>
                  </a:txBody>
                  <a:tcPr marL="73152" marR="73152" marT="27432" marB="27432">
                    <a:solidFill>
                      <a:srgbClr val="FFFFFF"/>
                    </a:solidFill>
                  </a:tcPr>
                </a:tc>
                <a:tc>
                  <a:txBody>
                    <a:bodyPr/>
                    <a:lstStyle/>
                    <a:p>
                      <a:r>
                        <a:rPr sz="1000" b="0">
                          <a:solidFill>
                            <a:srgbClr val="222A3F"/>
                          </a:solidFill>
                          <a:latin typeface="Cambria"/>
                        </a:rPr>
                        <a:t>Ceta Canyon</a:t>
                      </a:r>
                    </a:p>
                  </a:txBody>
                  <a:tcPr marL="73152" marR="73152" marT="27432" marB="27432">
                    <a:solidFill>
                      <a:srgbClr val="FFFFFF"/>
                    </a:solidFill>
                  </a:tcPr>
                </a:tc>
                <a:tc>
                  <a:txBody>
                    <a:bodyPr/>
                    <a:lstStyle/>
                    <a:p>
                      <a:r>
                        <a:rPr sz="1000" b="0">
                          <a:solidFill>
                            <a:srgbClr val="222A3F"/>
                          </a:solidFill>
                          <a:latin typeface="Cambria"/>
                        </a:rPr>
                        <a:t>Stale 1.29 mi; packet at 4.28; rim 4.7</a:t>
                      </a:r>
                    </a:p>
                  </a:txBody>
                  <a:tcPr marL="73152" marR="73152" marT="27432" marB="27432">
                    <a:solidFill>
                      <a:srgbClr val="FFFFFF"/>
                    </a:solidFill>
                  </a:tcPr>
                </a:tc>
              </a:tr>
              <a:tr h="475488">
                <a:tc>
                  <a:txBody>
                    <a:bodyPr/>
                    <a:lstStyle/>
                    <a:p>
                      <a:r>
                        <a:rPr sz="1000" b="0">
                          <a:solidFill>
                            <a:srgbClr val="222A3F"/>
                          </a:solidFill>
                          <a:latin typeface="Cambria"/>
                        </a:rPr>
                        <a:t>Oct 25</a:t>
                      </a:r>
                    </a:p>
                  </a:txBody>
                  <a:tcPr marL="73152" marR="73152" marT="27432" marB="27432">
                    <a:solidFill>
                      <a:srgbClr val="F2F5FA"/>
                    </a:solidFill>
                  </a:tcPr>
                </a:tc>
                <a:tc>
                  <a:txBody>
                    <a:bodyPr/>
                    <a:lstStyle/>
                    <a:p>
                      <a:r>
                        <a:rPr sz="1000" b="0">
                          <a:solidFill>
                            <a:srgbClr val="222A3F"/>
                          </a:solidFill>
                          <a:latin typeface="Cambria"/>
                        </a:rPr>
                        <a:t>Roof-top antenna, max range</a:t>
                      </a:r>
                    </a:p>
                  </a:txBody>
                  <a:tcPr marL="73152" marR="73152" marT="27432" marB="27432">
                    <a:solidFill>
                      <a:srgbClr val="F2F5FA"/>
                    </a:solidFill>
                  </a:tcPr>
                </a:tc>
                <a:tc>
                  <a:txBody>
                    <a:bodyPr/>
                    <a:lstStyle/>
                    <a:p>
                      <a:r>
                        <a:rPr sz="1000" b="0">
                          <a:solidFill>
                            <a:srgbClr val="222A3F"/>
                          </a:solidFill>
                          <a:latin typeface="Cambria"/>
                        </a:rPr>
                        <a:t>Capitan, NM</a:t>
                      </a:r>
                    </a:p>
                  </a:txBody>
                  <a:tcPr marL="73152" marR="73152" marT="27432" marB="27432">
                    <a:solidFill>
                      <a:srgbClr val="F2F5FA"/>
                    </a:solidFill>
                  </a:tcPr>
                </a:tc>
                <a:tc>
                  <a:txBody>
                    <a:bodyPr/>
                    <a:lstStyle/>
                    <a:p>
                      <a:r>
                        <a:rPr sz="1000" b="0">
                          <a:solidFill>
                            <a:srgbClr val="222A3F"/>
                          </a:solidFill>
                          <a:latin typeface="Cambria"/>
                        </a:rPr>
                        <a:t>On site; flash flood warning; rescheduled</a:t>
                      </a:r>
                    </a:p>
                  </a:txBody>
                  <a:tcPr marL="73152" marR="73152" marT="27432" marB="27432">
                    <a:solidFill>
                      <a:srgbClr val="F2F5FA"/>
                    </a:solidFill>
                  </a:tcPr>
                </a:tc>
              </a:tr>
            </a:tbl>
          </a:graphicData>
        </a:graphic>
      </p:graphicFrame>
      <p:pic>
        <p:nvPicPr>
          <p:cNvPr id="11" name="Picture 10" descr="g_onset4.png"/>
          <p:cNvPicPr>
            <a:picLocks noChangeAspect="1"/>
          </p:cNvPicPr>
          <p:nvPr/>
        </p:nvPicPr>
        <p:blipFill>
          <a:blip r:embed="rId2"/>
          <a:stretch>
            <a:fillRect/>
          </a:stretch>
        </p:blipFill>
        <p:spPr>
          <a:xfrm>
            <a:off x="6035040" y="1188720"/>
            <a:ext cx="5669280" cy="2539365"/>
          </a:xfrm>
          <a:prstGeom prst="rect">
            <a:avLst/>
          </a:prstGeom>
        </p:spPr>
      </p:pic>
      <p:sp>
        <p:nvSpPr>
          <p:cNvPr id="12" name="TextBox 11"/>
          <p:cNvSpPr txBox="1"/>
          <p:nvPr/>
        </p:nvSpPr>
        <p:spPr>
          <a:xfrm>
            <a:off x="6035040" y="4572000"/>
            <a:ext cx="5669280" cy="731520"/>
          </a:xfrm>
          <a:prstGeom prst="rect">
            <a:avLst/>
          </a:prstGeom>
          <a:noFill/>
        </p:spPr>
        <p:txBody>
          <a:bodyPr wrap="square" lIns="0" rIns="0" tIns="0" bIns="0">
            <a:spAutoFit/>
          </a:bodyPr>
          <a:lstStyle/>
          <a:p>
            <a:pPr algn="l"/>
            <a:r>
              <a:rPr sz="1250" b="0" i="0">
                <a:solidFill>
                  <a:srgbClr val="222A3F"/>
                </a:solidFill>
                <a:latin typeface="Cambria"/>
              </a:rPr>
              <a:t>Same radios, four terrains: 0.5 to 4.7 mi. Terrain and antenna height set the range.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59"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481328"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139696"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798063"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456431"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799"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773167"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31535"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089903"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748271"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406639"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5007"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723376"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381744"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40112"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698480"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1356848"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2015216"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64592" y="146304"/>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64592" y="804672"/>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64592" y="1463040"/>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64592" y="2121408"/>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64592" y="2779776"/>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64592" y="3438144"/>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64592" y="4096511"/>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64592" y="4754879"/>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64592" y="5413247"/>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64592" y="6071615"/>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34" name="TextBox 33"/>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35" name="TextBox 34"/>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09/21  REV E  2026-11-04</a:t>
            </a:r>
          </a:p>
        </p:txBody>
      </p:sp>
      <p:sp>
        <p:nvSpPr>
          <p:cNvPr id="36" name="Rectangle 35"/>
          <p:cNvSpPr/>
          <p:nvPr/>
        </p:nvSpPr>
        <p:spPr>
          <a:xfrm>
            <a:off x="9646920" y="347472"/>
            <a:ext cx="2148840" cy="420624"/>
          </a:xfrm>
          <a:prstGeom prst="rect">
            <a:avLst/>
          </a:prstGeom>
          <a:solidFill>
            <a:srgbClr val="FFFFFF"/>
          </a:solidFill>
          <a:ln w="19050">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E58E1A"/>
                </a:solidFill>
                <a:latin typeface="Courier New"/>
              </a:rPr>
              <a:t>OWNER: VICTOR</a:t>
            </a:r>
          </a:p>
        </p:txBody>
      </p:sp>
      <p:sp>
        <p:nvSpPr>
          <p:cNvPr id="38" name="TextBox 37"/>
          <p:cNvSpPr txBox="1"/>
          <p:nvPr/>
        </p:nvSpPr>
        <p:spPr>
          <a:xfrm>
            <a:off x="640080" y="457200"/>
            <a:ext cx="10881360" cy="457200"/>
          </a:xfrm>
          <a:prstGeom prst="rect">
            <a:avLst/>
          </a:prstGeom>
          <a:noFill/>
        </p:spPr>
        <p:txBody>
          <a:bodyPr wrap="square" lIns="0" rIns="0" tIns="0" bIns="0">
            <a:spAutoFit/>
          </a:bodyPr>
          <a:lstStyle/>
          <a:p>
            <a:pPr algn="l"/>
            <a:r>
              <a:rPr sz="1600" b="1" i="0" spc="400">
                <a:solidFill>
                  <a:srgbClr val="E58E1A"/>
                </a:solidFill>
                <a:latin typeface="Cambria"/>
              </a:rPr>
              <a:t>PART II</a:t>
            </a:r>
          </a:p>
        </p:txBody>
      </p:sp>
      <p:sp>
        <p:nvSpPr>
          <p:cNvPr id="39" name="TextBox 38"/>
          <p:cNvSpPr txBox="1"/>
          <p:nvPr/>
        </p:nvSpPr>
        <p:spPr>
          <a:xfrm>
            <a:off x="640080" y="868680"/>
            <a:ext cx="10881360" cy="822960"/>
          </a:xfrm>
          <a:prstGeom prst="rect">
            <a:avLst/>
          </a:prstGeom>
          <a:noFill/>
        </p:spPr>
        <p:txBody>
          <a:bodyPr wrap="square" lIns="0" rIns="0" tIns="0" bIns="0">
            <a:spAutoFit/>
          </a:bodyPr>
          <a:lstStyle/>
          <a:p>
            <a:pPr algn="l"/>
            <a:r>
              <a:rPr sz="3400" b="1" i="0" spc="300">
                <a:solidFill>
                  <a:srgbClr val="16213D"/>
                </a:solidFill>
                <a:latin typeface="Cambria"/>
              </a:rPr>
              <a:t>WHY THE RADIOS FORGET</a:t>
            </a:r>
          </a:p>
        </p:txBody>
      </p:sp>
      <p:sp>
        <p:nvSpPr>
          <p:cNvPr id="40" name="TextBox 39"/>
          <p:cNvSpPr txBox="1"/>
          <p:nvPr/>
        </p:nvSpPr>
        <p:spPr>
          <a:xfrm>
            <a:off x="658368" y="1737360"/>
            <a:ext cx="10881360" cy="731520"/>
          </a:xfrm>
          <a:prstGeom prst="rect">
            <a:avLst/>
          </a:prstGeom>
          <a:noFill/>
        </p:spPr>
        <p:txBody>
          <a:bodyPr wrap="square" lIns="0" rIns="0" tIns="0" bIns="0">
            <a:spAutoFit/>
          </a:bodyPr>
          <a:lstStyle/>
          <a:p>
            <a:pPr algn="l"/>
            <a:r>
              <a:rPr sz="1400" b="0" i="0">
                <a:solidFill>
                  <a:srgbClr val="222A3F"/>
                </a:solidFill>
                <a:latin typeface="Cambria"/>
              </a:rPr>
              <a:t>A Qualcomm engineer asked: is it the memory itself? That can mean three things, each with its own fingerprint and its own fix. So we measured.</a:t>
            </a:r>
          </a:p>
        </p:txBody>
      </p:sp>
      <p:sp>
        <p:nvSpPr>
          <p:cNvPr id="41" name="Rectangle 40"/>
          <p:cNvSpPr/>
          <p:nvPr/>
        </p:nvSpPr>
        <p:spPr>
          <a:xfrm>
            <a:off x="502920" y="2697480"/>
            <a:ext cx="3657600" cy="2103120"/>
          </a:xfrm>
          <a:prstGeom prst="rect">
            <a:avLst/>
          </a:prstGeom>
          <a:solidFill>
            <a:srgbClr val="F2F5FA"/>
          </a:solidFill>
          <a:ln w="15875">
            <a:solidFill>
              <a:srgbClr val="C43A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67512" y="2816352"/>
            <a:ext cx="3328416" cy="1865376"/>
          </a:xfrm>
          <a:prstGeom prst="rect">
            <a:avLst/>
          </a:prstGeom>
          <a:noFill/>
        </p:spPr>
        <p:txBody>
          <a:bodyPr wrap="square" lIns="0" rIns="0" tIns="0" bIns="0">
            <a:spAutoFit/>
          </a:bodyPr>
          <a:lstStyle/>
          <a:p>
            <a:r>
              <a:rPr sz="1350" b="1" spc="100">
                <a:solidFill>
                  <a:srgbClr val="C43A4B"/>
                </a:solidFill>
                <a:latin typeface="Cambria"/>
              </a:rPr>
              <a:t>WORN OUT</a:t>
            </a:r>
          </a:p>
          <a:p>
            <a:pPr>
              <a:spcBef>
                <a:spcPts val="500"/>
              </a:spcBef>
            </a:pPr>
            <a:r>
              <a:rPr sz="1250">
                <a:solidFill>
                  <a:srgbClr val="222A3F"/>
                </a:solidFill>
                <a:latin typeface="Cambria"/>
              </a:rPr>
              <a:t>•  Cells exhausted by writes</a:t>
            </a:r>
          </a:p>
          <a:p>
            <a:pPr>
              <a:spcBef>
                <a:spcPts val="500"/>
              </a:spcBef>
            </a:pPr>
            <a:r>
              <a:rPr sz="1250">
                <a:solidFill>
                  <a:srgbClr val="222A3F"/>
                </a:solidFill>
                <a:latin typeface="Cambria"/>
              </a:rPr>
              <a:t>•  Looks like: scattered damage</a:t>
            </a:r>
          </a:p>
          <a:p>
            <a:pPr>
              <a:spcBef>
                <a:spcPts val="500"/>
              </a:spcBef>
            </a:pPr>
            <a:r>
              <a:rPr sz="1250">
                <a:solidFill>
                  <a:srgbClr val="222A3F"/>
                </a:solidFill>
                <a:latin typeface="Cambria"/>
              </a:rPr>
              <a:t>•  Fix: new part</a:t>
            </a:r>
          </a:p>
        </p:txBody>
      </p:sp>
      <p:sp>
        <p:nvSpPr>
          <p:cNvPr id="43" name="Rectangle 42"/>
          <p:cNvSpPr/>
          <p:nvPr/>
        </p:nvSpPr>
        <p:spPr>
          <a:xfrm>
            <a:off x="4251959" y="2697480"/>
            <a:ext cx="3657600" cy="2103120"/>
          </a:xfrm>
          <a:prstGeom prst="rect">
            <a:avLst/>
          </a:prstGeom>
          <a:solidFill>
            <a:srgbClr val="F2F5FA"/>
          </a:solidFill>
          <a:ln w="15875">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416551" y="2816352"/>
            <a:ext cx="3328416" cy="1865376"/>
          </a:xfrm>
          <a:prstGeom prst="rect">
            <a:avLst/>
          </a:prstGeom>
          <a:noFill/>
        </p:spPr>
        <p:txBody>
          <a:bodyPr wrap="square" lIns="0" rIns="0" tIns="0" bIns="0">
            <a:spAutoFit/>
          </a:bodyPr>
          <a:lstStyle/>
          <a:p>
            <a:r>
              <a:rPr sz="1350" b="1" spc="100">
                <a:solidFill>
                  <a:srgbClr val="E58E1A"/>
                </a:solidFill>
                <a:latin typeface="Cambria"/>
              </a:rPr>
              <a:t>DEFECTIVE CELLS</a:t>
            </a:r>
          </a:p>
          <a:p>
            <a:pPr>
              <a:spcBef>
                <a:spcPts val="500"/>
              </a:spcBef>
            </a:pPr>
            <a:r>
              <a:rPr sz="1250">
                <a:solidFill>
                  <a:srgbClr val="222A3F"/>
                </a:solidFill>
                <a:latin typeface="Cambria"/>
              </a:rPr>
              <a:t>•  Spots that cannot hold a value</a:t>
            </a:r>
          </a:p>
          <a:p>
            <a:pPr>
              <a:spcBef>
                <a:spcPts val="500"/>
              </a:spcBef>
            </a:pPr>
            <a:r>
              <a:rPr sz="1250">
                <a:solidFill>
                  <a:srgbClr val="222A3F"/>
                </a:solidFill>
                <a:latin typeface="Cambria"/>
              </a:rPr>
              <a:t>•  Looks like: fixed bad spots, stay bad</a:t>
            </a:r>
          </a:p>
          <a:p>
            <a:pPr>
              <a:spcBef>
                <a:spcPts val="500"/>
              </a:spcBef>
            </a:pPr>
            <a:r>
              <a:rPr sz="1250">
                <a:solidFill>
                  <a:srgbClr val="222A3F"/>
                </a:solidFill>
                <a:latin typeface="Cambria"/>
              </a:rPr>
              <a:t>•  Fix: avoid them</a:t>
            </a:r>
          </a:p>
        </p:txBody>
      </p:sp>
      <p:sp>
        <p:nvSpPr>
          <p:cNvPr id="45" name="Rectangle 44"/>
          <p:cNvSpPr/>
          <p:nvPr/>
        </p:nvSpPr>
        <p:spPr>
          <a:xfrm>
            <a:off x="8001000" y="2697480"/>
            <a:ext cx="3657600" cy="2103120"/>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165592" y="2816352"/>
            <a:ext cx="3328416" cy="1865376"/>
          </a:xfrm>
          <a:prstGeom prst="rect">
            <a:avLst/>
          </a:prstGeom>
          <a:noFill/>
        </p:spPr>
        <p:txBody>
          <a:bodyPr wrap="square" lIns="0" rIns="0" tIns="0" bIns="0">
            <a:spAutoFit/>
          </a:bodyPr>
          <a:lstStyle/>
          <a:p>
            <a:r>
              <a:rPr sz="1350" b="1" spc="100">
                <a:solidFill>
                  <a:srgbClr val="1F9D68"/>
                </a:solidFill>
                <a:latin typeface="Cambria"/>
              </a:rPr>
              <a:t>WRITTEN UNDER BAD POWER</a:t>
            </a:r>
          </a:p>
          <a:p>
            <a:pPr>
              <a:spcBef>
                <a:spcPts val="500"/>
              </a:spcBef>
            </a:pPr>
            <a:r>
              <a:rPr sz="1250">
                <a:solidFill>
                  <a:srgbClr val="222A3F"/>
                </a:solidFill>
                <a:latin typeface="Cambria"/>
              </a:rPr>
              <a:t>•  Healthy cells, supply sagged mid-write</a:t>
            </a:r>
          </a:p>
          <a:p>
            <a:pPr>
              <a:spcBef>
                <a:spcPts val="500"/>
              </a:spcBef>
            </a:pPr>
            <a:r>
              <a:rPr sz="1250">
                <a:solidFill>
                  <a:srgbClr val="222A3F"/>
                </a:solidFill>
                <a:latin typeface="Cambria"/>
              </a:rPr>
              <a:t>•  Looks like: fixed bad spots, heal when rewritten</a:t>
            </a:r>
          </a:p>
          <a:p>
            <a:pPr>
              <a:spcBef>
                <a:spcPts val="500"/>
              </a:spcBef>
            </a:pPr>
            <a:r>
              <a:rPr sz="1250">
                <a:solidFill>
                  <a:srgbClr val="222A3F"/>
                </a:solidFill>
                <a:latin typeface="Cambria"/>
              </a:rPr>
              <a:t>•  Fix: never write under low voltage</a:t>
            </a:r>
          </a:p>
        </p:txBody>
      </p:sp>
      <p:sp>
        <p:nvSpPr>
          <p:cNvPr id="47" name="Rectangle 46"/>
          <p:cNvSpPr/>
          <p:nvPr/>
        </p:nvSpPr>
        <p:spPr>
          <a:xfrm>
            <a:off x="502920" y="4983480"/>
            <a:ext cx="11155680" cy="100584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67512" y="5102352"/>
            <a:ext cx="10826496" cy="768096"/>
          </a:xfrm>
          <a:prstGeom prst="rect">
            <a:avLst/>
          </a:prstGeom>
          <a:noFill/>
        </p:spPr>
        <p:txBody>
          <a:bodyPr wrap="square" lIns="0" rIns="0" tIns="0" bIns="0">
            <a:spAutoFit/>
          </a:bodyPr>
          <a:lstStyle/>
          <a:p>
            <a:r>
              <a:rPr sz="1250" b="1" spc="100">
                <a:solidFill>
                  <a:srgbClr val="16213D"/>
                </a:solidFill>
                <a:latin typeface="Cambria"/>
              </a:rPr>
              <a:t>HOW WE TOLD THEM APART</a:t>
            </a:r>
          </a:p>
          <a:p>
            <a:pPr>
              <a:spcBef>
                <a:spcPts val="500"/>
              </a:spcBef>
            </a:pPr>
            <a:r>
              <a:rPr sz="1250">
                <a:solidFill>
                  <a:srgbClr val="222A3F"/>
                </a:solidFill>
                <a:latin typeface="Cambria"/>
              </a:rPr>
              <a:t>Read the chip with the firmware halted. Read the firmware source. Read the datasheets. Line up the four incidents.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10/21  REV E  2026-11-04</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HOW THE RADIO STORES ITS SETTINGS</a:t>
            </a:r>
          </a:p>
        </p:txBody>
      </p:sp>
      <p:sp>
        <p:nvSpPr>
          <p:cNvPr id="10" name="TextBox 9"/>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Read from SF and from the firmware source at v2.7.26</a:t>
            </a:r>
          </a:p>
        </p:txBody>
      </p:sp>
      <p:pic>
        <p:nvPicPr>
          <p:cNvPr id="11" name="Picture 10" descr="g_storage.png"/>
          <p:cNvPicPr>
            <a:picLocks noChangeAspect="1"/>
          </p:cNvPicPr>
          <p:nvPr/>
        </p:nvPicPr>
        <p:blipFill>
          <a:blip r:embed="rId2"/>
          <a:stretch>
            <a:fillRect/>
          </a:stretch>
        </p:blipFill>
        <p:spPr>
          <a:xfrm>
            <a:off x="502920" y="1234440"/>
            <a:ext cx="8138160" cy="3281516"/>
          </a:xfrm>
          <a:prstGeom prst="rect">
            <a:avLst/>
          </a:prstGeom>
        </p:spPr>
      </p:pic>
      <p:sp>
        <p:nvSpPr>
          <p:cNvPr id="12" name="Rectangle 11"/>
          <p:cNvSpPr/>
          <p:nvPr/>
        </p:nvSpPr>
        <p:spPr>
          <a:xfrm>
            <a:off x="8823960" y="1234440"/>
            <a:ext cx="2880360" cy="3282696"/>
          </a:xfrm>
          <a:prstGeom prst="rect">
            <a:avLst/>
          </a:prstGeom>
          <a:solidFill>
            <a:srgbClr val="F2F5FA"/>
          </a:solidFill>
          <a:ln w="15875">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88552" y="1353312"/>
            <a:ext cx="2551176" cy="3044952"/>
          </a:xfrm>
          <a:prstGeom prst="rect">
            <a:avLst/>
          </a:prstGeom>
          <a:noFill/>
        </p:spPr>
        <p:txBody>
          <a:bodyPr wrap="square" lIns="0" rIns="0" tIns="0" bIns="0">
            <a:spAutoFit/>
          </a:bodyPr>
          <a:lstStyle/>
          <a:p>
            <a:r>
              <a:rPr sz="1300" b="1" spc="100">
                <a:solidFill>
                  <a:srgbClr val="E58E1A"/>
                </a:solidFill>
                <a:latin typeface="Cambria"/>
              </a:rPr>
              <a:t>IN PLAIN WORDS</a:t>
            </a:r>
          </a:p>
          <a:p>
            <a:pPr>
              <a:spcBef>
                <a:spcPts val="500"/>
              </a:spcBef>
            </a:pPr>
            <a:r>
              <a:rPr sz="1150">
                <a:solidFill>
                  <a:srgbClr val="222A3F"/>
                </a:solidFill>
                <a:latin typeface="Cambria"/>
              </a:rPr>
              <a:t>•  Six small files in LittleFS, a tiny file system for microcontrollers</a:t>
            </a:r>
          </a:p>
          <a:p>
            <a:pPr>
              <a:spcBef>
                <a:spcPts val="500"/>
              </a:spcBef>
            </a:pPr>
            <a:r>
              <a:rPr sz="1150">
                <a:solidFill>
                  <a:srgbClr val="222A3F"/>
                </a:solidFill>
                <a:latin typeface="Cambria"/>
              </a:rPr>
              <a:t>•  Every boot rewrites one file, with no voltage check</a:t>
            </a:r>
          </a:p>
          <a:p>
            <a:pPr>
              <a:spcBef>
                <a:spcPts val="500"/>
              </a:spcBef>
            </a:pPr>
            <a:r>
              <a:rPr sz="1150">
                <a:solidFill>
                  <a:srgbClr val="222A3F"/>
                </a:solidFill>
                <a:latin typeface="Cambria"/>
              </a:rPr>
              <a:t>•  A file that will not read is overwritten with factory settings</a:t>
            </a:r>
          </a:p>
        </p:txBody>
      </p:sp>
      <p:sp>
        <p:nvSpPr>
          <p:cNvPr id="14" name="Rectangle 13"/>
          <p:cNvSpPr/>
          <p:nvPr/>
        </p:nvSpPr>
        <p:spPr>
          <a:xfrm>
            <a:off x="502920" y="4663440"/>
            <a:ext cx="5486400" cy="1371600"/>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 y="4782312"/>
            <a:ext cx="5157216" cy="1133856"/>
          </a:xfrm>
          <a:prstGeom prst="rect">
            <a:avLst/>
          </a:prstGeom>
          <a:noFill/>
        </p:spPr>
        <p:txBody>
          <a:bodyPr wrap="square" lIns="0" rIns="0" tIns="0" bIns="0">
            <a:spAutoFit/>
          </a:bodyPr>
          <a:lstStyle/>
          <a:p>
            <a:r>
              <a:rPr sz="1300" b="1" spc="100">
                <a:solidFill>
                  <a:srgbClr val="1F9D68"/>
                </a:solidFill>
                <a:latin typeface="Cambria"/>
              </a:rPr>
              <a:t>WHAT IT CHECKS</a:t>
            </a:r>
          </a:p>
          <a:p>
            <a:pPr>
              <a:spcBef>
                <a:spcPts val="500"/>
              </a:spcBef>
            </a:pPr>
            <a:r>
              <a:rPr sz="1200">
                <a:solidFill>
                  <a:srgbClr val="222A3F"/>
                </a:solidFill>
                <a:latin typeface="Cambria"/>
              </a:rPr>
              <a:t>•  Temp file, read back, rename</a:t>
            </a:r>
          </a:p>
          <a:p>
            <a:pPr>
              <a:spcBef>
                <a:spcPts val="500"/>
              </a:spcBef>
            </a:pPr>
            <a:r>
              <a:rPr sz="1200">
                <a:solidFill>
                  <a:srgbClr val="222A3F"/>
                </a:solidFill>
                <a:latin typeface="Cambria"/>
              </a:rPr>
              <a:t>•  No write during its own low-battery shutdown</a:t>
            </a:r>
          </a:p>
        </p:txBody>
      </p:sp>
      <p:sp>
        <p:nvSpPr>
          <p:cNvPr id="16" name="Rectangle 15"/>
          <p:cNvSpPr/>
          <p:nvPr/>
        </p:nvSpPr>
        <p:spPr>
          <a:xfrm>
            <a:off x="6172200" y="4663440"/>
            <a:ext cx="5532120" cy="1371600"/>
          </a:xfrm>
          <a:prstGeom prst="rect">
            <a:avLst/>
          </a:prstGeom>
          <a:solidFill>
            <a:srgbClr val="F2F5FA"/>
          </a:solidFill>
          <a:ln w="15875">
            <a:solidFill>
              <a:srgbClr val="C43A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36792" y="4782312"/>
            <a:ext cx="5202936" cy="1133856"/>
          </a:xfrm>
          <a:prstGeom prst="rect">
            <a:avLst/>
          </a:prstGeom>
          <a:noFill/>
        </p:spPr>
        <p:txBody>
          <a:bodyPr wrap="square" lIns="0" rIns="0" tIns="0" bIns="0">
            <a:spAutoFit/>
          </a:bodyPr>
          <a:lstStyle/>
          <a:p>
            <a:r>
              <a:rPr sz="1300" b="1" spc="100">
                <a:solidFill>
                  <a:srgbClr val="C43A4B"/>
                </a:solidFill>
                <a:latin typeface="Cambria"/>
              </a:rPr>
              <a:t>WHAT IT NEVER CHECKS</a:t>
            </a:r>
          </a:p>
          <a:p>
            <a:pPr>
              <a:spcBef>
                <a:spcPts val="500"/>
              </a:spcBef>
            </a:pPr>
            <a:r>
              <a:rPr sz="1200">
                <a:solidFill>
                  <a:srgbClr val="222A3F"/>
                </a:solidFill>
                <a:latin typeface="Cambria"/>
              </a:rPr>
              <a:t>•  The supply before a save: the gate always returns true on ESP32</a:t>
            </a:r>
          </a:p>
          <a:p>
            <a:pPr>
              <a:spcBef>
                <a:spcPts val="500"/>
              </a:spcBef>
            </a:pPr>
            <a:r>
              <a:rPr sz="1200">
                <a:solidFill>
                  <a:srgbClr val="222A3F"/>
                </a:solidFill>
                <a:latin typeface="Cambria"/>
              </a:rPr>
              <a:t>•  Whether the save failed; the backup copy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11/21  REV E  2026-11-04</a:t>
            </a:r>
          </a:p>
        </p:txBody>
      </p:sp>
      <p:sp>
        <p:nvSpPr>
          <p:cNvPr id="7" name="Rectangle 6"/>
          <p:cNvSpPr/>
          <p:nvPr/>
        </p:nvSpPr>
        <p:spPr>
          <a:xfrm>
            <a:off x="9646920" y="347472"/>
            <a:ext cx="2148840" cy="420624"/>
          </a:xfrm>
          <a:prstGeom prst="rect">
            <a:avLst/>
          </a:prstGeom>
          <a:solidFill>
            <a:srgbClr val="FFFFFF"/>
          </a:solidFill>
          <a:ln w="19050">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E58E1A"/>
                </a:solidFill>
                <a:latin typeface="Courier New"/>
              </a:rPr>
              <a:t>OWNER: VICTOR</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THE PHYSICS: A 260 MV WINDOW</a:t>
            </a:r>
          </a:p>
        </p:txBody>
      </p:sp>
      <p:sp>
        <p:nvSpPr>
          <p:cNvPr id="10" name="TextBox 9"/>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Why a healthy chip can be left holding half-written cells</a:t>
            </a:r>
          </a:p>
        </p:txBody>
      </p:sp>
      <p:pic>
        <p:nvPicPr>
          <p:cNvPr id="11" name="Picture 10" descr="g_voltage.png"/>
          <p:cNvPicPr>
            <a:picLocks noChangeAspect="1"/>
          </p:cNvPicPr>
          <p:nvPr/>
        </p:nvPicPr>
        <p:blipFill>
          <a:blip r:embed="rId2"/>
          <a:stretch>
            <a:fillRect/>
          </a:stretch>
        </p:blipFill>
        <p:spPr>
          <a:xfrm>
            <a:off x="502920" y="1234440"/>
            <a:ext cx="7863840" cy="3044067"/>
          </a:xfrm>
          <a:prstGeom prst="rect">
            <a:avLst/>
          </a:prstGeom>
        </p:spPr>
      </p:pic>
      <p:sp>
        <p:nvSpPr>
          <p:cNvPr id="12" name="Rectangle 11"/>
          <p:cNvSpPr/>
          <p:nvPr/>
        </p:nvSpPr>
        <p:spPr>
          <a:xfrm>
            <a:off x="8549640" y="1234440"/>
            <a:ext cx="3154680" cy="3044952"/>
          </a:xfrm>
          <a:prstGeom prst="rect">
            <a:avLst/>
          </a:prstGeom>
          <a:solidFill>
            <a:srgbClr val="F2F5FA"/>
          </a:solidFill>
          <a:ln w="15875">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14232" y="1353312"/>
            <a:ext cx="2825496" cy="2807208"/>
          </a:xfrm>
          <a:prstGeom prst="rect">
            <a:avLst/>
          </a:prstGeom>
          <a:noFill/>
        </p:spPr>
        <p:txBody>
          <a:bodyPr wrap="square" lIns="0" rIns="0" tIns="0" bIns="0">
            <a:spAutoFit/>
          </a:bodyPr>
          <a:lstStyle/>
          <a:p>
            <a:r>
              <a:rPr sz="1300" b="1" spc="100">
                <a:solidFill>
                  <a:srgbClr val="E58E1A"/>
                </a:solidFill>
                <a:latin typeface="Cambria"/>
              </a:rPr>
              <a:t>IN PLAIN WORDS</a:t>
            </a:r>
          </a:p>
          <a:p>
            <a:pPr>
              <a:spcBef>
                <a:spcPts val="500"/>
              </a:spcBef>
            </a:pPr>
            <a:r>
              <a:rPr sz="1150">
                <a:solidFill>
                  <a:srgbClr val="222A3F"/>
                </a:solidFill>
                <a:latin typeface="Cambria"/>
              </a:rPr>
              <a:t>•  The CPU runs down to 2.44 V</a:t>
            </a:r>
          </a:p>
          <a:p>
            <a:pPr>
              <a:spcBef>
                <a:spcPts val="500"/>
              </a:spcBef>
            </a:pPr>
            <a:r>
              <a:rPr sz="1150">
                <a:solidFill>
                  <a:srgbClr val="222A3F"/>
                </a:solidFill>
                <a:latin typeface="Cambria"/>
              </a:rPr>
              <a:t>•  The flash is only guaranteed above 2.70 V</a:t>
            </a:r>
          </a:p>
          <a:p>
            <a:pPr>
              <a:spcBef>
                <a:spcPts val="500"/>
              </a:spcBef>
            </a:pPr>
            <a:r>
              <a:rPr sz="1150">
                <a:solidFill>
                  <a:srgbClr val="222A3F"/>
                </a:solidFill>
                <a:latin typeface="Cambria"/>
              </a:rPr>
              <a:t>•  In between, the CPU writes and the flash promises nothing</a:t>
            </a:r>
          </a:p>
          <a:p>
            <a:pPr>
              <a:spcBef>
                <a:spcPts val="500"/>
              </a:spcBef>
            </a:pPr>
            <a:r>
              <a:rPr sz="1150">
                <a:solidFill>
                  <a:srgbClr val="222A3F"/>
                </a:solidFill>
                <a:latin typeface="Cambria"/>
              </a:rPr>
              <a:t>•  A transmit pulse on a flat cell puts the rail there</a:t>
            </a:r>
          </a:p>
        </p:txBody>
      </p:sp>
      <p:sp>
        <p:nvSpPr>
          <p:cNvPr id="14" name="Rectangle 13"/>
          <p:cNvSpPr/>
          <p:nvPr/>
        </p:nvSpPr>
        <p:spPr>
          <a:xfrm>
            <a:off x="502920" y="4434840"/>
            <a:ext cx="11201400" cy="100584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 y="4553712"/>
            <a:ext cx="10872216" cy="768096"/>
          </a:xfrm>
          <a:prstGeom prst="rect">
            <a:avLst/>
          </a:prstGeom>
          <a:noFill/>
        </p:spPr>
        <p:txBody>
          <a:bodyPr wrap="square" lIns="0" rIns="0" tIns="0" bIns="0">
            <a:spAutoFit/>
          </a:bodyPr>
          <a:lstStyle/>
          <a:p>
            <a:r>
              <a:rPr sz="1300" b="1" spc="100">
                <a:solidFill>
                  <a:srgbClr val="16213D"/>
                </a:solidFill>
                <a:latin typeface="Cambria"/>
              </a:rPr>
              <a:t>A HALF-WRITTEN CELL</a:t>
            </a:r>
          </a:p>
          <a:p>
            <a:pPr>
              <a:spcBef>
                <a:spcPts val="500"/>
              </a:spcBef>
            </a:pPr>
            <a:r>
              <a:rPr sz="1250">
                <a:solidFill>
                  <a:srgbClr val="222A3F"/>
                </a:solidFill>
                <a:latin typeface="Cambria"/>
              </a:rPr>
              <a:t>Its charge sits at the read threshold: it reads 1 one time and 0 the next. Not damaged, never finished.</a:t>
            </a:r>
          </a:p>
        </p:txBody>
      </p:sp>
      <p:sp>
        <p:nvSpPr>
          <p:cNvPr id="16" name="TextBox 15"/>
          <p:cNvSpPr txBox="1"/>
          <p:nvPr/>
        </p:nvSpPr>
        <p:spPr>
          <a:xfrm>
            <a:off x="502920" y="5623560"/>
            <a:ext cx="11155680" cy="411480"/>
          </a:xfrm>
          <a:prstGeom prst="rect">
            <a:avLst/>
          </a:prstGeom>
          <a:noFill/>
        </p:spPr>
        <p:txBody>
          <a:bodyPr wrap="square" lIns="0" rIns="0" tIns="0" bIns="0">
            <a:spAutoFit/>
          </a:bodyPr>
          <a:lstStyle/>
          <a:p>
            <a:pPr algn="l"/>
            <a:r>
              <a:rPr sz="1000" b="0" i="0">
                <a:solidFill>
                  <a:srgbClr val="5E6B85"/>
                </a:solidFill>
                <a:latin typeface="Courier New"/>
              </a:rPr>
              <a:t>Boya BY25Q128AS (JEDEC 68 40 18): VCC 2.7 to 3.6 V, page 0.6 ms, erase 50 ms. Heltec V4 datasheet 3.2, 3.4. ESP-IDF brownout level 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12/21  REV E  2026-11-04</a:t>
            </a:r>
          </a:p>
        </p:txBody>
      </p:sp>
      <p:sp>
        <p:nvSpPr>
          <p:cNvPr id="7" name="Rectangle 6"/>
          <p:cNvSpPr/>
          <p:nvPr/>
        </p:nvSpPr>
        <p:spPr>
          <a:xfrm>
            <a:off x="9646920" y="347472"/>
            <a:ext cx="2148840" cy="420624"/>
          </a:xfrm>
          <a:prstGeom prst="rect">
            <a:avLst/>
          </a:prstGeom>
          <a:solidFill>
            <a:srgbClr val="FFFFFF"/>
          </a:solidFill>
          <a:ln w="19050">
            <a:solidFill>
              <a:srgbClr val="D948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D9488C"/>
                </a:solidFill>
                <a:latin typeface="Courier New"/>
              </a:rPr>
              <a:t>OWNER: CANNON</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UPSTREAM ALREADY KNOWS</a:t>
            </a:r>
          </a:p>
        </p:txBody>
      </p:sp>
      <p:sp>
        <p:nvSpPr>
          <p:cNvPr id="10" name="TextBox 9"/>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meshtastic/firmware issue tracker on GitHub</a:t>
            </a:r>
          </a:p>
        </p:txBody>
      </p:sp>
      <p:graphicFrame>
        <p:nvGraphicFramePr>
          <p:cNvPr id="11" name="Table 10"/>
          <p:cNvGraphicFramePr>
            <a:graphicFrameLocks noGrp="1"/>
          </p:cNvGraphicFramePr>
          <p:nvPr/>
        </p:nvGraphicFramePr>
        <p:xfrm>
          <a:off x="502920" y="1371600"/>
          <a:ext cx="11155680" cy="2852928"/>
        </p:xfrm>
        <a:graphic>
          <a:graphicData uri="http://schemas.openxmlformats.org/drawingml/2006/table">
            <a:tbl>
              <a:tblPr firstRow="1" bandRow="1">
                <a:tableStyleId>{5C22544A-7EE6-4342-B048-85BDC9FD1C3A}</a:tableStyleId>
              </a:tblPr>
              <a:tblGrid>
                <a:gridCol w="1554480"/>
                <a:gridCol w="2103120"/>
                <a:gridCol w="4754880"/>
                <a:gridCol w="2743200"/>
              </a:tblGrid>
              <a:tr h="475488">
                <a:tc>
                  <a:txBody>
                    <a:bodyPr/>
                    <a:lstStyle/>
                    <a:p>
                      <a:r>
                        <a:rPr sz="1150" b="1">
                          <a:solidFill>
                            <a:srgbClr val="FFFFFF"/>
                          </a:solidFill>
                          <a:latin typeface="Cambria"/>
                        </a:rPr>
                        <a:t>Reference</a:t>
                      </a:r>
                    </a:p>
                  </a:txBody>
                  <a:tcPr marL="73152" marR="73152" marT="27432" marB="27432">
                    <a:solidFill>
                      <a:srgbClr val="16213D"/>
                    </a:solidFill>
                  </a:tcPr>
                </a:tc>
                <a:tc>
                  <a:txBody>
                    <a:bodyPr/>
                    <a:lstStyle/>
                    <a:p>
                      <a:r>
                        <a:rPr sz="1150" b="1">
                          <a:solidFill>
                            <a:srgbClr val="FFFFFF"/>
                          </a:solidFill>
                          <a:latin typeface="Cambria"/>
                        </a:rPr>
                        <a:t>Boards</a:t>
                      </a:r>
                    </a:p>
                  </a:txBody>
                  <a:tcPr marL="73152" marR="73152" marT="27432" marB="27432">
                    <a:solidFill>
                      <a:srgbClr val="16213D"/>
                    </a:solidFill>
                  </a:tcPr>
                </a:tc>
                <a:tc>
                  <a:txBody>
                    <a:bodyPr/>
                    <a:lstStyle/>
                    <a:p>
                      <a:r>
                        <a:rPr sz="1150" b="1">
                          <a:solidFill>
                            <a:srgbClr val="FFFFFF"/>
                          </a:solidFill>
                          <a:latin typeface="Cambria"/>
                        </a:rPr>
                        <a:t>Report</a:t>
                      </a:r>
                    </a:p>
                  </a:txBody>
                  <a:tcPr marL="73152" marR="73152" marT="27432" marB="27432">
                    <a:solidFill>
                      <a:srgbClr val="16213D"/>
                    </a:solidFill>
                  </a:tcPr>
                </a:tc>
                <a:tc>
                  <a:txBody>
                    <a:bodyPr/>
                    <a:lstStyle/>
                    <a:p>
                      <a:r>
                        <a:rPr sz="1150" b="1">
                          <a:solidFill>
                            <a:srgbClr val="FFFFFF"/>
                          </a:solidFill>
                          <a:latin typeface="Cambria"/>
                        </a:rPr>
                        <a:t>Status</a:t>
                      </a:r>
                    </a:p>
                  </a:txBody>
                  <a:tcPr marL="73152" marR="73152" marT="27432" marB="27432">
                    <a:solidFill>
                      <a:srgbClr val="16213D"/>
                    </a:solidFill>
                  </a:tcPr>
                </a:tc>
              </a:tr>
              <a:tr h="475488">
                <a:tc>
                  <a:txBody>
                    <a:bodyPr/>
                    <a:lstStyle/>
                    <a:p>
                      <a:r>
                        <a:rPr sz="1150" b="0">
                          <a:solidFill>
                            <a:srgbClr val="222A3F"/>
                          </a:solidFill>
                          <a:latin typeface="Cambria"/>
                        </a:rPr>
                        <a:t>#4555</a:t>
                      </a:r>
                    </a:p>
                  </a:txBody>
                  <a:tcPr marL="73152" marR="73152" marT="27432" marB="27432">
                    <a:solidFill>
                      <a:srgbClr val="F2F5FA"/>
                    </a:solidFill>
                  </a:tcPr>
                </a:tc>
                <a:tc>
                  <a:txBody>
                    <a:bodyPr/>
                    <a:lstStyle/>
                    <a:p>
                      <a:r>
                        <a:rPr sz="1150" b="0">
                          <a:solidFill>
                            <a:srgbClr val="222A3F"/>
                          </a:solidFill>
                          <a:latin typeface="Cambria"/>
                        </a:rPr>
                        <a:t>Heltec V3, V4</a:t>
                      </a:r>
                    </a:p>
                  </a:txBody>
                  <a:tcPr marL="73152" marR="73152" marT="27432" marB="27432">
                    <a:solidFill>
                      <a:srgbClr val="F2F5FA"/>
                    </a:solidFill>
                  </a:tcPr>
                </a:tc>
                <a:tc>
                  <a:txBody>
                    <a:bodyPr/>
                    <a:lstStyle/>
                    <a:p>
                      <a:r>
                        <a:rPr sz="1150" b="0">
                          <a:solidFill>
                            <a:srgbClr val="222A3F"/>
                          </a:solidFill>
                          <a:latin typeface="Cambria"/>
                        </a:rPr>
                        <a:t>Power loss in early boot resets configuration</a:t>
                      </a:r>
                    </a:p>
                  </a:txBody>
                  <a:tcPr marL="73152" marR="73152" marT="27432" marB="27432">
                    <a:solidFill>
                      <a:srgbClr val="F2F5FA"/>
                    </a:solidFill>
                  </a:tcPr>
                </a:tc>
                <a:tc>
                  <a:txBody>
                    <a:bodyPr/>
                    <a:lstStyle/>
                    <a:p>
                      <a:r>
                        <a:rPr sz="1150" b="0">
                          <a:solidFill>
                            <a:srgbClr val="222A3F"/>
                          </a:solidFill>
                          <a:latin typeface="Cambria"/>
                        </a:rPr>
                        <a:t>Closed 'not planned', Oct 2025</a:t>
                      </a:r>
                    </a:p>
                  </a:txBody>
                  <a:tcPr marL="73152" marR="73152" marT="27432" marB="27432">
                    <a:solidFill>
                      <a:srgbClr val="F2F5FA"/>
                    </a:solidFill>
                  </a:tcPr>
                </a:tc>
              </a:tr>
              <a:tr h="475488">
                <a:tc>
                  <a:txBody>
                    <a:bodyPr/>
                    <a:lstStyle/>
                    <a:p>
                      <a:r>
                        <a:rPr sz="1150" b="0">
                          <a:solidFill>
                            <a:srgbClr val="222A3F"/>
                          </a:solidFill>
                          <a:latin typeface="Cambria"/>
                        </a:rPr>
                        <a:t>#4622</a:t>
                      </a:r>
                    </a:p>
                  </a:txBody>
                  <a:tcPr marL="73152" marR="73152" marT="27432" marB="27432">
                    <a:solidFill>
                      <a:srgbClr val="FFFFFF"/>
                    </a:solidFill>
                  </a:tcPr>
                </a:tc>
                <a:tc>
                  <a:txBody>
                    <a:bodyPr/>
                    <a:lstStyle/>
                    <a:p>
                      <a:r>
                        <a:rPr sz="1150" b="0">
                          <a:solidFill>
                            <a:srgbClr val="222A3F"/>
                          </a:solidFill>
                          <a:latin typeface="Cambria"/>
                        </a:rPr>
                        <a:t>Heltec V3</a:t>
                      </a:r>
                    </a:p>
                  </a:txBody>
                  <a:tcPr marL="73152" marR="73152" marT="27432" marB="27432">
                    <a:solidFill>
                      <a:srgbClr val="FFFFFF"/>
                    </a:solidFill>
                  </a:tcPr>
                </a:tc>
                <a:tc>
                  <a:txBody>
                    <a:bodyPr/>
                    <a:lstStyle/>
                    <a:p>
                      <a:r>
                        <a:rPr sz="1150" b="0">
                          <a:solidFill>
                            <a:srgbClr val="222A3F"/>
                          </a:solidFill>
                          <a:latin typeface="Cambria"/>
                        </a:rPr>
                        <a:t>Resets when the battery is empty</a:t>
                      </a:r>
                    </a:p>
                  </a:txBody>
                  <a:tcPr marL="73152" marR="73152" marT="27432" marB="27432">
                    <a:solidFill>
                      <a:srgbClr val="FFFFFF"/>
                    </a:solidFill>
                  </a:tcPr>
                </a:tc>
                <a:tc>
                  <a:txBody>
                    <a:bodyPr/>
                    <a:lstStyle/>
                    <a:p>
                      <a:r>
                        <a:rPr sz="1150" b="0">
                          <a:solidFill>
                            <a:srgbClr val="222A3F"/>
                          </a:solidFill>
                          <a:latin typeface="Cambria"/>
                        </a:rPr>
                        <a:t>Duplicate of #4555</a:t>
                      </a:r>
                    </a:p>
                  </a:txBody>
                  <a:tcPr marL="73152" marR="73152" marT="27432" marB="27432">
                    <a:solidFill>
                      <a:srgbClr val="FFFFFF"/>
                    </a:solidFill>
                  </a:tcPr>
                </a:tc>
              </a:tr>
              <a:tr h="475488">
                <a:tc>
                  <a:txBody>
                    <a:bodyPr/>
                    <a:lstStyle/>
                    <a:p>
                      <a:r>
                        <a:rPr sz="1150" b="0">
                          <a:solidFill>
                            <a:srgbClr val="222A3F"/>
                          </a:solidFill>
                          <a:latin typeface="Cambria"/>
                        </a:rPr>
                        <a:t>#2936, #3260</a:t>
                      </a:r>
                    </a:p>
                  </a:txBody>
                  <a:tcPr marL="73152" marR="73152" marT="27432" marB="27432">
                    <a:solidFill>
                      <a:srgbClr val="F2F5FA"/>
                    </a:solidFill>
                  </a:tcPr>
                </a:tc>
                <a:tc>
                  <a:txBody>
                    <a:bodyPr/>
                    <a:lstStyle/>
                    <a:p>
                      <a:r>
                        <a:rPr sz="1150" b="0">
                          <a:solidFill>
                            <a:srgbClr val="222A3F"/>
                          </a:solidFill>
                          <a:latin typeface="Cambria"/>
                        </a:rPr>
                        <a:t>RAK4631, Heltec V2</a:t>
                      </a:r>
                    </a:p>
                  </a:txBody>
                  <a:tcPr marL="73152" marR="73152" marT="27432" marB="27432">
                    <a:solidFill>
                      <a:srgbClr val="F2F5FA"/>
                    </a:solidFill>
                  </a:tcPr>
                </a:tc>
                <a:tc>
                  <a:txBody>
                    <a:bodyPr/>
                    <a:lstStyle/>
                    <a:p>
                      <a:r>
                        <a:rPr sz="1150" b="0">
                          <a:solidFill>
                            <a:srgbClr val="222A3F"/>
                          </a:solidFill>
                          <a:latin typeface="Cambria"/>
                        </a:rPr>
                        <a:t>Defaults after the battery dies</a:t>
                      </a:r>
                    </a:p>
                  </a:txBody>
                  <a:tcPr marL="73152" marR="73152" marT="27432" marB="27432">
                    <a:solidFill>
                      <a:srgbClr val="F2F5FA"/>
                    </a:solidFill>
                  </a:tcPr>
                </a:tc>
                <a:tc>
                  <a:txBody>
                    <a:bodyPr/>
                    <a:lstStyle/>
                    <a:p>
                      <a:r>
                        <a:rPr sz="1150" b="0">
                          <a:solidFill>
                            <a:srgbClr val="222A3F"/>
                          </a:solidFill>
                          <a:latin typeface="Cambria"/>
                        </a:rPr>
                        <a:t>Older boards, same symptom</a:t>
                      </a:r>
                    </a:p>
                  </a:txBody>
                  <a:tcPr marL="73152" marR="73152" marT="27432" marB="27432">
                    <a:solidFill>
                      <a:srgbClr val="F2F5FA"/>
                    </a:solidFill>
                  </a:tcPr>
                </a:tc>
              </a:tr>
              <a:tr h="475488">
                <a:tc>
                  <a:txBody>
                    <a:bodyPr/>
                    <a:lstStyle/>
                    <a:p>
                      <a:r>
                        <a:rPr sz="1150" b="0">
                          <a:solidFill>
                            <a:srgbClr val="222A3F"/>
                          </a:solidFill>
                          <a:latin typeface="Cambria"/>
                        </a:rPr>
                        <a:t>#5259</a:t>
                      </a:r>
                    </a:p>
                  </a:txBody>
                  <a:tcPr marL="73152" marR="73152" marT="27432" marB="27432">
                    <a:solidFill>
                      <a:srgbClr val="FFFFFF"/>
                    </a:solidFill>
                  </a:tcPr>
                </a:tc>
                <a:tc>
                  <a:txBody>
                    <a:bodyPr/>
                    <a:lstStyle/>
                    <a:p>
                      <a:r>
                        <a:rPr sz="1150" b="0">
                          <a:solidFill>
                            <a:srgbClr val="222A3F"/>
                          </a:solidFill>
                          <a:latin typeface="Cambria"/>
                        </a:rPr>
                        <a:t>ESP32 boards</a:t>
                      </a:r>
                    </a:p>
                  </a:txBody>
                  <a:tcPr marL="73152" marR="73152" marT="27432" marB="27432">
                    <a:solidFill>
                      <a:srgbClr val="FFFFFF"/>
                    </a:solidFill>
                  </a:tcPr>
                </a:tc>
                <a:tc>
                  <a:txBody>
                    <a:bodyPr/>
                    <a:lstStyle/>
                    <a:p>
                      <a:r>
                        <a:rPr sz="1150" b="0">
                          <a:solidFill>
                            <a:srgbClr val="222A3F"/>
                          </a:solidFill>
                          <a:latin typeface="Cambria"/>
                        </a:rPr>
                        <a:t>3.10 V cutoff is below what the regulators need</a:t>
                      </a:r>
                    </a:p>
                  </a:txBody>
                  <a:tcPr marL="73152" marR="73152" marT="27432" marB="27432">
                    <a:solidFill>
                      <a:srgbClr val="FFFFFF"/>
                    </a:solidFill>
                  </a:tcPr>
                </a:tc>
                <a:tc>
                  <a:txBody>
                    <a:bodyPr/>
                    <a:lstStyle/>
                    <a:p>
                      <a:r>
                        <a:rPr sz="1150" b="0">
                          <a:solidFill>
                            <a:srgbClr val="222A3F"/>
                          </a:solidFill>
                          <a:latin typeface="Cambria"/>
                        </a:rPr>
                        <a:t>Open</a:t>
                      </a:r>
                    </a:p>
                  </a:txBody>
                  <a:tcPr marL="73152" marR="73152" marT="27432" marB="27432">
                    <a:solidFill>
                      <a:srgbClr val="FFFFFF"/>
                    </a:solidFill>
                  </a:tcPr>
                </a:tc>
              </a:tr>
              <a:tr h="475488">
                <a:tc>
                  <a:txBody>
                    <a:bodyPr/>
                    <a:lstStyle/>
                    <a:p>
                      <a:r>
                        <a:rPr sz="1150" b="0">
                          <a:solidFill>
                            <a:srgbClr val="222A3F"/>
                          </a:solidFill>
                          <a:latin typeface="Cambria"/>
                        </a:rPr>
                        <a:t>PR #11872</a:t>
                      </a:r>
                    </a:p>
                  </a:txBody>
                  <a:tcPr marL="73152" marR="73152" marT="27432" marB="27432">
                    <a:solidFill>
                      <a:srgbClr val="F2F5FA"/>
                    </a:solidFill>
                  </a:tcPr>
                </a:tc>
                <a:tc>
                  <a:txBody>
                    <a:bodyPr/>
                    <a:lstStyle/>
                    <a:p>
                      <a:r>
                        <a:rPr sz="1150" b="0">
                          <a:solidFill>
                            <a:srgbClr val="222A3F"/>
                          </a:solidFill>
                          <a:latin typeface="Cambria"/>
                        </a:rPr>
                        <a:t>nRF52 only</a:t>
                      </a:r>
                    </a:p>
                  </a:txBody>
                  <a:tcPr marL="73152" marR="73152" marT="27432" marB="27432">
                    <a:solidFill>
                      <a:srgbClr val="F2F5FA"/>
                    </a:solidFill>
                  </a:tcPr>
                </a:tc>
                <a:tc>
                  <a:txBody>
                    <a:bodyPr/>
                    <a:lstStyle/>
                    <a:p>
                      <a:r>
                        <a:rPr sz="1150" b="0">
                          <a:solidFill>
                            <a:srgbClr val="222A3F"/>
                          </a:solidFill>
                          <a:latin typeface="Cambria"/>
                        </a:rPr>
                        <a:t>Check the rail, retry saves, never format on a low rail</a:t>
                      </a:r>
                    </a:p>
                  </a:txBody>
                  <a:tcPr marL="73152" marR="73152" marT="27432" marB="27432">
                    <a:solidFill>
                      <a:srgbClr val="F2F5FA"/>
                    </a:solidFill>
                  </a:tcPr>
                </a:tc>
                <a:tc>
                  <a:txBody>
                    <a:bodyPr/>
                    <a:lstStyle/>
                    <a:p>
                      <a:r>
                        <a:rPr sz="1150" b="0">
                          <a:solidFill>
                            <a:srgbClr val="222A3F"/>
                          </a:solidFill>
                          <a:latin typeface="Cambria"/>
                        </a:rPr>
                        <a:t>Merged; no ESP32 version</a:t>
                      </a:r>
                    </a:p>
                  </a:txBody>
                  <a:tcPr marL="73152" marR="73152" marT="27432" marB="27432">
                    <a:solidFill>
                      <a:srgbClr val="F2F5FA"/>
                    </a:solidFill>
                  </a:tcPr>
                </a:tc>
              </a:tr>
            </a:tbl>
          </a:graphicData>
        </a:graphic>
      </p:graphicFrame>
      <p:sp>
        <p:nvSpPr>
          <p:cNvPr id="12" name="Rectangle 11"/>
          <p:cNvSpPr/>
          <p:nvPr/>
        </p:nvSpPr>
        <p:spPr>
          <a:xfrm>
            <a:off x="502920" y="4343400"/>
            <a:ext cx="11155680" cy="1325880"/>
          </a:xfrm>
          <a:prstGeom prst="rect">
            <a:avLst/>
          </a:prstGeom>
          <a:solidFill>
            <a:srgbClr val="1B24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 y="4434840"/>
            <a:ext cx="10826496" cy="274320"/>
          </a:xfrm>
          <a:prstGeom prst="rect">
            <a:avLst/>
          </a:prstGeom>
          <a:noFill/>
        </p:spPr>
        <p:txBody>
          <a:bodyPr wrap="square" lIns="0" rIns="0" tIns="0" bIns="0">
            <a:spAutoFit/>
          </a:bodyPr>
          <a:lstStyle/>
          <a:p>
            <a:pPr algn="l"/>
            <a:r>
              <a:rPr sz="1000" b="1" i="0">
                <a:solidFill>
                  <a:srgbClr val="E58E1A"/>
                </a:solidFill>
                <a:latin typeface="Courier New"/>
              </a:rPr>
              <a:t>MAINTAINER, IN #4555</a:t>
            </a:r>
          </a:p>
        </p:txBody>
      </p:sp>
      <p:sp>
        <p:nvSpPr>
          <p:cNvPr id="14" name="TextBox 13"/>
          <p:cNvSpPr txBox="1"/>
          <p:nvPr/>
        </p:nvSpPr>
        <p:spPr>
          <a:xfrm>
            <a:off x="667512" y="4727448"/>
            <a:ext cx="10826496" cy="868680"/>
          </a:xfrm>
          <a:prstGeom prst="rect">
            <a:avLst/>
          </a:prstGeom>
          <a:noFill/>
        </p:spPr>
        <p:txBody>
          <a:bodyPr wrap="square" lIns="0" rIns="0" tIns="0" bIns="0">
            <a:spAutoFit/>
          </a:bodyPr>
          <a:lstStyle/>
          <a:p>
            <a:r>
              <a:rPr sz="1100">
                <a:solidFill>
                  <a:srgbClr val="C9D8F0"/>
                </a:solidFill>
                <a:latin typeface="Courier New"/>
              </a:rPr>
              <a:t>"If the brownout circuit worked, it should hold the CPU in reset when voltage is too low for flash."</a:t>
            </a:r>
          </a:p>
          <a:p>
            <a:r>
              <a:rPr sz="1100">
                <a:solidFill>
                  <a:srgbClr val="5E6B85"/>
                </a:solidFill>
                <a:latin typeface="Courier New"/>
              </a:rPr>
              <a:t>Community workaround: compile the configuration in as the defaults. That is our fix 1.</a:t>
            </a:r>
          </a:p>
        </p:txBody>
      </p:sp>
      <p:sp>
        <p:nvSpPr>
          <p:cNvPr id="15" name="TextBox 14"/>
          <p:cNvSpPr txBox="1"/>
          <p:nvPr/>
        </p:nvSpPr>
        <p:spPr>
          <a:xfrm>
            <a:off x="502920" y="5760720"/>
            <a:ext cx="11155680" cy="365760"/>
          </a:xfrm>
          <a:prstGeom prst="rect">
            <a:avLst/>
          </a:prstGeom>
          <a:noFill/>
        </p:spPr>
        <p:txBody>
          <a:bodyPr wrap="square" lIns="0" rIns="0" tIns="0" bIns="0">
            <a:spAutoFit/>
          </a:bodyPr>
          <a:lstStyle/>
          <a:p>
            <a:pPr algn="l"/>
            <a:r>
              <a:rPr sz="1000" b="0" i="0">
                <a:solidFill>
                  <a:srgbClr val="5E6B85"/>
                </a:solidFill>
                <a:latin typeface="Courier New"/>
              </a:rPr>
              <a:t>#4555 = issue 4555 at github.com/meshtastic/firmware/issues.  PR = pull request, a proposed code change.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13/21  REV E  2026-11-04</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HYPOTHESES, PREDICTIONS, VERDICTS</a:t>
            </a:r>
          </a:p>
        </p:txBody>
      </p:sp>
      <p:sp>
        <p:nvSpPr>
          <p:cNvPr id="10" name="TextBox 9"/>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Predictions written before the measurement</a:t>
            </a:r>
          </a:p>
        </p:txBody>
      </p:sp>
      <p:graphicFrame>
        <p:nvGraphicFramePr>
          <p:cNvPr id="11" name="Table 10"/>
          <p:cNvGraphicFramePr>
            <a:graphicFrameLocks noGrp="1"/>
          </p:cNvGraphicFramePr>
          <p:nvPr/>
        </p:nvGraphicFramePr>
        <p:xfrm>
          <a:off x="502920" y="1371600"/>
          <a:ext cx="11155680" cy="3291839"/>
        </p:xfrm>
        <a:graphic>
          <a:graphicData uri="http://schemas.openxmlformats.org/drawingml/2006/table">
            <a:tbl>
              <a:tblPr firstRow="1" bandRow="1">
                <a:tableStyleId>{5C22544A-7EE6-4342-B048-85BDC9FD1C3A}</a:tableStyleId>
              </a:tblPr>
              <a:tblGrid>
                <a:gridCol w="457200"/>
                <a:gridCol w="2560320"/>
                <a:gridCol w="4023360"/>
                <a:gridCol w="4114800"/>
              </a:tblGrid>
              <a:tr h="548639">
                <a:tc>
                  <a:txBody>
                    <a:bodyPr/>
                    <a:lstStyle/>
                    <a:p>
                      <a:r>
                        <a:rPr sz="1150" b="1">
                          <a:solidFill>
                            <a:srgbClr val="FFFFFF"/>
                          </a:solidFill>
                          <a:latin typeface="Cambria"/>
                        </a:rPr>
                        <a:t>#</a:t>
                      </a:r>
                    </a:p>
                  </a:txBody>
                  <a:tcPr marL="73152" marR="73152" marT="27432" marB="27432">
                    <a:solidFill>
                      <a:srgbClr val="16213D"/>
                    </a:solidFill>
                  </a:tcPr>
                </a:tc>
                <a:tc>
                  <a:txBody>
                    <a:bodyPr/>
                    <a:lstStyle/>
                    <a:p>
                      <a:r>
                        <a:rPr sz="1150" b="1">
                          <a:solidFill>
                            <a:srgbClr val="FFFFFF"/>
                          </a:solidFill>
                          <a:latin typeface="Cambria"/>
                        </a:rPr>
                        <a:t>Hypothesis</a:t>
                      </a:r>
                    </a:p>
                  </a:txBody>
                  <a:tcPr marL="73152" marR="73152" marT="27432" marB="27432">
                    <a:solidFill>
                      <a:srgbClr val="16213D"/>
                    </a:solidFill>
                  </a:tcPr>
                </a:tc>
                <a:tc>
                  <a:txBody>
                    <a:bodyPr/>
                    <a:lstStyle/>
                    <a:p>
                      <a:r>
                        <a:rPr sz="1150" b="1">
                          <a:solidFill>
                            <a:srgbClr val="FFFFFF"/>
                          </a:solidFill>
                          <a:latin typeface="Cambria"/>
                        </a:rPr>
                        <a:t>Would show</a:t>
                      </a:r>
                    </a:p>
                  </a:txBody>
                  <a:tcPr marL="73152" marR="73152" marT="27432" marB="27432">
                    <a:solidFill>
                      <a:srgbClr val="16213D"/>
                    </a:solidFill>
                  </a:tcPr>
                </a:tc>
                <a:tc>
                  <a:txBody>
                    <a:bodyPr/>
                    <a:lstStyle/>
                    <a:p>
                      <a:r>
                        <a:rPr sz="1150" b="1">
                          <a:solidFill>
                            <a:srgbClr val="FFFFFF"/>
                          </a:solidFill>
                          <a:latin typeface="Cambria"/>
                        </a:rPr>
                        <a:t>Verdict</a:t>
                      </a:r>
                    </a:p>
                  </a:txBody>
                  <a:tcPr marL="73152" marR="73152" marT="27432" marB="27432">
                    <a:solidFill>
                      <a:srgbClr val="16213D"/>
                    </a:solidFill>
                  </a:tcPr>
                </a:tc>
              </a:tr>
              <a:tr h="548639">
                <a:tc>
                  <a:txBody>
                    <a:bodyPr/>
                    <a:lstStyle/>
                    <a:p>
                      <a:r>
                        <a:rPr sz="1150" b="0">
                          <a:solidFill>
                            <a:srgbClr val="222A3F"/>
                          </a:solidFill>
                          <a:latin typeface="Cambria"/>
                        </a:rPr>
                        <a:t>H1</a:t>
                      </a:r>
                    </a:p>
                  </a:txBody>
                  <a:tcPr marL="73152" marR="73152" marT="27432" marB="27432">
                    <a:solidFill>
                      <a:srgbClr val="F2F5FA"/>
                    </a:solidFill>
                  </a:tcPr>
                </a:tc>
                <a:tc>
                  <a:txBody>
                    <a:bodyPr/>
                    <a:lstStyle/>
                    <a:p>
                      <a:r>
                        <a:rPr sz="1150" b="0">
                          <a:solidFill>
                            <a:srgbClr val="222A3F"/>
                          </a:solidFill>
                          <a:latin typeface="Cambria"/>
                        </a:rPr>
                        <a:t>Worn out</a:t>
                      </a:r>
                    </a:p>
                  </a:txBody>
                  <a:tcPr marL="73152" marR="73152" marT="27432" marB="27432">
                    <a:solidFill>
                      <a:srgbClr val="F2F5FA"/>
                    </a:solidFill>
                  </a:tcPr>
                </a:tc>
                <a:tc>
                  <a:txBody>
                    <a:bodyPr/>
                    <a:lstStyle/>
                    <a:p>
                      <a:r>
                        <a:rPr sz="1150" b="0">
                          <a:solidFill>
                            <a:srgbClr val="222A3F"/>
                          </a:solidFill>
                          <a:latin typeface="Cambria"/>
                        </a:rPr>
                        <a:t>Scattered failures, write counts near 100k</a:t>
                      </a:r>
                    </a:p>
                  </a:txBody>
                  <a:tcPr marL="73152" marR="73152" marT="27432" marB="27432">
                    <a:solidFill>
                      <a:srgbClr val="F2F5FA"/>
                    </a:solidFill>
                  </a:tcPr>
                </a:tc>
                <a:tc>
                  <a:txBody>
                    <a:bodyPr/>
                    <a:lstStyle/>
                    <a:p>
                      <a:r>
                        <a:rPr sz="1150" b="0">
                          <a:solidFill>
                            <a:srgbClr val="222A3F"/>
                          </a:solidFill>
                          <a:latin typeface="Cambria"/>
                        </a:rPr>
                        <a:t>Rejected: millions of boots needed</a:t>
                      </a:r>
                    </a:p>
                  </a:txBody>
                  <a:tcPr marL="73152" marR="73152" marT="27432" marB="27432">
                    <a:solidFill>
                      <a:srgbClr val="F2F5FA"/>
                    </a:solidFill>
                  </a:tcPr>
                </a:tc>
              </a:tr>
              <a:tr h="548639">
                <a:tc>
                  <a:txBody>
                    <a:bodyPr/>
                    <a:lstStyle/>
                    <a:p>
                      <a:r>
                        <a:rPr sz="1150" b="0">
                          <a:solidFill>
                            <a:srgbClr val="222A3F"/>
                          </a:solidFill>
                          <a:latin typeface="Cambria"/>
                        </a:rPr>
                        <a:t>H2</a:t>
                      </a:r>
                    </a:p>
                  </a:txBody>
                  <a:tcPr marL="73152" marR="73152" marT="27432" marB="27432">
                    <a:solidFill>
                      <a:srgbClr val="FFFFFF"/>
                    </a:solidFill>
                  </a:tcPr>
                </a:tc>
                <a:tc>
                  <a:txBody>
                    <a:bodyPr/>
                    <a:lstStyle/>
                    <a:p>
                      <a:r>
                        <a:rPr sz="1150" b="0">
                          <a:solidFill>
                            <a:srgbClr val="222A3F"/>
                          </a:solidFill>
                          <a:latin typeface="Cambria"/>
                        </a:rPr>
                        <a:t>Defective cells</a:t>
                      </a:r>
                    </a:p>
                  </a:txBody>
                  <a:tcPr marL="73152" marR="73152" marT="27432" marB="27432">
                    <a:solidFill>
                      <a:srgbClr val="FFFFFF"/>
                    </a:solidFill>
                  </a:tcPr>
                </a:tc>
                <a:tc>
                  <a:txBody>
                    <a:bodyPr/>
                    <a:lstStyle/>
                    <a:p>
                      <a:r>
                        <a:rPr sz="1150" b="0">
                          <a:solidFill>
                            <a:srgbClr val="222A3F"/>
                          </a:solidFill>
                          <a:latin typeface="Cambria"/>
                        </a:rPr>
                        <a:t>Same sectors, fail again after a rewrite</a:t>
                      </a:r>
                    </a:p>
                  </a:txBody>
                  <a:tcPr marL="73152" marR="73152" marT="27432" marB="27432">
                    <a:solidFill>
                      <a:srgbClr val="FFFFFF"/>
                    </a:solidFill>
                  </a:tcPr>
                </a:tc>
                <a:tc>
                  <a:txBody>
                    <a:bodyPr/>
                    <a:lstStyle/>
                    <a:p>
                      <a:r>
                        <a:rPr sz="1150" b="0">
                          <a:solidFill>
                            <a:srgbClr val="222A3F"/>
                          </a:solidFill>
                          <a:latin typeface="Cambria"/>
                        </a:rPr>
                        <a:t>Rejected: rewritten sectors became perfect</a:t>
                      </a:r>
                    </a:p>
                  </a:txBody>
                  <a:tcPr marL="73152" marR="73152" marT="27432" marB="27432">
                    <a:solidFill>
                      <a:srgbClr val="FFFFFF"/>
                    </a:solidFill>
                  </a:tcPr>
                </a:tc>
              </a:tr>
              <a:tr h="548639">
                <a:tc>
                  <a:txBody>
                    <a:bodyPr/>
                    <a:lstStyle/>
                    <a:p>
                      <a:r>
                        <a:rPr sz="1150" b="0">
                          <a:solidFill>
                            <a:srgbClr val="222A3F"/>
                          </a:solidFill>
                          <a:latin typeface="Cambria"/>
                        </a:rPr>
                        <a:t>H3</a:t>
                      </a:r>
                    </a:p>
                  </a:txBody>
                  <a:tcPr marL="73152" marR="73152" marT="27432" marB="27432">
                    <a:solidFill>
                      <a:srgbClr val="F2F5FA"/>
                    </a:solidFill>
                  </a:tcPr>
                </a:tc>
                <a:tc>
                  <a:txBody>
                    <a:bodyPr/>
                    <a:lstStyle/>
                    <a:p>
                      <a:r>
                        <a:rPr sz="1150" b="0">
                          <a:solidFill>
                            <a:srgbClr val="222A3F"/>
                          </a:solidFill>
                          <a:latin typeface="Cambria"/>
                        </a:rPr>
                        <a:t>Written under low supply</a:t>
                      </a:r>
                    </a:p>
                  </a:txBody>
                  <a:tcPr marL="73152" marR="73152" marT="27432" marB="27432">
                    <a:solidFill>
                      <a:srgbClr val="F2F5FA"/>
                    </a:solidFill>
                  </a:tcPr>
                </a:tc>
                <a:tc>
                  <a:txBody>
                    <a:bodyPr/>
                    <a:lstStyle/>
                    <a:p>
                      <a:r>
                        <a:rPr sz="1150" b="0">
                          <a:solidFill>
                            <a:srgbClr val="222A3F"/>
                          </a:solidFill>
                          <a:latin typeface="Cambria"/>
                        </a:rPr>
                        <a:t>Same sectors, heal when rewritten</a:t>
                      </a:r>
                    </a:p>
                  </a:txBody>
                  <a:tcPr marL="73152" marR="73152" marT="27432" marB="27432">
                    <a:solidFill>
                      <a:srgbClr val="F2F5FA"/>
                    </a:solidFill>
                  </a:tcPr>
                </a:tc>
                <a:tc>
                  <a:txBody>
                    <a:bodyPr/>
                    <a:lstStyle/>
                    <a:p>
                      <a:r>
                        <a:rPr sz="1150" b="0">
                          <a:solidFill>
                            <a:srgbClr val="222A3F"/>
                          </a:solidFill>
                          <a:latin typeface="Cambria"/>
                        </a:rPr>
                        <a:t>Confirmed: measured, then repaired</a:t>
                      </a:r>
                    </a:p>
                  </a:txBody>
                  <a:tcPr marL="73152" marR="73152" marT="27432" marB="27432">
                    <a:solidFill>
                      <a:srgbClr val="F2F5FA"/>
                    </a:solidFill>
                  </a:tcPr>
                </a:tc>
              </a:tr>
              <a:tr h="548639">
                <a:tc>
                  <a:txBody>
                    <a:bodyPr/>
                    <a:lstStyle/>
                    <a:p>
                      <a:r>
                        <a:rPr sz="1150" b="0">
                          <a:solidFill>
                            <a:srgbClr val="222A3F"/>
                          </a:solidFill>
                          <a:latin typeface="Cambria"/>
                        </a:rPr>
                        <a:t>H4</a:t>
                      </a:r>
                    </a:p>
                  </a:txBody>
                  <a:tcPr marL="73152" marR="73152" marT="27432" marB="27432">
                    <a:solidFill>
                      <a:srgbClr val="FFFFFF"/>
                    </a:solidFill>
                  </a:tcPr>
                </a:tc>
                <a:tc>
                  <a:txBody>
                    <a:bodyPr/>
                    <a:lstStyle/>
                    <a:p>
                      <a:r>
                        <a:rPr sz="1150" b="0">
                          <a:solidFill>
                            <a:srgbClr val="222A3F"/>
                          </a:solidFill>
                          <a:latin typeface="Cambria"/>
                        </a:rPr>
                        <a:t>File-system bug</a:t>
                      </a:r>
                    </a:p>
                  </a:txBody>
                  <a:tcPr marL="73152" marR="73152" marT="27432" marB="27432">
                    <a:solidFill>
                      <a:srgbClr val="FFFFFF"/>
                    </a:solidFill>
                  </a:tcPr>
                </a:tc>
                <a:tc>
                  <a:txBody>
                    <a:bodyPr/>
                    <a:lstStyle/>
                    <a:p>
                      <a:r>
                        <a:rPr sz="1150" b="0">
                          <a:solidFill>
                            <a:srgbClr val="222A3F"/>
                          </a:solidFill>
                          <a:latin typeface="Cambria"/>
                        </a:rPr>
                        <a:t>Mount failures, broken directories</a:t>
                      </a:r>
                    </a:p>
                  </a:txBody>
                  <a:tcPr marL="73152" marR="73152" marT="27432" marB="27432">
                    <a:solidFill>
                      <a:srgbClr val="FFFFFF"/>
                    </a:solidFill>
                  </a:tcPr>
                </a:tc>
                <a:tc>
                  <a:txBody>
                    <a:bodyPr/>
                    <a:lstStyle/>
                    <a:p>
                      <a:r>
                        <a:rPr sz="1150" b="0">
                          <a:solidFill>
                            <a:srgbClr val="222A3F"/>
                          </a:solidFill>
                          <a:latin typeface="Cambria"/>
                        </a:rPr>
                        <a:t>Rejected: mounts and decodes cleanly</a:t>
                      </a:r>
                    </a:p>
                  </a:txBody>
                  <a:tcPr marL="73152" marR="73152" marT="27432" marB="27432">
                    <a:solidFill>
                      <a:srgbClr val="FFFFFF"/>
                    </a:solidFill>
                  </a:tcPr>
                </a:tc>
              </a:tr>
              <a:tr h="548644">
                <a:tc>
                  <a:txBody>
                    <a:bodyPr/>
                    <a:lstStyle/>
                    <a:p>
                      <a:r>
                        <a:rPr sz="1150" b="0">
                          <a:solidFill>
                            <a:srgbClr val="222A3F"/>
                          </a:solidFill>
                          <a:latin typeface="Cambria"/>
                        </a:rPr>
                        <a:t>H5</a:t>
                      </a:r>
                    </a:p>
                  </a:txBody>
                  <a:tcPr marL="73152" marR="73152" marT="27432" marB="27432">
                    <a:solidFill>
                      <a:srgbClr val="F2F5FA"/>
                    </a:solidFill>
                  </a:tcPr>
                </a:tc>
                <a:tc>
                  <a:txBody>
                    <a:bodyPr/>
                    <a:lstStyle/>
                    <a:p>
                      <a:r>
                        <a:rPr sz="1150" b="0">
                          <a:solidFill>
                            <a:srgbClr val="222A3F"/>
                          </a:solidFill>
                          <a:latin typeface="Cambria"/>
                        </a:rPr>
                        <a:t>Firmware turns a bad read into a reset</a:t>
                      </a:r>
                    </a:p>
                  </a:txBody>
                  <a:tcPr marL="73152" marR="73152" marT="27432" marB="27432">
                    <a:solidFill>
                      <a:srgbClr val="F2F5FA"/>
                    </a:solidFill>
                  </a:tcPr>
                </a:tc>
                <a:tc>
                  <a:txBody>
                    <a:bodyPr/>
                    <a:lstStyle/>
                    <a:p>
                      <a:r>
                        <a:rPr sz="1150" b="0">
                          <a:solidFill>
                            <a:srgbClr val="222A3F"/>
                          </a:solidFill>
                          <a:latin typeface="Cambria"/>
                        </a:rPr>
                        <a:t>Loss permanent and silent</a:t>
                      </a:r>
                    </a:p>
                  </a:txBody>
                  <a:tcPr marL="73152" marR="73152" marT="27432" marB="27432">
                    <a:solidFill>
                      <a:srgbClr val="F2F5FA"/>
                    </a:solidFill>
                  </a:tcPr>
                </a:tc>
                <a:tc>
                  <a:txBody>
                    <a:bodyPr/>
                    <a:lstStyle/>
                    <a:p>
                      <a:r>
                        <a:rPr sz="1150" b="0">
                          <a:solidFill>
                            <a:srgbClr val="222A3F"/>
                          </a:solidFill>
                          <a:latin typeface="Cambria"/>
                        </a:rPr>
                        <a:t>Confirmed in source</a:t>
                      </a:r>
                    </a:p>
                  </a:txBody>
                  <a:tcPr marL="73152" marR="73152" marT="27432" marB="27432">
                    <a:solidFill>
                      <a:srgbClr val="F2F5FA"/>
                    </a:solidFill>
                  </a:tcPr>
                </a:tc>
              </a:tr>
            </a:tbl>
          </a:graphicData>
        </a:graphic>
      </p:graphicFrame>
      <p:sp>
        <p:nvSpPr>
          <p:cNvPr id="12" name="Rectangle 11"/>
          <p:cNvSpPr/>
          <p:nvPr/>
        </p:nvSpPr>
        <p:spPr>
          <a:xfrm>
            <a:off x="502920" y="4846320"/>
            <a:ext cx="11155680" cy="1005840"/>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 y="4965192"/>
            <a:ext cx="10826496" cy="768096"/>
          </a:xfrm>
          <a:prstGeom prst="rect">
            <a:avLst/>
          </a:prstGeom>
          <a:noFill/>
        </p:spPr>
        <p:txBody>
          <a:bodyPr wrap="square" lIns="0" rIns="0" tIns="0" bIns="0">
            <a:spAutoFit/>
          </a:bodyPr>
          <a:lstStyle/>
          <a:p>
            <a:r>
              <a:rPr sz="1300" b="1" spc="100">
                <a:solidFill>
                  <a:srgbClr val="1F9D68"/>
                </a:solidFill>
                <a:latin typeface="Cambria"/>
              </a:rPr>
              <a:t>THE DISCRIMINATING EXPERIMENT</a:t>
            </a:r>
          </a:p>
          <a:p>
            <a:pPr>
              <a:spcBef>
                <a:spcPts val="500"/>
              </a:spcBef>
            </a:pPr>
            <a:r>
              <a:rPr sz="1250">
                <a:solidFill>
                  <a:srgbClr val="222A3F"/>
                </a:solidFill>
                <a:latin typeface="Cambria"/>
              </a:rPr>
              <a:t>H2 and H3 look identical until you erase and rewrite the sectors. That one test decided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14/21  REV E  2026-11-04</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METHOD: READING THE CHIP, FIRMWARE STOPPED</a:t>
            </a:r>
          </a:p>
        </p:txBody>
      </p:sp>
      <p:sp>
        <p:nvSpPr>
          <p:cNvPr id="10" name="Rectangle 9"/>
          <p:cNvSpPr/>
          <p:nvPr/>
        </p:nvSpPr>
        <p:spPr>
          <a:xfrm>
            <a:off x="502920" y="1234440"/>
            <a:ext cx="6766560" cy="2103120"/>
          </a:xfrm>
          <a:prstGeom prst="rect">
            <a:avLst/>
          </a:prstGeom>
          <a:solidFill>
            <a:srgbClr val="1B24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325880"/>
            <a:ext cx="6437376" cy="274320"/>
          </a:xfrm>
          <a:prstGeom prst="rect">
            <a:avLst/>
          </a:prstGeom>
          <a:noFill/>
        </p:spPr>
        <p:txBody>
          <a:bodyPr wrap="square" lIns="0" rIns="0" tIns="0" bIns="0">
            <a:spAutoFit/>
          </a:bodyPr>
          <a:lstStyle/>
          <a:p>
            <a:pPr algn="l"/>
            <a:r>
              <a:rPr sz="1000" b="1" i="0">
                <a:solidFill>
                  <a:srgbClr val="E58E1A"/>
                </a:solidFill>
                <a:latin typeface="Courier New"/>
              </a:rPr>
              <a:t>ESPTOOL STUB, ONE CONNECTION, NO RESET BETWEEN READS</a:t>
            </a:r>
          </a:p>
        </p:txBody>
      </p:sp>
      <p:sp>
        <p:nvSpPr>
          <p:cNvPr id="12" name="TextBox 11"/>
          <p:cNvSpPr txBox="1"/>
          <p:nvPr/>
        </p:nvSpPr>
        <p:spPr>
          <a:xfrm>
            <a:off x="667512" y="1618488"/>
            <a:ext cx="6437376" cy="1645919"/>
          </a:xfrm>
          <a:prstGeom prst="rect">
            <a:avLst/>
          </a:prstGeom>
          <a:noFill/>
        </p:spPr>
        <p:txBody>
          <a:bodyPr wrap="square" lIns="0" rIns="0" tIns="0" bIns="0">
            <a:spAutoFit/>
          </a:bodyPr>
          <a:lstStyle/>
          <a:p>
            <a:r>
              <a:rPr sz="1100">
                <a:solidFill>
                  <a:srgbClr val="C9D8F0"/>
                </a:solidFill>
                <a:latin typeface="Courier New"/>
              </a:rPr>
              <a:t>esp = detect_chip('COM4'); esp = esp.run_stub()</a:t>
            </a:r>
          </a:p>
          <a:p>
            <a:r>
              <a:rPr sz="1100">
                <a:solidFill>
                  <a:srgbClr val="C9D8F0"/>
                </a:solidFill>
                <a:latin typeface="Courier New"/>
              </a:rPr>
              <a:t>A = esp.read_flash(0xC90000, 0x360000)   # settings, 3.4 MB</a:t>
            </a:r>
          </a:p>
          <a:p>
            <a:r>
              <a:rPr sz="1100">
                <a:solidFill>
                  <a:srgbClr val="C9D8F0"/>
                </a:solidFill>
                <a:latin typeface="Courier New"/>
              </a:rPr>
              <a:t>B = esp.read_flash(0xC90000, 0x360000)</a:t>
            </a:r>
          </a:p>
          <a:p>
            <a:r>
              <a:rPr sz="1100">
                <a:solidFill>
                  <a:srgbClr val="C9D8F0"/>
                </a:solidFill>
                <a:latin typeface="Courier New"/>
              </a:rPr>
              <a:t>C = esp.read_flash(0xC90000, 0x360000)</a:t>
            </a:r>
          </a:p>
          <a:p>
            <a:r>
              <a:rPr sz="1100">
                <a:solidFill>
                  <a:srgbClr val="5E6B85"/>
                </a:solidFill>
                <a:latin typeface="Courier New"/>
              </a:rPr>
              <a:t>app = esp.read_flash(0x10000, 0x100000) x2   # control</a:t>
            </a:r>
          </a:p>
          <a:p>
            <a:r>
              <a:rPr sz="1100">
                <a:solidFill>
                  <a:srgbClr val="E58E1A"/>
                </a:solidFill>
                <a:latin typeface="Courier New"/>
              </a:rPr>
              <a:t>A == B ?   B == C ?   app1 == app2 ?</a:t>
            </a:r>
          </a:p>
        </p:txBody>
      </p:sp>
      <p:sp>
        <p:nvSpPr>
          <p:cNvPr id="13" name="Rectangle 12"/>
          <p:cNvSpPr/>
          <p:nvPr/>
        </p:nvSpPr>
        <p:spPr>
          <a:xfrm>
            <a:off x="7452360" y="1234440"/>
            <a:ext cx="4251960" cy="2103120"/>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16952" y="1353312"/>
            <a:ext cx="3922776" cy="1865376"/>
          </a:xfrm>
          <a:prstGeom prst="rect">
            <a:avLst/>
          </a:prstGeom>
          <a:noFill/>
        </p:spPr>
        <p:txBody>
          <a:bodyPr wrap="square" lIns="0" rIns="0" tIns="0" bIns="0">
            <a:spAutoFit/>
          </a:bodyPr>
          <a:lstStyle/>
          <a:p>
            <a:r>
              <a:rPr sz="1300" b="1" spc="100">
                <a:solidFill>
                  <a:srgbClr val="1F9D68"/>
                </a:solidFill>
                <a:latin typeface="Cambria"/>
              </a:rPr>
              <a:t>CONTROLS</a:t>
            </a:r>
          </a:p>
          <a:p>
            <a:pPr>
              <a:spcBef>
                <a:spcPts val="500"/>
              </a:spcBef>
            </a:pPr>
            <a:r>
              <a:rPr sz="1200">
                <a:solidFill>
                  <a:srgbClr val="222A3F"/>
                </a:solidFill>
                <a:latin typeface="Cambria"/>
              </a:rPr>
              <a:t>•  1 MB of program code, twice</a:t>
            </a:r>
          </a:p>
          <a:p>
            <a:pPr>
              <a:spcBef>
                <a:spcPts val="500"/>
              </a:spcBef>
            </a:pPr>
            <a:r>
              <a:rPr sz="1200">
                <a:solidFill>
                  <a:srgbClr val="222A3F"/>
                </a:solidFill>
                <a:latin typeface="Cambria"/>
              </a:rPr>
              <a:t>•  NVS and bootloader, twice</a:t>
            </a:r>
          </a:p>
          <a:p>
            <a:pPr>
              <a:spcBef>
                <a:spcPts val="500"/>
              </a:spcBef>
            </a:pPr>
            <a:r>
              <a:rPr sz="1200">
                <a:solidFill>
                  <a:srgbClr val="222A3F"/>
                </a:solidFill>
                <a:latin typeface="Cambria"/>
              </a:rPr>
              <a:t>•  Two serial speeds</a:t>
            </a:r>
          </a:p>
          <a:p>
            <a:pPr>
              <a:spcBef>
                <a:spcPts val="500"/>
              </a:spcBef>
            </a:pPr>
            <a:r>
              <a:rPr sz="1200">
                <a:solidFill>
                  <a:srgbClr val="222A3F"/>
                </a:solidFill>
                <a:latin typeface="Cambria"/>
              </a:rPr>
              <a:t>•  Image mounted, every file decoded</a:t>
            </a:r>
          </a:p>
        </p:txBody>
      </p:sp>
      <p:sp>
        <p:nvSpPr>
          <p:cNvPr id="15" name="Rectangle 14"/>
          <p:cNvSpPr/>
          <p:nvPr/>
        </p:nvSpPr>
        <p:spPr>
          <a:xfrm>
            <a:off x="502920" y="3520440"/>
            <a:ext cx="11201400" cy="1005840"/>
          </a:xfrm>
          <a:prstGeom prst="rect">
            <a:avLst/>
          </a:prstGeom>
          <a:solidFill>
            <a:srgbClr val="F2F5FA"/>
          </a:solidFill>
          <a:ln w="15875">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7512" y="3639312"/>
            <a:ext cx="10872216" cy="768096"/>
          </a:xfrm>
          <a:prstGeom prst="rect">
            <a:avLst/>
          </a:prstGeom>
          <a:noFill/>
        </p:spPr>
        <p:txBody>
          <a:bodyPr wrap="square" lIns="0" rIns="0" tIns="0" bIns="0">
            <a:spAutoFit/>
          </a:bodyPr>
          <a:lstStyle/>
          <a:p>
            <a:r>
              <a:rPr sz="1300" b="1" spc="100">
                <a:solidFill>
                  <a:srgbClr val="E58E1A"/>
                </a:solidFill>
                <a:latin typeface="Cambria"/>
              </a:rPr>
              <a:t>IN PLAIN WORDS</a:t>
            </a:r>
          </a:p>
          <a:p>
            <a:pPr>
              <a:spcBef>
                <a:spcPts val="500"/>
              </a:spcBef>
            </a:pPr>
            <a:r>
              <a:rPr sz="1250">
                <a:solidFill>
                  <a:srgbClr val="222A3F"/>
                </a:solidFill>
                <a:latin typeface="Cambria"/>
              </a:rPr>
              <a:t>Read the settings area three times through one connection and compare. A healthy chip returns the same bytes every time. If the control changed too, the method would be at fault.</a:t>
            </a:r>
          </a:p>
        </p:txBody>
      </p:sp>
      <p:sp>
        <p:nvSpPr>
          <p:cNvPr id="17" name="Rectangle 16"/>
          <p:cNvSpPr/>
          <p:nvPr/>
        </p:nvSpPr>
        <p:spPr>
          <a:xfrm>
            <a:off x="502920" y="4709160"/>
            <a:ext cx="6766560" cy="1325880"/>
          </a:xfrm>
          <a:prstGeom prst="rect">
            <a:avLst/>
          </a:prstGeom>
          <a:solidFill>
            <a:srgbClr val="F2F5FA"/>
          </a:solidFill>
          <a:ln w="15875">
            <a:solidFill>
              <a:srgbClr val="5E6B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4828032"/>
            <a:ext cx="6437376" cy="1088136"/>
          </a:xfrm>
          <a:prstGeom prst="rect">
            <a:avLst/>
          </a:prstGeom>
          <a:noFill/>
        </p:spPr>
        <p:txBody>
          <a:bodyPr wrap="square" lIns="0" rIns="0" tIns="0" bIns="0">
            <a:spAutoFit/>
          </a:bodyPr>
          <a:lstStyle/>
          <a:p>
            <a:r>
              <a:rPr sz="1250" b="1" spc="100">
                <a:solidFill>
                  <a:srgbClr val="5E6B85"/>
                </a:solidFill>
                <a:latin typeface="Cambria"/>
              </a:rPr>
              <a:t>THE PITFALL</a:t>
            </a:r>
          </a:p>
          <a:p>
            <a:pPr>
              <a:spcBef>
                <a:spcPts val="500"/>
              </a:spcBef>
            </a:pPr>
            <a:r>
              <a:rPr sz="1150">
                <a:solidFill>
                  <a:srgbClr val="222A3F"/>
                </a:solidFill>
                <a:latin typeface="Cambria"/>
              </a:rPr>
              <a:t>•  This board resets when the USB port closes</a:t>
            </a:r>
          </a:p>
          <a:p>
            <a:pPr>
              <a:spcBef>
                <a:spcPts val="500"/>
              </a:spcBef>
            </a:pPr>
            <a:r>
              <a:rPr sz="1150">
                <a:solidFill>
                  <a:srgbClr val="222A3F"/>
                </a:solidFill>
                <a:latin typeface="Cambria"/>
              </a:rPr>
              <a:t>•  Separate commands hide a boot, and a boot-time write, between reads</a:t>
            </a:r>
          </a:p>
        </p:txBody>
      </p:sp>
      <p:sp>
        <p:nvSpPr>
          <p:cNvPr id="19" name="Rectangle 18"/>
          <p:cNvSpPr/>
          <p:nvPr/>
        </p:nvSpPr>
        <p:spPr>
          <a:xfrm>
            <a:off x="7452360" y="4709160"/>
            <a:ext cx="4251960" cy="132588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16952" y="4828032"/>
            <a:ext cx="3922776" cy="1088136"/>
          </a:xfrm>
          <a:prstGeom prst="rect">
            <a:avLst/>
          </a:prstGeom>
          <a:noFill/>
        </p:spPr>
        <p:txBody>
          <a:bodyPr wrap="square" lIns="0" rIns="0" tIns="0" bIns="0">
            <a:spAutoFit/>
          </a:bodyPr>
          <a:lstStyle/>
          <a:p>
            <a:r>
              <a:rPr sz="1250" b="1" spc="100">
                <a:solidFill>
                  <a:srgbClr val="16213D"/>
                </a:solidFill>
                <a:latin typeface="Cambria"/>
              </a:rPr>
              <a:t>HOW THIS WAS DONE</a:t>
            </a:r>
          </a:p>
          <a:p>
            <a:pPr>
              <a:spcBef>
                <a:spcPts val="500"/>
              </a:spcBef>
            </a:pPr>
            <a:r>
              <a:rPr sz="1100">
                <a:solidFill>
                  <a:srgbClr val="222A3F"/>
                </a:solidFill>
                <a:latin typeface="Cambria"/>
              </a:rPr>
              <a:t>Hypothesis: a Qualcomm engineer. Design, scripts, analysis: drafted with Claude as an AI assistant. Every measurement: run and checked by us. Records: sheet 20.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15/21  REV E  2026-11-04</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RESULT: THE SAME SECTORS MISREAD, EVERY PASS</a:t>
            </a:r>
          </a:p>
        </p:txBody>
      </p:sp>
      <p:sp>
        <p:nvSpPr>
          <p:cNvPr id="10" name="TextBox 9"/>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SF against RG, same day, same method</a:t>
            </a:r>
          </a:p>
        </p:txBody>
      </p:sp>
      <p:pic>
        <p:nvPicPr>
          <p:cNvPr id="11" name="Picture 10" descr="g_maps_compare.png"/>
          <p:cNvPicPr>
            <a:picLocks noChangeAspect="1"/>
          </p:cNvPicPr>
          <p:nvPr/>
        </p:nvPicPr>
        <p:blipFill>
          <a:blip r:embed="rId2"/>
          <a:stretch>
            <a:fillRect/>
          </a:stretch>
        </p:blipFill>
        <p:spPr>
          <a:xfrm>
            <a:off x="502920" y="1234440"/>
            <a:ext cx="11155680" cy="3238746"/>
          </a:xfrm>
          <a:prstGeom prst="rect">
            <a:avLst/>
          </a:prstGeom>
        </p:spPr>
      </p:pic>
      <p:sp>
        <p:nvSpPr>
          <p:cNvPr id="12" name="TextBox 11"/>
          <p:cNvSpPr txBox="1"/>
          <p:nvPr/>
        </p:nvSpPr>
        <p:spPr>
          <a:xfrm>
            <a:off x="502920" y="4526280"/>
            <a:ext cx="11155680" cy="548640"/>
          </a:xfrm>
          <a:prstGeom prst="rect">
            <a:avLst/>
          </a:prstGeom>
          <a:noFill/>
        </p:spPr>
        <p:txBody>
          <a:bodyPr wrap="square" lIns="0" rIns="0" tIns="0" bIns="0">
            <a:spAutoFit/>
          </a:bodyPr>
          <a:lstStyle/>
          <a:p>
            <a:pPr algn="l"/>
            <a:r>
              <a:rPr sz="1250" b="0" i="0">
                <a:solidFill>
                  <a:srgbClr val="222A3F"/>
                </a:solidFill>
                <a:latin typeface="Cambria"/>
              </a:rPr>
              <a:t>Each square is one 4 KB sector. Red: different bytes on every read, with nothing running. Green: the live settings files.</a:t>
            </a:r>
          </a:p>
        </p:txBody>
      </p:sp>
      <p:sp>
        <p:nvSpPr>
          <p:cNvPr id="13" name="Rectangle 12"/>
          <p:cNvSpPr/>
          <p:nvPr/>
        </p:nvSpPr>
        <p:spPr>
          <a:xfrm>
            <a:off x="502920" y="5166360"/>
            <a:ext cx="3611880" cy="91440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5276088"/>
            <a:ext cx="3611880" cy="508000"/>
          </a:xfrm>
          <a:prstGeom prst="rect">
            <a:avLst/>
          </a:prstGeom>
          <a:noFill/>
        </p:spPr>
        <p:txBody>
          <a:bodyPr wrap="square" lIns="0" rIns="0" tIns="0" bIns="0">
            <a:spAutoFit/>
          </a:bodyPr>
          <a:lstStyle/>
          <a:p>
            <a:pPr algn="ctr"/>
            <a:r>
              <a:rPr sz="2000" b="1" i="0">
                <a:solidFill>
                  <a:srgbClr val="C43A4B"/>
                </a:solidFill>
                <a:latin typeface="Cambria"/>
              </a:rPr>
              <a:t>21</a:t>
            </a:r>
          </a:p>
        </p:txBody>
      </p:sp>
      <p:sp>
        <p:nvSpPr>
          <p:cNvPr id="15" name="TextBox 14"/>
          <p:cNvSpPr txBox="1"/>
          <p:nvPr/>
        </p:nvSpPr>
        <p:spPr>
          <a:xfrm>
            <a:off x="640080" y="5875528"/>
            <a:ext cx="3337560" cy="132079"/>
          </a:xfrm>
          <a:prstGeom prst="rect">
            <a:avLst/>
          </a:prstGeom>
          <a:noFill/>
        </p:spPr>
        <p:txBody>
          <a:bodyPr wrap="square" lIns="0" rIns="0" tIns="0" bIns="0">
            <a:spAutoFit/>
          </a:bodyPr>
          <a:lstStyle/>
          <a:p>
            <a:pPr algn="ctr"/>
            <a:r>
              <a:rPr sz="1100" b="0" i="0">
                <a:solidFill>
                  <a:srgbClr val="222A3F"/>
                </a:solidFill>
                <a:latin typeface="Cambria"/>
              </a:rPr>
              <a:t>unstable sectors on SF, 12 heavily</a:t>
            </a:r>
          </a:p>
        </p:txBody>
      </p:sp>
      <p:sp>
        <p:nvSpPr>
          <p:cNvPr id="16" name="Rectangle 15"/>
          <p:cNvSpPr/>
          <p:nvPr/>
        </p:nvSpPr>
        <p:spPr>
          <a:xfrm>
            <a:off x="4274820" y="5166360"/>
            <a:ext cx="3611880" cy="91440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274820" y="5276088"/>
            <a:ext cx="3611880" cy="508000"/>
          </a:xfrm>
          <a:prstGeom prst="rect">
            <a:avLst/>
          </a:prstGeom>
          <a:noFill/>
        </p:spPr>
        <p:txBody>
          <a:bodyPr wrap="square" lIns="0" rIns="0" tIns="0" bIns="0">
            <a:spAutoFit/>
          </a:bodyPr>
          <a:lstStyle/>
          <a:p>
            <a:pPr algn="ctr"/>
            <a:r>
              <a:rPr sz="2000" b="1" i="0">
                <a:solidFill>
                  <a:srgbClr val="1F9D68"/>
                </a:solidFill>
                <a:latin typeface="Cambria"/>
              </a:rPr>
              <a:t>0</a:t>
            </a:r>
          </a:p>
        </p:txBody>
      </p:sp>
      <p:sp>
        <p:nvSpPr>
          <p:cNvPr id="18" name="TextBox 17"/>
          <p:cNvSpPr txBox="1"/>
          <p:nvPr/>
        </p:nvSpPr>
        <p:spPr>
          <a:xfrm>
            <a:off x="4411980" y="5875528"/>
            <a:ext cx="3337560" cy="132079"/>
          </a:xfrm>
          <a:prstGeom prst="rect">
            <a:avLst/>
          </a:prstGeom>
          <a:noFill/>
        </p:spPr>
        <p:txBody>
          <a:bodyPr wrap="square" lIns="0" rIns="0" tIns="0" bIns="0">
            <a:spAutoFit/>
          </a:bodyPr>
          <a:lstStyle/>
          <a:p>
            <a:pPr algn="ctr"/>
            <a:r>
              <a:rPr sz="1100" b="0" i="0">
                <a:solidFill>
                  <a:srgbClr val="222A3F"/>
                </a:solidFill>
                <a:latin typeface="Cambria"/>
              </a:rPr>
              <a:t>unstable sectors on RG</a:t>
            </a:r>
          </a:p>
        </p:txBody>
      </p:sp>
      <p:sp>
        <p:nvSpPr>
          <p:cNvPr id="19" name="Rectangle 18"/>
          <p:cNvSpPr/>
          <p:nvPr/>
        </p:nvSpPr>
        <p:spPr>
          <a:xfrm>
            <a:off x="8046720" y="5166360"/>
            <a:ext cx="3611880" cy="91440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6720" y="5276088"/>
            <a:ext cx="3611880" cy="508000"/>
          </a:xfrm>
          <a:prstGeom prst="rect">
            <a:avLst/>
          </a:prstGeom>
          <a:noFill/>
        </p:spPr>
        <p:txBody>
          <a:bodyPr wrap="square" lIns="0" rIns="0" tIns="0" bIns="0">
            <a:spAutoFit/>
          </a:bodyPr>
          <a:lstStyle/>
          <a:p>
            <a:pPr algn="ctr"/>
            <a:r>
              <a:rPr sz="2000" b="1" i="0">
                <a:solidFill>
                  <a:srgbClr val="1F9D68"/>
                </a:solidFill>
                <a:latin typeface="Cambria"/>
              </a:rPr>
              <a:t>0</a:t>
            </a:r>
          </a:p>
        </p:txBody>
      </p:sp>
      <p:sp>
        <p:nvSpPr>
          <p:cNvPr id="21" name="TextBox 20"/>
          <p:cNvSpPr txBox="1"/>
          <p:nvPr/>
        </p:nvSpPr>
        <p:spPr>
          <a:xfrm>
            <a:off x="8183880" y="5875528"/>
            <a:ext cx="3337560" cy="132079"/>
          </a:xfrm>
          <a:prstGeom prst="rect">
            <a:avLst/>
          </a:prstGeom>
          <a:noFill/>
        </p:spPr>
        <p:txBody>
          <a:bodyPr wrap="square" lIns="0" rIns="0" tIns="0" bIns="0">
            <a:spAutoFit/>
          </a:bodyPr>
          <a:lstStyle/>
          <a:p>
            <a:pPr algn="ctr"/>
            <a:r>
              <a:rPr sz="1100" b="0" i="0">
                <a:solidFill>
                  <a:srgbClr val="222A3F"/>
                </a:solidFill>
                <a:latin typeface="Cambria"/>
              </a:rPr>
              <a:t>differences in program code, NVS, bootloader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16/21  REV E  2026-11-04</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THE DECISIVE TEST, AND THE REPAIR</a:t>
            </a:r>
          </a:p>
        </p:txBody>
      </p:sp>
      <p:sp>
        <p:nvSpPr>
          <p:cNvPr id="10" name="TextBox 9"/>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SF, 27 October</a:t>
            </a:r>
          </a:p>
        </p:txBody>
      </p:sp>
      <p:sp>
        <p:nvSpPr>
          <p:cNvPr id="11" name="Rectangle 10"/>
          <p:cNvSpPr/>
          <p:nvPr/>
        </p:nvSpPr>
        <p:spPr>
          <a:xfrm>
            <a:off x="502920" y="1234440"/>
            <a:ext cx="2651760" cy="105156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1344168"/>
            <a:ext cx="2651760" cy="508000"/>
          </a:xfrm>
          <a:prstGeom prst="rect">
            <a:avLst/>
          </a:prstGeom>
          <a:noFill/>
        </p:spPr>
        <p:txBody>
          <a:bodyPr wrap="square" lIns="0" rIns="0" tIns="0" bIns="0">
            <a:spAutoFit/>
          </a:bodyPr>
          <a:lstStyle/>
          <a:p>
            <a:pPr algn="ctr"/>
            <a:r>
              <a:rPr sz="2000" b="1" i="0">
                <a:solidFill>
                  <a:srgbClr val="E58E1A"/>
                </a:solidFill>
                <a:latin typeface="Cambria"/>
              </a:rPr>
              <a:t>117 / 107</a:t>
            </a:r>
          </a:p>
        </p:txBody>
      </p:sp>
      <p:sp>
        <p:nvSpPr>
          <p:cNvPr id="13" name="TextBox 12"/>
          <p:cNvSpPr txBox="1"/>
          <p:nvPr/>
        </p:nvSpPr>
        <p:spPr>
          <a:xfrm>
            <a:off x="640080" y="1943608"/>
            <a:ext cx="2377440" cy="269239"/>
          </a:xfrm>
          <a:prstGeom prst="rect">
            <a:avLst/>
          </a:prstGeom>
          <a:noFill/>
        </p:spPr>
        <p:txBody>
          <a:bodyPr wrap="square" lIns="0" rIns="0" tIns="0" bIns="0">
            <a:spAutoFit/>
          </a:bodyPr>
          <a:lstStyle/>
          <a:p>
            <a:pPr algn="ctr"/>
            <a:r>
              <a:rPr sz="1100" b="0" i="0">
                <a:solidFill>
                  <a:srgbClr val="222A3F"/>
                </a:solidFill>
                <a:latin typeface="Cambria"/>
              </a:rPr>
              <a:t>differing bytes between reads</a:t>
            </a:r>
          </a:p>
        </p:txBody>
      </p:sp>
      <p:sp>
        <p:nvSpPr>
          <p:cNvPr id="14" name="Rectangle 13"/>
          <p:cNvSpPr/>
          <p:nvPr/>
        </p:nvSpPr>
        <p:spPr>
          <a:xfrm>
            <a:off x="3337560" y="1234440"/>
            <a:ext cx="2651760" cy="105156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344168"/>
            <a:ext cx="2651760" cy="508000"/>
          </a:xfrm>
          <a:prstGeom prst="rect">
            <a:avLst/>
          </a:prstGeom>
          <a:noFill/>
        </p:spPr>
        <p:txBody>
          <a:bodyPr wrap="square" lIns="0" rIns="0" tIns="0" bIns="0">
            <a:spAutoFit/>
          </a:bodyPr>
          <a:lstStyle/>
          <a:p>
            <a:pPr algn="ctr"/>
            <a:r>
              <a:rPr sz="2000" b="1" i="0">
                <a:solidFill>
                  <a:srgbClr val="E58E1A"/>
                </a:solidFill>
                <a:latin typeface="Cambria"/>
              </a:rPr>
              <a:t>118</a:t>
            </a:r>
          </a:p>
        </p:txBody>
      </p:sp>
      <p:sp>
        <p:nvSpPr>
          <p:cNvPr id="16" name="TextBox 15"/>
          <p:cNvSpPr txBox="1"/>
          <p:nvPr/>
        </p:nvSpPr>
        <p:spPr>
          <a:xfrm>
            <a:off x="3474720" y="1943608"/>
            <a:ext cx="2377440" cy="269239"/>
          </a:xfrm>
          <a:prstGeom prst="rect">
            <a:avLst/>
          </a:prstGeom>
          <a:noFill/>
        </p:spPr>
        <p:txBody>
          <a:bodyPr wrap="square" lIns="0" rIns="0" tIns="0" bIns="0">
            <a:spAutoFit/>
          </a:bodyPr>
          <a:lstStyle/>
          <a:p>
            <a:pPr algn="ctr"/>
            <a:r>
              <a:rPr sz="1100" b="0" i="0">
                <a:solidFill>
                  <a:srgbClr val="222A3F"/>
                </a:solidFill>
                <a:latin typeface="Cambria"/>
              </a:rPr>
              <a:t>bits flipped, both directions</a:t>
            </a:r>
          </a:p>
        </p:txBody>
      </p:sp>
      <p:sp>
        <p:nvSpPr>
          <p:cNvPr id="17" name="Rectangle 16"/>
          <p:cNvSpPr/>
          <p:nvPr/>
        </p:nvSpPr>
        <p:spPr>
          <a:xfrm>
            <a:off x="6172200" y="1234440"/>
            <a:ext cx="2651760" cy="105156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72200" y="1344168"/>
            <a:ext cx="2651760" cy="508000"/>
          </a:xfrm>
          <a:prstGeom prst="rect">
            <a:avLst/>
          </a:prstGeom>
          <a:noFill/>
        </p:spPr>
        <p:txBody>
          <a:bodyPr wrap="square" lIns="0" rIns="0" tIns="0" bIns="0">
            <a:spAutoFit/>
          </a:bodyPr>
          <a:lstStyle/>
          <a:p>
            <a:pPr algn="ctr"/>
            <a:r>
              <a:rPr sz="2000" b="1" i="0">
                <a:solidFill>
                  <a:srgbClr val="1F9D68"/>
                </a:solidFill>
                <a:latin typeface="Cambria"/>
              </a:rPr>
              <a:t>0</a:t>
            </a:r>
          </a:p>
        </p:txBody>
      </p:sp>
      <p:sp>
        <p:nvSpPr>
          <p:cNvPr id="19" name="TextBox 18"/>
          <p:cNvSpPr txBox="1"/>
          <p:nvPr/>
        </p:nvSpPr>
        <p:spPr>
          <a:xfrm>
            <a:off x="6309360" y="1943608"/>
            <a:ext cx="2377440" cy="269239"/>
          </a:xfrm>
          <a:prstGeom prst="rect">
            <a:avLst/>
          </a:prstGeom>
          <a:noFill/>
        </p:spPr>
        <p:txBody>
          <a:bodyPr wrap="square" lIns="0" rIns="0" tIns="0" bIns="0">
            <a:spAutoFit/>
          </a:bodyPr>
          <a:lstStyle/>
          <a:p>
            <a:pPr algn="ctr"/>
            <a:r>
              <a:rPr sz="1100" b="0" i="0">
                <a:solidFill>
                  <a:srgbClr val="222A3F"/>
                </a:solidFill>
                <a:latin typeface="Cambria"/>
              </a:rPr>
              <a:t>differences in the controls</a:t>
            </a:r>
          </a:p>
        </p:txBody>
      </p:sp>
      <p:sp>
        <p:nvSpPr>
          <p:cNvPr id="20" name="Rectangle 19"/>
          <p:cNvSpPr/>
          <p:nvPr/>
        </p:nvSpPr>
        <p:spPr>
          <a:xfrm>
            <a:off x="9006840" y="1234440"/>
            <a:ext cx="2697480" cy="105156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06840" y="1344168"/>
            <a:ext cx="2697480" cy="508000"/>
          </a:xfrm>
          <a:prstGeom prst="rect">
            <a:avLst/>
          </a:prstGeom>
          <a:noFill/>
        </p:spPr>
        <p:txBody>
          <a:bodyPr wrap="square" lIns="0" rIns="0" tIns="0" bIns="0">
            <a:spAutoFit/>
          </a:bodyPr>
          <a:lstStyle/>
          <a:p>
            <a:pPr algn="ctr"/>
            <a:r>
              <a:rPr sz="2000" b="1" i="0">
                <a:solidFill>
                  <a:srgbClr val="1F9D68"/>
                </a:solidFill>
                <a:latin typeface="Cambria"/>
              </a:rPr>
              <a:t>21 -&gt; 0</a:t>
            </a:r>
          </a:p>
        </p:txBody>
      </p:sp>
      <p:sp>
        <p:nvSpPr>
          <p:cNvPr id="22" name="TextBox 21"/>
          <p:cNvSpPr txBox="1"/>
          <p:nvPr/>
        </p:nvSpPr>
        <p:spPr>
          <a:xfrm>
            <a:off x="9144000" y="1943608"/>
            <a:ext cx="2423160" cy="269239"/>
          </a:xfrm>
          <a:prstGeom prst="rect">
            <a:avLst/>
          </a:prstGeom>
          <a:noFill/>
        </p:spPr>
        <p:txBody>
          <a:bodyPr wrap="square" lIns="0" rIns="0" tIns="0" bIns="0">
            <a:spAutoFit/>
          </a:bodyPr>
          <a:lstStyle/>
          <a:p>
            <a:pPr algn="ctr"/>
            <a:r>
              <a:rPr sz="1100" b="0" i="0">
                <a:solidFill>
                  <a:srgbClr val="222A3F"/>
                </a:solidFill>
                <a:latin typeface="Cambria"/>
              </a:rPr>
              <a:t>unstable sectors after the repair</a:t>
            </a:r>
          </a:p>
        </p:txBody>
      </p:sp>
      <p:sp>
        <p:nvSpPr>
          <p:cNvPr id="23" name="TextBox 22"/>
          <p:cNvSpPr txBox="1"/>
          <p:nvPr/>
        </p:nvSpPr>
        <p:spPr>
          <a:xfrm>
            <a:off x="502920" y="2468880"/>
            <a:ext cx="6766560" cy="274320"/>
          </a:xfrm>
          <a:prstGeom prst="rect">
            <a:avLst/>
          </a:prstGeom>
          <a:noFill/>
        </p:spPr>
        <p:txBody>
          <a:bodyPr wrap="square" lIns="0" rIns="0" tIns="0" bIns="0">
            <a:spAutoFit/>
          </a:bodyPr>
          <a:lstStyle/>
          <a:p>
            <a:pPr algn="l"/>
            <a:r>
              <a:rPr sz="950" b="1" i="0">
                <a:solidFill>
                  <a:srgbClr val="E58E1A"/>
                </a:solidFill>
                <a:latin typeface="Courier New"/>
              </a:rPr>
              <a:t>ERASE, PROGRAM THREE PATTERNS, READ FIVE TIMES EACH (FREE SECTORS ONLY)</a:t>
            </a:r>
          </a:p>
        </p:txBody>
      </p:sp>
      <p:graphicFrame>
        <p:nvGraphicFramePr>
          <p:cNvPr id="24" name="Table 23"/>
          <p:cNvGraphicFramePr>
            <a:graphicFrameLocks noGrp="1"/>
          </p:cNvGraphicFramePr>
          <p:nvPr/>
        </p:nvGraphicFramePr>
        <p:xfrm>
          <a:off x="502920" y="2743200"/>
          <a:ext cx="6766560" cy="1536192"/>
        </p:xfrm>
        <a:graphic>
          <a:graphicData uri="http://schemas.openxmlformats.org/drawingml/2006/table">
            <a:tbl>
              <a:tblPr firstRow="1" bandRow="1">
                <a:tableStyleId>{5C22544A-7EE6-4342-B048-85BDC9FD1C3A}</a:tableStyleId>
              </a:tblPr>
              <a:tblGrid>
                <a:gridCol w="1280160"/>
                <a:gridCol w="1463040"/>
                <a:gridCol w="1005840"/>
                <a:gridCol w="1005840"/>
                <a:gridCol w="1005840"/>
                <a:gridCol w="1005840"/>
              </a:tblGrid>
              <a:tr h="384048">
                <a:tc>
                  <a:txBody>
                    <a:bodyPr/>
                    <a:lstStyle/>
                    <a:p>
                      <a:r>
                        <a:rPr sz="1100" b="1">
                          <a:solidFill>
                            <a:srgbClr val="FFFFFF"/>
                          </a:solidFill>
                          <a:latin typeface="Cambria"/>
                        </a:rPr>
                        <a:t>Sector</a:t>
                      </a:r>
                    </a:p>
                  </a:txBody>
                  <a:tcPr marL="73152" marR="73152" marT="27432" marB="27432">
                    <a:solidFill>
                      <a:srgbClr val="16213D"/>
                    </a:solidFill>
                  </a:tcPr>
                </a:tc>
                <a:tc>
                  <a:txBody>
                    <a:bodyPr/>
                    <a:lstStyle/>
                    <a:p>
                      <a:r>
                        <a:rPr sz="1100" b="1">
                          <a:solidFill>
                            <a:srgbClr val="FFFFFF"/>
                          </a:solidFill>
                          <a:latin typeface="Cambria"/>
                        </a:rPr>
                        <a:t>As found</a:t>
                      </a:r>
                    </a:p>
                  </a:txBody>
                  <a:tcPr marL="73152" marR="73152" marT="27432" marB="27432">
                    <a:solidFill>
                      <a:srgbClr val="16213D"/>
                    </a:solidFill>
                  </a:tcPr>
                </a:tc>
                <a:tc>
                  <a:txBody>
                    <a:bodyPr/>
                    <a:lstStyle/>
                    <a:p>
                      <a:r>
                        <a:rPr sz="1100" b="1">
                          <a:solidFill>
                            <a:srgbClr val="FFFFFF"/>
                          </a:solidFill>
                          <a:latin typeface="Cambria"/>
                        </a:rPr>
                        <a:t>0x00 x5</a:t>
                      </a:r>
                    </a:p>
                  </a:txBody>
                  <a:tcPr marL="73152" marR="73152" marT="27432" marB="27432">
                    <a:solidFill>
                      <a:srgbClr val="16213D"/>
                    </a:solidFill>
                  </a:tcPr>
                </a:tc>
                <a:tc>
                  <a:txBody>
                    <a:bodyPr/>
                    <a:lstStyle/>
                    <a:p>
                      <a:r>
                        <a:rPr sz="1100" b="1">
                          <a:solidFill>
                            <a:srgbClr val="FFFFFF"/>
                          </a:solidFill>
                          <a:latin typeface="Cambria"/>
                        </a:rPr>
                        <a:t>A5/5A x5</a:t>
                      </a:r>
                    </a:p>
                  </a:txBody>
                  <a:tcPr marL="73152" marR="73152" marT="27432" marB="27432">
                    <a:solidFill>
                      <a:srgbClr val="16213D"/>
                    </a:solidFill>
                  </a:tcPr>
                </a:tc>
                <a:tc>
                  <a:txBody>
                    <a:bodyPr/>
                    <a:lstStyle/>
                    <a:p>
                      <a:r>
                        <a:rPr sz="1100" b="1">
                          <a:solidFill>
                            <a:srgbClr val="FFFFFF"/>
                          </a:solidFill>
                          <a:latin typeface="Cambria"/>
                        </a:rPr>
                        <a:t>random x5</a:t>
                      </a:r>
                    </a:p>
                  </a:txBody>
                  <a:tcPr marL="73152" marR="73152" marT="27432" marB="27432">
                    <a:solidFill>
                      <a:srgbClr val="16213D"/>
                    </a:solidFill>
                  </a:tcPr>
                </a:tc>
                <a:tc>
                  <a:txBody>
                    <a:bodyPr/>
                    <a:lstStyle/>
                    <a:p>
                      <a:r>
                        <a:rPr sz="1100" b="1">
                          <a:solidFill>
                            <a:srgbClr val="FFFFFF"/>
                          </a:solidFill>
                          <a:latin typeface="Cambria"/>
                        </a:rPr>
                        <a:t>Erased x5</a:t>
                      </a:r>
                    </a:p>
                  </a:txBody>
                  <a:tcPr marL="73152" marR="73152" marT="27432" marB="27432">
                    <a:solidFill>
                      <a:srgbClr val="16213D"/>
                    </a:solidFill>
                  </a:tcPr>
                </a:tc>
              </a:tr>
              <a:tr h="384048">
                <a:tc>
                  <a:txBody>
                    <a:bodyPr/>
                    <a:lstStyle/>
                    <a:p>
                      <a:r>
                        <a:rPr sz="1100" b="0">
                          <a:solidFill>
                            <a:srgbClr val="222A3F"/>
                          </a:solidFill>
                          <a:latin typeface="Cambria"/>
                        </a:rPr>
                        <a:t>57 (worst)</a:t>
                      </a:r>
                    </a:p>
                  </a:txBody>
                  <a:tcPr marL="73152" marR="73152" marT="27432" marB="27432">
                    <a:solidFill>
                      <a:srgbClr val="F2F5FA"/>
                    </a:solidFill>
                  </a:tcPr>
                </a:tc>
                <a:tc>
                  <a:txBody>
                    <a:bodyPr/>
                    <a:lstStyle/>
                    <a:p>
                      <a:r>
                        <a:rPr sz="1100" b="0">
                          <a:solidFill>
                            <a:srgbClr val="222A3F"/>
                          </a:solidFill>
                          <a:latin typeface="Cambria"/>
                        </a:rPr>
                        <a:t>27 bytes disagree</a:t>
                      </a:r>
                    </a:p>
                  </a:txBody>
                  <a:tcPr marL="73152" marR="73152" marT="27432" marB="27432">
                    <a:solidFill>
                      <a:srgbClr val="F2F5FA"/>
                    </a:solidFill>
                  </a:tcPr>
                </a:tc>
                <a:tc>
                  <a:txBody>
                    <a:bodyPr/>
                    <a:lstStyle/>
                    <a:p>
                      <a:r>
                        <a:rPr sz="1100" b="0">
                          <a:solidFill>
                            <a:srgbClr val="222A3F"/>
                          </a:solidFill>
                          <a:latin typeface="Cambria"/>
                        </a:rPr>
                        <a:t>clean</a:t>
                      </a:r>
                    </a:p>
                  </a:txBody>
                  <a:tcPr marL="73152" marR="73152" marT="27432" marB="27432">
                    <a:solidFill>
                      <a:srgbClr val="F2F5FA"/>
                    </a:solidFill>
                  </a:tcPr>
                </a:tc>
                <a:tc>
                  <a:txBody>
                    <a:bodyPr/>
                    <a:lstStyle/>
                    <a:p>
                      <a:r>
                        <a:rPr sz="1100" b="0">
                          <a:solidFill>
                            <a:srgbClr val="222A3F"/>
                          </a:solidFill>
                          <a:latin typeface="Cambria"/>
                        </a:rPr>
                        <a:t>clean</a:t>
                      </a:r>
                    </a:p>
                  </a:txBody>
                  <a:tcPr marL="73152" marR="73152" marT="27432" marB="27432">
                    <a:solidFill>
                      <a:srgbClr val="F2F5FA"/>
                    </a:solidFill>
                  </a:tcPr>
                </a:tc>
                <a:tc>
                  <a:txBody>
                    <a:bodyPr/>
                    <a:lstStyle/>
                    <a:p>
                      <a:r>
                        <a:rPr sz="1100" b="0">
                          <a:solidFill>
                            <a:srgbClr val="222A3F"/>
                          </a:solidFill>
                          <a:latin typeface="Cambria"/>
                        </a:rPr>
                        <a:t>clean</a:t>
                      </a:r>
                    </a:p>
                  </a:txBody>
                  <a:tcPr marL="73152" marR="73152" marT="27432" marB="27432">
                    <a:solidFill>
                      <a:srgbClr val="F2F5FA"/>
                    </a:solidFill>
                  </a:tcPr>
                </a:tc>
                <a:tc>
                  <a:txBody>
                    <a:bodyPr/>
                    <a:lstStyle/>
                    <a:p>
                      <a:r>
                        <a:rPr sz="1100" b="0">
                          <a:solidFill>
                            <a:srgbClr val="222A3F"/>
                          </a:solidFill>
                          <a:latin typeface="Cambria"/>
                        </a:rPr>
                        <a:t>clean</a:t>
                      </a:r>
                    </a:p>
                  </a:txBody>
                  <a:tcPr marL="73152" marR="73152" marT="27432" marB="27432">
                    <a:solidFill>
                      <a:srgbClr val="F2F5FA"/>
                    </a:solidFill>
                  </a:tcPr>
                </a:tc>
              </a:tr>
              <a:tr h="384048">
                <a:tc>
                  <a:txBody>
                    <a:bodyPr/>
                    <a:lstStyle/>
                    <a:p>
                      <a:r>
                        <a:rPr sz="1100" b="0">
                          <a:solidFill>
                            <a:srgbClr val="222A3F"/>
                          </a:solidFill>
                          <a:latin typeface="Cambria"/>
                        </a:rPr>
                        <a:t>31</a:t>
                      </a:r>
                    </a:p>
                  </a:txBody>
                  <a:tcPr marL="73152" marR="73152" marT="27432" marB="27432">
                    <a:solidFill>
                      <a:srgbClr val="FFFFFF"/>
                    </a:solidFill>
                  </a:tcPr>
                </a:tc>
                <a:tc>
                  <a:txBody>
                    <a:bodyPr/>
                    <a:lstStyle/>
                    <a:p>
                      <a:r>
                        <a:rPr sz="1100" b="0">
                          <a:solidFill>
                            <a:srgbClr val="222A3F"/>
                          </a:solidFill>
                          <a:latin typeface="Cambria"/>
                        </a:rPr>
                        <a:t>20 bytes disagree</a:t>
                      </a:r>
                    </a:p>
                  </a:txBody>
                  <a:tcPr marL="73152" marR="73152" marT="27432" marB="27432">
                    <a:solidFill>
                      <a:srgbClr val="FFFFFF"/>
                    </a:solidFill>
                  </a:tcPr>
                </a:tc>
                <a:tc>
                  <a:txBody>
                    <a:bodyPr/>
                    <a:lstStyle/>
                    <a:p>
                      <a:r>
                        <a:rPr sz="1100" b="0">
                          <a:solidFill>
                            <a:srgbClr val="222A3F"/>
                          </a:solidFill>
                          <a:latin typeface="Cambria"/>
                        </a:rPr>
                        <a:t>clean</a:t>
                      </a:r>
                    </a:p>
                  </a:txBody>
                  <a:tcPr marL="73152" marR="73152" marT="27432" marB="27432">
                    <a:solidFill>
                      <a:srgbClr val="FFFFFF"/>
                    </a:solidFill>
                  </a:tcPr>
                </a:tc>
                <a:tc>
                  <a:txBody>
                    <a:bodyPr/>
                    <a:lstStyle/>
                    <a:p>
                      <a:r>
                        <a:rPr sz="1100" b="0">
                          <a:solidFill>
                            <a:srgbClr val="222A3F"/>
                          </a:solidFill>
                          <a:latin typeface="Cambria"/>
                        </a:rPr>
                        <a:t>clean</a:t>
                      </a:r>
                    </a:p>
                  </a:txBody>
                  <a:tcPr marL="73152" marR="73152" marT="27432" marB="27432">
                    <a:solidFill>
                      <a:srgbClr val="FFFFFF"/>
                    </a:solidFill>
                  </a:tcPr>
                </a:tc>
                <a:tc>
                  <a:txBody>
                    <a:bodyPr/>
                    <a:lstStyle/>
                    <a:p>
                      <a:r>
                        <a:rPr sz="1100" b="0">
                          <a:solidFill>
                            <a:srgbClr val="222A3F"/>
                          </a:solidFill>
                          <a:latin typeface="Cambria"/>
                        </a:rPr>
                        <a:t>clean</a:t>
                      </a:r>
                    </a:p>
                  </a:txBody>
                  <a:tcPr marL="73152" marR="73152" marT="27432" marB="27432">
                    <a:solidFill>
                      <a:srgbClr val="FFFFFF"/>
                    </a:solidFill>
                  </a:tcPr>
                </a:tc>
                <a:tc>
                  <a:txBody>
                    <a:bodyPr/>
                    <a:lstStyle/>
                    <a:p>
                      <a:r>
                        <a:rPr sz="1100" b="0">
                          <a:solidFill>
                            <a:srgbClr val="222A3F"/>
                          </a:solidFill>
                          <a:latin typeface="Cambria"/>
                        </a:rPr>
                        <a:t>clean</a:t>
                      </a:r>
                    </a:p>
                  </a:txBody>
                  <a:tcPr marL="73152" marR="73152" marT="27432" marB="27432">
                    <a:solidFill>
                      <a:srgbClr val="FFFFFF"/>
                    </a:solidFill>
                  </a:tcPr>
                </a:tc>
              </a:tr>
              <a:tr h="384048">
                <a:tc>
                  <a:txBody>
                    <a:bodyPr/>
                    <a:lstStyle/>
                    <a:p>
                      <a:r>
                        <a:rPr sz="1100" b="0">
                          <a:solidFill>
                            <a:srgbClr val="222A3F"/>
                          </a:solidFill>
                          <a:latin typeface="Cambria"/>
                        </a:rPr>
                        <a:t>200 (control)</a:t>
                      </a:r>
                    </a:p>
                  </a:txBody>
                  <a:tcPr marL="73152" marR="73152" marT="27432" marB="27432">
                    <a:solidFill>
                      <a:srgbClr val="F2F5FA"/>
                    </a:solidFill>
                  </a:tcPr>
                </a:tc>
                <a:tc>
                  <a:txBody>
                    <a:bodyPr/>
                    <a:lstStyle/>
                    <a:p>
                      <a:r>
                        <a:rPr sz="1100" b="0">
                          <a:solidFill>
                            <a:srgbClr val="222A3F"/>
                          </a:solidFill>
                          <a:latin typeface="Cambria"/>
                        </a:rPr>
                        <a:t>stable</a:t>
                      </a:r>
                    </a:p>
                  </a:txBody>
                  <a:tcPr marL="73152" marR="73152" marT="27432" marB="27432">
                    <a:solidFill>
                      <a:srgbClr val="F2F5FA"/>
                    </a:solidFill>
                  </a:tcPr>
                </a:tc>
                <a:tc>
                  <a:txBody>
                    <a:bodyPr/>
                    <a:lstStyle/>
                    <a:p>
                      <a:r>
                        <a:rPr sz="1100" b="0">
                          <a:solidFill>
                            <a:srgbClr val="222A3F"/>
                          </a:solidFill>
                          <a:latin typeface="Cambria"/>
                        </a:rPr>
                        <a:t>clean</a:t>
                      </a:r>
                    </a:p>
                  </a:txBody>
                  <a:tcPr marL="73152" marR="73152" marT="27432" marB="27432">
                    <a:solidFill>
                      <a:srgbClr val="F2F5FA"/>
                    </a:solidFill>
                  </a:tcPr>
                </a:tc>
                <a:tc>
                  <a:txBody>
                    <a:bodyPr/>
                    <a:lstStyle/>
                    <a:p>
                      <a:r>
                        <a:rPr sz="1100" b="0">
                          <a:solidFill>
                            <a:srgbClr val="222A3F"/>
                          </a:solidFill>
                          <a:latin typeface="Cambria"/>
                        </a:rPr>
                        <a:t>clean</a:t>
                      </a:r>
                    </a:p>
                  </a:txBody>
                  <a:tcPr marL="73152" marR="73152" marT="27432" marB="27432">
                    <a:solidFill>
                      <a:srgbClr val="F2F5FA"/>
                    </a:solidFill>
                  </a:tcPr>
                </a:tc>
                <a:tc>
                  <a:txBody>
                    <a:bodyPr/>
                    <a:lstStyle/>
                    <a:p>
                      <a:r>
                        <a:rPr sz="1100" b="0">
                          <a:solidFill>
                            <a:srgbClr val="222A3F"/>
                          </a:solidFill>
                          <a:latin typeface="Cambria"/>
                        </a:rPr>
                        <a:t>clean</a:t>
                      </a:r>
                    </a:p>
                  </a:txBody>
                  <a:tcPr marL="73152" marR="73152" marT="27432" marB="27432">
                    <a:solidFill>
                      <a:srgbClr val="F2F5FA"/>
                    </a:solidFill>
                  </a:tcPr>
                </a:tc>
                <a:tc>
                  <a:txBody>
                    <a:bodyPr/>
                    <a:lstStyle/>
                    <a:p>
                      <a:r>
                        <a:rPr sz="1100" b="0">
                          <a:solidFill>
                            <a:srgbClr val="222A3F"/>
                          </a:solidFill>
                          <a:latin typeface="Cambria"/>
                        </a:rPr>
                        <a:t>clean</a:t>
                      </a:r>
                    </a:p>
                  </a:txBody>
                  <a:tcPr marL="73152" marR="73152" marT="27432" marB="27432">
                    <a:solidFill>
                      <a:srgbClr val="F2F5FA"/>
                    </a:solidFill>
                  </a:tcPr>
                </a:tc>
              </a:tr>
            </a:tbl>
          </a:graphicData>
        </a:graphic>
      </p:graphicFrame>
      <p:sp>
        <p:nvSpPr>
          <p:cNvPr id="25" name="Rectangle 24"/>
          <p:cNvSpPr/>
          <p:nvPr/>
        </p:nvSpPr>
        <p:spPr>
          <a:xfrm>
            <a:off x="7452360" y="2468880"/>
            <a:ext cx="4251960" cy="1828800"/>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16952" y="2587752"/>
            <a:ext cx="3922776" cy="1591056"/>
          </a:xfrm>
          <a:prstGeom prst="rect">
            <a:avLst/>
          </a:prstGeom>
          <a:noFill/>
        </p:spPr>
        <p:txBody>
          <a:bodyPr wrap="square" lIns="0" rIns="0" tIns="0" bIns="0">
            <a:spAutoFit/>
          </a:bodyPr>
          <a:lstStyle/>
          <a:p>
            <a:r>
              <a:rPr sz="1300" b="1" spc="100">
                <a:solidFill>
                  <a:srgbClr val="1F9D68"/>
                </a:solidFill>
                <a:latin typeface="Cambria"/>
              </a:rPr>
              <a:t>VERDICT: DISTURBED, NOT DAMAGED</a:t>
            </a:r>
          </a:p>
          <a:p>
            <a:pPr>
              <a:spcBef>
                <a:spcPts val="500"/>
              </a:spcBef>
            </a:pPr>
            <a:r>
              <a:rPr sz="1200">
                <a:solidFill>
                  <a:srgbClr val="222A3F"/>
                </a:solidFill>
                <a:latin typeface="Cambria"/>
              </a:rPr>
              <a:t>0 mismatches in 45 reads. The cells are sound; they were written at the wrong moment.</a:t>
            </a:r>
          </a:p>
        </p:txBody>
      </p:sp>
      <p:sp>
        <p:nvSpPr>
          <p:cNvPr id="27" name="Rectangle 26"/>
          <p:cNvSpPr/>
          <p:nvPr/>
        </p:nvSpPr>
        <p:spPr>
          <a:xfrm>
            <a:off x="502920" y="4480560"/>
            <a:ext cx="6766560" cy="155448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7512" y="4599432"/>
            <a:ext cx="6437376" cy="1316736"/>
          </a:xfrm>
          <a:prstGeom prst="rect">
            <a:avLst/>
          </a:prstGeom>
          <a:noFill/>
        </p:spPr>
        <p:txBody>
          <a:bodyPr wrap="square" lIns="0" rIns="0" tIns="0" bIns="0">
            <a:spAutoFit/>
          </a:bodyPr>
          <a:lstStyle/>
          <a:p>
            <a:r>
              <a:rPr sz="1300" b="1" spc="100">
                <a:solidFill>
                  <a:srgbClr val="16213D"/>
                </a:solidFill>
                <a:latin typeface="Cambria"/>
              </a:rPr>
              <a:t>THE REPAIR, SAME DAY</a:t>
            </a:r>
          </a:p>
          <a:p>
            <a:pPr>
              <a:spcBef>
                <a:spcPts val="500"/>
              </a:spcBef>
            </a:pPr>
            <a:r>
              <a:rPr sz="1200">
                <a:solidFill>
                  <a:srgbClr val="222A3F"/>
                </a:solidFill>
                <a:latin typeface="Cambria"/>
              </a:rPr>
              <a:t>•  Erase the settings area on USB power</a:t>
            </a:r>
          </a:p>
          <a:p>
            <a:pPr>
              <a:spcBef>
                <a:spcPts val="500"/>
              </a:spcBef>
            </a:pPr>
            <a:r>
              <a:rPr sz="1200">
                <a:solidFill>
                  <a:srgbClr val="222A3F"/>
                </a:solidFill>
                <a:latin typeface="Cambria"/>
              </a:rPr>
              <a:t>•  Snapshot applied twice (the region write reboots the radio)</a:t>
            </a:r>
          </a:p>
          <a:p>
            <a:pPr>
              <a:spcBef>
                <a:spcPts val="500"/>
              </a:spcBef>
            </a:pPr>
            <a:r>
              <a:rPr sz="1200">
                <a:solidFill>
                  <a:srgbClr val="222A3F"/>
                </a:solidFill>
                <a:latin typeface="Cambria"/>
              </a:rPr>
              <a:t>•  Three reads after: 0 differing bytes</a:t>
            </a:r>
          </a:p>
        </p:txBody>
      </p:sp>
      <p:sp>
        <p:nvSpPr>
          <p:cNvPr id="29" name="Rectangle 28"/>
          <p:cNvSpPr/>
          <p:nvPr/>
        </p:nvSpPr>
        <p:spPr>
          <a:xfrm>
            <a:off x="7452360" y="4480560"/>
            <a:ext cx="4251960" cy="1554480"/>
          </a:xfrm>
          <a:prstGeom prst="rect">
            <a:avLst/>
          </a:prstGeom>
          <a:solidFill>
            <a:srgbClr val="F2F5FA"/>
          </a:solidFill>
          <a:ln w="15875">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16952" y="4599432"/>
            <a:ext cx="3922776" cy="1316736"/>
          </a:xfrm>
          <a:prstGeom prst="rect">
            <a:avLst/>
          </a:prstGeom>
          <a:noFill/>
        </p:spPr>
        <p:txBody>
          <a:bodyPr wrap="square" lIns="0" rIns="0" tIns="0" bIns="0">
            <a:spAutoFit/>
          </a:bodyPr>
          <a:lstStyle/>
          <a:p>
            <a:r>
              <a:rPr sz="1300" b="1" spc="100">
                <a:solidFill>
                  <a:srgbClr val="E58E1A"/>
                </a:solidFill>
                <a:latin typeface="Cambria"/>
              </a:rPr>
              <a:t>IN PLAIN WORDS</a:t>
            </a:r>
          </a:p>
          <a:p>
            <a:pPr>
              <a:spcBef>
                <a:spcPts val="500"/>
              </a:spcBef>
            </a:pPr>
            <a:r>
              <a:rPr sz="1200">
                <a:solidFill>
                  <a:srgbClr val="222A3F"/>
                </a:solidFill>
                <a:latin typeface="Cambria"/>
              </a:rPr>
              <a:t>Rewriting the bad spots on good power made them perfect. Worn or defective memory would have failed again.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17/21  REV E  2026-11-04</a:t>
            </a:r>
          </a:p>
        </p:txBody>
      </p:sp>
      <p:sp>
        <p:nvSpPr>
          <p:cNvPr id="7" name="Rectangle 6"/>
          <p:cNvSpPr/>
          <p:nvPr/>
        </p:nvSpPr>
        <p:spPr>
          <a:xfrm>
            <a:off x="9646920" y="347472"/>
            <a:ext cx="2148840" cy="420624"/>
          </a:xfrm>
          <a:prstGeom prst="rect">
            <a:avLst/>
          </a:prstGeom>
          <a:solidFill>
            <a:srgbClr val="FFFFFF"/>
          </a:solidFill>
          <a:ln w="19050">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E58E1A"/>
                </a:solidFill>
                <a:latin typeface="Courier New"/>
              </a:rPr>
              <a:t>OWNER: VICTOR</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NOW: TWO DAYS LATER, BOTH RADIOS CLEAN</a:t>
            </a:r>
          </a:p>
        </p:txBody>
      </p:sp>
      <p:sp>
        <p:nvSpPr>
          <p:cNvPr id="10" name="TextBox 9"/>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Measured again on 29 October, after SF sat two days at 0 % battery</a:t>
            </a:r>
          </a:p>
        </p:txBody>
      </p:sp>
      <p:pic>
        <p:nvPicPr>
          <p:cNvPr id="11" name="Picture 10" descr="g_now.png"/>
          <p:cNvPicPr>
            <a:picLocks noChangeAspect="1"/>
          </p:cNvPicPr>
          <p:nvPr/>
        </p:nvPicPr>
        <p:blipFill>
          <a:blip r:embed="rId2"/>
          <a:stretch>
            <a:fillRect/>
          </a:stretch>
        </p:blipFill>
        <p:spPr>
          <a:xfrm>
            <a:off x="502920" y="1234440"/>
            <a:ext cx="11155680" cy="3058815"/>
          </a:xfrm>
          <a:prstGeom prst="rect">
            <a:avLst/>
          </a:prstGeom>
        </p:spPr>
      </p:pic>
      <p:sp>
        <p:nvSpPr>
          <p:cNvPr id="12" name="Rectangle 11"/>
          <p:cNvSpPr/>
          <p:nvPr/>
        </p:nvSpPr>
        <p:spPr>
          <a:xfrm>
            <a:off x="502920" y="4434840"/>
            <a:ext cx="5486400" cy="1600200"/>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 y="4553712"/>
            <a:ext cx="5157216" cy="1362456"/>
          </a:xfrm>
          <a:prstGeom prst="rect">
            <a:avLst/>
          </a:prstGeom>
          <a:noFill/>
        </p:spPr>
        <p:txBody>
          <a:bodyPr wrap="square" lIns="0" rIns="0" tIns="0" bIns="0">
            <a:spAutoFit/>
          </a:bodyPr>
          <a:lstStyle/>
          <a:p>
            <a:r>
              <a:rPr sz="1300" b="1" spc="100">
                <a:solidFill>
                  <a:srgbClr val="1F9D68"/>
                </a:solidFill>
                <a:latin typeface="Cambria"/>
              </a:rPr>
              <a:t>CHECKED ON 29 OCTOBER</a:t>
            </a:r>
          </a:p>
          <a:p>
            <a:pPr>
              <a:spcBef>
                <a:spcPts val="500"/>
              </a:spcBef>
            </a:pPr>
            <a:r>
              <a:rPr sz="1200">
                <a:solidFill>
                  <a:srgbClr val="222A3F"/>
                </a:solidFill>
                <a:latin typeface="Cambria"/>
              </a:rPr>
              <a:t>•  All settings intact on both radios, zero provisioning</a:t>
            </a:r>
          </a:p>
          <a:p>
            <a:pPr>
              <a:spcBef>
                <a:spcPts val="500"/>
              </a:spcBef>
            </a:pPr>
            <a:r>
              <a:rPr sz="1200">
                <a:solidFill>
                  <a:srgbClr val="222A3F"/>
                </a:solidFill>
                <a:latin typeface="Cambria"/>
              </a:rPr>
              <a:t>•  Flash: 0 differing bytes, 0 unstable sectors, both radios</a:t>
            </a:r>
          </a:p>
        </p:txBody>
      </p:sp>
      <p:sp>
        <p:nvSpPr>
          <p:cNvPr id="14" name="Rectangle 13"/>
          <p:cNvSpPr/>
          <p:nvPr/>
        </p:nvSpPr>
        <p:spPr>
          <a:xfrm>
            <a:off x="6172200" y="4434840"/>
            <a:ext cx="5532120" cy="1600200"/>
          </a:xfrm>
          <a:prstGeom prst="rect">
            <a:avLst/>
          </a:prstGeom>
          <a:solidFill>
            <a:srgbClr val="F2F5FA"/>
          </a:solidFill>
          <a:ln w="15875">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36792" y="4553712"/>
            <a:ext cx="5202936" cy="1362456"/>
          </a:xfrm>
          <a:prstGeom prst="rect">
            <a:avLst/>
          </a:prstGeom>
          <a:noFill/>
        </p:spPr>
        <p:txBody>
          <a:bodyPr wrap="square" lIns="0" rIns="0" tIns="0" bIns="0">
            <a:spAutoFit/>
          </a:bodyPr>
          <a:lstStyle/>
          <a:p>
            <a:r>
              <a:rPr sz="1300" b="1" spc="100">
                <a:solidFill>
                  <a:srgbClr val="E58E1A"/>
                </a:solidFill>
                <a:latin typeface="Cambria"/>
              </a:rPr>
              <a:t>READ IT HONESTLY</a:t>
            </a:r>
          </a:p>
          <a:p>
            <a:pPr>
              <a:spcBef>
                <a:spcPts val="500"/>
              </a:spcBef>
            </a:pPr>
            <a:r>
              <a:rPr sz="1200">
                <a:solidFill>
                  <a:srgbClr val="222A3F"/>
                </a:solidFill>
                <a:latin typeface="Cambria"/>
              </a:rPr>
              <a:t>•  The condition that wiped SF three times; this time nothing lost</a:t>
            </a:r>
          </a:p>
          <a:p>
            <a:pPr>
              <a:spcBef>
                <a:spcPts val="500"/>
              </a:spcBef>
            </a:pPr>
            <a:r>
              <a:rPr sz="1200">
                <a:solidFill>
                  <a:srgbClr val="222A3F"/>
                </a:solidFill>
                <a:latin typeface="Cambria"/>
              </a:rPr>
              <a:t>•  One cycle is evidence, not proof: stored flat, not running flat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18/21  REV E  2026-11-04</a:t>
            </a:r>
          </a:p>
        </p:txBody>
      </p:sp>
      <p:sp>
        <p:nvSpPr>
          <p:cNvPr id="7" name="Rectangle 6"/>
          <p:cNvSpPr/>
          <p:nvPr/>
        </p:nvSpPr>
        <p:spPr>
          <a:xfrm>
            <a:off x="9646920" y="347472"/>
            <a:ext cx="2148840" cy="420624"/>
          </a:xfrm>
          <a:prstGeom prst="rect">
            <a:avLst/>
          </a:prstGeom>
          <a:solidFill>
            <a:srgbClr val="FFFFFF"/>
          </a:solidFill>
          <a:ln w="19050">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E58E1A"/>
                </a:solidFill>
                <a:latin typeface="Courier New"/>
              </a:rPr>
              <a:t>OWNER: VICTOR</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THE CHAIN OF CAUSATION</a:t>
            </a:r>
          </a:p>
        </p:txBody>
      </p:sp>
      <p:sp>
        <p:nvSpPr>
          <p:cNvPr id="10" name="TextBox 9"/>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Every link tagged with its class of evidence</a:t>
            </a:r>
          </a:p>
        </p:txBody>
      </p:sp>
      <p:pic>
        <p:nvPicPr>
          <p:cNvPr id="11" name="Picture 10" descr="g_chain.png"/>
          <p:cNvPicPr>
            <a:picLocks noChangeAspect="1"/>
          </p:cNvPicPr>
          <p:nvPr/>
        </p:nvPicPr>
        <p:blipFill>
          <a:blip r:embed="rId2"/>
          <a:stretch>
            <a:fillRect/>
          </a:stretch>
        </p:blipFill>
        <p:spPr>
          <a:xfrm>
            <a:off x="502920" y="1280160"/>
            <a:ext cx="11155680" cy="2339094"/>
          </a:xfrm>
          <a:prstGeom prst="rect">
            <a:avLst/>
          </a:prstGeom>
        </p:spPr>
      </p:pic>
      <p:graphicFrame>
        <p:nvGraphicFramePr>
          <p:cNvPr id="12" name="Table 11"/>
          <p:cNvGraphicFramePr>
            <a:graphicFrameLocks noGrp="1"/>
          </p:cNvGraphicFramePr>
          <p:nvPr/>
        </p:nvGraphicFramePr>
        <p:xfrm>
          <a:off x="502920" y="3749039"/>
          <a:ext cx="11155680" cy="2304288"/>
        </p:xfrm>
        <a:graphic>
          <a:graphicData uri="http://schemas.openxmlformats.org/drawingml/2006/table">
            <a:tbl>
              <a:tblPr firstRow="1" bandRow="1">
                <a:tableStyleId>{5C22544A-7EE6-4342-B048-85BDC9FD1C3A}</a:tableStyleId>
              </a:tblPr>
              <a:tblGrid>
                <a:gridCol w="3931920"/>
                <a:gridCol w="4206240"/>
                <a:gridCol w="3017520"/>
              </a:tblGrid>
              <a:tr h="384048">
                <a:tc>
                  <a:txBody>
                    <a:bodyPr/>
                    <a:lstStyle/>
                    <a:p>
                      <a:r>
                        <a:rPr sz="1150" b="1">
                          <a:solidFill>
                            <a:srgbClr val="FFFFFF"/>
                          </a:solidFill>
                          <a:latin typeface="Cambria"/>
                        </a:rPr>
                        <a:t>Link</a:t>
                      </a:r>
                    </a:p>
                  </a:txBody>
                  <a:tcPr marL="73152" marR="73152" marT="27432" marB="27432">
                    <a:solidFill>
                      <a:srgbClr val="16213D"/>
                    </a:solidFill>
                  </a:tcPr>
                </a:tc>
                <a:tc>
                  <a:txBody>
                    <a:bodyPr/>
                    <a:lstStyle/>
                    <a:p>
                      <a:r>
                        <a:rPr sz="1150" b="1">
                          <a:solidFill>
                            <a:srgbClr val="FFFFFF"/>
                          </a:solidFill>
                          <a:latin typeface="Cambria"/>
                        </a:rPr>
                        <a:t>Evidence</a:t>
                      </a:r>
                    </a:p>
                  </a:txBody>
                  <a:tcPr marL="73152" marR="73152" marT="27432" marB="27432">
                    <a:solidFill>
                      <a:srgbClr val="16213D"/>
                    </a:solidFill>
                  </a:tcPr>
                </a:tc>
                <a:tc>
                  <a:txBody>
                    <a:bodyPr/>
                    <a:lstStyle/>
                    <a:p>
                      <a:r>
                        <a:rPr sz="1150" b="1">
                          <a:solidFill>
                            <a:srgbClr val="FFFFFF"/>
                          </a:solidFill>
                          <a:latin typeface="Cambria"/>
                        </a:rPr>
                        <a:t>Class</a:t>
                      </a:r>
                    </a:p>
                  </a:txBody>
                  <a:tcPr marL="73152" marR="73152" marT="27432" marB="27432">
                    <a:solidFill>
                      <a:srgbClr val="16213D"/>
                    </a:solidFill>
                  </a:tcPr>
                </a:tc>
              </a:tr>
              <a:tr h="384048">
                <a:tc>
                  <a:txBody>
                    <a:bodyPr/>
                    <a:lstStyle/>
                    <a:p>
                      <a:r>
                        <a:rPr sz="1150" b="0">
                          <a:solidFill>
                            <a:srgbClr val="222A3F"/>
                          </a:solidFill>
                          <a:latin typeface="Cambria"/>
                        </a:rPr>
                        <a:t>Flat battery, reboot churn on recovery</a:t>
                      </a:r>
                    </a:p>
                  </a:txBody>
                  <a:tcPr marL="73152" marR="73152" marT="27432" marB="27432">
                    <a:solidFill>
                      <a:srgbClr val="F2F5FA"/>
                    </a:solidFill>
                  </a:tcPr>
                </a:tc>
                <a:tc>
                  <a:txBody>
                    <a:bodyPr/>
                    <a:lstStyle/>
                    <a:p>
                      <a:r>
                        <a:rPr sz="1150" b="0">
                          <a:solidFill>
                            <a:srgbClr val="222A3F"/>
                          </a:solidFill>
                          <a:latin typeface="Cambria"/>
                        </a:rPr>
                        <a:t>3 of 4 incidents; issue 4555</a:t>
                      </a:r>
                    </a:p>
                  </a:txBody>
                  <a:tcPr marL="73152" marR="73152" marT="27432" marB="27432">
                    <a:solidFill>
                      <a:srgbClr val="F2F5FA"/>
                    </a:solidFill>
                  </a:tcPr>
                </a:tc>
                <a:tc>
                  <a:txBody>
                    <a:bodyPr/>
                    <a:lstStyle/>
                    <a:p>
                      <a:r>
                        <a:rPr sz="1150" b="0">
                          <a:solidFill>
                            <a:srgbClr val="222A3F"/>
                          </a:solidFill>
                          <a:latin typeface="Cambria"/>
                        </a:rPr>
                        <a:t>Observed</a:t>
                      </a:r>
                    </a:p>
                  </a:txBody>
                  <a:tcPr marL="73152" marR="73152" marT="27432" marB="27432">
                    <a:solidFill>
                      <a:srgbClr val="F2F5FA"/>
                    </a:solidFill>
                  </a:tcPr>
                </a:tc>
              </a:tr>
              <a:tr h="384048">
                <a:tc>
                  <a:txBody>
                    <a:bodyPr/>
                    <a:lstStyle/>
                    <a:p>
                      <a:r>
                        <a:rPr sz="1150" b="0">
                          <a:solidFill>
                            <a:srgbClr val="222A3F"/>
                          </a:solidFill>
                          <a:latin typeface="Cambria"/>
                        </a:rPr>
                        <a:t>Flash write on every boot, no voltage gate</a:t>
                      </a:r>
                    </a:p>
                  </a:txBody>
                  <a:tcPr marL="73152" marR="73152" marT="27432" marB="27432">
                    <a:solidFill>
                      <a:srgbClr val="FFFFFF"/>
                    </a:solidFill>
                  </a:tcPr>
                </a:tc>
                <a:tc>
                  <a:txBody>
                    <a:bodyPr/>
                    <a:lstStyle/>
                    <a:p>
                      <a:r>
                        <a:rPr sz="1150" b="0">
                          <a:solidFill>
                            <a:srgbClr val="222A3F"/>
                          </a:solidFill>
                          <a:latin typeface="Cambria"/>
                        </a:rPr>
                        <a:t>Boot log; PowerHAL.cpp</a:t>
                      </a:r>
                    </a:p>
                  </a:txBody>
                  <a:tcPr marL="73152" marR="73152" marT="27432" marB="27432">
                    <a:solidFill>
                      <a:srgbClr val="FFFFFF"/>
                    </a:solidFill>
                  </a:tcPr>
                </a:tc>
                <a:tc>
                  <a:txBody>
                    <a:bodyPr/>
                    <a:lstStyle/>
                    <a:p>
                      <a:r>
                        <a:rPr sz="1150" b="0">
                          <a:solidFill>
                            <a:srgbClr val="222A3F"/>
                          </a:solidFill>
                          <a:latin typeface="Cambria"/>
                        </a:rPr>
                        <a:t>Verified in source</a:t>
                      </a:r>
                    </a:p>
                  </a:txBody>
                  <a:tcPr marL="73152" marR="73152" marT="27432" marB="27432">
                    <a:solidFill>
                      <a:srgbClr val="FFFFFF"/>
                    </a:solidFill>
                  </a:tcPr>
                </a:tc>
              </a:tr>
              <a:tr h="384048">
                <a:tc>
                  <a:txBody>
                    <a:bodyPr/>
                    <a:lstStyle/>
                    <a:p>
                      <a:r>
                        <a:rPr sz="1150" b="0">
                          <a:solidFill>
                            <a:srgbClr val="222A3F"/>
                          </a:solidFill>
                          <a:latin typeface="Cambria"/>
                        </a:rPr>
                        <a:t>Rail between 2.44 and 2.7 V during a write</a:t>
                      </a:r>
                    </a:p>
                  </a:txBody>
                  <a:tcPr marL="73152" marR="73152" marT="27432" marB="27432">
                    <a:solidFill>
                      <a:srgbClr val="F2F5FA"/>
                    </a:solidFill>
                  </a:tcPr>
                </a:tc>
                <a:tc>
                  <a:txBody>
                    <a:bodyPr/>
                    <a:lstStyle/>
                    <a:p>
                      <a:r>
                        <a:rPr sz="1150" b="0">
                          <a:solidFill>
                            <a:srgbClr val="222A3F"/>
                          </a:solidFill>
                          <a:latin typeface="Cambria"/>
                        </a:rPr>
                        <a:t>Datasheets; 750 mA transmit pulses</a:t>
                      </a:r>
                    </a:p>
                  </a:txBody>
                  <a:tcPr marL="73152" marR="73152" marT="27432" marB="27432">
                    <a:solidFill>
                      <a:srgbClr val="F2F5FA"/>
                    </a:solidFill>
                  </a:tcPr>
                </a:tc>
                <a:tc>
                  <a:txBody>
                    <a:bodyPr/>
                    <a:lstStyle/>
                    <a:p>
                      <a:r>
                        <a:rPr sz="1150" b="0">
                          <a:solidFill>
                            <a:srgbClr val="222A3F"/>
                          </a:solidFill>
                          <a:latin typeface="Cambria"/>
                        </a:rPr>
                        <a:t>Inferred: scope pending</a:t>
                      </a:r>
                    </a:p>
                  </a:txBody>
                  <a:tcPr marL="73152" marR="73152" marT="27432" marB="27432">
                    <a:solidFill>
                      <a:srgbClr val="F2F5FA"/>
                    </a:solidFill>
                  </a:tcPr>
                </a:tc>
              </a:tr>
              <a:tr h="384048">
                <a:tc>
                  <a:txBody>
                    <a:bodyPr/>
                    <a:lstStyle/>
                    <a:p>
                      <a:r>
                        <a:rPr sz="1150" b="0">
                          <a:solidFill>
                            <a:srgbClr val="222A3F"/>
                          </a:solidFill>
                          <a:latin typeface="Cambria"/>
                        </a:rPr>
                        <a:t>Cells left half-written</a:t>
                      </a:r>
                    </a:p>
                  </a:txBody>
                  <a:tcPr marL="73152" marR="73152" marT="27432" marB="27432">
                    <a:solidFill>
                      <a:srgbClr val="FFFFFF"/>
                    </a:solidFill>
                  </a:tcPr>
                </a:tc>
                <a:tc>
                  <a:txBody>
                    <a:bodyPr/>
                    <a:lstStyle/>
                    <a:p>
                      <a:r>
                        <a:rPr sz="1150" b="0">
                          <a:solidFill>
                            <a:srgbClr val="222A3F"/>
                          </a:solidFill>
                          <a:latin typeface="Cambria"/>
                        </a:rPr>
                        <a:t>SF sector map; healed by rewrite</a:t>
                      </a:r>
                    </a:p>
                  </a:txBody>
                  <a:tcPr marL="73152" marR="73152" marT="27432" marB="27432">
                    <a:solidFill>
                      <a:srgbClr val="FFFFFF"/>
                    </a:solidFill>
                  </a:tcPr>
                </a:tc>
                <a:tc>
                  <a:txBody>
                    <a:bodyPr/>
                    <a:lstStyle/>
                    <a:p>
                      <a:r>
                        <a:rPr sz="1150" b="0">
                          <a:solidFill>
                            <a:srgbClr val="222A3F"/>
                          </a:solidFill>
                          <a:latin typeface="Cambria"/>
                        </a:rPr>
                        <a:t>Measured</a:t>
                      </a:r>
                    </a:p>
                  </a:txBody>
                  <a:tcPr marL="73152" marR="73152" marT="27432" marB="27432">
                    <a:solidFill>
                      <a:srgbClr val="FFFFFF"/>
                    </a:solidFill>
                  </a:tcPr>
                </a:tc>
              </a:tr>
              <a:tr h="384048">
                <a:tc>
                  <a:txBody>
                    <a:bodyPr/>
                    <a:lstStyle/>
                    <a:p>
                      <a:r>
                        <a:rPr sz="1150" b="0">
                          <a:solidFill>
                            <a:srgbClr val="222A3F"/>
                          </a:solidFill>
                          <a:latin typeface="Cambria"/>
                        </a:rPr>
                        <a:t>Bad read becomes factory defaults</a:t>
                      </a:r>
                    </a:p>
                  </a:txBody>
                  <a:tcPr marL="73152" marR="73152" marT="27432" marB="27432">
                    <a:solidFill>
                      <a:srgbClr val="F2F5FA"/>
                    </a:solidFill>
                  </a:tcPr>
                </a:tc>
                <a:tc>
                  <a:txBody>
                    <a:bodyPr/>
                    <a:lstStyle/>
                    <a:p>
                      <a:r>
                        <a:rPr sz="1150" b="0">
                          <a:solidFill>
                            <a:srgbClr val="222A3F"/>
                          </a:solidFill>
                          <a:latin typeface="Cambria"/>
                        </a:rPr>
                        <a:t>NodeDB.cpp; the losses themselves</a:t>
                      </a:r>
                    </a:p>
                  </a:txBody>
                  <a:tcPr marL="73152" marR="73152" marT="27432" marB="27432">
                    <a:solidFill>
                      <a:srgbClr val="F2F5FA"/>
                    </a:solidFill>
                  </a:tcPr>
                </a:tc>
                <a:tc>
                  <a:txBody>
                    <a:bodyPr/>
                    <a:lstStyle/>
                    <a:p>
                      <a:r>
                        <a:rPr sz="1150" b="0">
                          <a:solidFill>
                            <a:srgbClr val="222A3F"/>
                          </a:solidFill>
                          <a:latin typeface="Cambria"/>
                        </a:rPr>
                        <a:t>Verified in source</a:t>
                      </a:r>
                    </a:p>
                  </a:txBody>
                  <a:tcPr marL="73152" marR="73152" marT="27432" marB="27432">
                    <a:solidFill>
                      <a:srgbClr val="F2F5FA"/>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19/21  REV E  2026-11-04</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THE FIX: PLAN AND PROOF</a:t>
            </a:r>
          </a:p>
        </p:txBody>
      </p:sp>
      <p:sp>
        <p:nvSpPr>
          <p:cNvPr id="10" name="TextBox 9"/>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Ranked by leverage</a:t>
            </a:r>
          </a:p>
        </p:txBody>
      </p:sp>
      <p:graphicFrame>
        <p:nvGraphicFramePr>
          <p:cNvPr id="11" name="Table 10"/>
          <p:cNvGraphicFramePr>
            <a:graphicFrameLocks noGrp="1"/>
          </p:cNvGraphicFramePr>
          <p:nvPr/>
        </p:nvGraphicFramePr>
        <p:xfrm>
          <a:off x="502920" y="1234440"/>
          <a:ext cx="11155680" cy="2852928"/>
        </p:xfrm>
        <a:graphic>
          <a:graphicData uri="http://schemas.openxmlformats.org/drawingml/2006/table">
            <a:tbl>
              <a:tblPr firstRow="1" bandRow="1">
                <a:tableStyleId>{5C22544A-7EE6-4342-B048-85BDC9FD1C3A}</a:tableStyleId>
              </a:tblPr>
              <a:tblGrid>
                <a:gridCol w="365760"/>
                <a:gridCol w="4572000"/>
                <a:gridCol w="3200400"/>
                <a:gridCol w="3017520"/>
              </a:tblGrid>
              <a:tr h="475488">
                <a:tc>
                  <a:txBody>
                    <a:bodyPr/>
                    <a:lstStyle/>
                    <a:p>
                      <a:r>
                        <a:rPr sz="1150" b="1">
                          <a:solidFill>
                            <a:srgbClr val="FFFFFF"/>
                          </a:solidFill>
                          <a:latin typeface="Cambria"/>
                        </a:rPr>
                        <a:t>#</a:t>
                      </a:r>
                    </a:p>
                  </a:txBody>
                  <a:tcPr marL="73152" marR="73152" marT="27432" marB="27432">
                    <a:solidFill>
                      <a:srgbClr val="16213D"/>
                    </a:solidFill>
                  </a:tcPr>
                </a:tc>
                <a:tc>
                  <a:txBody>
                    <a:bodyPr/>
                    <a:lstStyle/>
                    <a:p>
                      <a:r>
                        <a:rPr sz="1150" b="1">
                          <a:solidFill>
                            <a:srgbClr val="FFFFFF"/>
                          </a:solidFill>
                          <a:latin typeface="Cambria"/>
                        </a:rPr>
                        <a:t>Fix</a:t>
                      </a:r>
                    </a:p>
                  </a:txBody>
                  <a:tcPr marL="73152" marR="73152" marT="27432" marB="27432">
                    <a:solidFill>
                      <a:srgbClr val="16213D"/>
                    </a:solidFill>
                  </a:tcPr>
                </a:tc>
                <a:tc>
                  <a:txBody>
                    <a:bodyPr/>
                    <a:lstStyle/>
                    <a:p>
                      <a:r>
                        <a:rPr sz="1150" b="1">
                          <a:solidFill>
                            <a:srgbClr val="FFFFFF"/>
                          </a:solidFill>
                          <a:latin typeface="Cambria"/>
                        </a:rPr>
                        <a:t>Effect</a:t>
                      </a:r>
                    </a:p>
                  </a:txBody>
                  <a:tcPr marL="73152" marR="73152" marT="27432" marB="27432">
                    <a:solidFill>
                      <a:srgbClr val="16213D"/>
                    </a:solidFill>
                  </a:tcPr>
                </a:tc>
                <a:tc>
                  <a:txBody>
                    <a:bodyPr/>
                    <a:lstStyle/>
                    <a:p>
                      <a:r>
                        <a:rPr sz="1150" b="1">
                          <a:solidFill>
                            <a:srgbClr val="FFFFFF"/>
                          </a:solidFill>
                          <a:latin typeface="Cambria"/>
                        </a:rPr>
                        <a:t>Status</a:t>
                      </a:r>
                    </a:p>
                  </a:txBody>
                  <a:tcPr marL="73152" marR="73152" marT="27432" marB="27432">
                    <a:solidFill>
                      <a:srgbClr val="16213D"/>
                    </a:solidFill>
                  </a:tcPr>
                </a:tc>
              </a:tr>
              <a:tr h="475488">
                <a:tc>
                  <a:txBody>
                    <a:bodyPr/>
                    <a:lstStyle/>
                    <a:p>
                      <a:r>
                        <a:rPr sz="1150" b="0">
                          <a:solidFill>
                            <a:srgbClr val="222A3F"/>
                          </a:solidFill>
                          <a:latin typeface="Cambria"/>
                        </a:rPr>
                        <a:t>1</a:t>
                      </a:r>
                    </a:p>
                  </a:txBody>
                  <a:tcPr marL="73152" marR="73152" marT="27432" marB="27432">
                    <a:solidFill>
                      <a:srgbClr val="F2F5FA"/>
                    </a:solidFill>
                  </a:tcPr>
                </a:tc>
                <a:tc>
                  <a:txBody>
                    <a:bodyPr/>
                    <a:lstStyle/>
                    <a:p>
                      <a:r>
                        <a:rPr sz="1150" b="0">
                          <a:solidFill>
                            <a:srgbClr val="222A3F"/>
                          </a:solidFill>
                          <a:latin typeface="Cambria"/>
                        </a:rPr>
                        <a:t>Our configuration compiled in as the factory defaults</a:t>
                      </a:r>
                    </a:p>
                  </a:txBody>
                  <a:tcPr marL="73152" marR="73152" marT="27432" marB="27432">
                    <a:solidFill>
                      <a:srgbClr val="F2F5FA"/>
                    </a:solidFill>
                  </a:tcPr>
                </a:tc>
                <a:tc>
                  <a:txBody>
                    <a:bodyPr/>
                    <a:lstStyle/>
                    <a:p>
                      <a:r>
                        <a:rPr sz="1150" b="0">
                          <a:solidFill>
                            <a:srgbClr val="222A3F"/>
                          </a:solidFill>
                          <a:latin typeface="Cambria"/>
                        </a:rPr>
                        <a:t>A revert restores OUR settings</a:t>
                      </a:r>
                    </a:p>
                  </a:txBody>
                  <a:tcPr marL="73152" marR="73152" marT="27432" marB="27432">
                    <a:solidFill>
                      <a:srgbClr val="F2F5FA"/>
                    </a:solidFill>
                  </a:tcPr>
                </a:tc>
                <a:tc>
                  <a:txBody>
                    <a:bodyPr/>
                    <a:lstStyle/>
                    <a:p>
                      <a:r>
                        <a:rPr sz="1150" b="0">
                          <a:solidFill>
                            <a:srgbClr val="222A3F"/>
                          </a:solidFill>
                          <a:latin typeface="Cambria"/>
                        </a:rPr>
                        <a:t>Both radios, Oct 28; SF clean after 2 days flat</a:t>
                      </a:r>
                    </a:p>
                  </a:txBody>
                  <a:tcPr marL="73152" marR="73152" marT="27432" marB="27432">
                    <a:solidFill>
                      <a:srgbClr val="F2F5FA"/>
                    </a:solidFill>
                  </a:tcPr>
                </a:tc>
              </a:tr>
              <a:tr h="475488">
                <a:tc>
                  <a:txBody>
                    <a:bodyPr/>
                    <a:lstStyle/>
                    <a:p>
                      <a:r>
                        <a:rPr sz="1150" b="0">
                          <a:solidFill>
                            <a:srgbClr val="222A3F"/>
                          </a:solidFill>
                          <a:latin typeface="Cambria"/>
                        </a:rPr>
                        <a:t>2</a:t>
                      </a:r>
                    </a:p>
                  </a:txBody>
                  <a:tcPr marL="73152" marR="73152" marT="27432" marB="27432">
                    <a:solidFill>
                      <a:srgbClr val="FFFFFF"/>
                    </a:solidFill>
                  </a:tcPr>
                </a:tc>
                <a:tc>
                  <a:txBody>
                    <a:bodyPr/>
                    <a:lstStyle/>
                    <a:p>
                      <a:r>
                        <a:rPr sz="1150" b="0">
                          <a:solidFill>
                            <a:srgbClr val="222A3F"/>
                          </a:solidFill>
                          <a:latin typeface="Cambria"/>
                        </a:rPr>
                        <a:t>Power gate: no saves below 3.5 V on battery; no boot-time write</a:t>
                      </a:r>
                    </a:p>
                  </a:txBody>
                  <a:tcPr marL="73152" marR="73152" marT="27432" marB="27432">
                    <a:solidFill>
                      <a:srgbClr val="FFFFFF"/>
                    </a:solidFill>
                  </a:tcPr>
                </a:tc>
                <a:tc>
                  <a:txBody>
                    <a:bodyPr/>
                    <a:lstStyle/>
                    <a:p>
                      <a:r>
                        <a:rPr sz="1150" b="0">
                          <a:solidFill>
                            <a:srgbClr val="222A3F"/>
                          </a:solidFill>
                          <a:latin typeface="Cambria"/>
                        </a:rPr>
                        <a:t>Removes the dangerous write</a:t>
                      </a:r>
                    </a:p>
                  </a:txBody>
                  <a:tcPr marL="73152" marR="73152" marT="27432" marB="27432">
                    <a:solidFill>
                      <a:srgbClr val="FFFFFF"/>
                    </a:solidFill>
                  </a:tcPr>
                </a:tc>
                <a:tc>
                  <a:txBody>
                    <a:bodyPr/>
                    <a:lstStyle/>
                    <a:p>
                      <a:r>
                        <a:rPr sz="1150" b="0">
                          <a:solidFill>
                            <a:srgbClr val="222A3F"/>
                          </a:solidFill>
                          <a:latin typeface="Cambria"/>
                        </a:rPr>
                        <a:t>Next; to offer upstream</a:t>
                      </a:r>
                    </a:p>
                  </a:txBody>
                  <a:tcPr marL="73152" marR="73152" marT="27432" marB="27432">
                    <a:solidFill>
                      <a:srgbClr val="FFFFFF"/>
                    </a:solidFill>
                  </a:tcPr>
                </a:tc>
              </a:tr>
              <a:tr h="475488">
                <a:tc>
                  <a:txBody>
                    <a:bodyPr/>
                    <a:lstStyle/>
                    <a:p>
                      <a:r>
                        <a:rPr sz="1150" b="0">
                          <a:solidFill>
                            <a:srgbClr val="222A3F"/>
                          </a:solidFill>
                          <a:latin typeface="Cambria"/>
                        </a:rPr>
                        <a:t>3</a:t>
                      </a:r>
                    </a:p>
                  </a:txBody>
                  <a:tcPr marL="73152" marR="73152" marT="27432" marB="27432">
                    <a:solidFill>
                      <a:srgbClr val="F2F5FA"/>
                    </a:solidFill>
                  </a:tcPr>
                </a:tc>
                <a:tc>
                  <a:txBody>
                    <a:bodyPr/>
                    <a:lstStyle/>
                    <a:p>
                      <a:r>
                        <a:rPr sz="1150" b="0">
                          <a:solidFill>
                            <a:srgbClr val="222A3F"/>
                          </a:solidFill>
                          <a:latin typeface="Cambria"/>
                        </a:rPr>
                        <a:t>Clean erase of a scarred settings area</a:t>
                      </a:r>
                    </a:p>
                  </a:txBody>
                  <a:tcPr marL="73152" marR="73152" marT="27432" marB="27432">
                    <a:solidFill>
                      <a:srgbClr val="F2F5FA"/>
                    </a:solidFill>
                  </a:tcPr>
                </a:tc>
                <a:tc>
                  <a:txBody>
                    <a:bodyPr/>
                    <a:lstStyle/>
                    <a:p>
                      <a:r>
                        <a:rPr sz="1150" b="0">
                          <a:solidFill>
                            <a:srgbClr val="222A3F"/>
                          </a:solidFill>
                          <a:latin typeface="Cambria"/>
                        </a:rPr>
                        <a:t>Removes residue</a:t>
                      </a:r>
                    </a:p>
                  </a:txBody>
                  <a:tcPr marL="73152" marR="73152" marT="27432" marB="27432">
                    <a:solidFill>
                      <a:srgbClr val="F2F5FA"/>
                    </a:solidFill>
                  </a:tcPr>
                </a:tc>
                <a:tc>
                  <a:txBody>
                    <a:bodyPr/>
                    <a:lstStyle/>
                    <a:p>
                      <a:r>
                        <a:rPr sz="1150" b="0">
                          <a:solidFill>
                            <a:srgbClr val="222A3F"/>
                          </a:solidFill>
                          <a:latin typeface="Cambria"/>
                        </a:rPr>
                        <a:t>Done on SF; RG clean</a:t>
                      </a:r>
                    </a:p>
                  </a:txBody>
                  <a:tcPr marL="73152" marR="73152" marT="27432" marB="27432">
                    <a:solidFill>
                      <a:srgbClr val="F2F5FA"/>
                    </a:solidFill>
                  </a:tcPr>
                </a:tc>
              </a:tr>
              <a:tr h="475488">
                <a:tc>
                  <a:txBody>
                    <a:bodyPr/>
                    <a:lstStyle/>
                    <a:p>
                      <a:r>
                        <a:rPr sz="1150" b="0">
                          <a:solidFill>
                            <a:srgbClr val="222A3F"/>
                          </a:solidFill>
                          <a:latin typeface="Cambria"/>
                        </a:rPr>
                        <a:t>4</a:t>
                      </a:r>
                    </a:p>
                  </a:txBody>
                  <a:tcPr marL="73152" marR="73152" marT="27432" marB="27432">
                    <a:solidFill>
                      <a:srgbClr val="FFFFFF"/>
                    </a:solidFill>
                  </a:tcPr>
                </a:tc>
                <a:tc>
                  <a:txBody>
                    <a:bodyPr/>
                    <a:lstStyle/>
                    <a:p>
                      <a:r>
                        <a:rPr sz="1150" b="0">
                          <a:solidFill>
                            <a:srgbClr val="222A3F"/>
                          </a:solidFill>
                          <a:latin typeface="Cambria"/>
                        </a:rPr>
                        <a:t>Raise the brownout reset to 2.67 or 2.84 V</a:t>
                      </a:r>
                    </a:p>
                  </a:txBody>
                  <a:tcPr marL="73152" marR="73152" marT="27432" marB="27432">
                    <a:solidFill>
                      <a:srgbClr val="FFFFFF"/>
                    </a:solidFill>
                  </a:tcPr>
                </a:tc>
                <a:tc>
                  <a:txBody>
                    <a:bodyPr/>
                    <a:lstStyle/>
                    <a:p>
                      <a:r>
                        <a:rPr sz="1150" b="0">
                          <a:solidFill>
                            <a:srgbClr val="222A3F"/>
                          </a:solidFill>
                          <a:latin typeface="Cambria"/>
                        </a:rPr>
                        <a:t>CPU resets before the flash leaves spec</a:t>
                      </a:r>
                    </a:p>
                  </a:txBody>
                  <a:tcPr marL="73152" marR="73152" marT="27432" marB="27432">
                    <a:solidFill>
                      <a:srgbClr val="FFFFFF"/>
                    </a:solidFill>
                  </a:tcPr>
                </a:tc>
                <a:tc>
                  <a:txBody>
                    <a:bodyPr/>
                    <a:lstStyle/>
                    <a:p>
                      <a:r>
                        <a:rPr sz="1150" b="0">
                          <a:solidFill>
                            <a:srgbClr val="222A3F"/>
                          </a:solidFill>
                          <a:latin typeface="Cambria"/>
                        </a:rPr>
                        <a:t>Planned</a:t>
                      </a:r>
                    </a:p>
                  </a:txBody>
                  <a:tcPr marL="73152" marR="73152" marT="27432" marB="27432">
                    <a:solidFill>
                      <a:srgbClr val="FFFFFF"/>
                    </a:solidFill>
                  </a:tcPr>
                </a:tc>
              </a:tr>
              <a:tr h="475488">
                <a:tc>
                  <a:txBody>
                    <a:bodyPr/>
                    <a:lstStyle/>
                    <a:p>
                      <a:r>
                        <a:rPr sz="1150" b="0">
                          <a:solidFill>
                            <a:srgbClr val="222A3F"/>
                          </a:solidFill>
                          <a:latin typeface="Cambria"/>
                        </a:rPr>
                        <a:t>5</a:t>
                      </a:r>
                    </a:p>
                  </a:txBody>
                  <a:tcPr marL="73152" marR="73152" marT="27432" marB="27432">
                    <a:solidFill>
                      <a:srgbClr val="F2F5FA"/>
                    </a:solidFill>
                  </a:tcPr>
                </a:tc>
                <a:tc>
                  <a:txBody>
                    <a:bodyPr/>
                    <a:lstStyle/>
                    <a:p>
                      <a:r>
                        <a:rPr sz="1150" b="0">
                          <a:solidFill>
                            <a:srgbClr val="222A3F"/>
                          </a:solidFill>
                          <a:latin typeface="Cambria"/>
                        </a:rPr>
                        <a:t>Never store flat; OLED pre-flight; snapshots; phone QR</a:t>
                      </a:r>
                    </a:p>
                  </a:txBody>
                  <a:tcPr marL="73152" marR="73152" marT="27432" marB="27432">
                    <a:solidFill>
                      <a:srgbClr val="F2F5FA"/>
                    </a:solidFill>
                  </a:tcPr>
                </a:tc>
                <a:tc>
                  <a:txBody>
                    <a:bodyPr/>
                    <a:lstStyle/>
                    <a:p>
                      <a:r>
                        <a:rPr sz="1150" b="0">
                          <a:solidFill>
                            <a:srgbClr val="222A3F"/>
                          </a:solidFill>
                          <a:latin typeface="Cambria"/>
                        </a:rPr>
                        <a:t>Detect in 2 s, recover in 90 s</a:t>
                      </a:r>
                    </a:p>
                  </a:txBody>
                  <a:tcPr marL="73152" marR="73152" marT="27432" marB="27432">
                    <a:solidFill>
                      <a:srgbClr val="F2F5FA"/>
                    </a:solidFill>
                  </a:tcPr>
                </a:tc>
                <a:tc>
                  <a:txBody>
                    <a:bodyPr/>
                    <a:lstStyle/>
                    <a:p>
                      <a:r>
                        <a:rPr sz="1150" b="0">
                          <a:solidFill>
                            <a:srgbClr val="222A3F"/>
                          </a:solidFill>
                          <a:latin typeface="Cambria"/>
                        </a:rPr>
                        <a:t>In force</a:t>
                      </a:r>
                    </a:p>
                  </a:txBody>
                  <a:tcPr marL="73152" marR="73152" marT="27432" marB="27432">
                    <a:solidFill>
                      <a:srgbClr val="F2F5FA"/>
                    </a:solidFill>
                  </a:tcPr>
                </a:tc>
              </a:tr>
            </a:tbl>
          </a:graphicData>
        </a:graphic>
      </p:graphicFrame>
      <p:sp>
        <p:nvSpPr>
          <p:cNvPr id="12" name="Rectangle 11"/>
          <p:cNvSpPr/>
          <p:nvPr/>
        </p:nvSpPr>
        <p:spPr>
          <a:xfrm>
            <a:off x="502920" y="4206240"/>
            <a:ext cx="5486400" cy="1828800"/>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 y="4325112"/>
            <a:ext cx="5157216" cy="1591056"/>
          </a:xfrm>
          <a:prstGeom prst="rect">
            <a:avLst/>
          </a:prstGeom>
          <a:noFill/>
        </p:spPr>
        <p:txBody>
          <a:bodyPr wrap="square" lIns="0" rIns="0" tIns="0" bIns="0">
            <a:spAutoFit/>
          </a:bodyPr>
          <a:lstStyle/>
          <a:p>
            <a:r>
              <a:rPr sz="1300" b="1" spc="100">
                <a:solidFill>
                  <a:srgbClr val="1F9D68"/>
                </a:solidFill>
                <a:latin typeface="Cambria"/>
              </a:rPr>
              <a:t>FIX 1 IN PLAIN WORDS</a:t>
            </a:r>
          </a:p>
          <a:p>
            <a:pPr>
              <a:spcBef>
                <a:spcPts val="500"/>
              </a:spcBef>
            </a:pPr>
            <a:r>
              <a:rPr sz="1250">
                <a:solidFill>
                  <a:srgbClr val="222A3F"/>
                </a:solidFill>
                <a:latin typeface="Cambria"/>
              </a:rPr>
              <a:t>The radio's factory settings are now OUR settings: Group9 at 912.875, No PIN, SF or RG. When the firmware falls back to defaults, the defaults are right.</a:t>
            </a:r>
          </a:p>
        </p:txBody>
      </p:sp>
      <p:sp>
        <p:nvSpPr>
          <p:cNvPr id="14" name="Rectangle 13"/>
          <p:cNvSpPr/>
          <p:nvPr/>
        </p:nvSpPr>
        <p:spPr>
          <a:xfrm>
            <a:off x="6172200" y="4206240"/>
            <a:ext cx="5532120" cy="182880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36792" y="4325112"/>
            <a:ext cx="5202936" cy="1591056"/>
          </a:xfrm>
          <a:prstGeom prst="rect">
            <a:avLst/>
          </a:prstGeom>
          <a:noFill/>
        </p:spPr>
        <p:txBody>
          <a:bodyPr wrap="square" lIns="0" rIns="0" tIns="0" bIns="0">
            <a:spAutoFit/>
          </a:bodyPr>
          <a:lstStyle/>
          <a:p>
            <a:r>
              <a:rPr sz="1300" b="1" spc="100">
                <a:solidFill>
                  <a:srgbClr val="16213D"/>
                </a:solidFill>
                <a:latin typeface="Cambria"/>
              </a:rPr>
              <a:t>PROVEN</a:t>
            </a:r>
          </a:p>
          <a:p>
            <a:pPr>
              <a:spcBef>
                <a:spcPts val="500"/>
              </a:spcBef>
            </a:pPr>
            <a:r>
              <a:rPr sz="1250">
                <a:solidFill>
                  <a:srgbClr val="222A3F"/>
                </a:solidFill>
                <a:latin typeface="Cambria"/>
              </a:rPr>
              <a:t>•  Factory reset on each radio: came back fully configured, nobody touching it</a:t>
            </a:r>
          </a:p>
          <a:p>
            <a:pPr>
              <a:spcBef>
                <a:spcPts val="500"/>
              </a:spcBef>
            </a:pPr>
            <a:r>
              <a:rPr sz="1250">
                <a:solidFill>
                  <a:srgbClr val="222A3F"/>
                </a:solidFill>
                <a:latin typeface="Cambria"/>
              </a:rPr>
              <a:t>•  Next: five running-flat cycles per radio; scope on the 3V3 rail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20/21  REV E  2026-11-04</a:t>
            </a:r>
          </a:p>
        </p:txBody>
      </p:sp>
      <p:sp>
        <p:nvSpPr>
          <p:cNvPr id="7" name="Rectangle 6"/>
          <p:cNvSpPr/>
          <p:nvPr/>
        </p:nvSpPr>
        <p:spPr>
          <a:xfrm>
            <a:off x="9646920" y="347472"/>
            <a:ext cx="2148840" cy="420624"/>
          </a:xfrm>
          <a:prstGeom prst="rect">
            <a:avLst/>
          </a:prstGeom>
          <a:solidFill>
            <a:srgbClr val="FFFFFF"/>
          </a:solidFill>
          <a:ln w="19050">
            <a:solidFill>
              <a:srgbClr val="D948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D9488C"/>
                </a:solidFill>
                <a:latin typeface="Courier New"/>
              </a:rPr>
              <a:t>OWNER: CANNON</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REFERENCES, RECORDS AND ATTRIBUTION</a:t>
            </a:r>
          </a:p>
        </p:txBody>
      </p:sp>
      <p:graphicFrame>
        <p:nvGraphicFramePr>
          <p:cNvPr id="10" name="Table 9"/>
          <p:cNvGraphicFramePr>
            <a:graphicFrameLocks noGrp="1"/>
          </p:cNvGraphicFramePr>
          <p:nvPr/>
        </p:nvGraphicFramePr>
        <p:xfrm>
          <a:off x="502920" y="1234440"/>
          <a:ext cx="7223760" cy="4389120"/>
        </p:xfrm>
        <a:graphic>
          <a:graphicData uri="http://schemas.openxmlformats.org/drawingml/2006/table">
            <a:tbl>
              <a:tblPr firstRow="1" bandRow="1">
                <a:tableStyleId>{5C22544A-7EE6-4342-B048-85BDC9FD1C3A}</a:tableStyleId>
              </a:tblPr>
              <a:tblGrid>
                <a:gridCol w="4937760"/>
                <a:gridCol w="2286000"/>
              </a:tblGrid>
              <a:tr h="548640">
                <a:tc>
                  <a:txBody>
                    <a:bodyPr/>
                    <a:lstStyle/>
                    <a:p>
                      <a:r>
                        <a:rPr sz="1000" b="1">
                          <a:solidFill>
                            <a:srgbClr val="FFFFFF"/>
                          </a:solidFill>
                          <a:latin typeface="Cambria"/>
                        </a:rPr>
                        <a:t>Source</a:t>
                      </a:r>
                    </a:p>
                  </a:txBody>
                  <a:tcPr marL="73152" marR="73152" marT="27432" marB="27432">
                    <a:solidFill>
                      <a:srgbClr val="16213D"/>
                    </a:solidFill>
                  </a:tcPr>
                </a:tc>
                <a:tc>
                  <a:txBody>
                    <a:bodyPr/>
                    <a:lstStyle/>
                    <a:p>
                      <a:r>
                        <a:rPr sz="1000" b="1">
                          <a:solidFill>
                            <a:srgbClr val="FFFFFF"/>
                          </a:solidFill>
                          <a:latin typeface="Cambria"/>
                        </a:rPr>
                        <a:t>Used for</a:t>
                      </a:r>
                    </a:p>
                  </a:txBody>
                  <a:tcPr marL="73152" marR="73152" marT="27432" marB="27432">
                    <a:solidFill>
                      <a:srgbClr val="16213D"/>
                    </a:solidFill>
                  </a:tcPr>
                </a:tc>
              </a:tr>
              <a:tr h="548640">
                <a:tc>
                  <a:txBody>
                    <a:bodyPr/>
                    <a:lstStyle/>
                    <a:p>
                      <a:r>
                        <a:rPr sz="1000" b="0">
                          <a:solidFill>
                            <a:srgbClr val="222A3F"/>
                          </a:solidFill>
                          <a:latin typeface="Cambria"/>
                        </a:rPr>
                        <a:t>Heltec WiFi LoRa 32 V4 datasheet V4.2.0  (resource.heltec.cn/download/WiFi_LoRa_32_V4/datasheet/WiFi_LoRa_32_V4.2.0.pdf)</a:t>
                      </a:r>
                    </a:p>
                  </a:txBody>
                  <a:tcPr marL="73152" marR="73152" marT="27432" marB="27432">
                    <a:solidFill>
                      <a:srgbClr val="F2F5FA"/>
                    </a:solidFill>
                  </a:tcPr>
                </a:tc>
                <a:tc>
                  <a:txBody>
                    <a:bodyPr/>
                    <a:lstStyle/>
                    <a:p>
                      <a:r>
                        <a:rPr sz="1000" b="0">
                          <a:solidFill>
                            <a:srgbClr val="222A3F"/>
                          </a:solidFill>
                          <a:latin typeface="Cambria"/>
                        </a:rPr>
                        <a:t>Rails, battery path, transmit current</a:t>
                      </a:r>
                    </a:p>
                  </a:txBody>
                  <a:tcPr marL="73152" marR="73152" marT="27432" marB="27432">
                    <a:solidFill>
                      <a:srgbClr val="F2F5FA"/>
                    </a:solidFill>
                  </a:tcPr>
                </a:tc>
              </a:tr>
              <a:tr h="548640">
                <a:tc>
                  <a:txBody>
                    <a:bodyPr/>
                    <a:lstStyle/>
                    <a:p>
                      <a:r>
                        <a:rPr sz="1000" b="0">
                          <a:solidFill>
                            <a:srgbClr val="222A3F"/>
                          </a:solidFill>
                          <a:latin typeface="Cambria"/>
                        </a:rPr>
                        <a:t>Boya BY25Q128AS datasheet, the flash on the V4</a:t>
                      </a:r>
                    </a:p>
                  </a:txBody>
                  <a:tcPr marL="73152" marR="73152" marT="27432" marB="27432">
                    <a:solidFill>
                      <a:srgbClr val="FFFFFF"/>
                    </a:solidFill>
                  </a:tcPr>
                </a:tc>
                <a:tc>
                  <a:txBody>
                    <a:bodyPr/>
                    <a:lstStyle/>
                    <a:p>
                      <a:r>
                        <a:rPr sz="1000" b="0">
                          <a:solidFill>
                            <a:srgbClr val="222A3F"/>
                          </a:solidFill>
                          <a:latin typeface="Cambria"/>
                        </a:rPr>
                        <a:t>2.7 to 3.6 V, timing, endurance</a:t>
                      </a:r>
                    </a:p>
                  </a:txBody>
                  <a:tcPr marL="73152" marR="73152" marT="27432" marB="27432">
                    <a:solidFill>
                      <a:srgbClr val="FFFFFF"/>
                    </a:solidFill>
                  </a:tcPr>
                </a:tc>
              </a:tr>
              <a:tr h="548640">
                <a:tc>
                  <a:txBody>
                    <a:bodyPr/>
                    <a:lstStyle/>
                    <a:p>
                      <a:r>
                        <a:rPr sz="1000" b="0">
                          <a:solidFill>
                            <a:srgbClr val="222A3F"/>
                          </a:solidFill>
                          <a:latin typeface="Cambria"/>
                        </a:rPr>
                        <a:t>ESP-IDF Kconfig; Arduino-ESP32 sdkconfig</a:t>
                      </a:r>
                    </a:p>
                  </a:txBody>
                  <a:tcPr marL="73152" marR="73152" marT="27432" marB="27432">
                    <a:solidFill>
                      <a:srgbClr val="F2F5FA"/>
                    </a:solidFill>
                  </a:tcPr>
                </a:tc>
                <a:tc>
                  <a:txBody>
                    <a:bodyPr/>
                    <a:lstStyle/>
                    <a:p>
                      <a:r>
                        <a:rPr sz="1000" b="0">
                          <a:solidFill>
                            <a:srgbClr val="222A3F"/>
                          </a:solidFill>
                          <a:latin typeface="Cambria"/>
                        </a:rPr>
                        <a:t>Brownout level 7 = 2.44 V</a:t>
                      </a:r>
                    </a:p>
                  </a:txBody>
                  <a:tcPr marL="73152" marR="73152" marT="27432" marB="27432">
                    <a:solidFill>
                      <a:srgbClr val="F2F5FA"/>
                    </a:solidFill>
                  </a:tcPr>
                </a:tc>
              </a:tr>
              <a:tr h="548640">
                <a:tc>
                  <a:txBody>
                    <a:bodyPr/>
                    <a:lstStyle/>
                    <a:p>
                      <a:r>
                        <a:rPr sz="1000" b="0">
                          <a:solidFill>
                            <a:srgbClr val="222A3F"/>
                          </a:solidFill>
                          <a:latin typeface="Cambria"/>
                        </a:rPr>
                        <a:t>meshtastic/firmware v2.7.26: NodeDB, SafeFile, PowerHAL, PowerFSM, sleep</a:t>
                      </a:r>
                    </a:p>
                  </a:txBody>
                  <a:tcPr marL="73152" marR="73152" marT="27432" marB="27432">
                    <a:solidFill>
                      <a:srgbClr val="FFFFFF"/>
                    </a:solidFill>
                  </a:tcPr>
                </a:tc>
                <a:tc>
                  <a:txBody>
                    <a:bodyPr/>
                    <a:lstStyle/>
                    <a:p>
                      <a:r>
                        <a:rPr sz="1000" b="0">
                          <a:solidFill>
                            <a:srgbClr val="222A3F"/>
                          </a:solidFill>
                          <a:latin typeface="Cambria"/>
                        </a:rPr>
                        <a:t>Save and load behaviour</a:t>
                      </a:r>
                    </a:p>
                  </a:txBody>
                  <a:tcPr marL="73152" marR="73152" marT="27432" marB="27432">
                    <a:solidFill>
                      <a:srgbClr val="FFFFFF"/>
                    </a:solidFill>
                  </a:tcPr>
                </a:tc>
              </a:tr>
              <a:tr h="548640">
                <a:tc>
                  <a:txBody>
                    <a:bodyPr/>
                    <a:lstStyle/>
                    <a:p>
                      <a:r>
                        <a:rPr sz="1000" b="0">
                          <a:solidFill>
                            <a:srgbClr val="222A3F"/>
                          </a:solidFill>
                          <a:latin typeface="Cambria"/>
                        </a:rPr>
                        <a:t>github.com/meshtastic/firmware issues 4555, 4622, 2936, 3260, 5259; PR 11872</a:t>
                      </a:r>
                    </a:p>
                  </a:txBody>
                  <a:tcPr marL="73152" marR="73152" marT="27432" marB="27432">
                    <a:solidFill>
                      <a:srgbClr val="F2F5FA"/>
                    </a:solidFill>
                  </a:tcPr>
                </a:tc>
                <a:tc>
                  <a:txBody>
                    <a:bodyPr/>
                    <a:lstStyle/>
                    <a:p>
                      <a:r>
                        <a:rPr sz="1000" b="0">
                          <a:solidFill>
                            <a:srgbClr val="222A3F"/>
                          </a:solidFill>
                          <a:latin typeface="Cambria"/>
                        </a:rPr>
                        <a:t>Prior reports; the nRF52 fix</a:t>
                      </a:r>
                    </a:p>
                  </a:txBody>
                  <a:tcPr marL="73152" marR="73152" marT="27432" marB="27432">
                    <a:solidFill>
                      <a:srgbClr val="F2F5FA"/>
                    </a:solidFill>
                  </a:tcPr>
                </a:tc>
              </a:tr>
              <a:tr h="548640">
                <a:tc>
                  <a:txBody>
                    <a:bodyPr/>
                    <a:lstStyle/>
                    <a:p>
                      <a:r>
                        <a:rPr sz="1000" b="0">
                          <a:solidFill>
                            <a:srgbClr val="222A3F"/>
                          </a:solidFill>
                          <a:latin typeface="Cambria"/>
                        </a:rPr>
                        <a:t>esptool 4.11; python-pptx; matplotlib</a:t>
                      </a:r>
                    </a:p>
                  </a:txBody>
                  <a:tcPr marL="73152" marR="73152" marT="27432" marB="27432">
                    <a:solidFill>
                      <a:srgbClr val="FFFFFF"/>
                    </a:solidFill>
                  </a:tcPr>
                </a:tc>
                <a:tc>
                  <a:txBody>
                    <a:bodyPr/>
                    <a:lstStyle/>
                    <a:p>
                      <a:r>
                        <a:rPr sz="1000" b="0">
                          <a:solidFill>
                            <a:srgbClr val="222A3F"/>
                          </a:solidFill>
                          <a:latin typeface="Cambria"/>
                        </a:rPr>
                        <a:t>Reading flash; this deck</a:t>
                      </a:r>
                    </a:p>
                  </a:txBody>
                  <a:tcPr marL="73152" marR="73152" marT="27432" marB="27432">
                    <a:solidFill>
                      <a:srgbClr val="FFFFFF"/>
                    </a:solidFill>
                  </a:tcPr>
                </a:tc>
              </a:tr>
              <a:tr h="548640">
                <a:tc>
                  <a:txBody>
                    <a:bodyPr/>
                    <a:lstStyle/>
                    <a:p>
                      <a:r>
                        <a:rPr sz="1000" b="0">
                          <a:solidFill>
                            <a:srgbClr val="222A3F"/>
                          </a:solidFill>
                          <a:latin typeface="Cambria"/>
                        </a:rPr>
                        <a:t>This repository: docs/src/flash_forensics, docs/src/*.py, Manual 15-16, Guide 12</a:t>
                      </a:r>
                    </a:p>
                  </a:txBody>
                  <a:tcPr marL="73152" marR="73152" marT="27432" marB="27432">
                    <a:solidFill>
                      <a:srgbClr val="F2F5FA"/>
                    </a:solidFill>
                  </a:tcPr>
                </a:tc>
                <a:tc>
                  <a:txBody>
                    <a:bodyPr/>
                    <a:lstStyle/>
                    <a:p>
                      <a:r>
                        <a:rPr sz="1000" b="0">
                          <a:solidFill>
                            <a:srgbClr val="222A3F"/>
                          </a:solidFill>
                          <a:latin typeface="Cambria"/>
                        </a:rPr>
                        <a:t>Every number here, reproducible</a:t>
                      </a:r>
                    </a:p>
                  </a:txBody>
                  <a:tcPr marL="73152" marR="73152" marT="27432" marB="27432">
                    <a:solidFill>
                      <a:srgbClr val="F2F5FA"/>
                    </a:solidFill>
                  </a:tcPr>
                </a:tc>
              </a:tr>
            </a:tbl>
          </a:graphicData>
        </a:graphic>
      </p:graphicFrame>
      <p:sp>
        <p:nvSpPr>
          <p:cNvPr id="11" name="Rectangle 10"/>
          <p:cNvSpPr/>
          <p:nvPr/>
        </p:nvSpPr>
        <p:spPr>
          <a:xfrm>
            <a:off x="7909560" y="1234440"/>
            <a:ext cx="3794760" cy="438912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74152" y="1353312"/>
            <a:ext cx="3465576" cy="4151376"/>
          </a:xfrm>
          <a:prstGeom prst="rect">
            <a:avLst/>
          </a:prstGeom>
          <a:noFill/>
        </p:spPr>
        <p:txBody>
          <a:bodyPr wrap="square" lIns="0" rIns="0" tIns="0" bIns="0">
            <a:spAutoFit/>
          </a:bodyPr>
          <a:lstStyle/>
          <a:p>
            <a:r>
              <a:rPr sz="1300" b="1" spc="100">
                <a:solidFill>
                  <a:srgbClr val="16213D"/>
                </a:solidFill>
                <a:latin typeface="Cambria"/>
              </a:rPr>
              <a:t>HOW THIS WORK WAS DONE</a:t>
            </a:r>
          </a:p>
          <a:p>
            <a:pPr>
              <a:spcBef>
                <a:spcPts val="500"/>
              </a:spcBef>
            </a:pPr>
            <a:r>
              <a:rPr sz="1200">
                <a:solidFill>
                  <a:srgbClr val="222A3F"/>
                </a:solidFill>
                <a:latin typeface="Cambria"/>
              </a:rPr>
              <a:t>•  Hypothesis: a Qualcomm engineer, October 2026</a:t>
            </a:r>
          </a:p>
          <a:p>
            <a:pPr>
              <a:spcBef>
                <a:spcPts val="500"/>
              </a:spcBef>
            </a:pPr>
            <a:r>
              <a:rPr sz="1200">
                <a:solidFill>
                  <a:srgbClr val="222A3F"/>
                </a:solidFill>
                <a:latin typeface="Cambria"/>
              </a:rPr>
              <a:t>•  Experiment design, scripts and analysis: drafted with Claude (Anthropic) as an AI assistant</a:t>
            </a:r>
          </a:p>
          <a:p>
            <a:pPr>
              <a:spcBef>
                <a:spcPts val="500"/>
              </a:spcBef>
            </a:pPr>
            <a:r>
              <a:rPr sz="1200">
                <a:solidFill>
                  <a:srgbClr val="222A3F"/>
                </a:solidFill>
                <a:latin typeface="Cambria"/>
              </a:rPr>
              <a:t>•  Every measurement run, authorised and checked by the team on our radios</a:t>
            </a:r>
          </a:p>
          <a:p>
            <a:pPr>
              <a:spcBef>
                <a:spcPts val="500"/>
              </a:spcBef>
            </a:pPr>
            <a:r>
              <a:rPr sz="1200">
                <a:solidFill>
                  <a:srgbClr val="222A3F"/>
                </a:solidFill>
                <a:latin typeface="Cambria"/>
              </a:rPr>
              <a:t>•  Scripts and records in the repository: repeatable without the AI</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CLOSE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21/21  REV E  2026-11-04</a:t>
            </a:r>
          </a:p>
        </p:txBody>
      </p:sp>
      <p:sp>
        <p:nvSpPr>
          <p:cNvPr id="7" name="Rectangle 6"/>
          <p:cNvSpPr/>
          <p:nvPr/>
        </p:nvSpPr>
        <p:spPr>
          <a:xfrm>
            <a:off x="9646920" y="347472"/>
            <a:ext cx="2148840" cy="420624"/>
          </a:xfrm>
          <a:prstGeom prst="rect">
            <a:avLst/>
          </a:prstGeom>
          <a:solidFill>
            <a:srgbClr val="FFFFFF"/>
          </a:solidFill>
          <a:ln w="19050">
            <a:solidFill>
              <a:srgbClr val="6D4B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6D4BDB"/>
                </a:solidFill>
                <a:latin typeface="Courier New"/>
              </a:rPr>
              <a:t>OWNER: JOSIAH</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THE ANSWER, AND WHAT THE FAILURES BOUGHT</a:t>
            </a:r>
          </a:p>
        </p:txBody>
      </p:sp>
      <p:sp>
        <p:nvSpPr>
          <p:cNvPr id="10" name="Rectangle 9"/>
          <p:cNvSpPr/>
          <p:nvPr/>
        </p:nvSpPr>
        <p:spPr>
          <a:xfrm>
            <a:off x="502920" y="1325880"/>
            <a:ext cx="11155680" cy="132588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444752"/>
            <a:ext cx="10826496" cy="1088136"/>
          </a:xfrm>
          <a:prstGeom prst="rect">
            <a:avLst/>
          </a:prstGeom>
          <a:noFill/>
        </p:spPr>
        <p:txBody>
          <a:bodyPr wrap="square" lIns="0" rIns="0" tIns="0" bIns="0">
            <a:spAutoFit/>
          </a:bodyPr>
          <a:lstStyle/>
          <a:p>
            <a:r>
              <a:rPr sz="1500" b="1" spc="100">
                <a:solidFill>
                  <a:srgbClr val="16213D"/>
                </a:solidFill>
                <a:latin typeface="Cambria"/>
              </a:rPr>
              <a:t>IS IT THE MEMORY ITSELF?</a:t>
            </a:r>
          </a:p>
          <a:p>
            <a:pPr>
              <a:spcBef>
                <a:spcPts val="500"/>
              </a:spcBef>
            </a:pPr>
            <a:r>
              <a:rPr sz="1350">
                <a:solidFill>
                  <a:srgbClr val="222A3F"/>
                </a:solidFill>
                <a:latin typeface="Cambria"/>
              </a:rPr>
              <a:t>Measurably, on one radio, and not as the question implies: the chip is healthy, it was written at the wrong moment. The firmware never checks for that, and then punishes it with factory defaults.</a:t>
            </a:r>
          </a:p>
        </p:txBody>
      </p:sp>
      <p:sp>
        <p:nvSpPr>
          <p:cNvPr id="12" name="Rectangle 11"/>
          <p:cNvSpPr/>
          <p:nvPr/>
        </p:nvSpPr>
        <p:spPr>
          <a:xfrm>
            <a:off x="502920" y="2880360"/>
            <a:ext cx="3657600" cy="123444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2990088"/>
            <a:ext cx="3657600" cy="609600"/>
          </a:xfrm>
          <a:prstGeom prst="rect">
            <a:avLst/>
          </a:prstGeom>
          <a:noFill/>
        </p:spPr>
        <p:txBody>
          <a:bodyPr wrap="square" lIns="0" rIns="0" tIns="0" bIns="0">
            <a:spAutoFit/>
          </a:bodyPr>
          <a:lstStyle/>
          <a:p>
            <a:pPr algn="ctr"/>
            <a:r>
              <a:rPr sz="2400" b="1" i="0">
                <a:solidFill>
                  <a:srgbClr val="E58E1A"/>
                </a:solidFill>
                <a:latin typeface="Cambria"/>
              </a:rPr>
              <a:t>10</a:t>
            </a:r>
          </a:p>
        </p:txBody>
      </p:sp>
      <p:sp>
        <p:nvSpPr>
          <p:cNvPr id="14" name="TextBox 13"/>
          <p:cNvSpPr txBox="1"/>
          <p:nvPr/>
        </p:nvSpPr>
        <p:spPr>
          <a:xfrm>
            <a:off x="640080" y="3691128"/>
            <a:ext cx="3383280" cy="350520"/>
          </a:xfrm>
          <a:prstGeom prst="rect">
            <a:avLst/>
          </a:prstGeom>
          <a:noFill/>
        </p:spPr>
        <p:txBody>
          <a:bodyPr wrap="square" lIns="0" rIns="0" tIns="0" bIns="0">
            <a:spAutoFit/>
          </a:bodyPr>
          <a:lstStyle/>
          <a:p>
            <a:pPr algn="ctr"/>
            <a:r>
              <a:rPr sz="1100" b="0" i="0">
                <a:solidFill>
                  <a:srgbClr val="222A3F"/>
                </a:solidFill>
                <a:latin typeface="Cambria"/>
              </a:rPr>
              <a:t>root-caused failures, each with a signature and a recovery</a:t>
            </a:r>
          </a:p>
        </p:txBody>
      </p:sp>
      <p:sp>
        <p:nvSpPr>
          <p:cNvPr id="15" name="Rectangle 14"/>
          <p:cNvSpPr/>
          <p:nvPr/>
        </p:nvSpPr>
        <p:spPr>
          <a:xfrm>
            <a:off x="4251960" y="2880360"/>
            <a:ext cx="3657600" cy="123444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51960" y="2990088"/>
            <a:ext cx="3657600" cy="609600"/>
          </a:xfrm>
          <a:prstGeom prst="rect">
            <a:avLst/>
          </a:prstGeom>
          <a:noFill/>
        </p:spPr>
        <p:txBody>
          <a:bodyPr wrap="square" lIns="0" rIns="0" tIns="0" bIns="0">
            <a:spAutoFit/>
          </a:bodyPr>
          <a:lstStyle/>
          <a:p>
            <a:pPr algn="ctr"/>
            <a:r>
              <a:rPr sz="2400" b="1" i="0">
                <a:solidFill>
                  <a:srgbClr val="E58E1A"/>
                </a:solidFill>
                <a:latin typeface="Cambria"/>
              </a:rPr>
              <a:t>21 -&gt; 0</a:t>
            </a:r>
          </a:p>
        </p:txBody>
      </p:sp>
      <p:sp>
        <p:nvSpPr>
          <p:cNvPr id="17" name="TextBox 16"/>
          <p:cNvSpPr txBox="1"/>
          <p:nvPr/>
        </p:nvSpPr>
        <p:spPr>
          <a:xfrm>
            <a:off x="4389120" y="3691128"/>
            <a:ext cx="3383280" cy="350520"/>
          </a:xfrm>
          <a:prstGeom prst="rect">
            <a:avLst/>
          </a:prstGeom>
          <a:noFill/>
        </p:spPr>
        <p:txBody>
          <a:bodyPr wrap="square" lIns="0" rIns="0" tIns="0" bIns="0">
            <a:spAutoFit/>
          </a:bodyPr>
          <a:lstStyle/>
          <a:p>
            <a:pPr algn="ctr"/>
            <a:r>
              <a:rPr sz="1100" b="0" i="0">
                <a:solidFill>
                  <a:srgbClr val="222A3F"/>
                </a:solidFill>
                <a:latin typeface="Cambria"/>
              </a:rPr>
              <a:t>unstable flash sectors on SF; RG clean</a:t>
            </a:r>
          </a:p>
        </p:txBody>
      </p:sp>
      <p:sp>
        <p:nvSpPr>
          <p:cNvPr id="18" name="Rectangle 17"/>
          <p:cNvSpPr/>
          <p:nvPr/>
        </p:nvSpPr>
        <p:spPr>
          <a:xfrm>
            <a:off x="8001000" y="2880360"/>
            <a:ext cx="3657600" cy="123444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01000" y="2990088"/>
            <a:ext cx="3657600" cy="609600"/>
          </a:xfrm>
          <a:prstGeom prst="rect">
            <a:avLst/>
          </a:prstGeom>
          <a:noFill/>
        </p:spPr>
        <p:txBody>
          <a:bodyPr wrap="square" lIns="0" rIns="0" tIns="0" bIns="0">
            <a:spAutoFit/>
          </a:bodyPr>
          <a:lstStyle/>
          <a:p>
            <a:pPr algn="ctr"/>
            <a:r>
              <a:rPr sz="2400" b="1" i="0">
                <a:solidFill>
                  <a:srgbClr val="E58E1A"/>
                </a:solidFill>
                <a:latin typeface="Cambria"/>
              </a:rPr>
              <a:t>0</a:t>
            </a:r>
          </a:p>
        </p:txBody>
      </p:sp>
      <p:sp>
        <p:nvSpPr>
          <p:cNvPr id="20" name="TextBox 19"/>
          <p:cNvSpPr txBox="1"/>
          <p:nvPr/>
        </p:nvSpPr>
        <p:spPr>
          <a:xfrm>
            <a:off x="8138160" y="3691128"/>
            <a:ext cx="3383280" cy="350520"/>
          </a:xfrm>
          <a:prstGeom prst="rect">
            <a:avLst/>
          </a:prstGeom>
          <a:noFill/>
        </p:spPr>
        <p:txBody>
          <a:bodyPr wrap="square" lIns="0" rIns="0" tIns="0" bIns="0">
            <a:spAutoFit/>
          </a:bodyPr>
          <a:lstStyle/>
          <a:p>
            <a:pPr algn="ctr"/>
            <a:r>
              <a:rPr sz="1100" b="0" i="0">
                <a:solidFill>
                  <a:srgbClr val="222A3F"/>
                </a:solidFill>
                <a:latin typeface="Cambria"/>
              </a:rPr>
              <a:t>reflashes ever needed for a configuration failure</a:t>
            </a:r>
          </a:p>
        </p:txBody>
      </p:sp>
      <p:sp>
        <p:nvSpPr>
          <p:cNvPr id="21" name="Rectangle 20"/>
          <p:cNvSpPr/>
          <p:nvPr/>
        </p:nvSpPr>
        <p:spPr>
          <a:xfrm>
            <a:off x="502920" y="4251960"/>
            <a:ext cx="3657600" cy="123444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920" y="4361688"/>
            <a:ext cx="3657600" cy="609600"/>
          </a:xfrm>
          <a:prstGeom prst="rect">
            <a:avLst/>
          </a:prstGeom>
          <a:noFill/>
        </p:spPr>
        <p:txBody>
          <a:bodyPr wrap="square" lIns="0" rIns="0" tIns="0" bIns="0">
            <a:spAutoFit/>
          </a:bodyPr>
          <a:lstStyle/>
          <a:p>
            <a:pPr algn="ctr"/>
            <a:r>
              <a:rPr sz="2400" b="1" i="0">
                <a:solidFill>
                  <a:srgbClr val="E58E1A"/>
                </a:solidFill>
                <a:latin typeface="Cambria"/>
              </a:rPr>
              <a:t>90 s</a:t>
            </a:r>
          </a:p>
        </p:txBody>
      </p:sp>
      <p:sp>
        <p:nvSpPr>
          <p:cNvPr id="23" name="TextBox 22"/>
          <p:cNvSpPr txBox="1"/>
          <p:nvPr/>
        </p:nvSpPr>
        <p:spPr>
          <a:xfrm>
            <a:off x="640080" y="5062728"/>
            <a:ext cx="3383280" cy="350520"/>
          </a:xfrm>
          <a:prstGeom prst="rect">
            <a:avLst/>
          </a:prstGeom>
          <a:noFill/>
        </p:spPr>
        <p:txBody>
          <a:bodyPr wrap="square" lIns="0" rIns="0" tIns="0" bIns="0">
            <a:spAutoFit/>
          </a:bodyPr>
          <a:lstStyle/>
          <a:p>
            <a:pPr algn="ctr"/>
            <a:r>
              <a:rPr sz="1100" b="0" i="0">
                <a:solidFill>
                  <a:srgbClr val="222A3F"/>
                </a:solidFill>
                <a:latin typeface="Cambria"/>
              </a:rPr>
              <a:t>to recover a reverted radio; 2 s to detect one</a:t>
            </a:r>
          </a:p>
        </p:txBody>
      </p:sp>
      <p:sp>
        <p:nvSpPr>
          <p:cNvPr id="24" name="Rectangle 23"/>
          <p:cNvSpPr/>
          <p:nvPr/>
        </p:nvSpPr>
        <p:spPr>
          <a:xfrm>
            <a:off x="4251960" y="4251960"/>
            <a:ext cx="3657600" cy="123444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251960" y="4361688"/>
            <a:ext cx="3657600" cy="609600"/>
          </a:xfrm>
          <a:prstGeom prst="rect">
            <a:avLst/>
          </a:prstGeom>
          <a:noFill/>
        </p:spPr>
        <p:txBody>
          <a:bodyPr wrap="square" lIns="0" rIns="0" tIns="0" bIns="0">
            <a:spAutoFit/>
          </a:bodyPr>
          <a:lstStyle/>
          <a:p>
            <a:pPr algn="ctr"/>
            <a:r>
              <a:rPr sz="2400" b="1" i="0">
                <a:solidFill>
                  <a:srgbClr val="E58E1A"/>
                </a:solidFill>
                <a:latin typeface="Cambria"/>
              </a:rPr>
              <a:t>4.7 mi</a:t>
            </a:r>
          </a:p>
        </p:txBody>
      </p:sp>
      <p:sp>
        <p:nvSpPr>
          <p:cNvPr id="26" name="TextBox 25"/>
          <p:cNvSpPr txBox="1"/>
          <p:nvPr/>
        </p:nvSpPr>
        <p:spPr>
          <a:xfrm>
            <a:off x="4389120" y="5062728"/>
            <a:ext cx="3383280" cy="350520"/>
          </a:xfrm>
          <a:prstGeom prst="rect">
            <a:avLst/>
          </a:prstGeom>
          <a:noFill/>
        </p:spPr>
        <p:txBody>
          <a:bodyPr wrap="square" lIns="0" rIns="0" tIns="0" bIns="0">
            <a:spAutoFit/>
          </a:bodyPr>
          <a:lstStyle/>
          <a:p>
            <a:pPr algn="ctr"/>
            <a:r>
              <a:rPr sz="1100" b="0" i="0">
                <a:solidFill>
                  <a:srgbClr val="222A3F"/>
                </a:solidFill>
                <a:latin typeface="Cambria"/>
              </a:rPr>
              <a:t>measured reach; 0.5 to 4.7 mi by terrain</a:t>
            </a:r>
          </a:p>
        </p:txBody>
      </p:sp>
      <p:sp>
        <p:nvSpPr>
          <p:cNvPr id="27" name="Rectangle 26"/>
          <p:cNvSpPr/>
          <p:nvPr/>
        </p:nvSpPr>
        <p:spPr>
          <a:xfrm>
            <a:off x="8001000" y="4251960"/>
            <a:ext cx="3657600" cy="123444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01000" y="4361688"/>
            <a:ext cx="3657600" cy="609600"/>
          </a:xfrm>
          <a:prstGeom prst="rect">
            <a:avLst/>
          </a:prstGeom>
          <a:noFill/>
        </p:spPr>
        <p:txBody>
          <a:bodyPr wrap="square" lIns="0" rIns="0" tIns="0" bIns="0">
            <a:spAutoFit/>
          </a:bodyPr>
          <a:lstStyle/>
          <a:p>
            <a:pPr algn="ctr"/>
            <a:r>
              <a:rPr sz="2400" b="1" i="0">
                <a:solidFill>
                  <a:srgbClr val="E58E1A"/>
                </a:solidFill>
                <a:latin typeface="Cambria"/>
              </a:rPr>
              <a:t>1 build</a:t>
            </a:r>
          </a:p>
        </p:txBody>
      </p:sp>
      <p:sp>
        <p:nvSpPr>
          <p:cNvPr id="29" name="TextBox 28"/>
          <p:cNvSpPr txBox="1"/>
          <p:nvPr/>
        </p:nvSpPr>
        <p:spPr>
          <a:xfrm>
            <a:off x="8138160" y="5062728"/>
            <a:ext cx="3383280" cy="350520"/>
          </a:xfrm>
          <a:prstGeom prst="rect">
            <a:avLst/>
          </a:prstGeom>
          <a:noFill/>
        </p:spPr>
        <p:txBody>
          <a:bodyPr wrap="square" lIns="0" rIns="0" tIns="0" bIns="0">
            <a:spAutoFit/>
          </a:bodyPr>
          <a:lstStyle/>
          <a:p>
            <a:pPr algn="ctr"/>
            <a:r>
              <a:rPr sz="1100" b="0" i="0">
                <a:solidFill>
                  <a:srgbClr val="222A3F"/>
                </a:solidFill>
                <a:latin typeface="Cambria"/>
              </a:rPr>
              <a:t>makes a future revert restore OUR settings; proven on both radios</a:t>
            </a:r>
          </a:p>
        </p:txBody>
      </p:sp>
      <p:sp>
        <p:nvSpPr>
          <p:cNvPr id="30" name="Rectangle 29"/>
          <p:cNvSpPr/>
          <p:nvPr/>
        </p:nvSpPr>
        <p:spPr>
          <a:xfrm>
            <a:off x="502920" y="5669280"/>
            <a:ext cx="11155680" cy="384048"/>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31520" y="5724144"/>
            <a:ext cx="10698480" cy="274320"/>
          </a:xfrm>
          <a:prstGeom prst="rect">
            <a:avLst/>
          </a:prstGeom>
          <a:noFill/>
        </p:spPr>
        <p:txBody>
          <a:bodyPr wrap="square" lIns="0" rIns="0" tIns="0" bIns="0">
            <a:spAutoFit/>
          </a:bodyPr>
          <a:lstStyle/>
          <a:p>
            <a:pPr algn="ctr"/>
            <a:r>
              <a:rPr sz="1150" b="1" i="0">
                <a:solidFill>
                  <a:srgbClr val="FFFFFF"/>
                </a:solidFill>
                <a:latin typeface="Cambria"/>
              </a:rPr>
              <a:t>EVERY FAILURE BECAME A RULE; THE WORST ONE BECAME A MEASUREMENT, A REPAIR, AND A FIX.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