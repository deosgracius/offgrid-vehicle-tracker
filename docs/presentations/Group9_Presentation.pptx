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parts, one arc: the record of what broke, then the deepest dive we made into the failure that kept returning.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this is not a list of embarrassments, it is the verification record of a system that is honest about itself. Show the entry on the right: symptom as a stranger would see it, root cause, recovery, and the rule. Ten failures in this deck, each in that 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left to right. Failures cluster right before tests, and the same villain, battery death, returns three times. The last weekend's drive was rained out, which is why Part II exists.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one. None of these were in any datasheet. The boot-loop alone cost a day and taught us to trust the vendor's ESP-IDF config over its Arduino screenshot. Failure 3 matters later: NO_PIN is a provisioned setting, so when the radio's configuration reverts, the display's log shows 'status 261, insufficient authentication' and that line is the signature of failures 8 and 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faults, one drive, every one invisible on the bench: that is why we drove six more times. The figure answers 'why 6 km': 2 to the power (32-13) times 1e-7 degrees is 0.052 degrees, 5.8 km of latitude. GPS jitter: a parked receiver's fix wanders a few metres between fixes, and the receiver reports that wander as 1 to 3 mph; the deadband ignores anything under 4.5 km/h. Failures 5 and 6 are tooling: identity and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7 is the project's idea 2: the name IS the frequency. The debug ladder was config diff, matched-power tests, traceroute, regression on the default channel, then the hash math. Failure 8 is the hinge of the deck: state the pattern (three of four losses after a flat battery, SF three times, partial and different each time) and the mitigation, but do not pre-empt Part II. Failure 9 came from thirty seconds of night footage.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independent faults in one evening, diagnosed in forty minutes because every one had a written signature. The test ran the next morning.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campaigns; each found what the previous one could not. Ceta Canyon: behind rock the link is intermittent at any distance; the seven-minute outage healed with one packet and no operator action; the rim antenna held 4.7 mi, the quantitative case for a repeater.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words for the room: the radio's settings are files on a flash chip. Three things could be wrong with that chip. Worn out would look like random damage everywhere. Defective would look like fixed bad spots that stay bad. Written under bad power would look like fixed bad spots that heal when rewritten. The rest of Part II collects exactly the data that separates those three.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boxes in the figure are the policy weaknesses in the vendor's code: the power gate that always returns true on ESP32, the one non-atomic file, the ignored close() result, and the load-failure path that installs factory defaults and saves them. The green line is the one protection that exists: the low-battery deep sleep skips the write. Sources at tag v2.7.26: NodeDB.cpp, SafeFile.cpp, PowerHAL.cpp, PowerFSM.cpp, sleep.cpp. The asymmetry to say out loud: the firmware refuses to write during its own low-battery shutdown, which proves the authors knew the danger, but it has no voltage check on the ordinary save path, and that path runs on every boot.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sheet achieves: it is the mechanism. The memory can be perfectly good and still end up holding garbage, because the chip that orders the write (the CPU) stays awake 260 mV below the point where the chip that stores the data (the flash) is guaranteed to work. A sector erase takes 50 ms; a transmit pulse on a nearly flat battery can pull the rail through 2.7 V and back inside that time without ever reaching the 2.44 V reset. The datasheet says VCC must be held in range during all operations; between 2.44 and 2.7 V the write proceeds and the result is undefined.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the first. The maintainers' reading matches ours. The nRF52 branch received a fix in 2026; the ESP32 branch we run did not. The community workaround on the last line becomes our fix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predictions first, then the data. H2 and H3 both predict fixed unstable sectors; only the erase-and-reprogram test separates them, and it did.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Reproducible by anyone with the repository: scripts under docs/src, records under docs/src/flash_forensics. The LittleFS image also proved the configuration in flash on measurement day was correct: Group9, 32-byte key, precision 32, CLIENT_MUTE, No PIN, 60/10/20/10 s. If asked about the AI: the recruiter supplied the hypothesis, the AI supplied the experimental design and the code, the team supplied the hardware, the authorisation of each destructive step, and the checking; the records are in the repo and the measurements can be repeated without the 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SF: 117 and 107 differing bytes between consecutive reads, 118 bits flipped in both directions, none inside erased areas, confined to 21 sectors with 12 carrying almost all of it. RG: zero. The live files on SF sat in clean sectors 25, 26 and 470 that day, which is why the radio was working; LittleFS wear-levelling would have moved them onto the bad ones eventually. Plain words: the chip was asked the same question three times and gave different answers in the same 21 places; the control (program code) gave the same answer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fixed sectors, both bit directions, speed-independent, code partition stable: cells whose stored charge sits at the read threshold. Not a serial artifact (chunks are verified), not wear (the pattern would be diffuse), not a filesystem bug (the image mounts and decodes). Decisive test run on 27 October with authorisation on sectors 57 and 31, free in LittleFS (live data in 0, 1, 25, 26, 470), so nothing was lost. Record: docs/src/flash_forensics/decisive_test_2026-10-27.json. Repair: thirty minutes end to end; the two-pass --configure behaviour is the Sep 3 reset-during-write race seen from the other side. RG needs no repair; its baseline is clean.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state today. The red bar is SF as we found it on the 27th; everything after it is zero, including SF after two days at zero percent battery on the new firmware. Be honest about what one cycle proves: the radio was stored flat, not transmitting while it died, so the dangerous write may simply not have happened this time. The five-cycle campaign is what proves the fix.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chain left to right in plain words: the battery goes flat; on recovery the radio boots and reboots; every boot writes a settings file with no check of the supply; the supply is sagging in the window where the CPU runs but the flash is not guaranteed; cells are left half-written; next boot a file will not decode and the firmware installs factory defaults and saves them. One link is inferred rather than measured: the rail voltage during the event. An oscilloscope on the 3V3 pin during a transmit burst at 3.4 V cell voltage closes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1 is the community's own answer to #4555 and costs one build per radio: build Meshtastic from source with a userPrefs.jsonc that names our channel, key, region, role, owner names, cadence, plus a one-line patch so the default Bluetooth mode is No PIN. Acceptance on SF and RG, 28 October: after a factory reset each radio was already configured; the snapshot then restored the smart-broadcast minimums (10 s / 20 m), the 21 presets and the original key pair. The ask: approve the flat-battery campaign before the next field test. Fix 2 removes the cause; fix 3 cleans up the past; fix 4 is the hardware-correct answer and the most 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Attribution policy: say exactly who supplied what. Hypothesis: the recruiter. Experimental design, code and analysis: the AI assistant, under the team's direction. Hardware, authorisation and checking: the team. Reproducibility: the repository. If the audience wants proof, open docs/src/flash_forensics and re-run the sector map on either radio; it takes four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bar. Then the ask: fix 1 is proven on both radios; approve the flat-battery campaign before the next field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5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8132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3969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9806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5643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79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7316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31535"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990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4827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3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2337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81744"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4011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98480"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5684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1521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592" y="14630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804672"/>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2" y="1463040"/>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4592" y="2121408"/>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2779776"/>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4592" y="343814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2" y="4096511"/>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4754879"/>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5413247"/>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4592" y="6071615"/>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34" name="TextBox 33"/>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TESTS, FAILURES, ROOT CAUSE</a:t>
            </a:r>
          </a:p>
        </p:txBody>
      </p:sp>
      <p:sp>
        <p:nvSpPr>
          <p:cNvPr id="35" name="TextBox 34"/>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01/21  REV D  2026-11-04</a:t>
            </a:r>
          </a:p>
        </p:txBody>
      </p:sp>
      <p:sp>
        <p:nvSpPr>
          <p:cNvPr id="36" name="TextBox 35"/>
          <p:cNvSpPr txBox="1"/>
          <p:nvPr/>
        </p:nvSpPr>
        <p:spPr>
          <a:xfrm>
            <a:off x="640080" y="914400"/>
            <a:ext cx="10881360" cy="822960"/>
          </a:xfrm>
          <a:prstGeom prst="rect">
            <a:avLst/>
          </a:prstGeom>
          <a:noFill/>
        </p:spPr>
        <p:txBody>
          <a:bodyPr wrap="square" lIns="0" rIns="0" tIns="0" bIns="0">
            <a:spAutoFit/>
          </a:bodyPr>
          <a:lstStyle/>
          <a:p>
            <a:pPr algn="l"/>
            <a:r>
              <a:rPr sz="3400" b="1" i="0" spc="300">
                <a:solidFill>
                  <a:srgbClr val="16213D"/>
                </a:solidFill>
                <a:latin typeface="Cambria"/>
              </a:rPr>
              <a:t>WHAT BROKE, AND WHAT IT TAUGHT US</a:t>
            </a:r>
          </a:p>
        </p:txBody>
      </p:sp>
      <p:sp>
        <p:nvSpPr>
          <p:cNvPr id="37" name="TextBox 36"/>
          <p:cNvSpPr txBox="1"/>
          <p:nvPr/>
        </p:nvSpPr>
        <p:spPr>
          <a:xfrm>
            <a:off x="658368" y="1755648"/>
            <a:ext cx="10881360" cy="411480"/>
          </a:xfrm>
          <a:prstGeom prst="rect">
            <a:avLst/>
          </a:prstGeom>
          <a:noFill/>
        </p:spPr>
        <p:txBody>
          <a:bodyPr wrap="square" lIns="0" rIns="0" tIns="0" bIns="0">
            <a:spAutoFit/>
          </a:bodyPr>
          <a:lstStyle/>
          <a:p>
            <a:pPr algn="l"/>
            <a:r>
              <a:rPr sz="1600" b="1" i="0" spc="100">
                <a:solidFill>
                  <a:srgbClr val="E58E1A"/>
                </a:solidFill>
                <a:latin typeface="Cambria"/>
              </a:rPr>
              <a:t>THE TEST AND FAILURE RECORD, AND THE ONE FAILURE WE CHASED TO THE SILICON</a:t>
            </a:r>
          </a:p>
        </p:txBody>
      </p:sp>
      <p:sp>
        <p:nvSpPr>
          <p:cNvPr id="38" name="TextBox 37"/>
          <p:cNvSpPr txBox="1"/>
          <p:nvPr/>
        </p:nvSpPr>
        <p:spPr>
          <a:xfrm>
            <a:off x="658368" y="2331720"/>
            <a:ext cx="7315200" cy="1188720"/>
          </a:xfrm>
          <a:prstGeom prst="rect">
            <a:avLst/>
          </a:prstGeom>
          <a:noFill/>
        </p:spPr>
        <p:txBody>
          <a:bodyPr wrap="square" lIns="0" rIns="0" tIns="0" bIns="0">
            <a:spAutoFit/>
          </a:bodyPr>
          <a:lstStyle/>
          <a:p>
            <a:pPr algn="l"/>
            <a:r>
              <a:rPr sz="1300" b="0" i="0">
                <a:solidFill>
                  <a:srgbClr val="222A3F"/>
                </a:solidFill>
                <a:latin typeface="Cambria"/>
              </a:rPr>
              <a:t>Part I: ten root-caused failures and seven test campaigns, each with the rule or feature it left behind. Part II: the battery-death configuration loss, investigated to the flash cells with measurements on both radios, repaired, and fixed at the root.</a:t>
            </a:r>
          </a:p>
        </p:txBody>
      </p:sp>
      <p:sp>
        <p:nvSpPr>
          <p:cNvPr id="39" name="TextBox 38"/>
          <p:cNvSpPr txBox="1"/>
          <p:nvPr/>
        </p:nvSpPr>
        <p:spPr>
          <a:xfrm>
            <a:off x="7589520" y="3657600"/>
            <a:ext cx="3931920" cy="2377440"/>
          </a:xfrm>
          <a:prstGeom prst="rect">
            <a:avLst/>
          </a:prstGeom>
          <a:noFill/>
        </p:spPr>
        <p:txBody>
          <a:bodyPr wrap="square" lIns="0" rIns="0" tIns="0" bIns="0">
            <a:spAutoFit/>
          </a:bodyPr>
          <a:lstStyle/>
          <a:p>
            <a:pPr algn="l"/>
            <a:r>
              <a:rPr sz="1300" b="0" i="0">
                <a:solidFill>
                  <a:srgbClr val="222A3F"/>
                </a:solidFill>
                <a:latin typeface="Courier New"/>
              </a:rPr>
              <a:t>Deo Grace Mwala
Josiah Horn
Victor Okwonna
Cannon Thomas
Sponsor: Dr. Richard Gale
4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02/21  REV D  2026-11-04</a:t>
            </a:r>
          </a:p>
        </p:txBody>
      </p:sp>
      <p:sp>
        <p:nvSpPr>
          <p:cNvPr id="7" name="Rectangle 6"/>
          <p:cNvSpPr/>
          <p:nvPr/>
        </p:nvSpPr>
        <p:spPr>
          <a:xfrm>
            <a:off x="9646920" y="347472"/>
            <a:ext cx="2148840" cy="420624"/>
          </a:xfrm>
          <a:prstGeom prst="rect">
            <a:avLst/>
          </a:prstGeom>
          <a:solidFill>
            <a:srgbClr val="FFFFFF"/>
          </a:solidFill>
          <a:ln w="19050">
            <a:solidFill>
              <a:srgbClr val="6D4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6D4BDB"/>
                </a:solidFill>
                <a:latin typeface="Courier New"/>
              </a:rPr>
              <a:t>OWNER: JOSIAH</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WHY THE FAILURES ARE THE DELIVERABLE</a:t>
            </a:r>
          </a:p>
        </p:txBody>
      </p:sp>
      <p:sp>
        <p:nvSpPr>
          <p:cNvPr id="10" name="Rectangle 9"/>
          <p:cNvSpPr/>
          <p:nvPr/>
        </p:nvSpPr>
        <p:spPr>
          <a:xfrm>
            <a:off x="502920" y="1234440"/>
            <a:ext cx="5394960" cy="1481328"/>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353312"/>
            <a:ext cx="5065776" cy="1243584"/>
          </a:xfrm>
          <a:prstGeom prst="rect">
            <a:avLst/>
          </a:prstGeom>
          <a:noFill/>
        </p:spPr>
        <p:txBody>
          <a:bodyPr wrap="square" lIns="0" rIns="0" tIns="0" bIns="0">
            <a:spAutoFit/>
          </a:bodyPr>
          <a:lstStyle/>
          <a:p>
            <a:r>
              <a:rPr sz="1300" b="1" spc="100">
                <a:solidFill>
                  <a:srgbClr val="16213D"/>
                </a:solidFill>
                <a:latin typeface="Cambria"/>
              </a:rPr>
              <a:t>A FAILURE IS ONLY USEFUL ONCE IT HAS A SIGNATURE</a:t>
            </a:r>
          </a:p>
          <a:p>
            <a:pPr>
              <a:spcBef>
                <a:spcPts val="400"/>
              </a:spcBef>
            </a:pPr>
            <a:r>
              <a:rPr sz="1200">
                <a:solidFill>
                  <a:srgbClr val="222A3F"/>
                </a:solidFill>
                <a:latin typeface="Cambria"/>
              </a:rPr>
              <a:t>Each catalog entry records the symptom exactly as it appears, the root cause, and the recovery, so the next person recognizes it in minutes, not days.</a:t>
            </a:r>
          </a:p>
        </p:txBody>
      </p:sp>
      <p:sp>
        <p:nvSpPr>
          <p:cNvPr id="12" name="Rectangle 11"/>
          <p:cNvSpPr/>
          <p:nvPr/>
        </p:nvSpPr>
        <p:spPr>
          <a:xfrm>
            <a:off x="502920" y="2834640"/>
            <a:ext cx="5394960" cy="1481328"/>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953512"/>
            <a:ext cx="5065776" cy="1243584"/>
          </a:xfrm>
          <a:prstGeom prst="rect">
            <a:avLst/>
          </a:prstGeom>
          <a:noFill/>
        </p:spPr>
        <p:txBody>
          <a:bodyPr wrap="square" lIns="0" rIns="0" tIns="0" bIns="0">
            <a:spAutoFit/>
          </a:bodyPr>
          <a:lstStyle/>
          <a:p>
            <a:r>
              <a:rPr sz="1300" b="1" spc="100">
                <a:solidFill>
                  <a:srgbClr val="16213D"/>
                </a:solidFill>
                <a:latin typeface="Cambria"/>
              </a:rPr>
              <a:t>EACH FAILURE PRODUCED A RULE OR A FEATURE</a:t>
            </a:r>
          </a:p>
          <a:p>
            <a:pPr>
              <a:spcBef>
                <a:spcPts val="400"/>
              </a:spcBef>
            </a:pPr>
            <a:r>
              <a:rPr sz="1200">
                <a:solidFill>
                  <a:srgbClr val="222A3F"/>
                </a:solidFill>
                <a:latin typeface="Cambria"/>
              </a:rPr>
              <a:t>Pre-flight checks, cadence-aware alarms, the course-up compass, the config snapshot, the LINK LOST alarm: none were in the plan. All came from something breaking.</a:t>
            </a:r>
          </a:p>
        </p:txBody>
      </p:sp>
      <p:sp>
        <p:nvSpPr>
          <p:cNvPr id="14" name="Rectangle 13"/>
          <p:cNvSpPr/>
          <p:nvPr/>
        </p:nvSpPr>
        <p:spPr>
          <a:xfrm>
            <a:off x="502920" y="4434840"/>
            <a:ext cx="5394960" cy="1481328"/>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4553712"/>
            <a:ext cx="5065776" cy="1243584"/>
          </a:xfrm>
          <a:prstGeom prst="rect">
            <a:avLst/>
          </a:prstGeom>
          <a:noFill/>
        </p:spPr>
        <p:txBody>
          <a:bodyPr wrap="square" lIns="0" rIns="0" tIns="0" bIns="0">
            <a:spAutoFit/>
          </a:bodyPr>
          <a:lstStyle/>
          <a:p>
            <a:r>
              <a:rPr sz="1300" b="1" spc="100">
                <a:solidFill>
                  <a:srgbClr val="16213D"/>
                </a:solidFill>
                <a:latin typeface="Cambria"/>
              </a:rPr>
              <a:t>FIELD EQUIPMENT FAILS BETWEEN OUTINGS</a:t>
            </a:r>
          </a:p>
          <a:p>
            <a:pPr>
              <a:spcBef>
                <a:spcPts val="400"/>
              </a:spcBef>
            </a:pPr>
            <a:r>
              <a:rPr sz="1200">
                <a:solidFill>
                  <a:srgbClr val="222A3F"/>
                </a:solidFill>
                <a:latin typeface="Cambria"/>
              </a:rPr>
              <a:t>Three of ten failures struck the night before a test. Every one was cleared in time because its signature had already been written down.</a:t>
            </a:r>
          </a:p>
        </p:txBody>
      </p:sp>
      <p:sp>
        <p:nvSpPr>
          <p:cNvPr id="16" name="TextBox 15"/>
          <p:cNvSpPr txBox="1"/>
          <p:nvPr/>
        </p:nvSpPr>
        <p:spPr>
          <a:xfrm>
            <a:off x="6126480" y="1234440"/>
            <a:ext cx="5577840" cy="274320"/>
          </a:xfrm>
          <a:prstGeom prst="rect">
            <a:avLst/>
          </a:prstGeom>
          <a:noFill/>
        </p:spPr>
        <p:txBody>
          <a:bodyPr wrap="square" lIns="0" rIns="0" tIns="0" bIns="0">
            <a:spAutoFit/>
          </a:bodyPr>
          <a:lstStyle/>
          <a:p>
            <a:pPr algn="l"/>
            <a:r>
              <a:rPr sz="1100" b="1" i="0">
                <a:solidFill>
                  <a:srgbClr val="E58E1A"/>
                </a:solidFill>
                <a:latin typeface="Courier New"/>
              </a:rPr>
              <a:t>WHAT ONE CATALOG ENTRY LOOKS LIKE</a:t>
            </a:r>
          </a:p>
        </p:txBody>
      </p:sp>
      <p:graphicFrame>
        <p:nvGraphicFramePr>
          <p:cNvPr id="17" name="Table 16"/>
          <p:cNvGraphicFramePr>
            <a:graphicFrameLocks noGrp="1"/>
          </p:cNvGraphicFramePr>
          <p:nvPr/>
        </p:nvGraphicFramePr>
        <p:xfrm>
          <a:off x="6126480" y="1554480"/>
          <a:ext cx="5577840" cy="3566160"/>
        </p:xfrm>
        <a:graphic>
          <a:graphicData uri="http://schemas.openxmlformats.org/drawingml/2006/table">
            <a:tbl>
              <a:tblPr firstRow="1" bandRow="1">
                <a:tableStyleId>{5C22544A-7EE6-4342-B048-85BDC9FD1C3A}</a:tableStyleId>
              </a:tblPr>
              <a:tblGrid>
                <a:gridCol w="1143000"/>
                <a:gridCol w="4434840"/>
              </a:tblGrid>
              <a:tr h="713232">
                <a:tc>
                  <a:txBody>
                    <a:bodyPr/>
                    <a:lstStyle/>
                    <a:p>
                      <a:r>
                        <a:rPr sz="1050" b="1">
                          <a:solidFill>
                            <a:srgbClr val="FFFFFF"/>
                          </a:solidFill>
                          <a:latin typeface="Cambria"/>
                        </a:rPr>
                        <a:t>Field</a:t>
                      </a:r>
                    </a:p>
                  </a:txBody>
                  <a:tcPr marL="73152" marR="73152" marT="27432" marB="27432">
                    <a:solidFill>
                      <a:srgbClr val="16213D"/>
                    </a:solidFill>
                  </a:tcPr>
                </a:tc>
                <a:tc>
                  <a:txBody>
                    <a:bodyPr/>
                    <a:lstStyle/>
                    <a:p>
                      <a:r>
                        <a:rPr sz="1050" b="1">
                          <a:solidFill>
                            <a:srgbClr val="FFFFFF"/>
                          </a:solidFill>
                          <a:latin typeface="Cambria"/>
                        </a:rPr>
                        <a:t>Entry 1, Technical Manual Section 16</a:t>
                      </a:r>
                    </a:p>
                  </a:txBody>
                  <a:tcPr marL="73152" marR="73152" marT="27432" marB="27432">
                    <a:solidFill>
                      <a:srgbClr val="16213D"/>
                    </a:solidFill>
                  </a:tcPr>
                </a:tc>
              </a:tr>
              <a:tr h="713232">
                <a:tc>
                  <a:txBody>
                    <a:bodyPr/>
                    <a:lstStyle/>
                    <a:p>
                      <a:r>
                        <a:rPr sz="1050" b="1">
                          <a:solidFill>
                            <a:srgbClr val="222A3F"/>
                          </a:solidFill>
                          <a:latin typeface="Cambria"/>
                        </a:rPr>
                        <a:t>Symptom</a:t>
                      </a:r>
                    </a:p>
                  </a:txBody>
                  <a:tcPr marL="73152" marR="73152" marT="27432" marB="27432">
                    <a:solidFill>
                      <a:srgbClr val="F2F5FA"/>
                    </a:solidFill>
                  </a:tcPr>
                </a:tc>
                <a:tc>
                  <a:txBody>
                    <a:bodyPr/>
                    <a:lstStyle/>
                    <a:p>
                      <a:r>
                        <a:rPr sz="1050" b="0">
                          <a:solidFill>
                            <a:srgbClr val="222A3F"/>
                          </a:solidFill>
                          <a:latin typeface="Cambria"/>
                        </a:rPr>
                        <a:t>Total mutual silence; configs read back identical; 0 percent channel utilization</a:t>
                      </a:r>
                    </a:p>
                  </a:txBody>
                  <a:tcPr marL="73152" marR="73152" marT="27432" marB="27432">
                    <a:solidFill>
                      <a:srgbClr val="F2F5FA"/>
                    </a:solidFill>
                  </a:tcPr>
                </a:tc>
              </a:tr>
              <a:tr h="713232">
                <a:tc>
                  <a:txBody>
                    <a:bodyPr/>
                    <a:lstStyle/>
                    <a:p>
                      <a:r>
                        <a:rPr sz="1050" b="1">
                          <a:solidFill>
                            <a:srgbClr val="222A3F"/>
                          </a:solidFill>
                          <a:latin typeface="Cambria"/>
                        </a:rPr>
                        <a:t>Root cause</a:t>
                      </a:r>
                    </a:p>
                  </a:txBody>
                  <a:tcPr marL="73152" marR="73152" marT="27432" marB="27432">
                    <a:solidFill>
                      <a:srgbClr val="FFFFFF"/>
                    </a:solidFill>
                  </a:tcPr>
                </a:tc>
                <a:tc>
                  <a:txBody>
                    <a:bodyPr/>
                    <a:lstStyle/>
                    <a:p>
                      <a:r>
                        <a:rPr sz="1050" b="0">
                          <a:solidFill>
                            <a:srgbClr val="222A3F"/>
                          </a:solidFill>
                          <a:latin typeface="Cambria"/>
                        </a:rPr>
                        <a:t>Frequency-slot mismatch: a channel write silently reverted, leaving the radios on different slots with the same key</a:t>
                      </a:r>
                    </a:p>
                  </a:txBody>
                  <a:tcPr marL="73152" marR="73152" marT="27432" marB="27432">
                    <a:solidFill>
                      <a:srgbClr val="FFFFFF"/>
                    </a:solidFill>
                  </a:tcPr>
                </a:tc>
              </a:tr>
              <a:tr h="713232">
                <a:tc>
                  <a:txBody>
                    <a:bodyPr/>
                    <a:lstStyle/>
                    <a:p>
                      <a:r>
                        <a:rPr sz="1050" b="1">
                          <a:solidFill>
                            <a:srgbClr val="222A3F"/>
                          </a:solidFill>
                          <a:latin typeface="Cambria"/>
                        </a:rPr>
                        <a:t>Recovery</a:t>
                      </a:r>
                    </a:p>
                  </a:txBody>
                  <a:tcPr marL="73152" marR="73152" marT="27432" marB="27432">
                    <a:solidFill>
                      <a:srgbClr val="F2F5FA"/>
                    </a:solidFill>
                  </a:tcPr>
                </a:tc>
                <a:tc>
                  <a:txBody>
                    <a:bodyPr/>
                    <a:lstStyle/>
                    <a:p>
                      <a:r>
                        <a:rPr sz="1050" b="0">
                          <a:solidFill>
                            <a:srgbClr val="222A3F"/>
                          </a:solidFill>
                          <a:latin typeface="Cambria"/>
                        </a:rPr>
                        <a:t>Check both OLED LoRa screens: Group9 must read 912.875. Re-apply the channel URL, verify, power-cycle, verify again</a:t>
                      </a:r>
                    </a:p>
                  </a:txBody>
                  <a:tcPr marL="73152" marR="73152" marT="27432" marB="27432">
                    <a:solidFill>
                      <a:srgbClr val="F2F5FA"/>
                    </a:solidFill>
                  </a:tcPr>
                </a:tc>
              </a:tr>
              <a:tr h="713232">
                <a:tc>
                  <a:txBody>
                    <a:bodyPr/>
                    <a:lstStyle/>
                    <a:p>
                      <a:r>
                        <a:rPr sz="1050" b="1">
                          <a:solidFill>
                            <a:srgbClr val="222A3F"/>
                          </a:solidFill>
                          <a:latin typeface="Cambria"/>
                        </a:rPr>
                        <a:t>Rule it left</a:t>
                      </a:r>
                    </a:p>
                  </a:txBody>
                  <a:tcPr marL="73152" marR="73152" marT="27432" marB="27432">
                    <a:solidFill>
                      <a:srgbClr val="FFFFFF"/>
                    </a:solidFill>
                  </a:tcPr>
                </a:tc>
                <a:tc>
                  <a:txBody>
                    <a:bodyPr/>
                    <a:lstStyle/>
                    <a:p>
                      <a:r>
                        <a:rPr sz="1050" b="0">
                          <a:solidFill>
                            <a:srgbClr val="222A3F"/>
                          </a:solidFill>
                          <a:latin typeface="Cambria"/>
                        </a:rPr>
                        <a:t>Pre-flight: both OLEDs read 912.875 before any drive</a:t>
                      </a:r>
                    </a:p>
                  </a:txBody>
                  <a:tcPr marL="73152" marR="73152" marT="27432" marB="27432">
                    <a:solidFill>
                      <a:srgbClr val="FFFFFF"/>
                    </a:solidFill>
                  </a:tcPr>
                </a:tc>
              </a:tr>
            </a:tbl>
          </a:graphicData>
        </a:graphic>
      </p:graphicFrame>
      <p:sp>
        <p:nvSpPr>
          <p:cNvPr id="18" name="TextBox 17"/>
          <p:cNvSpPr txBox="1"/>
          <p:nvPr/>
        </p:nvSpPr>
        <p:spPr>
          <a:xfrm>
            <a:off x="6126480" y="5257800"/>
            <a:ext cx="5577840" cy="731520"/>
          </a:xfrm>
          <a:prstGeom prst="rect">
            <a:avLst/>
          </a:prstGeom>
          <a:noFill/>
        </p:spPr>
        <p:txBody>
          <a:bodyPr wrap="square" lIns="0" rIns="0" tIns="0" bIns="0">
            <a:spAutoFit/>
          </a:bodyPr>
          <a:lstStyle/>
          <a:p>
            <a:pPr algn="l"/>
            <a:r>
              <a:rPr sz="1100" b="0" i="1">
                <a:solidFill>
                  <a:srgbClr val="5E6B85"/>
                </a:solidFill>
                <a:latin typeface="Cambria"/>
              </a:rPr>
              <a:t>Eleven entries in this form. Every one happened on this hardware and was reproduced or root-caused before being written down. The catalog is the part of the project a stranger could use tomorrow.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03/21  REV D  2026-11-04</a:t>
            </a:r>
          </a:p>
        </p:txBody>
      </p:sp>
      <p:sp>
        <p:nvSpPr>
          <p:cNvPr id="7" name="Rectangle 6"/>
          <p:cNvSpPr/>
          <p:nvPr/>
        </p:nvSpPr>
        <p:spPr>
          <a:xfrm>
            <a:off x="9646920" y="347472"/>
            <a:ext cx="2148840" cy="420624"/>
          </a:xfrm>
          <a:prstGeom prst="rect">
            <a:avLst/>
          </a:prstGeom>
          <a:solidFill>
            <a:srgbClr val="FFFFFF"/>
          </a:solidFill>
          <a:ln w="19050">
            <a:solidFill>
              <a:srgbClr val="D94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D9488C"/>
                </a:solidFill>
                <a:latin typeface="Courier New"/>
              </a:rPr>
              <a:t>OWNER: CANNON</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SEMESTER ON ONE LINE</a:t>
            </a:r>
          </a:p>
        </p:txBody>
      </p:sp>
      <p:pic>
        <p:nvPicPr>
          <p:cNvPr id="10" name="Picture 9" descr="g_failtimeline.png"/>
          <p:cNvPicPr>
            <a:picLocks noChangeAspect="1"/>
          </p:cNvPicPr>
          <p:nvPr/>
        </p:nvPicPr>
        <p:blipFill>
          <a:blip r:embed="rId2"/>
          <a:stretch>
            <a:fillRect/>
          </a:stretch>
        </p:blipFill>
        <p:spPr>
          <a:xfrm>
            <a:off x="502920" y="1188720"/>
            <a:ext cx="11155680" cy="4732713"/>
          </a:xfrm>
          <a:prstGeom prst="rect">
            <a:avLst/>
          </a:prstGeom>
        </p:spPr>
      </p:pic>
      <p:sp>
        <p:nvSpPr>
          <p:cNvPr id="11" name="TextBox 10"/>
          <p:cNvSpPr txBox="1"/>
          <p:nvPr/>
        </p:nvSpPr>
        <p:spPr>
          <a:xfrm>
            <a:off x="502920" y="5897880"/>
            <a:ext cx="11155680" cy="320040"/>
          </a:xfrm>
          <a:prstGeom prst="rect">
            <a:avLst/>
          </a:prstGeom>
          <a:noFill/>
        </p:spPr>
        <p:txBody>
          <a:bodyPr wrap="square" lIns="0" rIns="0" tIns="0" bIns="0">
            <a:spAutoFit/>
          </a:bodyPr>
          <a:lstStyle/>
          <a:p>
            <a:pPr algn="ctr"/>
            <a:r>
              <a:rPr sz="1050" b="1" i="0">
                <a:solidFill>
                  <a:srgbClr val="5E6B85"/>
                </a:solidFill>
                <a:latin typeface="Courier New"/>
              </a:rPr>
              <a:t>RED: FAILURES, ROOT-CAUSED.  GREEN: TESTS.  THE HOLLOW TRIANGLE IS NEW MEXICO: ON SITE, STOPPED BY A FLASH FLOOD WARNING; THE WEEKEND WENT INTO THE RADIOS.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04/21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FAILURES 1-3: BRING-UP, AUGUST 30-31</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Causation, impact, fix, and what each one became</a:t>
            </a:r>
          </a:p>
        </p:txBody>
      </p:sp>
      <p:graphicFrame>
        <p:nvGraphicFramePr>
          <p:cNvPr id="11" name="Table 10"/>
          <p:cNvGraphicFramePr>
            <a:graphicFrameLocks noGrp="1"/>
          </p:cNvGraphicFramePr>
          <p:nvPr/>
        </p:nvGraphicFramePr>
        <p:xfrm>
          <a:off x="502920" y="1234440"/>
          <a:ext cx="11155680" cy="2926080"/>
        </p:xfrm>
        <a:graphic>
          <a:graphicData uri="http://schemas.openxmlformats.org/drawingml/2006/table">
            <a:tbl>
              <a:tblPr firstRow="1" bandRow="1">
                <a:tableStyleId>{5C22544A-7EE6-4342-B048-85BDC9FD1C3A}</a:tableStyleId>
              </a:tblPr>
              <a:tblGrid>
                <a:gridCol w="1417320"/>
                <a:gridCol w="2971800"/>
                <a:gridCol w="2103120"/>
                <a:gridCol w="2286000"/>
                <a:gridCol w="2377440"/>
              </a:tblGrid>
              <a:tr h="731520">
                <a:tc>
                  <a:txBody>
                    <a:bodyPr/>
                    <a:lstStyle/>
                    <a:p>
                      <a:r>
                        <a:rPr sz="1000" b="1">
                          <a:solidFill>
                            <a:srgbClr val="FFFFFF"/>
                          </a:solidFill>
                          <a:latin typeface="Cambria"/>
                        </a:rPr>
                        <a:t>Failure</a:t>
                      </a:r>
                    </a:p>
                  </a:txBody>
                  <a:tcPr marL="73152" marR="73152" marT="27432" marB="27432">
                    <a:solidFill>
                      <a:srgbClr val="16213D"/>
                    </a:solidFill>
                  </a:tcPr>
                </a:tc>
                <a:tc>
                  <a:txBody>
                    <a:bodyPr/>
                    <a:lstStyle/>
                    <a:p>
                      <a:r>
                        <a:rPr sz="1000" b="1">
                          <a:solidFill>
                            <a:srgbClr val="FFFFFF"/>
                          </a:solidFill>
                          <a:latin typeface="Cambria"/>
                        </a:rPr>
                        <a:t>Cause</a:t>
                      </a:r>
                    </a:p>
                  </a:txBody>
                  <a:tcPr marL="73152" marR="73152" marT="27432" marB="27432">
                    <a:solidFill>
                      <a:srgbClr val="16213D"/>
                    </a:solidFill>
                  </a:tcPr>
                </a:tc>
                <a:tc>
                  <a:txBody>
                    <a:bodyPr/>
                    <a:lstStyle/>
                    <a:p>
                      <a:r>
                        <a:rPr sz="1000" b="1">
                          <a:solidFill>
                            <a:srgbClr val="FFFFFF"/>
                          </a:solidFill>
                          <a:latin typeface="Cambria"/>
                        </a:rPr>
                        <a:t>Impact</a:t>
                      </a:r>
                    </a:p>
                  </a:txBody>
                  <a:tcPr marL="73152" marR="73152" marT="27432" marB="27432">
                    <a:solidFill>
                      <a:srgbClr val="16213D"/>
                    </a:solidFill>
                  </a:tcPr>
                </a:tc>
                <a:tc>
                  <a:txBody>
                    <a:bodyPr/>
                    <a:lstStyle/>
                    <a:p>
                      <a:r>
                        <a:rPr sz="1000" b="1">
                          <a:solidFill>
                            <a:srgbClr val="FFFFFF"/>
                          </a:solidFill>
                          <a:latin typeface="Cambria"/>
                        </a:rPr>
                        <a:t>Fix</a:t>
                      </a:r>
                    </a:p>
                  </a:txBody>
                  <a:tcPr marL="73152" marR="73152" marT="27432" marB="27432">
                    <a:solidFill>
                      <a:srgbClr val="16213D"/>
                    </a:solidFill>
                  </a:tcPr>
                </a:tc>
                <a:tc>
                  <a:txBody>
                    <a:bodyPr/>
                    <a:lstStyle/>
                    <a:p>
                      <a:r>
                        <a:rPr sz="1000" b="1">
                          <a:solidFill>
                            <a:srgbClr val="FFFFFF"/>
                          </a:solidFill>
                          <a:latin typeface="Cambria"/>
                        </a:rPr>
                        <a:t>Became</a:t>
                      </a:r>
                    </a:p>
                  </a:txBody>
                  <a:tcPr marL="73152" marR="73152" marT="27432" marB="27432">
                    <a:solidFill>
                      <a:srgbClr val="16213D"/>
                    </a:solidFill>
                  </a:tcPr>
                </a:tc>
              </a:tr>
              <a:tr h="731520">
                <a:tc>
                  <a:txBody>
                    <a:bodyPr/>
                    <a:lstStyle/>
                    <a:p>
                      <a:r>
                        <a:rPr sz="1000" b="1">
                          <a:solidFill>
                            <a:srgbClr val="222A3F"/>
                          </a:solidFill>
                          <a:latin typeface="Cambria"/>
                        </a:rPr>
                        <a:t>1  Display boot-looped silently</a:t>
                      </a:r>
                    </a:p>
                  </a:txBody>
                  <a:tcPr marL="73152" marR="73152" marT="27432" marB="27432">
                    <a:solidFill>
                      <a:srgbClr val="F2F5FA"/>
                    </a:solidFill>
                  </a:tcPr>
                </a:tc>
                <a:tc>
                  <a:txBody>
                    <a:bodyPr/>
                    <a:lstStyle/>
                    <a:p>
                      <a:r>
                        <a:rPr sz="1000" b="0">
                          <a:solidFill>
                            <a:srgbClr val="222A3F"/>
                          </a:solidFill>
                          <a:latin typeface="Cambria"/>
                        </a:rPr>
                        <a:t>The official espressif32 platform (Arduino core 2.x) cannot start this panel's chip revision</a:t>
                      </a:r>
                    </a:p>
                  </a:txBody>
                  <a:tcPr marL="73152" marR="73152" marT="27432" marB="27432">
                    <a:solidFill>
                      <a:srgbClr val="F2F5FA"/>
                    </a:solidFill>
                  </a:tcPr>
                </a:tc>
                <a:tc>
                  <a:txBody>
                    <a:bodyPr/>
                    <a:lstStyle/>
                    <a:p>
                      <a:r>
                        <a:rPr sz="1000" b="0">
                          <a:solidFill>
                            <a:srgbClr val="222A3F"/>
                          </a:solidFill>
                          <a:latin typeface="Cambria"/>
                        </a:rPr>
                        <a:t>No display at all; one full day lost finding it</a:t>
                      </a:r>
                    </a:p>
                  </a:txBody>
                  <a:tcPr marL="73152" marR="73152" marT="27432" marB="27432">
                    <a:solidFill>
                      <a:srgbClr val="F2F5FA"/>
                    </a:solidFill>
                  </a:tcPr>
                </a:tc>
                <a:tc>
                  <a:txBody>
                    <a:bodyPr/>
                    <a:lstStyle/>
                    <a:p>
                      <a:r>
                        <a:rPr sz="1000" b="0">
                          <a:solidFill>
                            <a:srgbClr val="222A3F"/>
                          </a:solidFill>
                          <a:latin typeface="Cambria"/>
                        </a:rPr>
                        <a:t>pioarduino platform, dio_opi memory, dio flash mode</a:t>
                      </a:r>
                    </a:p>
                  </a:txBody>
                  <a:tcPr marL="73152" marR="73152" marT="27432" marB="27432">
                    <a:solidFill>
                      <a:srgbClr val="F2F5FA"/>
                    </a:solidFill>
                  </a:tcPr>
                </a:tc>
                <a:tc>
                  <a:txBody>
                    <a:bodyPr/>
                    <a:lstStyle/>
                    <a:p>
                      <a:r>
                        <a:rPr sz="1000" b="0">
                          <a:solidFill>
                            <a:srgbClr val="222A3F"/>
                          </a:solidFill>
                          <a:latin typeface="Cambria"/>
                        </a:rPr>
                        <a:t>Rule: the vendor's ESP-IDF config is ground truth (platformio.ini, manual 14)</a:t>
                      </a:r>
                    </a:p>
                  </a:txBody>
                  <a:tcPr marL="73152" marR="73152" marT="27432" marB="27432">
                    <a:solidFill>
                      <a:srgbClr val="F2F5FA"/>
                    </a:solidFill>
                  </a:tcPr>
                </a:tc>
              </a:tr>
              <a:tr h="731520">
                <a:tc>
                  <a:txBody>
                    <a:bodyPr/>
                    <a:lstStyle/>
                    <a:p>
                      <a:r>
                        <a:rPr sz="1000" b="1">
                          <a:solidFill>
                            <a:srgbClr val="222A3F"/>
                          </a:solidFill>
                          <a:latin typeface="Cambria"/>
                        </a:rPr>
                        <a:t>2  Bonded radio goes invisible</a:t>
                      </a:r>
                    </a:p>
                  </a:txBody>
                  <a:tcPr marL="73152" marR="73152" marT="27432" marB="27432">
                    <a:solidFill>
                      <a:srgbClr val="FFFFFF"/>
                    </a:solidFill>
                  </a:tcPr>
                </a:tc>
                <a:tc>
                  <a:txBody>
                    <a:bodyPr/>
                    <a:lstStyle/>
                    <a:p>
                      <a:r>
                        <a:rPr sz="1000" b="0">
                          <a:solidFill>
                            <a:srgbClr val="222A3F"/>
                          </a:solidFill>
                          <a:latin typeface="Cambria"/>
                        </a:rPr>
                        <a:t>A stored BLE bond makes the Meshtastic radio stop advertising, even to its own peer</a:t>
                      </a:r>
                    </a:p>
                  </a:txBody>
                  <a:tcPr marL="73152" marR="73152" marT="27432" marB="27432">
                    <a:solidFill>
                      <a:srgbClr val="FFFFFF"/>
                    </a:solidFill>
                  </a:tcPr>
                </a:tc>
                <a:tc>
                  <a:txBody>
                    <a:bodyPr/>
                    <a:lstStyle/>
                    <a:p>
                      <a:r>
                        <a:rPr sz="1000" b="0">
                          <a:solidFill>
                            <a:srgbClr val="222A3F"/>
                          </a:solidFill>
                          <a:latin typeface="Cambria"/>
                        </a:rPr>
                        <a:t>Display cannot find the radio; factory reset was the only cure</a:t>
                      </a:r>
                    </a:p>
                  </a:txBody>
                  <a:tcPr marL="73152" marR="73152" marT="27432" marB="27432">
                    <a:solidFill>
                      <a:srgbClr val="FFFFFF"/>
                    </a:solidFill>
                  </a:tcPr>
                </a:tc>
                <a:tc>
                  <a:txBody>
                    <a:bodyPr/>
                    <a:lstStyle/>
                    <a:p>
                      <a:r>
                        <a:rPr sz="1000" b="0">
                          <a:solidFill>
                            <a:srgbClr val="222A3F"/>
                          </a:solidFill>
                          <a:latin typeface="Cambria"/>
                        </a:rPr>
                        <a:t>Pair Just-Works on every connect; never store a bond; never deleteAllBonds() at boot</a:t>
                      </a:r>
                    </a:p>
                  </a:txBody>
                  <a:tcPr marL="73152" marR="73152" marT="27432" marB="27432">
                    <a:solidFill>
                      <a:srgbClr val="FFFFFF"/>
                    </a:solidFill>
                  </a:tcPr>
                </a:tc>
                <a:tc>
                  <a:txBody>
                    <a:bodyPr/>
                    <a:lstStyle/>
                    <a:p>
                      <a:r>
                        <a:rPr sz="1000" b="0">
                          <a:solidFill>
                            <a:srgbClr val="222A3F"/>
                          </a:solidFill>
                          <a:latin typeface="Cambria"/>
                        </a:rPr>
                        <a:t>Feature: one-path BLE state machine, any failure tears down to SCANNING (ble_link.cpp, manual 8)</a:t>
                      </a:r>
                    </a:p>
                  </a:txBody>
                  <a:tcPr marL="73152" marR="73152" marT="27432" marB="27432">
                    <a:solidFill>
                      <a:srgbClr val="FFFFFF"/>
                    </a:solidFill>
                  </a:tcPr>
                </a:tc>
              </a:tr>
              <a:tr h="731520">
                <a:tc>
                  <a:txBody>
                    <a:bodyPr/>
                    <a:lstStyle/>
                    <a:p>
                      <a:r>
                        <a:rPr sz="1000" b="1">
                          <a:solidFill>
                            <a:srgbClr val="222A3F"/>
                          </a:solidFill>
                          <a:latin typeface="Cambria"/>
                        </a:rPr>
                        <a:t>3  PIN pairing refused (rc=1284)</a:t>
                      </a:r>
                    </a:p>
                  </a:txBody>
                  <a:tcPr marL="73152" marR="73152" marT="27432" marB="27432">
                    <a:solidFill>
                      <a:srgbClr val="F2F5FA"/>
                    </a:solidFill>
                  </a:tcPr>
                </a:tc>
                <a:tc>
                  <a:txBody>
                    <a:bodyPr/>
                    <a:lstStyle/>
                    <a:p>
                      <a:r>
                        <a:rPr sz="1000" b="0">
                          <a:solidFill>
                            <a:srgbClr val="222A3F"/>
                          </a:solidFill>
                          <a:latin typeface="Cambria"/>
                        </a:rPr>
                        <a:t>Radio default RANDOM_PIN needs a keypad to type the PIN; the display has none, so the pairing confirm values never match</a:t>
                      </a:r>
                    </a:p>
                  </a:txBody>
                  <a:tcPr marL="73152" marR="73152" marT="27432" marB="27432">
                    <a:solidFill>
                      <a:srgbClr val="F2F5FA"/>
                    </a:solidFill>
                  </a:tcPr>
                </a:tc>
                <a:tc>
                  <a:txBody>
                    <a:bodyPr/>
                    <a:lstStyle/>
                    <a:p>
                      <a:r>
                        <a:rPr sz="1000" b="0">
                          <a:solidFill>
                            <a:srgbClr val="222A3F"/>
                          </a:solidFill>
                          <a:latin typeface="Cambria"/>
                        </a:rPr>
                        <a:t>Encrypted link never forms: no config, no GPS</a:t>
                      </a:r>
                    </a:p>
                  </a:txBody>
                  <a:tcPr marL="73152" marR="73152" marT="27432" marB="27432">
                    <a:solidFill>
                      <a:srgbClr val="F2F5FA"/>
                    </a:solidFill>
                  </a:tcPr>
                </a:tc>
                <a:tc>
                  <a:txBody>
                    <a:bodyPr/>
                    <a:lstStyle/>
                    <a:p>
                      <a:r>
                        <a:rPr sz="1000" b="0">
                          <a:solidFill>
                            <a:srgbClr val="222A3F"/>
                          </a:solidFill>
                          <a:latin typeface="Cambria"/>
                        </a:rPr>
                        <a:t>Radios provisioned with bluetooth.mode NO_PIN</a:t>
                      </a:r>
                    </a:p>
                  </a:txBody>
                  <a:tcPr marL="73152" marR="73152" marT="27432" marB="27432">
                    <a:solidFill>
                      <a:srgbClr val="F2F5FA"/>
                    </a:solidFill>
                  </a:tcPr>
                </a:tc>
                <a:tc>
                  <a:txBody>
                    <a:bodyPr/>
                    <a:lstStyle/>
                    <a:p>
                      <a:r>
                        <a:rPr sz="1000" b="0">
                          <a:solidFill>
                            <a:srgbClr val="222A3F"/>
                          </a:solidFill>
                          <a:latin typeface="Cambria"/>
                        </a:rPr>
                        <a:t>Signature: NO_PIN reverting is how failures 8 and 10 announce themselves (status 261)</a:t>
                      </a:r>
                    </a:p>
                  </a:txBody>
                  <a:tcPr marL="73152" marR="73152" marT="27432" marB="27432">
                    <a:solidFill>
                      <a:srgbClr val="F2F5FA"/>
                    </a:solidFill>
                  </a:tcPr>
                </a:tc>
              </a:tr>
            </a:tbl>
          </a:graphicData>
        </a:graphic>
      </p:graphicFrame>
      <p:pic>
        <p:nvPicPr>
          <p:cNvPr id="12" name="Picture 11" descr="g_bringup.png"/>
          <p:cNvPicPr>
            <a:picLocks noChangeAspect="1"/>
          </p:cNvPicPr>
          <p:nvPr/>
        </p:nvPicPr>
        <p:blipFill>
          <a:blip r:embed="rId2"/>
          <a:stretch>
            <a:fillRect/>
          </a:stretch>
        </p:blipFill>
        <p:spPr>
          <a:xfrm>
            <a:off x="502920" y="4343400"/>
            <a:ext cx="8001000" cy="1742153"/>
          </a:xfrm>
          <a:prstGeom prst="rect">
            <a:avLst/>
          </a:prstGeom>
        </p:spPr>
      </p:pic>
      <p:sp>
        <p:nvSpPr>
          <p:cNvPr id="13" name="Rectangle 12"/>
          <p:cNvSpPr/>
          <p:nvPr/>
        </p:nvSpPr>
        <p:spPr>
          <a:xfrm>
            <a:off x="8686800" y="4343400"/>
            <a:ext cx="3017520" cy="1746504"/>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4462272"/>
            <a:ext cx="2688336" cy="1508760"/>
          </a:xfrm>
          <a:prstGeom prst="rect">
            <a:avLst/>
          </a:prstGeom>
          <a:noFill/>
        </p:spPr>
        <p:txBody>
          <a:bodyPr wrap="square" lIns="0" rIns="0" tIns="0" bIns="0">
            <a:spAutoFit/>
          </a:bodyPr>
          <a:lstStyle/>
          <a:p>
            <a:r>
              <a:rPr sz="1200" b="1" spc="100">
                <a:solidFill>
                  <a:srgbClr val="16213D"/>
                </a:solidFill>
                <a:latin typeface="Cambria"/>
              </a:rPr>
              <a:t>READING THE FIGURE</a:t>
            </a:r>
          </a:p>
          <a:p>
            <a:pPr>
              <a:spcBef>
                <a:spcPts val="400"/>
              </a:spcBef>
            </a:pPr>
            <a:r>
              <a:rPr sz="1050">
                <a:solidFill>
                  <a:srgbClr val="222A3F"/>
                </a:solidFill>
                <a:latin typeface="Cambria"/>
              </a:rPr>
              <a:t>The display's start-up path. Each red dot is where day one stopped; the green line under it is the fix. rc=1284 is the Bluetooth stack's 'confirm value failed' code: the two sides computed different pairing confirms because one had a PIN and the other could not enter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05/21  REV D  2026-11-04</a:t>
            </a:r>
          </a:p>
        </p:txBody>
      </p:sp>
      <p:sp>
        <p:nvSpPr>
          <p:cNvPr id="7" name="Rectangle 6"/>
          <p:cNvSpPr/>
          <p:nvPr/>
        </p:nvSpPr>
        <p:spPr>
          <a:xfrm>
            <a:off x="9646920" y="347472"/>
            <a:ext cx="2148840" cy="420624"/>
          </a:xfrm>
          <a:prstGeom prst="rect">
            <a:avLst/>
          </a:prstGeom>
          <a:solidFill>
            <a:srgbClr val="FFFFFF"/>
          </a:solidFill>
          <a:ln w="19050">
            <a:solidFill>
              <a:srgbClr val="6D4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6D4BDB"/>
                </a:solidFill>
                <a:latin typeface="Courier New"/>
              </a:rPr>
              <a:t>OWNER: JOSIAH</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FAILURES 4-6: FIRST DRIVE, WRONG FLASH, LYING CLI</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September 1 to 3: five faults on one drive, then two tooling failures on the bench</a:t>
            </a:r>
          </a:p>
        </p:txBody>
      </p:sp>
      <p:graphicFrame>
        <p:nvGraphicFramePr>
          <p:cNvPr id="11" name="Table 10"/>
          <p:cNvGraphicFramePr>
            <a:graphicFrameLocks noGrp="1"/>
          </p:cNvGraphicFramePr>
          <p:nvPr/>
        </p:nvGraphicFramePr>
        <p:xfrm>
          <a:off x="502920" y="1234440"/>
          <a:ext cx="11155680" cy="2926080"/>
        </p:xfrm>
        <a:graphic>
          <a:graphicData uri="http://schemas.openxmlformats.org/drawingml/2006/table">
            <a:tbl>
              <a:tblPr firstRow="1" bandRow="1">
                <a:tableStyleId>{5C22544A-7EE6-4342-B048-85BDC9FD1C3A}</a:tableStyleId>
              </a:tblPr>
              <a:tblGrid>
                <a:gridCol w="1417320"/>
                <a:gridCol w="2971800"/>
                <a:gridCol w="2103120"/>
                <a:gridCol w="2286000"/>
                <a:gridCol w="2377440"/>
              </a:tblGrid>
              <a:tr h="731520">
                <a:tc>
                  <a:txBody>
                    <a:bodyPr/>
                    <a:lstStyle/>
                    <a:p>
                      <a:r>
                        <a:rPr sz="1000" b="1">
                          <a:solidFill>
                            <a:srgbClr val="FFFFFF"/>
                          </a:solidFill>
                          <a:latin typeface="Cambria"/>
                        </a:rPr>
                        <a:t>Failure</a:t>
                      </a:r>
                    </a:p>
                  </a:txBody>
                  <a:tcPr marL="73152" marR="73152" marT="27432" marB="27432">
                    <a:solidFill>
                      <a:srgbClr val="16213D"/>
                    </a:solidFill>
                  </a:tcPr>
                </a:tc>
                <a:tc>
                  <a:txBody>
                    <a:bodyPr/>
                    <a:lstStyle/>
                    <a:p>
                      <a:r>
                        <a:rPr sz="1000" b="1">
                          <a:solidFill>
                            <a:srgbClr val="FFFFFF"/>
                          </a:solidFill>
                          <a:latin typeface="Cambria"/>
                        </a:rPr>
                        <a:t>Cause</a:t>
                      </a:r>
                    </a:p>
                  </a:txBody>
                  <a:tcPr marL="73152" marR="73152" marT="27432" marB="27432">
                    <a:solidFill>
                      <a:srgbClr val="16213D"/>
                    </a:solidFill>
                  </a:tcPr>
                </a:tc>
                <a:tc>
                  <a:txBody>
                    <a:bodyPr/>
                    <a:lstStyle/>
                    <a:p>
                      <a:r>
                        <a:rPr sz="1000" b="1">
                          <a:solidFill>
                            <a:srgbClr val="FFFFFF"/>
                          </a:solidFill>
                          <a:latin typeface="Cambria"/>
                        </a:rPr>
                        <a:t>Impact</a:t>
                      </a:r>
                    </a:p>
                  </a:txBody>
                  <a:tcPr marL="73152" marR="73152" marT="27432" marB="27432">
                    <a:solidFill>
                      <a:srgbClr val="16213D"/>
                    </a:solidFill>
                  </a:tcPr>
                </a:tc>
                <a:tc>
                  <a:txBody>
                    <a:bodyPr/>
                    <a:lstStyle/>
                    <a:p>
                      <a:r>
                        <a:rPr sz="1000" b="1">
                          <a:solidFill>
                            <a:srgbClr val="FFFFFF"/>
                          </a:solidFill>
                          <a:latin typeface="Cambria"/>
                        </a:rPr>
                        <a:t>Fix</a:t>
                      </a:r>
                    </a:p>
                  </a:txBody>
                  <a:tcPr marL="73152" marR="73152" marT="27432" marB="27432">
                    <a:solidFill>
                      <a:srgbClr val="16213D"/>
                    </a:solidFill>
                  </a:tcPr>
                </a:tc>
                <a:tc>
                  <a:txBody>
                    <a:bodyPr/>
                    <a:lstStyle/>
                    <a:p>
                      <a:r>
                        <a:rPr sz="1000" b="1">
                          <a:solidFill>
                            <a:srgbClr val="FFFFFF"/>
                          </a:solidFill>
                          <a:latin typeface="Cambria"/>
                        </a:rPr>
                        <a:t>Became</a:t>
                      </a:r>
                    </a:p>
                  </a:txBody>
                  <a:tcPr marL="73152" marR="73152" marT="27432" marB="27432">
                    <a:solidFill>
                      <a:srgbClr val="16213D"/>
                    </a:solidFill>
                  </a:tcPr>
                </a:tc>
              </a:tr>
              <a:tr h="731520">
                <a:tc>
                  <a:txBody>
                    <a:bodyPr/>
                    <a:lstStyle/>
                    <a:p>
                      <a:r>
                        <a:rPr sz="1000" b="1">
                          <a:solidFill>
                            <a:srgbClr val="222A3F"/>
                          </a:solidFill>
                          <a:latin typeface="Cambria"/>
                        </a:rPr>
                        <a:t>4  First drive: five faults</a:t>
                      </a:r>
                    </a:p>
                  </a:txBody>
                  <a:tcPr marL="73152" marR="73152" marT="27432" marB="27432">
                    <a:solidFill>
                      <a:srgbClr val="F2F5FA"/>
                    </a:solidFill>
                  </a:tcPr>
                </a:tc>
                <a:tc>
                  <a:txBody>
                    <a:bodyPr/>
                    <a:lstStyle/>
                    <a:p>
                      <a:r>
                        <a:rPr sz="1000" b="0">
                          <a:solidFill>
                            <a:srgbClr val="222A3F"/>
                          </a:solidFill>
                          <a:latin typeface="Cambria"/>
                        </a:rPr>
                        <a:t>Channel precision 13 snaps every position to a 5.8 km cell; GPS refresh 120 s; speed sent in km/h; GPS jitter read as speed; wrong time-zone line</a:t>
                      </a:r>
                    </a:p>
                  </a:txBody>
                  <a:tcPr marL="73152" marR="73152" marT="27432" marB="27432">
                    <a:solidFill>
                      <a:srgbClr val="F2F5FA"/>
                    </a:solidFill>
                  </a:tcPr>
                </a:tc>
                <a:tc>
                  <a:txBody>
                    <a:bodyPr/>
                    <a:lstStyle/>
                    <a:p>
                      <a:r>
                        <a:rPr sz="1000" b="0">
                          <a:solidFill>
                            <a:srgbClr val="222A3F"/>
                          </a:solidFill>
                          <a:latin typeface="Cambria"/>
                        </a:rPr>
                        <a:t>Partner frozen on a grid, 4 min late, wrong speed, parked car 'moving', clock an hour off</a:t>
                      </a:r>
                    </a:p>
                  </a:txBody>
                  <a:tcPr marL="73152" marR="73152" marT="27432" marB="27432">
                    <a:solidFill>
                      <a:srgbClr val="F2F5FA"/>
                    </a:solidFill>
                  </a:tcPr>
                </a:tc>
                <a:tc>
                  <a:txBody>
                    <a:bodyPr/>
                    <a:lstStyle/>
                    <a:p>
                      <a:r>
                        <a:rPr sz="1000" b="0">
                          <a:solidFill>
                            <a:srgbClr val="222A3F"/>
                          </a:solidFill>
                          <a:latin typeface="Cambria"/>
                        </a:rPr>
                        <a:t>Precision 32; GPS 10 s; km/h decode; 4.5 km/h deadband; time-zone bands to the NM border</a:t>
                      </a:r>
                    </a:p>
                  </a:txBody>
                  <a:tcPr marL="73152" marR="73152" marT="27432" marB="27432">
                    <a:solidFill>
                      <a:srgbClr val="F2F5FA"/>
                    </a:solidFill>
                  </a:tcPr>
                </a:tc>
                <a:tc>
                  <a:txBody>
                    <a:bodyPr/>
                    <a:lstStyle/>
                    <a:p>
                      <a:r>
                        <a:rPr sz="1000" b="0">
                          <a:solidFill>
                            <a:srgbClr val="222A3F"/>
                          </a:solidFill>
                          <a:latin typeface="Cambria"/>
                        </a:rPr>
                        <a:t>Rule: validate every feature on the road, never on a windowsill (provisioning recipe, node_table.cpp)</a:t>
                      </a:r>
                    </a:p>
                  </a:txBody>
                  <a:tcPr marL="73152" marR="73152" marT="27432" marB="27432">
                    <a:solidFill>
                      <a:srgbClr val="F2F5FA"/>
                    </a:solidFill>
                  </a:tcPr>
                </a:tc>
              </a:tr>
              <a:tr h="731520">
                <a:tc>
                  <a:txBody>
                    <a:bodyPr/>
                    <a:lstStyle/>
                    <a:p>
                      <a:r>
                        <a:rPr sz="1000" b="1">
                          <a:solidFill>
                            <a:srgbClr val="222A3F"/>
                          </a:solidFill>
                          <a:latin typeface="Cambria"/>
                        </a:rPr>
                        <a:t>5  Display firmware flashed onto a radio</a:t>
                      </a:r>
                    </a:p>
                  </a:txBody>
                  <a:tcPr marL="73152" marR="73152" marT="27432" marB="27432">
                    <a:solidFill>
                      <a:srgbClr val="FFFFFF"/>
                    </a:solidFill>
                  </a:tcPr>
                </a:tc>
                <a:tc>
                  <a:txBody>
                    <a:bodyPr/>
                    <a:lstStyle/>
                    <a:p>
                      <a:r>
                        <a:rPr sz="1000" b="0">
                          <a:solidFill>
                            <a:srgbClr val="222A3F"/>
                          </a:solidFill>
                          <a:latin typeface="Cambria"/>
                        </a:rPr>
                        <a:t>Radios and displays share USB ID 303A:1001; a tool auto-picked the port</a:t>
                      </a:r>
                    </a:p>
                  </a:txBody>
                  <a:tcPr marL="73152" marR="73152" marT="27432" marB="27432">
                    <a:solidFill>
                      <a:srgbClr val="FFFFFF"/>
                    </a:solidFill>
                  </a:tcPr>
                </a:tc>
                <a:tc>
                  <a:txBody>
                    <a:bodyPr/>
                    <a:lstStyle/>
                    <a:p>
                      <a:r>
                        <a:rPr sz="1000" b="0">
                          <a:solidFill>
                            <a:srgbClr val="222A3F"/>
                          </a:solidFill>
                          <a:latin typeface="Cambria"/>
                        </a:rPr>
                        <a:t>Meshtastic erased; radio out for an afternoon; full re-provision</a:t>
                      </a:r>
                    </a:p>
                  </a:txBody>
                  <a:tcPr marL="73152" marR="73152" marT="27432" marB="27432">
                    <a:solidFill>
                      <a:srgbClr val="FFFFFF"/>
                    </a:solidFill>
                  </a:tcPr>
                </a:tc>
                <a:tc>
                  <a:txBody>
                    <a:bodyPr/>
                    <a:lstStyle/>
                    <a:p>
                      <a:r>
                        <a:rPr sz="1000" b="0">
                          <a:solidFill>
                            <a:srgbClr val="222A3F"/>
                          </a:solidFill>
                          <a:latin typeface="Cambria"/>
                        </a:rPr>
                        <a:t>esptool erase, factory image, re-provision (node number survives: MAC-derived)</a:t>
                      </a:r>
                    </a:p>
                  </a:txBody>
                  <a:tcPr marL="73152" marR="73152" marT="27432" marB="27432">
                    <a:solidFill>
                      <a:srgbClr val="FFFFFF"/>
                    </a:solidFill>
                  </a:tcPr>
                </a:tc>
                <a:tc>
                  <a:txBody>
                    <a:bodyPr/>
                    <a:lstStyle/>
                    <a:p>
                      <a:r>
                        <a:rPr sz="1000" b="0">
                          <a:solidFill>
                            <a:srgbClr val="222A3F"/>
                          </a:solidFill>
                          <a:latin typeface="Cambria"/>
                        </a:rPr>
                        <a:t>Rule: identify every board by its MAC before any upload; never let a tool pick the port (manual 14.2)</a:t>
                      </a:r>
                    </a:p>
                  </a:txBody>
                  <a:tcPr marL="73152" marR="73152" marT="27432" marB="27432">
                    <a:solidFill>
                      <a:srgbClr val="FFFFFF"/>
                    </a:solidFill>
                  </a:tcPr>
                </a:tc>
              </a:tr>
              <a:tr h="731520">
                <a:tc>
                  <a:txBody>
                    <a:bodyPr/>
                    <a:lstStyle/>
                    <a:p>
                      <a:r>
                        <a:rPr sz="1000" b="1">
                          <a:solidFill>
                            <a:srgbClr val="222A3F"/>
                          </a:solidFill>
                          <a:latin typeface="Cambria"/>
                        </a:rPr>
                        <a:t>6  Config write silently reverted</a:t>
                      </a:r>
                    </a:p>
                  </a:txBody>
                  <a:tcPr marL="73152" marR="73152" marT="27432" marB="27432">
                    <a:solidFill>
                      <a:srgbClr val="F2F5FA"/>
                    </a:solidFill>
                  </a:tcPr>
                </a:tc>
                <a:tc>
                  <a:txBody>
                    <a:bodyPr/>
                    <a:lstStyle/>
                    <a:p>
                      <a:r>
                        <a:rPr sz="1000" b="0">
                          <a:solidFill>
                            <a:srgbClr val="222A3F"/>
                          </a:solidFill>
                          <a:latin typeface="Cambria"/>
                        </a:rPr>
                        <a:t>Closing the CLI's serial port toggles DTR/RTS and resets the ESP32 mid-save</a:t>
                      </a:r>
                    </a:p>
                  </a:txBody>
                  <a:tcPr marL="73152" marR="73152" marT="27432" marB="27432">
                    <a:solidFill>
                      <a:srgbClr val="F2F5FA"/>
                    </a:solidFill>
                  </a:tcPr>
                </a:tc>
                <a:tc>
                  <a:txBody>
                    <a:bodyPr/>
                    <a:lstStyle/>
                    <a:p>
                      <a:r>
                        <a:rPr sz="1000" b="0">
                          <a:solidFill>
                            <a:srgbClr val="222A3F"/>
                          </a:solidFill>
                          <a:latin typeface="Cambria"/>
                        </a:rPr>
                        <a:t>Write 'succeeds'; the next read shows the old value; nothing on screen changes</a:t>
                      </a:r>
                    </a:p>
                  </a:txBody>
                  <a:tcPr marL="73152" marR="73152" marT="27432" marB="27432">
                    <a:solidFill>
                      <a:srgbClr val="F2F5FA"/>
                    </a:solidFill>
                  </a:tcPr>
                </a:tc>
                <a:tc>
                  <a:txBody>
                    <a:bodyPr/>
                    <a:lstStyle/>
                    <a:p>
                      <a:r>
                        <a:rPr sz="1000" b="0">
                          <a:solidFill>
                            <a:srgbClr val="222A3F"/>
                          </a:solidFill>
                          <a:latin typeface="Cambria"/>
                        </a:rPr>
                        <a:t>Hold the port open (Python API); re-run the whole block</a:t>
                      </a:r>
                    </a:p>
                  </a:txBody>
                  <a:tcPr marL="73152" marR="73152" marT="27432" marB="27432">
                    <a:solidFill>
                      <a:srgbClr val="F2F5FA"/>
                    </a:solidFill>
                  </a:tcPr>
                </a:tc>
                <a:tc>
                  <a:txBody>
                    <a:bodyPr/>
                    <a:lstStyle/>
                    <a:p>
                      <a:r>
                        <a:rPr sz="1000" b="0">
                          <a:solidFill>
                            <a:srgbClr val="222A3F"/>
                          </a:solidFill>
                          <a:latin typeface="Cambria"/>
                        </a:rPr>
                        <a:t>Rule: read back every write; the OLED outranks the CLI (manual 16, entry 6)</a:t>
                      </a:r>
                    </a:p>
                  </a:txBody>
                  <a:tcPr marL="73152" marR="73152" marT="27432" marB="27432">
                    <a:solidFill>
                      <a:srgbClr val="F2F5FA"/>
                    </a:solidFill>
                  </a:tcPr>
                </a:tc>
              </a:tr>
            </a:tbl>
          </a:graphicData>
        </a:graphic>
      </p:graphicFrame>
      <p:pic>
        <p:nvPicPr>
          <p:cNvPr id="12" name="Picture 11" descr="g_precision.png"/>
          <p:cNvPicPr>
            <a:picLocks noChangeAspect="1"/>
          </p:cNvPicPr>
          <p:nvPr/>
        </p:nvPicPr>
        <p:blipFill>
          <a:blip r:embed="rId2"/>
          <a:stretch>
            <a:fillRect/>
          </a:stretch>
        </p:blipFill>
        <p:spPr>
          <a:xfrm>
            <a:off x="502920" y="4343400"/>
            <a:ext cx="8001000" cy="1742153"/>
          </a:xfrm>
          <a:prstGeom prst="rect">
            <a:avLst/>
          </a:prstGeom>
        </p:spPr>
      </p:pic>
      <p:sp>
        <p:nvSpPr>
          <p:cNvPr id="13" name="Rectangle 12"/>
          <p:cNvSpPr/>
          <p:nvPr/>
        </p:nvSpPr>
        <p:spPr>
          <a:xfrm>
            <a:off x="8686800" y="4343400"/>
            <a:ext cx="3017520" cy="1746504"/>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4462272"/>
            <a:ext cx="2688336" cy="1508760"/>
          </a:xfrm>
          <a:prstGeom prst="rect">
            <a:avLst/>
          </a:prstGeom>
          <a:noFill/>
        </p:spPr>
        <p:txBody>
          <a:bodyPr wrap="square" lIns="0" rIns="0" tIns="0" bIns="0">
            <a:spAutoFit/>
          </a:bodyPr>
          <a:lstStyle/>
          <a:p>
            <a:r>
              <a:rPr sz="1200" b="1" spc="100">
                <a:solidFill>
                  <a:srgbClr val="16213D"/>
                </a:solidFill>
                <a:latin typeface="Cambria"/>
              </a:rPr>
              <a:t>READING THE FIGURE</a:t>
            </a:r>
          </a:p>
          <a:p>
            <a:pPr>
              <a:spcBef>
                <a:spcPts val="400"/>
              </a:spcBef>
            </a:pPr>
            <a:r>
              <a:rPr sz="1050">
                <a:solidFill>
                  <a:srgbClr val="222A3F"/>
                </a:solidFill>
                <a:latin typeface="Cambria"/>
              </a:rPr>
              <a:t>Meshtastic sends latitude and longitude as 32-bit numbers and the channel's precision setting says how many of those bits to keep. The default keeps 13: every broadcast lands on the centre of a 5.8 km cell, so a moving partner looks frozen. We keep all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06/21  REV D  2026-11-04</a:t>
            </a:r>
          </a:p>
        </p:txBody>
      </p:sp>
      <p:sp>
        <p:nvSpPr>
          <p:cNvPr id="7" name="Rectangle 6"/>
          <p:cNvSpPr/>
          <p:nvPr/>
        </p:nvSpPr>
        <p:spPr>
          <a:xfrm>
            <a:off x="9646920" y="347472"/>
            <a:ext cx="2148840" cy="420624"/>
          </a:xfrm>
          <a:prstGeom prst="rect">
            <a:avLst/>
          </a:prstGeom>
          <a:solidFill>
            <a:srgbClr val="FFFFFF"/>
          </a:solidFill>
          <a:ln w="19050">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E58E1A"/>
                </a:solidFill>
                <a:latin typeface="Courier New"/>
              </a:rPr>
              <a:t>OWNER: VICTOR</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FAILURES 7-9: SILENCE, BATTERY DEATH, THE COMPASS</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September 25 to October 24: the name sets the frequency, the flash holds the configuration, the compass sits in the driver's hands</a:t>
            </a:r>
          </a:p>
        </p:txBody>
      </p:sp>
      <p:graphicFrame>
        <p:nvGraphicFramePr>
          <p:cNvPr id="11" name="Table 10"/>
          <p:cNvGraphicFramePr>
            <a:graphicFrameLocks noGrp="1"/>
          </p:cNvGraphicFramePr>
          <p:nvPr/>
        </p:nvGraphicFramePr>
        <p:xfrm>
          <a:off x="502920" y="1234440"/>
          <a:ext cx="11155680" cy="2926080"/>
        </p:xfrm>
        <a:graphic>
          <a:graphicData uri="http://schemas.openxmlformats.org/drawingml/2006/table">
            <a:tbl>
              <a:tblPr firstRow="1" bandRow="1">
                <a:tableStyleId>{5C22544A-7EE6-4342-B048-85BDC9FD1C3A}</a:tableStyleId>
              </a:tblPr>
              <a:tblGrid>
                <a:gridCol w="1417320"/>
                <a:gridCol w="2971800"/>
                <a:gridCol w="2103120"/>
                <a:gridCol w="2286000"/>
                <a:gridCol w="2377440"/>
              </a:tblGrid>
              <a:tr h="731520">
                <a:tc>
                  <a:txBody>
                    <a:bodyPr/>
                    <a:lstStyle/>
                    <a:p>
                      <a:r>
                        <a:rPr sz="1000" b="1">
                          <a:solidFill>
                            <a:srgbClr val="FFFFFF"/>
                          </a:solidFill>
                          <a:latin typeface="Cambria"/>
                        </a:rPr>
                        <a:t>Failure</a:t>
                      </a:r>
                    </a:p>
                  </a:txBody>
                  <a:tcPr marL="73152" marR="73152" marT="27432" marB="27432">
                    <a:solidFill>
                      <a:srgbClr val="16213D"/>
                    </a:solidFill>
                  </a:tcPr>
                </a:tc>
                <a:tc>
                  <a:txBody>
                    <a:bodyPr/>
                    <a:lstStyle/>
                    <a:p>
                      <a:r>
                        <a:rPr sz="1000" b="1">
                          <a:solidFill>
                            <a:srgbClr val="FFFFFF"/>
                          </a:solidFill>
                          <a:latin typeface="Cambria"/>
                        </a:rPr>
                        <a:t>Cause</a:t>
                      </a:r>
                    </a:p>
                  </a:txBody>
                  <a:tcPr marL="73152" marR="73152" marT="27432" marB="27432">
                    <a:solidFill>
                      <a:srgbClr val="16213D"/>
                    </a:solidFill>
                  </a:tcPr>
                </a:tc>
                <a:tc>
                  <a:txBody>
                    <a:bodyPr/>
                    <a:lstStyle/>
                    <a:p>
                      <a:r>
                        <a:rPr sz="1000" b="1">
                          <a:solidFill>
                            <a:srgbClr val="FFFFFF"/>
                          </a:solidFill>
                          <a:latin typeface="Cambria"/>
                        </a:rPr>
                        <a:t>Impact</a:t>
                      </a:r>
                    </a:p>
                  </a:txBody>
                  <a:tcPr marL="73152" marR="73152" marT="27432" marB="27432">
                    <a:solidFill>
                      <a:srgbClr val="16213D"/>
                    </a:solidFill>
                  </a:tcPr>
                </a:tc>
                <a:tc>
                  <a:txBody>
                    <a:bodyPr/>
                    <a:lstStyle/>
                    <a:p>
                      <a:r>
                        <a:rPr sz="1000" b="1">
                          <a:solidFill>
                            <a:srgbClr val="FFFFFF"/>
                          </a:solidFill>
                          <a:latin typeface="Cambria"/>
                        </a:rPr>
                        <a:t>Fix</a:t>
                      </a:r>
                    </a:p>
                  </a:txBody>
                  <a:tcPr marL="73152" marR="73152" marT="27432" marB="27432">
                    <a:solidFill>
                      <a:srgbClr val="16213D"/>
                    </a:solidFill>
                  </a:tcPr>
                </a:tc>
                <a:tc>
                  <a:txBody>
                    <a:bodyPr/>
                    <a:lstStyle/>
                    <a:p>
                      <a:r>
                        <a:rPr sz="1000" b="1">
                          <a:solidFill>
                            <a:srgbClr val="FFFFFF"/>
                          </a:solidFill>
                          <a:latin typeface="Cambria"/>
                        </a:rPr>
                        <a:t>Became</a:t>
                      </a:r>
                    </a:p>
                  </a:txBody>
                  <a:tcPr marL="73152" marR="73152" marT="27432" marB="27432">
                    <a:solidFill>
                      <a:srgbClr val="16213D"/>
                    </a:solidFill>
                  </a:tcPr>
                </a:tc>
              </a:tr>
              <a:tr h="731520">
                <a:tc>
                  <a:txBody>
                    <a:bodyPr/>
                    <a:lstStyle/>
                    <a:p>
                      <a:r>
                        <a:rPr sz="1000" b="1">
                          <a:solidFill>
                            <a:srgbClr val="222A3F"/>
                          </a:solidFill>
                          <a:latin typeface="Cambria"/>
                        </a:rPr>
                        <a:t>7  '0 online', same configs</a:t>
                      </a:r>
                    </a:p>
                  </a:txBody>
                  <a:tcPr marL="73152" marR="73152" marT="27432" marB="27432">
                    <a:solidFill>
                      <a:srgbClr val="F2F5FA"/>
                    </a:solidFill>
                  </a:tcPr>
                </a:tc>
                <a:tc>
                  <a:txBody>
                    <a:bodyPr/>
                    <a:lstStyle/>
                    <a:p>
                      <a:r>
                        <a:rPr sz="1000" b="0">
                          <a:solidFill>
                            <a:srgbClr val="222A3F"/>
                          </a:solidFill>
                          <a:latin typeface="Cambria"/>
                        </a:rPr>
                        <a:t>The frequency is a hash of the channel name. One channel write reverted, so one radio sat on the public slot (906.875 MHz), the other on Group9's (912.875)</a:t>
                      </a:r>
                    </a:p>
                  </a:txBody>
                  <a:tcPr marL="73152" marR="73152" marT="27432" marB="27432">
                    <a:solidFill>
                      <a:srgbClr val="F2F5FA"/>
                    </a:solidFill>
                  </a:tcPr>
                </a:tc>
                <a:tc>
                  <a:txBody>
                    <a:bodyPr/>
                    <a:lstStyle/>
                    <a:p>
                      <a:r>
                        <a:rPr sz="1000" b="0">
                          <a:solidFill>
                            <a:srgbClr val="222A3F"/>
                          </a:solidFill>
                          <a:latin typeface="Cambria"/>
                        </a:rPr>
                        <a:t>Total mutual silence with healthy screens and identical config read-backs; a day of RF debugging</a:t>
                      </a:r>
                    </a:p>
                  </a:txBody>
                  <a:tcPr marL="73152" marR="73152" marT="27432" marB="27432">
                    <a:solidFill>
                      <a:srgbClr val="F2F5FA"/>
                    </a:solidFill>
                  </a:tcPr>
                </a:tc>
                <a:tc>
                  <a:txBody>
                    <a:bodyPr/>
                    <a:lstStyle/>
                    <a:p>
                      <a:r>
                        <a:rPr sz="1000" b="0">
                          <a:solidFill>
                            <a:srgbClr val="222A3F"/>
                          </a:solidFill>
                          <a:latin typeface="Cambria"/>
                        </a:rPr>
                        <a:t>Re-apply the channel, verify on the OLED, power-cycle, verify again</a:t>
                      </a:r>
                    </a:p>
                  </a:txBody>
                  <a:tcPr marL="73152" marR="73152" marT="27432" marB="27432">
                    <a:solidFill>
                      <a:srgbClr val="F2F5FA"/>
                    </a:solidFill>
                  </a:tcPr>
                </a:tc>
                <a:tc>
                  <a:txBody>
                    <a:bodyPr/>
                    <a:lstStyle/>
                    <a:p>
                      <a:r>
                        <a:rPr sz="1000" b="0">
                          <a:solidFill>
                            <a:srgbClr val="222A3F"/>
                          </a:solidFill>
                          <a:latin typeface="Cambria"/>
                        </a:rPr>
                        <a:t>Rule: pre-flight, both OLEDs read 912.875 before any drive (guide 3, manual 7)</a:t>
                      </a:r>
                    </a:p>
                  </a:txBody>
                  <a:tcPr marL="73152" marR="73152" marT="27432" marB="27432">
                    <a:solidFill>
                      <a:srgbClr val="F2F5FA"/>
                    </a:solidFill>
                  </a:tcPr>
                </a:tc>
              </a:tr>
              <a:tr h="731520">
                <a:tc>
                  <a:txBody>
                    <a:bodyPr/>
                    <a:lstStyle/>
                    <a:p>
                      <a:r>
                        <a:rPr sz="1000" b="1">
                          <a:solidFill>
                            <a:srgbClr val="222A3F"/>
                          </a:solidFill>
                          <a:latin typeface="Cambria"/>
                        </a:rPr>
                        <a:t>8  Battery death reverts config  (Sep 30 both; Oct 17 SF; Oct 24 SF)</a:t>
                      </a:r>
                    </a:p>
                  </a:txBody>
                  <a:tcPr marL="73152" marR="73152" marT="27432" marB="27432">
                    <a:solidFill>
                      <a:srgbClr val="FFFFFF"/>
                    </a:solidFill>
                  </a:tcPr>
                </a:tc>
                <a:tc>
                  <a:txBody>
                    <a:bodyPr/>
                    <a:lstStyle/>
                    <a:p>
                      <a:r>
                        <a:rPr sz="1000" b="0">
                          <a:solidFill>
                            <a:srgbClr val="222A3F"/>
                          </a:solidFill>
                          <a:latin typeface="Cambria"/>
                        </a:rPr>
                        <a:t>Flat battery, then boot-time flash writes on a sagging rail; the firmware installs factory defaults when a settings file will not read</a:t>
                      </a:r>
                    </a:p>
                  </a:txBody>
                  <a:tcPr marL="73152" marR="73152" marT="27432" marB="27432">
                    <a:solidFill>
                      <a:srgbClr val="FFFFFF"/>
                    </a:solidFill>
                  </a:tcPr>
                </a:tc>
                <a:tc>
                  <a:txBody>
                    <a:bodyPr/>
                    <a:lstStyle/>
                    <a:p>
                      <a:r>
                        <a:rPr sz="1000" b="0">
                          <a:solidFill>
                            <a:srgbClr val="222A3F"/>
                          </a:solidFill>
                          <a:latin typeface="Cambria"/>
                        </a:rPr>
                        <a:t>Channel, key, role, Bluetooth, owner, cadence lost in varying combinations; three times on SF, once on RG</a:t>
                      </a:r>
                    </a:p>
                  </a:txBody>
                  <a:tcPr marL="73152" marR="73152" marT="27432" marB="27432">
                    <a:solidFill>
                      <a:srgbClr val="FFFFFF"/>
                    </a:solidFill>
                  </a:tcPr>
                </a:tc>
                <a:tc>
                  <a:txBody>
                    <a:bodyPr/>
                    <a:lstStyle/>
                    <a:p>
                      <a:r>
                        <a:rPr sz="1000" b="0">
                          <a:solidFill>
                            <a:srgbClr val="222A3F"/>
                          </a:solidFill>
                          <a:latin typeface="Cambria"/>
                        </a:rPr>
                        <a:t>Snapshot per radio restored with --configure (90 s); phone-app QR path when no laptop is at hand</a:t>
                      </a:r>
                    </a:p>
                  </a:txBody>
                  <a:tcPr marL="73152" marR="73152" marT="27432" marB="27432">
                    <a:solidFill>
                      <a:srgbClr val="FFFFFF"/>
                    </a:solidFill>
                  </a:tcPr>
                </a:tc>
                <a:tc>
                  <a:txBody>
                    <a:bodyPr/>
                    <a:lstStyle/>
                    <a:p>
                      <a:r>
                        <a:rPr sz="1000" b="0">
                          <a:solidFill>
                            <a:srgbClr val="222A3F"/>
                          </a:solidFill>
                          <a:latin typeface="Cambria"/>
                        </a:rPr>
                        <a:t>Rule: never store a radio flat. Root cause, repair and fix: Part II</a:t>
                      </a:r>
                    </a:p>
                  </a:txBody>
                  <a:tcPr marL="73152" marR="73152" marT="27432" marB="27432">
                    <a:solidFill>
                      <a:srgbClr val="FFFFFF"/>
                    </a:solidFill>
                  </a:tcPr>
                </a:tc>
              </a:tr>
              <a:tr h="731520">
                <a:tc>
                  <a:txBody>
                    <a:bodyPr/>
                    <a:lstStyle/>
                    <a:p>
                      <a:r>
                        <a:rPr sz="1000" b="1">
                          <a:solidFill>
                            <a:srgbClr val="222A3F"/>
                          </a:solidFill>
                          <a:latin typeface="Cambria"/>
                        </a:rPr>
                        <a:t>9  Hand-rotated compass (Oct 4)</a:t>
                      </a:r>
                    </a:p>
                  </a:txBody>
                  <a:tcPr marL="73152" marR="73152" marT="27432" marB="27432">
                    <a:solidFill>
                      <a:srgbClr val="F2F5FA"/>
                    </a:solidFill>
                  </a:tcPr>
                </a:tc>
                <a:tc>
                  <a:txBody>
                    <a:bodyPr/>
                    <a:lstStyle/>
                    <a:p>
                      <a:r>
                        <a:rPr sz="1000" b="0">
                          <a:solidFill>
                            <a:srgbClr val="222A3F"/>
                          </a:solidFill>
                          <a:latin typeface="Cambria"/>
                        </a:rPr>
                        <a:t>North-up ring: the driver turned the unit to read it; the staleness cue alarmed after 59 s of a parked partner's normal silence</a:t>
                      </a:r>
                    </a:p>
                  </a:txBody>
                  <a:tcPr marL="73152" marR="73152" marT="27432" marB="27432">
                    <a:solidFill>
                      <a:srgbClr val="F2F5FA"/>
                    </a:solidFill>
                  </a:tcPr>
                </a:tc>
                <a:tc>
                  <a:txBody>
                    <a:bodyPr/>
                    <a:lstStyle/>
                    <a:p>
                      <a:r>
                        <a:rPr sz="1000" b="0">
                          <a:solidFill>
                            <a:srgbClr val="222A3F"/>
                          </a:solidFill>
                          <a:latin typeface="Cambria"/>
                        </a:rPr>
                        <a:t>Unreadable at night; a cue that cried wolf</a:t>
                      </a:r>
                    </a:p>
                  </a:txBody>
                  <a:tcPr marL="73152" marR="73152" marT="27432" marB="27432">
                    <a:solidFill>
                      <a:srgbClr val="F2F5FA"/>
                    </a:solidFill>
                  </a:tcPr>
                </a:tc>
                <a:tc>
                  <a:txBody>
                    <a:bodyPr/>
                    <a:lstStyle/>
                    <a:p>
                      <a:r>
                        <a:rPr sz="1000" b="0">
                          <a:solidFill>
                            <a:srgbClr val="222A3F"/>
                          </a:solidFill>
                          <a:latin typeface="Cambria"/>
                        </a:rPr>
                        <a:t>Course-up compass, nose at 12 o'clock, clock positions; staleness 30 s moving, 90 s parked</a:t>
                      </a:r>
                    </a:p>
                  </a:txBody>
                  <a:tcPr marL="73152" marR="73152" marT="27432" marB="27432">
                    <a:solidFill>
                      <a:srgbClr val="F2F5FA"/>
                    </a:solidFill>
                  </a:tcPr>
                </a:tc>
                <a:tc>
                  <a:txBody>
                    <a:bodyPr/>
                    <a:lstStyle/>
                    <a:p>
                      <a:r>
                        <a:rPr sz="1000" b="0">
                          <a:solidFill>
                            <a:srgbClr val="222A3F"/>
                          </a:solidFill>
                          <a:latin typeface="Cambria"/>
                        </a:rPr>
                        <a:t>Feature: the honest display. A cue that cries wolf is as wrong as one that stays silent (ui_render.cpp, manual 9)</a:t>
                      </a:r>
                    </a:p>
                  </a:txBody>
                  <a:tcPr marL="73152" marR="73152" marT="27432" marB="27432">
                    <a:solidFill>
                      <a:srgbClr val="F2F5FA"/>
                    </a:solidFill>
                  </a:tcPr>
                </a:tc>
              </a:tr>
            </a:tbl>
          </a:graphicData>
        </a:graphic>
      </p:graphicFrame>
      <p:pic>
        <p:nvPicPr>
          <p:cNvPr id="12" name="Picture 11" descr="g_slots.png"/>
          <p:cNvPicPr>
            <a:picLocks noChangeAspect="1"/>
          </p:cNvPicPr>
          <p:nvPr/>
        </p:nvPicPr>
        <p:blipFill>
          <a:blip r:embed="rId2"/>
          <a:stretch>
            <a:fillRect/>
          </a:stretch>
        </p:blipFill>
        <p:spPr>
          <a:xfrm>
            <a:off x="502920" y="4343400"/>
            <a:ext cx="8001000" cy="1742153"/>
          </a:xfrm>
          <a:prstGeom prst="rect">
            <a:avLst/>
          </a:prstGeom>
        </p:spPr>
      </p:pic>
      <p:sp>
        <p:nvSpPr>
          <p:cNvPr id="13" name="Rectangle 12"/>
          <p:cNvSpPr/>
          <p:nvPr/>
        </p:nvSpPr>
        <p:spPr>
          <a:xfrm>
            <a:off x="8686800" y="4343400"/>
            <a:ext cx="3017520" cy="1746504"/>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51392" y="4462272"/>
            <a:ext cx="2688336" cy="1508760"/>
          </a:xfrm>
          <a:prstGeom prst="rect">
            <a:avLst/>
          </a:prstGeom>
          <a:noFill/>
        </p:spPr>
        <p:txBody>
          <a:bodyPr wrap="square" lIns="0" rIns="0" tIns="0" bIns="0">
            <a:spAutoFit/>
          </a:bodyPr>
          <a:lstStyle/>
          <a:p>
            <a:r>
              <a:rPr sz="1200" b="1" spc="100">
                <a:solidFill>
                  <a:srgbClr val="16213D"/>
                </a:solidFill>
                <a:latin typeface="Cambria"/>
              </a:rPr>
              <a:t>READING THE FIGURE</a:t>
            </a:r>
          </a:p>
          <a:p>
            <a:pPr>
              <a:spcBef>
                <a:spcPts val="400"/>
              </a:spcBef>
            </a:pPr>
            <a:r>
              <a:rPr sz="1050">
                <a:solidFill>
                  <a:srgbClr val="222A3F"/>
                </a:solidFill>
                <a:latin typeface="Cambria"/>
              </a:rPr>
              <a:t>The US band is cut into 104 slots and Meshtastic picks the slot from a hash of the channel name. A radio that reverts to the default name moves to 906.875 MHz while its partner stays on 912.875: same key, no contact. The OLED shows the real slot; the CLI only shows the intended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FAILURES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07/21  REV D  2026-11-04</a:t>
            </a:r>
          </a:p>
        </p:txBody>
      </p:sp>
      <p:sp>
        <p:nvSpPr>
          <p:cNvPr id="7" name="Rectangle 6"/>
          <p:cNvSpPr/>
          <p:nvPr/>
        </p:nvSpPr>
        <p:spPr>
          <a:xfrm>
            <a:off x="9646920" y="347472"/>
            <a:ext cx="2148840" cy="420624"/>
          </a:xfrm>
          <a:prstGeom prst="rect">
            <a:avLst/>
          </a:prstGeom>
          <a:solidFill>
            <a:srgbClr val="FFFFFF"/>
          </a:solidFill>
          <a:ln w="19050">
            <a:solidFill>
              <a:srgbClr val="6D4B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6D4BDB"/>
                </a:solidFill>
                <a:latin typeface="Courier New"/>
              </a:rPr>
              <a:t>OWNER: JOSIAH</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FAILURE 10: THE NIGHT BEFORE THE CANYON (OCT 17)</a:t>
            </a:r>
          </a:p>
        </p:txBody>
      </p:sp>
      <p:sp>
        <p:nvSpPr>
          <p:cNvPr id="10" name="Rectangle 9"/>
          <p:cNvSpPr/>
          <p:nvPr/>
        </p:nvSpPr>
        <p:spPr>
          <a:xfrm>
            <a:off x="502920" y="1234440"/>
            <a:ext cx="3657600" cy="2011680"/>
          </a:xfrm>
          <a:prstGeom prst="rect">
            <a:avLst/>
          </a:prstGeom>
          <a:solidFill>
            <a:srgbClr val="F2F5FA"/>
          </a:solidFill>
          <a:ln w="15875">
            <a:solidFill>
              <a:srgbClr val="5E6B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353312"/>
            <a:ext cx="3328416" cy="1773936"/>
          </a:xfrm>
          <a:prstGeom prst="rect">
            <a:avLst/>
          </a:prstGeom>
          <a:noFill/>
        </p:spPr>
        <p:txBody>
          <a:bodyPr wrap="square" lIns="0" rIns="0" tIns="0" bIns="0">
            <a:spAutoFit/>
          </a:bodyPr>
          <a:lstStyle/>
          <a:p>
            <a:r>
              <a:rPr sz="1350" b="1" spc="100">
                <a:solidFill>
                  <a:srgbClr val="5E6B85"/>
                </a:solidFill>
                <a:latin typeface="Cambria"/>
              </a:rPr>
              <a:t>DISPLAY 1 "DEAD"</a:t>
            </a:r>
          </a:p>
          <a:p>
            <a:pPr>
              <a:spcBef>
                <a:spcPts val="400"/>
              </a:spcBef>
            </a:pPr>
            <a:r>
              <a:rPr sz="1250">
                <a:solidFill>
                  <a:srgbClr val="222A3F"/>
                </a:solidFill>
                <a:latin typeface="Cambria"/>
              </a:rPr>
              <a:t>Actually fine. Power banks shut off under the display's milliwatt draw, and a reflective screen in a dim room reads as off. Flashlight test first.</a:t>
            </a:r>
          </a:p>
        </p:txBody>
      </p:sp>
      <p:sp>
        <p:nvSpPr>
          <p:cNvPr id="12" name="Rectangle 11"/>
          <p:cNvSpPr/>
          <p:nvPr/>
        </p:nvSpPr>
        <p:spPr>
          <a:xfrm>
            <a:off x="4325112" y="1234440"/>
            <a:ext cx="3657600" cy="201168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3" y="1353312"/>
            <a:ext cx="3328416" cy="1773936"/>
          </a:xfrm>
          <a:prstGeom prst="rect">
            <a:avLst/>
          </a:prstGeom>
          <a:noFill/>
        </p:spPr>
        <p:txBody>
          <a:bodyPr wrap="square" lIns="0" rIns="0" tIns="0" bIns="0">
            <a:spAutoFit/>
          </a:bodyPr>
          <a:lstStyle/>
          <a:p>
            <a:r>
              <a:rPr sz="1350" b="1" spc="100">
                <a:solidFill>
                  <a:srgbClr val="E58E1A"/>
                </a:solidFill>
                <a:latin typeface="Cambria"/>
              </a:rPr>
              <a:t>DISPLAY 2 HALF-DEAD USB-C</a:t>
            </a:r>
          </a:p>
          <a:p>
            <a:pPr>
              <a:spcBef>
                <a:spcPts val="400"/>
              </a:spcBef>
            </a:pPr>
            <a:r>
              <a:rPr sz="1250">
                <a:solidFill>
                  <a:srgbClr val="222A3F"/>
                </a:solidFill>
                <a:latin typeface="Cambria"/>
              </a:rPr>
              <a:t>Powers in ONE plug orientation - damaged pins on one side. A coin-flip failure on every plug-in. Marked the working orientation; a repair item.</a:t>
            </a:r>
          </a:p>
        </p:txBody>
      </p:sp>
      <p:sp>
        <p:nvSpPr>
          <p:cNvPr id="14" name="Rectangle 13"/>
          <p:cNvSpPr/>
          <p:nvPr/>
        </p:nvSpPr>
        <p:spPr>
          <a:xfrm>
            <a:off x="8147304" y="1234440"/>
            <a:ext cx="3657600" cy="201168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1353312"/>
            <a:ext cx="3328416" cy="1773936"/>
          </a:xfrm>
          <a:prstGeom prst="rect">
            <a:avLst/>
          </a:prstGeom>
          <a:noFill/>
        </p:spPr>
        <p:txBody>
          <a:bodyPr wrap="square" lIns="0" rIns="0" tIns="0" bIns="0">
            <a:spAutoFit/>
          </a:bodyPr>
          <a:lstStyle/>
          <a:p>
            <a:r>
              <a:rPr sz="1350" b="1" spc="100">
                <a:solidFill>
                  <a:srgbClr val="C43A4B"/>
                </a:solidFill>
                <a:latin typeface="Cambria"/>
              </a:rPr>
              <a:t>RADIO EA:D4 REVERTED</a:t>
            </a:r>
          </a:p>
          <a:p>
            <a:pPr>
              <a:spcBef>
                <a:spcPts val="400"/>
              </a:spcBef>
            </a:pPr>
            <a:r>
              <a:rPr sz="1250">
                <a:solidFill>
                  <a:srgbClr val="222A3F"/>
                </a:solidFill>
                <a:latin typeface="Cambria"/>
              </a:rPr>
              <a:t>A week idle, battery flat: Bluetooth mode, channel and name gone. The display's serial log named it in one line: write status 261, insufficient authentication.</a:t>
            </a:r>
          </a:p>
        </p:txBody>
      </p:sp>
      <p:sp>
        <p:nvSpPr>
          <p:cNvPr id="16" name="Rectangle 15"/>
          <p:cNvSpPr/>
          <p:nvPr/>
        </p:nvSpPr>
        <p:spPr>
          <a:xfrm>
            <a:off x="502920" y="3474720"/>
            <a:ext cx="11155680" cy="169164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566160"/>
            <a:ext cx="10826496" cy="274320"/>
          </a:xfrm>
          <a:prstGeom prst="rect">
            <a:avLst/>
          </a:prstGeom>
          <a:noFill/>
        </p:spPr>
        <p:txBody>
          <a:bodyPr wrap="square" lIns="0" rIns="0" tIns="0" bIns="0">
            <a:spAutoFit/>
          </a:bodyPr>
          <a:lstStyle/>
          <a:p>
            <a:pPr algn="l"/>
            <a:r>
              <a:rPr sz="1000" b="1" i="0">
                <a:solidFill>
                  <a:srgbClr val="E58E1A"/>
                </a:solidFill>
                <a:latin typeface="Courier New"/>
              </a:rPr>
              <a:t>DISPLAY SERIAL LOG - THE SIGNATURE</a:t>
            </a:r>
          </a:p>
        </p:txBody>
      </p:sp>
      <p:sp>
        <p:nvSpPr>
          <p:cNvPr id="18" name="TextBox 17"/>
          <p:cNvSpPr txBox="1"/>
          <p:nvPr/>
        </p:nvSpPr>
        <p:spPr>
          <a:xfrm>
            <a:off x="667512" y="3858768"/>
            <a:ext cx="10826496" cy="1234440"/>
          </a:xfrm>
          <a:prstGeom prst="rect">
            <a:avLst/>
          </a:prstGeom>
          <a:noFill/>
        </p:spPr>
        <p:txBody>
          <a:bodyPr wrap="square" lIns="0" rIns="0" tIns="0" bIns="0">
            <a:spAutoFit/>
          </a:bodyPr>
          <a:lstStyle/>
          <a:p>
            <a:r>
              <a:rPr sz="1100">
                <a:solidFill>
                  <a:srgbClr val="C9D8F0"/>
                </a:solidFill>
                <a:latin typeface="Courier New"/>
              </a:rPr>
              <a:t>[ble] auth complete: encrypted=1 bonded=0</a:t>
            </a:r>
          </a:p>
          <a:p>
            <a:r>
              <a:rPr sz="1100">
                <a:solidFill>
                  <a:srgbClr val="FF9AA8"/>
                </a:solidFill>
                <a:latin typeface="Courier New"/>
              </a:rPr>
              <a:t>Write complete; status=261            &lt;- insufficient authentication: radio not in NO_PIN</a:t>
            </a:r>
          </a:p>
          <a:p>
            <a:r>
              <a:rPr sz="1100">
                <a:solidFill>
                  <a:srgbClr val="C9D8F0"/>
                </a:solidFill>
                <a:latin typeface="Courier New"/>
              </a:rPr>
              <a:t>[ble] want_config write failed</a:t>
            </a:r>
          </a:p>
          <a:p>
            <a:r>
              <a:rPr sz="1100">
                <a:solidFill>
                  <a:srgbClr val="C9D8F0"/>
                </a:solidFill>
                <a:latin typeface="Courier New"/>
              </a:rPr>
              <a:t>[ble] disconnected (reason 534)       &lt;- our side hung up, by design, to retry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 - THE TESTS</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08/21  REV D  2026-11-04</a:t>
            </a:r>
          </a:p>
        </p:txBody>
      </p:sp>
      <p:sp>
        <p:nvSpPr>
          <p:cNvPr id="7" name="Rectangle 6"/>
          <p:cNvSpPr/>
          <p:nvPr/>
        </p:nvSpPr>
        <p:spPr>
          <a:xfrm>
            <a:off x="9646920" y="347472"/>
            <a:ext cx="2148840" cy="420624"/>
          </a:xfrm>
          <a:prstGeom prst="rect">
            <a:avLst/>
          </a:prstGeom>
          <a:solidFill>
            <a:srgbClr val="FFFFFF"/>
          </a:solidFill>
          <a:ln w="19050">
            <a:solidFill>
              <a:srgbClr val="D94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D9488C"/>
                </a:solidFill>
                <a:latin typeface="Courier New"/>
              </a:rPr>
              <a:t>OWNER: CANNON</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TEST CAMPAIGNS</a:t>
            </a:r>
          </a:p>
        </p:txBody>
      </p:sp>
      <p:graphicFrame>
        <p:nvGraphicFramePr>
          <p:cNvPr id="10" name="Table 9"/>
          <p:cNvGraphicFramePr>
            <a:graphicFrameLocks noGrp="1"/>
          </p:cNvGraphicFramePr>
          <p:nvPr/>
        </p:nvGraphicFramePr>
        <p:xfrm>
          <a:off x="502920" y="1188720"/>
          <a:ext cx="5394960" cy="3803904"/>
        </p:xfrm>
        <a:graphic>
          <a:graphicData uri="http://schemas.openxmlformats.org/drawingml/2006/table">
            <a:tbl>
              <a:tblPr firstRow="1" bandRow="1">
                <a:tableStyleId>{5C22544A-7EE6-4342-B048-85BDC9FD1C3A}</a:tableStyleId>
              </a:tblPr>
              <a:tblGrid>
                <a:gridCol w="685800"/>
                <a:gridCol w="1417320"/>
                <a:gridCol w="1097280"/>
                <a:gridCol w="2194560"/>
              </a:tblGrid>
              <a:tr h="475488">
                <a:tc>
                  <a:txBody>
                    <a:bodyPr/>
                    <a:lstStyle/>
                    <a:p>
                      <a:r>
                        <a:rPr sz="950" b="1">
                          <a:solidFill>
                            <a:srgbClr val="FFFFFF"/>
                          </a:solidFill>
                          <a:latin typeface="Cambria"/>
                        </a:rPr>
                        <a:t>Date</a:t>
                      </a:r>
                    </a:p>
                  </a:txBody>
                  <a:tcPr marL="73152" marR="73152" marT="27432" marB="27432">
                    <a:solidFill>
                      <a:srgbClr val="16213D"/>
                    </a:solidFill>
                  </a:tcPr>
                </a:tc>
                <a:tc>
                  <a:txBody>
                    <a:bodyPr/>
                    <a:lstStyle/>
                    <a:p>
                      <a:r>
                        <a:rPr sz="950" b="1">
                          <a:solidFill>
                            <a:srgbClr val="FFFFFF"/>
                          </a:solidFill>
                          <a:latin typeface="Cambria"/>
                        </a:rPr>
                        <a:t>Campaign</a:t>
                      </a:r>
                    </a:p>
                  </a:txBody>
                  <a:tcPr marL="73152" marR="73152" marT="27432" marB="27432">
                    <a:solidFill>
                      <a:srgbClr val="16213D"/>
                    </a:solidFill>
                  </a:tcPr>
                </a:tc>
                <a:tc>
                  <a:txBody>
                    <a:bodyPr/>
                    <a:lstStyle/>
                    <a:p>
                      <a:r>
                        <a:rPr sz="950" b="1">
                          <a:solidFill>
                            <a:srgbClr val="FFFFFF"/>
                          </a:solidFill>
                          <a:latin typeface="Cambria"/>
                        </a:rPr>
                        <a:t>Environment</a:t>
                      </a:r>
                    </a:p>
                  </a:txBody>
                  <a:tcPr marL="73152" marR="73152" marT="27432" marB="27432">
                    <a:solidFill>
                      <a:srgbClr val="16213D"/>
                    </a:solidFill>
                  </a:tcPr>
                </a:tc>
                <a:tc>
                  <a:txBody>
                    <a:bodyPr/>
                    <a:lstStyle/>
                    <a:p>
                      <a:r>
                        <a:rPr sz="950" b="1">
                          <a:solidFill>
                            <a:srgbClr val="FFFFFF"/>
                          </a:solidFill>
                          <a:latin typeface="Cambria"/>
                        </a:rPr>
                        <a:t>Key result</a:t>
                      </a:r>
                    </a:p>
                  </a:txBody>
                  <a:tcPr marL="73152" marR="73152" marT="27432" marB="27432">
                    <a:solidFill>
                      <a:srgbClr val="16213D"/>
                    </a:solidFill>
                  </a:tcPr>
                </a:tc>
              </a:tr>
              <a:tr h="475488">
                <a:tc>
                  <a:txBody>
                    <a:bodyPr/>
                    <a:lstStyle/>
                    <a:p>
                      <a:r>
                        <a:rPr sz="950" b="0">
                          <a:solidFill>
                            <a:srgbClr val="222A3F"/>
                          </a:solidFill>
                          <a:latin typeface="Cambria"/>
                        </a:rPr>
                        <a:t>Aug 31</a:t>
                      </a:r>
                    </a:p>
                  </a:txBody>
                  <a:tcPr marL="73152" marR="73152" marT="27432" marB="27432">
                    <a:solidFill>
                      <a:srgbClr val="F2F5FA"/>
                    </a:solidFill>
                  </a:tcPr>
                </a:tc>
                <a:tc>
                  <a:txBody>
                    <a:bodyPr/>
                    <a:lstStyle/>
                    <a:p>
                      <a:r>
                        <a:rPr sz="950" b="0">
                          <a:solidFill>
                            <a:srgbClr val="222A3F"/>
                          </a:solidFill>
                          <a:latin typeface="Cambria"/>
                        </a:rPr>
                        <a:t>Bench, end-to-end</a:t>
                      </a:r>
                    </a:p>
                  </a:txBody>
                  <a:tcPr marL="73152" marR="73152" marT="27432" marB="27432">
                    <a:solidFill>
                      <a:srgbClr val="F2F5FA"/>
                    </a:solidFill>
                  </a:tcPr>
                </a:tc>
                <a:tc>
                  <a:txBody>
                    <a:bodyPr/>
                    <a:lstStyle/>
                    <a:p>
                      <a:r>
                        <a:rPr sz="950" b="0">
                          <a:solidFill>
                            <a:srgbClr val="222A3F"/>
                          </a:solidFill>
                          <a:latin typeface="Cambria"/>
                        </a:rPr>
                        <a:t>Desk</a:t>
                      </a:r>
                    </a:p>
                  </a:txBody>
                  <a:tcPr marL="73152" marR="73152" marT="27432" marB="27432">
                    <a:solidFill>
                      <a:srgbClr val="F2F5FA"/>
                    </a:solidFill>
                  </a:tcPr>
                </a:tc>
                <a:tc>
                  <a:txBody>
                    <a:bodyPr/>
                    <a:lstStyle/>
                    <a:p>
                      <a:r>
                        <a:rPr sz="950" b="0">
                          <a:solidFill>
                            <a:srgbClr val="222A3F"/>
                          </a:solidFill>
                          <a:latin typeface="Cambria"/>
                        </a:rPr>
                        <a:t>Live GPS decoded radio-to-display</a:t>
                      </a:r>
                    </a:p>
                  </a:txBody>
                  <a:tcPr marL="73152" marR="73152" marT="27432" marB="27432">
                    <a:solidFill>
                      <a:srgbClr val="F2F5FA"/>
                    </a:solidFill>
                  </a:tcPr>
                </a:tc>
              </a:tr>
              <a:tr h="475488">
                <a:tc>
                  <a:txBody>
                    <a:bodyPr/>
                    <a:lstStyle/>
                    <a:p>
                      <a:r>
                        <a:rPr sz="950" b="0">
                          <a:solidFill>
                            <a:srgbClr val="222A3F"/>
                          </a:solidFill>
                          <a:latin typeface="Cambria"/>
                        </a:rPr>
                        <a:t>Sep 1</a:t>
                      </a:r>
                    </a:p>
                  </a:txBody>
                  <a:tcPr marL="73152" marR="73152" marT="27432" marB="27432">
                    <a:solidFill>
                      <a:srgbClr val="FFFFFF"/>
                    </a:solidFill>
                  </a:tcPr>
                </a:tc>
                <a:tc>
                  <a:txBody>
                    <a:bodyPr/>
                    <a:lstStyle/>
                    <a:p>
                      <a:r>
                        <a:rPr sz="950" b="0">
                          <a:solidFill>
                            <a:srgbClr val="222A3F"/>
                          </a:solidFill>
                          <a:latin typeface="Cambria"/>
                        </a:rPr>
                        <a:t>First drive</a:t>
                      </a:r>
                    </a:p>
                  </a:txBody>
                  <a:tcPr marL="73152" marR="73152" marT="27432" marB="27432">
                    <a:solidFill>
                      <a:srgbClr val="FFFFFF"/>
                    </a:solidFill>
                  </a:tcPr>
                </a:tc>
                <a:tc>
                  <a:txBody>
                    <a:bodyPr/>
                    <a:lstStyle/>
                    <a:p>
                      <a:r>
                        <a:rPr sz="950" b="0">
                          <a:solidFill>
                            <a:srgbClr val="222A3F"/>
                          </a:solidFill>
                          <a:latin typeface="Cambria"/>
                        </a:rPr>
                        <a:t>Town</a:t>
                      </a:r>
                    </a:p>
                  </a:txBody>
                  <a:tcPr marL="73152" marR="73152" marT="27432" marB="27432">
                    <a:solidFill>
                      <a:srgbClr val="FFFFFF"/>
                    </a:solidFill>
                  </a:tcPr>
                </a:tc>
                <a:tc>
                  <a:txBody>
                    <a:bodyPr/>
                    <a:lstStyle/>
                    <a:p>
                      <a:r>
                        <a:rPr sz="950" b="0">
                          <a:solidFill>
                            <a:srgbClr val="222A3F"/>
                          </a:solidFill>
                          <a:latin typeface="Cambria"/>
                        </a:rPr>
                        <a:t>Pipeline works at speed; five faults found</a:t>
                      </a:r>
                    </a:p>
                  </a:txBody>
                  <a:tcPr marL="73152" marR="73152" marT="27432" marB="27432">
                    <a:solidFill>
                      <a:srgbClr val="FFFFFF"/>
                    </a:solidFill>
                  </a:tcPr>
                </a:tc>
              </a:tr>
              <a:tr h="475488">
                <a:tc>
                  <a:txBody>
                    <a:bodyPr/>
                    <a:lstStyle/>
                    <a:p>
                      <a:r>
                        <a:rPr sz="950" b="0">
                          <a:solidFill>
                            <a:srgbClr val="222A3F"/>
                          </a:solidFill>
                          <a:latin typeface="Cambria"/>
                        </a:rPr>
                        <a:t>Sep 25</a:t>
                      </a:r>
                    </a:p>
                  </a:txBody>
                  <a:tcPr marL="73152" marR="73152" marT="27432" marB="27432">
                    <a:solidFill>
                      <a:srgbClr val="F2F5FA"/>
                    </a:solidFill>
                  </a:tcPr>
                </a:tc>
                <a:tc>
                  <a:txBody>
                    <a:bodyPr/>
                    <a:lstStyle/>
                    <a:p>
                      <a:r>
                        <a:rPr sz="950" b="0">
                          <a:solidFill>
                            <a:srgbClr val="222A3F"/>
                          </a:solidFill>
                          <a:latin typeface="Cambria"/>
                        </a:rPr>
                        <a:t>Two-radio link</a:t>
                      </a:r>
                    </a:p>
                  </a:txBody>
                  <a:tcPr marL="73152" marR="73152" marT="27432" marB="27432">
                    <a:solidFill>
                      <a:srgbClr val="F2F5FA"/>
                    </a:solidFill>
                  </a:tcPr>
                </a:tc>
                <a:tc>
                  <a:txBody>
                    <a:bodyPr/>
                    <a:lstStyle/>
                    <a:p>
                      <a:r>
                        <a:rPr sz="950" b="0">
                          <a:solidFill>
                            <a:srgbClr val="222A3F"/>
                          </a:solidFill>
                          <a:latin typeface="Cambria"/>
                        </a:rPr>
                        <a:t>Desk</a:t>
                      </a:r>
                    </a:p>
                  </a:txBody>
                  <a:tcPr marL="73152" marR="73152" marT="27432" marB="27432">
                    <a:solidFill>
                      <a:srgbClr val="F2F5FA"/>
                    </a:solidFill>
                  </a:tcPr>
                </a:tc>
                <a:tc>
                  <a:txBody>
                    <a:bodyPr/>
                    <a:lstStyle/>
                    <a:p>
                      <a:r>
                        <a:rPr sz="950" b="0">
                          <a:solidFill>
                            <a:srgbClr val="222A3F"/>
                          </a:solidFill>
                          <a:latin typeface="Cambria"/>
                        </a:rPr>
                        <a:t>Round-trip traceroute 6.75 / 5.75 dB</a:t>
                      </a:r>
                    </a:p>
                  </a:txBody>
                  <a:tcPr marL="73152" marR="73152" marT="27432" marB="27432">
                    <a:solidFill>
                      <a:srgbClr val="F2F5FA"/>
                    </a:solidFill>
                  </a:tcPr>
                </a:tc>
              </a:tr>
              <a:tr h="475488">
                <a:tc>
                  <a:txBody>
                    <a:bodyPr/>
                    <a:lstStyle/>
                    <a:p>
                      <a:r>
                        <a:rPr sz="950" b="0">
                          <a:solidFill>
                            <a:srgbClr val="222A3F"/>
                          </a:solidFill>
                          <a:latin typeface="Cambria"/>
                        </a:rPr>
                        <a:t>Oct 4</a:t>
                      </a:r>
                    </a:p>
                  </a:txBody>
                  <a:tcPr marL="73152" marR="73152" marT="27432" marB="27432">
                    <a:solidFill>
                      <a:srgbClr val="FFFFFF"/>
                    </a:solidFill>
                  </a:tcPr>
                </a:tc>
                <a:tc>
                  <a:txBody>
                    <a:bodyPr/>
                    <a:lstStyle/>
                    <a:p>
                      <a:r>
                        <a:rPr sz="950" b="0">
                          <a:solidFill>
                            <a:srgbClr val="222A3F"/>
                          </a:solidFill>
                          <a:latin typeface="Cambria"/>
                        </a:rPr>
                        <a:t>Night convoy drive</a:t>
                      </a:r>
                    </a:p>
                  </a:txBody>
                  <a:tcPr marL="73152" marR="73152" marT="27432" marB="27432">
                    <a:solidFill>
                      <a:srgbClr val="FFFFFF"/>
                    </a:solidFill>
                  </a:tcPr>
                </a:tc>
                <a:tc>
                  <a:txBody>
                    <a:bodyPr/>
                    <a:lstStyle/>
                    <a:p>
                      <a:r>
                        <a:rPr sz="950" b="0">
                          <a:solidFill>
                            <a:srgbClr val="222A3F"/>
                          </a:solidFill>
                          <a:latin typeface="Cambria"/>
                        </a:rPr>
                        <a:t>Town</a:t>
                      </a:r>
                    </a:p>
                  </a:txBody>
                  <a:tcPr marL="73152" marR="73152" marT="27432" marB="27432">
                    <a:solidFill>
                      <a:srgbClr val="FFFFFF"/>
                    </a:solidFill>
                  </a:tcPr>
                </a:tc>
                <a:tc>
                  <a:txBody>
                    <a:bodyPr/>
                    <a:lstStyle/>
                    <a:p>
                      <a:r>
                        <a:rPr sz="950" b="0">
                          <a:solidFill>
                            <a:srgbClr val="222A3F"/>
                          </a:solidFill>
                          <a:latin typeface="Cambria"/>
                        </a:rPr>
                        <a:t>Stale onset ~0.5 mi; course-up and cadence-aware cue born</a:t>
                      </a:r>
                    </a:p>
                  </a:txBody>
                  <a:tcPr marL="73152" marR="73152" marT="27432" marB="27432">
                    <a:solidFill>
                      <a:srgbClr val="FFFFFF"/>
                    </a:solidFill>
                  </a:tcPr>
                </a:tc>
              </a:tr>
              <a:tr h="475488">
                <a:tc>
                  <a:txBody>
                    <a:bodyPr/>
                    <a:lstStyle/>
                    <a:p>
                      <a:r>
                        <a:rPr sz="950" b="0">
                          <a:solidFill>
                            <a:srgbClr val="222A3F"/>
                          </a:solidFill>
                          <a:latin typeface="Cambria"/>
                        </a:rPr>
                        <a:t>Oct 5</a:t>
                      </a:r>
                    </a:p>
                  </a:txBody>
                  <a:tcPr marL="73152" marR="73152" marT="27432" marB="27432">
                    <a:solidFill>
                      <a:srgbClr val="F2F5FA"/>
                    </a:solidFill>
                  </a:tcPr>
                </a:tc>
                <a:tc>
                  <a:txBody>
                    <a:bodyPr/>
                    <a:lstStyle/>
                    <a:p>
                      <a:r>
                        <a:rPr sz="950" b="0">
                          <a:solidFill>
                            <a:srgbClr val="222A3F"/>
                          </a:solidFill>
                          <a:latin typeface="Cambria"/>
                        </a:rPr>
                        <a:t>Open-road range</a:t>
                      </a:r>
                    </a:p>
                  </a:txBody>
                  <a:tcPr marL="73152" marR="73152" marT="27432" marB="27432">
                    <a:solidFill>
                      <a:srgbClr val="F2F5FA"/>
                    </a:solidFill>
                  </a:tcPr>
                </a:tc>
                <a:tc>
                  <a:txBody>
                    <a:bodyPr/>
                    <a:lstStyle/>
                    <a:p>
                      <a:r>
                        <a:rPr sz="950" b="0">
                          <a:solidFill>
                            <a:srgbClr val="222A3F"/>
                          </a:solidFill>
                          <a:latin typeface="Cambria"/>
                        </a:rPr>
                        <a:t>Flat farm road</a:t>
                      </a:r>
                    </a:p>
                  </a:txBody>
                  <a:tcPr marL="73152" marR="73152" marT="27432" marB="27432">
                    <a:solidFill>
                      <a:srgbClr val="F2F5FA"/>
                    </a:solidFill>
                  </a:tcPr>
                </a:tc>
                <a:tc>
                  <a:txBody>
                    <a:bodyPr/>
                    <a:lstStyle/>
                    <a:p>
                      <a:r>
                        <a:rPr sz="950" b="0">
                          <a:solidFill>
                            <a:srgbClr val="222A3F"/>
                          </a:solidFill>
                          <a:latin typeface="Cambria"/>
                        </a:rPr>
                        <a:t>Full tracking to 3.26 mi; stale edge 3.75 mi</a:t>
                      </a:r>
                    </a:p>
                  </a:txBody>
                  <a:tcPr marL="73152" marR="73152" marT="27432" marB="27432">
                    <a:solidFill>
                      <a:srgbClr val="F2F5FA"/>
                    </a:solidFill>
                  </a:tcPr>
                </a:tc>
              </a:tr>
              <a:tr h="475488">
                <a:tc>
                  <a:txBody>
                    <a:bodyPr/>
                    <a:lstStyle/>
                    <a:p>
                      <a:r>
                        <a:rPr sz="950" b="0">
                          <a:solidFill>
                            <a:srgbClr val="222A3F"/>
                          </a:solidFill>
                          <a:latin typeface="Cambria"/>
                        </a:rPr>
                        <a:t>Oct 18</a:t>
                      </a:r>
                    </a:p>
                  </a:txBody>
                  <a:tcPr marL="73152" marR="73152" marT="27432" marB="27432">
                    <a:solidFill>
                      <a:srgbClr val="FFFFFF"/>
                    </a:solidFill>
                  </a:tcPr>
                </a:tc>
                <a:tc>
                  <a:txBody>
                    <a:bodyPr/>
                    <a:lstStyle/>
                    <a:p>
                      <a:r>
                        <a:rPr sz="950" b="0">
                          <a:solidFill>
                            <a:srgbClr val="222A3F"/>
                          </a:solidFill>
                          <a:latin typeface="Cambria"/>
                        </a:rPr>
                        <a:t>Canyon range</a:t>
                      </a:r>
                    </a:p>
                  </a:txBody>
                  <a:tcPr marL="73152" marR="73152" marT="27432" marB="27432">
                    <a:solidFill>
                      <a:srgbClr val="FFFFFF"/>
                    </a:solidFill>
                  </a:tcPr>
                </a:tc>
                <a:tc>
                  <a:txBody>
                    <a:bodyPr/>
                    <a:lstStyle/>
                    <a:p>
                      <a:r>
                        <a:rPr sz="950" b="0">
                          <a:solidFill>
                            <a:srgbClr val="222A3F"/>
                          </a:solidFill>
                          <a:latin typeface="Cambria"/>
                        </a:rPr>
                        <a:t>Ceta Canyon</a:t>
                      </a:r>
                    </a:p>
                  </a:txBody>
                  <a:tcPr marL="73152" marR="73152" marT="27432" marB="27432">
                    <a:solidFill>
                      <a:srgbClr val="FFFFFF"/>
                    </a:solidFill>
                  </a:tcPr>
                </a:tc>
                <a:tc>
                  <a:txBody>
                    <a:bodyPr/>
                    <a:lstStyle/>
                    <a:p>
                      <a:r>
                        <a:rPr sz="950" b="0">
                          <a:solidFill>
                            <a:srgbClr val="222A3F"/>
                          </a:solidFill>
                          <a:latin typeface="Cambria"/>
                        </a:rPr>
                        <a:t>Stale from 1.29 mi; packet at 4.28; 7-min outage healed; rim antenna 4.7 mi</a:t>
                      </a:r>
                    </a:p>
                  </a:txBody>
                  <a:tcPr marL="73152" marR="73152" marT="27432" marB="27432">
                    <a:solidFill>
                      <a:srgbClr val="FFFFFF"/>
                    </a:solidFill>
                  </a:tcPr>
                </a:tc>
              </a:tr>
              <a:tr h="475488">
                <a:tc>
                  <a:txBody>
                    <a:bodyPr/>
                    <a:lstStyle/>
                    <a:p>
                      <a:r>
                        <a:rPr sz="950" b="0">
                          <a:solidFill>
                            <a:srgbClr val="222A3F"/>
                          </a:solidFill>
                          <a:latin typeface="Cambria"/>
                        </a:rPr>
                        <a:t>Oct 25</a:t>
                      </a:r>
                    </a:p>
                  </a:txBody>
                  <a:tcPr marL="73152" marR="73152" marT="27432" marB="27432">
                    <a:solidFill>
                      <a:srgbClr val="F2F5FA"/>
                    </a:solidFill>
                  </a:tcPr>
                </a:tc>
                <a:tc>
                  <a:txBody>
                    <a:bodyPr/>
                    <a:lstStyle/>
                    <a:p>
                      <a:r>
                        <a:rPr sz="950" b="0">
                          <a:solidFill>
                            <a:srgbClr val="222A3F"/>
                          </a:solidFill>
                          <a:latin typeface="Cambria"/>
                        </a:rPr>
                        <a:t>New Mexico maximum range</a:t>
                      </a:r>
                    </a:p>
                  </a:txBody>
                  <a:tcPr marL="73152" marR="73152" marT="27432" marB="27432">
                    <a:solidFill>
                      <a:srgbClr val="F2F5FA"/>
                    </a:solidFill>
                  </a:tcPr>
                </a:tc>
                <a:tc>
                  <a:txBody>
                    <a:bodyPr/>
                    <a:lstStyle/>
                    <a:p>
                      <a:r>
                        <a:rPr sz="950" b="0">
                          <a:solidFill>
                            <a:srgbClr val="222A3F"/>
                          </a:solidFill>
                          <a:latin typeface="Cambria"/>
                        </a:rPr>
                        <a:t>Capitan Mountains, NM</a:t>
                      </a:r>
                    </a:p>
                  </a:txBody>
                  <a:tcPr marL="73152" marR="73152" marT="27432" marB="27432">
                    <a:solidFill>
                      <a:srgbClr val="F2F5FA"/>
                    </a:solidFill>
                  </a:tcPr>
                </a:tc>
                <a:tc>
                  <a:txBody>
                    <a:bodyPr/>
                    <a:lstStyle/>
                    <a:p>
                      <a:r>
                        <a:rPr sz="950" b="0">
                          <a:solidFill>
                            <a:srgbClr val="222A3F"/>
                          </a:solidFill>
                          <a:latin typeface="Cambria"/>
                        </a:rPr>
                        <a:t>On site; flash flood warning, cancelled; the radios were diagnosed instead (Part II)</a:t>
                      </a:r>
                    </a:p>
                  </a:txBody>
                  <a:tcPr marL="73152" marR="73152" marT="27432" marB="27432">
                    <a:solidFill>
                      <a:srgbClr val="F2F5FA"/>
                    </a:solidFill>
                  </a:tcPr>
                </a:tc>
              </a:tr>
            </a:tbl>
          </a:graphicData>
        </a:graphic>
      </p:graphicFrame>
      <p:pic>
        <p:nvPicPr>
          <p:cNvPr id="11" name="Picture 10" descr="g_onset4.png"/>
          <p:cNvPicPr>
            <a:picLocks noChangeAspect="1"/>
          </p:cNvPicPr>
          <p:nvPr/>
        </p:nvPicPr>
        <p:blipFill>
          <a:blip r:embed="rId2"/>
          <a:stretch>
            <a:fillRect/>
          </a:stretch>
        </p:blipFill>
        <p:spPr>
          <a:xfrm>
            <a:off x="6035040" y="1188720"/>
            <a:ext cx="5669280" cy="2539365"/>
          </a:xfrm>
          <a:prstGeom prst="rect">
            <a:avLst/>
          </a:prstGeom>
        </p:spPr>
      </p:pic>
      <p:sp>
        <p:nvSpPr>
          <p:cNvPr id="12" name="TextBox 11"/>
          <p:cNvSpPr txBox="1"/>
          <p:nvPr/>
        </p:nvSpPr>
        <p:spPr>
          <a:xfrm>
            <a:off x="6035040" y="4572000"/>
            <a:ext cx="5669280" cy="731520"/>
          </a:xfrm>
          <a:prstGeom prst="rect">
            <a:avLst/>
          </a:prstGeom>
          <a:noFill/>
        </p:spPr>
        <p:txBody>
          <a:bodyPr wrap="square" lIns="0" rIns="0" tIns="0" bIns="0">
            <a:spAutoFit/>
          </a:bodyPr>
          <a:lstStyle/>
          <a:p>
            <a:pPr algn="l"/>
            <a:r>
              <a:rPr sz="1200" b="0" i="0">
                <a:solidFill>
                  <a:srgbClr val="222A3F"/>
                </a:solidFill>
                <a:latin typeface="Cambria"/>
              </a:rPr>
              <a:t>Same radios, four geometries: 0.5 to 4.7 mi. Terrain and antenna height set the range, not the hardware.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5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8132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3969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9806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5643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79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7316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31535"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9903"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48271"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39"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7"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2337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81744"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40112"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698480"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56848"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15216" y="146304"/>
            <a:ext cx="6350" cy="612648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592" y="14630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804672"/>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2" y="1463040"/>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4592" y="2121408"/>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2779776"/>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4592" y="3438144"/>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2" y="4096511"/>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4754879"/>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5413247"/>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4592" y="6071615"/>
            <a:ext cx="11859768" cy="6350"/>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34" name="TextBox 33"/>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35" name="TextBox 34"/>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09/21  REV D  2026-11-04</a:t>
            </a:r>
          </a:p>
        </p:txBody>
      </p:sp>
      <p:sp>
        <p:nvSpPr>
          <p:cNvPr id="36" name="Rectangle 35"/>
          <p:cNvSpPr/>
          <p:nvPr/>
        </p:nvSpPr>
        <p:spPr>
          <a:xfrm>
            <a:off x="9646920" y="347472"/>
            <a:ext cx="2148840" cy="420624"/>
          </a:xfrm>
          <a:prstGeom prst="rect">
            <a:avLst/>
          </a:prstGeom>
          <a:solidFill>
            <a:srgbClr val="FFFFFF"/>
          </a:solidFill>
          <a:ln w="19050">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E58E1A"/>
                </a:solidFill>
                <a:latin typeface="Courier New"/>
              </a:rPr>
              <a:t>OWNER: VICTOR</a:t>
            </a:r>
          </a:p>
        </p:txBody>
      </p:sp>
      <p:sp>
        <p:nvSpPr>
          <p:cNvPr id="38" name="TextBox 37"/>
          <p:cNvSpPr txBox="1"/>
          <p:nvPr/>
        </p:nvSpPr>
        <p:spPr>
          <a:xfrm>
            <a:off x="640080" y="457200"/>
            <a:ext cx="10881360" cy="457200"/>
          </a:xfrm>
          <a:prstGeom prst="rect">
            <a:avLst/>
          </a:prstGeom>
          <a:noFill/>
        </p:spPr>
        <p:txBody>
          <a:bodyPr wrap="square" lIns="0" rIns="0" tIns="0" bIns="0">
            <a:spAutoFit/>
          </a:bodyPr>
          <a:lstStyle/>
          <a:p>
            <a:pPr algn="l"/>
            <a:r>
              <a:rPr sz="1600" b="1" i="0" spc="400">
                <a:solidFill>
                  <a:srgbClr val="E58E1A"/>
                </a:solidFill>
                <a:latin typeface="Cambria"/>
              </a:rPr>
              <a:t>PART II</a:t>
            </a:r>
          </a:p>
        </p:txBody>
      </p:sp>
      <p:sp>
        <p:nvSpPr>
          <p:cNvPr id="39" name="TextBox 38"/>
          <p:cNvSpPr txBox="1"/>
          <p:nvPr/>
        </p:nvSpPr>
        <p:spPr>
          <a:xfrm>
            <a:off x="640080" y="868680"/>
            <a:ext cx="10881360" cy="822960"/>
          </a:xfrm>
          <a:prstGeom prst="rect">
            <a:avLst/>
          </a:prstGeom>
          <a:noFill/>
        </p:spPr>
        <p:txBody>
          <a:bodyPr wrap="square" lIns="0" rIns="0" tIns="0" bIns="0">
            <a:spAutoFit/>
          </a:bodyPr>
          <a:lstStyle/>
          <a:p>
            <a:pPr algn="l"/>
            <a:r>
              <a:rPr sz="3400" b="1" i="0" spc="300">
                <a:solidFill>
                  <a:srgbClr val="16213D"/>
                </a:solidFill>
                <a:latin typeface="Cambria"/>
              </a:rPr>
              <a:t>WHY THE RADIOS FORGET</a:t>
            </a:r>
          </a:p>
        </p:txBody>
      </p:sp>
      <p:sp>
        <p:nvSpPr>
          <p:cNvPr id="40" name="TextBox 39"/>
          <p:cNvSpPr txBox="1"/>
          <p:nvPr/>
        </p:nvSpPr>
        <p:spPr>
          <a:xfrm>
            <a:off x="658368" y="1691640"/>
            <a:ext cx="10881360" cy="868680"/>
          </a:xfrm>
          <a:prstGeom prst="rect">
            <a:avLst/>
          </a:prstGeom>
          <a:noFill/>
        </p:spPr>
        <p:txBody>
          <a:bodyPr wrap="square" lIns="0" rIns="0" tIns="0" bIns="0">
            <a:spAutoFit/>
          </a:bodyPr>
          <a:lstStyle/>
          <a:p>
            <a:pPr algn="l"/>
            <a:r>
              <a:rPr sz="1250" b="0" i="0">
                <a:solidFill>
                  <a:srgbClr val="222A3F"/>
                </a:solidFill>
                <a:latin typeface="Cambria"/>
              </a:rPr>
              <a:t>In October a Qualcomm engineer asked us: is it the memory itself? 'The memory' is a 16 MB flash chip beside the CPU, and the settings live in a 3.4 MB corner of it. The question can mean three different things. Each leaves a different fingerprint in the data and needs a different fix, so we treated it as a hypothesis to test, not an opinion to argue with.</a:t>
            </a:r>
          </a:p>
        </p:txBody>
      </p:sp>
      <p:sp>
        <p:nvSpPr>
          <p:cNvPr id="41" name="Rectangle 40"/>
          <p:cNvSpPr/>
          <p:nvPr/>
        </p:nvSpPr>
        <p:spPr>
          <a:xfrm>
            <a:off x="502920" y="2697480"/>
            <a:ext cx="3657600" cy="210312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7512" y="2816352"/>
            <a:ext cx="3328416" cy="1865376"/>
          </a:xfrm>
          <a:prstGeom prst="rect">
            <a:avLst/>
          </a:prstGeom>
          <a:noFill/>
        </p:spPr>
        <p:txBody>
          <a:bodyPr wrap="square" lIns="0" rIns="0" tIns="0" bIns="0">
            <a:spAutoFit/>
          </a:bodyPr>
          <a:lstStyle/>
          <a:p>
            <a:r>
              <a:rPr sz="1300" b="1" spc="100">
                <a:solidFill>
                  <a:srgbClr val="C43A4B"/>
                </a:solidFill>
                <a:latin typeface="Cambria"/>
              </a:rPr>
              <a:t>WORN OUT</a:t>
            </a:r>
          </a:p>
          <a:p>
            <a:pPr>
              <a:spcBef>
                <a:spcPts val="400"/>
              </a:spcBef>
            </a:pPr>
            <a:r>
              <a:rPr sz="1150">
                <a:solidFill>
                  <a:srgbClr val="222A3F"/>
                </a:solidFill>
                <a:latin typeface="Cambria"/>
              </a:rPr>
              <a:t>•  Cells exhausted by write volume (100k cycles)</a:t>
            </a:r>
          </a:p>
          <a:p>
            <a:pPr>
              <a:spcBef>
                <a:spcPts val="400"/>
              </a:spcBef>
            </a:pPr>
            <a:r>
              <a:rPr sz="1150">
                <a:solidFill>
                  <a:srgbClr val="222A3F"/>
                </a:solidFill>
                <a:latin typeface="Cambria"/>
              </a:rPr>
              <a:t>•  Fingerprint: scattered failures over many sectors</a:t>
            </a:r>
          </a:p>
          <a:p>
            <a:pPr>
              <a:spcBef>
                <a:spcPts val="400"/>
              </a:spcBef>
            </a:pPr>
            <a:r>
              <a:rPr sz="1150">
                <a:solidFill>
                  <a:srgbClr val="222A3F"/>
                </a:solidFill>
                <a:latin typeface="Cambria"/>
              </a:rPr>
              <a:t>•  Fix: replace the part</a:t>
            </a:r>
          </a:p>
        </p:txBody>
      </p:sp>
      <p:sp>
        <p:nvSpPr>
          <p:cNvPr id="43" name="Rectangle 42"/>
          <p:cNvSpPr/>
          <p:nvPr/>
        </p:nvSpPr>
        <p:spPr>
          <a:xfrm>
            <a:off x="4251959" y="2697480"/>
            <a:ext cx="3657600" cy="210312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16551" y="2816352"/>
            <a:ext cx="3328416" cy="1865376"/>
          </a:xfrm>
          <a:prstGeom prst="rect">
            <a:avLst/>
          </a:prstGeom>
          <a:noFill/>
        </p:spPr>
        <p:txBody>
          <a:bodyPr wrap="square" lIns="0" rIns="0" tIns="0" bIns="0">
            <a:spAutoFit/>
          </a:bodyPr>
          <a:lstStyle/>
          <a:p>
            <a:r>
              <a:rPr sz="1300" b="1" spc="100">
                <a:solidFill>
                  <a:srgbClr val="E58E1A"/>
                </a:solidFill>
                <a:latin typeface="Cambria"/>
              </a:rPr>
              <a:t>DEFECTIVE OR MARGINAL CELLS</a:t>
            </a:r>
          </a:p>
          <a:p>
            <a:pPr>
              <a:spcBef>
                <a:spcPts val="400"/>
              </a:spcBef>
            </a:pPr>
            <a:r>
              <a:rPr sz="1150">
                <a:solidFill>
                  <a:srgbClr val="222A3F"/>
                </a:solidFill>
                <a:latin typeface="Cambria"/>
              </a:rPr>
              <a:t>•  Specific cells that cannot hold a value</a:t>
            </a:r>
          </a:p>
          <a:p>
            <a:pPr>
              <a:spcBef>
                <a:spcPts val="400"/>
              </a:spcBef>
            </a:pPr>
            <a:r>
              <a:rPr sz="1150">
                <a:solidFill>
                  <a:srgbClr val="222A3F"/>
                </a:solidFill>
                <a:latin typeface="Cambria"/>
              </a:rPr>
              <a:t>•  Fingerprint: the same sectors misread, and fail again after being rewritten</a:t>
            </a:r>
          </a:p>
          <a:p>
            <a:pPr>
              <a:spcBef>
                <a:spcPts val="400"/>
              </a:spcBef>
            </a:pPr>
            <a:r>
              <a:rPr sz="1150">
                <a:solidFill>
                  <a:srgbClr val="222A3F"/>
                </a:solidFill>
                <a:latin typeface="Cambria"/>
              </a:rPr>
              <a:t>•  Fix: avoid those sectors</a:t>
            </a:r>
          </a:p>
        </p:txBody>
      </p:sp>
      <p:sp>
        <p:nvSpPr>
          <p:cNvPr id="45" name="Rectangle 44"/>
          <p:cNvSpPr/>
          <p:nvPr/>
        </p:nvSpPr>
        <p:spPr>
          <a:xfrm>
            <a:off x="8001000" y="2697480"/>
            <a:ext cx="3657600" cy="210312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65592" y="2816352"/>
            <a:ext cx="3328416" cy="1865376"/>
          </a:xfrm>
          <a:prstGeom prst="rect">
            <a:avLst/>
          </a:prstGeom>
          <a:noFill/>
        </p:spPr>
        <p:txBody>
          <a:bodyPr wrap="square" lIns="0" rIns="0" tIns="0" bIns="0">
            <a:spAutoFit/>
          </a:bodyPr>
          <a:lstStyle/>
          <a:p>
            <a:r>
              <a:rPr sz="1300" b="1" spc="100">
                <a:solidFill>
                  <a:srgbClr val="1F9D68"/>
                </a:solidFill>
                <a:latin typeface="Cambria"/>
              </a:rPr>
              <a:t>CORRUPTED BY THE CONDITIONS OF A WRITE</a:t>
            </a:r>
          </a:p>
          <a:p>
            <a:pPr>
              <a:spcBef>
                <a:spcPts val="400"/>
              </a:spcBef>
            </a:pPr>
            <a:r>
              <a:rPr sz="1150">
                <a:solidFill>
                  <a:srgbClr val="222A3F"/>
                </a:solidFill>
                <a:latin typeface="Cambria"/>
              </a:rPr>
              <a:t>•  Healthy cells written while the supply was out of spec</a:t>
            </a:r>
          </a:p>
          <a:p>
            <a:pPr>
              <a:spcBef>
                <a:spcPts val="400"/>
              </a:spcBef>
            </a:pPr>
            <a:r>
              <a:rPr sz="1150">
                <a:solidFill>
                  <a:srgbClr val="222A3F"/>
                </a:solidFill>
                <a:latin typeface="Cambria"/>
              </a:rPr>
              <a:t>•  Fingerprint: follows power events; heals once rewritten</a:t>
            </a:r>
          </a:p>
          <a:p>
            <a:pPr>
              <a:spcBef>
                <a:spcPts val="400"/>
              </a:spcBef>
            </a:pPr>
            <a:r>
              <a:rPr sz="1150">
                <a:solidFill>
                  <a:srgbClr val="222A3F"/>
                </a:solidFill>
                <a:latin typeface="Cambria"/>
              </a:rPr>
              <a:t>•  Fix: never write under low voltage</a:t>
            </a:r>
          </a:p>
        </p:txBody>
      </p:sp>
      <p:sp>
        <p:nvSpPr>
          <p:cNvPr id="47" name="Rectangle 46"/>
          <p:cNvSpPr/>
          <p:nvPr/>
        </p:nvSpPr>
        <p:spPr>
          <a:xfrm>
            <a:off x="502920" y="4983480"/>
            <a:ext cx="11155680" cy="105156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7512" y="5102352"/>
            <a:ext cx="10826496" cy="813815"/>
          </a:xfrm>
          <a:prstGeom prst="rect">
            <a:avLst/>
          </a:prstGeom>
          <a:noFill/>
        </p:spPr>
        <p:txBody>
          <a:bodyPr wrap="square" lIns="0" rIns="0" tIns="0" bIns="0">
            <a:spAutoFit/>
          </a:bodyPr>
          <a:lstStyle/>
          <a:p>
            <a:r>
              <a:rPr sz="1250" b="1" spc="100">
                <a:solidFill>
                  <a:srgbClr val="16213D"/>
                </a:solidFill>
                <a:latin typeface="Cambria"/>
              </a:rPr>
              <a:t>HOW WE TOLD THEM APART</a:t>
            </a:r>
          </a:p>
          <a:p>
            <a:pPr>
              <a:spcBef>
                <a:spcPts val="400"/>
              </a:spcBef>
            </a:pPr>
            <a:r>
              <a:rPr sz="1150">
                <a:solidFill>
                  <a:srgbClr val="222A3F"/>
                </a:solidFill>
                <a:latin typeface="Cambria"/>
              </a:rPr>
              <a:t>Read the settings area straight off the chip three times with the firmware halted; read the firmware's save and load code at the exact version we run; read the flash and board datasheets and the brownout level the firmware is built with; line up the four incidents (Sep 3, Sep 30, Oct 17, Oct 24) against all of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10/21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HOW THE RADIO STORES ITS SETTINGS</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Partition table and file sizes read from SF; save and load behaviour from meshtastic/firmware v2.7.26</a:t>
            </a:r>
          </a:p>
        </p:txBody>
      </p:sp>
      <p:pic>
        <p:nvPicPr>
          <p:cNvPr id="11" name="Picture 10" descr="g_storage.png"/>
          <p:cNvPicPr>
            <a:picLocks noChangeAspect="1"/>
          </p:cNvPicPr>
          <p:nvPr/>
        </p:nvPicPr>
        <p:blipFill>
          <a:blip r:embed="rId2"/>
          <a:stretch>
            <a:fillRect/>
          </a:stretch>
        </p:blipFill>
        <p:spPr>
          <a:xfrm>
            <a:off x="502920" y="1234440"/>
            <a:ext cx="8138160" cy="3281516"/>
          </a:xfrm>
          <a:prstGeom prst="rect">
            <a:avLst/>
          </a:prstGeom>
        </p:spPr>
      </p:pic>
      <p:sp>
        <p:nvSpPr>
          <p:cNvPr id="12" name="Rectangle 11"/>
          <p:cNvSpPr/>
          <p:nvPr/>
        </p:nvSpPr>
        <p:spPr>
          <a:xfrm>
            <a:off x="8823960" y="1234440"/>
            <a:ext cx="2880360" cy="3282696"/>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88552" y="1353312"/>
            <a:ext cx="2551176" cy="3044952"/>
          </a:xfrm>
          <a:prstGeom prst="rect">
            <a:avLst/>
          </a:prstGeom>
          <a:noFill/>
        </p:spPr>
        <p:txBody>
          <a:bodyPr wrap="square" lIns="0" rIns="0" tIns="0" bIns="0">
            <a:spAutoFit/>
          </a:bodyPr>
          <a:lstStyle/>
          <a:p>
            <a:r>
              <a:rPr sz="1250" b="1" spc="100">
                <a:solidFill>
                  <a:srgbClr val="E58E1A"/>
                </a:solidFill>
                <a:latin typeface="Cambria"/>
              </a:rPr>
              <a:t>IN PLAIN WORDS</a:t>
            </a:r>
          </a:p>
          <a:p>
            <a:pPr>
              <a:spcBef>
                <a:spcPts val="400"/>
              </a:spcBef>
            </a:pPr>
            <a:r>
              <a:rPr sz="1050">
                <a:solidFill>
                  <a:srgbClr val="222A3F"/>
                </a:solidFill>
                <a:latin typeface="Cambria"/>
              </a:rPr>
              <a:t>•  Six small files hold everything: channel, config, device, modules, node list, presets</a:t>
            </a:r>
          </a:p>
          <a:p>
            <a:pPr>
              <a:spcBef>
                <a:spcPts val="400"/>
              </a:spcBef>
            </a:pPr>
            <a:r>
              <a:rPr sz="1050">
                <a:solidFill>
                  <a:srgbClr val="222A3F"/>
                </a:solidFill>
                <a:latin typeface="Cambria"/>
              </a:rPr>
              <a:t>•  LittleFS is the tiny file system that keeps them; it survives power loss only if the chip itself writes correctly</a:t>
            </a:r>
          </a:p>
          <a:p>
            <a:pPr>
              <a:spcBef>
                <a:spcPts val="400"/>
              </a:spcBef>
            </a:pPr>
            <a:r>
              <a:rPr sz="1050">
                <a:solidFill>
                  <a:srgbClr val="222A3F"/>
                </a:solidFill>
                <a:latin typeface="Cambria"/>
              </a:rPr>
              <a:t>•  Every boot the firmware rewrites one file (device.proto) without checking the supply voltage</a:t>
            </a:r>
          </a:p>
          <a:p>
            <a:pPr>
              <a:spcBef>
                <a:spcPts val="400"/>
              </a:spcBef>
            </a:pPr>
            <a:r>
              <a:rPr sz="1050">
                <a:solidFill>
                  <a:srgbClr val="222A3F"/>
                </a:solidFill>
                <a:latin typeface="Cambria"/>
              </a:rPr>
              <a:t>•  If a file will not read, the firmware does not retry or ask: it writes factory settings over it</a:t>
            </a:r>
          </a:p>
        </p:txBody>
      </p:sp>
      <p:sp>
        <p:nvSpPr>
          <p:cNvPr id="14" name="Rectangle 13"/>
          <p:cNvSpPr/>
          <p:nvPr/>
        </p:nvSpPr>
        <p:spPr>
          <a:xfrm>
            <a:off x="502920" y="4663440"/>
            <a:ext cx="5486400" cy="141732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4782312"/>
            <a:ext cx="5157216" cy="1179576"/>
          </a:xfrm>
          <a:prstGeom prst="rect">
            <a:avLst/>
          </a:prstGeom>
          <a:noFill/>
        </p:spPr>
        <p:txBody>
          <a:bodyPr wrap="square" lIns="0" rIns="0" tIns="0" bIns="0">
            <a:spAutoFit/>
          </a:bodyPr>
          <a:lstStyle/>
          <a:p>
            <a:r>
              <a:rPr sz="1250" b="1" spc="100">
                <a:solidFill>
                  <a:srgbClr val="1F9D68"/>
                </a:solidFill>
                <a:latin typeface="Cambria"/>
              </a:rPr>
              <a:t>WHAT IT CHECKS</a:t>
            </a:r>
          </a:p>
          <a:p>
            <a:pPr>
              <a:spcBef>
                <a:spcPts val="400"/>
              </a:spcBef>
            </a:pPr>
            <a:r>
              <a:rPr sz="1100">
                <a:solidFill>
                  <a:srgbClr val="222A3F"/>
                </a:solidFill>
                <a:latin typeface="Cambria"/>
              </a:rPr>
              <a:t>•  Writes a temp file, reads it back, then renames it (SafeFile.cpp)</a:t>
            </a:r>
          </a:p>
          <a:p>
            <a:pPr>
              <a:spcBef>
                <a:spcPts val="400"/>
              </a:spcBef>
            </a:pPr>
            <a:r>
              <a:rPr sz="1100">
                <a:solidFill>
                  <a:srgbClr val="222A3F"/>
                </a:solidFill>
                <a:latin typeface="Cambria"/>
              </a:rPr>
              <a:t>•  Skips the write during its own low-battery shutdown; the authors knew the danger</a:t>
            </a:r>
          </a:p>
          <a:p>
            <a:pPr>
              <a:spcBef>
                <a:spcPts val="400"/>
              </a:spcBef>
            </a:pPr>
            <a:r>
              <a:rPr sz="1100">
                <a:solidFill>
                  <a:srgbClr val="222A3F"/>
                </a:solidFill>
                <a:latin typeface="Cambria"/>
              </a:rPr>
              <a:t>•  The CPU resets below 2.44 V</a:t>
            </a:r>
          </a:p>
        </p:txBody>
      </p:sp>
      <p:sp>
        <p:nvSpPr>
          <p:cNvPr id="16" name="Rectangle 15"/>
          <p:cNvSpPr/>
          <p:nvPr/>
        </p:nvSpPr>
        <p:spPr>
          <a:xfrm>
            <a:off x="6172200" y="4663440"/>
            <a:ext cx="5532120" cy="1417320"/>
          </a:xfrm>
          <a:prstGeom prst="rect">
            <a:avLst/>
          </a:prstGeom>
          <a:solidFill>
            <a:srgbClr val="F2F5FA"/>
          </a:solidFill>
          <a:ln w="15875">
            <a:solidFill>
              <a:srgbClr val="C43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4782312"/>
            <a:ext cx="5202936" cy="1179576"/>
          </a:xfrm>
          <a:prstGeom prst="rect">
            <a:avLst/>
          </a:prstGeom>
          <a:noFill/>
        </p:spPr>
        <p:txBody>
          <a:bodyPr wrap="square" lIns="0" rIns="0" tIns="0" bIns="0">
            <a:spAutoFit/>
          </a:bodyPr>
          <a:lstStyle/>
          <a:p>
            <a:r>
              <a:rPr sz="1250" b="1" spc="100">
                <a:solidFill>
                  <a:srgbClr val="C43A4B"/>
                </a:solidFill>
                <a:latin typeface="Cambria"/>
              </a:rPr>
              <a:t>WHAT IT NEVER CHECKS</a:t>
            </a:r>
          </a:p>
          <a:p>
            <a:pPr>
              <a:spcBef>
                <a:spcPts val="400"/>
              </a:spcBef>
            </a:pPr>
            <a:r>
              <a:rPr sz="1100">
                <a:solidFill>
                  <a:srgbClr val="222A3F"/>
                </a:solidFill>
                <a:latin typeface="Cambria"/>
              </a:rPr>
              <a:t>•  The supply before an ordinary save: powerHAL_isPowerLevelSafe() returns true on ESP32, always</a:t>
            </a:r>
          </a:p>
          <a:p>
            <a:pPr>
              <a:spcBef>
                <a:spcPts val="400"/>
              </a:spcBef>
            </a:pPr>
            <a:r>
              <a:rPr sz="1100">
                <a:solidFill>
                  <a:srgbClr val="222A3F"/>
                </a:solidFill>
                <a:latin typeface="Cambria"/>
              </a:rPr>
              <a:t>•  Whether a save actually failed: the result is discarded</a:t>
            </a:r>
          </a:p>
          <a:p>
            <a:pPr>
              <a:spcBef>
                <a:spcPts val="400"/>
              </a:spcBef>
            </a:pPr>
            <a:r>
              <a:rPr sz="1100">
                <a:solidFill>
                  <a:srgbClr val="222A3F"/>
                </a:solidFill>
                <a:latin typeface="Cambria"/>
              </a:rPr>
              <a:t>•  The backup copy at boot: it is only used on operator command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11/21  REV D  2026-11-04</a:t>
            </a:r>
          </a:p>
        </p:txBody>
      </p:sp>
      <p:sp>
        <p:nvSpPr>
          <p:cNvPr id="7" name="Rectangle 6"/>
          <p:cNvSpPr/>
          <p:nvPr/>
        </p:nvSpPr>
        <p:spPr>
          <a:xfrm>
            <a:off x="9646920" y="347472"/>
            <a:ext cx="2148840" cy="420624"/>
          </a:xfrm>
          <a:prstGeom prst="rect">
            <a:avLst/>
          </a:prstGeom>
          <a:solidFill>
            <a:srgbClr val="FFFFFF"/>
          </a:solidFill>
          <a:ln w="19050">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E58E1A"/>
                </a:solidFill>
                <a:latin typeface="Courier New"/>
              </a:rPr>
              <a:t>OWNER: VICTOR</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PHYSICS: A 260 MV WINDOW</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Why a healthy chip can still be left holding half-written cells</a:t>
            </a:r>
          </a:p>
        </p:txBody>
      </p:sp>
      <p:pic>
        <p:nvPicPr>
          <p:cNvPr id="11" name="Picture 10" descr="g_voltage.png"/>
          <p:cNvPicPr>
            <a:picLocks noChangeAspect="1"/>
          </p:cNvPicPr>
          <p:nvPr/>
        </p:nvPicPr>
        <p:blipFill>
          <a:blip r:embed="rId2"/>
          <a:stretch>
            <a:fillRect/>
          </a:stretch>
        </p:blipFill>
        <p:spPr>
          <a:xfrm>
            <a:off x="502920" y="1234440"/>
            <a:ext cx="7863840" cy="3044067"/>
          </a:xfrm>
          <a:prstGeom prst="rect">
            <a:avLst/>
          </a:prstGeom>
        </p:spPr>
      </p:pic>
      <p:sp>
        <p:nvSpPr>
          <p:cNvPr id="12" name="Rectangle 11"/>
          <p:cNvSpPr/>
          <p:nvPr/>
        </p:nvSpPr>
        <p:spPr>
          <a:xfrm>
            <a:off x="8549640" y="1234440"/>
            <a:ext cx="3154680" cy="3044952"/>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4232" y="1353312"/>
            <a:ext cx="2825496" cy="2807208"/>
          </a:xfrm>
          <a:prstGeom prst="rect">
            <a:avLst/>
          </a:prstGeom>
          <a:noFill/>
        </p:spPr>
        <p:txBody>
          <a:bodyPr wrap="square" lIns="0" rIns="0" tIns="0" bIns="0">
            <a:spAutoFit/>
          </a:bodyPr>
          <a:lstStyle/>
          <a:p>
            <a:r>
              <a:rPr sz="1250" b="1" spc="100">
                <a:solidFill>
                  <a:srgbClr val="E58E1A"/>
                </a:solidFill>
                <a:latin typeface="Cambria"/>
              </a:rPr>
              <a:t>IN PLAIN WORDS</a:t>
            </a:r>
          </a:p>
          <a:p>
            <a:pPr>
              <a:spcBef>
                <a:spcPts val="400"/>
              </a:spcBef>
            </a:pPr>
            <a:r>
              <a:rPr sz="1050">
                <a:solidFill>
                  <a:srgbClr val="222A3F"/>
                </a:solidFill>
                <a:latin typeface="Cambria"/>
              </a:rPr>
              <a:t>•  The CPU keeps running down to 2.44 V, its brownout reset</a:t>
            </a:r>
          </a:p>
          <a:p>
            <a:pPr>
              <a:spcBef>
                <a:spcPts val="400"/>
              </a:spcBef>
            </a:pPr>
            <a:r>
              <a:rPr sz="1050">
                <a:solidFill>
                  <a:srgbClr val="222A3F"/>
                </a:solidFill>
                <a:latin typeface="Cambria"/>
              </a:rPr>
              <a:t>•  The flash chip is only guaranteed to store data above 2.70 V</a:t>
            </a:r>
          </a:p>
          <a:p>
            <a:pPr>
              <a:spcBef>
                <a:spcPts val="400"/>
              </a:spcBef>
            </a:pPr>
            <a:r>
              <a:rPr sz="1050">
                <a:solidFill>
                  <a:srgbClr val="222A3F"/>
                </a:solidFill>
                <a:latin typeface="Cambria"/>
              </a:rPr>
              <a:t>•  Between the two, 260 mV, the CPU is alive and can order a write, but the chip may not finish it</a:t>
            </a:r>
          </a:p>
          <a:p>
            <a:pPr>
              <a:spcBef>
                <a:spcPts val="400"/>
              </a:spcBef>
            </a:pPr>
            <a:r>
              <a:rPr sz="1050">
                <a:solidFill>
                  <a:srgbClr val="222A3F"/>
                </a:solidFill>
                <a:latin typeface="Cambria"/>
              </a:rPr>
              <a:t>•  A 750 mA transmit pulse on a nearly flat cell can drag the rail through that window and back</a:t>
            </a:r>
          </a:p>
        </p:txBody>
      </p:sp>
      <p:sp>
        <p:nvSpPr>
          <p:cNvPr id="14" name="Rectangle 13"/>
          <p:cNvSpPr/>
          <p:nvPr/>
        </p:nvSpPr>
        <p:spPr>
          <a:xfrm>
            <a:off x="502920" y="4434840"/>
            <a:ext cx="11201400" cy="10972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4553712"/>
            <a:ext cx="10872216" cy="859536"/>
          </a:xfrm>
          <a:prstGeom prst="rect">
            <a:avLst/>
          </a:prstGeom>
          <a:noFill/>
        </p:spPr>
        <p:txBody>
          <a:bodyPr wrap="square" lIns="0" rIns="0" tIns="0" bIns="0">
            <a:spAutoFit/>
          </a:bodyPr>
          <a:lstStyle/>
          <a:p>
            <a:r>
              <a:rPr sz="1250" b="1" spc="100">
                <a:solidFill>
                  <a:srgbClr val="16213D"/>
                </a:solidFill>
                <a:latin typeface="Cambria"/>
              </a:rPr>
              <a:t>WHAT A HALF-WRITTEN CELL DOES</a:t>
            </a:r>
          </a:p>
          <a:p>
            <a:pPr>
              <a:spcBef>
                <a:spcPts val="400"/>
              </a:spcBef>
            </a:pPr>
            <a:r>
              <a:rPr sz="1150">
                <a:solidFill>
                  <a:srgbClr val="222A3F"/>
                </a:solidFill>
                <a:latin typeface="Cambria"/>
              </a:rPr>
              <a:t>A flash cell stores a small charge; reading it compares that charge with a threshold. A write cut short by low voltage leaves the charge near the threshold, so the same cell reads 1 on one pass and 0 on the next. That is the fingerprint the measurement on sheet 15 looks for, and it is what the firmware then punishes with factory defaults.</a:t>
            </a:r>
          </a:p>
        </p:txBody>
      </p:sp>
      <p:sp>
        <p:nvSpPr>
          <p:cNvPr id="16" name="TextBox 15"/>
          <p:cNvSpPr txBox="1"/>
          <p:nvPr/>
        </p:nvSpPr>
        <p:spPr>
          <a:xfrm>
            <a:off x="502920" y="5669280"/>
            <a:ext cx="11155680" cy="411480"/>
          </a:xfrm>
          <a:prstGeom prst="rect">
            <a:avLst/>
          </a:prstGeom>
          <a:noFill/>
        </p:spPr>
        <p:txBody>
          <a:bodyPr wrap="square" lIns="0" rIns="0" tIns="0" bIns="0">
            <a:spAutoFit/>
          </a:bodyPr>
          <a:lstStyle/>
          <a:p>
            <a:pPr algn="l"/>
            <a:r>
              <a:rPr sz="1000" b="0" i="0">
                <a:solidFill>
                  <a:srgbClr val="5E6B85"/>
                </a:solidFill>
                <a:latin typeface="Courier New"/>
              </a:rPr>
              <a:t>Boya BY25Q128AS (JEDEC 68 40 18, read from the chip): VCC 2.7 to 3.6 V, page program 0.6 ms, sector erase 50 ms, 100k cycles. Heltec V4 datasheet V4.2.0, tables 3.2 and 3.4. ESP-IDF Kconfig for ESP32-S3.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12/21  REV D  2026-11-04</a:t>
            </a:r>
          </a:p>
        </p:txBody>
      </p:sp>
      <p:sp>
        <p:nvSpPr>
          <p:cNvPr id="7" name="Rectangle 6"/>
          <p:cNvSpPr/>
          <p:nvPr/>
        </p:nvSpPr>
        <p:spPr>
          <a:xfrm>
            <a:off x="9646920" y="347472"/>
            <a:ext cx="2148840" cy="420624"/>
          </a:xfrm>
          <a:prstGeom prst="rect">
            <a:avLst/>
          </a:prstGeom>
          <a:solidFill>
            <a:srgbClr val="FFFFFF"/>
          </a:solidFill>
          <a:ln w="19050">
            <a:solidFill>
              <a:srgbClr val="D94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D9488C"/>
                </a:solidFill>
                <a:latin typeface="Courier New"/>
              </a:rPr>
              <a:t>OWNER: CANNON</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UPSTREAM ALREADY KNOWS</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meshtastic/firmware issue tracker on GitHub</a:t>
            </a:r>
          </a:p>
        </p:txBody>
      </p:sp>
      <p:graphicFrame>
        <p:nvGraphicFramePr>
          <p:cNvPr id="11" name="Table 10"/>
          <p:cNvGraphicFramePr>
            <a:graphicFrameLocks noGrp="1"/>
          </p:cNvGraphicFramePr>
          <p:nvPr/>
        </p:nvGraphicFramePr>
        <p:xfrm>
          <a:off x="502920" y="1371600"/>
          <a:ext cx="11155680" cy="2852928"/>
        </p:xfrm>
        <a:graphic>
          <a:graphicData uri="http://schemas.openxmlformats.org/drawingml/2006/table">
            <a:tbl>
              <a:tblPr firstRow="1" bandRow="1">
                <a:tableStyleId>{5C22544A-7EE6-4342-B048-85BDC9FD1C3A}</a:tableStyleId>
              </a:tblPr>
              <a:tblGrid>
                <a:gridCol w="1554480"/>
                <a:gridCol w="2286000"/>
                <a:gridCol w="4754880"/>
                <a:gridCol w="2560320"/>
              </a:tblGrid>
              <a:tr h="475488">
                <a:tc>
                  <a:txBody>
                    <a:bodyPr/>
                    <a:lstStyle/>
                    <a:p>
                      <a:r>
                        <a:rPr sz="1100" b="1">
                          <a:solidFill>
                            <a:srgbClr val="FFFFFF"/>
                          </a:solidFill>
                          <a:latin typeface="Cambria"/>
                        </a:rPr>
                        <a:t>Reference</a:t>
                      </a:r>
                    </a:p>
                  </a:txBody>
                  <a:tcPr marL="73152" marR="73152" marT="27432" marB="27432">
                    <a:solidFill>
                      <a:srgbClr val="16213D"/>
                    </a:solidFill>
                  </a:tcPr>
                </a:tc>
                <a:tc>
                  <a:txBody>
                    <a:bodyPr/>
                    <a:lstStyle/>
                    <a:p>
                      <a:r>
                        <a:rPr sz="1100" b="1">
                          <a:solidFill>
                            <a:srgbClr val="FFFFFF"/>
                          </a:solidFill>
                          <a:latin typeface="Cambria"/>
                        </a:rPr>
                        <a:t>Boards</a:t>
                      </a:r>
                    </a:p>
                  </a:txBody>
                  <a:tcPr marL="73152" marR="73152" marT="27432" marB="27432">
                    <a:solidFill>
                      <a:srgbClr val="16213D"/>
                    </a:solidFill>
                  </a:tcPr>
                </a:tc>
                <a:tc>
                  <a:txBody>
                    <a:bodyPr/>
                    <a:lstStyle/>
                    <a:p>
                      <a:r>
                        <a:rPr sz="1100" b="1">
                          <a:solidFill>
                            <a:srgbClr val="FFFFFF"/>
                          </a:solidFill>
                          <a:latin typeface="Cambria"/>
                        </a:rPr>
                        <a:t>Report</a:t>
                      </a:r>
                    </a:p>
                  </a:txBody>
                  <a:tcPr marL="73152" marR="73152" marT="27432" marB="27432">
                    <a:solidFill>
                      <a:srgbClr val="16213D"/>
                    </a:solidFill>
                  </a:tcPr>
                </a:tc>
                <a:tc>
                  <a:txBody>
                    <a:bodyPr/>
                    <a:lstStyle/>
                    <a:p>
                      <a:r>
                        <a:rPr sz="1100" b="1">
                          <a:solidFill>
                            <a:srgbClr val="FFFFFF"/>
                          </a:solidFill>
                          <a:latin typeface="Cambria"/>
                        </a:rPr>
                        <a:t>Status</a:t>
                      </a:r>
                    </a:p>
                  </a:txBody>
                  <a:tcPr marL="73152" marR="73152" marT="27432" marB="27432">
                    <a:solidFill>
                      <a:srgbClr val="16213D"/>
                    </a:solidFill>
                  </a:tcPr>
                </a:tc>
              </a:tr>
              <a:tr h="475488">
                <a:tc>
                  <a:txBody>
                    <a:bodyPr/>
                    <a:lstStyle/>
                    <a:p>
                      <a:r>
                        <a:rPr sz="1100" b="0">
                          <a:solidFill>
                            <a:srgbClr val="222A3F"/>
                          </a:solidFill>
                          <a:latin typeface="Cambria"/>
                        </a:rPr>
                        <a:t>#4555</a:t>
                      </a:r>
                    </a:p>
                  </a:txBody>
                  <a:tcPr marL="73152" marR="73152" marT="27432" marB="27432">
                    <a:solidFill>
                      <a:srgbClr val="F2F5FA"/>
                    </a:solidFill>
                  </a:tcPr>
                </a:tc>
                <a:tc>
                  <a:txBody>
                    <a:bodyPr/>
                    <a:lstStyle/>
                    <a:p>
                      <a:r>
                        <a:rPr sz="1100" b="0">
                          <a:solidFill>
                            <a:srgbClr val="222A3F"/>
                          </a:solidFill>
                          <a:latin typeface="Cambria"/>
                        </a:rPr>
                        <a:t>Heltec HT-CT62, V3, V4</a:t>
                      </a:r>
                    </a:p>
                  </a:txBody>
                  <a:tcPr marL="73152" marR="73152" marT="27432" marB="27432">
                    <a:solidFill>
                      <a:srgbClr val="F2F5FA"/>
                    </a:solidFill>
                  </a:tcPr>
                </a:tc>
                <a:tc>
                  <a:txBody>
                    <a:bodyPr/>
                    <a:lstStyle/>
                    <a:p>
                      <a:r>
                        <a:rPr sz="1100" b="0">
                          <a:solidFill>
                            <a:srgbClr val="222A3F"/>
                          </a:solidFill>
                          <a:latin typeface="Cambria"/>
                        </a:rPr>
                        <a:t>Power loss in early boot resets configuration after 2 to 3 attempts</a:t>
                      </a:r>
                    </a:p>
                  </a:txBody>
                  <a:tcPr marL="73152" marR="73152" marT="27432" marB="27432">
                    <a:solidFill>
                      <a:srgbClr val="F2F5FA"/>
                    </a:solidFill>
                  </a:tcPr>
                </a:tc>
                <a:tc>
                  <a:txBody>
                    <a:bodyPr/>
                    <a:lstStyle/>
                    <a:p>
                      <a:r>
                        <a:rPr sz="1100" b="0">
                          <a:solidFill>
                            <a:srgbClr val="222A3F"/>
                          </a:solidFill>
                          <a:latin typeface="Cambria"/>
                        </a:rPr>
                        <a:t>Closed 'not planned' Oct 2025</a:t>
                      </a:r>
                    </a:p>
                  </a:txBody>
                  <a:tcPr marL="73152" marR="73152" marT="27432" marB="27432">
                    <a:solidFill>
                      <a:srgbClr val="F2F5FA"/>
                    </a:solidFill>
                  </a:tcPr>
                </a:tc>
              </a:tr>
              <a:tr h="475488">
                <a:tc>
                  <a:txBody>
                    <a:bodyPr/>
                    <a:lstStyle/>
                    <a:p>
                      <a:r>
                        <a:rPr sz="1100" b="0">
                          <a:solidFill>
                            <a:srgbClr val="222A3F"/>
                          </a:solidFill>
                          <a:latin typeface="Cambria"/>
                        </a:rPr>
                        <a:t>#4622</a:t>
                      </a:r>
                    </a:p>
                  </a:txBody>
                  <a:tcPr marL="73152" marR="73152" marT="27432" marB="27432">
                    <a:solidFill>
                      <a:srgbClr val="FFFFFF"/>
                    </a:solidFill>
                  </a:tcPr>
                </a:tc>
                <a:tc>
                  <a:txBody>
                    <a:bodyPr/>
                    <a:lstStyle/>
                    <a:p>
                      <a:r>
                        <a:rPr sz="1100" b="0">
                          <a:solidFill>
                            <a:srgbClr val="222A3F"/>
                          </a:solidFill>
                          <a:latin typeface="Cambria"/>
                        </a:rPr>
                        <a:t>Heltec V3</a:t>
                      </a:r>
                    </a:p>
                  </a:txBody>
                  <a:tcPr marL="73152" marR="73152" marT="27432" marB="27432">
                    <a:solidFill>
                      <a:srgbClr val="FFFFFF"/>
                    </a:solidFill>
                  </a:tcPr>
                </a:tc>
                <a:tc>
                  <a:txBody>
                    <a:bodyPr/>
                    <a:lstStyle/>
                    <a:p>
                      <a:r>
                        <a:rPr sz="1100" b="0">
                          <a:solidFill>
                            <a:srgbClr val="222A3F"/>
                          </a:solidFill>
                          <a:latin typeface="Cambria"/>
                        </a:rPr>
                        <a:t>Resets when the battery is empty</a:t>
                      </a:r>
                    </a:p>
                  </a:txBody>
                  <a:tcPr marL="73152" marR="73152" marT="27432" marB="27432">
                    <a:solidFill>
                      <a:srgbClr val="FFFFFF"/>
                    </a:solidFill>
                  </a:tcPr>
                </a:tc>
                <a:tc>
                  <a:txBody>
                    <a:bodyPr/>
                    <a:lstStyle/>
                    <a:p>
                      <a:r>
                        <a:rPr sz="1100" b="0">
                          <a:solidFill>
                            <a:srgbClr val="222A3F"/>
                          </a:solidFill>
                          <a:latin typeface="Cambria"/>
                        </a:rPr>
                        <a:t>Duplicate of #4555</a:t>
                      </a:r>
                    </a:p>
                  </a:txBody>
                  <a:tcPr marL="73152" marR="73152" marT="27432" marB="27432">
                    <a:solidFill>
                      <a:srgbClr val="FFFFFF"/>
                    </a:solidFill>
                  </a:tcPr>
                </a:tc>
              </a:tr>
              <a:tr h="475488">
                <a:tc>
                  <a:txBody>
                    <a:bodyPr/>
                    <a:lstStyle/>
                    <a:p>
                      <a:r>
                        <a:rPr sz="1100" b="0">
                          <a:solidFill>
                            <a:srgbClr val="222A3F"/>
                          </a:solidFill>
                          <a:latin typeface="Cambria"/>
                        </a:rPr>
                        <a:t>#2936, #3260</a:t>
                      </a:r>
                    </a:p>
                  </a:txBody>
                  <a:tcPr marL="73152" marR="73152" marT="27432" marB="27432">
                    <a:solidFill>
                      <a:srgbClr val="F2F5FA"/>
                    </a:solidFill>
                  </a:tcPr>
                </a:tc>
                <a:tc>
                  <a:txBody>
                    <a:bodyPr/>
                    <a:lstStyle/>
                    <a:p>
                      <a:r>
                        <a:rPr sz="1100" b="0">
                          <a:solidFill>
                            <a:srgbClr val="222A3F"/>
                          </a:solidFill>
                          <a:latin typeface="Cambria"/>
                        </a:rPr>
                        <a:t>RAK4631, Heltec V2</a:t>
                      </a:r>
                    </a:p>
                  </a:txBody>
                  <a:tcPr marL="73152" marR="73152" marT="27432" marB="27432">
                    <a:solidFill>
                      <a:srgbClr val="F2F5FA"/>
                    </a:solidFill>
                  </a:tcPr>
                </a:tc>
                <a:tc>
                  <a:txBody>
                    <a:bodyPr/>
                    <a:lstStyle/>
                    <a:p>
                      <a:r>
                        <a:rPr sz="1100" b="0">
                          <a:solidFill>
                            <a:srgbClr val="222A3F"/>
                          </a:solidFill>
                          <a:latin typeface="Cambria"/>
                        </a:rPr>
                        <a:t>Defaults after the battery dies; prefs files missing</a:t>
                      </a:r>
                    </a:p>
                  </a:txBody>
                  <a:tcPr marL="73152" marR="73152" marT="27432" marB="27432">
                    <a:solidFill>
                      <a:srgbClr val="F2F5FA"/>
                    </a:solidFill>
                  </a:tcPr>
                </a:tc>
                <a:tc>
                  <a:txBody>
                    <a:bodyPr/>
                    <a:lstStyle/>
                    <a:p>
                      <a:r>
                        <a:rPr sz="1100" b="0">
                          <a:solidFill>
                            <a:srgbClr val="222A3F"/>
                          </a:solidFill>
                          <a:latin typeface="Cambria"/>
                        </a:rPr>
                        <a:t>Older platform, same symptom</a:t>
                      </a:r>
                    </a:p>
                  </a:txBody>
                  <a:tcPr marL="73152" marR="73152" marT="27432" marB="27432">
                    <a:solidFill>
                      <a:srgbClr val="F2F5FA"/>
                    </a:solidFill>
                  </a:tcPr>
                </a:tc>
              </a:tr>
              <a:tr h="475488">
                <a:tc>
                  <a:txBody>
                    <a:bodyPr/>
                    <a:lstStyle/>
                    <a:p>
                      <a:r>
                        <a:rPr sz="1100" b="0">
                          <a:solidFill>
                            <a:srgbClr val="222A3F"/>
                          </a:solidFill>
                          <a:latin typeface="Cambria"/>
                        </a:rPr>
                        <a:t>#5259</a:t>
                      </a:r>
                    </a:p>
                  </a:txBody>
                  <a:tcPr marL="73152" marR="73152" marT="27432" marB="27432">
                    <a:solidFill>
                      <a:srgbClr val="FFFFFF"/>
                    </a:solidFill>
                  </a:tcPr>
                </a:tc>
                <a:tc>
                  <a:txBody>
                    <a:bodyPr/>
                    <a:lstStyle/>
                    <a:p>
                      <a:r>
                        <a:rPr sz="1100" b="0">
                          <a:solidFill>
                            <a:srgbClr val="222A3F"/>
                          </a:solidFill>
                          <a:latin typeface="Cambria"/>
                        </a:rPr>
                        <a:t>ESP32 boards</a:t>
                      </a:r>
                    </a:p>
                  </a:txBody>
                  <a:tcPr marL="73152" marR="73152" marT="27432" marB="27432">
                    <a:solidFill>
                      <a:srgbClr val="FFFFFF"/>
                    </a:solidFill>
                  </a:tcPr>
                </a:tc>
                <a:tc>
                  <a:txBody>
                    <a:bodyPr/>
                    <a:lstStyle/>
                    <a:p>
                      <a:r>
                        <a:rPr sz="1100" b="0">
                          <a:solidFill>
                            <a:srgbClr val="222A3F"/>
                          </a:solidFill>
                          <a:latin typeface="Cambria"/>
                        </a:rPr>
                        <a:t>3.10 V low-battery cutoff is below what the LDOs need</a:t>
                      </a:r>
                    </a:p>
                  </a:txBody>
                  <a:tcPr marL="73152" marR="73152" marT="27432" marB="27432">
                    <a:solidFill>
                      <a:srgbClr val="FFFFFF"/>
                    </a:solidFill>
                  </a:tcPr>
                </a:tc>
                <a:tc>
                  <a:txBody>
                    <a:bodyPr/>
                    <a:lstStyle/>
                    <a:p>
                      <a:r>
                        <a:rPr sz="1100" b="0">
                          <a:solidFill>
                            <a:srgbClr val="222A3F"/>
                          </a:solidFill>
                          <a:latin typeface="Cambria"/>
                        </a:rPr>
                        <a:t>Open</a:t>
                      </a:r>
                    </a:p>
                  </a:txBody>
                  <a:tcPr marL="73152" marR="73152" marT="27432" marB="27432">
                    <a:solidFill>
                      <a:srgbClr val="FFFFFF"/>
                    </a:solidFill>
                  </a:tcPr>
                </a:tc>
              </a:tr>
              <a:tr h="475488">
                <a:tc>
                  <a:txBody>
                    <a:bodyPr/>
                    <a:lstStyle/>
                    <a:p>
                      <a:r>
                        <a:rPr sz="1100" b="0">
                          <a:solidFill>
                            <a:srgbClr val="222A3F"/>
                          </a:solidFill>
                          <a:latin typeface="Cambria"/>
                        </a:rPr>
                        <a:t>PR #11872</a:t>
                      </a:r>
                    </a:p>
                  </a:txBody>
                  <a:tcPr marL="73152" marR="73152" marT="27432" marB="27432">
                    <a:solidFill>
                      <a:srgbClr val="F2F5FA"/>
                    </a:solidFill>
                  </a:tcPr>
                </a:tc>
                <a:tc>
                  <a:txBody>
                    <a:bodyPr/>
                    <a:lstStyle/>
                    <a:p>
                      <a:r>
                        <a:rPr sz="1100" b="0">
                          <a:solidFill>
                            <a:srgbClr val="222A3F"/>
                          </a:solidFill>
                          <a:latin typeface="Cambria"/>
                        </a:rPr>
                        <a:t>nRF52 only</a:t>
                      </a:r>
                    </a:p>
                  </a:txBody>
                  <a:tcPr marL="73152" marR="73152" marT="27432" marB="27432">
                    <a:solidFill>
                      <a:srgbClr val="F2F5FA"/>
                    </a:solidFill>
                  </a:tcPr>
                </a:tc>
                <a:tc>
                  <a:txBody>
                    <a:bodyPr/>
                    <a:lstStyle/>
                    <a:p>
                      <a:r>
                        <a:rPr sz="1100" b="0">
                          <a:solidFill>
                            <a:srgbClr val="222A3F"/>
                          </a:solidFill>
                          <a:latin typeface="Cambria"/>
                        </a:rPr>
                        <a:t>Retry saves, check the rail first, stop formatting on a low rail</a:t>
                      </a:r>
                    </a:p>
                  </a:txBody>
                  <a:tcPr marL="73152" marR="73152" marT="27432" marB="27432">
                    <a:solidFill>
                      <a:srgbClr val="F2F5FA"/>
                    </a:solidFill>
                  </a:tcPr>
                </a:tc>
                <a:tc>
                  <a:txBody>
                    <a:bodyPr/>
                    <a:lstStyle/>
                    <a:p>
                      <a:r>
                        <a:rPr sz="1100" b="0">
                          <a:solidFill>
                            <a:srgbClr val="222A3F"/>
                          </a:solidFill>
                          <a:latin typeface="Cambria"/>
                        </a:rPr>
                        <a:t>Merged; no ESP32 equivalent</a:t>
                      </a:r>
                    </a:p>
                  </a:txBody>
                  <a:tcPr marL="73152" marR="73152" marT="27432" marB="27432">
                    <a:solidFill>
                      <a:srgbClr val="F2F5FA"/>
                    </a:solidFill>
                  </a:tcPr>
                </a:tc>
              </a:tr>
            </a:tbl>
          </a:graphicData>
        </a:graphic>
      </p:graphicFrame>
      <p:sp>
        <p:nvSpPr>
          <p:cNvPr id="12" name="Rectangle 11"/>
          <p:cNvSpPr/>
          <p:nvPr/>
        </p:nvSpPr>
        <p:spPr>
          <a:xfrm>
            <a:off x="502920" y="4343400"/>
            <a:ext cx="11155680" cy="132588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434840"/>
            <a:ext cx="10826496" cy="274320"/>
          </a:xfrm>
          <a:prstGeom prst="rect">
            <a:avLst/>
          </a:prstGeom>
          <a:noFill/>
        </p:spPr>
        <p:txBody>
          <a:bodyPr wrap="square" lIns="0" rIns="0" tIns="0" bIns="0">
            <a:spAutoFit/>
          </a:bodyPr>
          <a:lstStyle/>
          <a:p>
            <a:pPr algn="l"/>
            <a:r>
              <a:rPr sz="1000" b="1" i="0">
                <a:solidFill>
                  <a:srgbClr val="E58E1A"/>
                </a:solidFill>
                <a:latin typeface="Courier New"/>
              </a:rPr>
              <a:t>MAINTAINER, IN #4555</a:t>
            </a:r>
          </a:p>
        </p:txBody>
      </p:sp>
      <p:sp>
        <p:nvSpPr>
          <p:cNvPr id="14" name="TextBox 13"/>
          <p:cNvSpPr txBox="1"/>
          <p:nvPr/>
        </p:nvSpPr>
        <p:spPr>
          <a:xfrm>
            <a:off x="667512" y="4727448"/>
            <a:ext cx="10826496" cy="868680"/>
          </a:xfrm>
          <a:prstGeom prst="rect">
            <a:avLst/>
          </a:prstGeom>
          <a:noFill/>
        </p:spPr>
        <p:txBody>
          <a:bodyPr wrap="square" lIns="0" rIns="0" tIns="0" bIns="0">
            <a:spAutoFit/>
          </a:bodyPr>
          <a:lstStyle/>
          <a:p>
            <a:r>
              <a:rPr sz="1100">
                <a:solidFill>
                  <a:srgbClr val="C9D8F0"/>
                </a:solidFill>
                <a:latin typeface="Courier New"/>
              </a:rPr>
              <a:t>"If the brownout circuit worked, it should hold the CPU in reset when voltage is too low for flash."</a:t>
            </a:r>
          </a:p>
          <a:p>
            <a:r>
              <a:rPr sz="1100">
                <a:solidFill>
                  <a:srgbClr val="5E6B85"/>
                </a:solidFill>
                <a:latin typeface="Courier New"/>
              </a:rPr>
              <a:t>Community workaround: hard-code the configuration in userPrefs.jsonc so the defaults ARE the intended settings.</a:t>
            </a:r>
          </a:p>
        </p:txBody>
      </p:sp>
      <p:sp>
        <p:nvSpPr>
          <p:cNvPr id="15" name="TextBox 14"/>
          <p:cNvSpPr txBox="1"/>
          <p:nvPr/>
        </p:nvSpPr>
        <p:spPr>
          <a:xfrm>
            <a:off x="502920" y="5760720"/>
            <a:ext cx="11155680" cy="365760"/>
          </a:xfrm>
          <a:prstGeom prst="rect">
            <a:avLst/>
          </a:prstGeom>
          <a:noFill/>
        </p:spPr>
        <p:txBody>
          <a:bodyPr wrap="square" lIns="0" rIns="0" tIns="0" bIns="0">
            <a:spAutoFit/>
          </a:bodyPr>
          <a:lstStyle/>
          <a:p>
            <a:pPr algn="l"/>
            <a:r>
              <a:rPr sz="1000" b="0" i="0">
                <a:solidFill>
                  <a:srgbClr val="5E6B85"/>
                </a:solidFill>
                <a:latin typeface="Courier New"/>
              </a:rPr>
              <a:t>#4555 is issue number 4555 at github.com/meshtastic/firmware/issues. A PR (pull request) is a proposed code change; #11872 is the one that fixed the nRF52 boards.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13/21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HYPOTHESES, PREDICTIONS, VERDICTS</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Predictions written before the measurement; verdicts after</a:t>
            </a:r>
          </a:p>
        </p:txBody>
      </p:sp>
      <p:graphicFrame>
        <p:nvGraphicFramePr>
          <p:cNvPr id="11" name="Table 10"/>
          <p:cNvGraphicFramePr>
            <a:graphicFrameLocks noGrp="1"/>
          </p:cNvGraphicFramePr>
          <p:nvPr/>
        </p:nvGraphicFramePr>
        <p:xfrm>
          <a:off x="502920" y="1371600"/>
          <a:ext cx="11155680" cy="3291839"/>
        </p:xfrm>
        <a:graphic>
          <a:graphicData uri="http://schemas.openxmlformats.org/drawingml/2006/table">
            <a:tbl>
              <a:tblPr firstRow="1" bandRow="1">
                <a:tableStyleId>{5C22544A-7EE6-4342-B048-85BDC9FD1C3A}</a:tableStyleId>
              </a:tblPr>
              <a:tblGrid>
                <a:gridCol w="457200"/>
                <a:gridCol w="2377440"/>
                <a:gridCol w="4023360"/>
                <a:gridCol w="4297680"/>
              </a:tblGrid>
              <a:tr h="548639">
                <a:tc>
                  <a:txBody>
                    <a:bodyPr/>
                    <a:lstStyle/>
                    <a:p>
                      <a:r>
                        <a:rPr sz="1100" b="1">
                          <a:solidFill>
                            <a:srgbClr val="FFFFFF"/>
                          </a:solidFill>
                          <a:latin typeface="Cambria"/>
                        </a:rPr>
                        <a:t>#</a:t>
                      </a:r>
                    </a:p>
                  </a:txBody>
                  <a:tcPr marL="73152" marR="73152" marT="27432" marB="27432">
                    <a:solidFill>
                      <a:srgbClr val="16213D"/>
                    </a:solidFill>
                  </a:tcPr>
                </a:tc>
                <a:tc>
                  <a:txBody>
                    <a:bodyPr/>
                    <a:lstStyle/>
                    <a:p>
                      <a:r>
                        <a:rPr sz="1100" b="1">
                          <a:solidFill>
                            <a:srgbClr val="FFFFFF"/>
                          </a:solidFill>
                          <a:latin typeface="Cambria"/>
                        </a:rPr>
                        <a:t>Hypothesis</a:t>
                      </a:r>
                    </a:p>
                  </a:txBody>
                  <a:tcPr marL="73152" marR="73152" marT="27432" marB="27432">
                    <a:solidFill>
                      <a:srgbClr val="16213D"/>
                    </a:solidFill>
                  </a:tcPr>
                </a:tc>
                <a:tc>
                  <a:txBody>
                    <a:bodyPr/>
                    <a:lstStyle/>
                    <a:p>
                      <a:r>
                        <a:rPr sz="1100" b="1">
                          <a:solidFill>
                            <a:srgbClr val="FFFFFF"/>
                          </a:solidFill>
                          <a:latin typeface="Cambria"/>
                        </a:rPr>
                        <a:t>Would show</a:t>
                      </a:r>
                    </a:p>
                  </a:txBody>
                  <a:tcPr marL="73152" marR="73152" marT="27432" marB="27432">
                    <a:solidFill>
                      <a:srgbClr val="16213D"/>
                    </a:solidFill>
                  </a:tcPr>
                </a:tc>
                <a:tc>
                  <a:txBody>
                    <a:bodyPr/>
                    <a:lstStyle/>
                    <a:p>
                      <a:r>
                        <a:rPr sz="1100" b="1">
                          <a:solidFill>
                            <a:srgbClr val="FFFFFF"/>
                          </a:solidFill>
                          <a:latin typeface="Cambria"/>
                        </a:rPr>
                        <a:t>Verdict</a:t>
                      </a:r>
                    </a:p>
                  </a:txBody>
                  <a:tcPr marL="73152" marR="73152" marT="27432" marB="27432">
                    <a:solidFill>
                      <a:srgbClr val="16213D"/>
                    </a:solidFill>
                  </a:tcPr>
                </a:tc>
              </a:tr>
              <a:tr h="548639">
                <a:tc>
                  <a:txBody>
                    <a:bodyPr/>
                    <a:lstStyle/>
                    <a:p>
                      <a:r>
                        <a:rPr sz="1100" b="0">
                          <a:solidFill>
                            <a:srgbClr val="222A3F"/>
                          </a:solidFill>
                          <a:latin typeface="Cambria"/>
                        </a:rPr>
                        <a:t>H1</a:t>
                      </a:r>
                    </a:p>
                  </a:txBody>
                  <a:tcPr marL="73152" marR="73152" marT="27432" marB="27432">
                    <a:solidFill>
                      <a:srgbClr val="F2F5FA"/>
                    </a:solidFill>
                  </a:tcPr>
                </a:tc>
                <a:tc>
                  <a:txBody>
                    <a:bodyPr/>
                    <a:lstStyle/>
                    <a:p>
                      <a:r>
                        <a:rPr sz="1100" b="0">
                          <a:solidFill>
                            <a:srgbClr val="222A3F"/>
                          </a:solidFill>
                          <a:latin typeface="Cambria"/>
                        </a:rPr>
                        <a:t>Flash wear-out</a:t>
                      </a:r>
                    </a:p>
                  </a:txBody>
                  <a:tcPr marL="73152" marR="73152" marT="27432" marB="27432">
                    <a:solidFill>
                      <a:srgbClr val="F2F5FA"/>
                    </a:solidFill>
                  </a:tcPr>
                </a:tc>
                <a:tc>
                  <a:txBody>
                    <a:bodyPr/>
                    <a:lstStyle/>
                    <a:p>
                      <a:r>
                        <a:rPr sz="1100" b="0">
                          <a:solidFill>
                            <a:srgbClr val="222A3F"/>
                          </a:solidFill>
                          <a:latin typeface="Cambria"/>
                        </a:rPr>
                        <a:t>Diffuse failures; write counts near 100k per sector</a:t>
                      </a:r>
                    </a:p>
                  </a:txBody>
                  <a:tcPr marL="73152" marR="73152" marT="27432" marB="27432">
                    <a:solidFill>
                      <a:srgbClr val="F2F5FA"/>
                    </a:solidFill>
                  </a:tcPr>
                </a:tc>
                <a:tc>
                  <a:txBody>
                    <a:bodyPr/>
                    <a:lstStyle/>
                    <a:p>
                      <a:r>
                        <a:rPr sz="1100" b="0">
                          <a:solidFill>
                            <a:srgbClr val="222A3F"/>
                          </a:solidFill>
                          <a:latin typeface="Cambria"/>
                        </a:rPr>
                        <a:t>Rejected: 20 sectors per boot over 864 is millions of boots</a:t>
                      </a:r>
                    </a:p>
                  </a:txBody>
                  <a:tcPr marL="73152" marR="73152" marT="27432" marB="27432">
                    <a:solidFill>
                      <a:srgbClr val="F2F5FA"/>
                    </a:solidFill>
                  </a:tcPr>
                </a:tc>
              </a:tr>
              <a:tr h="548639">
                <a:tc>
                  <a:txBody>
                    <a:bodyPr/>
                    <a:lstStyle/>
                    <a:p>
                      <a:r>
                        <a:rPr sz="1100" b="0">
                          <a:solidFill>
                            <a:srgbClr val="222A3F"/>
                          </a:solidFill>
                          <a:latin typeface="Cambria"/>
                        </a:rPr>
                        <a:t>H2</a:t>
                      </a:r>
                    </a:p>
                  </a:txBody>
                  <a:tcPr marL="73152" marR="73152" marT="27432" marB="27432">
                    <a:solidFill>
                      <a:srgbClr val="FFFFFF"/>
                    </a:solidFill>
                  </a:tcPr>
                </a:tc>
                <a:tc>
                  <a:txBody>
                    <a:bodyPr/>
                    <a:lstStyle/>
                    <a:p>
                      <a:r>
                        <a:rPr sz="1100" b="0">
                          <a:solidFill>
                            <a:srgbClr val="222A3F"/>
                          </a:solidFill>
                          <a:latin typeface="Cambria"/>
                        </a:rPr>
                        <a:t>Defective cells</a:t>
                      </a:r>
                    </a:p>
                  </a:txBody>
                  <a:tcPr marL="73152" marR="73152" marT="27432" marB="27432">
                    <a:solidFill>
                      <a:srgbClr val="FFFFFF"/>
                    </a:solidFill>
                  </a:tcPr>
                </a:tc>
                <a:tc>
                  <a:txBody>
                    <a:bodyPr/>
                    <a:lstStyle/>
                    <a:p>
                      <a:r>
                        <a:rPr sz="1100" b="0">
                          <a:solidFill>
                            <a:srgbClr val="222A3F"/>
                          </a:solidFill>
                          <a:latin typeface="Cambria"/>
                        </a:rPr>
                        <a:t>Same sectors misread every pass; cells fail again after a rewrite</a:t>
                      </a:r>
                    </a:p>
                  </a:txBody>
                  <a:tcPr marL="73152" marR="73152" marT="27432" marB="27432">
                    <a:solidFill>
                      <a:srgbClr val="FFFFFF"/>
                    </a:solidFill>
                  </a:tcPr>
                </a:tc>
                <a:tc>
                  <a:txBody>
                    <a:bodyPr/>
                    <a:lstStyle/>
                    <a:p>
                      <a:r>
                        <a:rPr sz="1100" b="0">
                          <a:solidFill>
                            <a:srgbClr val="222A3F"/>
                          </a:solidFill>
                          <a:latin typeface="Cambria"/>
                        </a:rPr>
                        <a:t>Rejected: unstable sectors became perfect once rewritten</a:t>
                      </a:r>
                    </a:p>
                  </a:txBody>
                  <a:tcPr marL="73152" marR="73152" marT="27432" marB="27432">
                    <a:solidFill>
                      <a:srgbClr val="FFFFFF"/>
                    </a:solidFill>
                  </a:tcPr>
                </a:tc>
              </a:tr>
              <a:tr h="548639">
                <a:tc>
                  <a:txBody>
                    <a:bodyPr/>
                    <a:lstStyle/>
                    <a:p>
                      <a:r>
                        <a:rPr sz="1100" b="0">
                          <a:solidFill>
                            <a:srgbClr val="222A3F"/>
                          </a:solidFill>
                          <a:latin typeface="Cambria"/>
                        </a:rPr>
                        <a:t>H3</a:t>
                      </a:r>
                    </a:p>
                  </a:txBody>
                  <a:tcPr marL="73152" marR="73152" marT="27432" marB="27432">
                    <a:solidFill>
                      <a:srgbClr val="F2F5FA"/>
                    </a:solidFill>
                  </a:tcPr>
                </a:tc>
                <a:tc>
                  <a:txBody>
                    <a:bodyPr/>
                    <a:lstStyle/>
                    <a:p>
                      <a:r>
                        <a:rPr sz="1100" b="0">
                          <a:solidFill>
                            <a:srgbClr val="222A3F"/>
                          </a:solidFill>
                          <a:latin typeface="Cambria"/>
                        </a:rPr>
                        <a:t>Torn writes under low supply</a:t>
                      </a:r>
                    </a:p>
                  </a:txBody>
                  <a:tcPr marL="73152" marR="73152" marT="27432" marB="27432">
                    <a:solidFill>
                      <a:srgbClr val="F2F5FA"/>
                    </a:solidFill>
                  </a:tcPr>
                </a:tc>
                <a:tc>
                  <a:txBody>
                    <a:bodyPr/>
                    <a:lstStyle/>
                    <a:p>
                      <a:r>
                        <a:rPr sz="1100" b="0">
                          <a:solidFill>
                            <a:srgbClr val="222A3F"/>
                          </a:solidFill>
                          <a:latin typeface="Cambria"/>
                        </a:rPr>
                        <a:t>Follows power events; fixed sectors unstable until erased and reprogrammed</a:t>
                      </a:r>
                    </a:p>
                  </a:txBody>
                  <a:tcPr marL="73152" marR="73152" marT="27432" marB="27432">
                    <a:solidFill>
                      <a:srgbClr val="F2F5FA"/>
                    </a:solidFill>
                  </a:tcPr>
                </a:tc>
                <a:tc>
                  <a:txBody>
                    <a:bodyPr/>
                    <a:lstStyle/>
                    <a:p>
                      <a:r>
                        <a:rPr sz="1100" b="0">
                          <a:solidFill>
                            <a:srgbClr val="222A3F"/>
                          </a:solidFill>
                          <a:latin typeface="Cambria"/>
                        </a:rPr>
                        <a:t>Confirmed: measured on SF, repaired by a rewrite</a:t>
                      </a:r>
                    </a:p>
                  </a:txBody>
                  <a:tcPr marL="73152" marR="73152" marT="27432" marB="27432">
                    <a:solidFill>
                      <a:srgbClr val="F2F5FA"/>
                    </a:solidFill>
                  </a:tcPr>
                </a:tc>
              </a:tr>
              <a:tr h="548639">
                <a:tc>
                  <a:txBody>
                    <a:bodyPr/>
                    <a:lstStyle/>
                    <a:p>
                      <a:r>
                        <a:rPr sz="1100" b="0">
                          <a:solidFill>
                            <a:srgbClr val="222A3F"/>
                          </a:solidFill>
                          <a:latin typeface="Cambria"/>
                        </a:rPr>
                        <a:t>H4</a:t>
                      </a:r>
                    </a:p>
                  </a:txBody>
                  <a:tcPr marL="73152" marR="73152" marT="27432" marB="27432">
                    <a:solidFill>
                      <a:srgbClr val="FFFFFF"/>
                    </a:solidFill>
                  </a:tcPr>
                </a:tc>
                <a:tc>
                  <a:txBody>
                    <a:bodyPr/>
                    <a:lstStyle/>
                    <a:p>
                      <a:r>
                        <a:rPr sz="1100" b="0">
                          <a:solidFill>
                            <a:srgbClr val="222A3F"/>
                          </a:solidFill>
                          <a:latin typeface="Cambria"/>
                        </a:rPr>
                        <a:t>LittleFS bug</a:t>
                      </a:r>
                    </a:p>
                  </a:txBody>
                  <a:tcPr marL="73152" marR="73152" marT="27432" marB="27432">
                    <a:solidFill>
                      <a:srgbClr val="FFFFFF"/>
                    </a:solidFill>
                  </a:tcPr>
                </a:tc>
                <a:tc>
                  <a:txBody>
                    <a:bodyPr/>
                    <a:lstStyle/>
                    <a:p>
                      <a:r>
                        <a:rPr sz="1100" b="0">
                          <a:solidFill>
                            <a:srgbClr val="222A3F"/>
                          </a:solidFill>
                          <a:latin typeface="Cambria"/>
                        </a:rPr>
                        <a:t>Mount failures, corrupted directory pairs</a:t>
                      </a:r>
                    </a:p>
                  </a:txBody>
                  <a:tcPr marL="73152" marR="73152" marT="27432" marB="27432">
                    <a:solidFill>
                      <a:srgbClr val="FFFFFF"/>
                    </a:solidFill>
                  </a:tcPr>
                </a:tc>
                <a:tc>
                  <a:txBody>
                    <a:bodyPr/>
                    <a:lstStyle/>
                    <a:p>
                      <a:r>
                        <a:rPr sz="1100" b="0">
                          <a:solidFill>
                            <a:srgbClr val="222A3F"/>
                          </a:solidFill>
                          <a:latin typeface="Cambria"/>
                        </a:rPr>
                        <a:t>Rejected: mounts and decodes cleanly on both radios</a:t>
                      </a:r>
                    </a:p>
                  </a:txBody>
                  <a:tcPr marL="73152" marR="73152" marT="27432" marB="27432">
                    <a:solidFill>
                      <a:srgbClr val="FFFFFF"/>
                    </a:solidFill>
                  </a:tcPr>
                </a:tc>
              </a:tr>
              <a:tr h="548644">
                <a:tc>
                  <a:txBody>
                    <a:bodyPr/>
                    <a:lstStyle/>
                    <a:p>
                      <a:r>
                        <a:rPr sz="1100" b="0">
                          <a:solidFill>
                            <a:srgbClr val="222A3F"/>
                          </a:solidFill>
                          <a:latin typeface="Cambria"/>
                        </a:rPr>
                        <a:t>H5</a:t>
                      </a:r>
                    </a:p>
                  </a:txBody>
                  <a:tcPr marL="73152" marR="73152" marT="27432" marB="27432">
                    <a:solidFill>
                      <a:srgbClr val="F2F5FA"/>
                    </a:solidFill>
                  </a:tcPr>
                </a:tc>
                <a:tc>
                  <a:txBody>
                    <a:bodyPr/>
                    <a:lstStyle/>
                    <a:p>
                      <a:r>
                        <a:rPr sz="1100" b="0">
                          <a:solidFill>
                            <a:srgbClr val="222A3F"/>
                          </a:solidFill>
                          <a:latin typeface="Cambria"/>
                        </a:rPr>
                        <a:t>Firmware turns any failure into a reset</a:t>
                      </a:r>
                    </a:p>
                  </a:txBody>
                  <a:tcPr marL="73152" marR="73152" marT="27432" marB="27432">
                    <a:solidFill>
                      <a:srgbClr val="F2F5FA"/>
                    </a:solidFill>
                  </a:tcPr>
                </a:tc>
                <a:tc>
                  <a:txBody>
                    <a:bodyPr/>
                    <a:lstStyle/>
                    <a:p>
                      <a:r>
                        <a:rPr sz="1100" b="0">
                          <a:solidFill>
                            <a:srgbClr val="222A3F"/>
                          </a:solidFill>
                          <a:latin typeface="Cambria"/>
                        </a:rPr>
                        <a:t>Loss is permanent and silent</a:t>
                      </a:r>
                    </a:p>
                  </a:txBody>
                  <a:tcPr marL="73152" marR="73152" marT="27432" marB="27432">
                    <a:solidFill>
                      <a:srgbClr val="F2F5FA"/>
                    </a:solidFill>
                  </a:tcPr>
                </a:tc>
                <a:tc>
                  <a:txBody>
                    <a:bodyPr/>
                    <a:lstStyle/>
                    <a:p>
                      <a:r>
                        <a:rPr sz="1100" b="0">
                          <a:solidFill>
                            <a:srgbClr val="222A3F"/>
                          </a:solidFill>
                          <a:latin typeface="Cambria"/>
                        </a:rPr>
                        <a:t>Confirmed in source</a:t>
                      </a:r>
                    </a:p>
                  </a:txBody>
                  <a:tcPr marL="73152" marR="73152" marT="27432" marB="27432">
                    <a:solidFill>
                      <a:srgbClr val="F2F5FA"/>
                    </a:solidFill>
                  </a:tcPr>
                </a:tc>
              </a:tr>
            </a:tbl>
          </a:graphicData>
        </a:graphic>
      </p:graphicFrame>
      <p:sp>
        <p:nvSpPr>
          <p:cNvPr id="12" name="Rectangle 11"/>
          <p:cNvSpPr/>
          <p:nvPr/>
        </p:nvSpPr>
        <p:spPr>
          <a:xfrm>
            <a:off x="502920" y="4846320"/>
            <a:ext cx="11155680" cy="114300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965192"/>
            <a:ext cx="10826496" cy="905256"/>
          </a:xfrm>
          <a:prstGeom prst="rect">
            <a:avLst/>
          </a:prstGeom>
          <a:noFill/>
        </p:spPr>
        <p:txBody>
          <a:bodyPr wrap="square" lIns="0" rIns="0" tIns="0" bIns="0">
            <a:spAutoFit/>
          </a:bodyPr>
          <a:lstStyle/>
          <a:p>
            <a:r>
              <a:rPr sz="1350" b="1" spc="100">
                <a:solidFill>
                  <a:srgbClr val="1F9D68"/>
                </a:solidFill>
                <a:latin typeface="Cambria"/>
              </a:rPr>
              <a:t>THE DISCRIMINATING EXPERIMENT</a:t>
            </a:r>
          </a:p>
          <a:p>
            <a:pPr>
              <a:spcBef>
                <a:spcPts val="400"/>
              </a:spcBef>
            </a:pPr>
            <a:r>
              <a:rPr sz="1250">
                <a:solidFill>
                  <a:srgbClr val="222A3F"/>
                </a:solidFill>
                <a:latin typeface="Cambria"/>
              </a:rPr>
              <a:t>Three reads of the settings partition in one open connection with the firmware halted, at two serial speeds; a megabyte of program code, the NVS partition and the bootloader read the same way as controls.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14/21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METHOD: READING THE CHIP, FIRMWARE STOPPED</a:t>
            </a:r>
          </a:p>
        </p:txBody>
      </p:sp>
      <p:sp>
        <p:nvSpPr>
          <p:cNvPr id="10" name="Rectangle 9"/>
          <p:cNvSpPr/>
          <p:nvPr/>
        </p:nvSpPr>
        <p:spPr>
          <a:xfrm>
            <a:off x="502920" y="1234440"/>
            <a:ext cx="6766560" cy="2240280"/>
          </a:xfrm>
          <a:prstGeom prst="rect">
            <a:avLst/>
          </a:prstGeom>
          <a:solidFill>
            <a:srgbClr val="1B24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325880"/>
            <a:ext cx="6437376" cy="274320"/>
          </a:xfrm>
          <a:prstGeom prst="rect">
            <a:avLst/>
          </a:prstGeom>
          <a:noFill/>
        </p:spPr>
        <p:txBody>
          <a:bodyPr wrap="square" lIns="0" rIns="0" tIns="0" bIns="0">
            <a:spAutoFit/>
          </a:bodyPr>
          <a:lstStyle/>
          <a:p>
            <a:pPr algn="l"/>
            <a:r>
              <a:rPr sz="1000" b="1" i="0">
                <a:solidFill>
                  <a:srgbClr val="E58E1A"/>
                </a:solidFill>
                <a:latin typeface="Courier New"/>
              </a:rPr>
              <a:t>ESPTOOL STUB, ONE CONNECTION, NO RESET BETWEEN READS</a:t>
            </a:r>
          </a:p>
        </p:txBody>
      </p:sp>
      <p:sp>
        <p:nvSpPr>
          <p:cNvPr id="12" name="TextBox 11"/>
          <p:cNvSpPr txBox="1"/>
          <p:nvPr/>
        </p:nvSpPr>
        <p:spPr>
          <a:xfrm>
            <a:off x="667512" y="1618488"/>
            <a:ext cx="6437376" cy="1783080"/>
          </a:xfrm>
          <a:prstGeom prst="rect">
            <a:avLst/>
          </a:prstGeom>
          <a:noFill/>
        </p:spPr>
        <p:txBody>
          <a:bodyPr wrap="square" lIns="0" rIns="0" tIns="0" bIns="0">
            <a:spAutoFit/>
          </a:bodyPr>
          <a:lstStyle/>
          <a:p>
            <a:r>
              <a:rPr sz="1050">
                <a:solidFill>
                  <a:srgbClr val="C9D8F0"/>
                </a:solidFill>
                <a:latin typeface="Courier New"/>
              </a:rPr>
              <a:t>esp = detect_chip('COM4'); esp = esp.run_stub()</a:t>
            </a:r>
          </a:p>
          <a:p>
            <a:r>
              <a:rPr sz="1050">
                <a:solidFill>
                  <a:srgbClr val="C9D8F0"/>
                </a:solidFill>
                <a:latin typeface="Courier New"/>
              </a:rPr>
              <a:t>A = esp.read_flash(0xC90000, 0x360000)   # settings, 3.4 MB</a:t>
            </a:r>
          </a:p>
          <a:p>
            <a:r>
              <a:rPr sz="1050">
                <a:solidFill>
                  <a:srgbClr val="C9D8F0"/>
                </a:solidFill>
                <a:latin typeface="Courier New"/>
              </a:rPr>
              <a:t>B = esp.read_flash(0xC90000, 0x360000)</a:t>
            </a:r>
          </a:p>
          <a:p>
            <a:r>
              <a:rPr sz="1050">
                <a:solidFill>
                  <a:srgbClr val="C9D8F0"/>
                </a:solidFill>
                <a:latin typeface="Courier New"/>
              </a:rPr>
              <a:t>C = esp.read_flash(0xC90000, 0x360000)</a:t>
            </a:r>
          </a:p>
          <a:p>
            <a:r>
              <a:rPr sz="1050">
                <a:solidFill>
                  <a:srgbClr val="5E6B85"/>
                </a:solidFill>
                <a:latin typeface="Courier New"/>
              </a:rPr>
              <a:t>app = esp.read_flash(0x10000, 0x100000) x2   # control</a:t>
            </a:r>
          </a:p>
          <a:p>
            <a:r>
              <a:rPr sz="1050">
                <a:solidFill>
                  <a:srgbClr val="E58E1A"/>
                </a:solidFill>
                <a:latin typeface="Courier New"/>
              </a:rPr>
              <a:t>A == B ?   B == C ?   app1 == app2 ?</a:t>
            </a:r>
          </a:p>
          <a:p>
            <a:r>
              <a:rPr sz="1050">
                <a:solidFill>
                  <a:srgbClr val="5E6B85"/>
                </a:solidFill>
                <a:latin typeface="Courier New"/>
              </a:rPr>
              <a:t># every chunk is MD5-checked: a transfer error raises; a changed byte is what the chip returned</a:t>
            </a:r>
          </a:p>
        </p:txBody>
      </p:sp>
      <p:sp>
        <p:nvSpPr>
          <p:cNvPr id="13" name="Rectangle 12"/>
          <p:cNvSpPr/>
          <p:nvPr/>
        </p:nvSpPr>
        <p:spPr>
          <a:xfrm>
            <a:off x="7452360" y="1234440"/>
            <a:ext cx="4251960" cy="224028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1353312"/>
            <a:ext cx="3922776" cy="2002536"/>
          </a:xfrm>
          <a:prstGeom prst="rect">
            <a:avLst/>
          </a:prstGeom>
          <a:noFill/>
        </p:spPr>
        <p:txBody>
          <a:bodyPr wrap="square" lIns="0" rIns="0" tIns="0" bIns="0">
            <a:spAutoFit/>
          </a:bodyPr>
          <a:lstStyle/>
          <a:p>
            <a:r>
              <a:rPr sz="1300" b="1" spc="100">
                <a:solidFill>
                  <a:srgbClr val="1F9D68"/>
                </a:solidFill>
                <a:latin typeface="Cambria"/>
              </a:rPr>
              <a:t>CONTROLS</a:t>
            </a:r>
          </a:p>
          <a:p>
            <a:pPr>
              <a:spcBef>
                <a:spcPts val="400"/>
              </a:spcBef>
            </a:pPr>
            <a:r>
              <a:rPr sz="1150">
                <a:solidFill>
                  <a:srgbClr val="222A3F"/>
                </a:solidFill>
                <a:latin typeface="Cambria"/>
              </a:rPr>
              <a:t>•  Program partition, 1 MB, twice</a:t>
            </a:r>
          </a:p>
          <a:p>
            <a:pPr>
              <a:spcBef>
                <a:spcPts val="400"/>
              </a:spcBef>
            </a:pPr>
            <a:r>
              <a:rPr sz="1150">
                <a:solidFill>
                  <a:srgbClr val="222A3F"/>
                </a:solidFill>
                <a:latin typeface="Cambria"/>
              </a:rPr>
              <a:t>•  NVS partition and bootloader, twice</a:t>
            </a:r>
          </a:p>
          <a:p>
            <a:pPr>
              <a:spcBef>
                <a:spcPts val="400"/>
              </a:spcBef>
            </a:pPr>
            <a:r>
              <a:rPr sz="1150">
                <a:solidFill>
                  <a:srgbClr val="222A3F"/>
                </a:solidFill>
                <a:latin typeface="Cambria"/>
              </a:rPr>
              <a:t>•  16 KB window, four reads, at 115200 and at 921600 baud</a:t>
            </a:r>
          </a:p>
          <a:p>
            <a:pPr>
              <a:spcBef>
                <a:spcPts val="400"/>
              </a:spcBef>
            </a:pPr>
            <a:r>
              <a:rPr sz="1150">
                <a:solidFill>
                  <a:srgbClr val="222A3F"/>
                </a:solidFill>
                <a:latin typeface="Cambria"/>
              </a:rPr>
              <a:t>•  LittleFS image mounted and every file decoded on the laptop</a:t>
            </a:r>
          </a:p>
        </p:txBody>
      </p:sp>
      <p:sp>
        <p:nvSpPr>
          <p:cNvPr id="15" name="Rectangle 14"/>
          <p:cNvSpPr/>
          <p:nvPr/>
        </p:nvSpPr>
        <p:spPr>
          <a:xfrm>
            <a:off x="502920" y="3611880"/>
            <a:ext cx="11201400" cy="105156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730752"/>
            <a:ext cx="10872216" cy="813815"/>
          </a:xfrm>
          <a:prstGeom prst="rect">
            <a:avLst/>
          </a:prstGeom>
          <a:noFill/>
        </p:spPr>
        <p:txBody>
          <a:bodyPr wrap="square" lIns="0" rIns="0" tIns="0" bIns="0">
            <a:spAutoFit/>
          </a:bodyPr>
          <a:lstStyle/>
          <a:p>
            <a:r>
              <a:rPr sz="1250" b="1" spc="100">
                <a:solidFill>
                  <a:srgbClr val="E58E1A"/>
                </a:solidFill>
                <a:latin typeface="Cambria"/>
              </a:rPr>
              <a:t>IN PLAIN WORDS</a:t>
            </a:r>
          </a:p>
          <a:p>
            <a:pPr>
              <a:spcBef>
                <a:spcPts val="400"/>
              </a:spcBef>
            </a:pPr>
            <a:r>
              <a:rPr sz="1150">
                <a:solidFill>
                  <a:srgbClr val="222A3F"/>
                </a:solidFill>
                <a:latin typeface="Cambria"/>
              </a:rPr>
              <a:t>Stop the firmware, read the whole settings area three times in a row through one open USB connection, and compare. A healthy chip returns the same bytes every time. Reading a megabyte of program code the same way is the control: if that had changed too, the method, not the chip, would be at fault.</a:t>
            </a:r>
          </a:p>
        </p:txBody>
      </p:sp>
      <p:sp>
        <p:nvSpPr>
          <p:cNvPr id="17" name="Rectangle 16"/>
          <p:cNvSpPr/>
          <p:nvPr/>
        </p:nvSpPr>
        <p:spPr>
          <a:xfrm>
            <a:off x="502920" y="4800600"/>
            <a:ext cx="6766560" cy="1280160"/>
          </a:xfrm>
          <a:prstGeom prst="rect">
            <a:avLst/>
          </a:prstGeom>
          <a:solidFill>
            <a:srgbClr val="F2F5FA"/>
          </a:solidFill>
          <a:ln w="15875">
            <a:solidFill>
              <a:srgbClr val="5E6B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4919472"/>
            <a:ext cx="6437376" cy="1042415"/>
          </a:xfrm>
          <a:prstGeom prst="rect">
            <a:avLst/>
          </a:prstGeom>
          <a:noFill/>
        </p:spPr>
        <p:txBody>
          <a:bodyPr wrap="square" lIns="0" rIns="0" tIns="0" bIns="0">
            <a:spAutoFit/>
          </a:bodyPr>
          <a:lstStyle/>
          <a:p>
            <a:r>
              <a:rPr sz="1200" b="1" spc="100">
                <a:solidFill>
                  <a:srgbClr val="5E6B85"/>
                </a:solidFill>
                <a:latin typeface="Cambria"/>
              </a:rPr>
              <a:t>THE PITFALL THAT COST TWO ATTEMPTS</a:t>
            </a:r>
          </a:p>
          <a:p>
            <a:pPr>
              <a:spcBef>
                <a:spcPts val="400"/>
              </a:spcBef>
            </a:pPr>
            <a:r>
              <a:rPr sz="1050">
                <a:solidFill>
                  <a:srgbClr val="222A3F"/>
                </a:solidFill>
                <a:latin typeface="Cambria"/>
              </a:rPr>
              <a:t>•  This board resets whenever the USB serial port closes, so separate esptool commands hide a boot, and a boot-time flash write, between 'back-to-back' reads</a:t>
            </a:r>
          </a:p>
          <a:p>
            <a:pPr>
              <a:spcBef>
                <a:spcPts val="400"/>
              </a:spcBef>
            </a:pPr>
            <a:r>
              <a:rPr sz="1050">
                <a:solidFill>
                  <a:srgbClr val="222A3F"/>
                </a:solidFill>
                <a:latin typeface="Cambria"/>
              </a:rPr>
              <a:t>•  Only reads inside one open connection count; the pitfall is itself evidence that the radio writes flash every time it starts</a:t>
            </a:r>
          </a:p>
        </p:txBody>
      </p:sp>
      <p:sp>
        <p:nvSpPr>
          <p:cNvPr id="19" name="Rectangle 18"/>
          <p:cNvSpPr/>
          <p:nvPr/>
        </p:nvSpPr>
        <p:spPr>
          <a:xfrm>
            <a:off x="7452360" y="4800600"/>
            <a:ext cx="4251960" cy="128016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16952" y="4919472"/>
            <a:ext cx="3922776" cy="1042415"/>
          </a:xfrm>
          <a:prstGeom prst="rect">
            <a:avLst/>
          </a:prstGeom>
          <a:noFill/>
        </p:spPr>
        <p:txBody>
          <a:bodyPr wrap="square" lIns="0" rIns="0" tIns="0" bIns="0">
            <a:spAutoFit/>
          </a:bodyPr>
          <a:lstStyle/>
          <a:p>
            <a:r>
              <a:rPr sz="1200" b="1" spc="100">
                <a:solidFill>
                  <a:srgbClr val="16213D"/>
                </a:solidFill>
                <a:latin typeface="Cambria"/>
              </a:rPr>
              <a:t>HOW THIS WAS DONE</a:t>
            </a:r>
          </a:p>
          <a:p>
            <a:pPr>
              <a:spcBef>
                <a:spcPts val="400"/>
              </a:spcBef>
            </a:pPr>
            <a:r>
              <a:rPr sz="1050">
                <a:solidFill>
                  <a:srgbClr val="222A3F"/>
                </a:solidFill>
                <a:latin typeface="Cambria"/>
              </a:rPr>
              <a:t>Hypothesis: a Qualcomm engineer, October 2026. Experiment design, scripts and analysis drafted with Claude (Anthropic) as an AI assistant; every measurement run by Deo on the team's radios, each step authorised and checked against the raw records (sheet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15/21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RESULT: THE SAME SECTORS MISREAD, EVERY PASS</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SF against RG, same day, same method</a:t>
            </a:r>
          </a:p>
        </p:txBody>
      </p:sp>
      <p:pic>
        <p:nvPicPr>
          <p:cNvPr id="11" name="Picture 10" descr="g_maps_compare.png"/>
          <p:cNvPicPr>
            <a:picLocks noChangeAspect="1"/>
          </p:cNvPicPr>
          <p:nvPr/>
        </p:nvPicPr>
        <p:blipFill>
          <a:blip r:embed="rId2"/>
          <a:stretch>
            <a:fillRect/>
          </a:stretch>
        </p:blipFill>
        <p:spPr>
          <a:xfrm>
            <a:off x="502920" y="1234440"/>
            <a:ext cx="11155680" cy="3238746"/>
          </a:xfrm>
          <a:prstGeom prst="rect">
            <a:avLst/>
          </a:prstGeom>
        </p:spPr>
      </p:pic>
      <p:sp>
        <p:nvSpPr>
          <p:cNvPr id="12" name="TextBox 11"/>
          <p:cNvSpPr txBox="1"/>
          <p:nvPr/>
        </p:nvSpPr>
        <p:spPr>
          <a:xfrm>
            <a:off x="502920" y="4526280"/>
            <a:ext cx="11155680" cy="594360"/>
          </a:xfrm>
          <a:prstGeom prst="rect">
            <a:avLst/>
          </a:prstGeom>
          <a:noFill/>
        </p:spPr>
        <p:txBody>
          <a:bodyPr wrap="square" lIns="0" rIns="0" tIns="0" bIns="0">
            <a:spAutoFit/>
          </a:bodyPr>
          <a:lstStyle/>
          <a:p>
            <a:pPr algn="l"/>
            <a:r>
              <a:rPr sz="1150" b="0" i="0">
                <a:solidFill>
                  <a:srgbClr val="222A3F"/>
                </a:solidFill>
                <a:latin typeface="Cambria"/>
              </a:rPr>
              <a:t>Each small square is one 4 KB sector of the settings area, 864 per radio. Red: the bytes came back different on consecutive reads with nothing running, the same sectors every time and at both serial speeds. Green: the sectors holding the live settings files that day. The program code read identically.</a:t>
            </a:r>
          </a:p>
        </p:txBody>
      </p:sp>
      <p:sp>
        <p:nvSpPr>
          <p:cNvPr id="13" name="Rectangle 12"/>
          <p:cNvSpPr/>
          <p:nvPr/>
        </p:nvSpPr>
        <p:spPr>
          <a:xfrm>
            <a:off x="502920" y="5166360"/>
            <a:ext cx="3611880" cy="91440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276088"/>
            <a:ext cx="3611880" cy="508000"/>
          </a:xfrm>
          <a:prstGeom prst="rect">
            <a:avLst/>
          </a:prstGeom>
          <a:noFill/>
        </p:spPr>
        <p:txBody>
          <a:bodyPr wrap="square" lIns="0" rIns="0" tIns="0" bIns="0">
            <a:spAutoFit/>
          </a:bodyPr>
          <a:lstStyle/>
          <a:p>
            <a:pPr algn="ctr"/>
            <a:r>
              <a:rPr sz="2000" b="1" i="0">
                <a:solidFill>
                  <a:srgbClr val="C43A4B"/>
                </a:solidFill>
                <a:latin typeface="Cambria"/>
              </a:rPr>
              <a:t>21</a:t>
            </a:r>
          </a:p>
        </p:txBody>
      </p:sp>
      <p:sp>
        <p:nvSpPr>
          <p:cNvPr id="15" name="TextBox 14"/>
          <p:cNvSpPr txBox="1"/>
          <p:nvPr/>
        </p:nvSpPr>
        <p:spPr>
          <a:xfrm>
            <a:off x="640080" y="5875528"/>
            <a:ext cx="3337560" cy="132079"/>
          </a:xfrm>
          <a:prstGeom prst="rect">
            <a:avLst/>
          </a:prstGeom>
          <a:noFill/>
        </p:spPr>
        <p:txBody>
          <a:bodyPr wrap="square" lIns="0" rIns="0" tIns="0" bIns="0">
            <a:spAutoFit/>
          </a:bodyPr>
          <a:lstStyle/>
          <a:p>
            <a:pPr algn="ctr"/>
            <a:r>
              <a:rPr sz="1100" b="0" i="0">
                <a:solidFill>
                  <a:srgbClr val="222A3F"/>
                </a:solidFill>
                <a:latin typeface="Cambria"/>
              </a:rPr>
              <a:t>unstable sectors on SF, 12 heavily</a:t>
            </a:r>
          </a:p>
        </p:txBody>
      </p:sp>
      <p:sp>
        <p:nvSpPr>
          <p:cNvPr id="16" name="Rectangle 15"/>
          <p:cNvSpPr/>
          <p:nvPr/>
        </p:nvSpPr>
        <p:spPr>
          <a:xfrm>
            <a:off x="4274820" y="5166360"/>
            <a:ext cx="3611880" cy="91440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74820" y="5276088"/>
            <a:ext cx="3611880" cy="508000"/>
          </a:xfrm>
          <a:prstGeom prst="rect">
            <a:avLst/>
          </a:prstGeom>
          <a:noFill/>
        </p:spPr>
        <p:txBody>
          <a:bodyPr wrap="square" lIns="0" rIns="0" tIns="0" bIns="0">
            <a:spAutoFit/>
          </a:bodyPr>
          <a:lstStyle/>
          <a:p>
            <a:pPr algn="ctr"/>
            <a:r>
              <a:rPr sz="2000" b="1" i="0">
                <a:solidFill>
                  <a:srgbClr val="1F9D68"/>
                </a:solidFill>
                <a:latin typeface="Cambria"/>
              </a:rPr>
              <a:t>0</a:t>
            </a:r>
          </a:p>
        </p:txBody>
      </p:sp>
      <p:sp>
        <p:nvSpPr>
          <p:cNvPr id="18" name="TextBox 17"/>
          <p:cNvSpPr txBox="1"/>
          <p:nvPr/>
        </p:nvSpPr>
        <p:spPr>
          <a:xfrm>
            <a:off x="4411980" y="5875528"/>
            <a:ext cx="3337560" cy="132079"/>
          </a:xfrm>
          <a:prstGeom prst="rect">
            <a:avLst/>
          </a:prstGeom>
          <a:noFill/>
        </p:spPr>
        <p:txBody>
          <a:bodyPr wrap="square" lIns="0" rIns="0" tIns="0" bIns="0">
            <a:spAutoFit/>
          </a:bodyPr>
          <a:lstStyle/>
          <a:p>
            <a:pPr algn="ctr"/>
            <a:r>
              <a:rPr sz="1100" b="0" i="0">
                <a:solidFill>
                  <a:srgbClr val="222A3F"/>
                </a:solidFill>
                <a:latin typeface="Cambria"/>
              </a:rPr>
              <a:t>unstable sectors on RG</a:t>
            </a:r>
          </a:p>
        </p:txBody>
      </p:sp>
      <p:sp>
        <p:nvSpPr>
          <p:cNvPr id="19" name="Rectangle 18"/>
          <p:cNvSpPr/>
          <p:nvPr/>
        </p:nvSpPr>
        <p:spPr>
          <a:xfrm>
            <a:off x="8046720" y="5166360"/>
            <a:ext cx="3611880" cy="91440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5276088"/>
            <a:ext cx="3611880" cy="508000"/>
          </a:xfrm>
          <a:prstGeom prst="rect">
            <a:avLst/>
          </a:prstGeom>
          <a:noFill/>
        </p:spPr>
        <p:txBody>
          <a:bodyPr wrap="square" lIns="0" rIns="0" tIns="0" bIns="0">
            <a:spAutoFit/>
          </a:bodyPr>
          <a:lstStyle/>
          <a:p>
            <a:pPr algn="ctr"/>
            <a:r>
              <a:rPr sz="2000" b="1" i="0">
                <a:solidFill>
                  <a:srgbClr val="1F9D68"/>
                </a:solidFill>
                <a:latin typeface="Cambria"/>
              </a:rPr>
              <a:t>0</a:t>
            </a:r>
          </a:p>
        </p:txBody>
      </p:sp>
      <p:sp>
        <p:nvSpPr>
          <p:cNvPr id="21" name="TextBox 20"/>
          <p:cNvSpPr txBox="1"/>
          <p:nvPr/>
        </p:nvSpPr>
        <p:spPr>
          <a:xfrm>
            <a:off x="8183880" y="5875528"/>
            <a:ext cx="3337560" cy="132079"/>
          </a:xfrm>
          <a:prstGeom prst="rect">
            <a:avLst/>
          </a:prstGeom>
          <a:noFill/>
        </p:spPr>
        <p:txBody>
          <a:bodyPr wrap="square" lIns="0" rIns="0" tIns="0" bIns="0">
            <a:spAutoFit/>
          </a:bodyPr>
          <a:lstStyle/>
          <a:p>
            <a:pPr algn="ctr"/>
            <a:r>
              <a:rPr sz="1100" b="0" i="0">
                <a:solidFill>
                  <a:srgbClr val="222A3F"/>
                </a:solidFill>
                <a:latin typeface="Cambria"/>
              </a:rPr>
              <a:t>differences in program code, NVS, bootloader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16/21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NUMBERS, THE DECISIVE TEST, THE REPAIR</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All on SF, 27 October; RG read the same way as the healthy control</a:t>
            </a:r>
          </a:p>
        </p:txBody>
      </p:sp>
      <p:sp>
        <p:nvSpPr>
          <p:cNvPr id="11" name="Rectangle 10"/>
          <p:cNvSpPr/>
          <p:nvPr/>
        </p:nvSpPr>
        <p:spPr>
          <a:xfrm>
            <a:off x="502920" y="1234440"/>
            <a:ext cx="2651760" cy="105156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44168"/>
            <a:ext cx="2651760" cy="508000"/>
          </a:xfrm>
          <a:prstGeom prst="rect">
            <a:avLst/>
          </a:prstGeom>
          <a:noFill/>
        </p:spPr>
        <p:txBody>
          <a:bodyPr wrap="square" lIns="0" rIns="0" tIns="0" bIns="0">
            <a:spAutoFit/>
          </a:bodyPr>
          <a:lstStyle/>
          <a:p>
            <a:pPr algn="ctr"/>
            <a:r>
              <a:rPr sz="2000" b="1" i="0">
                <a:solidFill>
                  <a:srgbClr val="E58E1A"/>
                </a:solidFill>
                <a:latin typeface="Cambria"/>
              </a:rPr>
              <a:t>117 / 107</a:t>
            </a:r>
          </a:p>
        </p:txBody>
      </p:sp>
      <p:sp>
        <p:nvSpPr>
          <p:cNvPr id="13" name="TextBox 12"/>
          <p:cNvSpPr txBox="1"/>
          <p:nvPr/>
        </p:nvSpPr>
        <p:spPr>
          <a:xfrm>
            <a:off x="640080" y="1943608"/>
            <a:ext cx="2377440" cy="269239"/>
          </a:xfrm>
          <a:prstGeom prst="rect">
            <a:avLst/>
          </a:prstGeom>
          <a:noFill/>
        </p:spPr>
        <p:txBody>
          <a:bodyPr wrap="square" lIns="0" rIns="0" tIns="0" bIns="0">
            <a:spAutoFit/>
          </a:bodyPr>
          <a:lstStyle/>
          <a:p>
            <a:pPr algn="ctr"/>
            <a:r>
              <a:rPr sz="1100" b="0" i="0">
                <a:solidFill>
                  <a:srgbClr val="222A3F"/>
                </a:solidFill>
                <a:latin typeface="Cambria"/>
              </a:rPr>
              <a:t>differing bytes, reads 1v2 and 2v3</a:t>
            </a:r>
          </a:p>
        </p:txBody>
      </p:sp>
      <p:sp>
        <p:nvSpPr>
          <p:cNvPr id="14" name="Rectangle 13"/>
          <p:cNvSpPr/>
          <p:nvPr/>
        </p:nvSpPr>
        <p:spPr>
          <a:xfrm>
            <a:off x="3337560" y="1234440"/>
            <a:ext cx="2651760" cy="105156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344168"/>
            <a:ext cx="2651760" cy="508000"/>
          </a:xfrm>
          <a:prstGeom prst="rect">
            <a:avLst/>
          </a:prstGeom>
          <a:noFill/>
        </p:spPr>
        <p:txBody>
          <a:bodyPr wrap="square" lIns="0" rIns="0" tIns="0" bIns="0">
            <a:spAutoFit/>
          </a:bodyPr>
          <a:lstStyle/>
          <a:p>
            <a:pPr algn="ctr"/>
            <a:r>
              <a:rPr sz="2000" b="1" i="0">
                <a:solidFill>
                  <a:srgbClr val="E58E1A"/>
                </a:solidFill>
                <a:latin typeface="Cambria"/>
              </a:rPr>
              <a:t>118</a:t>
            </a:r>
          </a:p>
        </p:txBody>
      </p:sp>
      <p:sp>
        <p:nvSpPr>
          <p:cNvPr id="16" name="TextBox 15"/>
          <p:cNvSpPr txBox="1"/>
          <p:nvPr/>
        </p:nvSpPr>
        <p:spPr>
          <a:xfrm>
            <a:off x="3474720" y="1943608"/>
            <a:ext cx="2377440" cy="269239"/>
          </a:xfrm>
          <a:prstGeom prst="rect">
            <a:avLst/>
          </a:prstGeom>
          <a:noFill/>
        </p:spPr>
        <p:txBody>
          <a:bodyPr wrap="square" lIns="0" rIns="0" tIns="0" bIns="0">
            <a:spAutoFit/>
          </a:bodyPr>
          <a:lstStyle/>
          <a:p>
            <a:pPr algn="ctr"/>
            <a:r>
              <a:rPr sz="1100" b="0" i="0">
                <a:solidFill>
                  <a:srgbClr val="222A3F"/>
                </a:solidFill>
                <a:latin typeface="Cambria"/>
              </a:rPr>
              <a:t>bits flipped, in both directions</a:t>
            </a:r>
          </a:p>
        </p:txBody>
      </p:sp>
      <p:sp>
        <p:nvSpPr>
          <p:cNvPr id="17" name="Rectangle 16"/>
          <p:cNvSpPr/>
          <p:nvPr/>
        </p:nvSpPr>
        <p:spPr>
          <a:xfrm>
            <a:off x="6172200" y="1234440"/>
            <a:ext cx="2651760" cy="105156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344168"/>
            <a:ext cx="2651760" cy="508000"/>
          </a:xfrm>
          <a:prstGeom prst="rect">
            <a:avLst/>
          </a:prstGeom>
          <a:noFill/>
        </p:spPr>
        <p:txBody>
          <a:bodyPr wrap="square" lIns="0" rIns="0" tIns="0" bIns="0">
            <a:spAutoFit/>
          </a:bodyPr>
          <a:lstStyle/>
          <a:p>
            <a:pPr algn="ctr"/>
            <a:r>
              <a:rPr sz="2000" b="1" i="0">
                <a:solidFill>
                  <a:srgbClr val="1F9D68"/>
                </a:solidFill>
                <a:latin typeface="Cambria"/>
              </a:rPr>
              <a:t>0</a:t>
            </a:r>
          </a:p>
        </p:txBody>
      </p:sp>
      <p:sp>
        <p:nvSpPr>
          <p:cNvPr id="19" name="TextBox 18"/>
          <p:cNvSpPr txBox="1"/>
          <p:nvPr/>
        </p:nvSpPr>
        <p:spPr>
          <a:xfrm>
            <a:off x="6309360" y="1943608"/>
            <a:ext cx="2377440" cy="269239"/>
          </a:xfrm>
          <a:prstGeom prst="rect">
            <a:avLst/>
          </a:prstGeom>
          <a:noFill/>
        </p:spPr>
        <p:txBody>
          <a:bodyPr wrap="square" lIns="0" rIns="0" tIns="0" bIns="0">
            <a:spAutoFit/>
          </a:bodyPr>
          <a:lstStyle/>
          <a:p>
            <a:pPr algn="ctr"/>
            <a:r>
              <a:rPr sz="1100" b="0" i="0">
                <a:solidFill>
                  <a:srgbClr val="222A3F"/>
                </a:solidFill>
                <a:latin typeface="Cambria"/>
              </a:rPr>
              <a:t>differences in 1 MB of code, NVS, bootloader</a:t>
            </a:r>
          </a:p>
        </p:txBody>
      </p:sp>
      <p:sp>
        <p:nvSpPr>
          <p:cNvPr id="20" name="Rectangle 19"/>
          <p:cNvSpPr/>
          <p:nvPr/>
        </p:nvSpPr>
        <p:spPr>
          <a:xfrm>
            <a:off x="9006840" y="1234440"/>
            <a:ext cx="2697480" cy="105156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6840" y="1344168"/>
            <a:ext cx="2697480" cy="508000"/>
          </a:xfrm>
          <a:prstGeom prst="rect">
            <a:avLst/>
          </a:prstGeom>
          <a:noFill/>
        </p:spPr>
        <p:txBody>
          <a:bodyPr wrap="square" lIns="0" rIns="0" tIns="0" bIns="0">
            <a:spAutoFit/>
          </a:bodyPr>
          <a:lstStyle/>
          <a:p>
            <a:pPr algn="ctr"/>
            <a:r>
              <a:rPr sz="2000" b="1" i="0">
                <a:solidFill>
                  <a:srgbClr val="1F9D68"/>
                </a:solidFill>
                <a:latin typeface="Cambria"/>
              </a:rPr>
              <a:t>21 -&gt; 0</a:t>
            </a:r>
          </a:p>
        </p:txBody>
      </p:sp>
      <p:sp>
        <p:nvSpPr>
          <p:cNvPr id="22" name="TextBox 21"/>
          <p:cNvSpPr txBox="1"/>
          <p:nvPr/>
        </p:nvSpPr>
        <p:spPr>
          <a:xfrm>
            <a:off x="9144000" y="1943608"/>
            <a:ext cx="2423160" cy="269239"/>
          </a:xfrm>
          <a:prstGeom prst="rect">
            <a:avLst/>
          </a:prstGeom>
          <a:noFill/>
        </p:spPr>
        <p:txBody>
          <a:bodyPr wrap="square" lIns="0" rIns="0" tIns="0" bIns="0">
            <a:spAutoFit/>
          </a:bodyPr>
          <a:lstStyle/>
          <a:p>
            <a:pPr algn="ctr"/>
            <a:r>
              <a:rPr sz="1100" b="0" i="0">
                <a:solidFill>
                  <a:srgbClr val="222A3F"/>
                </a:solidFill>
                <a:latin typeface="Cambria"/>
              </a:rPr>
              <a:t>unstable sectors after the repair</a:t>
            </a:r>
          </a:p>
        </p:txBody>
      </p:sp>
      <p:sp>
        <p:nvSpPr>
          <p:cNvPr id="23" name="TextBox 22"/>
          <p:cNvSpPr txBox="1"/>
          <p:nvPr/>
        </p:nvSpPr>
        <p:spPr>
          <a:xfrm>
            <a:off x="502920" y="2468880"/>
            <a:ext cx="6766560" cy="274320"/>
          </a:xfrm>
          <a:prstGeom prst="rect">
            <a:avLst/>
          </a:prstGeom>
          <a:noFill/>
        </p:spPr>
        <p:txBody>
          <a:bodyPr wrap="square" lIns="0" rIns="0" tIns="0" bIns="0">
            <a:spAutoFit/>
          </a:bodyPr>
          <a:lstStyle/>
          <a:p>
            <a:pPr algn="l"/>
            <a:r>
              <a:rPr sz="950" b="1" i="0">
                <a:solidFill>
                  <a:srgbClr val="E58E1A"/>
                </a:solidFill>
                <a:latin typeface="Courier New"/>
              </a:rPr>
              <a:t>THE DECISIVE TEST: ERASE, PROGRAM THREE PATTERNS, READ FIVE TIMES EACH (FREE SECTORS ONLY)</a:t>
            </a:r>
          </a:p>
        </p:txBody>
      </p:sp>
      <p:graphicFrame>
        <p:nvGraphicFramePr>
          <p:cNvPr id="24" name="Table 23"/>
          <p:cNvGraphicFramePr>
            <a:graphicFrameLocks noGrp="1"/>
          </p:cNvGraphicFramePr>
          <p:nvPr/>
        </p:nvGraphicFramePr>
        <p:xfrm>
          <a:off x="502920" y="2743200"/>
          <a:ext cx="6766560" cy="1536192"/>
        </p:xfrm>
        <a:graphic>
          <a:graphicData uri="http://schemas.openxmlformats.org/drawingml/2006/table">
            <a:tbl>
              <a:tblPr firstRow="1" bandRow="1">
                <a:tableStyleId>{5C22544A-7EE6-4342-B048-85BDC9FD1C3A}</a:tableStyleId>
              </a:tblPr>
              <a:tblGrid>
                <a:gridCol w="1280160"/>
                <a:gridCol w="1463040"/>
                <a:gridCol w="1005840"/>
                <a:gridCol w="1005840"/>
                <a:gridCol w="1005840"/>
                <a:gridCol w="1005840"/>
              </a:tblGrid>
              <a:tr h="384048">
                <a:tc>
                  <a:txBody>
                    <a:bodyPr/>
                    <a:lstStyle/>
                    <a:p>
                      <a:r>
                        <a:rPr sz="1050" b="1">
                          <a:solidFill>
                            <a:srgbClr val="FFFFFF"/>
                          </a:solidFill>
                          <a:latin typeface="Cambria"/>
                        </a:rPr>
                        <a:t>Sector</a:t>
                      </a:r>
                    </a:p>
                  </a:txBody>
                  <a:tcPr marL="73152" marR="73152" marT="27432" marB="27432">
                    <a:solidFill>
                      <a:srgbClr val="16213D"/>
                    </a:solidFill>
                  </a:tcPr>
                </a:tc>
                <a:tc>
                  <a:txBody>
                    <a:bodyPr/>
                    <a:lstStyle/>
                    <a:p>
                      <a:r>
                        <a:rPr sz="1050" b="1">
                          <a:solidFill>
                            <a:srgbClr val="FFFFFF"/>
                          </a:solidFill>
                          <a:latin typeface="Cambria"/>
                        </a:rPr>
                        <a:t>As found</a:t>
                      </a:r>
                    </a:p>
                  </a:txBody>
                  <a:tcPr marL="73152" marR="73152" marT="27432" marB="27432">
                    <a:solidFill>
                      <a:srgbClr val="16213D"/>
                    </a:solidFill>
                  </a:tcPr>
                </a:tc>
                <a:tc>
                  <a:txBody>
                    <a:bodyPr/>
                    <a:lstStyle/>
                    <a:p>
                      <a:r>
                        <a:rPr sz="1050" b="1">
                          <a:solidFill>
                            <a:srgbClr val="FFFFFF"/>
                          </a:solidFill>
                          <a:latin typeface="Cambria"/>
                        </a:rPr>
                        <a:t>0x00 x5</a:t>
                      </a:r>
                    </a:p>
                  </a:txBody>
                  <a:tcPr marL="73152" marR="73152" marT="27432" marB="27432">
                    <a:solidFill>
                      <a:srgbClr val="16213D"/>
                    </a:solidFill>
                  </a:tcPr>
                </a:tc>
                <a:tc>
                  <a:txBody>
                    <a:bodyPr/>
                    <a:lstStyle/>
                    <a:p>
                      <a:r>
                        <a:rPr sz="1050" b="1">
                          <a:solidFill>
                            <a:srgbClr val="FFFFFF"/>
                          </a:solidFill>
                          <a:latin typeface="Cambria"/>
                        </a:rPr>
                        <a:t>A5/5A x5</a:t>
                      </a:r>
                    </a:p>
                  </a:txBody>
                  <a:tcPr marL="73152" marR="73152" marT="27432" marB="27432">
                    <a:solidFill>
                      <a:srgbClr val="16213D"/>
                    </a:solidFill>
                  </a:tcPr>
                </a:tc>
                <a:tc>
                  <a:txBody>
                    <a:bodyPr/>
                    <a:lstStyle/>
                    <a:p>
                      <a:r>
                        <a:rPr sz="1050" b="1">
                          <a:solidFill>
                            <a:srgbClr val="FFFFFF"/>
                          </a:solidFill>
                          <a:latin typeface="Cambria"/>
                        </a:rPr>
                        <a:t>random x5</a:t>
                      </a:r>
                    </a:p>
                  </a:txBody>
                  <a:tcPr marL="73152" marR="73152" marT="27432" marB="27432">
                    <a:solidFill>
                      <a:srgbClr val="16213D"/>
                    </a:solidFill>
                  </a:tcPr>
                </a:tc>
                <a:tc>
                  <a:txBody>
                    <a:bodyPr/>
                    <a:lstStyle/>
                    <a:p>
                      <a:r>
                        <a:rPr sz="1050" b="1">
                          <a:solidFill>
                            <a:srgbClr val="FFFFFF"/>
                          </a:solidFill>
                          <a:latin typeface="Cambria"/>
                        </a:rPr>
                        <a:t>Erased x5</a:t>
                      </a:r>
                    </a:p>
                  </a:txBody>
                  <a:tcPr marL="73152" marR="73152" marT="27432" marB="27432">
                    <a:solidFill>
                      <a:srgbClr val="16213D"/>
                    </a:solidFill>
                  </a:tcPr>
                </a:tc>
              </a:tr>
              <a:tr h="384048">
                <a:tc>
                  <a:txBody>
                    <a:bodyPr/>
                    <a:lstStyle/>
                    <a:p>
                      <a:r>
                        <a:rPr sz="1050" b="0">
                          <a:solidFill>
                            <a:srgbClr val="222A3F"/>
                          </a:solidFill>
                          <a:latin typeface="Cambria"/>
                        </a:rPr>
                        <a:t>57 (worst)</a:t>
                      </a:r>
                    </a:p>
                  </a:txBody>
                  <a:tcPr marL="73152" marR="73152" marT="27432" marB="27432">
                    <a:solidFill>
                      <a:srgbClr val="F2F5FA"/>
                    </a:solidFill>
                  </a:tcPr>
                </a:tc>
                <a:tc>
                  <a:txBody>
                    <a:bodyPr/>
                    <a:lstStyle/>
                    <a:p>
                      <a:r>
                        <a:rPr sz="1050" b="0">
                          <a:solidFill>
                            <a:srgbClr val="222A3F"/>
                          </a:solidFill>
                          <a:latin typeface="Cambria"/>
                        </a:rPr>
                        <a:t>27 bytes disagree</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r>
              <a:tr h="384048">
                <a:tc>
                  <a:txBody>
                    <a:bodyPr/>
                    <a:lstStyle/>
                    <a:p>
                      <a:r>
                        <a:rPr sz="1050" b="0">
                          <a:solidFill>
                            <a:srgbClr val="222A3F"/>
                          </a:solidFill>
                          <a:latin typeface="Cambria"/>
                        </a:rPr>
                        <a:t>31</a:t>
                      </a:r>
                    </a:p>
                  </a:txBody>
                  <a:tcPr marL="73152" marR="73152" marT="27432" marB="27432">
                    <a:solidFill>
                      <a:srgbClr val="FFFFFF"/>
                    </a:solidFill>
                  </a:tcPr>
                </a:tc>
                <a:tc>
                  <a:txBody>
                    <a:bodyPr/>
                    <a:lstStyle/>
                    <a:p>
                      <a:r>
                        <a:rPr sz="1050" b="0">
                          <a:solidFill>
                            <a:srgbClr val="222A3F"/>
                          </a:solidFill>
                          <a:latin typeface="Cambria"/>
                        </a:rPr>
                        <a:t>20 bytes disagree</a:t>
                      </a:r>
                    </a:p>
                  </a:txBody>
                  <a:tcPr marL="73152" marR="73152" marT="27432" marB="27432">
                    <a:solidFill>
                      <a:srgbClr val="FFFFFF"/>
                    </a:solidFill>
                  </a:tcPr>
                </a:tc>
                <a:tc>
                  <a:txBody>
                    <a:bodyPr/>
                    <a:lstStyle/>
                    <a:p>
                      <a:r>
                        <a:rPr sz="1050" b="0">
                          <a:solidFill>
                            <a:srgbClr val="222A3F"/>
                          </a:solidFill>
                          <a:latin typeface="Cambria"/>
                        </a:rPr>
                        <a:t>clean</a:t>
                      </a:r>
                    </a:p>
                  </a:txBody>
                  <a:tcPr marL="73152" marR="73152" marT="27432" marB="27432">
                    <a:solidFill>
                      <a:srgbClr val="FFFFFF"/>
                    </a:solidFill>
                  </a:tcPr>
                </a:tc>
                <a:tc>
                  <a:txBody>
                    <a:bodyPr/>
                    <a:lstStyle/>
                    <a:p>
                      <a:r>
                        <a:rPr sz="1050" b="0">
                          <a:solidFill>
                            <a:srgbClr val="222A3F"/>
                          </a:solidFill>
                          <a:latin typeface="Cambria"/>
                        </a:rPr>
                        <a:t>clean</a:t>
                      </a:r>
                    </a:p>
                  </a:txBody>
                  <a:tcPr marL="73152" marR="73152" marT="27432" marB="27432">
                    <a:solidFill>
                      <a:srgbClr val="FFFFFF"/>
                    </a:solidFill>
                  </a:tcPr>
                </a:tc>
                <a:tc>
                  <a:txBody>
                    <a:bodyPr/>
                    <a:lstStyle/>
                    <a:p>
                      <a:r>
                        <a:rPr sz="1050" b="0">
                          <a:solidFill>
                            <a:srgbClr val="222A3F"/>
                          </a:solidFill>
                          <a:latin typeface="Cambria"/>
                        </a:rPr>
                        <a:t>clean</a:t>
                      </a:r>
                    </a:p>
                  </a:txBody>
                  <a:tcPr marL="73152" marR="73152" marT="27432" marB="27432">
                    <a:solidFill>
                      <a:srgbClr val="FFFFFF"/>
                    </a:solidFill>
                  </a:tcPr>
                </a:tc>
                <a:tc>
                  <a:txBody>
                    <a:bodyPr/>
                    <a:lstStyle/>
                    <a:p>
                      <a:r>
                        <a:rPr sz="1050" b="0">
                          <a:solidFill>
                            <a:srgbClr val="222A3F"/>
                          </a:solidFill>
                          <a:latin typeface="Cambria"/>
                        </a:rPr>
                        <a:t>clean</a:t>
                      </a:r>
                    </a:p>
                  </a:txBody>
                  <a:tcPr marL="73152" marR="73152" marT="27432" marB="27432">
                    <a:solidFill>
                      <a:srgbClr val="FFFFFF"/>
                    </a:solidFill>
                  </a:tcPr>
                </a:tc>
              </a:tr>
              <a:tr h="384048">
                <a:tc>
                  <a:txBody>
                    <a:bodyPr/>
                    <a:lstStyle/>
                    <a:p>
                      <a:r>
                        <a:rPr sz="1050" b="0">
                          <a:solidFill>
                            <a:srgbClr val="222A3F"/>
                          </a:solidFill>
                          <a:latin typeface="Cambria"/>
                        </a:rPr>
                        <a:t>200 (control)</a:t>
                      </a:r>
                    </a:p>
                  </a:txBody>
                  <a:tcPr marL="73152" marR="73152" marT="27432" marB="27432">
                    <a:solidFill>
                      <a:srgbClr val="F2F5FA"/>
                    </a:solidFill>
                  </a:tcPr>
                </a:tc>
                <a:tc>
                  <a:txBody>
                    <a:bodyPr/>
                    <a:lstStyle/>
                    <a:p>
                      <a:r>
                        <a:rPr sz="1050" b="0">
                          <a:solidFill>
                            <a:srgbClr val="222A3F"/>
                          </a:solidFill>
                          <a:latin typeface="Cambria"/>
                        </a:rPr>
                        <a:t>stable</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c>
                  <a:txBody>
                    <a:bodyPr/>
                    <a:lstStyle/>
                    <a:p>
                      <a:r>
                        <a:rPr sz="1050" b="0">
                          <a:solidFill>
                            <a:srgbClr val="222A3F"/>
                          </a:solidFill>
                          <a:latin typeface="Cambria"/>
                        </a:rPr>
                        <a:t>clean</a:t>
                      </a:r>
                    </a:p>
                  </a:txBody>
                  <a:tcPr marL="73152" marR="73152" marT="27432" marB="27432">
                    <a:solidFill>
                      <a:srgbClr val="F2F5FA"/>
                    </a:solidFill>
                  </a:tcPr>
                </a:tc>
              </a:tr>
            </a:tbl>
          </a:graphicData>
        </a:graphic>
      </p:graphicFrame>
      <p:sp>
        <p:nvSpPr>
          <p:cNvPr id="25" name="Rectangle 24"/>
          <p:cNvSpPr/>
          <p:nvPr/>
        </p:nvSpPr>
        <p:spPr>
          <a:xfrm>
            <a:off x="7452360" y="2468880"/>
            <a:ext cx="4251960" cy="182880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16952" y="2587752"/>
            <a:ext cx="3922776" cy="1591056"/>
          </a:xfrm>
          <a:prstGeom prst="rect">
            <a:avLst/>
          </a:prstGeom>
          <a:noFill/>
        </p:spPr>
        <p:txBody>
          <a:bodyPr wrap="square" lIns="0" rIns="0" tIns="0" bIns="0">
            <a:spAutoFit/>
          </a:bodyPr>
          <a:lstStyle/>
          <a:p>
            <a:r>
              <a:rPr sz="1250" b="1" spc="100">
                <a:solidFill>
                  <a:srgbClr val="1F9D68"/>
                </a:solidFill>
                <a:latin typeface="Cambria"/>
              </a:rPr>
              <a:t>VERDICT: DISTURBED, NOT DAMAGED</a:t>
            </a:r>
          </a:p>
          <a:p>
            <a:pPr>
              <a:spcBef>
                <a:spcPts val="400"/>
              </a:spcBef>
            </a:pPr>
            <a:r>
              <a:rPr sz="1100">
                <a:solidFill>
                  <a:srgbClr val="222A3F"/>
                </a:solidFill>
                <a:latin typeface="Cambria"/>
              </a:rPr>
              <a:t>0 mismatches in 45 reads. The scarred sectors hold every pattern once written on a healthy supply, so the cells are sound; the instability was the residue of earlier writes under a sagging rail. The hardware question is closed.</a:t>
            </a:r>
          </a:p>
        </p:txBody>
      </p:sp>
      <p:sp>
        <p:nvSpPr>
          <p:cNvPr id="27" name="Rectangle 26"/>
          <p:cNvSpPr/>
          <p:nvPr/>
        </p:nvSpPr>
        <p:spPr>
          <a:xfrm>
            <a:off x="502920" y="4480560"/>
            <a:ext cx="6766560" cy="160020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7512" y="4599432"/>
            <a:ext cx="6437376" cy="1362456"/>
          </a:xfrm>
          <a:prstGeom prst="rect">
            <a:avLst/>
          </a:prstGeom>
          <a:noFill/>
        </p:spPr>
        <p:txBody>
          <a:bodyPr wrap="square" lIns="0" rIns="0" tIns="0" bIns="0">
            <a:spAutoFit/>
          </a:bodyPr>
          <a:lstStyle/>
          <a:p>
            <a:r>
              <a:rPr sz="1250" b="1" spc="100">
                <a:solidFill>
                  <a:srgbClr val="16213D"/>
                </a:solidFill>
                <a:latin typeface="Cambria"/>
              </a:rPr>
              <a:t>THE REPAIR, SAME DAY</a:t>
            </a:r>
          </a:p>
          <a:p>
            <a:pPr>
              <a:spcBef>
                <a:spcPts val="400"/>
              </a:spcBef>
            </a:pPr>
            <a:r>
              <a:rPr sz="1050">
                <a:solidFill>
                  <a:srgbClr val="222A3F"/>
                </a:solidFill>
                <a:latin typeface="Cambria"/>
              </a:rPr>
              <a:t>•  Erase the settings area on USB power; the first boot formats it and installs defaults</a:t>
            </a:r>
          </a:p>
          <a:p>
            <a:pPr>
              <a:spcBef>
                <a:spcPts val="400"/>
              </a:spcBef>
            </a:pPr>
            <a:r>
              <a:rPr sz="1050">
                <a:solidFill>
                  <a:srgbClr val="222A3F"/>
                </a:solidFill>
                <a:latin typeface="Cambria"/>
              </a:rPr>
              <a:t>•  meshtastic --configure sf-config.yaml, twice: the region write reboots the radio mid-transaction (now a rule in User Guide 12.2)</a:t>
            </a:r>
          </a:p>
          <a:p>
            <a:pPr>
              <a:spcBef>
                <a:spcPts val="400"/>
              </a:spcBef>
            </a:pPr>
            <a:r>
              <a:rPr sz="1050">
                <a:solidFill>
                  <a:srgbClr val="222A3F"/>
                </a:solidFill>
                <a:latin typeface="Cambria"/>
              </a:rPr>
              <a:t>•  Three reads afterwards: 0 differing bytes; node key pair preserved, so RG's node table stays valid</a:t>
            </a:r>
          </a:p>
        </p:txBody>
      </p:sp>
      <p:sp>
        <p:nvSpPr>
          <p:cNvPr id="29" name="Rectangle 28"/>
          <p:cNvSpPr/>
          <p:nvPr/>
        </p:nvSpPr>
        <p:spPr>
          <a:xfrm>
            <a:off x="7452360" y="4480560"/>
            <a:ext cx="4251960" cy="160020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16952" y="4599432"/>
            <a:ext cx="3922776" cy="1362456"/>
          </a:xfrm>
          <a:prstGeom prst="rect">
            <a:avLst/>
          </a:prstGeom>
          <a:noFill/>
        </p:spPr>
        <p:txBody>
          <a:bodyPr wrap="square" lIns="0" rIns="0" tIns="0" bIns="0">
            <a:spAutoFit/>
          </a:bodyPr>
          <a:lstStyle/>
          <a:p>
            <a:r>
              <a:rPr sz="1250" b="1" spc="100">
                <a:solidFill>
                  <a:srgbClr val="E58E1A"/>
                </a:solidFill>
                <a:latin typeface="Cambria"/>
              </a:rPr>
              <a:t>IN PLAIN WORDS</a:t>
            </a:r>
          </a:p>
          <a:p>
            <a:pPr>
              <a:spcBef>
                <a:spcPts val="400"/>
              </a:spcBef>
            </a:pPr>
            <a:r>
              <a:rPr sz="1100">
                <a:solidFill>
                  <a:srgbClr val="222A3F"/>
                </a:solidFill>
                <a:latin typeface="Cambria"/>
              </a:rPr>
              <a:t>Rewriting the bad spots on a good supply made them perfect. Worn-out or defective memory would have failed again. The memory was disturbed by how it was written, not broken.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17/21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NOW: TWO DAYS LATER, BOTH RADIOS CLEAN</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Measured again on 29 October, after SF sat two days at 0 percent battery</a:t>
            </a:r>
          </a:p>
        </p:txBody>
      </p:sp>
      <p:pic>
        <p:nvPicPr>
          <p:cNvPr id="11" name="Picture 10" descr="g_now.png"/>
          <p:cNvPicPr>
            <a:picLocks noChangeAspect="1"/>
          </p:cNvPicPr>
          <p:nvPr/>
        </p:nvPicPr>
        <p:blipFill>
          <a:blip r:embed="rId2"/>
          <a:stretch>
            <a:fillRect/>
          </a:stretch>
        </p:blipFill>
        <p:spPr>
          <a:xfrm>
            <a:off x="502920" y="1234440"/>
            <a:ext cx="11155680" cy="3058815"/>
          </a:xfrm>
          <a:prstGeom prst="rect">
            <a:avLst/>
          </a:prstGeom>
        </p:spPr>
      </p:pic>
      <p:sp>
        <p:nvSpPr>
          <p:cNvPr id="12" name="Rectangle 11"/>
          <p:cNvSpPr/>
          <p:nvPr/>
        </p:nvSpPr>
        <p:spPr>
          <a:xfrm>
            <a:off x="502920" y="4434840"/>
            <a:ext cx="5486400" cy="1645920"/>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553712"/>
            <a:ext cx="5157216" cy="1408176"/>
          </a:xfrm>
          <a:prstGeom prst="rect">
            <a:avLst/>
          </a:prstGeom>
          <a:noFill/>
        </p:spPr>
        <p:txBody>
          <a:bodyPr wrap="square" lIns="0" rIns="0" tIns="0" bIns="0">
            <a:spAutoFit/>
          </a:bodyPr>
          <a:lstStyle/>
          <a:p>
            <a:r>
              <a:rPr sz="1250" b="1" spc="100">
                <a:solidFill>
                  <a:srgbClr val="1F9D68"/>
                </a:solidFill>
                <a:latin typeface="Cambria"/>
              </a:rPr>
              <a:t>WHAT WAS CHECKED ON 29 OCTOBER</a:t>
            </a:r>
          </a:p>
          <a:p>
            <a:pPr>
              <a:spcBef>
                <a:spcPts val="400"/>
              </a:spcBef>
            </a:pPr>
            <a:r>
              <a:rPr sz="1100">
                <a:solidFill>
                  <a:srgbClr val="222A3F"/>
                </a:solidFill>
                <a:latin typeface="Cambria"/>
              </a:rPr>
              <a:t>•  Configuration read back with zero provisioning on both radios: name, role, No PIN, Group9 with key, precision 32, cadence, presets: all intact</a:t>
            </a:r>
          </a:p>
          <a:p>
            <a:pPr>
              <a:spcBef>
                <a:spcPts val="400"/>
              </a:spcBef>
            </a:pPr>
            <a:r>
              <a:rPr sz="1100">
                <a:solidFill>
                  <a:srgbClr val="222A3F"/>
                </a:solidFill>
                <a:latin typeface="Cambria"/>
              </a:rPr>
              <a:t>•  Flash settings area read three times each: 0 differing bytes, 0 unstable sectors on SF and on RG</a:t>
            </a:r>
          </a:p>
        </p:txBody>
      </p:sp>
      <p:sp>
        <p:nvSpPr>
          <p:cNvPr id="14" name="Rectangle 13"/>
          <p:cNvSpPr/>
          <p:nvPr/>
        </p:nvSpPr>
        <p:spPr>
          <a:xfrm>
            <a:off x="6172200" y="4434840"/>
            <a:ext cx="5532120" cy="1645920"/>
          </a:xfrm>
          <a:prstGeom prst="rect">
            <a:avLst/>
          </a:prstGeom>
          <a:solidFill>
            <a:srgbClr val="F2F5FA"/>
          </a:solidFill>
          <a:ln w="15875">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4553712"/>
            <a:ext cx="5202936" cy="1408176"/>
          </a:xfrm>
          <a:prstGeom prst="rect">
            <a:avLst/>
          </a:prstGeom>
          <a:noFill/>
        </p:spPr>
        <p:txBody>
          <a:bodyPr wrap="square" lIns="0" rIns="0" tIns="0" bIns="0">
            <a:spAutoFit/>
          </a:bodyPr>
          <a:lstStyle/>
          <a:p>
            <a:r>
              <a:rPr sz="1250" b="1" spc="100">
                <a:solidFill>
                  <a:srgbClr val="E58E1A"/>
                </a:solidFill>
                <a:latin typeface="Cambria"/>
              </a:rPr>
              <a:t>READ IT HONESTLY</a:t>
            </a:r>
          </a:p>
          <a:p>
            <a:pPr>
              <a:spcBef>
                <a:spcPts val="400"/>
              </a:spcBef>
            </a:pPr>
            <a:r>
              <a:rPr sz="1100">
                <a:solidFill>
                  <a:srgbClr val="222A3F"/>
                </a:solidFill>
                <a:latin typeface="Cambria"/>
              </a:rPr>
              <a:t>•  SF's flat-battery episode is the exact condition that wiped it three times before; this time nothing was lost and the flash stayed clean</a:t>
            </a:r>
          </a:p>
          <a:p>
            <a:pPr>
              <a:spcBef>
                <a:spcPts val="400"/>
              </a:spcBef>
            </a:pPr>
            <a:r>
              <a:rPr sz="1100">
                <a:solidFill>
                  <a:srgbClr val="222A3F"/>
                </a:solidFill>
                <a:latin typeface="Cambria"/>
              </a:rPr>
              <a:t>•  One cycle is evidence, not proof: the radio was stored flat, not transmitting while it died. The campaign of five running-flat cycles per radio is what closes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18/21  REV D  2026-11-04</a:t>
            </a:r>
          </a:p>
        </p:txBody>
      </p:sp>
      <p:sp>
        <p:nvSpPr>
          <p:cNvPr id="7" name="Rectangle 6"/>
          <p:cNvSpPr/>
          <p:nvPr/>
        </p:nvSpPr>
        <p:spPr>
          <a:xfrm>
            <a:off x="9646920" y="347472"/>
            <a:ext cx="2148840" cy="420624"/>
          </a:xfrm>
          <a:prstGeom prst="rect">
            <a:avLst/>
          </a:prstGeom>
          <a:solidFill>
            <a:srgbClr val="FFFFFF"/>
          </a:solidFill>
          <a:ln w="19050">
            <a:solidFill>
              <a:srgbClr val="E58E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E58E1A"/>
                </a:solidFill>
                <a:latin typeface="Courier New"/>
              </a:rPr>
              <a:t>OWNER: VICTOR</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CHAIN OF CAUSATION</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Every link tagged with its class of evidence</a:t>
            </a:r>
          </a:p>
        </p:txBody>
      </p:sp>
      <p:pic>
        <p:nvPicPr>
          <p:cNvPr id="11" name="Picture 10" descr="g_chain.png"/>
          <p:cNvPicPr>
            <a:picLocks noChangeAspect="1"/>
          </p:cNvPicPr>
          <p:nvPr/>
        </p:nvPicPr>
        <p:blipFill>
          <a:blip r:embed="rId2"/>
          <a:stretch>
            <a:fillRect/>
          </a:stretch>
        </p:blipFill>
        <p:spPr>
          <a:xfrm>
            <a:off x="502920" y="1280160"/>
            <a:ext cx="11155680" cy="2339094"/>
          </a:xfrm>
          <a:prstGeom prst="rect">
            <a:avLst/>
          </a:prstGeom>
        </p:spPr>
      </p:pic>
      <p:graphicFrame>
        <p:nvGraphicFramePr>
          <p:cNvPr id="12" name="Table 11"/>
          <p:cNvGraphicFramePr>
            <a:graphicFrameLocks noGrp="1"/>
          </p:cNvGraphicFramePr>
          <p:nvPr/>
        </p:nvGraphicFramePr>
        <p:xfrm>
          <a:off x="502920" y="3749039"/>
          <a:ext cx="11155680" cy="2304288"/>
        </p:xfrm>
        <a:graphic>
          <a:graphicData uri="http://schemas.openxmlformats.org/drawingml/2006/table">
            <a:tbl>
              <a:tblPr firstRow="1" bandRow="1">
                <a:tableStyleId>{5C22544A-7EE6-4342-B048-85BDC9FD1C3A}</a:tableStyleId>
              </a:tblPr>
              <a:tblGrid>
                <a:gridCol w="3657600"/>
                <a:gridCol w="4754880"/>
                <a:gridCol w="2743200"/>
              </a:tblGrid>
              <a:tr h="384048">
                <a:tc>
                  <a:txBody>
                    <a:bodyPr/>
                    <a:lstStyle/>
                    <a:p>
                      <a:r>
                        <a:rPr sz="1100" b="1">
                          <a:solidFill>
                            <a:srgbClr val="FFFFFF"/>
                          </a:solidFill>
                          <a:latin typeface="Cambria"/>
                        </a:rPr>
                        <a:t>Link</a:t>
                      </a:r>
                    </a:p>
                  </a:txBody>
                  <a:tcPr marL="73152" marR="73152" marT="27432" marB="27432">
                    <a:solidFill>
                      <a:srgbClr val="16213D"/>
                    </a:solidFill>
                  </a:tcPr>
                </a:tc>
                <a:tc>
                  <a:txBody>
                    <a:bodyPr/>
                    <a:lstStyle/>
                    <a:p>
                      <a:r>
                        <a:rPr sz="1100" b="1">
                          <a:solidFill>
                            <a:srgbClr val="FFFFFF"/>
                          </a:solidFill>
                          <a:latin typeface="Cambria"/>
                        </a:rPr>
                        <a:t>Evidence</a:t>
                      </a:r>
                    </a:p>
                  </a:txBody>
                  <a:tcPr marL="73152" marR="73152" marT="27432" marB="27432">
                    <a:solidFill>
                      <a:srgbClr val="16213D"/>
                    </a:solidFill>
                  </a:tcPr>
                </a:tc>
                <a:tc>
                  <a:txBody>
                    <a:bodyPr/>
                    <a:lstStyle/>
                    <a:p>
                      <a:r>
                        <a:rPr sz="1100" b="1">
                          <a:solidFill>
                            <a:srgbClr val="FFFFFF"/>
                          </a:solidFill>
                          <a:latin typeface="Cambria"/>
                        </a:rPr>
                        <a:t>Class</a:t>
                      </a:r>
                    </a:p>
                  </a:txBody>
                  <a:tcPr marL="73152" marR="73152" marT="27432" marB="27432">
                    <a:solidFill>
                      <a:srgbClr val="16213D"/>
                    </a:solidFill>
                  </a:tcPr>
                </a:tc>
              </a:tr>
              <a:tr h="384048">
                <a:tc>
                  <a:txBody>
                    <a:bodyPr/>
                    <a:lstStyle/>
                    <a:p>
                      <a:r>
                        <a:rPr sz="1100" b="0">
                          <a:solidFill>
                            <a:srgbClr val="222A3F"/>
                          </a:solidFill>
                          <a:latin typeface="Cambria"/>
                        </a:rPr>
                        <a:t>Flat battery, reboot churn on recovery</a:t>
                      </a:r>
                    </a:p>
                  </a:txBody>
                  <a:tcPr marL="73152" marR="73152" marT="27432" marB="27432">
                    <a:solidFill>
                      <a:srgbClr val="F2F5FA"/>
                    </a:solidFill>
                  </a:tcPr>
                </a:tc>
                <a:tc>
                  <a:txBody>
                    <a:bodyPr/>
                    <a:lstStyle/>
                    <a:p>
                      <a:r>
                        <a:rPr sz="1100" b="0">
                          <a:solidFill>
                            <a:srgbClr val="222A3F"/>
                          </a:solidFill>
                          <a:latin typeface="Cambria"/>
                        </a:rPr>
                        <a:t>3 of 4 incidents; #4555 reproduces it</a:t>
                      </a:r>
                    </a:p>
                  </a:txBody>
                  <a:tcPr marL="73152" marR="73152" marT="27432" marB="27432">
                    <a:solidFill>
                      <a:srgbClr val="F2F5FA"/>
                    </a:solidFill>
                  </a:tcPr>
                </a:tc>
                <a:tc>
                  <a:txBody>
                    <a:bodyPr/>
                    <a:lstStyle/>
                    <a:p>
                      <a:r>
                        <a:rPr sz="1100" b="0">
                          <a:solidFill>
                            <a:srgbClr val="222A3F"/>
                          </a:solidFill>
                          <a:latin typeface="Cambria"/>
                        </a:rPr>
                        <a:t>Observed</a:t>
                      </a:r>
                    </a:p>
                  </a:txBody>
                  <a:tcPr marL="73152" marR="73152" marT="27432" marB="27432">
                    <a:solidFill>
                      <a:srgbClr val="F2F5FA"/>
                    </a:solidFill>
                  </a:tcPr>
                </a:tc>
              </a:tr>
              <a:tr h="384048">
                <a:tc>
                  <a:txBody>
                    <a:bodyPr/>
                    <a:lstStyle/>
                    <a:p>
                      <a:r>
                        <a:rPr sz="1100" b="0">
                          <a:solidFill>
                            <a:srgbClr val="222A3F"/>
                          </a:solidFill>
                          <a:latin typeface="Cambria"/>
                        </a:rPr>
                        <a:t>Flash write on every boot, no voltage gate</a:t>
                      </a:r>
                    </a:p>
                  </a:txBody>
                  <a:tcPr marL="73152" marR="73152" marT="27432" marB="27432">
                    <a:solidFill>
                      <a:srgbClr val="FFFFFF"/>
                    </a:solidFill>
                  </a:tcPr>
                </a:tc>
                <a:tc>
                  <a:txBody>
                    <a:bodyPr/>
                    <a:lstStyle/>
                    <a:p>
                      <a:r>
                        <a:rPr sz="1100" b="0">
                          <a:solidFill>
                            <a:srgbClr val="222A3F"/>
                          </a:solidFill>
                          <a:latin typeface="Cambria"/>
                        </a:rPr>
                        <a:t>Boot log; PowerHAL.cpp stub</a:t>
                      </a:r>
                    </a:p>
                  </a:txBody>
                  <a:tcPr marL="73152" marR="73152" marT="27432" marB="27432">
                    <a:solidFill>
                      <a:srgbClr val="FFFFFF"/>
                    </a:solidFill>
                  </a:tcPr>
                </a:tc>
                <a:tc>
                  <a:txBody>
                    <a:bodyPr/>
                    <a:lstStyle/>
                    <a:p>
                      <a:r>
                        <a:rPr sz="1100" b="0">
                          <a:solidFill>
                            <a:srgbClr val="222A3F"/>
                          </a:solidFill>
                          <a:latin typeface="Cambria"/>
                        </a:rPr>
                        <a:t>Verified in source</a:t>
                      </a:r>
                    </a:p>
                  </a:txBody>
                  <a:tcPr marL="73152" marR="73152" marT="27432" marB="27432">
                    <a:solidFill>
                      <a:srgbClr val="FFFFFF"/>
                    </a:solidFill>
                  </a:tcPr>
                </a:tc>
              </a:tr>
              <a:tr h="384048">
                <a:tc>
                  <a:txBody>
                    <a:bodyPr/>
                    <a:lstStyle/>
                    <a:p>
                      <a:r>
                        <a:rPr sz="1100" b="0">
                          <a:solidFill>
                            <a:srgbClr val="222A3F"/>
                          </a:solidFill>
                          <a:latin typeface="Cambria"/>
                        </a:rPr>
                        <a:t>Rail between 2.44 and 2.7 V during a write</a:t>
                      </a:r>
                    </a:p>
                  </a:txBody>
                  <a:tcPr marL="73152" marR="73152" marT="27432" marB="27432">
                    <a:solidFill>
                      <a:srgbClr val="F2F5FA"/>
                    </a:solidFill>
                  </a:tcPr>
                </a:tc>
                <a:tc>
                  <a:txBody>
                    <a:bodyPr/>
                    <a:lstStyle/>
                    <a:p>
                      <a:r>
                        <a:rPr sz="1100" b="0">
                          <a:solidFill>
                            <a:srgbClr val="222A3F"/>
                          </a:solidFill>
                          <a:latin typeface="Cambria"/>
                        </a:rPr>
                        <a:t>Datasheets, sdkconfig, 750 mA TX pulses</a:t>
                      </a:r>
                    </a:p>
                  </a:txBody>
                  <a:tcPr marL="73152" marR="73152" marT="27432" marB="27432">
                    <a:solidFill>
                      <a:srgbClr val="F2F5FA"/>
                    </a:solidFill>
                  </a:tcPr>
                </a:tc>
                <a:tc>
                  <a:txBody>
                    <a:bodyPr/>
                    <a:lstStyle/>
                    <a:p>
                      <a:r>
                        <a:rPr sz="1100" b="0">
                          <a:solidFill>
                            <a:srgbClr val="222A3F"/>
                          </a:solidFill>
                          <a:latin typeface="Cambria"/>
                        </a:rPr>
                        <a:t>Inferred (scope capture pending)</a:t>
                      </a:r>
                    </a:p>
                  </a:txBody>
                  <a:tcPr marL="73152" marR="73152" marT="27432" marB="27432">
                    <a:solidFill>
                      <a:srgbClr val="F2F5FA"/>
                    </a:solidFill>
                  </a:tcPr>
                </a:tc>
              </a:tr>
              <a:tr h="384048">
                <a:tc>
                  <a:txBody>
                    <a:bodyPr/>
                    <a:lstStyle/>
                    <a:p>
                      <a:r>
                        <a:rPr sz="1100" b="0">
                          <a:solidFill>
                            <a:srgbClr val="222A3F"/>
                          </a:solidFill>
                          <a:latin typeface="Cambria"/>
                        </a:rPr>
                        <a:t>Cells left half-programmed</a:t>
                      </a:r>
                    </a:p>
                  </a:txBody>
                  <a:tcPr marL="73152" marR="73152" marT="27432" marB="27432">
                    <a:solidFill>
                      <a:srgbClr val="FFFFFF"/>
                    </a:solidFill>
                  </a:tcPr>
                </a:tc>
                <a:tc>
                  <a:txBody>
                    <a:bodyPr/>
                    <a:lstStyle/>
                    <a:p>
                      <a:r>
                        <a:rPr sz="1100" b="0">
                          <a:solidFill>
                            <a:srgbClr val="222A3F"/>
                          </a:solidFill>
                          <a:latin typeface="Cambria"/>
                        </a:rPr>
                        <a:t>SF sector map; healed by rewrite</a:t>
                      </a:r>
                    </a:p>
                  </a:txBody>
                  <a:tcPr marL="73152" marR="73152" marT="27432" marB="27432">
                    <a:solidFill>
                      <a:srgbClr val="FFFFFF"/>
                    </a:solidFill>
                  </a:tcPr>
                </a:tc>
                <a:tc>
                  <a:txBody>
                    <a:bodyPr/>
                    <a:lstStyle/>
                    <a:p>
                      <a:r>
                        <a:rPr sz="1100" b="0">
                          <a:solidFill>
                            <a:srgbClr val="222A3F"/>
                          </a:solidFill>
                          <a:latin typeface="Cambria"/>
                        </a:rPr>
                        <a:t>Measured</a:t>
                      </a:r>
                    </a:p>
                  </a:txBody>
                  <a:tcPr marL="73152" marR="73152" marT="27432" marB="27432">
                    <a:solidFill>
                      <a:srgbClr val="FFFFFF"/>
                    </a:solidFill>
                  </a:tcPr>
                </a:tc>
              </a:tr>
              <a:tr h="384048">
                <a:tc>
                  <a:txBody>
                    <a:bodyPr/>
                    <a:lstStyle/>
                    <a:p>
                      <a:r>
                        <a:rPr sz="1100" b="0">
                          <a:solidFill>
                            <a:srgbClr val="222A3F"/>
                          </a:solidFill>
                          <a:latin typeface="Cambria"/>
                        </a:rPr>
                        <a:t>Decode fails, defaults installed and saved</a:t>
                      </a:r>
                    </a:p>
                  </a:txBody>
                  <a:tcPr marL="73152" marR="73152" marT="27432" marB="27432">
                    <a:solidFill>
                      <a:srgbClr val="F2F5FA"/>
                    </a:solidFill>
                  </a:tcPr>
                </a:tc>
                <a:tc>
                  <a:txBody>
                    <a:bodyPr/>
                    <a:lstStyle/>
                    <a:p>
                      <a:r>
                        <a:rPr sz="1100" b="0">
                          <a:solidFill>
                            <a:srgbClr val="222A3F"/>
                          </a:solidFill>
                          <a:latin typeface="Cambria"/>
                        </a:rPr>
                        <a:t>NodeDB.cpp; the losses themselves</a:t>
                      </a:r>
                    </a:p>
                  </a:txBody>
                  <a:tcPr marL="73152" marR="73152" marT="27432" marB="27432">
                    <a:solidFill>
                      <a:srgbClr val="F2F5FA"/>
                    </a:solidFill>
                  </a:tcPr>
                </a:tc>
                <a:tc>
                  <a:txBody>
                    <a:bodyPr/>
                    <a:lstStyle/>
                    <a:p>
                      <a:r>
                        <a:rPr sz="1100" b="0">
                          <a:solidFill>
                            <a:srgbClr val="222A3F"/>
                          </a:solidFill>
                          <a:latin typeface="Cambria"/>
                        </a:rPr>
                        <a:t>Verified in source</a:t>
                      </a:r>
                    </a:p>
                  </a:txBody>
                  <a:tcPr marL="73152" marR="73152" marT="27432" marB="27432">
                    <a:solidFill>
                      <a:srgbClr val="F2F5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19/21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FIX: PLAN AND PROOF</a:t>
            </a:r>
          </a:p>
        </p:txBody>
      </p:sp>
      <p:sp>
        <p:nvSpPr>
          <p:cNvPr id="10" name="TextBox 9"/>
          <p:cNvSpPr txBox="1"/>
          <p:nvPr/>
        </p:nvSpPr>
        <p:spPr>
          <a:xfrm>
            <a:off x="475488" y="868680"/>
            <a:ext cx="9052560" cy="320040"/>
          </a:xfrm>
          <a:prstGeom prst="rect">
            <a:avLst/>
          </a:prstGeom>
          <a:noFill/>
        </p:spPr>
        <p:txBody>
          <a:bodyPr wrap="square" lIns="0" rIns="0" tIns="0" bIns="0">
            <a:spAutoFit/>
          </a:bodyPr>
          <a:lstStyle/>
          <a:p>
            <a:pPr algn="l"/>
            <a:r>
              <a:rPr sz="1250" b="0" i="1">
                <a:solidFill>
                  <a:srgbClr val="5E6B85"/>
                </a:solidFill>
                <a:latin typeface="Cambria"/>
              </a:rPr>
              <a:t>Ranked by leverage; fix 1 is built, flashed and proven on both radios</a:t>
            </a:r>
          </a:p>
        </p:txBody>
      </p:sp>
      <p:graphicFrame>
        <p:nvGraphicFramePr>
          <p:cNvPr id="11" name="Table 10"/>
          <p:cNvGraphicFramePr>
            <a:graphicFrameLocks noGrp="1"/>
          </p:cNvGraphicFramePr>
          <p:nvPr/>
        </p:nvGraphicFramePr>
        <p:xfrm>
          <a:off x="502920" y="1234440"/>
          <a:ext cx="11155680" cy="2852928"/>
        </p:xfrm>
        <a:graphic>
          <a:graphicData uri="http://schemas.openxmlformats.org/drawingml/2006/table">
            <a:tbl>
              <a:tblPr firstRow="1" bandRow="1">
                <a:tableStyleId>{5C22544A-7EE6-4342-B048-85BDC9FD1C3A}</a:tableStyleId>
              </a:tblPr>
              <a:tblGrid>
                <a:gridCol w="365760"/>
                <a:gridCol w="5029200"/>
                <a:gridCol w="3566160"/>
                <a:gridCol w="2194560"/>
              </a:tblGrid>
              <a:tr h="475488">
                <a:tc>
                  <a:txBody>
                    <a:bodyPr/>
                    <a:lstStyle/>
                    <a:p>
                      <a:r>
                        <a:rPr sz="1050" b="1">
                          <a:solidFill>
                            <a:srgbClr val="FFFFFF"/>
                          </a:solidFill>
                          <a:latin typeface="Cambria"/>
                        </a:rPr>
                        <a:t>#</a:t>
                      </a:r>
                    </a:p>
                  </a:txBody>
                  <a:tcPr marL="73152" marR="73152" marT="27432" marB="27432">
                    <a:solidFill>
                      <a:srgbClr val="16213D"/>
                    </a:solidFill>
                  </a:tcPr>
                </a:tc>
                <a:tc>
                  <a:txBody>
                    <a:bodyPr/>
                    <a:lstStyle/>
                    <a:p>
                      <a:r>
                        <a:rPr sz="1050" b="1">
                          <a:solidFill>
                            <a:srgbClr val="FFFFFF"/>
                          </a:solidFill>
                          <a:latin typeface="Cambria"/>
                        </a:rPr>
                        <a:t>Fix</a:t>
                      </a:r>
                    </a:p>
                  </a:txBody>
                  <a:tcPr marL="73152" marR="73152" marT="27432" marB="27432">
                    <a:solidFill>
                      <a:srgbClr val="16213D"/>
                    </a:solidFill>
                  </a:tcPr>
                </a:tc>
                <a:tc>
                  <a:txBody>
                    <a:bodyPr/>
                    <a:lstStyle/>
                    <a:p>
                      <a:r>
                        <a:rPr sz="1050" b="1">
                          <a:solidFill>
                            <a:srgbClr val="FFFFFF"/>
                          </a:solidFill>
                          <a:latin typeface="Cambria"/>
                        </a:rPr>
                        <a:t>Effect</a:t>
                      </a:r>
                    </a:p>
                  </a:txBody>
                  <a:tcPr marL="73152" marR="73152" marT="27432" marB="27432">
                    <a:solidFill>
                      <a:srgbClr val="16213D"/>
                    </a:solidFill>
                  </a:tcPr>
                </a:tc>
                <a:tc>
                  <a:txBody>
                    <a:bodyPr/>
                    <a:lstStyle/>
                    <a:p>
                      <a:r>
                        <a:rPr sz="1050" b="1">
                          <a:solidFill>
                            <a:srgbClr val="FFFFFF"/>
                          </a:solidFill>
                          <a:latin typeface="Cambria"/>
                        </a:rPr>
                        <a:t>Status</a:t>
                      </a:r>
                    </a:p>
                  </a:txBody>
                  <a:tcPr marL="73152" marR="73152" marT="27432" marB="27432">
                    <a:solidFill>
                      <a:srgbClr val="16213D"/>
                    </a:solidFill>
                  </a:tcPr>
                </a:tc>
              </a:tr>
              <a:tr h="475488">
                <a:tc>
                  <a:txBody>
                    <a:bodyPr/>
                    <a:lstStyle/>
                    <a:p>
                      <a:r>
                        <a:rPr sz="1050" b="0">
                          <a:solidFill>
                            <a:srgbClr val="222A3F"/>
                          </a:solidFill>
                          <a:latin typeface="Cambria"/>
                        </a:rPr>
                        <a:t>1</a:t>
                      </a:r>
                    </a:p>
                  </a:txBody>
                  <a:tcPr marL="73152" marR="73152" marT="27432" marB="27432">
                    <a:solidFill>
                      <a:srgbClr val="F2F5FA"/>
                    </a:solidFill>
                  </a:tcPr>
                </a:tc>
                <a:tc>
                  <a:txBody>
                    <a:bodyPr/>
                    <a:lstStyle/>
                    <a:p>
                      <a:r>
                        <a:rPr sz="1050" b="0">
                          <a:solidFill>
                            <a:srgbClr val="222A3F"/>
                          </a:solidFill>
                          <a:latin typeface="Cambria"/>
                        </a:rPr>
                        <a:t>Rebuild Meshtastic with our configuration compiled in as its factory defaults (userPrefs.jsonc + one-line NO_PIN patch)</a:t>
                      </a:r>
                    </a:p>
                  </a:txBody>
                  <a:tcPr marL="73152" marR="73152" marT="27432" marB="27432">
                    <a:solidFill>
                      <a:srgbClr val="F2F5FA"/>
                    </a:solidFill>
                  </a:tcPr>
                </a:tc>
                <a:tc>
                  <a:txBody>
                    <a:bodyPr/>
                    <a:lstStyle/>
                    <a:p>
                      <a:r>
                        <a:rPr sz="1050" b="0">
                          <a:solidFill>
                            <a:srgbClr val="222A3F"/>
                          </a:solidFill>
                          <a:latin typeface="Cambria"/>
                        </a:rPr>
                        <a:t>A revert now restores OUR settings; the failure becomes invisible to the driver</a:t>
                      </a:r>
                    </a:p>
                  </a:txBody>
                  <a:tcPr marL="73152" marR="73152" marT="27432" marB="27432">
                    <a:solidFill>
                      <a:srgbClr val="F2F5FA"/>
                    </a:solidFill>
                  </a:tcPr>
                </a:tc>
                <a:tc>
                  <a:txBody>
                    <a:bodyPr/>
                    <a:lstStyle/>
                    <a:p>
                      <a:r>
                        <a:rPr sz="1050" b="0">
                          <a:solidFill>
                            <a:srgbClr val="222A3F"/>
                          </a:solidFill>
                          <a:latin typeface="Cambria"/>
                        </a:rPr>
                        <a:t>Both radios flashed and accepted Oct 28; SF clean after 2 days at 0 percent, Oct 29</a:t>
                      </a:r>
                    </a:p>
                  </a:txBody>
                  <a:tcPr marL="73152" marR="73152" marT="27432" marB="27432">
                    <a:solidFill>
                      <a:srgbClr val="F2F5FA"/>
                    </a:solidFill>
                  </a:tcPr>
                </a:tc>
              </a:tr>
              <a:tr h="475488">
                <a:tc>
                  <a:txBody>
                    <a:bodyPr/>
                    <a:lstStyle/>
                    <a:p>
                      <a:r>
                        <a:rPr sz="1050" b="0">
                          <a:solidFill>
                            <a:srgbClr val="222A3F"/>
                          </a:solidFill>
                          <a:latin typeface="Cambria"/>
                        </a:rPr>
                        <a:t>2</a:t>
                      </a:r>
                    </a:p>
                  </a:txBody>
                  <a:tcPr marL="73152" marR="73152" marT="27432" marB="27432">
                    <a:solidFill>
                      <a:srgbClr val="FFFFFF"/>
                    </a:solidFill>
                  </a:tcPr>
                </a:tc>
                <a:tc>
                  <a:txBody>
                    <a:bodyPr/>
                    <a:lstStyle/>
                    <a:p>
                      <a:r>
                        <a:rPr sz="1050" b="0">
                          <a:solidFill>
                            <a:srgbClr val="222A3F"/>
                          </a:solidFill>
                          <a:latin typeface="Cambria"/>
                        </a:rPr>
                        <a:t>ESP32 power gate: refuse saves below 3.5 V on battery; drop the boot-time rewrite</a:t>
                      </a:r>
                    </a:p>
                  </a:txBody>
                  <a:tcPr marL="73152" marR="73152" marT="27432" marB="27432">
                    <a:solidFill>
                      <a:srgbClr val="FFFFFF"/>
                    </a:solidFill>
                  </a:tcPr>
                </a:tc>
                <a:tc>
                  <a:txBody>
                    <a:bodyPr/>
                    <a:lstStyle/>
                    <a:p>
                      <a:r>
                        <a:rPr sz="1050" b="0">
                          <a:solidFill>
                            <a:srgbClr val="222A3F"/>
                          </a:solidFill>
                          <a:latin typeface="Cambria"/>
                        </a:rPr>
                        <a:t>Removes the write that happens at the worst moment</a:t>
                      </a:r>
                    </a:p>
                  </a:txBody>
                  <a:tcPr marL="73152" marR="73152" marT="27432" marB="27432">
                    <a:solidFill>
                      <a:srgbClr val="FFFFFF"/>
                    </a:solidFill>
                  </a:tcPr>
                </a:tc>
                <a:tc>
                  <a:txBody>
                    <a:bodyPr/>
                    <a:lstStyle/>
                    <a:p>
                      <a:r>
                        <a:rPr sz="1050" b="0">
                          <a:solidFill>
                            <a:srgbClr val="222A3F"/>
                          </a:solidFill>
                          <a:latin typeface="Cambria"/>
                        </a:rPr>
                        <a:t>Next: ten-line patch, to offer upstream</a:t>
                      </a:r>
                    </a:p>
                  </a:txBody>
                  <a:tcPr marL="73152" marR="73152" marT="27432" marB="27432">
                    <a:solidFill>
                      <a:srgbClr val="FFFFFF"/>
                    </a:solidFill>
                  </a:tcPr>
                </a:tc>
              </a:tr>
              <a:tr h="475488">
                <a:tc>
                  <a:txBody>
                    <a:bodyPr/>
                    <a:lstStyle/>
                    <a:p>
                      <a:r>
                        <a:rPr sz="1050" b="0">
                          <a:solidFill>
                            <a:srgbClr val="222A3F"/>
                          </a:solidFill>
                          <a:latin typeface="Cambria"/>
                        </a:rPr>
                        <a:t>3</a:t>
                      </a:r>
                    </a:p>
                  </a:txBody>
                  <a:tcPr marL="73152" marR="73152" marT="27432" marB="27432">
                    <a:solidFill>
                      <a:srgbClr val="F2F5FA"/>
                    </a:solidFill>
                  </a:tcPr>
                </a:tc>
                <a:tc>
                  <a:txBody>
                    <a:bodyPr/>
                    <a:lstStyle/>
                    <a:p>
                      <a:r>
                        <a:rPr sz="1050" b="0">
                          <a:solidFill>
                            <a:srgbClr val="222A3F"/>
                          </a:solidFill>
                          <a:latin typeface="Cambria"/>
                        </a:rPr>
                        <a:t>Clean erase and re-provision of a scarred settings area</a:t>
                      </a:r>
                    </a:p>
                  </a:txBody>
                  <a:tcPr marL="73152" marR="73152" marT="27432" marB="27432">
                    <a:solidFill>
                      <a:srgbClr val="F2F5FA"/>
                    </a:solidFill>
                  </a:tcPr>
                </a:tc>
                <a:tc>
                  <a:txBody>
                    <a:bodyPr/>
                    <a:lstStyle/>
                    <a:p>
                      <a:r>
                        <a:rPr sz="1050" b="0">
                          <a:solidFill>
                            <a:srgbClr val="222A3F"/>
                          </a:solidFill>
                          <a:latin typeface="Cambria"/>
                        </a:rPr>
                        <a:t>Removes residue already present</a:t>
                      </a:r>
                    </a:p>
                  </a:txBody>
                  <a:tcPr marL="73152" marR="73152" marT="27432" marB="27432">
                    <a:solidFill>
                      <a:srgbClr val="F2F5FA"/>
                    </a:solidFill>
                  </a:tcPr>
                </a:tc>
                <a:tc>
                  <a:txBody>
                    <a:bodyPr/>
                    <a:lstStyle/>
                    <a:p>
                      <a:r>
                        <a:rPr sz="1050" b="0">
                          <a:solidFill>
                            <a:srgbClr val="222A3F"/>
                          </a:solidFill>
                          <a:latin typeface="Cambria"/>
                        </a:rPr>
                        <a:t>Done on SF; RG clean</a:t>
                      </a:r>
                    </a:p>
                  </a:txBody>
                  <a:tcPr marL="73152" marR="73152" marT="27432" marB="27432">
                    <a:solidFill>
                      <a:srgbClr val="F2F5FA"/>
                    </a:solidFill>
                  </a:tcPr>
                </a:tc>
              </a:tr>
              <a:tr h="475488">
                <a:tc>
                  <a:txBody>
                    <a:bodyPr/>
                    <a:lstStyle/>
                    <a:p>
                      <a:r>
                        <a:rPr sz="1050" b="0">
                          <a:solidFill>
                            <a:srgbClr val="222A3F"/>
                          </a:solidFill>
                          <a:latin typeface="Cambria"/>
                        </a:rPr>
                        <a:t>4</a:t>
                      </a:r>
                    </a:p>
                  </a:txBody>
                  <a:tcPr marL="73152" marR="73152" marT="27432" marB="27432">
                    <a:solidFill>
                      <a:srgbClr val="FFFFFF"/>
                    </a:solidFill>
                  </a:tcPr>
                </a:tc>
                <a:tc>
                  <a:txBody>
                    <a:bodyPr/>
                    <a:lstStyle/>
                    <a:p>
                      <a:r>
                        <a:rPr sz="1050" b="0">
                          <a:solidFill>
                            <a:srgbClr val="222A3F"/>
                          </a:solidFill>
                          <a:latin typeface="Cambria"/>
                        </a:rPr>
                        <a:t>Raise the brownout reset to 2.67 or 2.84 V (core rebuild)</a:t>
                      </a:r>
                    </a:p>
                  </a:txBody>
                  <a:tcPr marL="73152" marR="73152" marT="27432" marB="27432">
                    <a:solidFill>
                      <a:srgbClr val="FFFFFF"/>
                    </a:solidFill>
                  </a:tcPr>
                </a:tc>
                <a:tc>
                  <a:txBody>
                    <a:bodyPr/>
                    <a:lstStyle/>
                    <a:p>
                      <a:r>
                        <a:rPr sz="1050" b="0">
                          <a:solidFill>
                            <a:srgbClr val="222A3F"/>
                          </a:solidFill>
                          <a:latin typeface="Cambria"/>
                        </a:rPr>
                        <a:t>The CPU resets before the flash leaves spec</a:t>
                      </a:r>
                    </a:p>
                  </a:txBody>
                  <a:tcPr marL="73152" marR="73152" marT="27432" marB="27432">
                    <a:solidFill>
                      <a:srgbClr val="FFFFFF"/>
                    </a:solidFill>
                  </a:tcPr>
                </a:tc>
                <a:tc>
                  <a:txBody>
                    <a:bodyPr/>
                    <a:lstStyle/>
                    <a:p>
                      <a:r>
                        <a:rPr sz="1050" b="0">
                          <a:solidFill>
                            <a:srgbClr val="222A3F"/>
                          </a:solidFill>
                          <a:latin typeface="Cambria"/>
                        </a:rPr>
                        <a:t>Planned</a:t>
                      </a:r>
                    </a:p>
                  </a:txBody>
                  <a:tcPr marL="73152" marR="73152" marT="27432" marB="27432">
                    <a:solidFill>
                      <a:srgbClr val="FFFFFF"/>
                    </a:solidFill>
                  </a:tcPr>
                </a:tc>
              </a:tr>
              <a:tr h="475488">
                <a:tc>
                  <a:txBody>
                    <a:bodyPr/>
                    <a:lstStyle/>
                    <a:p>
                      <a:r>
                        <a:rPr sz="1050" b="0">
                          <a:solidFill>
                            <a:srgbClr val="222A3F"/>
                          </a:solidFill>
                          <a:latin typeface="Cambria"/>
                        </a:rPr>
                        <a:t>5</a:t>
                      </a:r>
                    </a:p>
                  </a:txBody>
                  <a:tcPr marL="73152" marR="73152" marT="27432" marB="27432">
                    <a:solidFill>
                      <a:srgbClr val="F2F5FA"/>
                    </a:solidFill>
                  </a:tcPr>
                </a:tc>
                <a:tc>
                  <a:txBody>
                    <a:bodyPr/>
                    <a:lstStyle/>
                    <a:p>
                      <a:r>
                        <a:rPr sz="1050" b="0">
                          <a:solidFill>
                            <a:srgbClr val="222A3F"/>
                          </a:solidFill>
                          <a:latin typeface="Cambria"/>
                        </a:rPr>
                        <a:t>Operations: never store flat; OLED pre-flight; snapshots; phone-QR recovery</a:t>
                      </a:r>
                    </a:p>
                  </a:txBody>
                  <a:tcPr marL="73152" marR="73152" marT="27432" marB="27432">
                    <a:solidFill>
                      <a:srgbClr val="F2F5FA"/>
                    </a:solidFill>
                  </a:tcPr>
                </a:tc>
                <a:tc>
                  <a:txBody>
                    <a:bodyPr/>
                    <a:lstStyle/>
                    <a:p>
                      <a:r>
                        <a:rPr sz="1050" b="0">
                          <a:solidFill>
                            <a:srgbClr val="222A3F"/>
                          </a:solidFill>
                          <a:latin typeface="Cambria"/>
                        </a:rPr>
                        <a:t>Detection in 2 s, recovery in 90 s</a:t>
                      </a:r>
                    </a:p>
                  </a:txBody>
                  <a:tcPr marL="73152" marR="73152" marT="27432" marB="27432">
                    <a:solidFill>
                      <a:srgbClr val="F2F5FA"/>
                    </a:solidFill>
                  </a:tcPr>
                </a:tc>
                <a:tc>
                  <a:txBody>
                    <a:bodyPr/>
                    <a:lstStyle/>
                    <a:p>
                      <a:r>
                        <a:rPr sz="1050" b="0">
                          <a:solidFill>
                            <a:srgbClr val="222A3F"/>
                          </a:solidFill>
                          <a:latin typeface="Cambria"/>
                        </a:rPr>
                        <a:t>In force</a:t>
                      </a:r>
                    </a:p>
                  </a:txBody>
                  <a:tcPr marL="73152" marR="73152" marT="27432" marB="27432">
                    <a:solidFill>
                      <a:srgbClr val="F2F5FA"/>
                    </a:solidFill>
                  </a:tcPr>
                </a:tc>
              </a:tr>
            </a:tbl>
          </a:graphicData>
        </a:graphic>
      </p:graphicFrame>
      <p:sp>
        <p:nvSpPr>
          <p:cNvPr id="12" name="Rectangle 11"/>
          <p:cNvSpPr/>
          <p:nvPr/>
        </p:nvSpPr>
        <p:spPr>
          <a:xfrm>
            <a:off x="502920" y="4206240"/>
            <a:ext cx="5486400" cy="1874519"/>
          </a:xfrm>
          <a:prstGeom prst="rect">
            <a:avLst/>
          </a:prstGeom>
          <a:solidFill>
            <a:srgbClr val="F2F5FA"/>
          </a:solidFill>
          <a:ln w="15875">
            <a:solidFill>
              <a:srgbClr val="1F9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325112"/>
            <a:ext cx="5157216" cy="1636775"/>
          </a:xfrm>
          <a:prstGeom prst="rect">
            <a:avLst/>
          </a:prstGeom>
          <a:noFill/>
        </p:spPr>
        <p:txBody>
          <a:bodyPr wrap="square" lIns="0" rIns="0" tIns="0" bIns="0">
            <a:spAutoFit/>
          </a:bodyPr>
          <a:lstStyle/>
          <a:p>
            <a:r>
              <a:rPr sz="1250" b="1" spc="100">
                <a:solidFill>
                  <a:srgbClr val="1F9D68"/>
                </a:solidFill>
                <a:latin typeface="Cambria"/>
              </a:rPr>
              <a:t>FIX 1 IN PLAIN WORDS</a:t>
            </a:r>
          </a:p>
          <a:p>
            <a:pPr>
              <a:spcBef>
                <a:spcPts val="400"/>
              </a:spcBef>
            </a:pPr>
            <a:r>
              <a:rPr sz="1100">
                <a:solidFill>
                  <a:srgbClr val="222A3F"/>
                </a:solidFill>
                <a:latin typeface="Cambria"/>
              </a:rPr>
              <a:t>Meshtastic ships with factory settings: public channel, random PIN, no name. We rebuilt it from source so that ITS factory settings are OUR settings: Group9 at 912.875 MHz, No PIN, CLIENT_MUTE, named SF or RG, our GPS cadence. The firmware's failure path still 'resets to defaults', but the defaults are now right. The key is compiled into a binary that never leaves the private repository.</a:t>
            </a:r>
          </a:p>
        </p:txBody>
      </p:sp>
      <p:sp>
        <p:nvSpPr>
          <p:cNvPr id="14" name="Rectangle 13"/>
          <p:cNvSpPr/>
          <p:nvPr/>
        </p:nvSpPr>
        <p:spPr>
          <a:xfrm>
            <a:off x="6172200" y="4206240"/>
            <a:ext cx="5532120" cy="1874519"/>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4325112"/>
            <a:ext cx="5202936" cy="1636775"/>
          </a:xfrm>
          <a:prstGeom prst="rect">
            <a:avLst/>
          </a:prstGeom>
          <a:noFill/>
        </p:spPr>
        <p:txBody>
          <a:bodyPr wrap="square" lIns="0" rIns="0" tIns="0" bIns="0">
            <a:spAutoFit/>
          </a:bodyPr>
          <a:lstStyle/>
          <a:p>
            <a:r>
              <a:rPr sz="1250" b="1" spc="100">
                <a:solidFill>
                  <a:srgbClr val="16213D"/>
                </a:solidFill>
                <a:latin typeface="Cambria"/>
              </a:rPr>
              <a:t>PROVEN ON BOTH RADIOS, 28 OCTOBER</a:t>
            </a:r>
          </a:p>
          <a:p>
            <a:pPr>
              <a:spcBef>
                <a:spcPts val="400"/>
              </a:spcBef>
            </a:pPr>
            <a:r>
              <a:rPr sz="1050">
                <a:solidFill>
                  <a:srgbClr val="222A3F"/>
                </a:solidFill>
                <a:latin typeface="Cambria"/>
              </a:rPr>
              <a:t>•  Flashed each radio's fix-1 image, sent meshtastic --factory-reset: SF came back as SF and RG as RG, Group9 with the 32-byte key, precision 32, No PIN, CLIENT_MUTE, US LONG_FAST, with zero provisioning</a:t>
            </a:r>
          </a:p>
          <a:p>
            <a:pPr>
              <a:spcBef>
                <a:spcPts val="400"/>
              </a:spcBef>
            </a:pPr>
            <a:r>
              <a:rPr sz="1050">
                <a:solidFill>
                  <a:srgbClr val="222A3F"/>
                </a:solidFill>
                <a:latin typeface="Cambria"/>
              </a:rPr>
              <a:t>•  Only the smart-broadcast minimums and the 21 canned presets need the snapshot, which also restores the node key pair</a:t>
            </a:r>
          </a:p>
          <a:p>
            <a:pPr>
              <a:spcBef>
                <a:spcPts val="400"/>
              </a:spcBef>
            </a:pPr>
            <a:r>
              <a:rPr sz="1050">
                <a:solidFill>
                  <a:srgbClr val="222A3F"/>
                </a:solidFill>
                <a:latin typeface="Cambria"/>
              </a:rPr>
              <a:t>•  Next proof: five flat-battery cycles per radio with the flash map read after each; a scope on the 3V3 rail during a transmit burst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PART II - ROOT CAUSE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20/21  REV D  2026-11-04</a:t>
            </a:r>
          </a:p>
        </p:txBody>
      </p:sp>
      <p:sp>
        <p:nvSpPr>
          <p:cNvPr id="7" name="Rectangle 6"/>
          <p:cNvSpPr/>
          <p:nvPr/>
        </p:nvSpPr>
        <p:spPr>
          <a:xfrm>
            <a:off x="9646920" y="347472"/>
            <a:ext cx="2148840" cy="420624"/>
          </a:xfrm>
          <a:prstGeom prst="rect">
            <a:avLst/>
          </a:prstGeom>
          <a:solidFill>
            <a:srgbClr val="FFFFFF"/>
          </a:solidFill>
          <a:ln w="19050">
            <a:solidFill>
              <a:srgbClr val="D948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D9488C"/>
                </a:solidFill>
                <a:latin typeface="Courier New"/>
              </a:rPr>
              <a:t>OWNER: CANNON</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REFERENCES, RECORDS AND ATTRIBUTION</a:t>
            </a:r>
          </a:p>
        </p:txBody>
      </p:sp>
      <p:graphicFrame>
        <p:nvGraphicFramePr>
          <p:cNvPr id="10" name="Table 9"/>
          <p:cNvGraphicFramePr>
            <a:graphicFrameLocks noGrp="1"/>
          </p:cNvGraphicFramePr>
          <p:nvPr/>
        </p:nvGraphicFramePr>
        <p:xfrm>
          <a:off x="502920" y="1234440"/>
          <a:ext cx="7223760" cy="4535424"/>
        </p:xfrm>
        <a:graphic>
          <a:graphicData uri="http://schemas.openxmlformats.org/drawingml/2006/table">
            <a:tbl>
              <a:tblPr firstRow="1" bandRow="1">
                <a:tableStyleId>{5C22544A-7EE6-4342-B048-85BDC9FD1C3A}</a:tableStyleId>
              </a:tblPr>
              <a:tblGrid>
                <a:gridCol w="4846320"/>
                <a:gridCol w="2377440"/>
              </a:tblGrid>
              <a:tr h="566928">
                <a:tc>
                  <a:txBody>
                    <a:bodyPr/>
                    <a:lstStyle/>
                    <a:p>
                      <a:r>
                        <a:rPr sz="950" b="1">
                          <a:solidFill>
                            <a:srgbClr val="FFFFFF"/>
                          </a:solidFill>
                          <a:latin typeface="Cambria"/>
                        </a:rPr>
                        <a:t>Source</a:t>
                      </a:r>
                    </a:p>
                  </a:txBody>
                  <a:tcPr marL="73152" marR="73152" marT="27432" marB="27432">
                    <a:solidFill>
                      <a:srgbClr val="16213D"/>
                    </a:solidFill>
                  </a:tcPr>
                </a:tc>
                <a:tc>
                  <a:txBody>
                    <a:bodyPr/>
                    <a:lstStyle/>
                    <a:p>
                      <a:r>
                        <a:rPr sz="950" b="1">
                          <a:solidFill>
                            <a:srgbClr val="FFFFFF"/>
                          </a:solidFill>
                          <a:latin typeface="Cambria"/>
                        </a:rPr>
                        <a:t>Used for</a:t>
                      </a:r>
                    </a:p>
                  </a:txBody>
                  <a:tcPr marL="73152" marR="73152" marT="27432" marB="27432">
                    <a:solidFill>
                      <a:srgbClr val="16213D"/>
                    </a:solidFill>
                  </a:tcPr>
                </a:tc>
              </a:tr>
              <a:tr h="566928">
                <a:tc>
                  <a:txBody>
                    <a:bodyPr/>
                    <a:lstStyle/>
                    <a:p>
                      <a:r>
                        <a:rPr sz="950" b="0">
                          <a:solidFill>
                            <a:srgbClr val="222A3F"/>
                          </a:solidFill>
                          <a:latin typeface="Cambria"/>
                        </a:rPr>
                        <a:t>Heltec WiFi LoRa 32 V4 datasheet V4.2.0: resource.heltec.cn/download/WiFi_LoRa_32_V4/datasheet/WiFi_LoRa_32_V4.2.0.pdf</a:t>
                      </a:r>
                    </a:p>
                  </a:txBody>
                  <a:tcPr marL="73152" marR="73152" marT="27432" marB="27432">
                    <a:solidFill>
                      <a:srgbClr val="F2F5FA"/>
                    </a:solidFill>
                  </a:tcPr>
                </a:tc>
                <a:tc>
                  <a:txBody>
                    <a:bodyPr/>
                    <a:lstStyle/>
                    <a:p>
                      <a:r>
                        <a:rPr sz="950" b="0">
                          <a:solidFill>
                            <a:srgbClr val="222A3F"/>
                          </a:solidFill>
                          <a:latin typeface="Cambria"/>
                        </a:rPr>
                        <a:t>Supply rails, battery path, transmit current (tables 3.2, 3.4)</a:t>
                      </a:r>
                    </a:p>
                  </a:txBody>
                  <a:tcPr marL="73152" marR="73152" marT="27432" marB="27432">
                    <a:solidFill>
                      <a:srgbClr val="F2F5FA"/>
                    </a:solidFill>
                  </a:tcPr>
                </a:tc>
              </a:tr>
              <a:tr h="566928">
                <a:tc>
                  <a:txBody>
                    <a:bodyPr/>
                    <a:lstStyle/>
                    <a:p>
                      <a:r>
                        <a:rPr sz="950" b="0">
                          <a:solidFill>
                            <a:srgbClr val="222A3F"/>
                          </a:solidFill>
                          <a:latin typeface="Cambria"/>
                        </a:rPr>
                        <a:t>Boya Microelectronics BY25Q128AS datasheet (the 16 MB flash on the V4, JEDEC 68 40 18)</a:t>
                      </a:r>
                    </a:p>
                  </a:txBody>
                  <a:tcPr marL="73152" marR="73152" marT="27432" marB="27432">
                    <a:solidFill>
                      <a:srgbClr val="FFFFFF"/>
                    </a:solidFill>
                  </a:tcPr>
                </a:tc>
                <a:tc>
                  <a:txBody>
                    <a:bodyPr/>
                    <a:lstStyle/>
                    <a:p>
                      <a:r>
                        <a:rPr sz="950" b="0">
                          <a:solidFill>
                            <a:srgbClr val="222A3F"/>
                          </a:solidFill>
                          <a:latin typeface="Cambria"/>
                        </a:rPr>
                        <a:t>VCC 2.7 to 3.6 V, program and erase times, 100k-cycle endurance</a:t>
                      </a:r>
                    </a:p>
                  </a:txBody>
                  <a:tcPr marL="73152" marR="73152" marT="27432" marB="27432">
                    <a:solidFill>
                      <a:srgbClr val="FFFFFF"/>
                    </a:solidFill>
                  </a:tcPr>
                </a:tc>
              </a:tr>
              <a:tr h="566928">
                <a:tc>
                  <a:txBody>
                    <a:bodyPr/>
                    <a:lstStyle/>
                    <a:p>
                      <a:r>
                        <a:rPr sz="950" b="0">
                          <a:solidFill>
                            <a:srgbClr val="222A3F"/>
                          </a:solidFill>
                          <a:latin typeface="Cambria"/>
                        </a:rPr>
                        <a:t>Espressif ESP32-S3: ESP-IDF Kconfig; Arduino-ESP32 core sdkconfig</a:t>
                      </a:r>
                    </a:p>
                  </a:txBody>
                  <a:tcPr marL="73152" marR="73152" marT="27432" marB="27432">
                    <a:solidFill>
                      <a:srgbClr val="F2F5FA"/>
                    </a:solidFill>
                  </a:tcPr>
                </a:tc>
                <a:tc>
                  <a:txBody>
                    <a:bodyPr/>
                    <a:lstStyle/>
                    <a:p>
                      <a:r>
                        <a:rPr sz="950" b="0">
                          <a:solidFill>
                            <a:srgbClr val="222A3F"/>
                          </a:solidFill>
                          <a:latin typeface="Cambria"/>
                        </a:rPr>
                        <a:t>Brownout detector level 7 = 2.44 V</a:t>
                      </a:r>
                    </a:p>
                  </a:txBody>
                  <a:tcPr marL="73152" marR="73152" marT="27432" marB="27432">
                    <a:solidFill>
                      <a:srgbClr val="F2F5FA"/>
                    </a:solidFill>
                  </a:tcPr>
                </a:tc>
              </a:tr>
              <a:tr h="566928">
                <a:tc>
                  <a:txBody>
                    <a:bodyPr/>
                    <a:lstStyle/>
                    <a:p>
                      <a:r>
                        <a:rPr sz="950" b="0">
                          <a:solidFill>
                            <a:srgbClr val="222A3F"/>
                          </a:solidFill>
                          <a:latin typeface="Cambria"/>
                        </a:rPr>
                        <a:t>meshtastic/firmware, tag v2.7.26.54e0d8d: NodeDB.cpp, SafeFile.cpp, PowerHAL.cpp, PowerFSM.cpp, sleep.cpp</a:t>
                      </a:r>
                    </a:p>
                  </a:txBody>
                  <a:tcPr marL="73152" marR="73152" marT="27432" marB="27432">
                    <a:solidFill>
                      <a:srgbClr val="FFFFFF"/>
                    </a:solidFill>
                  </a:tcPr>
                </a:tc>
                <a:tc>
                  <a:txBody>
                    <a:bodyPr/>
                    <a:lstStyle/>
                    <a:p>
                      <a:r>
                        <a:rPr sz="950" b="0">
                          <a:solidFill>
                            <a:srgbClr val="222A3F"/>
                          </a:solidFill>
                          <a:latin typeface="Cambria"/>
                        </a:rPr>
                        <a:t>Save and load behaviour, the power gate stub</a:t>
                      </a:r>
                    </a:p>
                  </a:txBody>
                  <a:tcPr marL="73152" marR="73152" marT="27432" marB="27432">
                    <a:solidFill>
                      <a:srgbClr val="FFFFFF"/>
                    </a:solidFill>
                  </a:tcPr>
                </a:tc>
              </a:tr>
              <a:tr h="566928">
                <a:tc>
                  <a:txBody>
                    <a:bodyPr/>
                    <a:lstStyle/>
                    <a:p>
                      <a:r>
                        <a:rPr sz="950" b="0">
                          <a:solidFill>
                            <a:srgbClr val="222A3F"/>
                          </a:solidFill>
                          <a:latin typeface="Cambria"/>
                        </a:rPr>
                        <a:t>github.com/meshtastic/firmware issues #4555, #4622, #2936, #3260, #5259; pull request #11872</a:t>
                      </a:r>
                    </a:p>
                  </a:txBody>
                  <a:tcPr marL="73152" marR="73152" marT="27432" marB="27432">
                    <a:solidFill>
                      <a:srgbClr val="F2F5FA"/>
                    </a:solidFill>
                  </a:tcPr>
                </a:tc>
                <a:tc>
                  <a:txBody>
                    <a:bodyPr/>
                    <a:lstStyle/>
                    <a:p>
                      <a:r>
                        <a:rPr sz="950" b="0">
                          <a:solidFill>
                            <a:srgbClr val="222A3F"/>
                          </a:solidFill>
                          <a:latin typeface="Cambria"/>
                        </a:rPr>
                        <a:t>Prior reports of the same loss; the nRF52 fix</a:t>
                      </a:r>
                    </a:p>
                  </a:txBody>
                  <a:tcPr marL="73152" marR="73152" marT="27432" marB="27432">
                    <a:solidFill>
                      <a:srgbClr val="F2F5FA"/>
                    </a:solidFill>
                  </a:tcPr>
                </a:tc>
              </a:tr>
              <a:tr h="566928">
                <a:tc>
                  <a:txBody>
                    <a:bodyPr/>
                    <a:lstStyle/>
                    <a:p>
                      <a:r>
                        <a:rPr sz="950" b="0">
                          <a:solidFill>
                            <a:srgbClr val="222A3F"/>
                          </a:solidFill>
                          <a:latin typeface="Cambria"/>
                        </a:rPr>
                        <a:t>Espressif esptool 4.11; python-pptx; matplotlib</a:t>
                      </a:r>
                    </a:p>
                  </a:txBody>
                  <a:tcPr marL="73152" marR="73152" marT="27432" marB="27432">
                    <a:solidFill>
                      <a:srgbClr val="FFFFFF"/>
                    </a:solidFill>
                  </a:tcPr>
                </a:tc>
                <a:tc>
                  <a:txBody>
                    <a:bodyPr/>
                    <a:lstStyle/>
                    <a:p>
                      <a:r>
                        <a:rPr sz="950" b="0">
                          <a:solidFill>
                            <a:srgbClr val="222A3F"/>
                          </a:solidFill>
                          <a:latin typeface="Cambria"/>
                        </a:rPr>
                        <a:t>Reading flash with the firmware halted; this deck and its figures</a:t>
                      </a:r>
                    </a:p>
                  </a:txBody>
                  <a:tcPr marL="73152" marR="73152" marT="27432" marB="27432">
                    <a:solidFill>
                      <a:srgbClr val="FFFFFF"/>
                    </a:solidFill>
                  </a:tcPr>
                </a:tc>
              </a:tr>
              <a:tr h="566928">
                <a:tc>
                  <a:txBody>
                    <a:bodyPr/>
                    <a:lstStyle/>
                    <a:p>
                      <a:r>
                        <a:rPr sz="950" b="0">
                          <a:solidFill>
                            <a:srgbClr val="222A3F"/>
                          </a:solidFill>
                          <a:latin typeface="Cambria"/>
                        </a:rPr>
                        <a:t>This repository: docs/src/flash_forensics (records), docs/src/*.py (scripts), Technical Manual 15-16, Device User Guide 12</a:t>
                      </a:r>
                    </a:p>
                  </a:txBody>
                  <a:tcPr marL="73152" marR="73152" marT="27432" marB="27432">
                    <a:solidFill>
                      <a:srgbClr val="F2F5FA"/>
                    </a:solidFill>
                  </a:tcPr>
                </a:tc>
                <a:tc>
                  <a:txBody>
                    <a:bodyPr/>
                    <a:lstStyle/>
                    <a:p>
                      <a:r>
                        <a:rPr sz="950" b="0">
                          <a:solidFill>
                            <a:srgbClr val="222A3F"/>
                          </a:solidFill>
                          <a:latin typeface="Cambria"/>
                        </a:rPr>
                        <a:t>Every number in Part II, reproducible</a:t>
                      </a:r>
                    </a:p>
                  </a:txBody>
                  <a:tcPr marL="73152" marR="73152" marT="27432" marB="27432">
                    <a:solidFill>
                      <a:srgbClr val="F2F5FA"/>
                    </a:solidFill>
                  </a:tcPr>
                </a:tc>
              </a:tr>
            </a:tbl>
          </a:graphicData>
        </a:graphic>
      </p:graphicFrame>
      <p:sp>
        <p:nvSpPr>
          <p:cNvPr id="11" name="Rectangle 10"/>
          <p:cNvSpPr/>
          <p:nvPr/>
        </p:nvSpPr>
        <p:spPr>
          <a:xfrm>
            <a:off x="7909560" y="1234440"/>
            <a:ext cx="3794760" cy="452628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4152" y="1353312"/>
            <a:ext cx="3465576" cy="4288536"/>
          </a:xfrm>
          <a:prstGeom prst="rect">
            <a:avLst/>
          </a:prstGeom>
          <a:noFill/>
        </p:spPr>
        <p:txBody>
          <a:bodyPr wrap="square" lIns="0" rIns="0" tIns="0" bIns="0">
            <a:spAutoFit/>
          </a:bodyPr>
          <a:lstStyle/>
          <a:p>
            <a:r>
              <a:rPr sz="1250" b="1" spc="100">
                <a:solidFill>
                  <a:srgbClr val="16213D"/>
                </a:solidFill>
                <a:latin typeface="Cambria"/>
              </a:rPr>
              <a:t>HOW THIS WORK WAS DONE</a:t>
            </a:r>
          </a:p>
          <a:p>
            <a:pPr>
              <a:spcBef>
                <a:spcPts val="400"/>
              </a:spcBef>
            </a:pPr>
            <a:r>
              <a:rPr sz="1050">
                <a:solidFill>
                  <a:srgbClr val="222A3F"/>
                </a:solidFill>
                <a:latin typeface="Cambria"/>
              </a:rPr>
              <a:t>•  The hypothesis that the memory itself might be at fault came from a Qualcomm engineer during a recruiting conversation in October 2026.</a:t>
            </a:r>
          </a:p>
          <a:p>
            <a:pPr>
              <a:spcBef>
                <a:spcPts val="400"/>
              </a:spcBef>
            </a:pPr>
            <a:r>
              <a:rPr sz="1050">
                <a:solidFill>
                  <a:srgbClr val="222A3F"/>
                </a:solidFill>
                <a:latin typeface="Cambria"/>
              </a:rPr>
              <a:t>•  The investigation (sheets 13 to 18) was designed and run by the team with Claude (Anthropic) as an AI assistant: the AI drafted the experiment design, the flash-reading scripts and the analysis.</a:t>
            </a:r>
          </a:p>
          <a:p>
            <a:pPr>
              <a:spcBef>
                <a:spcPts val="400"/>
              </a:spcBef>
            </a:pPr>
            <a:r>
              <a:rPr sz="1050">
                <a:solidFill>
                  <a:srgbClr val="222A3F"/>
                </a:solidFill>
                <a:latin typeface="Cambria"/>
              </a:rPr>
              <a:t>•  Deo Grace Mwala ran every measurement on the team's radios, authorised each erase or write, and checked each result against the raw records.</a:t>
            </a:r>
          </a:p>
          <a:p>
            <a:pPr>
              <a:spcBef>
                <a:spcPts val="400"/>
              </a:spcBef>
            </a:pPr>
            <a:r>
              <a:rPr sz="1050">
                <a:solidFill>
                  <a:srgbClr val="222A3F"/>
                </a:solidFill>
                <a:latin typeface="Cambria"/>
              </a:rPr>
              <a:t>•  Every script and record is in the repository, so the measurements can be repeated without the 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64592" y="146304"/>
            <a:ext cx="11859768" cy="6565392"/>
          </a:xfrm>
          <a:prstGeom prst="rect">
            <a:avLst/>
          </a:prstGeom>
          <a:noFill/>
          <a:ln w="2222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4592" y="6272784"/>
            <a:ext cx="11859768" cy="12700"/>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45936"/>
            <a:ext cx="4206240" cy="292608"/>
          </a:xfrm>
          <a:prstGeom prst="rect">
            <a:avLst/>
          </a:prstGeom>
          <a:noFill/>
        </p:spPr>
        <p:txBody>
          <a:bodyPr wrap="square" lIns="0" rIns="0" tIns="0" bIns="0">
            <a:spAutoFit/>
          </a:bodyPr>
          <a:lstStyle/>
          <a:p>
            <a:pPr algn="l"/>
            <a:r>
              <a:rPr sz="900" b="0" i="0">
                <a:solidFill>
                  <a:srgbClr val="5E6B85"/>
                </a:solidFill>
                <a:latin typeface="Courier New"/>
              </a:rPr>
              <a:t>GROUP 9  |  OFF-GRID VEHICLE TRACKER</a:t>
            </a:r>
          </a:p>
        </p:txBody>
      </p:sp>
      <p:sp>
        <p:nvSpPr>
          <p:cNvPr id="5" name="TextBox 4"/>
          <p:cNvSpPr txBox="1"/>
          <p:nvPr/>
        </p:nvSpPr>
        <p:spPr>
          <a:xfrm>
            <a:off x="4572000" y="6345936"/>
            <a:ext cx="4206240" cy="292608"/>
          </a:xfrm>
          <a:prstGeom prst="rect">
            <a:avLst/>
          </a:prstGeom>
          <a:noFill/>
        </p:spPr>
        <p:txBody>
          <a:bodyPr wrap="square" lIns="0" rIns="0" tIns="0" bIns="0">
            <a:spAutoFit/>
          </a:bodyPr>
          <a:lstStyle/>
          <a:p>
            <a:pPr algn="ctr"/>
            <a:r>
              <a:rPr sz="900" b="0" i="0">
                <a:solidFill>
                  <a:srgbClr val="5E6B85"/>
                </a:solidFill>
                <a:latin typeface="Courier New"/>
              </a:rPr>
              <a:t>CLOSE</a:t>
            </a:r>
          </a:p>
        </p:txBody>
      </p:sp>
      <p:sp>
        <p:nvSpPr>
          <p:cNvPr id="6" name="TextBox 5"/>
          <p:cNvSpPr txBox="1"/>
          <p:nvPr/>
        </p:nvSpPr>
        <p:spPr>
          <a:xfrm>
            <a:off x="8869680" y="6345936"/>
            <a:ext cx="3017520" cy="292608"/>
          </a:xfrm>
          <a:prstGeom prst="rect">
            <a:avLst/>
          </a:prstGeom>
          <a:noFill/>
        </p:spPr>
        <p:txBody>
          <a:bodyPr wrap="square" lIns="0" rIns="0" tIns="0" bIns="0">
            <a:spAutoFit/>
          </a:bodyPr>
          <a:lstStyle/>
          <a:p>
            <a:pPr algn="r"/>
            <a:r>
              <a:rPr sz="900" b="0" i="0">
                <a:solidFill>
                  <a:srgbClr val="5E6B85"/>
                </a:solidFill>
                <a:latin typeface="Courier New"/>
              </a:rPr>
              <a:t>SHEET 21/21  REV D  2026-11-04</a:t>
            </a:r>
          </a:p>
        </p:txBody>
      </p:sp>
      <p:sp>
        <p:nvSpPr>
          <p:cNvPr id="7" name="Rectangle 6"/>
          <p:cNvSpPr/>
          <p:nvPr/>
        </p:nvSpPr>
        <p:spPr>
          <a:xfrm>
            <a:off x="9646920" y="347472"/>
            <a:ext cx="2148840" cy="420624"/>
          </a:xfrm>
          <a:prstGeom prst="rect">
            <a:avLst/>
          </a:prstGeom>
          <a:solidFill>
            <a:srgbClr val="FFFFFF"/>
          </a:solidFill>
          <a:ln w="19050">
            <a:solidFill>
              <a:srgbClr val="1199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402336"/>
            <a:ext cx="2148840" cy="310896"/>
          </a:xfrm>
          <a:prstGeom prst="rect">
            <a:avLst/>
          </a:prstGeom>
          <a:noFill/>
        </p:spPr>
        <p:txBody>
          <a:bodyPr wrap="square" lIns="0" rIns="0" tIns="0" bIns="0">
            <a:spAutoFit/>
          </a:bodyPr>
          <a:lstStyle/>
          <a:p>
            <a:pPr algn="ctr"/>
            <a:r>
              <a:rPr sz="1100" b="1" i="0">
                <a:solidFill>
                  <a:srgbClr val="1199BD"/>
                </a:solidFill>
                <a:latin typeface="Courier New"/>
              </a:rPr>
              <a:t>OWNER: DEO</a:t>
            </a:r>
          </a:p>
        </p:txBody>
      </p:sp>
      <p:sp>
        <p:nvSpPr>
          <p:cNvPr id="9" name="TextBox 8"/>
          <p:cNvSpPr txBox="1"/>
          <p:nvPr/>
        </p:nvSpPr>
        <p:spPr>
          <a:xfrm>
            <a:off x="457200" y="329184"/>
            <a:ext cx="9052560" cy="566928"/>
          </a:xfrm>
          <a:prstGeom prst="rect">
            <a:avLst/>
          </a:prstGeom>
          <a:noFill/>
        </p:spPr>
        <p:txBody>
          <a:bodyPr wrap="square" lIns="0" rIns="0" tIns="0" bIns="0">
            <a:spAutoFit/>
          </a:bodyPr>
          <a:lstStyle/>
          <a:p>
            <a:pPr algn="l"/>
            <a:r>
              <a:rPr sz="2300" b="1" i="0" spc="200">
                <a:solidFill>
                  <a:srgbClr val="16213D"/>
                </a:solidFill>
                <a:latin typeface="Cambria"/>
              </a:rPr>
              <a:t>THE ANSWER, AND WHAT THE FAILURES BOUGHT</a:t>
            </a:r>
          </a:p>
        </p:txBody>
      </p:sp>
      <p:sp>
        <p:nvSpPr>
          <p:cNvPr id="10" name="Rectangle 9"/>
          <p:cNvSpPr/>
          <p:nvPr/>
        </p:nvSpPr>
        <p:spPr>
          <a:xfrm>
            <a:off x="502920" y="1325880"/>
            <a:ext cx="11155680" cy="1417320"/>
          </a:xfrm>
          <a:prstGeom prst="rect">
            <a:avLst/>
          </a:prstGeom>
          <a:solidFill>
            <a:srgbClr val="F2F5FA"/>
          </a:solidFill>
          <a:ln w="15875">
            <a:solidFill>
              <a:srgbClr val="16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444752"/>
            <a:ext cx="10826496" cy="1179576"/>
          </a:xfrm>
          <a:prstGeom prst="rect">
            <a:avLst/>
          </a:prstGeom>
          <a:noFill/>
        </p:spPr>
        <p:txBody>
          <a:bodyPr wrap="square" lIns="0" rIns="0" tIns="0" bIns="0">
            <a:spAutoFit/>
          </a:bodyPr>
          <a:lstStyle/>
          <a:p>
            <a:r>
              <a:rPr sz="1500" b="1" spc="100">
                <a:solidFill>
                  <a:srgbClr val="16213D"/>
                </a:solidFill>
                <a:latin typeface="Cambria"/>
              </a:rPr>
              <a:t>IS IT THE MEMORY ITSELF?</a:t>
            </a:r>
          </a:p>
          <a:p>
            <a:pPr>
              <a:spcBef>
                <a:spcPts val="400"/>
              </a:spcBef>
            </a:pPr>
            <a:r>
              <a:rPr sz="1300">
                <a:solidFill>
                  <a:srgbClr val="222A3F"/>
                </a:solidFill>
                <a:latin typeface="Cambria"/>
              </a:rPr>
              <a:t>Partly, and measurably, but not as the question implies. SF's settings flash carried 21 sectors that would not hold a value; rewritten under a healthy supply they became perfect. The cells had been left half-written below the flash's 2.7 V minimum but above the 2.44 V reset point, a window the firmware never checks and then punishes with factory defaults.</a:t>
            </a:r>
          </a:p>
        </p:txBody>
      </p:sp>
      <p:sp>
        <p:nvSpPr>
          <p:cNvPr id="12" name="Rectangle 11"/>
          <p:cNvSpPr/>
          <p:nvPr/>
        </p:nvSpPr>
        <p:spPr>
          <a:xfrm>
            <a:off x="502920" y="29718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81528"/>
            <a:ext cx="3657600" cy="609600"/>
          </a:xfrm>
          <a:prstGeom prst="rect">
            <a:avLst/>
          </a:prstGeom>
          <a:noFill/>
        </p:spPr>
        <p:txBody>
          <a:bodyPr wrap="square" lIns="0" rIns="0" tIns="0" bIns="0">
            <a:spAutoFit/>
          </a:bodyPr>
          <a:lstStyle/>
          <a:p>
            <a:pPr algn="ctr"/>
            <a:r>
              <a:rPr sz="2400" b="1" i="0">
                <a:solidFill>
                  <a:srgbClr val="E58E1A"/>
                </a:solidFill>
                <a:latin typeface="Cambria"/>
              </a:rPr>
              <a:t>10</a:t>
            </a:r>
          </a:p>
        </p:txBody>
      </p:sp>
      <p:sp>
        <p:nvSpPr>
          <p:cNvPr id="14" name="TextBox 13"/>
          <p:cNvSpPr txBox="1"/>
          <p:nvPr/>
        </p:nvSpPr>
        <p:spPr>
          <a:xfrm>
            <a:off x="640080" y="3782568"/>
            <a:ext cx="3383280" cy="350520"/>
          </a:xfrm>
          <a:prstGeom prst="rect">
            <a:avLst/>
          </a:prstGeom>
          <a:noFill/>
        </p:spPr>
        <p:txBody>
          <a:bodyPr wrap="square" lIns="0" rIns="0" tIns="0" bIns="0">
            <a:spAutoFit/>
          </a:bodyPr>
          <a:lstStyle/>
          <a:p>
            <a:pPr algn="ctr"/>
            <a:r>
              <a:rPr sz="1100" b="0" i="0">
                <a:solidFill>
                  <a:srgbClr val="222A3F"/>
                </a:solidFill>
                <a:latin typeface="Cambria"/>
              </a:rPr>
              <a:t>root-caused failures, each with a written signature and recovery</a:t>
            </a:r>
          </a:p>
        </p:txBody>
      </p:sp>
      <p:sp>
        <p:nvSpPr>
          <p:cNvPr id="15" name="Rectangle 14"/>
          <p:cNvSpPr/>
          <p:nvPr/>
        </p:nvSpPr>
        <p:spPr>
          <a:xfrm>
            <a:off x="4251960" y="29718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3081528"/>
            <a:ext cx="3657600" cy="609600"/>
          </a:xfrm>
          <a:prstGeom prst="rect">
            <a:avLst/>
          </a:prstGeom>
          <a:noFill/>
        </p:spPr>
        <p:txBody>
          <a:bodyPr wrap="square" lIns="0" rIns="0" tIns="0" bIns="0">
            <a:spAutoFit/>
          </a:bodyPr>
          <a:lstStyle/>
          <a:p>
            <a:pPr algn="ctr"/>
            <a:r>
              <a:rPr sz="2400" b="1" i="0">
                <a:solidFill>
                  <a:srgbClr val="E58E1A"/>
                </a:solidFill>
                <a:latin typeface="Cambria"/>
              </a:rPr>
              <a:t>21 -&gt; 0</a:t>
            </a:r>
          </a:p>
        </p:txBody>
      </p:sp>
      <p:sp>
        <p:nvSpPr>
          <p:cNvPr id="17" name="TextBox 16"/>
          <p:cNvSpPr txBox="1"/>
          <p:nvPr/>
        </p:nvSpPr>
        <p:spPr>
          <a:xfrm>
            <a:off x="4389120" y="3782568"/>
            <a:ext cx="3383280" cy="350520"/>
          </a:xfrm>
          <a:prstGeom prst="rect">
            <a:avLst/>
          </a:prstGeom>
          <a:noFill/>
        </p:spPr>
        <p:txBody>
          <a:bodyPr wrap="square" lIns="0" rIns="0" tIns="0" bIns="0">
            <a:spAutoFit/>
          </a:bodyPr>
          <a:lstStyle/>
          <a:p>
            <a:pPr algn="ctr"/>
            <a:r>
              <a:rPr sz="1100" b="0" i="0">
                <a:solidFill>
                  <a:srgbClr val="222A3F"/>
                </a:solidFill>
                <a:latin typeface="Cambria"/>
              </a:rPr>
              <a:t>unstable flash sectors on SF; RG clean at 0</a:t>
            </a:r>
          </a:p>
        </p:txBody>
      </p:sp>
      <p:sp>
        <p:nvSpPr>
          <p:cNvPr id="18" name="Rectangle 17"/>
          <p:cNvSpPr/>
          <p:nvPr/>
        </p:nvSpPr>
        <p:spPr>
          <a:xfrm>
            <a:off x="8001000" y="29718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081528"/>
            <a:ext cx="3657600" cy="609600"/>
          </a:xfrm>
          <a:prstGeom prst="rect">
            <a:avLst/>
          </a:prstGeom>
          <a:noFill/>
        </p:spPr>
        <p:txBody>
          <a:bodyPr wrap="square" lIns="0" rIns="0" tIns="0" bIns="0">
            <a:spAutoFit/>
          </a:bodyPr>
          <a:lstStyle/>
          <a:p>
            <a:pPr algn="ctr"/>
            <a:r>
              <a:rPr sz="2400" b="1" i="0">
                <a:solidFill>
                  <a:srgbClr val="E58E1A"/>
                </a:solidFill>
                <a:latin typeface="Cambria"/>
              </a:rPr>
              <a:t>0</a:t>
            </a:r>
          </a:p>
        </p:txBody>
      </p:sp>
      <p:sp>
        <p:nvSpPr>
          <p:cNvPr id="20" name="TextBox 19"/>
          <p:cNvSpPr txBox="1"/>
          <p:nvPr/>
        </p:nvSpPr>
        <p:spPr>
          <a:xfrm>
            <a:off x="8138160" y="3782568"/>
            <a:ext cx="3383280" cy="350520"/>
          </a:xfrm>
          <a:prstGeom prst="rect">
            <a:avLst/>
          </a:prstGeom>
          <a:noFill/>
        </p:spPr>
        <p:txBody>
          <a:bodyPr wrap="square" lIns="0" rIns="0" tIns="0" bIns="0">
            <a:spAutoFit/>
          </a:bodyPr>
          <a:lstStyle/>
          <a:p>
            <a:pPr algn="ctr"/>
            <a:r>
              <a:rPr sz="1100" b="0" i="0">
                <a:solidFill>
                  <a:srgbClr val="222A3F"/>
                </a:solidFill>
                <a:latin typeface="Cambria"/>
              </a:rPr>
              <a:t>reflashes ever needed for a configuration failure</a:t>
            </a:r>
          </a:p>
        </p:txBody>
      </p:sp>
      <p:sp>
        <p:nvSpPr>
          <p:cNvPr id="21" name="Rectangle 20"/>
          <p:cNvSpPr/>
          <p:nvPr/>
        </p:nvSpPr>
        <p:spPr>
          <a:xfrm>
            <a:off x="502920" y="43434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453128"/>
            <a:ext cx="3657600" cy="609600"/>
          </a:xfrm>
          <a:prstGeom prst="rect">
            <a:avLst/>
          </a:prstGeom>
          <a:noFill/>
        </p:spPr>
        <p:txBody>
          <a:bodyPr wrap="square" lIns="0" rIns="0" tIns="0" bIns="0">
            <a:spAutoFit/>
          </a:bodyPr>
          <a:lstStyle/>
          <a:p>
            <a:pPr algn="ctr"/>
            <a:r>
              <a:rPr sz="2400" b="1" i="0">
                <a:solidFill>
                  <a:srgbClr val="E58E1A"/>
                </a:solidFill>
                <a:latin typeface="Cambria"/>
              </a:rPr>
              <a:t>90 s</a:t>
            </a:r>
          </a:p>
        </p:txBody>
      </p:sp>
      <p:sp>
        <p:nvSpPr>
          <p:cNvPr id="23" name="TextBox 22"/>
          <p:cNvSpPr txBox="1"/>
          <p:nvPr/>
        </p:nvSpPr>
        <p:spPr>
          <a:xfrm>
            <a:off x="640080" y="5154168"/>
            <a:ext cx="3383280" cy="350520"/>
          </a:xfrm>
          <a:prstGeom prst="rect">
            <a:avLst/>
          </a:prstGeom>
          <a:noFill/>
        </p:spPr>
        <p:txBody>
          <a:bodyPr wrap="square" lIns="0" rIns="0" tIns="0" bIns="0">
            <a:spAutoFit/>
          </a:bodyPr>
          <a:lstStyle/>
          <a:p>
            <a:pPr algn="ctr"/>
            <a:r>
              <a:rPr sz="1100" b="0" i="0">
                <a:solidFill>
                  <a:srgbClr val="222A3F"/>
                </a:solidFill>
                <a:latin typeface="Cambria"/>
              </a:rPr>
              <a:t>to recover a reverted radio; 2 s to detect one</a:t>
            </a:r>
          </a:p>
        </p:txBody>
      </p:sp>
      <p:sp>
        <p:nvSpPr>
          <p:cNvPr id="24" name="Rectangle 23"/>
          <p:cNvSpPr/>
          <p:nvPr/>
        </p:nvSpPr>
        <p:spPr>
          <a:xfrm>
            <a:off x="4251960" y="43434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4453128"/>
            <a:ext cx="3657600" cy="609600"/>
          </a:xfrm>
          <a:prstGeom prst="rect">
            <a:avLst/>
          </a:prstGeom>
          <a:noFill/>
        </p:spPr>
        <p:txBody>
          <a:bodyPr wrap="square" lIns="0" rIns="0" tIns="0" bIns="0">
            <a:spAutoFit/>
          </a:bodyPr>
          <a:lstStyle/>
          <a:p>
            <a:pPr algn="ctr"/>
            <a:r>
              <a:rPr sz="2400" b="1" i="0">
                <a:solidFill>
                  <a:srgbClr val="E58E1A"/>
                </a:solidFill>
                <a:latin typeface="Cambria"/>
              </a:rPr>
              <a:t>4.7 mi</a:t>
            </a:r>
          </a:p>
        </p:txBody>
      </p:sp>
      <p:sp>
        <p:nvSpPr>
          <p:cNvPr id="26" name="TextBox 25"/>
          <p:cNvSpPr txBox="1"/>
          <p:nvPr/>
        </p:nvSpPr>
        <p:spPr>
          <a:xfrm>
            <a:off x="4389120" y="5154168"/>
            <a:ext cx="3383280" cy="350520"/>
          </a:xfrm>
          <a:prstGeom prst="rect">
            <a:avLst/>
          </a:prstGeom>
          <a:noFill/>
        </p:spPr>
        <p:txBody>
          <a:bodyPr wrap="square" lIns="0" rIns="0" tIns="0" bIns="0">
            <a:spAutoFit/>
          </a:bodyPr>
          <a:lstStyle/>
          <a:p>
            <a:pPr algn="ctr"/>
            <a:r>
              <a:rPr sz="1100" b="0" i="0">
                <a:solidFill>
                  <a:srgbClr val="222A3F"/>
                </a:solidFill>
                <a:latin typeface="Cambria"/>
              </a:rPr>
              <a:t>measured reach; honest envelope 0.5 to 4.7 mi by terrain</a:t>
            </a:r>
          </a:p>
        </p:txBody>
      </p:sp>
      <p:sp>
        <p:nvSpPr>
          <p:cNvPr id="27" name="Rectangle 26"/>
          <p:cNvSpPr/>
          <p:nvPr/>
        </p:nvSpPr>
        <p:spPr>
          <a:xfrm>
            <a:off x="8001000" y="4343400"/>
            <a:ext cx="3657600" cy="1234440"/>
          </a:xfrm>
          <a:prstGeom prst="rect">
            <a:avLst/>
          </a:prstGeom>
          <a:solidFill>
            <a:srgbClr val="F2F5FA"/>
          </a:solidFill>
          <a:ln w="12700">
            <a:solidFill>
              <a:srgbClr val="9AA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4453128"/>
            <a:ext cx="3657600" cy="609600"/>
          </a:xfrm>
          <a:prstGeom prst="rect">
            <a:avLst/>
          </a:prstGeom>
          <a:noFill/>
        </p:spPr>
        <p:txBody>
          <a:bodyPr wrap="square" lIns="0" rIns="0" tIns="0" bIns="0">
            <a:spAutoFit/>
          </a:bodyPr>
          <a:lstStyle/>
          <a:p>
            <a:pPr algn="ctr"/>
            <a:r>
              <a:rPr sz="2400" b="1" i="0">
                <a:solidFill>
                  <a:srgbClr val="E58E1A"/>
                </a:solidFill>
                <a:latin typeface="Cambria"/>
              </a:rPr>
              <a:t>1 build</a:t>
            </a:r>
          </a:p>
        </p:txBody>
      </p:sp>
      <p:sp>
        <p:nvSpPr>
          <p:cNvPr id="29" name="TextBox 28"/>
          <p:cNvSpPr txBox="1"/>
          <p:nvPr/>
        </p:nvSpPr>
        <p:spPr>
          <a:xfrm>
            <a:off x="8138160" y="5154168"/>
            <a:ext cx="3383280" cy="350520"/>
          </a:xfrm>
          <a:prstGeom prst="rect">
            <a:avLst/>
          </a:prstGeom>
          <a:noFill/>
        </p:spPr>
        <p:txBody>
          <a:bodyPr wrap="square" lIns="0" rIns="0" tIns="0" bIns="0">
            <a:spAutoFit/>
          </a:bodyPr>
          <a:lstStyle/>
          <a:p>
            <a:pPr algn="ctr"/>
            <a:r>
              <a:rPr sz="1100" b="0" i="0">
                <a:solidFill>
                  <a:srgbClr val="222A3F"/>
                </a:solidFill>
                <a:latin typeface="Cambria"/>
              </a:rPr>
              <a:t>makes a future revert restore OUR configuration: proven on both radios</a:t>
            </a:r>
          </a:p>
        </p:txBody>
      </p:sp>
      <p:sp>
        <p:nvSpPr>
          <p:cNvPr id="30" name="Rectangle 29"/>
          <p:cNvSpPr/>
          <p:nvPr/>
        </p:nvSpPr>
        <p:spPr>
          <a:xfrm>
            <a:off x="502920" y="5715000"/>
            <a:ext cx="11155680" cy="384048"/>
          </a:xfrm>
          <a:prstGeom prst="rect">
            <a:avLst/>
          </a:prstGeom>
          <a:solidFill>
            <a:srgbClr val="16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769864"/>
            <a:ext cx="10698480" cy="274320"/>
          </a:xfrm>
          <a:prstGeom prst="rect">
            <a:avLst/>
          </a:prstGeom>
          <a:noFill/>
        </p:spPr>
        <p:txBody>
          <a:bodyPr wrap="square" lIns="0" rIns="0" tIns="0" bIns="0">
            <a:spAutoFit/>
          </a:bodyPr>
          <a:lstStyle/>
          <a:p>
            <a:pPr algn="ctr"/>
            <a:r>
              <a:rPr sz="1150" b="1" i="0">
                <a:solidFill>
                  <a:srgbClr val="FFFFFF"/>
                </a:solidFill>
                <a:latin typeface="Cambria"/>
              </a:rPr>
              <a:t>EVERY FAILURE BECAME A RULE; THE WORST ONE BECAME A MEASUREMENT, A REPAIR, AND A 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