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parts, one arc: the record of what broke, then the deepest dive we made into the failure that kept returning.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this is not a list of embarrassments, it is the verification record of a system that is honest about itself. Ten failures, ten rules.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Note how failures cluster right before tests - and how the same villain, battery death, returns three times.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None of these were in any datasheet. The boot-loop alone cost a day and taught us to trust the vendor's ESP-IDF config over its Arduino screenshot.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faults, one drive. Every one invisible on the bench. This is why we drove six more times.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identity rule and the verification rule. Both sound obvious; both were learned by losing a radio for an afternoon.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Idea 2 of the project - the name IS the frequency - was learned here. The debug ladder: config diff, matched-power tests, traceroute, regression on the default channel, then the hash math exposed the slot mismatch.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sheet is the hinge of the deck. Part I shows the pattern; Part II takes it apart. Do not pre-empt the answer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user-experience failures. Thirty seconds of night footage redesigned the main screen.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independent faults in one evening, diagnosed in forty minutes because every one had a written signature. The test ran the next morning.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display track's own verification record: the links and the firmware were fine; the data they rendered was bad because the radios' GPS receivers were indoors. The graph is parsed straight from the archived serial logs.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campaigns; each found what the previous one could not. The New Mexico drive was rained out, which is why the last weekend went into the radios instead.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 stale, green live. The 7:30 age reset is the finding: intermittent, not binary.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the deck in one table: ten failures, ten rules, every rule with an address in the codebase or the manual.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II answers one question: is it the memory itself? It ends with the fix that makes the failure harmless.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recruiter's suggestion is a testable hypothesis, not an opinion to argue with. State the three readings of 'the memory itself', what each would look like in data, and what each would require as a fix. The rest of the deck collects exactly that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protobuf files on a 3.4 MB LittleFS partition. Red boxes are the policy weaknesses in the vendor's code: the power gate that always returns true on ESP32, the one non-atomic file, the ignored close() result, and the load-failure path that installs factory defaults and saves them with no backup consulted. The green line is the one protection that exists: the low-battery deep sleep skips the write. Sources: NodeDB.cpp, SafeFile.cpp, PowerHAL.cpp, PowerFSM.cpp, sleep.cpp at the tag.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asymmetry to point out: the firmware refuses to write during its own low-battery shutdown, which proves the authors knew the danger, but it has no voltage check on the ordinary save path, and that path runs on every boot. On ESP32 the gate function is a weak default; no platform override exists in src/platform/esp32.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sector erase takes 50 ms. A 750 mA transmit pulse on a nearly flat cell can pull the rail through 2.7 V and back inside that window without ever reaching the 2.44 V reset. The datasheet states that VCC must be held within range during all operations. Between 2.44 and 2.7 V the CPU is alive, the write proceeds, and the result is undefined.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the first. The maintainers' reading matches ours. The nRF52 branch received a fix in 2026; the ESP32 branch we run did not. The community workaround on the last line becomes our fix 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predictions first, then the data. H2 and H3 both predict fixed unstable sectors; only the erase-and-reprogram test separates them, and it did.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by anyone with the repository: scripts under docs/src, records under docs/src/flash_forensics. The LittleFS image also proved the configuration in flash on measurement day was correct: Group9, 32-byte key, precision 32, CLIENT_MUTE, No PIN, 60/10/20/10 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 117 and 107 differing bytes between consecutive reads, 118 bits flipped in both directions, none inside erased areas, confined to 21 sectors with 12 carrying almost all of it. RG: zero. The live files on SF sat in clean sectors 25, 26 and 470 that day, which is why the radio was working; LittleFS wear-levelling would have moved them onto the bad ones eventually.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exact: the measurement establishes marginal cells in SF's settings partition on that day. Why they were marginal is the next two sheets.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on 27 October with authorisation. Sectors 57 and 31 were free in LittleFS (live data in 0, 1, 25, 26, 470), so nothing was lost; the radio booted normally afterwards. Record: docs/src/flash_forensics/decisive_test_2026-10-27.json. The control sector behaving identically validates the method.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end to end. The two-pass behaviour is the same reset-during-write race as the Sep 3 incident, seen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link is inferred rather than measured: the rail voltage during the event. An oscilloscope on the 3V3 pin during a transmit burst at 3.4 V cell voltage closes it; it is step 5 of the proof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1 is the community's own answer to #4555 and costs one build per radio. The key is compiled into a binary that lives only in the private repository. Fix 2 is a ten-line patch we would offer upstream.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security consideration: the channel key is compiled into the firmware image, which must stay in the private repository and never be published.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fix without a test is a hope. The flat-battery campaign is deliberately brutal: it reproduces the exact conditions of all three battery incidents, with the flash map read after every cycle.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bar. Then the ask: fix 1 is built; approve the flat-battery campaign that proves it before the next field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TESTS, FAILURES,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01/31  REV C  2026-10-27</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3400" b="1" i="0" spc="300">
                <a:solidFill>
                  <a:srgbClr val="16213D"/>
                </a:solidFill>
                <a:latin typeface="Cambria"/>
              </a:rPr>
              <a:t>WHAT BROKE, AND WHAT IT TAUGHT US</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600" b="1" i="0" spc="100">
                <a:solidFill>
                  <a:srgbClr val="E58E1A"/>
                </a:solidFill>
                <a:latin typeface="Cambria"/>
              </a:rPr>
              <a:t>THE TEST AND FAILURE RECORD, AND THE ONE FAILURE WE CHASED TO THE SILICON</a:t>
            </a:r>
          </a:p>
        </p:txBody>
      </p:sp>
      <p:sp>
        <p:nvSpPr>
          <p:cNvPr id="38" name="TextBox 37"/>
          <p:cNvSpPr txBox="1"/>
          <p:nvPr/>
        </p:nvSpPr>
        <p:spPr>
          <a:xfrm>
            <a:off x="658368" y="2331720"/>
            <a:ext cx="7315200" cy="1188720"/>
          </a:xfrm>
          <a:prstGeom prst="rect">
            <a:avLst/>
          </a:prstGeom>
          <a:noFill/>
        </p:spPr>
        <p:txBody>
          <a:bodyPr wrap="square" lIns="0" rIns="0" tIns="0" bIns="0">
            <a:spAutoFit/>
          </a:bodyPr>
          <a:lstStyle/>
          <a:p>
            <a:pPr algn="l"/>
            <a:r>
              <a:rPr sz="1300" b="0" i="0">
                <a:solidFill>
                  <a:srgbClr val="222A3F"/>
                </a:solidFill>
                <a:latin typeface="Cambria"/>
              </a:rPr>
              <a:t>Part I: eleven root-caused failures and seven test campaigns, each with the rule it left behind. Part II: the battery-death configuration loss, investigated to the flash cells with measurements on both radios, repaired, and fixed at the root.</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02/31  REV C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WHY THE FAILURES ARE THE DELIVERABLE</a:t>
            </a:r>
          </a:p>
        </p:txBody>
      </p:sp>
      <p:sp>
        <p:nvSpPr>
          <p:cNvPr id="8" name="Rectangle 7"/>
          <p:cNvSpPr/>
          <p:nvPr/>
        </p:nvSpPr>
        <p:spPr>
          <a:xfrm>
            <a:off x="502920" y="123444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10826496" cy="1179576"/>
          </a:xfrm>
          <a:prstGeom prst="rect">
            <a:avLst/>
          </a:prstGeom>
          <a:noFill/>
        </p:spPr>
        <p:txBody>
          <a:bodyPr wrap="square" lIns="0" rIns="0" tIns="0" bIns="0">
            <a:spAutoFit/>
          </a:bodyPr>
          <a:lstStyle/>
          <a:p>
            <a:r>
              <a:rPr sz="1400" b="1" spc="100">
                <a:solidFill>
                  <a:srgbClr val="16213D"/>
                </a:solidFill>
                <a:latin typeface="Cambria"/>
              </a:rPr>
              <a:t>A FAILURE IS ONLY USEFUL ONCE IT HAS A SIGNATURE</a:t>
            </a:r>
          </a:p>
          <a:p>
            <a:pPr>
              <a:spcBef>
                <a:spcPts val="400"/>
              </a:spcBef>
            </a:pPr>
            <a:r>
              <a:rPr sz="1300">
                <a:solidFill>
                  <a:srgbClr val="222A3F"/>
                </a:solidFill>
                <a:latin typeface="Cambria"/>
              </a:rPr>
              <a:t>Every entry in our catalog records the symptom, the root cause, and the recovery, so the next person recognizes it in minutes, not days. A failure that was merely survived is a failure that will happen again; one with a written signature is a test case.</a:t>
            </a:r>
          </a:p>
        </p:txBody>
      </p:sp>
      <p:sp>
        <p:nvSpPr>
          <p:cNvPr id="10" name="Rectangle 9"/>
          <p:cNvSpPr/>
          <p:nvPr/>
        </p:nvSpPr>
        <p:spPr>
          <a:xfrm>
            <a:off x="502920" y="2807208"/>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926080"/>
            <a:ext cx="10826496" cy="1179576"/>
          </a:xfrm>
          <a:prstGeom prst="rect">
            <a:avLst/>
          </a:prstGeom>
          <a:noFill/>
        </p:spPr>
        <p:txBody>
          <a:bodyPr wrap="square" lIns="0" rIns="0" tIns="0" bIns="0">
            <a:spAutoFit/>
          </a:bodyPr>
          <a:lstStyle/>
          <a:p>
            <a:r>
              <a:rPr sz="1400" b="1" spc="100">
                <a:solidFill>
                  <a:srgbClr val="16213D"/>
                </a:solidFill>
                <a:latin typeface="Cambria"/>
              </a:rPr>
              <a:t>EACH FAILURE PRODUCED A RULE OR A FEATURE</a:t>
            </a:r>
          </a:p>
          <a:p>
            <a:pPr>
              <a:spcBef>
                <a:spcPts val="400"/>
              </a:spcBef>
            </a:pPr>
            <a:r>
              <a:rPr sz="1300">
                <a:solidFill>
                  <a:srgbClr val="222A3F"/>
                </a:solidFill>
                <a:latin typeface="Cambria"/>
              </a:rPr>
              <a:t>Pre-flight checks, cadence-aware alarms, the course-up compass, the config snapshot, the LINK LOST alarm: none were in the original plan. All came from something breaking on a bench, on a road, or on a canyon rim, and all are now in the manuals.</a:t>
            </a:r>
          </a:p>
        </p:txBody>
      </p:sp>
      <p:sp>
        <p:nvSpPr>
          <p:cNvPr id="12" name="Rectangle 11"/>
          <p:cNvSpPr/>
          <p:nvPr/>
        </p:nvSpPr>
        <p:spPr>
          <a:xfrm>
            <a:off x="502920" y="4379976"/>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498848"/>
            <a:ext cx="10826496" cy="1179576"/>
          </a:xfrm>
          <a:prstGeom prst="rect">
            <a:avLst/>
          </a:prstGeom>
          <a:noFill/>
        </p:spPr>
        <p:txBody>
          <a:bodyPr wrap="square" lIns="0" rIns="0" tIns="0" bIns="0">
            <a:spAutoFit/>
          </a:bodyPr>
          <a:lstStyle/>
          <a:p>
            <a:r>
              <a:rPr sz="1400" b="1" spc="100">
                <a:solidFill>
                  <a:srgbClr val="16213D"/>
                </a:solidFill>
                <a:latin typeface="Cambria"/>
              </a:rPr>
              <a:t>FIELD EQUIPMENT FAILS BETWEEN OUTINGS</a:t>
            </a:r>
          </a:p>
          <a:p>
            <a:pPr>
              <a:spcBef>
                <a:spcPts val="400"/>
              </a:spcBef>
            </a:pPr>
            <a:r>
              <a:rPr sz="1300">
                <a:solidFill>
                  <a:srgbClr val="222A3F"/>
                </a:solidFill>
                <a:latin typeface="Cambria"/>
              </a:rPr>
              <a:t>The question is never whether; it is whether the team can diagnose it on a canyon rim with a phone. Three of ten failures struck the night before a test, and every one was cleared in time because the signature had already been written down.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03/31  REV C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SEMESTER ON ONE LINE</a:t>
            </a:r>
          </a:p>
        </p:txBody>
      </p:sp>
      <p:pic>
        <p:nvPicPr>
          <p:cNvPr id="8" name="Picture 7" descr="g_failtimeline.png"/>
          <p:cNvPicPr>
            <a:picLocks noChangeAspect="1"/>
          </p:cNvPicPr>
          <p:nvPr/>
        </p:nvPicPr>
        <p:blipFill>
          <a:blip r:embed="rId2"/>
          <a:stretch>
            <a:fillRect/>
          </a:stretch>
        </p:blipFill>
        <p:spPr>
          <a:xfrm>
            <a:off x="502920" y="1188720"/>
            <a:ext cx="11155680" cy="4732713"/>
          </a:xfrm>
          <a:prstGeom prst="rect">
            <a:avLst/>
          </a:prstGeom>
        </p:spPr>
      </p:pic>
      <p:sp>
        <p:nvSpPr>
          <p:cNvPr id="9" name="TextBox 8"/>
          <p:cNvSpPr txBox="1"/>
          <p:nvPr/>
        </p:nvSpPr>
        <p:spPr>
          <a:xfrm>
            <a:off x="502920" y="5897880"/>
            <a:ext cx="11155680" cy="320040"/>
          </a:xfrm>
          <a:prstGeom prst="rect">
            <a:avLst/>
          </a:prstGeom>
          <a:noFill/>
        </p:spPr>
        <p:txBody>
          <a:bodyPr wrap="square" lIns="0" rIns="0" tIns="0" bIns="0">
            <a:spAutoFit/>
          </a:bodyPr>
          <a:lstStyle/>
          <a:p>
            <a:pPr algn="ctr"/>
            <a:r>
              <a:rPr sz="1050" b="1" i="0">
                <a:solidFill>
                  <a:srgbClr val="5E6B85"/>
                </a:solidFill>
                <a:latin typeface="Courier New"/>
              </a:rPr>
              <a:t>RED: FAILURES, ROOT-CAUSED.  GREEN: TESTS.  THE HOLLOW TRIANGLE IS NEW MEXICO, PENDING.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1-3: BRING-UP, AUGUST 30-31</a:t>
            </a:r>
          </a:p>
        </p:txBody>
      </p:sp>
      <p:sp>
        <p:nvSpPr>
          <p:cNvPr id="10" name="Rectangle 9"/>
          <p:cNvSpPr/>
          <p:nvPr/>
        </p:nvSpPr>
        <p:spPr>
          <a:xfrm>
            <a:off x="502920" y="1234440"/>
            <a:ext cx="3657600" cy="224028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3328416" cy="2002536"/>
          </a:xfrm>
          <a:prstGeom prst="rect">
            <a:avLst/>
          </a:prstGeom>
          <a:noFill/>
        </p:spPr>
        <p:txBody>
          <a:bodyPr wrap="square" lIns="0" rIns="0" tIns="0" bIns="0">
            <a:spAutoFit/>
          </a:bodyPr>
          <a:lstStyle/>
          <a:p>
            <a:r>
              <a:rPr sz="1350" b="1" spc="100">
                <a:solidFill>
                  <a:srgbClr val="C43A4B"/>
                </a:solidFill>
                <a:latin typeface="Cambria"/>
              </a:rPr>
              <a:t>1. THE DISPLAY BOOT-LOOPED SILENTLY</a:t>
            </a:r>
          </a:p>
          <a:p>
            <a:pPr>
              <a:spcBef>
                <a:spcPts val="400"/>
              </a:spcBef>
            </a:pPr>
            <a:r>
              <a:rPr sz="1250">
                <a:solidFill>
                  <a:srgbClr val="222A3F"/>
                </a:solidFill>
                <a:latin typeface="Cambria"/>
              </a:rPr>
              <a:t>The official espressif32 platform (Arduino core 2.x) boot-loops this panel's chip revision. Fix: the pioarduino platform, dio_opi memory, dio flash mode. One full day to find.</a:t>
            </a:r>
          </a:p>
        </p:txBody>
      </p:sp>
      <p:sp>
        <p:nvSpPr>
          <p:cNvPr id="12" name="Rectangle 11"/>
          <p:cNvSpPr/>
          <p:nvPr/>
        </p:nvSpPr>
        <p:spPr>
          <a:xfrm>
            <a:off x="4325112" y="1234440"/>
            <a:ext cx="3657600" cy="224028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9703" y="1353312"/>
            <a:ext cx="3328416" cy="2002536"/>
          </a:xfrm>
          <a:prstGeom prst="rect">
            <a:avLst/>
          </a:prstGeom>
          <a:noFill/>
        </p:spPr>
        <p:txBody>
          <a:bodyPr wrap="square" lIns="0" rIns="0" tIns="0" bIns="0">
            <a:spAutoFit/>
          </a:bodyPr>
          <a:lstStyle/>
          <a:p>
            <a:r>
              <a:rPr sz="1350" b="1" spc="100">
                <a:solidFill>
                  <a:srgbClr val="C43A4B"/>
                </a:solidFill>
                <a:latin typeface="Cambria"/>
              </a:rPr>
              <a:t>2. A BONDED RADIO GOES INVISIBLE</a:t>
            </a:r>
          </a:p>
          <a:p>
            <a:pPr>
              <a:spcBef>
                <a:spcPts val="400"/>
              </a:spcBef>
            </a:pPr>
            <a:r>
              <a:rPr sz="1250">
                <a:solidFill>
                  <a:srgbClr val="222A3F"/>
                </a:solidFill>
                <a:latin typeface="Cambria"/>
              </a:rPr>
              <a:t>Store a BLE bond and the Meshtastic radio stops advertising to everyone, including its own peer. Fix: pair Just-Works on every connect, never store a bond, never deleteAllBonds() at boot.</a:t>
            </a:r>
          </a:p>
        </p:txBody>
      </p:sp>
      <p:sp>
        <p:nvSpPr>
          <p:cNvPr id="14" name="Rectangle 13"/>
          <p:cNvSpPr/>
          <p:nvPr/>
        </p:nvSpPr>
        <p:spPr>
          <a:xfrm>
            <a:off x="8147304" y="1234440"/>
            <a:ext cx="3657600" cy="224028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1353312"/>
            <a:ext cx="3328416" cy="2002536"/>
          </a:xfrm>
          <a:prstGeom prst="rect">
            <a:avLst/>
          </a:prstGeom>
          <a:noFill/>
        </p:spPr>
        <p:txBody>
          <a:bodyPr wrap="square" lIns="0" rIns="0" tIns="0" bIns="0">
            <a:spAutoFit/>
          </a:bodyPr>
          <a:lstStyle/>
          <a:p>
            <a:r>
              <a:rPr sz="1350" b="1" spc="100">
                <a:solidFill>
                  <a:srgbClr val="C43A4B"/>
                </a:solidFill>
                <a:latin typeface="Cambria"/>
              </a:rPr>
              <a:t>3. PIN PAIRING REJECTED US</a:t>
            </a:r>
          </a:p>
          <a:p>
            <a:pPr>
              <a:spcBef>
                <a:spcPts val="400"/>
              </a:spcBef>
            </a:pPr>
            <a:r>
              <a:rPr sz="1250">
                <a:solidFill>
                  <a:srgbClr val="222A3F"/>
                </a:solidFill>
                <a:latin typeface="Cambria"/>
              </a:rPr>
              <a:t>Default RANDOM_PIN mode fails our keypad-less display (SM confirm mismatch, rc=1284). Fix: radios run NO_PIN. This same setting is what reverts in failures 8 and 10.</a:t>
            </a:r>
          </a:p>
        </p:txBody>
      </p:sp>
      <p:sp>
        <p:nvSpPr>
          <p:cNvPr id="16" name="Rectangle 15"/>
          <p:cNvSpPr/>
          <p:nvPr/>
        </p:nvSpPr>
        <p:spPr>
          <a:xfrm>
            <a:off x="502920" y="3703320"/>
            <a:ext cx="11155680" cy="14630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822191"/>
            <a:ext cx="10826496" cy="1225296"/>
          </a:xfrm>
          <a:prstGeom prst="rect">
            <a:avLst/>
          </a:prstGeom>
          <a:noFill/>
        </p:spPr>
        <p:txBody>
          <a:bodyPr wrap="square" lIns="0" rIns="0" tIns="0" bIns="0">
            <a:spAutoFit/>
          </a:bodyPr>
          <a:lstStyle/>
          <a:p>
            <a:r>
              <a:rPr sz="1350" b="1" spc="100">
                <a:solidFill>
                  <a:srgbClr val="1F9D68"/>
                </a:solidFill>
                <a:latin typeface="Cambria"/>
              </a:rPr>
              <a:t>WHAT THEY BOUGHT</a:t>
            </a:r>
          </a:p>
          <a:p>
            <a:pPr>
              <a:spcBef>
                <a:spcPts val="400"/>
              </a:spcBef>
            </a:pPr>
            <a:r>
              <a:rPr sz="1200">
                <a:solidFill>
                  <a:srgbClr val="222A3F"/>
                </a:solidFill>
                <a:latin typeface="Cambria"/>
              </a:rPr>
              <a:t>The BLE link state machine with exactly one recovery path (any failure tears down to SCANNING), the ignition-on product flow, and the first entries of the scar catalog. The display has never wedged since.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05/31  REV C  2026-10-27</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 4: THE FIRST DRIVE TEST, SEPTEMBER 1</a:t>
            </a:r>
          </a:p>
        </p:txBody>
      </p:sp>
      <p:graphicFrame>
        <p:nvGraphicFramePr>
          <p:cNvPr id="10" name="Table 9"/>
          <p:cNvGraphicFramePr>
            <a:graphicFrameLocks noGrp="1"/>
          </p:cNvGraphicFramePr>
          <p:nvPr/>
        </p:nvGraphicFramePr>
        <p:xfrm>
          <a:off x="502920" y="1234440"/>
          <a:ext cx="11155680" cy="3291839"/>
        </p:xfrm>
        <a:graphic>
          <a:graphicData uri="http://schemas.openxmlformats.org/drawingml/2006/table">
            <a:tbl>
              <a:tblPr firstRow="1" bandRow="1">
                <a:tableStyleId>{5C22544A-7EE6-4342-B048-85BDC9FD1C3A}</a:tableStyleId>
              </a:tblPr>
              <a:tblGrid>
                <a:gridCol w="3291840"/>
                <a:gridCol w="4572000"/>
                <a:gridCol w="3291840"/>
              </a:tblGrid>
              <a:tr h="548639">
                <a:tc>
                  <a:txBody>
                    <a:bodyPr/>
                    <a:lstStyle/>
                    <a:p>
                      <a:r>
                        <a:rPr sz="1150" b="1">
                          <a:solidFill>
                            <a:srgbClr val="FFFFFF"/>
                          </a:solidFill>
                          <a:latin typeface="Cambria"/>
                        </a:rPr>
                        <a:t>Symptom on the road</a:t>
                      </a:r>
                    </a:p>
                  </a:txBody>
                  <a:tcPr marL="73152" marR="73152" marT="27432" marB="27432">
                    <a:solidFill>
                      <a:srgbClr val="16213D"/>
                    </a:solidFill>
                  </a:tcPr>
                </a:tc>
                <a:tc>
                  <a:txBody>
                    <a:bodyPr/>
                    <a:lstStyle/>
                    <a:p>
                      <a:r>
                        <a:rPr sz="1150" b="1">
                          <a:solidFill>
                            <a:srgbClr val="FFFFFF"/>
                          </a:solidFill>
                          <a:latin typeface="Cambria"/>
                        </a:rPr>
                        <a:t>Root cause</a:t>
                      </a:r>
                    </a:p>
                  </a:txBody>
                  <a:tcPr marL="73152" marR="73152" marT="27432" marB="27432">
                    <a:solidFill>
                      <a:srgbClr val="16213D"/>
                    </a:solidFill>
                  </a:tcPr>
                </a:tc>
                <a:tc>
                  <a:txBody>
                    <a:bodyPr/>
                    <a:lstStyle/>
                    <a:p>
                      <a:r>
                        <a:rPr sz="1150" b="1">
                          <a:solidFill>
                            <a:srgbClr val="FFFFFF"/>
                          </a:solidFill>
                          <a:latin typeface="Cambria"/>
                        </a:rPr>
                        <a:t>Fix</a:t>
                      </a:r>
                    </a:p>
                  </a:txBody>
                  <a:tcPr marL="73152" marR="73152" marT="27432" marB="27432">
                    <a:solidFill>
                      <a:srgbClr val="16213D"/>
                    </a:solidFill>
                  </a:tcPr>
                </a:tc>
              </a:tr>
              <a:tr h="548639">
                <a:tc>
                  <a:txBody>
                    <a:bodyPr/>
                    <a:lstStyle/>
                    <a:p>
                      <a:r>
                        <a:rPr sz="1150" b="0">
                          <a:solidFill>
                            <a:srgbClr val="222A3F"/>
                          </a:solidFill>
                          <a:latin typeface="Cambria"/>
                        </a:rPr>
                        <a:t>Partner position frozen on a 6 km grid</a:t>
                      </a:r>
                    </a:p>
                  </a:txBody>
                  <a:tcPr marL="73152" marR="73152" marT="27432" marB="27432">
                    <a:solidFill>
                      <a:srgbClr val="F2F5FA"/>
                    </a:solidFill>
                  </a:tcPr>
                </a:tc>
                <a:tc>
                  <a:txBody>
                    <a:bodyPr/>
                    <a:lstStyle/>
                    <a:p>
                      <a:r>
                        <a:rPr sz="1150" b="0">
                          <a:solidFill>
                            <a:srgbClr val="222A3F"/>
                          </a:solidFill>
                          <a:latin typeface="Cambria"/>
                        </a:rPr>
                        <a:t>Channel default position_precision = 13 truncates every broadcast</a:t>
                      </a:r>
                    </a:p>
                  </a:txBody>
                  <a:tcPr marL="73152" marR="73152" marT="27432" marB="27432">
                    <a:solidFill>
                      <a:srgbClr val="F2F5FA"/>
                    </a:solidFill>
                  </a:tcPr>
                </a:tc>
                <a:tc>
                  <a:txBody>
                    <a:bodyPr/>
                    <a:lstStyle/>
                    <a:p>
                      <a:r>
                        <a:rPr sz="1150" b="0">
                          <a:solidFill>
                            <a:srgbClr val="222A3F"/>
                          </a:solidFill>
                          <a:latin typeface="Cambria"/>
                        </a:rPr>
                        <a:t>Precision 32 (full) on the channel</a:t>
                      </a:r>
                    </a:p>
                  </a:txBody>
                  <a:tcPr marL="73152" marR="73152" marT="27432" marB="27432">
                    <a:solidFill>
                      <a:srgbClr val="F2F5FA"/>
                    </a:solidFill>
                  </a:tcPr>
                </a:tc>
              </a:tr>
              <a:tr h="548639">
                <a:tc>
                  <a:txBody>
                    <a:bodyPr/>
                    <a:lstStyle/>
                    <a:p>
                      <a:r>
                        <a:rPr sz="1150" b="0">
                          <a:solidFill>
                            <a:srgbClr val="222A3F"/>
                          </a:solidFill>
                          <a:latin typeface="Cambria"/>
                        </a:rPr>
                        <a:t>~4 minutes of apparent latency</a:t>
                      </a:r>
                    </a:p>
                  </a:txBody>
                  <a:tcPr marL="73152" marR="73152" marT="27432" marB="27432">
                    <a:solidFill>
                      <a:srgbClr val="FFFFFF"/>
                    </a:solidFill>
                  </a:tcPr>
                </a:tc>
                <a:tc>
                  <a:txBody>
                    <a:bodyPr/>
                    <a:lstStyle/>
                    <a:p>
                      <a:r>
                        <a:rPr sz="1150" b="0">
                          <a:solidFill>
                            <a:srgbClr val="222A3F"/>
                          </a:solidFill>
                          <a:latin typeface="Cambria"/>
                        </a:rPr>
                        <a:t>gps_update_interval default 120 s: fresh fixes only every two minutes</a:t>
                      </a:r>
                    </a:p>
                  </a:txBody>
                  <a:tcPr marL="73152" marR="73152" marT="27432" marB="27432">
                    <a:solidFill>
                      <a:srgbClr val="FFFFFF"/>
                    </a:solidFill>
                  </a:tcPr>
                </a:tc>
                <a:tc>
                  <a:txBody>
                    <a:bodyPr/>
                    <a:lstStyle/>
                    <a:p>
                      <a:r>
                        <a:rPr sz="1150" b="0">
                          <a:solidFill>
                            <a:srgbClr val="222A3F"/>
                          </a:solidFill>
                          <a:latin typeface="Cambria"/>
                        </a:rPr>
                        <a:t>GPS interval 10 s, broadcast 10 s moving</a:t>
                      </a:r>
                    </a:p>
                  </a:txBody>
                  <a:tcPr marL="73152" marR="73152" marT="27432" marB="27432">
                    <a:solidFill>
                      <a:srgbClr val="FFFFFF"/>
                    </a:solidFill>
                  </a:tcPr>
                </a:tc>
              </a:tr>
              <a:tr h="548639">
                <a:tc>
                  <a:txBody>
                    <a:bodyPr/>
                    <a:lstStyle/>
                    <a:p>
                      <a:r>
                        <a:rPr sz="1150" b="0">
                          <a:solidFill>
                            <a:srgbClr val="222A3F"/>
                          </a:solidFill>
                          <a:latin typeface="Cambria"/>
                        </a:rPr>
                        <a:t>Speeds wildly wrong</a:t>
                      </a:r>
                    </a:p>
                  </a:txBody>
                  <a:tcPr marL="73152" marR="73152" marT="27432" marB="27432">
                    <a:solidFill>
                      <a:srgbClr val="F2F5FA"/>
                    </a:solidFill>
                  </a:tcPr>
                </a:tc>
                <a:tc>
                  <a:txBody>
                    <a:bodyPr/>
                    <a:lstStyle/>
                    <a:p>
                      <a:r>
                        <a:rPr sz="1150" b="0">
                          <a:solidFill>
                            <a:srgbClr val="222A3F"/>
                          </a:solidFill>
                          <a:latin typeface="Cambria"/>
                        </a:rPr>
                        <a:t>Position.ground_speed is km/h on the wire, not m/s</a:t>
                      </a:r>
                    </a:p>
                  </a:txBody>
                  <a:tcPr marL="73152" marR="73152" marT="27432" marB="27432">
                    <a:solidFill>
                      <a:srgbClr val="F2F5FA"/>
                    </a:solidFill>
                  </a:tcPr>
                </a:tc>
                <a:tc>
                  <a:txBody>
                    <a:bodyPr/>
                    <a:lstStyle/>
                    <a:p>
                      <a:r>
                        <a:rPr sz="1150" b="0">
                          <a:solidFill>
                            <a:srgbClr val="222A3F"/>
                          </a:solidFill>
                          <a:latin typeface="Cambria"/>
                        </a:rPr>
                        <a:t>Decoder converts; display shows mph</a:t>
                      </a:r>
                    </a:p>
                  </a:txBody>
                  <a:tcPr marL="73152" marR="73152" marT="27432" marB="27432">
                    <a:solidFill>
                      <a:srgbClr val="F2F5FA"/>
                    </a:solidFill>
                  </a:tcPr>
                </a:tc>
              </a:tr>
              <a:tr h="548639">
                <a:tc>
                  <a:txBody>
                    <a:bodyPr/>
                    <a:lstStyle/>
                    <a:p>
                      <a:r>
                        <a:rPr sz="1150" b="0">
                          <a:solidFill>
                            <a:srgbClr val="222A3F"/>
                          </a:solidFill>
                          <a:latin typeface="Cambria"/>
                        </a:rPr>
                        <a:t>Parked car shows 1-3 mph</a:t>
                      </a:r>
                    </a:p>
                  </a:txBody>
                  <a:tcPr marL="73152" marR="73152" marT="27432" marB="27432">
                    <a:solidFill>
                      <a:srgbClr val="FFFFFF"/>
                    </a:solidFill>
                  </a:tcPr>
                </a:tc>
                <a:tc>
                  <a:txBody>
                    <a:bodyPr/>
                    <a:lstStyle/>
                    <a:p>
                      <a:r>
                        <a:rPr sz="1150" b="0">
                          <a:solidFill>
                            <a:srgbClr val="222A3F"/>
                          </a:solidFill>
                          <a:latin typeface="Cambria"/>
                        </a:rPr>
                        <a:t>GPS jitter reported as speed</a:t>
                      </a:r>
                    </a:p>
                  </a:txBody>
                  <a:tcPr marL="73152" marR="73152" marT="27432" marB="27432">
                    <a:solidFill>
                      <a:srgbClr val="FFFFFF"/>
                    </a:solidFill>
                  </a:tcPr>
                </a:tc>
                <a:tc>
                  <a:txBody>
                    <a:bodyPr/>
                    <a:lstStyle/>
                    <a:p>
                      <a:r>
                        <a:rPr sz="1150" b="0">
                          <a:solidFill>
                            <a:srgbClr val="222A3F"/>
                          </a:solidFill>
                          <a:latin typeface="Cambria"/>
                        </a:rPr>
                        <a:t>4.5 km/h deadband in the node table</a:t>
                      </a:r>
                    </a:p>
                  </a:txBody>
                  <a:tcPr marL="73152" marR="73152" marT="27432" marB="27432">
                    <a:solidFill>
                      <a:srgbClr val="FFFFFF"/>
                    </a:solidFill>
                  </a:tcPr>
                </a:tc>
              </a:tr>
              <a:tr h="548644">
                <a:tc>
                  <a:txBody>
                    <a:bodyPr/>
                    <a:lstStyle/>
                    <a:p>
                      <a:r>
                        <a:rPr sz="1150" b="0">
                          <a:solidFill>
                            <a:srgbClr val="222A3F"/>
                          </a:solidFill>
                          <a:latin typeface="Cambria"/>
                        </a:rPr>
                        <a:t>Clock an hour off</a:t>
                      </a:r>
                    </a:p>
                  </a:txBody>
                  <a:tcPr marL="73152" marR="73152" marT="27432" marB="27432">
                    <a:solidFill>
                      <a:srgbClr val="F2F5FA"/>
                    </a:solidFill>
                  </a:tcPr>
                </a:tc>
                <a:tc>
                  <a:txBody>
                    <a:bodyPr/>
                    <a:lstStyle/>
                    <a:p>
                      <a:r>
                        <a:rPr sz="1150" b="0">
                          <a:solidFill>
                            <a:srgbClr val="222A3F"/>
                          </a:solidFill>
                          <a:latin typeface="Cambria"/>
                        </a:rPr>
                        <a:t>West Texas is Central time; the CT/MT line is not at -97.5</a:t>
                      </a:r>
                    </a:p>
                  </a:txBody>
                  <a:tcPr marL="73152" marR="73152" marT="27432" marB="27432">
                    <a:solidFill>
                      <a:srgbClr val="F2F5FA"/>
                    </a:solidFill>
                  </a:tcPr>
                </a:tc>
                <a:tc>
                  <a:txBody>
                    <a:bodyPr/>
                    <a:lstStyle/>
                    <a:p>
                      <a:r>
                        <a:rPr sz="1150" b="0">
                          <a:solidFill>
                            <a:srgbClr val="222A3F"/>
                          </a:solidFill>
                          <a:latin typeface="Cambria"/>
                        </a:rPr>
                        <a:t>Timezone bands carried to the TX/NM border</a:t>
                      </a:r>
                    </a:p>
                  </a:txBody>
                  <a:tcPr marL="73152" marR="73152" marT="27432" marB="27432">
                    <a:solidFill>
                      <a:srgbClr val="F2F5FA"/>
                    </a:solidFill>
                  </a:tcPr>
                </a:tc>
              </a:tr>
            </a:tbl>
          </a:graphicData>
        </a:graphic>
      </p:graphicFrame>
      <p:sp>
        <p:nvSpPr>
          <p:cNvPr id="11" name="TextBox 10"/>
          <p:cNvSpPr txBox="1"/>
          <p:nvPr/>
        </p:nvSpPr>
        <p:spPr>
          <a:xfrm>
            <a:off x="502920" y="4937760"/>
            <a:ext cx="11155680" cy="914400"/>
          </a:xfrm>
          <a:prstGeom prst="rect">
            <a:avLst/>
          </a:prstGeom>
          <a:noFill/>
        </p:spPr>
        <p:txBody>
          <a:bodyPr wrap="square" lIns="0" rIns="0" tIns="0" bIns="0">
            <a:spAutoFit/>
          </a:bodyPr>
          <a:lstStyle/>
          <a:p>
            <a:pPr algn="l"/>
            <a:r>
              <a:rPr sz="1250" b="0" i="0">
                <a:solidFill>
                  <a:srgbClr val="222A3F"/>
                </a:solidFill>
                <a:latin typeface="Cambria"/>
              </a:rPr>
              <a:t>The lesson that outlived the fixes: windowsill tests cannot find any of these. Smart broadcast, GPS refresh, precision quantization and speed units only show while actually driving. Every later feature was validated on the road.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5-6: WRONG FLASH, LYING CLI (SEP 3)</a:t>
            </a:r>
          </a:p>
        </p:txBody>
      </p:sp>
      <p:sp>
        <p:nvSpPr>
          <p:cNvPr id="10" name="Rectangle 9"/>
          <p:cNvSpPr/>
          <p:nvPr/>
        </p:nvSpPr>
        <p:spPr>
          <a:xfrm>
            <a:off x="502920" y="1234440"/>
            <a:ext cx="5486400" cy="21031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5157216" cy="1865376"/>
          </a:xfrm>
          <a:prstGeom prst="rect">
            <a:avLst/>
          </a:prstGeom>
          <a:noFill/>
        </p:spPr>
        <p:txBody>
          <a:bodyPr wrap="square" lIns="0" rIns="0" tIns="0" bIns="0">
            <a:spAutoFit/>
          </a:bodyPr>
          <a:lstStyle/>
          <a:p>
            <a:r>
              <a:rPr sz="1350" b="1" spc="100">
                <a:solidFill>
                  <a:srgbClr val="C43A4B"/>
                </a:solidFill>
                <a:latin typeface="Cambria"/>
              </a:rPr>
              <a:t>5. DISPLAY FIRMWARE FLASHED ONTO A RADIO</a:t>
            </a:r>
          </a:p>
          <a:p>
            <a:pPr>
              <a:spcBef>
                <a:spcPts val="400"/>
              </a:spcBef>
            </a:pPr>
            <a:r>
              <a:rPr sz="1150">
                <a:solidFill>
                  <a:srgbClr val="222A3F"/>
                </a:solidFill>
                <a:latin typeface="Cambria"/>
              </a:rPr>
              <a:t>Both boards share USB ID 303A:1001; an auto-picked COM port put our firmware on the Heltec and erased Meshtastic. Seeing display logs proved nothing about WHICH board was flashed. Recovery: esptool erase, factory image, full re-provision. The node number survives (MAC-derived), so the display reconnected unchanged.</a:t>
            </a:r>
          </a:p>
        </p:txBody>
      </p:sp>
      <p:sp>
        <p:nvSpPr>
          <p:cNvPr id="12" name="Rectangle 11"/>
          <p:cNvSpPr/>
          <p:nvPr/>
        </p:nvSpPr>
        <p:spPr>
          <a:xfrm>
            <a:off x="6172200" y="1234440"/>
            <a:ext cx="5486400" cy="21031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1353312"/>
            <a:ext cx="5157216" cy="1865376"/>
          </a:xfrm>
          <a:prstGeom prst="rect">
            <a:avLst/>
          </a:prstGeom>
          <a:noFill/>
        </p:spPr>
        <p:txBody>
          <a:bodyPr wrap="square" lIns="0" rIns="0" tIns="0" bIns="0">
            <a:spAutoFit/>
          </a:bodyPr>
          <a:lstStyle/>
          <a:p>
            <a:r>
              <a:rPr sz="1350" b="1" spc="100">
                <a:solidFill>
                  <a:srgbClr val="C43A4B"/>
                </a:solidFill>
                <a:latin typeface="Cambria"/>
              </a:rPr>
              <a:t>6. A CONFIG WRITE THAT SILENTLY REVERTED</a:t>
            </a:r>
          </a:p>
          <a:p>
            <a:pPr>
              <a:spcBef>
                <a:spcPts val="400"/>
              </a:spcBef>
            </a:pPr>
            <a:r>
              <a:rPr sz="1150">
                <a:solidFill>
                  <a:srgbClr val="222A3F"/>
                </a:solidFill>
                <a:latin typeface="Cambria"/>
              </a:rPr>
              <a:t>The CLI's port-close toggles DTR/RTS, hard-resetting the ESP32 mid-save. The write 'succeeds'; the next read shows the old value. Reboot-triggering settings (region, Bluetooth mode) are the usual victims, and nothing on the radio's screen changes.</a:t>
            </a:r>
          </a:p>
        </p:txBody>
      </p:sp>
      <p:sp>
        <p:nvSpPr>
          <p:cNvPr id="14" name="Rectangle 13"/>
          <p:cNvSpPr/>
          <p:nvPr/>
        </p:nvSpPr>
        <p:spPr>
          <a:xfrm>
            <a:off x="502920" y="3566160"/>
            <a:ext cx="11155680" cy="16459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3685032"/>
            <a:ext cx="10826496" cy="1408176"/>
          </a:xfrm>
          <a:prstGeom prst="rect">
            <a:avLst/>
          </a:prstGeom>
          <a:noFill/>
        </p:spPr>
        <p:txBody>
          <a:bodyPr wrap="square" lIns="0" rIns="0" tIns="0" bIns="0">
            <a:spAutoFit/>
          </a:bodyPr>
          <a:lstStyle/>
          <a:p>
            <a:r>
              <a:rPr sz="1350" b="1" spc="100">
                <a:solidFill>
                  <a:srgbClr val="1F9D68"/>
                </a:solidFill>
                <a:latin typeface="Cambria"/>
              </a:rPr>
              <a:t>RULES THAT CAME OUT OF IT</a:t>
            </a:r>
          </a:p>
          <a:p>
            <a:pPr>
              <a:spcBef>
                <a:spcPts val="400"/>
              </a:spcBef>
            </a:pPr>
            <a:r>
              <a:rPr sz="1200">
                <a:solidFill>
                  <a:srgbClr val="222A3F"/>
                </a:solidFill>
                <a:latin typeface="Cambria"/>
              </a:rPr>
              <a:t>Identify every board by its MAC (SER=) before touching it - never let a tool pick the port. Verify every config write by read-back AND on the radio's own screen. For stubborn values, use the Python API holding the port open. Both rules are now steps in the manual's flashing procedure.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07/31  REV C  2026-10-27</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 7: "0 ONLINE", SAME CONFIGS (SEP 25)</a:t>
            </a:r>
          </a:p>
        </p:txBody>
      </p:sp>
      <p:sp>
        <p:nvSpPr>
          <p:cNvPr id="10" name="Rectangle 9"/>
          <p:cNvSpPr/>
          <p:nvPr/>
        </p:nvSpPr>
        <p:spPr>
          <a:xfrm>
            <a:off x="502920" y="1234440"/>
            <a:ext cx="5486400" cy="228600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5157216" cy="2048256"/>
          </a:xfrm>
          <a:prstGeom prst="rect">
            <a:avLst/>
          </a:prstGeom>
          <a:noFill/>
        </p:spPr>
        <p:txBody>
          <a:bodyPr wrap="square" lIns="0" rIns="0" tIns="0" bIns="0">
            <a:spAutoFit/>
          </a:bodyPr>
          <a:lstStyle/>
          <a:p>
            <a:r>
              <a:rPr sz="1350" b="1" spc="100">
                <a:solidFill>
                  <a:srgbClr val="C43A4B"/>
                </a:solidFill>
                <a:latin typeface="Cambria"/>
              </a:rPr>
              <a:t>THE SYMPTOM</a:t>
            </a:r>
          </a:p>
          <a:p>
            <a:pPr>
              <a:spcBef>
                <a:spcPts val="400"/>
              </a:spcBef>
            </a:pPr>
            <a:r>
              <a:rPr sz="1200">
                <a:solidFill>
                  <a:srgbClr val="222A3F"/>
                </a:solidFill>
                <a:latin typeface="Cambria"/>
              </a:rPr>
              <a:t>Two radios, same key, every config read-back identical, zero channel utilization, traceroute MAX_RETRANSMIT - total mutual silence. Every instrument said RF failure, and both radios' screens looked perfectly healthy.</a:t>
            </a:r>
          </a:p>
        </p:txBody>
      </p:sp>
      <p:sp>
        <p:nvSpPr>
          <p:cNvPr id="12" name="Rectangle 11"/>
          <p:cNvSpPr/>
          <p:nvPr/>
        </p:nvSpPr>
        <p:spPr>
          <a:xfrm>
            <a:off x="6172200" y="1234440"/>
            <a:ext cx="5486400" cy="228600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1353312"/>
            <a:ext cx="5157216" cy="2048256"/>
          </a:xfrm>
          <a:prstGeom prst="rect">
            <a:avLst/>
          </a:prstGeom>
          <a:noFill/>
        </p:spPr>
        <p:txBody>
          <a:bodyPr wrap="square" lIns="0" rIns="0" tIns="0" bIns="0">
            <a:spAutoFit/>
          </a:bodyPr>
          <a:lstStyle/>
          <a:p>
            <a:r>
              <a:rPr sz="1350" b="1" spc="100">
                <a:solidFill>
                  <a:srgbClr val="C43A4B"/>
                </a:solidFill>
                <a:latin typeface="Cambria"/>
              </a:rPr>
              <a:t>THE ROOT CAUSE</a:t>
            </a:r>
          </a:p>
          <a:p>
            <a:pPr>
              <a:spcBef>
                <a:spcPts val="400"/>
              </a:spcBef>
            </a:pPr>
            <a:r>
              <a:rPr sz="1200">
                <a:solidFill>
                  <a:srgbClr val="222A3F"/>
                </a:solidFill>
                <a:latin typeface="Cambria"/>
              </a:rPr>
              <a:t>Meshtastic derives the frequency from a hash of the channel name: slot = djb2(name) mod 104. One channel write had silently reverted, so one radio sat on the public slot (906.875 MHz) and the other on Group9's slot 43 (912.875). Same key, different frequencies: nothing couples.</a:t>
            </a:r>
          </a:p>
        </p:txBody>
      </p:sp>
      <p:sp>
        <p:nvSpPr>
          <p:cNvPr id="14" name="Rectangle 13"/>
          <p:cNvSpPr/>
          <p:nvPr/>
        </p:nvSpPr>
        <p:spPr>
          <a:xfrm>
            <a:off x="502920" y="3749039"/>
            <a:ext cx="11155680" cy="14630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3840479"/>
            <a:ext cx="10826496" cy="274320"/>
          </a:xfrm>
          <a:prstGeom prst="rect">
            <a:avLst/>
          </a:prstGeom>
          <a:noFill/>
        </p:spPr>
        <p:txBody>
          <a:bodyPr wrap="square" lIns="0" rIns="0" tIns="0" bIns="0">
            <a:spAutoFit/>
          </a:bodyPr>
          <a:lstStyle/>
          <a:p>
            <a:pPr algn="l"/>
            <a:r>
              <a:rPr sz="1000" b="1" i="0">
                <a:solidFill>
                  <a:srgbClr val="E58E1A"/>
                </a:solidFill>
                <a:latin typeface="Courier New"/>
              </a:rPr>
              <a:t>THE TWO-SECOND PRE-FLIGHT THAT CAME OUT OF IT</a:t>
            </a:r>
          </a:p>
        </p:txBody>
      </p:sp>
      <p:sp>
        <p:nvSpPr>
          <p:cNvPr id="16" name="TextBox 15"/>
          <p:cNvSpPr txBox="1"/>
          <p:nvPr/>
        </p:nvSpPr>
        <p:spPr>
          <a:xfrm>
            <a:off x="667512" y="4133087"/>
            <a:ext cx="10826496" cy="1005840"/>
          </a:xfrm>
          <a:prstGeom prst="rect">
            <a:avLst/>
          </a:prstGeom>
          <a:noFill/>
        </p:spPr>
        <p:txBody>
          <a:bodyPr wrap="square" lIns="0" rIns="0" tIns="0" bIns="0">
            <a:spAutoFit/>
          </a:bodyPr>
          <a:lstStyle/>
          <a:p>
            <a:r>
              <a:rPr sz="1100">
                <a:solidFill>
                  <a:srgbClr val="C9D8F0"/>
                </a:solidFill>
                <a:latin typeface="Courier New"/>
              </a:rPr>
              <a:t>Both OLED LoRa screens must read  912.875 MHz  before any test or drive.</a:t>
            </a:r>
          </a:p>
          <a:p>
            <a:r>
              <a:rPr sz="1100">
                <a:solidFill>
                  <a:srgbClr val="5E6B85"/>
                </a:solidFill>
                <a:latin typeface="Courier New"/>
              </a:rPr>
              <a:t>The screen is ground truth. The CLI can read back the intended config while the radio still radiates on the old slot.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8-10: BATTERY DEATH REVERTS CONFIG</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The failure that kept coming back, and the one chased to the silicon in Part II.</a:t>
            </a:r>
          </a:p>
        </p:txBody>
      </p:sp>
      <p:graphicFrame>
        <p:nvGraphicFramePr>
          <p:cNvPr id="11" name="Table 10"/>
          <p:cNvGraphicFramePr>
            <a:graphicFrameLocks noGrp="1"/>
          </p:cNvGraphicFramePr>
          <p:nvPr/>
        </p:nvGraphicFramePr>
        <p:xfrm>
          <a:off x="502920" y="1371600"/>
          <a:ext cx="11155680" cy="2194560"/>
        </p:xfrm>
        <a:graphic>
          <a:graphicData uri="http://schemas.openxmlformats.org/drawingml/2006/table">
            <a:tbl>
              <a:tblPr firstRow="1" bandRow="1">
                <a:tableStyleId>{5C22544A-7EE6-4342-B048-85BDC9FD1C3A}</a:tableStyleId>
              </a:tblPr>
              <a:tblGrid>
                <a:gridCol w="1005840"/>
                <a:gridCol w="914400"/>
                <a:gridCol w="5394960"/>
                <a:gridCol w="3840480"/>
              </a:tblGrid>
              <a:tr h="548640">
                <a:tc>
                  <a:txBody>
                    <a:bodyPr/>
                    <a:lstStyle/>
                    <a:p>
                      <a:r>
                        <a:rPr sz="1100" b="1">
                          <a:solidFill>
                            <a:srgbClr val="FFFFFF"/>
                          </a:solidFill>
                          <a:latin typeface="Cambria"/>
                        </a:rPr>
                        <a:t>Date</a:t>
                      </a:r>
                    </a:p>
                  </a:txBody>
                  <a:tcPr marL="73152" marR="73152" marT="27432" marB="27432">
                    <a:solidFill>
                      <a:srgbClr val="16213D"/>
                    </a:solidFill>
                  </a:tcPr>
                </a:tc>
                <a:tc>
                  <a:txBody>
                    <a:bodyPr/>
                    <a:lstStyle/>
                    <a:p>
                      <a:r>
                        <a:rPr sz="1100" b="1">
                          <a:solidFill>
                            <a:srgbClr val="FFFFFF"/>
                          </a:solidFill>
                          <a:latin typeface="Cambria"/>
                        </a:rPr>
                        <a:t>Radio</a:t>
                      </a:r>
                    </a:p>
                  </a:txBody>
                  <a:tcPr marL="73152" marR="73152" marT="27432" marB="27432">
                    <a:solidFill>
                      <a:srgbClr val="16213D"/>
                    </a:solidFill>
                  </a:tcPr>
                </a:tc>
                <a:tc>
                  <a:txBody>
                    <a:bodyPr/>
                    <a:lstStyle/>
                    <a:p>
                      <a:r>
                        <a:rPr sz="1100" b="1">
                          <a:solidFill>
                            <a:srgbClr val="FFFFFF"/>
                          </a:solidFill>
                          <a:latin typeface="Cambria"/>
                        </a:rPr>
                        <a:t>What reverted</a:t>
                      </a:r>
                    </a:p>
                  </a:txBody>
                  <a:tcPr marL="73152" marR="73152" marT="27432" marB="27432">
                    <a:solidFill>
                      <a:srgbClr val="16213D"/>
                    </a:solidFill>
                  </a:tcPr>
                </a:tc>
                <a:tc>
                  <a:txBody>
                    <a:bodyPr/>
                    <a:lstStyle/>
                    <a:p>
                      <a:r>
                        <a:rPr sz="1100" b="1">
                          <a:solidFill>
                            <a:srgbClr val="FFFFFF"/>
                          </a:solidFill>
                          <a:latin typeface="Cambria"/>
                        </a:rPr>
                        <a:t>How it was found</a:t>
                      </a:r>
                    </a:p>
                  </a:txBody>
                  <a:tcPr marL="73152" marR="73152" marT="27432" marB="27432">
                    <a:solidFill>
                      <a:srgbClr val="16213D"/>
                    </a:solidFill>
                  </a:tcPr>
                </a:tc>
              </a:tr>
              <a:tr h="548640">
                <a:tc>
                  <a:txBody>
                    <a:bodyPr/>
                    <a:lstStyle/>
                    <a:p>
                      <a:r>
                        <a:rPr sz="1100" b="0">
                          <a:solidFill>
                            <a:srgbClr val="222A3F"/>
                          </a:solidFill>
                          <a:latin typeface="Cambria"/>
                        </a:rPr>
                        <a:t>Sep 30</a:t>
                      </a:r>
                    </a:p>
                  </a:txBody>
                  <a:tcPr marL="73152" marR="73152" marT="27432" marB="27432">
                    <a:solidFill>
                      <a:srgbClr val="F2F5FA"/>
                    </a:solidFill>
                  </a:tcPr>
                </a:tc>
                <a:tc>
                  <a:txBody>
                    <a:bodyPr/>
                    <a:lstStyle/>
                    <a:p>
                      <a:r>
                        <a:rPr sz="1100" b="0">
                          <a:solidFill>
                            <a:srgbClr val="222A3F"/>
                          </a:solidFill>
                          <a:latin typeface="Cambria"/>
                        </a:rPr>
                        <a:t>Both</a:t>
                      </a:r>
                    </a:p>
                  </a:txBody>
                  <a:tcPr marL="73152" marR="73152" marT="27432" marB="27432">
                    <a:solidFill>
                      <a:srgbClr val="F2F5FA"/>
                    </a:solidFill>
                  </a:tcPr>
                </a:tc>
                <a:tc>
                  <a:txBody>
                    <a:bodyPr/>
                    <a:lstStyle/>
                    <a:p>
                      <a:r>
                        <a:rPr sz="1100" b="0">
                          <a:solidFill>
                            <a:srgbClr val="222A3F"/>
                          </a:solidFill>
                          <a:latin typeface="Cambria"/>
                        </a:rPr>
                        <a:t>RG: channels. SF: everything (channel, role, Bluetooth, telemetry, owner)</a:t>
                      </a:r>
                    </a:p>
                  </a:txBody>
                  <a:tcPr marL="73152" marR="73152" marT="27432" marB="27432">
                    <a:solidFill>
                      <a:srgbClr val="F2F5FA"/>
                    </a:solidFill>
                  </a:tcPr>
                </a:tc>
                <a:tc>
                  <a:txBody>
                    <a:bodyPr/>
                    <a:lstStyle/>
                    <a:p>
                      <a:r>
                        <a:rPr sz="1100" b="0">
                          <a:solidFill>
                            <a:srgbClr val="222A3F"/>
                          </a:solidFill>
                          <a:latin typeface="Cambria"/>
                        </a:rPr>
                        <a:t>Healthy screens, total silence</a:t>
                      </a:r>
                    </a:p>
                  </a:txBody>
                  <a:tcPr marL="73152" marR="73152" marT="27432" marB="27432">
                    <a:solidFill>
                      <a:srgbClr val="F2F5FA"/>
                    </a:solidFill>
                  </a:tcPr>
                </a:tc>
              </a:tr>
              <a:tr h="548640">
                <a:tc>
                  <a:txBody>
                    <a:bodyPr/>
                    <a:lstStyle/>
                    <a:p>
                      <a:r>
                        <a:rPr sz="1100" b="0">
                          <a:solidFill>
                            <a:srgbClr val="222A3F"/>
                          </a:solidFill>
                          <a:latin typeface="Cambria"/>
                        </a:rPr>
                        <a:t>Oct 17</a:t>
                      </a:r>
                    </a:p>
                  </a:txBody>
                  <a:tcPr marL="73152" marR="73152" marT="27432" marB="27432">
                    <a:solidFill>
                      <a:srgbClr val="FFFFFF"/>
                    </a:solidFill>
                  </a:tcPr>
                </a:tc>
                <a:tc>
                  <a:txBody>
                    <a:bodyPr/>
                    <a:lstStyle/>
                    <a:p>
                      <a:r>
                        <a:rPr sz="1100" b="0">
                          <a:solidFill>
                            <a:srgbClr val="222A3F"/>
                          </a:solidFill>
                          <a:latin typeface="Cambria"/>
                        </a:rPr>
                        <a:t>SF</a:t>
                      </a:r>
                    </a:p>
                  </a:txBody>
                  <a:tcPr marL="73152" marR="73152" marT="27432" marB="27432">
                    <a:solidFill>
                      <a:srgbClr val="FFFFFF"/>
                    </a:solidFill>
                  </a:tcPr>
                </a:tc>
                <a:tc>
                  <a:txBody>
                    <a:bodyPr/>
                    <a:lstStyle/>
                    <a:p>
                      <a:r>
                        <a:rPr sz="1100" b="0">
                          <a:solidFill>
                            <a:srgbClr val="222A3F"/>
                          </a:solidFill>
                          <a:latin typeface="Cambria"/>
                        </a:rPr>
                        <a:t>Bluetooth mode, channel (906.875), owner name</a:t>
                      </a:r>
                    </a:p>
                  </a:txBody>
                  <a:tcPr marL="73152" marR="73152" marT="27432" marB="27432">
                    <a:solidFill>
                      <a:srgbClr val="FFFFFF"/>
                    </a:solidFill>
                  </a:tcPr>
                </a:tc>
                <a:tc>
                  <a:txBody>
                    <a:bodyPr/>
                    <a:lstStyle/>
                    <a:p>
                      <a:r>
                        <a:rPr sz="1100" b="0">
                          <a:solidFill>
                            <a:srgbClr val="222A3F"/>
                          </a:solidFill>
                          <a:latin typeface="Cambria"/>
                        </a:rPr>
                        <a:t>Display looping: write rc=261, disconnect 534</a:t>
                      </a:r>
                    </a:p>
                  </a:txBody>
                  <a:tcPr marL="73152" marR="73152" marT="27432" marB="27432">
                    <a:solidFill>
                      <a:srgbClr val="FFFFFF"/>
                    </a:solidFill>
                  </a:tcPr>
                </a:tc>
              </a:tr>
              <a:tr h="548640">
                <a:tc>
                  <a:txBody>
                    <a:bodyPr/>
                    <a:lstStyle/>
                    <a:p>
                      <a:r>
                        <a:rPr sz="1100" b="0">
                          <a:solidFill>
                            <a:srgbClr val="222A3F"/>
                          </a:solidFill>
                          <a:latin typeface="Cambria"/>
                        </a:rPr>
                        <a:t>Oct 24</a:t>
                      </a:r>
                    </a:p>
                  </a:txBody>
                  <a:tcPr marL="73152" marR="73152" marT="27432" marB="27432">
                    <a:solidFill>
                      <a:srgbClr val="F2F5FA"/>
                    </a:solidFill>
                  </a:tcPr>
                </a:tc>
                <a:tc>
                  <a:txBody>
                    <a:bodyPr/>
                    <a:lstStyle/>
                    <a:p>
                      <a:r>
                        <a:rPr sz="1100" b="0">
                          <a:solidFill>
                            <a:srgbClr val="222A3F"/>
                          </a:solidFill>
                          <a:latin typeface="Cambria"/>
                        </a:rPr>
                        <a:t>SF</a:t>
                      </a:r>
                    </a:p>
                  </a:txBody>
                  <a:tcPr marL="73152" marR="73152" marT="27432" marB="27432">
                    <a:solidFill>
                      <a:srgbClr val="F2F5FA"/>
                    </a:solidFill>
                  </a:tcPr>
                </a:tc>
                <a:tc>
                  <a:txBody>
                    <a:bodyPr/>
                    <a:lstStyle/>
                    <a:p>
                      <a:r>
                        <a:rPr sz="1100" b="0">
                          <a:solidFill>
                            <a:srgbClr val="222A3F"/>
                          </a:solidFill>
                          <a:latin typeface="Cambria"/>
                        </a:rPr>
                        <a:t>Channel + key, precision, Bluetooth, cadence, owner, presets, node DB</a:t>
                      </a:r>
                    </a:p>
                  </a:txBody>
                  <a:tcPr marL="73152" marR="73152" marT="27432" marB="27432">
                    <a:solidFill>
                      <a:srgbClr val="F2F5FA"/>
                    </a:solidFill>
                  </a:tcPr>
                </a:tc>
                <a:tc>
                  <a:txBody>
                    <a:bodyPr/>
                    <a:lstStyle/>
                    <a:p>
                      <a:r>
                        <a:rPr sz="1100" b="0">
                          <a:solidFill>
                            <a:srgbClr val="222A3F"/>
                          </a:solidFill>
                          <a:latin typeface="Cambria"/>
                        </a:rPr>
                        <a:t>Routine diagnostic before a drive</a:t>
                      </a:r>
                    </a:p>
                  </a:txBody>
                  <a:tcPr marL="73152" marR="73152" marT="27432" marB="27432">
                    <a:solidFill>
                      <a:srgbClr val="F2F5FA"/>
                    </a:solidFill>
                  </a:tcPr>
                </a:tc>
              </a:tr>
            </a:tbl>
          </a:graphicData>
        </a:graphic>
      </p:graphicFrame>
      <p:sp>
        <p:nvSpPr>
          <p:cNvPr id="12" name="Rectangle 11"/>
          <p:cNvSpPr/>
          <p:nvPr/>
        </p:nvSpPr>
        <p:spPr>
          <a:xfrm>
            <a:off x="502920" y="3749039"/>
            <a:ext cx="5486400" cy="219456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867911"/>
            <a:ext cx="5157216" cy="1956815"/>
          </a:xfrm>
          <a:prstGeom prst="rect">
            <a:avLst/>
          </a:prstGeom>
          <a:noFill/>
        </p:spPr>
        <p:txBody>
          <a:bodyPr wrap="square" lIns="0" rIns="0" tIns="0" bIns="0">
            <a:spAutoFit/>
          </a:bodyPr>
          <a:lstStyle/>
          <a:p>
            <a:r>
              <a:rPr sz="1350" b="1" spc="100">
                <a:solidFill>
                  <a:srgbClr val="1F9D68"/>
                </a:solidFill>
                <a:latin typeface="Cambria"/>
              </a:rPr>
              <a:t>MITIGATED IN OCTOBER</a:t>
            </a:r>
          </a:p>
          <a:p>
            <a:pPr>
              <a:spcBef>
                <a:spcPts val="400"/>
              </a:spcBef>
            </a:pPr>
            <a:r>
              <a:rPr sz="1250">
                <a:solidFill>
                  <a:srgbClr val="222A3F"/>
                </a:solidFill>
                <a:latin typeface="Cambria"/>
              </a:rPr>
              <a:t>•  Pre-flight: both OLEDs read 912.875 (2 s)</a:t>
            </a:r>
          </a:p>
          <a:p>
            <a:pPr>
              <a:spcBef>
                <a:spcPts val="400"/>
              </a:spcBef>
            </a:pPr>
            <a:r>
              <a:rPr sz="1250">
                <a:solidFill>
                  <a:srgbClr val="222A3F"/>
                </a:solidFill>
                <a:latin typeface="Cambria"/>
              </a:rPr>
              <a:t>•  Config snapshot per radio, restored with --configure (90 s)</a:t>
            </a:r>
          </a:p>
          <a:p>
            <a:pPr>
              <a:spcBef>
                <a:spcPts val="400"/>
              </a:spcBef>
            </a:pPr>
            <a:r>
              <a:rPr sz="1250">
                <a:solidFill>
                  <a:srgbClr val="222A3F"/>
                </a:solidFill>
                <a:latin typeface="Cambria"/>
              </a:rPr>
              <a:t>•  Phone-app QR path when no laptop is at hand</a:t>
            </a:r>
          </a:p>
          <a:p>
            <a:pPr>
              <a:spcBef>
                <a:spcPts val="400"/>
              </a:spcBef>
            </a:pPr>
            <a:r>
              <a:rPr sz="1250">
                <a:solidFill>
                  <a:srgbClr val="222A3F"/>
                </a:solidFill>
                <a:latin typeface="Cambria"/>
              </a:rPr>
              <a:t>•  Never store a radio flat</a:t>
            </a:r>
          </a:p>
        </p:txBody>
      </p:sp>
      <p:sp>
        <p:nvSpPr>
          <p:cNvPr id="14" name="Rectangle 13"/>
          <p:cNvSpPr/>
          <p:nvPr/>
        </p:nvSpPr>
        <p:spPr>
          <a:xfrm>
            <a:off x="6172200" y="3749039"/>
            <a:ext cx="5486400" cy="219456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3867911"/>
            <a:ext cx="5157216" cy="1956815"/>
          </a:xfrm>
          <a:prstGeom prst="rect">
            <a:avLst/>
          </a:prstGeom>
          <a:noFill/>
        </p:spPr>
        <p:txBody>
          <a:bodyPr wrap="square" lIns="0" rIns="0" tIns="0" bIns="0">
            <a:spAutoFit/>
          </a:bodyPr>
          <a:lstStyle/>
          <a:p>
            <a:r>
              <a:rPr sz="1350" b="1" spc="100">
                <a:solidFill>
                  <a:srgbClr val="E58E1A"/>
                </a:solidFill>
                <a:latin typeface="Cambria"/>
              </a:rPr>
              <a:t>THEN THE QUESTION THAT OPENED PART II</a:t>
            </a:r>
          </a:p>
          <a:p>
            <a:pPr>
              <a:spcBef>
                <a:spcPts val="400"/>
              </a:spcBef>
            </a:pPr>
            <a:r>
              <a:rPr sz="1250">
                <a:solidFill>
                  <a:srgbClr val="222A3F"/>
                </a:solidFill>
                <a:latin typeface="Cambria"/>
              </a:rPr>
              <a:t>•  A reviewer asked: is it the memory itself?</a:t>
            </a:r>
          </a:p>
          <a:p>
            <a:pPr>
              <a:spcBef>
                <a:spcPts val="400"/>
              </a:spcBef>
            </a:pPr>
            <a:r>
              <a:rPr sz="1250">
                <a:solidFill>
                  <a:srgbClr val="222A3F"/>
                </a:solidFill>
                <a:latin typeface="Cambria"/>
              </a:rPr>
              <a:t>•  Three of four losses follow a flat battery; SF three times, RG once; losses partial and different each time</a:t>
            </a:r>
          </a:p>
          <a:p>
            <a:pPr>
              <a:spcBef>
                <a:spcPts val="400"/>
              </a:spcBef>
            </a:pPr>
            <a:r>
              <a:rPr sz="1250">
                <a:solidFill>
                  <a:srgbClr val="222A3F"/>
                </a:solidFill>
                <a:latin typeface="Cambria"/>
              </a:rPr>
              <a:t>•  Answered on 27 October with measurements on both radios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09/31  REV C  2026-10-27</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 9: THE HAND-ROTATED COMPASS (OCT 4)</a:t>
            </a:r>
          </a:p>
        </p:txBody>
      </p:sp>
      <p:sp>
        <p:nvSpPr>
          <p:cNvPr id="10" name="Rectangle 9"/>
          <p:cNvSpPr/>
          <p:nvPr/>
        </p:nvSpPr>
        <p:spPr>
          <a:xfrm>
            <a:off x="502920" y="1234440"/>
            <a:ext cx="5486400" cy="201168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5157216" cy="1773936"/>
          </a:xfrm>
          <a:prstGeom prst="rect">
            <a:avLst/>
          </a:prstGeom>
          <a:noFill/>
        </p:spPr>
        <p:txBody>
          <a:bodyPr wrap="square" lIns="0" rIns="0" tIns="0" bIns="0">
            <a:spAutoFit/>
          </a:bodyPr>
          <a:lstStyle/>
          <a:p>
            <a:r>
              <a:rPr sz="1350" b="1" spc="100">
                <a:solidFill>
                  <a:srgbClr val="C43A4B"/>
                </a:solidFill>
                <a:latin typeface="Cambria"/>
              </a:rPr>
              <a:t>THE SYMPTOM</a:t>
            </a:r>
          </a:p>
          <a:p>
            <a:pPr>
              <a:spcBef>
                <a:spcPts val="400"/>
              </a:spcBef>
            </a:pPr>
            <a:r>
              <a:rPr sz="1150">
                <a:solidFill>
                  <a:srgbClr val="222A3F"/>
                </a:solidFill>
                <a:latin typeface="Cambria"/>
              </a:rPr>
              <a:t>North-up ring at night: to read the arrow against the road the driver physically turned the unit - at which point nothing on it could be read. And the staleness cue alarmed at 59 s of perfectly normal silence from a parked partner.</a:t>
            </a:r>
          </a:p>
        </p:txBody>
      </p:sp>
      <p:sp>
        <p:nvSpPr>
          <p:cNvPr id="12" name="Rectangle 11"/>
          <p:cNvSpPr/>
          <p:nvPr/>
        </p:nvSpPr>
        <p:spPr>
          <a:xfrm>
            <a:off x="6172200" y="1234440"/>
            <a:ext cx="5486400" cy="20116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1353312"/>
            <a:ext cx="5157216" cy="1773936"/>
          </a:xfrm>
          <a:prstGeom prst="rect">
            <a:avLst/>
          </a:prstGeom>
          <a:noFill/>
        </p:spPr>
        <p:txBody>
          <a:bodyPr wrap="square" lIns="0" rIns="0" tIns="0" bIns="0">
            <a:spAutoFit/>
          </a:bodyPr>
          <a:lstStyle/>
          <a:p>
            <a:r>
              <a:rPr sz="1350" b="1" spc="100">
                <a:solidFill>
                  <a:srgbClr val="1F9D68"/>
                </a:solidFill>
                <a:latin typeface="Cambria"/>
              </a:rPr>
              <a:t>THE FIX, SHIPPED THE NEXT DAY</a:t>
            </a:r>
          </a:p>
          <a:p>
            <a:pPr>
              <a:spcBef>
                <a:spcPts val="400"/>
              </a:spcBef>
            </a:pPr>
            <a:r>
              <a:rPr sz="1150">
                <a:solidFill>
                  <a:srgbClr val="222A3F"/>
                </a:solidFill>
                <a:latin typeface="Cambria"/>
              </a:rPr>
              <a:t>Course-up compass: the top of the ring is always straight ahead, cardinals rotate with the car, a nose mark at 12 o'clock, directions in clock positions. Cadence-aware staleness: 30 s for a moving partner, 90 s for a parked one.</a:t>
            </a:r>
          </a:p>
        </p:txBody>
      </p:sp>
      <p:sp>
        <p:nvSpPr>
          <p:cNvPr id="14" name="Rectangle 13"/>
          <p:cNvSpPr/>
          <p:nvPr/>
        </p:nvSpPr>
        <p:spPr>
          <a:xfrm>
            <a:off x="502920" y="3474720"/>
            <a:ext cx="11155680" cy="17373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3593591"/>
            <a:ext cx="10826496" cy="1499616"/>
          </a:xfrm>
          <a:prstGeom prst="rect">
            <a:avLst/>
          </a:prstGeom>
          <a:noFill/>
        </p:spPr>
        <p:txBody>
          <a:bodyPr wrap="square" lIns="0" rIns="0" tIns="0" bIns="0">
            <a:spAutoFit/>
          </a:bodyPr>
          <a:lstStyle/>
          <a:p>
            <a:r>
              <a:rPr sz="1350" b="1" spc="100">
                <a:solidFill>
                  <a:srgbClr val="16213D"/>
                </a:solidFill>
                <a:latin typeface="Cambria"/>
              </a:rPr>
              <a:t>WHY IT BELONGS IN A FAILURE DECK</a:t>
            </a:r>
          </a:p>
          <a:p>
            <a:pPr>
              <a:spcBef>
                <a:spcPts val="400"/>
              </a:spcBef>
            </a:pPr>
            <a:r>
              <a:rPr sz="1200">
                <a:solidFill>
                  <a:srgbClr val="222A3F"/>
                </a:solidFill>
                <a:latin typeface="Cambria"/>
              </a:rPr>
              <a:t>Neither change was a bug fix; both were design errors that only a real drive at night could expose. They were validated on the road the next day (dart at 12 o'clock at 37 mph) and have carried every test since. The honest-display philosophy was tested here first: a cue that cries wolf is as dishonest as one that stays silent.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 10: THE NIGHT BEFORE THE CANYON (OCT 17)</a:t>
            </a:r>
          </a:p>
        </p:txBody>
      </p:sp>
      <p:sp>
        <p:nvSpPr>
          <p:cNvPr id="10" name="Rectangle 9"/>
          <p:cNvSpPr/>
          <p:nvPr/>
        </p:nvSpPr>
        <p:spPr>
          <a:xfrm>
            <a:off x="502920" y="1234440"/>
            <a:ext cx="3657600" cy="201168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3328416" cy="1773936"/>
          </a:xfrm>
          <a:prstGeom prst="rect">
            <a:avLst/>
          </a:prstGeom>
          <a:noFill/>
        </p:spPr>
        <p:txBody>
          <a:bodyPr wrap="square" lIns="0" rIns="0" tIns="0" bIns="0">
            <a:spAutoFit/>
          </a:bodyPr>
          <a:lstStyle/>
          <a:p>
            <a:r>
              <a:rPr sz="1350" b="1" spc="100">
                <a:solidFill>
                  <a:srgbClr val="5E6B85"/>
                </a:solidFill>
                <a:latin typeface="Cambria"/>
              </a:rPr>
              <a:t>DISPLAY 1 "DEAD"</a:t>
            </a:r>
          </a:p>
          <a:p>
            <a:pPr>
              <a:spcBef>
                <a:spcPts val="400"/>
              </a:spcBef>
            </a:pPr>
            <a:r>
              <a:rPr sz="1250">
                <a:solidFill>
                  <a:srgbClr val="222A3F"/>
                </a:solidFill>
                <a:latin typeface="Cambria"/>
              </a:rPr>
              <a:t>Actually fine. Power banks shut off under the display's milliwatt draw, and a reflective screen in a dim room reads as off. Flashlight test first.</a:t>
            </a:r>
          </a:p>
        </p:txBody>
      </p:sp>
      <p:sp>
        <p:nvSpPr>
          <p:cNvPr id="12" name="Rectangle 11"/>
          <p:cNvSpPr/>
          <p:nvPr/>
        </p:nvSpPr>
        <p:spPr>
          <a:xfrm>
            <a:off x="4325112" y="1234440"/>
            <a:ext cx="3657600" cy="201168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9703" y="1353312"/>
            <a:ext cx="3328416" cy="1773936"/>
          </a:xfrm>
          <a:prstGeom prst="rect">
            <a:avLst/>
          </a:prstGeom>
          <a:noFill/>
        </p:spPr>
        <p:txBody>
          <a:bodyPr wrap="square" lIns="0" rIns="0" tIns="0" bIns="0">
            <a:spAutoFit/>
          </a:bodyPr>
          <a:lstStyle/>
          <a:p>
            <a:r>
              <a:rPr sz="1350" b="1" spc="100">
                <a:solidFill>
                  <a:srgbClr val="E58E1A"/>
                </a:solidFill>
                <a:latin typeface="Cambria"/>
              </a:rPr>
              <a:t>DISPLAY 2 HALF-DEAD USB-C</a:t>
            </a:r>
          </a:p>
          <a:p>
            <a:pPr>
              <a:spcBef>
                <a:spcPts val="400"/>
              </a:spcBef>
            </a:pPr>
            <a:r>
              <a:rPr sz="1250">
                <a:solidFill>
                  <a:srgbClr val="222A3F"/>
                </a:solidFill>
                <a:latin typeface="Cambria"/>
              </a:rPr>
              <a:t>Powers in ONE plug orientation - damaged pins on one side. A coin-flip failure on every plug-in. Marked the working orientation; a repair item.</a:t>
            </a:r>
          </a:p>
        </p:txBody>
      </p:sp>
      <p:sp>
        <p:nvSpPr>
          <p:cNvPr id="14" name="Rectangle 13"/>
          <p:cNvSpPr/>
          <p:nvPr/>
        </p:nvSpPr>
        <p:spPr>
          <a:xfrm>
            <a:off x="8147304" y="1234440"/>
            <a:ext cx="3657600" cy="201168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1353312"/>
            <a:ext cx="3328416" cy="1773936"/>
          </a:xfrm>
          <a:prstGeom prst="rect">
            <a:avLst/>
          </a:prstGeom>
          <a:noFill/>
        </p:spPr>
        <p:txBody>
          <a:bodyPr wrap="square" lIns="0" rIns="0" tIns="0" bIns="0">
            <a:spAutoFit/>
          </a:bodyPr>
          <a:lstStyle/>
          <a:p>
            <a:r>
              <a:rPr sz="1350" b="1" spc="100">
                <a:solidFill>
                  <a:srgbClr val="C43A4B"/>
                </a:solidFill>
                <a:latin typeface="Cambria"/>
              </a:rPr>
              <a:t>RADIO EA:D4 REVERTED</a:t>
            </a:r>
          </a:p>
          <a:p>
            <a:pPr>
              <a:spcBef>
                <a:spcPts val="400"/>
              </a:spcBef>
            </a:pPr>
            <a:r>
              <a:rPr sz="1250">
                <a:solidFill>
                  <a:srgbClr val="222A3F"/>
                </a:solidFill>
                <a:latin typeface="Cambria"/>
              </a:rPr>
              <a:t>A week idle, battery flat: Bluetooth mode, channel and name gone. The display's serial log named it in one line: write status 261, insufficient authentication.</a:t>
            </a:r>
          </a:p>
        </p:txBody>
      </p:sp>
      <p:sp>
        <p:nvSpPr>
          <p:cNvPr id="16" name="Rectangle 15"/>
          <p:cNvSpPr/>
          <p:nvPr/>
        </p:nvSpPr>
        <p:spPr>
          <a:xfrm>
            <a:off x="502920" y="3474720"/>
            <a:ext cx="11155680" cy="16916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566160"/>
            <a:ext cx="10826496" cy="274320"/>
          </a:xfrm>
          <a:prstGeom prst="rect">
            <a:avLst/>
          </a:prstGeom>
          <a:noFill/>
        </p:spPr>
        <p:txBody>
          <a:bodyPr wrap="square" lIns="0" rIns="0" tIns="0" bIns="0">
            <a:spAutoFit/>
          </a:bodyPr>
          <a:lstStyle/>
          <a:p>
            <a:pPr algn="l"/>
            <a:r>
              <a:rPr sz="1000" b="1" i="0">
                <a:solidFill>
                  <a:srgbClr val="E58E1A"/>
                </a:solidFill>
                <a:latin typeface="Courier New"/>
              </a:rPr>
              <a:t>DISPLAY SERIAL LOG - THE SIGNATURE</a:t>
            </a:r>
          </a:p>
        </p:txBody>
      </p:sp>
      <p:sp>
        <p:nvSpPr>
          <p:cNvPr id="18" name="TextBox 17"/>
          <p:cNvSpPr txBox="1"/>
          <p:nvPr/>
        </p:nvSpPr>
        <p:spPr>
          <a:xfrm>
            <a:off x="667512" y="3858768"/>
            <a:ext cx="10826496" cy="1234440"/>
          </a:xfrm>
          <a:prstGeom prst="rect">
            <a:avLst/>
          </a:prstGeom>
          <a:noFill/>
        </p:spPr>
        <p:txBody>
          <a:bodyPr wrap="square" lIns="0" rIns="0" tIns="0" bIns="0">
            <a:spAutoFit/>
          </a:bodyPr>
          <a:lstStyle/>
          <a:p>
            <a:r>
              <a:rPr sz="1100">
                <a:solidFill>
                  <a:srgbClr val="C9D8F0"/>
                </a:solidFill>
                <a:latin typeface="Courier New"/>
              </a:rPr>
              <a:t>[ble] auth complete: encrypted=1 bonded=0</a:t>
            </a:r>
          </a:p>
          <a:p>
            <a:r>
              <a:rPr sz="1100">
                <a:solidFill>
                  <a:srgbClr val="FF9AA8"/>
                </a:solidFill>
                <a:latin typeface="Courier New"/>
              </a:rPr>
              <a:t>Write complete; status=261            &lt;- insufficient authentication: radio not in NO_PIN</a:t>
            </a:r>
          </a:p>
          <a:p>
            <a:r>
              <a:rPr sz="1100">
                <a:solidFill>
                  <a:srgbClr val="C9D8F0"/>
                </a:solidFill>
                <a:latin typeface="Courier New"/>
              </a:rPr>
              <a:t>[ble] want_config write failed</a:t>
            </a:r>
          </a:p>
          <a:p>
            <a:r>
              <a:rPr sz="1100">
                <a:solidFill>
                  <a:srgbClr val="C9D8F0"/>
                </a:solidFill>
                <a:latin typeface="Courier New"/>
              </a:rPr>
              <a:t>[ble] disconnected (reason 534)       &lt;- our side hung up, by design, to retry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 11: THE 0.21 MI THAT WAS NOT THERE</a:t>
            </a:r>
          </a:p>
        </p:txBody>
      </p:sp>
      <p:pic>
        <p:nvPicPr>
          <p:cNvPr id="10" name="Picture 9" descr="g_lcddiag.png"/>
          <p:cNvPicPr>
            <a:picLocks noChangeAspect="1"/>
          </p:cNvPicPr>
          <p:nvPr/>
        </p:nvPicPr>
        <p:blipFill>
          <a:blip r:embed="rId2"/>
          <a:stretch>
            <a:fillRect/>
          </a:stretch>
        </p:blipFill>
        <p:spPr>
          <a:xfrm>
            <a:off x="502920" y="1143000"/>
            <a:ext cx="7589520" cy="2815467"/>
          </a:xfrm>
          <a:prstGeom prst="rect">
            <a:avLst/>
          </a:prstGeom>
        </p:spPr>
      </p:pic>
      <p:sp>
        <p:nvSpPr>
          <p:cNvPr id="11" name="Rectangle 10"/>
          <p:cNvSpPr/>
          <p:nvPr/>
        </p:nvSpPr>
        <p:spPr>
          <a:xfrm>
            <a:off x="8275320" y="1143000"/>
            <a:ext cx="3429000" cy="28346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39912" y="1261872"/>
            <a:ext cx="3099816" cy="2596896"/>
          </a:xfrm>
          <a:prstGeom prst="rect">
            <a:avLst/>
          </a:prstGeom>
          <a:noFill/>
        </p:spPr>
        <p:txBody>
          <a:bodyPr wrap="square" lIns="0" rIns="0" tIns="0" bIns="0">
            <a:spAutoFit/>
          </a:bodyPr>
          <a:lstStyle/>
          <a:p>
            <a:r>
              <a:rPr sz="1300" b="1" spc="100">
                <a:solidFill>
                  <a:srgbClr val="1F9D68"/>
                </a:solidFill>
                <a:latin typeface="Cambria"/>
              </a:rPr>
              <a:t>WHAT THE SERIAL LOGS PROVED</a:t>
            </a:r>
          </a:p>
          <a:p>
            <a:pPr>
              <a:spcBef>
                <a:spcPts val="400"/>
              </a:spcBef>
            </a:pPr>
            <a:r>
              <a:rPr sz="1100">
                <a:solidFill>
                  <a:srgbClr val="222A3F"/>
                </a:solidFill>
                <a:latin typeface="Cambria"/>
              </a:rPr>
              <a:t>Both displays booted clean, paired in under 8 s (encrypted=1 bonded=0, every config write status 0), completed the config dump, built the correct node table (SF/RG), and held the link at heartbeat state 3 with zero rescans. Display 1 again needed a USB-C plug flip before it enumerated.</a:t>
            </a:r>
          </a:p>
        </p:txBody>
      </p:sp>
      <p:sp>
        <p:nvSpPr>
          <p:cNvPr id="13" name="Rectangle 12"/>
          <p:cNvSpPr/>
          <p:nvPr/>
        </p:nvSpPr>
        <p:spPr>
          <a:xfrm>
            <a:off x="502920" y="4160520"/>
            <a:ext cx="11201400" cy="160020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4279392"/>
            <a:ext cx="10872216" cy="1362456"/>
          </a:xfrm>
          <a:prstGeom prst="rect">
            <a:avLst/>
          </a:prstGeom>
          <a:noFill/>
        </p:spPr>
        <p:txBody>
          <a:bodyPr wrap="square" lIns="0" rIns="0" tIns="0" bIns="0">
            <a:spAutoFit/>
          </a:bodyPr>
          <a:lstStyle/>
          <a:p>
            <a:r>
              <a:rPr sz="1300" b="1" spc="100">
                <a:solidFill>
                  <a:srgbClr val="C43A4B"/>
                </a:solidFill>
                <a:latin typeface="Cambria"/>
              </a:rPr>
              <a:t>THE OBSERVATION: 0.21 MI BETWEEN TWO RADIOS ON ONE DESK</a:t>
            </a:r>
          </a:p>
          <a:p>
            <a:pPr>
              <a:spcBef>
                <a:spcPts val="400"/>
              </a:spcBef>
            </a:pPr>
            <a:r>
              <a:rPr sz="1150">
                <a:solidFill>
                  <a:srgbClr val="222A3F"/>
                </a:solidFill>
                <a:latin typeface="Cambria"/>
              </a:rPr>
              <a:t>The displays were right and the GPS fixes were wrong. Indoors, SF's fix scattered 100 to 400 m between packets with 1.4 m/s of phantom speed; RG later reported a coherent 50 mph eastbound drive for a minute before snapping home. A marginal fix produces fake velocity, not just jitter, and dead reckoning faithfully projects it. Fixes shipped the same hour: the closing/apart line reads "holding" when both cars are parked; the distance stays honest. Rule: judge a bench distance only with sky 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TESTS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12/31  REV C  2026-10-27</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TEST CAMPAIGNS</a:t>
            </a:r>
          </a:p>
        </p:txBody>
      </p:sp>
      <p:graphicFrame>
        <p:nvGraphicFramePr>
          <p:cNvPr id="10" name="Table 9"/>
          <p:cNvGraphicFramePr>
            <a:graphicFrameLocks noGrp="1"/>
          </p:cNvGraphicFramePr>
          <p:nvPr/>
        </p:nvGraphicFramePr>
        <p:xfrm>
          <a:off x="502920" y="1188720"/>
          <a:ext cx="5394960" cy="3803904"/>
        </p:xfrm>
        <a:graphic>
          <a:graphicData uri="http://schemas.openxmlformats.org/drawingml/2006/table">
            <a:tbl>
              <a:tblPr firstRow="1" bandRow="1">
                <a:tableStyleId>{5C22544A-7EE6-4342-B048-85BDC9FD1C3A}</a:tableStyleId>
              </a:tblPr>
              <a:tblGrid>
                <a:gridCol w="685800"/>
                <a:gridCol w="1417320"/>
                <a:gridCol w="1097280"/>
                <a:gridCol w="2194560"/>
              </a:tblGrid>
              <a:tr h="475488">
                <a:tc>
                  <a:txBody>
                    <a:bodyPr/>
                    <a:lstStyle/>
                    <a:p>
                      <a:r>
                        <a:rPr sz="950" b="1">
                          <a:solidFill>
                            <a:srgbClr val="FFFFFF"/>
                          </a:solidFill>
                          <a:latin typeface="Cambria"/>
                        </a:rPr>
                        <a:t>Date</a:t>
                      </a:r>
                    </a:p>
                  </a:txBody>
                  <a:tcPr marL="73152" marR="73152" marT="27432" marB="27432">
                    <a:solidFill>
                      <a:srgbClr val="16213D"/>
                    </a:solidFill>
                  </a:tcPr>
                </a:tc>
                <a:tc>
                  <a:txBody>
                    <a:bodyPr/>
                    <a:lstStyle/>
                    <a:p>
                      <a:r>
                        <a:rPr sz="950" b="1">
                          <a:solidFill>
                            <a:srgbClr val="FFFFFF"/>
                          </a:solidFill>
                          <a:latin typeface="Cambria"/>
                        </a:rPr>
                        <a:t>Campaign</a:t>
                      </a:r>
                    </a:p>
                  </a:txBody>
                  <a:tcPr marL="73152" marR="73152" marT="27432" marB="27432">
                    <a:solidFill>
                      <a:srgbClr val="16213D"/>
                    </a:solidFill>
                  </a:tcPr>
                </a:tc>
                <a:tc>
                  <a:txBody>
                    <a:bodyPr/>
                    <a:lstStyle/>
                    <a:p>
                      <a:r>
                        <a:rPr sz="950" b="1">
                          <a:solidFill>
                            <a:srgbClr val="FFFFFF"/>
                          </a:solidFill>
                          <a:latin typeface="Cambria"/>
                        </a:rPr>
                        <a:t>Environment</a:t>
                      </a:r>
                    </a:p>
                  </a:txBody>
                  <a:tcPr marL="73152" marR="73152" marT="27432" marB="27432">
                    <a:solidFill>
                      <a:srgbClr val="16213D"/>
                    </a:solidFill>
                  </a:tcPr>
                </a:tc>
                <a:tc>
                  <a:txBody>
                    <a:bodyPr/>
                    <a:lstStyle/>
                    <a:p>
                      <a:r>
                        <a:rPr sz="950" b="1">
                          <a:solidFill>
                            <a:srgbClr val="FFFFFF"/>
                          </a:solidFill>
                          <a:latin typeface="Cambria"/>
                        </a:rPr>
                        <a:t>Key result</a:t>
                      </a:r>
                    </a:p>
                  </a:txBody>
                  <a:tcPr marL="73152" marR="73152" marT="27432" marB="27432">
                    <a:solidFill>
                      <a:srgbClr val="16213D"/>
                    </a:solidFill>
                  </a:tcPr>
                </a:tc>
              </a:tr>
              <a:tr h="475488">
                <a:tc>
                  <a:txBody>
                    <a:bodyPr/>
                    <a:lstStyle/>
                    <a:p>
                      <a:r>
                        <a:rPr sz="950" b="0">
                          <a:solidFill>
                            <a:srgbClr val="222A3F"/>
                          </a:solidFill>
                          <a:latin typeface="Cambria"/>
                        </a:rPr>
                        <a:t>Aug 31</a:t>
                      </a:r>
                    </a:p>
                  </a:txBody>
                  <a:tcPr marL="73152" marR="73152" marT="27432" marB="27432">
                    <a:solidFill>
                      <a:srgbClr val="F2F5FA"/>
                    </a:solidFill>
                  </a:tcPr>
                </a:tc>
                <a:tc>
                  <a:txBody>
                    <a:bodyPr/>
                    <a:lstStyle/>
                    <a:p>
                      <a:r>
                        <a:rPr sz="950" b="0">
                          <a:solidFill>
                            <a:srgbClr val="222A3F"/>
                          </a:solidFill>
                          <a:latin typeface="Cambria"/>
                        </a:rPr>
                        <a:t>Bench, end-to-end</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Live GPS decoded radio-to-display</a:t>
                      </a:r>
                    </a:p>
                  </a:txBody>
                  <a:tcPr marL="73152" marR="73152" marT="27432" marB="27432">
                    <a:solidFill>
                      <a:srgbClr val="F2F5FA"/>
                    </a:solidFill>
                  </a:tcPr>
                </a:tc>
              </a:tr>
              <a:tr h="475488">
                <a:tc>
                  <a:txBody>
                    <a:bodyPr/>
                    <a:lstStyle/>
                    <a:p>
                      <a:r>
                        <a:rPr sz="950" b="0">
                          <a:solidFill>
                            <a:srgbClr val="222A3F"/>
                          </a:solidFill>
                          <a:latin typeface="Cambria"/>
                        </a:rPr>
                        <a:t>Sep 1</a:t>
                      </a:r>
                    </a:p>
                  </a:txBody>
                  <a:tcPr marL="73152" marR="73152" marT="27432" marB="27432">
                    <a:solidFill>
                      <a:srgbClr val="FFFFFF"/>
                    </a:solidFill>
                  </a:tcPr>
                </a:tc>
                <a:tc>
                  <a:txBody>
                    <a:bodyPr/>
                    <a:lstStyle/>
                    <a:p>
                      <a:r>
                        <a:rPr sz="950" b="0">
                          <a:solidFill>
                            <a:srgbClr val="222A3F"/>
                          </a:solidFill>
                          <a:latin typeface="Cambria"/>
                        </a:rPr>
                        <a:t>First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Pipeline works at speed; five faults found</a:t>
                      </a:r>
                    </a:p>
                  </a:txBody>
                  <a:tcPr marL="73152" marR="73152" marT="27432" marB="27432">
                    <a:solidFill>
                      <a:srgbClr val="FFFFFF"/>
                    </a:solidFill>
                  </a:tcPr>
                </a:tc>
              </a:tr>
              <a:tr h="475488">
                <a:tc>
                  <a:txBody>
                    <a:bodyPr/>
                    <a:lstStyle/>
                    <a:p>
                      <a:r>
                        <a:rPr sz="950" b="0">
                          <a:solidFill>
                            <a:srgbClr val="222A3F"/>
                          </a:solidFill>
                          <a:latin typeface="Cambria"/>
                        </a:rPr>
                        <a:t>Sep 25</a:t>
                      </a:r>
                    </a:p>
                  </a:txBody>
                  <a:tcPr marL="73152" marR="73152" marT="27432" marB="27432">
                    <a:solidFill>
                      <a:srgbClr val="F2F5FA"/>
                    </a:solidFill>
                  </a:tcPr>
                </a:tc>
                <a:tc>
                  <a:txBody>
                    <a:bodyPr/>
                    <a:lstStyle/>
                    <a:p>
                      <a:r>
                        <a:rPr sz="950" b="0">
                          <a:solidFill>
                            <a:srgbClr val="222A3F"/>
                          </a:solidFill>
                          <a:latin typeface="Cambria"/>
                        </a:rPr>
                        <a:t>Two-radio link</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Round-trip traceroute 6.75 / 5.75 dB</a:t>
                      </a:r>
                    </a:p>
                  </a:txBody>
                  <a:tcPr marL="73152" marR="73152" marT="27432" marB="27432">
                    <a:solidFill>
                      <a:srgbClr val="F2F5FA"/>
                    </a:solidFill>
                  </a:tcPr>
                </a:tc>
              </a:tr>
              <a:tr h="475488">
                <a:tc>
                  <a:txBody>
                    <a:bodyPr/>
                    <a:lstStyle/>
                    <a:p>
                      <a:r>
                        <a:rPr sz="950" b="0">
                          <a:solidFill>
                            <a:srgbClr val="222A3F"/>
                          </a:solidFill>
                          <a:latin typeface="Cambria"/>
                        </a:rPr>
                        <a:t>Oct 4</a:t>
                      </a:r>
                    </a:p>
                  </a:txBody>
                  <a:tcPr marL="73152" marR="73152" marT="27432" marB="27432">
                    <a:solidFill>
                      <a:srgbClr val="FFFFFF"/>
                    </a:solidFill>
                  </a:tcPr>
                </a:tc>
                <a:tc>
                  <a:txBody>
                    <a:bodyPr/>
                    <a:lstStyle/>
                    <a:p>
                      <a:r>
                        <a:rPr sz="950" b="0">
                          <a:solidFill>
                            <a:srgbClr val="222A3F"/>
                          </a:solidFill>
                          <a:latin typeface="Cambria"/>
                        </a:rPr>
                        <a:t>Night convoy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Stale onset ~0.5 mi; course-up and cadence-aware cue born</a:t>
                      </a:r>
                    </a:p>
                  </a:txBody>
                  <a:tcPr marL="73152" marR="73152" marT="27432" marB="27432">
                    <a:solidFill>
                      <a:srgbClr val="FFFFFF"/>
                    </a:solidFill>
                  </a:tcPr>
                </a:tc>
              </a:tr>
              <a:tr h="475488">
                <a:tc>
                  <a:txBody>
                    <a:bodyPr/>
                    <a:lstStyle/>
                    <a:p>
                      <a:r>
                        <a:rPr sz="950" b="0">
                          <a:solidFill>
                            <a:srgbClr val="222A3F"/>
                          </a:solidFill>
                          <a:latin typeface="Cambria"/>
                        </a:rPr>
                        <a:t>Oct 5</a:t>
                      </a:r>
                    </a:p>
                  </a:txBody>
                  <a:tcPr marL="73152" marR="73152" marT="27432" marB="27432">
                    <a:solidFill>
                      <a:srgbClr val="F2F5FA"/>
                    </a:solidFill>
                  </a:tcPr>
                </a:tc>
                <a:tc>
                  <a:txBody>
                    <a:bodyPr/>
                    <a:lstStyle/>
                    <a:p>
                      <a:r>
                        <a:rPr sz="950" b="0">
                          <a:solidFill>
                            <a:srgbClr val="222A3F"/>
                          </a:solidFill>
                          <a:latin typeface="Cambria"/>
                        </a:rPr>
                        <a:t>Open-road range</a:t>
                      </a:r>
                    </a:p>
                  </a:txBody>
                  <a:tcPr marL="73152" marR="73152" marT="27432" marB="27432">
                    <a:solidFill>
                      <a:srgbClr val="F2F5FA"/>
                    </a:solidFill>
                  </a:tcPr>
                </a:tc>
                <a:tc>
                  <a:txBody>
                    <a:bodyPr/>
                    <a:lstStyle/>
                    <a:p>
                      <a:r>
                        <a:rPr sz="950" b="0">
                          <a:solidFill>
                            <a:srgbClr val="222A3F"/>
                          </a:solidFill>
                          <a:latin typeface="Cambria"/>
                        </a:rPr>
                        <a:t>Flat farm road</a:t>
                      </a:r>
                    </a:p>
                  </a:txBody>
                  <a:tcPr marL="73152" marR="73152" marT="27432" marB="27432">
                    <a:solidFill>
                      <a:srgbClr val="F2F5FA"/>
                    </a:solidFill>
                  </a:tcPr>
                </a:tc>
                <a:tc>
                  <a:txBody>
                    <a:bodyPr/>
                    <a:lstStyle/>
                    <a:p>
                      <a:r>
                        <a:rPr sz="950" b="0">
                          <a:solidFill>
                            <a:srgbClr val="222A3F"/>
                          </a:solidFill>
                          <a:latin typeface="Cambria"/>
                        </a:rPr>
                        <a:t>Full tracking to 3.26 mi; stale edge 3.75 mi</a:t>
                      </a:r>
                    </a:p>
                  </a:txBody>
                  <a:tcPr marL="73152" marR="73152" marT="27432" marB="27432">
                    <a:solidFill>
                      <a:srgbClr val="F2F5FA"/>
                    </a:solidFill>
                  </a:tcPr>
                </a:tc>
              </a:tr>
              <a:tr h="475488">
                <a:tc>
                  <a:txBody>
                    <a:bodyPr/>
                    <a:lstStyle/>
                    <a:p>
                      <a:r>
                        <a:rPr sz="950" b="0">
                          <a:solidFill>
                            <a:srgbClr val="222A3F"/>
                          </a:solidFill>
                          <a:latin typeface="Cambria"/>
                        </a:rPr>
                        <a:t>Oct 18</a:t>
                      </a:r>
                    </a:p>
                  </a:txBody>
                  <a:tcPr marL="73152" marR="73152" marT="27432" marB="27432">
                    <a:solidFill>
                      <a:srgbClr val="FFFFFF"/>
                    </a:solidFill>
                  </a:tcPr>
                </a:tc>
                <a:tc>
                  <a:txBody>
                    <a:bodyPr/>
                    <a:lstStyle/>
                    <a:p>
                      <a:r>
                        <a:rPr sz="950" b="0">
                          <a:solidFill>
                            <a:srgbClr val="222A3F"/>
                          </a:solidFill>
                          <a:latin typeface="Cambria"/>
                        </a:rPr>
                        <a:t>Canyon range</a:t>
                      </a:r>
                    </a:p>
                  </a:txBody>
                  <a:tcPr marL="73152" marR="73152" marT="27432" marB="27432">
                    <a:solidFill>
                      <a:srgbClr val="FFFFFF"/>
                    </a:solidFill>
                  </a:tcPr>
                </a:tc>
                <a:tc>
                  <a:txBody>
                    <a:bodyPr/>
                    <a:lstStyle/>
                    <a:p>
                      <a:r>
                        <a:rPr sz="950" b="0">
                          <a:solidFill>
                            <a:srgbClr val="222A3F"/>
                          </a:solidFill>
                          <a:latin typeface="Cambria"/>
                        </a:rPr>
                        <a:t>Ceta Canyon</a:t>
                      </a:r>
                    </a:p>
                  </a:txBody>
                  <a:tcPr marL="73152" marR="73152" marT="27432" marB="27432">
                    <a:solidFill>
                      <a:srgbClr val="FFFFFF"/>
                    </a:solidFill>
                  </a:tcPr>
                </a:tc>
                <a:tc>
                  <a:txBody>
                    <a:bodyPr/>
                    <a:lstStyle/>
                    <a:p>
                      <a:r>
                        <a:rPr sz="950" b="0">
                          <a:solidFill>
                            <a:srgbClr val="222A3F"/>
                          </a:solidFill>
                          <a:latin typeface="Cambria"/>
                        </a:rPr>
                        <a:t>Stale from 1.29 mi; packet at 4.28; 7-min outage healed; rim antenna 4.7 mi</a:t>
                      </a:r>
                    </a:p>
                  </a:txBody>
                  <a:tcPr marL="73152" marR="73152" marT="27432" marB="27432">
                    <a:solidFill>
                      <a:srgbClr val="FFFFFF"/>
                    </a:solidFill>
                  </a:tcPr>
                </a:tc>
              </a:tr>
              <a:tr h="475488">
                <a:tc>
                  <a:txBody>
                    <a:bodyPr/>
                    <a:lstStyle/>
                    <a:p>
                      <a:r>
                        <a:rPr sz="950" b="0">
                          <a:solidFill>
                            <a:srgbClr val="222A3F"/>
                          </a:solidFill>
                          <a:latin typeface="Cambria"/>
                        </a:rPr>
                        <a:t>Oct 25</a:t>
                      </a:r>
                    </a:p>
                  </a:txBody>
                  <a:tcPr marL="73152" marR="73152" marT="27432" marB="27432">
                    <a:solidFill>
                      <a:srgbClr val="F2F5FA"/>
                    </a:solidFill>
                  </a:tcPr>
                </a:tc>
                <a:tc>
                  <a:txBody>
                    <a:bodyPr/>
                    <a:lstStyle/>
                    <a:p>
                      <a:r>
                        <a:rPr sz="950" b="0">
                          <a:solidFill>
                            <a:srgbClr val="222A3F"/>
                          </a:solidFill>
                          <a:latin typeface="Cambria"/>
                        </a:rPr>
                        <a:t>New Mexico maximum range</a:t>
                      </a:r>
                    </a:p>
                  </a:txBody>
                  <a:tcPr marL="73152" marR="73152" marT="27432" marB="27432">
                    <a:solidFill>
                      <a:srgbClr val="F2F5FA"/>
                    </a:solidFill>
                  </a:tcPr>
                </a:tc>
                <a:tc>
                  <a:txBody>
                    <a:bodyPr/>
                    <a:lstStyle/>
                    <a:p>
                      <a:r>
                        <a:rPr sz="950" b="0">
                          <a:solidFill>
                            <a:srgbClr val="222A3F"/>
                          </a:solidFill>
                          <a:latin typeface="Cambria"/>
                        </a:rPr>
                        <a:t>Open highway</a:t>
                      </a:r>
                    </a:p>
                  </a:txBody>
                  <a:tcPr marL="73152" marR="73152" marT="27432" marB="27432">
                    <a:solidFill>
                      <a:srgbClr val="F2F5FA"/>
                    </a:solidFill>
                  </a:tcPr>
                </a:tc>
                <a:tc>
                  <a:txBody>
                    <a:bodyPr/>
                    <a:lstStyle/>
                    <a:p>
                      <a:r>
                        <a:rPr sz="950" b="0">
                          <a:solidFill>
                            <a:srgbClr val="222A3F"/>
                          </a:solidFill>
                          <a:latin typeface="Cambria"/>
                        </a:rPr>
                        <a:t>Cancelled by weather; the radios were diagnosed instead (Part II)</a:t>
                      </a:r>
                    </a:p>
                  </a:txBody>
                  <a:tcPr marL="73152" marR="73152" marT="27432" marB="27432">
                    <a:solidFill>
                      <a:srgbClr val="F2F5FA"/>
                    </a:solidFill>
                  </a:tcPr>
                </a:tc>
              </a:tr>
            </a:tbl>
          </a:graphicData>
        </a:graphic>
      </p:graphicFrame>
      <p:pic>
        <p:nvPicPr>
          <p:cNvPr id="11" name="Picture 10" descr="g_onset4.png"/>
          <p:cNvPicPr>
            <a:picLocks noChangeAspect="1"/>
          </p:cNvPicPr>
          <p:nvPr/>
        </p:nvPicPr>
        <p:blipFill>
          <a:blip r:embed="rId2"/>
          <a:stretch>
            <a:fillRect/>
          </a:stretch>
        </p:blipFill>
        <p:spPr>
          <a:xfrm>
            <a:off x="6035040" y="1188720"/>
            <a:ext cx="5669280" cy="2539365"/>
          </a:xfrm>
          <a:prstGeom prst="rect">
            <a:avLst/>
          </a:prstGeom>
        </p:spPr>
      </p:pic>
      <p:sp>
        <p:nvSpPr>
          <p:cNvPr id="12" name="TextBox 11"/>
          <p:cNvSpPr txBox="1"/>
          <p:nvPr/>
        </p:nvSpPr>
        <p:spPr>
          <a:xfrm>
            <a:off x="6035040" y="4572000"/>
            <a:ext cx="5669280" cy="731520"/>
          </a:xfrm>
          <a:prstGeom prst="rect">
            <a:avLst/>
          </a:prstGeom>
          <a:noFill/>
        </p:spPr>
        <p:txBody>
          <a:bodyPr wrap="square" lIns="0" rIns="0" tIns="0" bIns="0">
            <a:spAutoFit/>
          </a:bodyPr>
          <a:lstStyle/>
          <a:p>
            <a:pPr algn="l"/>
            <a:r>
              <a:rPr sz="1200" b="0" i="0">
                <a:solidFill>
                  <a:srgbClr val="222A3F"/>
                </a:solidFill>
                <a:latin typeface="Cambria"/>
              </a:rPr>
              <a:t>Same radios, four geometries: 0.5 to 4.7 mi. Terrain and antenna height set the range, not the hardware.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TESTS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13/31  REV C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HARDEST TEST: CETA CANYON, OCTOBER 18</a:t>
            </a:r>
          </a:p>
        </p:txBody>
      </p:sp>
      <p:pic>
        <p:nvPicPr>
          <p:cNvPr id="8" name="Picture 7" descr="g_timeline.png"/>
          <p:cNvPicPr>
            <a:picLocks noChangeAspect="1"/>
          </p:cNvPicPr>
          <p:nvPr/>
        </p:nvPicPr>
        <p:blipFill>
          <a:blip r:embed="rId2"/>
          <a:stretch>
            <a:fillRect/>
          </a:stretch>
        </p:blipFill>
        <p:spPr>
          <a:xfrm>
            <a:off x="502920" y="1188720"/>
            <a:ext cx="7315200" cy="3657600"/>
          </a:xfrm>
          <a:prstGeom prst="rect">
            <a:avLst/>
          </a:prstGeom>
        </p:spPr>
      </p:pic>
      <p:sp>
        <p:nvSpPr>
          <p:cNvPr id="9" name="Rectangle 8"/>
          <p:cNvSpPr/>
          <p:nvPr/>
        </p:nvSpPr>
        <p:spPr>
          <a:xfrm>
            <a:off x="8046720" y="1188720"/>
            <a:ext cx="3657600" cy="32918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1307592"/>
            <a:ext cx="3328416" cy="3054096"/>
          </a:xfrm>
          <a:prstGeom prst="rect">
            <a:avLst/>
          </a:prstGeom>
          <a:noFill/>
        </p:spPr>
        <p:txBody>
          <a:bodyPr wrap="square" lIns="0" rIns="0" tIns="0" bIns="0">
            <a:spAutoFit/>
          </a:bodyPr>
          <a:lstStyle/>
          <a:p>
            <a:r>
              <a:rPr sz="1350" b="1" spc="100">
                <a:solidFill>
                  <a:srgbClr val="16213D"/>
                </a:solidFill>
                <a:latin typeface="Cambria"/>
              </a:rPr>
              <a:t>WHAT IT PROVED</a:t>
            </a:r>
          </a:p>
          <a:p>
            <a:pPr>
              <a:spcBef>
                <a:spcPts val="400"/>
              </a:spcBef>
            </a:pPr>
            <a:r>
              <a:rPr sz="1150">
                <a:solidFill>
                  <a:srgbClr val="222A3F"/>
                </a:solidFill>
                <a:latin typeface="Cambria"/>
              </a:rPr>
              <a:t>Behind rock the link is intermittent at any distance: stale from 1.29 mi, yet a packet landed at 4.28 mi through a gap. The longest silence ran seven minutes and was healed by one packet with no operator action. Both radios audited clean afterward: terrain, not hardware. The rim antenna held 4.7 mi - the quantitative case for the repeater.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14/31  REV C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EVERY FAILURE BECAME A RULE</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The close of Part I; the battery-death row is where Part II begins.</a:t>
            </a:r>
          </a:p>
        </p:txBody>
      </p:sp>
      <p:graphicFrame>
        <p:nvGraphicFramePr>
          <p:cNvPr id="9" name="Table 8"/>
          <p:cNvGraphicFramePr>
            <a:graphicFrameLocks noGrp="1"/>
          </p:cNvGraphicFramePr>
          <p:nvPr/>
        </p:nvGraphicFramePr>
        <p:xfrm>
          <a:off x="502920" y="1188720"/>
          <a:ext cx="11155680" cy="4828031"/>
        </p:xfrm>
        <a:graphic>
          <a:graphicData uri="http://schemas.openxmlformats.org/drawingml/2006/table">
            <a:tbl>
              <a:tblPr firstRow="1" bandRow="1">
                <a:tableStyleId>{5C22544A-7EE6-4342-B048-85BDC9FD1C3A}</a:tableStyleId>
              </a:tblPr>
              <a:tblGrid>
                <a:gridCol w="2743200"/>
                <a:gridCol w="5120640"/>
                <a:gridCol w="3291840"/>
              </a:tblGrid>
              <a:tr h="438911">
                <a:tc>
                  <a:txBody>
                    <a:bodyPr/>
                    <a:lstStyle/>
                    <a:p>
                      <a:r>
                        <a:rPr sz="1050" b="1">
                          <a:solidFill>
                            <a:srgbClr val="FFFFFF"/>
                          </a:solidFill>
                          <a:latin typeface="Cambria"/>
                        </a:rPr>
                        <a:t>Failure</a:t>
                      </a:r>
                    </a:p>
                  </a:txBody>
                  <a:tcPr marL="73152" marR="73152" marT="27432" marB="27432">
                    <a:solidFill>
                      <a:srgbClr val="16213D"/>
                    </a:solidFill>
                  </a:tcPr>
                </a:tc>
                <a:tc>
                  <a:txBody>
                    <a:bodyPr/>
                    <a:lstStyle/>
                    <a:p>
                      <a:r>
                        <a:rPr sz="1050" b="1">
                          <a:solidFill>
                            <a:srgbClr val="FFFFFF"/>
                          </a:solidFill>
                          <a:latin typeface="Cambria"/>
                        </a:rPr>
                        <a:t>Rule or feature it produced</a:t>
                      </a:r>
                    </a:p>
                  </a:txBody>
                  <a:tcPr marL="73152" marR="73152" marT="27432" marB="27432">
                    <a:solidFill>
                      <a:srgbClr val="16213D"/>
                    </a:solidFill>
                  </a:tcPr>
                </a:tc>
                <a:tc>
                  <a:txBody>
                    <a:bodyPr/>
                    <a:lstStyle/>
                    <a:p>
                      <a:r>
                        <a:rPr sz="1050" b="1">
                          <a:solidFill>
                            <a:srgbClr val="FFFFFF"/>
                          </a:solidFill>
                          <a:latin typeface="Cambria"/>
                        </a:rPr>
                        <a:t>Where it lives now</a:t>
                      </a:r>
                    </a:p>
                  </a:txBody>
                  <a:tcPr marL="73152" marR="73152" marT="27432" marB="27432">
                    <a:solidFill>
                      <a:srgbClr val="16213D"/>
                    </a:solidFill>
                  </a:tcPr>
                </a:tc>
              </a:tr>
              <a:tr h="438911">
                <a:tc>
                  <a:txBody>
                    <a:bodyPr/>
                    <a:lstStyle/>
                    <a:p>
                      <a:r>
                        <a:rPr sz="1050" b="0">
                          <a:solidFill>
                            <a:srgbClr val="222A3F"/>
                          </a:solidFill>
                          <a:latin typeface="Cambria"/>
                        </a:rPr>
                        <a:t>Boot-loop</a:t>
                      </a:r>
                    </a:p>
                  </a:txBody>
                  <a:tcPr marL="73152" marR="73152" marT="27432" marB="27432">
                    <a:solidFill>
                      <a:srgbClr val="F2F5FA"/>
                    </a:solidFill>
                  </a:tcPr>
                </a:tc>
                <a:tc>
                  <a:txBody>
                    <a:bodyPr/>
                    <a:lstStyle/>
                    <a:p>
                      <a:r>
                        <a:rPr sz="1050" b="0">
                          <a:solidFill>
                            <a:srgbClr val="222A3F"/>
                          </a:solidFill>
                          <a:latin typeface="Cambria"/>
                        </a:rPr>
                        <a:t>pioarduino + dio_opi; vendor IDF config is ground truth</a:t>
                      </a:r>
                    </a:p>
                  </a:txBody>
                  <a:tcPr marL="73152" marR="73152" marT="27432" marB="27432">
                    <a:solidFill>
                      <a:srgbClr val="F2F5FA"/>
                    </a:solidFill>
                  </a:tcPr>
                </a:tc>
                <a:tc>
                  <a:txBody>
                    <a:bodyPr/>
                    <a:lstStyle/>
                    <a:p>
                      <a:r>
                        <a:rPr sz="1050" b="0">
                          <a:solidFill>
                            <a:srgbClr val="222A3F"/>
                          </a:solidFill>
                          <a:latin typeface="Cambria"/>
                        </a:rPr>
                        <a:t>platformio.ini, manual 14</a:t>
                      </a:r>
                    </a:p>
                  </a:txBody>
                  <a:tcPr marL="73152" marR="73152" marT="27432" marB="27432">
                    <a:solidFill>
                      <a:srgbClr val="F2F5FA"/>
                    </a:solidFill>
                  </a:tcPr>
                </a:tc>
              </a:tr>
              <a:tr h="438911">
                <a:tc>
                  <a:txBody>
                    <a:bodyPr/>
                    <a:lstStyle/>
                    <a:p>
                      <a:r>
                        <a:rPr sz="1050" b="0">
                          <a:solidFill>
                            <a:srgbClr val="222A3F"/>
                          </a:solidFill>
                          <a:latin typeface="Cambria"/>
                        </a:rPr>
                        <a:t>Bonded radio invisible</a:t>
                      </a:r>
                    </a:p>
                  </a:txBody>
                  <a:tcPr marL="73152" marR="73152" marT="27432" marB="27432">
                    <a:solidFill>
                      <a:srgbClr val="FFFFFF"/>
                    </a:solidFill>
                  </a:tcPr>
                </a:tc>
                <a:tc>
                  <a:txBody>
                    <a:bodyPr/>
                    <a:lstStyle/>
                    <a:p>
                      <a:r>
                        <a:rPr sz="1050" b="0">
                          <a:solidFill>
                            <a:srgbClr val="222A3F"/>
                          </a:solidFill>
                          <a:latin typeface="Cambria"/>
                        </a:rPr>
                        <a:t>Just-Works pairing, no stored bond, one teardown path</a:t>
                      </a:r>
                    </a:p>
                  </a:txBody>
                  <a:tcPr marL="73152" marR="73152" marT="27432" marB="27432">
                    <a:solidFill>
                      <a:srgbClr val="FFFFFF"/>
                    </a:solidFill>
                  </a:tcPr>
                </a:tc>
                <a:tc>
                  <a:txBody>
                    <a:bodyPr/>
                    <a:lstStyle/>
                    <a:p>
                      <a:r>
                        <a:rPr sz="1050" b="0">
                          <a:solidFill>
                            <a:srgbClr val="222A3F"/>
                          </a:solidFill>
                          <a:latin typeface="Cambria"/>
                        </a:rPr>
                        <a:t>ble_link.cpp, manual 8</a:t>
                      </a:r>
                    </a:p>
                  </a:txBody>
                  <a:tcPr marL="73152" marR="73152" marT="27432" marB="27432">
                    <a:solidFill>
                      <a:srgbClr val="FFFFFF"/>
                    </a:solidFill>
                  </a:tcPr>
                </a:tc>
              </a:tr>
              <a:tr h="438911">
                <a:tc>
                  <a:txBody>
                    <a:bodyPr/>
                    <a:lstStyle/>
                    <a:p>
                      <a:r>
                        <a:rPr sz="1050" b="0">
                          <a:solidFill>
                            <a:srgbClr val="222A3F"/>
                          </a:solidFill>
                          <a:latin typeface="Cambria"/>
                        </a:rPr>
                        <a:t>First-drive faults</a:t>
                      </a:r>
                    </a:p>
                  </a:txBody>
                  <a:tcPr marL="73152" marR="73152" marT="27432" marB="27432">
                    <a:solidFill>
                      <a:srgbClr val="F2F5FA"/>
                    </a:solidFill>
                  </a:tcPr>
                </a:tc>
                <a:tc>
                  <a:txBody>
                    <a:bodyPr/>
                    <a:lstStyle/>
                    <a:p>
                      <a:r>
                        <a:rPr sz="1050" b="0">
                          <a:solidFill>
                            <a:srgbClr val="222A3F"/>
                          </a:solidFill>
                          <a:latin typeface="Cambria"/>
                        </a:rPr>
                        <a:t>Precision 32, 10 s GPS, km/h decode, deadband; validate on the road</a:t>
                      </a:r>
                    </a:p>
                  </a:txBody>
                  <a:tcPr marL="73152" marR="73152" marT="27432" marB="27432">
                    <a:solidFill>
                      <a:srgbClr val="F2F5FA"/>
                    </a:solidFill>
                  </a:tcPr>
                </a:tc>
                <a:tc>
                  <a:txBody>
                    <a:bodyPr/>
                    <a:lstStyle/>
                    <a:p>
                      <a:r>
                        <a:rPr sz="1050" b="0">
                          <a:solidFill>
                            <a:srgbClr val="222A3F"/>
                          </a:solidFill>
                          <a:latin typeface="Cambria"/>
                        </a:rPr>
                        <a:t>Provisioning recipe, node_table.cpp</a:t>
                      </a:r>
                    </a:p>
                  </a:txBody>
                  <a:tcPr marL="73152" marR="73152" marT="27432" marB="27432">
                    <a:solidFill>
                      <a:srgbClr val="F2F5FA"/>
                    </a:solidFill>
                  </a:tcPr>
                </a:tc>
              </a:tr>
              <a:tr h="438911">
                <a:tc>
                  <a:txBody>
                    <a:bodyPr/>
                    <a:lstStyle/>
                    <a:p>
                      <a:r>
                        <a:rPr sz="1050" b="0">
                          <a:solidFill>
                            <a:srgbClr val="222A3F"/>
                          </a:solidFill>
                          <a:latin typeface="Cambria"/>
                        </a:rPr>
                        <a:t>Wrong flash</a:t>
                      </a:r>
                    </a:p>
                  </a:txBody>
                  <a:tcPr marL="73152" marR="73152" marT="27432" marB="27432">
                    <a:solidFill>
                      <a:srgbClr val="FFFFFF"/>
                    </a:solidFill>
                  </a:tcPr>
                </a:tc>
                <a:tc>
                  <a:txBody>
                    <a:bodyPr/>
                    <a:lstStyle/>
                    <a:p>
                      <a:r>
                        <a:rPr sz="1050" b="0">
                          <a:solidFill>
                            <a:srgbClr val="222A3F"/>
                          </a:solidFill>
                          <a:latin typeface="Cambria"/>
                        </a:rPr>
                        <a:t>Identify by MAC before any upload; never auto-pick a port</a:t>
                      </a:r>
                    </a:p>
                  </a:txBody>
                  <a:tcPr marL="73152" marR="73152" marT="27432" marB="27432">
                    <a:solidFill>
                      <a:srgbClr val="FFFFFF"/>
                    </a:solidFill>
                  </a:tcPr>
                </a:tc>
                <a:tc>
                  <a:txBody>
                    <a:bodyPr/>
                    <a:lstStyle/>
                    <a:p>
                      <a:r>
                        <a:rPr sz="1050" b="0">
                          <a:solidFill>
                            <a:srgbClr val="222A3F"/>
                          </a:solidFill>
                          <a:latin typeface="Cambria"/>
                        </a:rPr>
                        <a:t>Manual 14.2 fleet table</a:t>
                      </a:r>
                    </a:p>
                  </a:txBody>
                  <a:tcPr marL="73152" marR="73152" marT="27432" marB="27432">
                    <a:solidFill>
                      <a:srgbClr val="FFFFFF"/>
                    </a:solidFill>
                  </a:tcPr>
                </a:tc>
              </a:tr>
              <a:tr h="438911">
                <a:tc>
                  <a:txBody>
                    <a:bodyPr/>
                    <a:lstStyle/>
                    <a:p>
                      <a:r>
                        <a:rPr sz="1050" b="0">
                          <a:solidFill>
                            <a:srgbClr val="222A3F"/>
                          </a:solidFill>
                          <a:latin typeface="Cambria"/>
                        </a:rPr>
                        <a:t>Lying CLI</a:t>
                      </a:r>
                    </a:p>
                  </a:txBody>
                  <a:tcPr marL="73152" marR="73152" marT="27432" marB="27432">
                    <a:solidFill>
                      <a:srgbClr val="F2F5FA"/>
                    </a:solidFill>
                  </a:tcPr>
                </a:tc>
                <a:tc>
                  <a:txBody>
                    <a:bodyPr/>
                    <a:lstStyle/>
                    <a:p>
                      <a:r>
                        <a:rPr sz="1050" b="0">
                          <a:solidFill>
                            <a:srgbClr val="222A3F"/>
                          </a:solidFill>
                          <a:latin typeface="Cambria"/>
                        </a:rPr>
                        <a:t>Read back every write; the OLED outranks the CLI</a:t>
                      </a:r>
                    </a:p>
                  </a:txBody>
                  <a:tcPr marL="73152" marR="73152" marT="27432" marB="27432">
                    <a:solidFill>
                      <a:srgbClr val="F2F5FA"/>
                    </a:solidFill>
                  </a:tcPr>
                </a:tc>
                <a:tc>
                  <a:txBody>
                    <a:bodyPr/>
                    <a:lstStyle/>
                    <a:p>
                      <a:r>
                        <a:rPr sz="1050" b="0">
                          <a:solidFill>
                            <a:srgbClr val="222A3F"/>
                          </a:solidFill>
                          <a:latin typeface="Cambria"/>
                        </a:rPr>
                        <a:t>Manual 16, entry 6</a:t>
                      </a:r>
                    </a:p>
                  </a:txBody>
                  <a:tcPr marL="73152" marR="73152" marT="27432" marB="27432">
                    <a:solidFill>
                      <a:srgbClr val="F2F5FA"/>
                    </a:solidFill>
                  </a:tcPr>
                </a:tc>
              </a:tr>
              <a:tr h="438911">
                <a:tc>
                  <a:txBody>
                    <a:bodyPr/>
                    <a:lstStyle/>
                    <a:p>
                      <a:r>
                        <a:rPr sz="1050" b="0">
                          <a:solidFill>
                            <a:srgbClr val="222A3F"/>
                          </a:solidFill>
                          <a:latin typeface="Cambria"/>
                        </a:rPr>
                        <a:t>Silent frequency revert</a:t>
                      </a:r>
                    </a:p>
                  </a:txBody>
                  <a:tcPr marL="73152" marR="73152" marT="27432" marB="27432">
                    <a:solidFill>
                      <a:srgbClr val="FFFFFF"/>
                    </a:solidFill>
                  </a:tcPr>
                </a:tc>
                <a:tc>
                  <a:txBody>
                    <a:bodyPr/>
                    <a:lstStyle/>
                    <a:p>
                      <a:r>
                        <a:rPr sz="1050" b="0">
                          <a:solidFill>
                            <a:srgbClr val="222A3F"/>
                          </a:solidFill>
                          <a:latin typeface="Cambria"/>
                        </a:rPr>
                        <a:t>Pre-flight: both OLEDs read 912.875</a:t>
                      </a:r>
                    </a:p>
                  </a:txBody>
                  <a:tcPr marL="73152" marR="73152" marT="27432" marB="27432">
                    <a:solidFill>
                      <a:srgbClr val="FFFFFF"/>
                    </a:solidFill>
                  </a:tcPr>
                </a:tc>
                <a:tc>
                  <a:txBody>
                    <a:bodyPr/>
                    <a:lstStyle/>
                    <a:p>
                      <a:r>
                        <a:rPr sz="1050" b="0">
                          <a:solidFill>
                            <a:srgbClr val="222A3F"/>
                          </a:solidFill>
                          <a:latin typeface="Cambria"/>
                        </a:rPr>
                        <a:t>User guide 3, manual 7</a:t>
                      </a:r>
                    </a:p>
                  </a:txBody>
                  <a:tcPr marL="73152" marR="73152" marT="27432" marB="27432">
                    <a:solidFill>
                      <a:srgbClr val="FFFFFF"/>
                    </a:solidFill>
                  </a:tcPr>
                </a:tc>
              </a:tr>
              <a:tr h="438911">
                <a:tc>
                  <a:txBody>
                    <a:bodyPr/>
                    <a:lstStyle/>
                    <a:p>
                      <a:r>
                        <a:rPr sz="1050" b="0">
                          <a:solidFill>
                            <a:srgbClr val="222A3F"/>
                          </a:solidFill>
                          <a:latin typeface="Cambria"/>
                        </a:rPr>
                        <a:t>Battery death reverts</a:t>
                      </a:r>
                    </a:p>
                  </a:txBody>
                  <a:tcPr marL="73152" marR="73152" marT="27432" marB="27432">
                    <a:solidFill>
                      <a:srgbClr val="F2F5FA"/>
                    </a:solidFill>
                  </a:tcPr>
                </a:tc>
                <a:tc>
                  <a:txBody>
                    <a:bodyPr/>
                    <a:lstStyle/>
                    <a:p>
                      <a:r>
                        <a:rPr sz="1050" b="0">
                          <a:solidFill>
                            <a:srgbClr val="222A3F"/>
                          </a:solidFill>
                          <a:latin typeface="Cambria"/>
                        </a:rPr>
                        <a:t>Snapshots and pre-flight in October; root cause and repair on Oct 27: Part II</a:t>
                      </a:r>
                    </a:p>
                  </a:txBody>
                  <a:tcPr marL="73152" marR="73152" marT="27432" marB="27432">
                    <a:solidFill>
                      <a:srgbClr val="F2F5FA"/>
                    </a:solidFill>
                  </a:tcPr>
                </a:tc>
                <a:tc>
                  <a:txBody>
                    <a:bodyPr/>
                    <a:lstStyle/>
                    <a:p>
                      <a:r>
                        <a:rPr sz="1050" b="0">
                          <a:solidFill>
                            <a:srgbClr val="222A3F"/>
                          </a:solidFill>
                          <a:latin typeface="Cambria"/>
                        </a:rPr>
                        <a:t>Part II</a:t>
                      </a:r>
                    </a:p>
                  </a:txBody>
                  <a:tcPr marL="73152" marR="73152" marT="27432" marB="27432">
                    <a:solidFill>
                      <a:srgbClr val="F2F5FA"/>
                    </a:solidFill>
                  </a:tcPr>
                </a:tc>
              </a:tr>
              <a:tr h="438911">
                <a:tc>
                  <a:txBody>
                    <a:bodyPr/>
                    <a:lstStyle/>
                    <a:p>
                      <a:r>
                        <a:rPr sz="1050" b="0">
                          <a:solidFill>
                            <a:srgbClr val="222A3F"/>
                          </a:solidFill>
                          <a:latin typeface="Cambria"/>
                        </a:rPr>
                        <a:t>Hand-rotated compass</a:t>
                      </a:r>
                    </a:p>
                  </a:txBody>
                  <a:tcPr marL="73152" marR="73152" marT="27432" marB="27432">
                    <a:solidFill>
                      <a:srgbClr val="FFFFFF"/>
                    </a:solidFill>
                  </a:tcPr>
                </a:tc>
                <a:tc>
                  <a:txBody>
                    <a:bodyPr/>
                    <a:lstStyle/>
                    <a:p>
                      <a:r>
                        <a:rPr sz="1050" b="0">
                          <a:solidFill>
                            <a:srgbClr val="222A3F"/>
                          </a:solidFill>
                          <a:latin typeface="Cambria"/>
                        </a:rPr>
                        <a:t>Course-up compass; cadence-aware staleness</a:t>
                      </a:r>
                    </a:p>
                  </a:txBody>
                  <a:tcPr marL="73152" marR="73152" marT="27432" marB="27432">
                    <a:solidFill>
                      <a:srgbClr val="FFFFFF"/>
                    </a:solidFill>
                  </a:tcPr>
                </a:tc>
                <a:tc>
                  <a:txBody>
                    <a:bodyPr/>
                    <a:lstStyle/>
                    <a:p>
                      <a:r>
                        <a:rPr sz="1050" b="0">
                          <a:solidFill>
                            <a:srgbClr val="222A3F"/>
                          </a:solidFill>
                          <a:latin typeface="Cambria"/>
                        </a:rPr>
                        <a:t>ui_render.cpp, manual 9</a:t>
                      </a:r>
                    </a:p>
                  </a:txBody>
                  <a:tcPr marL="73152" marR="73152" marT="27432" marB="27432">
                    <a:solidFill>
                      <a:srgbClr val="FFFFFF"/>
                    </a:solidFill>
                  </a:tcPr>
                </a:tc>
              </a:tr>
              <a:tr h="438911">
                <a:tc>
                  <a:txBody>
                    <a:bodyPr/>
                    <a:lstStyle/>
                    <a:p>
                      <a:r>
                        <a:rPr sz="1050" b="0">
                          <a:solidFill>
                            <a:srgbClr val="222A3F"/>
                          </a:solidFill>
                          <a:latin typeface="Cambria"/>
                        </a:rPr>
                        <a:t>Night before the canyon</a:t>
                      </a:r>
                    </a:p>
                  </a:txBody>
                  <a:tcPr marL="73152" marR="73152" marT="27432" marB="27432">
                    <a:solidFill>
                      <a:srgbClr val="F2F5FA"/>
                    </a:solidFill>
                  </a:tcPr>
                </a:tc>
                <a:tc>
                  <a:txBody>
                    <a:bodyPr/>
                    <a:lstStyle/>
                    <a:p>
                      <a:r>
                        <a:rPr sz="1050" b="0">
                          <a:solidFill>
                            <a:srgbClr val="222A3F"/>
                          </a:solidFill>
                          <a:latin typeface="Cambria"/>
                        </a:rPr>
                        <a:t>Flashlight test, plug orientation, the 261 signature</a:t>
                      </a:r>
                    </a:p>
                  </a:txBody>
                  <a:tcPr marL="73152" marR="73152" marT="27432" marB="27432">
                    <a:solidFill>
                      <a:srgbClr val="F2F5FA"/>
                    </a:solidFill>
                  </a:tcPr>
                </a:tc>
                <a:tc>
                  <a:txBody>
                    <a:bodyPr/>
                    <a:lstStyle/>
                    <a:p>
                      <a:r>
                        <a:rPr sz="1050" b="0">
                          <a:solidFill>
                            <a:srgbClr val="222A3F"/>
                          </a:solidFill>
                          <a:latin typeface="Cambria"/>
                        </a:rPr>
                        <a:t>Manual 16, entries 9-10</a:t>
                      </a:r>
                    </a:p>
                  </a:txBody>
                  <a:tcPr marL="73152" marR="73152" marT="27432" marB="27432">
                    <a:solidFill>
                      <a:srgbClr val="F2F5FA"/>
                    </a:solidFill>
                  </a:tcPr>
                </a:tc>
              </a:tr>
              <a:tr h="438921">
                <a:tc>
                  <a:txBody>
                    <a:bodyPr/>
                    <a:lstStyle/>
                    <a:p>
                      <a:r>
                        <a:rPr sz="1050" b="0">
                          <a:solidFill>
                            <a:srgbClr val="222A3F"/>
                          </a:solidFill>
                          <a:latin typeface="Cambria"/>
                        </a:rPr>
                        <a:t>Phantom 0.21 mi</a:t>
                      </a:r>
                    </a:p>
                  </a:txBody>
                  <a:tcPr marL="73152" marR="73152" marT="27432" marB="27432">
                    <a:solidFill>
                      <a:srgbClr val="FFFFFF"/>
                    </a:solidFill>
                  </a:tcPr>
                </a:tc>
                <a:tc>
                  <a:txBody>
                    <a:bodyPr/>
                    <a:lstStyle/>
                    <a:p>
                      <a:r>
                        <a:rPr sz="1050" b="0">
                          <a:solidFill>
                            <a:srgbClr val="222A3F"/>
                          </a:solidFill>
                          <a:latin typeface="Cambria"/>
                        </a:rPr>
                        <a:t>Judge distances only with sky view; holding when both parked</a:t>
                      </a:r>
                    </a:p>
                  </a:txBody>
                  <a:tcPr marL="73152" marR="73152" marT="27432" marB="27432">
                    <a:solidFill>
                      <a:srgbClr val="FFFFFF"/>
                    </a:solidFill>
                  </a:tcPr>
                </a:tc>
                <a:tc>
                  <a:txBody>
                    <a:bodyPr/>
                    <a:lstStyle/>
                    <a:p>
                      <a:r>
                        <a:rPr sz="1050" b="0">
                          <a:solidFill>
                            <a:srgbClr val="222A3F"/>
                          </a:solidFill>
                          <a:latin typeface="Cambria"/>
                        </a:rPr>
                        <a:t>Manual 16, entry 11; Guide 11</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15/31  REV C  2026-10-27</a:t>
            </a:r>
          </a:p>
        </p:txBody>
      </p:sp>
      <p:sp>
        <p:nvSpPr>
          <p:cNvPr id="36" name="TextBox 35"/>
          <p:cNvSpPr txBox="1"/>
          <p:nvPr/>
        </p:nvSpPr>
        <p:spPr>
          <a:xfrm>
            <a:off x="640080" y="1463040"/>
            <a:ext cx="10881360" cy="822960"/>
          </a:xfrm>
          <a:prstGeom prst="rect">
            <a:avLst/>
          </a:prstGeom>
          <a:noFill/>
        </p:spPr>
        <p:txBody>
          <a:bodyPr wrap="square" lIns="0" rIns="0" tIns="0" bIns="0">
            <a:spAutoFit/>
          </a:bodyPr>
          <a:lstStyle/>
          <a:p>
            <a:pPr algn="l"/>
            <a:r>
              <a:rPr sz="2000" b="1" i="0" spc="400">
                <a:solidFill>
                  <a:srgbClr val="E58E1A"/>
                </a:solidFill>
                <a:latin typeface="Cambria"/>
              </a:rPr>
              <a:t>PART II</a:t>
            </a:r>
          </a:p>
        </p:txBody>
      </p:sp>
      <p:sp>
        <p:nvSpPr>
          <p:cNvPr id="37" name="TextBox 36"/>
          <p:cNvSpPr txBox="1"/>
          <p:nvPr/>
        </p:nvSpPr>
        <p:spPr>
          <a:xfrm>
            <a:off x="640080" y="2011680"/>
            <a:ext cx="10881360" cy="1097280"/>
          </a:xfrm>
          <a:prstGeom prst="rect">
            <a:avLst/>
          </a:prstGeom>
          <a:noFill/>
        </p:spPr>
        <p:txBody>
          <a:bodyPr wrap="square" lIns="0" rIns="0" tIns="0" bIns="0">
            <a:spAutoFit/>
          </a:bodyPr>
          <a:lstStyle/>
          <a:p>
            <a:pPr algn="l"/>
            <a:r>
              <a:rPr sz="4000" b="1" i="0" spc="300">
                <a:solidFill>
                  <a:srgbClr val="16213D"/>
                </a:solidFill>
                <a:latin typeface="Cambria"/>
              </a:rPr>
              <a:t>WHY THE RADIOS FORGET</a:t>
            </a:r>
          </a:p>
        </p:txBody>
      </p:sp>
      <p:sp>
        <p:nvSpPr>
          <p:cNvPr id="38" name="TextBox 37"/>
          <p:cNvSpPr txBox="1"/>
          <p:nvPr/>
        </p:nvSpPr>
        <p:spPr>
          <a:xfrm>
            <a:off x="658368" y="2926080"/>
            <a:ext cx="10058400" cy="822960"/>
          </a:xfrm>
          <a:prstGeom prst="rect">
            <a:avLst/>
          </a:prstGeom>
          <a:noFill/>
        </p:spPr>
        <p:txBody>
          <a:bodyPr wrap="square" lIns="0" rIns="0" tIns="0" bIns="0">
            <a:spAutoFit/>
          </a:bodyPr>
          <a:lstStyle/>
          <a:p>
            <a:pPr algn="l"/>
            <a:r>
              <a:rPr sz="1400" b="0" i="0">
                <a:solidFill>
                  <a:srgbClr val="222A3F"/>
                </a:solidFill>
                <a:latin typeface="Cambria"/>
              </a:rPr>
              <a:t>The battery-death failure, chased from the symptom to the flash cells and back to a fix. Measurements on both radios, 27 October 2026.</a:t>
            </a:r>
          </a:p>
        </p:txBody>
      </p:sp>
      <p:sp>
        <p:nvSpPr>
          <p:cNvPr id="39" name="Rectangle 38"/>
          <p:cNvSpPr/>
          <p:nvPr/>
        </p:nvSpPr>
        <p:spPr>
          <a:xfrm>
            <a:off x="658368" y="4023360"/>
            <a:ext cx="2560320" cy="13716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133088"/>
            <a:ext cx="2560320" cy="762000"/>
          </a:xfrm>
          <a:prstGeom prst="rect">
            <a:avLst/>
          </a:prstGeom>
          <a:noFill/>
        </p:spPr>
        <p:txBody>
          <a:bodyPr wrap="square" lIns="0" rIns="0" tIns="0" bIns="0">
            <a:spAutoFit/>
          </a:bodyPr>
          <a:lstStyle/>
          <a:p>
            <a:pPr algn="ctr"/>
            <a:r>
              <a:rPr sz="3000" b="1" i="0">
                <a:solidFill>
                  <a:srgbClr val="E58E1A"/>
                </a:solidFill>
                <a:latin typeface="Cambria"/>
              </a:rPr>
              <a:t>21 -&gt; 0</a:t>
            </a:r>
          </a:p>
        </p:txBody>
      </p:sp>
      <p:sp>
        <p:nvSpPr>
          <p:cNvPr id="41" name="TextBox 40"/>
          <p:cNvSpPr txBox="1"/>
          <p:nvPr/>
        </p:nvSpPr>
        <p:spPr>
          <a:xfrm>
            <a:off x="795528" y="4986528"/>
            <a:ext cx="2286000" cy="335279"/>
          </a:xfrm>
          <a:prstGeom prst="rect">
            <a:avLst/>
          </a:prstGeom>
          <a:noFill/>
        </p:spPr>
        <p:txBody>
          <a:bodyPr wrap="square" lIns="0" rIns="0" tIns="0" bIns="0">
            <a:spAutoFit/>
          </a:bodyPr>
          <a:lstStyle/>
          <a:p>
            <a:pPr algn="ctr"/>
            <a:r>
              <a:rPr sz="1100" b="0" i="0">
                <a:solidFill>
                  <a:srgbClr val="222A3F"/>
                </a:solidFill>
                <a:latin typeface="Cambria"/>
              </a:rPr>
              <a:t>unstable flash sectors on SF, before and after repair</a:t>
            </a:r>
          </a:p>
        </p:txBody>
      </p:sp>
      <p:sp>
        <p:nvSpPr>
          <p:cNvPr id="42" name="Rectangle 41"/>
          <p:cNvSpPr/>
          <p:nvPr/>
        </p:nvSpPr>
        <p:spPr>
          <a:xfrm>
            <a:off x="3401568" y="4023360"/>
            <a:ext cx="2560320" cy="13716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01568" y="4133088"/>
            <a:ext cx="2560320" cy="762000"/>
          </a:xfrm>
          <a:prstGeom prst="rect">
            <a:avLst/>
          </a:prstGeom>
          <a:noFill/>
        </p:spPr>
        <p:txBody>
          <a:bodyPr wrap="square" lIns="0" rIns="0" tIns="0" bIns="0">
            <a:spAutoFit/>
          </a:bodyPr>
          <a:lstStyle/>
          <a:p>
            <a:pPr algn="ctr"/>
            <a:r>
              <a:rPr sz="3000" b="1" i="0">
                <a:solidFill>
                  <a:srgbClr val="E58E1A"/>
                </a:solidFill>
                <a:latin typeface="Cambria"/>
              </a:rPr>
              <a:t>260 mV</a:t>
            </a:r>
          </a:p>
        </p:txBody>
      </p:sp>
      <p:sp>
        <p:nvSpPr>
          <p:cNvPr id="44" name="TextBox 43"/>
          <p:cNvSpPr txBox="1"/>
          <p:nvPr/>
        </p:nvSpPr>
        <p:spPr>
          <a:xfrm>
            <a:off x="3538728" y="4986528"/>
            <a:ext cx="2286000" cy="335279"/>
          </a:xfrm>
          <a:prstGeom prst="rect">
            <a:avLst/>
          </a:prstGeom>
          <a:noFill/>
        </p:spPr>
        <p:txBody>
          <a:bodyPr wrap="square" lIns="0" rIns="0" tIns="0" bIns="0">
            <a:spAutoFit/>
          </a:bodyPr>
          <a:lstStyle/>
          <a:p>
            <a:pPr algn="ctr"/>
            <a:r>
              <a:rPr sz="1100" b="0" i="0">
                <a:solidFill>
                  <a:srgbClr val="222A3F"/>
                </a:solidFill>
                <a:latin typeface="Cambria"/>
              </a:rPr>
              <a:t>window in which the CPU writes to an out-of-spec flash</a:t>
            </a:r>
          </a:p>
        </p:txBody>
      </p:sp>
      <p:sp>
        <p:nvSpPr>
          <p:cNvPr id="45" name="Rectangle 44"/>
          <p:cNvSpPr/>
          <p:nvPr/>
        </p:nvSpPr>
        <p:spPr>
          <a:xfrm>
            <a:off x="6144768" y="4023360"/>
            <a:ext cx="2560320" cy="13716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44768" y="4133088"/>
            <a:ext cx="2560320" cy="762000"/>
          </a:xfrm>
          <a:prstGeom prst="rect">
            <a:avLst/>
          </a:prstGeom>
          <a:noFill/>
        </p:spPr>
        <p:txBody>
          <a:bodyPr wrap="square" lIns="0" rIns="0" tIns="0" bIns="0">
            <a:spAutoFit/>
          </a:bodyPr>
          <a:lstStyle/>
          <a:p>
            <a:pPr algn="ctr"/>
            <a:r>
              <a:rPr sz="3000" b="1" i="0">
                <a:solidFill>
                  <a:srgbClr val="E58E1A"/>
                </a:solidFill>
                <a:latin typeface="Cambria"/>
              </a:rPr>
              <a:t>true</a:t>
            </a:r>
          </a:p>
        </p:txBody>
      </p:sp>
      <p:sp>
        <p:nvSpPr>
          <p:cNvPr id="47" name="TextBox 46"/>
          <p:cNvSpPr txBox="1"/>
          <p:nvPr/>
        </p:nvSpPr>
        <p:spPr>
          <a:xfrm>
            <a:off x="6281928" y="4986528"/>
            <a:ext cx="2286000" cy="335279"/>
          </a:xfrm>
          <a:prstGeom prst="rect">
            <a:avLst/>
          </a:prstGeom>
          <a:noFill/>
        </p:spPr>
        <p:txBody>
          <a:bodyPr wrap="square" lIns="0" rIns="0" tIns="0" bIns="0">
            <a:spAutoFit/>
          </a:bodyPr>
          <a:lstStyle/>
          <a:p>
            <a:pPr algn="ctr"/>
            <a:r>
              <a:rPr sz="1100" b="0" i="0">
                <a:solidFill>
                  <a:srgbClr val="222A3F"/>
                </a:solidFill>
                <a:latin typeface="Cambria"/>
              </a:rPr>
              <a:t>what the firmware's power-safety check always returns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16/31  REV C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ONE QUESTION, THREE POSSIBLE MEANINGS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"It might be the memory itself." Each meaning leaves a different fingerprint and needs a different fix.</a:t>
            </a:r>
          </a:p>
        </p:txBody>
      </p:sp>
      <p:sp>
        <p:nvSpPr>
          <p:cNvPr id="9" name="Rectangle 8"/>
          <p:cNvSpPr/>
          <p:nvPr/>
        </p:nvSpPr>
        <p:spPr>
          <a:xfrm>
            <a:off x="502920" y="1417320"/>
            <a:ext cx="3657600" cy="237744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536192"/>
            <a:ext cx="3328416" cy="2139696"/>
          </a:xfrm>
          <a:prstGeom prst="rect">
            <a:avLst/>
          </a:prstGeom>
          <a:noFill/>
        </p:spPr>
        <p:txBody>
          <a:bodyPr wrap="square" lIns="0" rIns="0" tIns="0" bIns="0">
            <a:spAutoFit/>
          </a:bodyPr>
          <a:lstStyle/>
          <a:p>
            <a:r>
              <a:rPr sz="1350" b="1" spc="100">
                <a:solidFill>
                  <a:srgbClr val="C43A4B"/>
                </a:solidFill>
                <a:latin typeface="Cambria"/>
              </a:rPr>
              <a:t>WORN OUT</a:t>
            </a:r>
          </a:p>
          <a:p>
            <a:pPr>
              <a:spcBef>
                <a:spcPts val="400"/>
              </a:spcBef>
            </a:pPr>
            <a:r>
              <a:rPr sz="1200">
                <a:solidFill>
                  <a:srgbClr val="222A3F"/>
                </a:solidFill>
                <a:latin typeface="Cambria"/>
              </a:rPr>
              <a:t>•  Endurance exhausted by write volume</a:t>
            </a:r>
          </a:p>
          <a:p>
            <a:pPr>
              <a:spcBef>
                <a:spcPts val="400"/>
              </a:spcBef>
            </a:pPr>
            <a:r>
              <a:rPr sz="1200">
                <a:solidFill>
                  <a:srgbClr val="222A3F"/>
                </a:solidFill>
                <a:latin typeface="Cambria"/>
              </a:rPr>
              <a:t>•  Fingerprint: diffuse failures, many sectors</a:t>
            </a:r>
          </a:p>
          <a:p>
            <a:pPr>
              <a:spcBef>
                <a:spcPts val="400"/>
              </a:spcBef>
            </a:pPr>
            <a:r>
              <a:rPr sz="1200">
                <a:solidFill>
                  <a:srgbClr val="222A3F"/>
                </a:solidFill>
                <a:latin typeface="Cambria"/>
              </a:rPr>
              <a:t>•  Fix: replace the part</a:t>
            </a:r>
          </a:p>
        </p:txBody>
      </p:sp>
      <p:sp>
        <p:nvSpPr>
          <p:cNvPr id="11" name="Rectangle 10"/>
          <p:cNvSpPr/>
          <p:nvPr/>
        </p:nvSpPr>
        <p:spPr>
          <a:xfrm>
            <a:off x="4251959" y="1417320"/>
            <a:ext cx="3657600" cy="237744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16551" y="1536192"/>
            <a:ext cx="3328416" cy="2139696"/>
          </a:xfrm>
          <a:prstGeom prst="rect">
            <a:avLst/>
          </a:prstGeom>
          <a:noFill/>
        </p:spPr>
        <p:txBody>
          <a:bodyPr wrap="square" lIns="0" rIns="0" tIns="0" bIns="0">
            <a:spAutoFit/>
          </a:bodyPr>
          <a:lstStyle/>
          <a:p>
            <a:r>
              <a:rPr sz="1350" b="1" spc="100">
                <a:solidFill>
                  <a:srgbClr val="E58E1A"/>
                </a:solidFill>
                <a:latin typeface="Cambria"/>
              </a:rPr>
              <a:t>DEFECTIVE OR MARGINAL CELLS</a:t>
            </a:r>
          </a:p>
          <a:p>
            <a:pPr>
              <a:spcBef>
                <a:spcPts val="400"/>
              </a:spcBef>
            </a:pPr>
            <a:r>
              <a:rPr sz="1200">
                <a:solidFill>
                  <a:srgbClr val="222A3F"/>
                </a:solidFill>
                <a:latin typeface="Cambria"/>
              </a:rPr>
              <a:t>•  Specific cells that will not hold a value</a:t>
            </a:r>
          </a:p>
          <a:p>
            <a:pPr>
              <a:spcBef>
                <a:spcPts val="400"/>
              </a:spcBef>
            </a:pPr>
            <a:r>
              <a:rPr sz="1200">
                <a:solidFill>
                  <a:srgbClr val="222A3F"/>
                </a:solidFill>
                <a:latin typeface="Cambria"/>
              </a:rPr>
              <a:t>•  Fingerprint: the same sectors misread, every pass</a:t>
            </a:r>
          </a:p>
          <a:p>
            <a:pPr>
              <a:spcBef>
                <a:spcPts val="400"/>
              </a:spcBef>
            </a:pPr>
            <a:r>
              <a:rPr sz="1200">
                <a:solidFill>
                  <a:srgbClr val="222A3F"/>
                </a:solidFill>
                <a:latin typeface="Cambria"/>
              </a:rPr>
              <a:t>•  Fix: avoid or re-form those sectors</a:t>
            </a:r>
          </a:p>
        </p:txBody>
      </p:sp>
      <p:sp>
        <p:nvSpPr>
          <p:cNvPr id="13" name="Rectangle 12"/>
          <p:cNvSpPr/>
          <p:nvPr/>
        </p:nvSpPr>
        <p:spPr>
          <a:xfrm>
            <a:off x="8001000" y="1417320"/>
            <a:ext cx="3657600" cy="23774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5592" y="1536192"/>
            <a:ext cx="3328416" cy="2139696"/>
          </a:xfrm>
          <a:prstGeom prst="rect">
            <a:avLst/>
          </a:prstGeom>
          <a:noFill/>
        </p:spPr>
        <p:txBody>
          <a:bodyPr wrap="square" lIns="0" rIns="0" tIns="0" bIns="0">
            <a:spAutoFit/>
          </a:bodyPr>
          <a:lstStyle/>
          <a:p>
            <a:r>
              <a:rPr sz="1350" b="1" spc="100">
                <a:solidFill>
                  <a:srgbClr val="1F9D68"/>
                </a:solidFill>
                <a:latin typeface="Cambria"/>
              </a:rPr>
              <a:t>CORRUPTED BY THE CONDITIONS OF A WRITE</a:t>
            </a:r>
          </a:p>
          <a:p>
            <a:pPr>
              <a:spcBef>
                <a:spcPts val="400"/>
              </a:spcBef>
            </a:pPr>
            <a:r>
              <a:rPr sz="1200">
                <a:solidFill>
                  <a:srgbClr val="222A3F"/>
                </a:solidFill>
                <a:latin typeface="Cambria"/>
              </a:rPr>
              <a:t>•  Healthy cells written while the supply was out of spec</a:t>
            </a:r>
          </a:p>
          <a:p>
            <a:pPr>
              <a:spcBef>
                <a:spcPts val="400"/>
              </a:spcBef>
            </a:pPr>
            <a:r>
              <a:rPr sz="1200">
                <a:solidFill>
                  <a:srgbClr val="222A3F"/>
                </a:solidFill>
                <a:latin typeface="Cambria"/>
              </a:rPr>
              <a:t>•  Fingerprint: follows power events; heals when rewritten</a:t>
            </a:r>
          </a:p>
          <a:p>
            <a:pPr>
              <a:spcBef>
                <a:spcPts val="400"/>
              </a:spcBef>
            </a:pPr>
            <a:r>
              <a:rPr sz="1200">
                <a:solidFill>
                  <a:srgbClr val="222A3F"/>
                </a:solidFill>
                <a:latin typeface="Cambria"/>
              </a:rPr>
              <a:t>•  Fix: never write under low voltage</a:t>
            </a:r>
          </a:p>
        </p:txBody>
      </p:sp>
      <p:sp>
        <p:nvSpPr>
          <p:cNvPr id="15" name="Rectangle 14"/>
          <p:cNvSpPr/>
          <p:nvPr/>
        </p:nvSpPr>
        <p:spPr>
          <a:xfrm>
            <a:off x="502920" y="4069080"/>
            <a:ext cx="11155680" cy="19202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187952"/>
            <a:ext cx="10826496" cy="1682496"/>
          </a:xfrm>
          <a:prstGeom prst="rect">
            <a:avLst/>
          </a:prstGeom>
          <a:noFill/>
        </p:spPr>
        <p:txBody>
          <a:bodyPr wrap="square" lIns="0" rIns="0" tIns="0" bIns="0">
            <a:spAutoFit/>
          </a:bodyPr>
          <a:lstStyle/>
          <a:p>
            <a:r>
              <a:rPr sz="1350" b="1" spc="100">
                <a:solidFill>
                  <a:srgbClr val="16213D"/>
                </a:solidFill>
                <a:latin typeface="Cambria"/>
              </a:rPr>
              <a:t>HOW WE TOLD THEM APART</a:t>
            </a:r>
          </a:p>
          <a:p>
            <a:pPr>
              <a:spcBef>
                <a:spcPts val="400"/>
              </a:spcBef>
            </a:pPr>
            <a:r>
              <a:rPr sz="1250">
                <a:solidFill>
                  <a:srgbClr val="222A3F"/>
                </a:solidFill>
                <a:latin typeface="Cambria"/>
              </a:rPr>
              <a:t>•  Read the settings partition straight off the chip, firmware halted, three times in one session</a:t>
            </a:r>
          </a:p>
          <a:p>
            <a:pPr>
              <a:spcBef>
                <a:spcPts val="400"/>
              </a:spcBef>
            </a:pPr>
            <a:r>
              <a:rPr sz="1250">
                <a:solidFill>
                  <a:srgbClr val="222A3F"/>
                </a:solidFill>
                <a:latin typeface="Cambria"/>
              </a:rPr>
              <a:t>•  Read the firmware's save and load code at tag v2.7.26</a:t>
            </a:r>
          </a:p>
          <a:p>
            <a:pPr>
              <a:spcBef>
                <a:spcPts val="400"/>
              </a:spcBef>
            </a:pPr>
            <a:r>
              <a:rPr sz="1250">
                <a:solidFill>
                  <a:srgbClr val="222A3F"/>
                </a:solidFill>
                <a:latin typeface="Cambria"/>
              </a:rPr>
              <a:t>•  Read the flash and board datasheets and the brownout level the firmware is built with</a:t>
            </a:r>
          </a:p>
          <a:p>
            <a:pPr>
              <a:spcBef>
                <a:spcPts val="400"/>
              </a:spcBef>
            </a:pPr>
            <a:r>
              <a:rPr sz="1250">
                <a:solidFill>
                  <a:srgbClr val="222A3F"/>
                </a:solidFill>
                <a:latin typeface="Cambria"/>
              </a:rPr>
              <a:t>•  Line the four incidents up against all of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THE RADIO STORES ITS SETTINGS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Partition table and file sizes read from SF; save and load behaviour from meshtastic/firmware v2.7.26.</a:t>
            </a:r>
          </a:p>
        </p:txBody>
      </p:sp>
      <p:pic>
        <p:nvPicPr>
          <p:cNvPr id="11" name="Picture 10" descr="g_storage.png"/>
          <p:cNvPicPr>
            <a:picLocks noChangeAspect="1"/>
          </p:cNvPicPr>
          <p:nvPr/>
        </p:nvPicPr>
        <p:blipFill>
          <a:blip r:embed="rId2"/>
          <a:stretch>
            <a:fillRect/>
          </a:stretch>
        </p:blipFill>
        <p:spPr>
          <a:xfrm>
            <a:off x="502920" y="1280160"/>
            <a:ext cx="11155680" cy="4498258"/>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18/31  REV C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WHAT THE FIRMWARE DOES AND DOES NOT DO</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Verified in source at tag v2.7.26; every line has a file name.</a:t>
            </a:r>
          </a:p>
        </p:txBody>
      </p:sp>
      <p:sp>
        <p:nvSpPr>
          <p:cNvPr id="9" name="Rectangle 8"/>
          <p:cNvSpPr/>
          <p:nvPr/>
        </p:nvSpPr>
        <p:spPr>
          <a:xfrm>
            <a:off x="502920" y="1371600"/>
            <a:ext cx="5486400" cy="30175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490472"/>
            <a:ext cx="5157216" cy="2779776"/>
          </a:xfrm>
          <a:prstGeom prst="rect">
            <a:avLst/>
          </a:prstGeom>
          <a:noFill/>
        </p:spPr>
        <p:txBody>
          <a:bodyPr wrap="square" lIns="0" rIns="0" tIns="0" bIns="0">
            <a:spAutoFit/>
          </a:bodyPr>
          <a:lstStyle/>
          <a:p>
            <a:r>
              <a:rPr sz="1350" b="1" spc="100">
                <a:solidFill>
                  <a:srgbClr val="16213D"/>
                </a:solidFill>
                <a:latin typeface="Cambria"/>
              </a:rPr>
              <a:t>DOES</a:t>
            </a:r>
          </a:p>
          <a:p>
            <a:pPr>
              <a:spcBef>
                <a:spcPts val="400"/>
              </a:spcBef>
            </a:pPr>
            <a:r>
              <a:rPr sz="1250">
                <a:solidFill>
                  <a:srgbClr val="222A3F"/>
                </a:solidFill>
                <a:latin typeface="Cambria"/>
              </a:rPr>
              <a:t>•  Write .tmp, re-read it, 1-byte XOR check, then rename (SafeFile.cpp)</a:t>
            </a:r>
          </a:p>
          <a:p>
            <a:pPr>
              <a:spcBef>
                <a:spcPts val="400"/>
              </a:spcBef>
            </a:pPr>
            <a:r>
              <a:rPr sz="1250">
                <a:solidFill>
                  <a:srgbClr val="222A3F"/>
                </a:solidFill>
                <a:latin typeface="Cambria"/>
              </a:rPr>
              <a:t>•  Re-save device.proto on every boot (our boot log)</a:t>
            </a:r>
          </a:p>
          <a:p>
            <a:pPr>
              <a:spcBef>
                <a:spcPts val="400"/>
              </a:spcBef>
            </a:pPr>
            <a:r>
              <a:rPr sz="1250">
                <a:solidFill>
                  <a:srgbClr val="222A3F"/>
                </a:solidFill>
                <a:latin typeface="Cambria"/>
              </a:rPr>
              <a:t>•  Install factory defaults when a file is missing or will not decode, then save them (NodeDB.cpp)</a:t>
            </a:r>
          </a:p>
          <a:p>
            <a:pPr>
              <a:spcBef>
                <a:spcPts val="400"/>
              </a:spcBef>
            </a:pPr>
            <a:r>
              <a:rPr sz="1250">
                <a:solidFill>
                  <a:srgbClr val="222A3F"/>
                </a:solidFill>
                <a:latin typeface="Cambria"/>
              </a:rPr>
              <a:t>•  Skip the flash write on its own low-battery deep sleep (PowerFSM.cpp, sleep.cpp)</a:t>
            </a:r>
          </a:p>
          <a:p>
            <a:pPr>
              <a:spcBef>
                <a:spcPts val="400"/>
              </a:spcBef>
            </a:pPr>
            <a:r>
              <a:rPr sz="1250">
                <a:solidFill>
                  <a:srgbClr val="222A3F"/>
                </a:solidFill>
                <a:latin typeface="Cambria"/>
              </a:rPr>
              <a:t>•  Reset the CPU only below 2.44 V (core sdkconfig, level 7)</a:t>
            </a:r>
          </a:p>
        </p:txBody>
      </p:sp>
      <p:sp>
        <p:nvSpPr>
          <p:cNvPr id="11" name="Rectangle 10"/>
          <p:cNvSpPr/>
          <p:nvPr/>
        </p:nvSpPr>
        <p:spPr>
          <a:xfrm>
            <a:off x="6172200" y="1371600"/>
            <a:ext cx="5486400" cy="30175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1490472"/>
            <a:ext cx="5157216" cy="2779776"/>
          </a:xfrm>
          <a:prstGeom prst="rect">
            <a:avLst/>
          </a:prstGeom>
          <a:noFill/>
        </p:spPr>
        <p:txBody>
          <a:bodyPr wrap="square" lIns="0" rIns="0" tIns="0" bIns="0">
            <a:spAutoFit/>
          </a:bodyPr>
          <a:lstStyle/>
          <a:p>
            <a:r>
              <a:rPr sz="1350" b="1" spc="100">
                <a:solidFill>
                  <a:srgbClr val="C43A4B"/>
                </a:solidFill>
                <a:latin typeface="Cambria"/>
              </a:rPr>
              <a:t>DOES NOT</a:t>
            </a:r>
          </a:p>
          <a:p>
            <a:pPr>
              <a:spcBef>
                <a:spcPts val="400"/>
              </a:spcBef>
            </a:pPr>
            <a:r>
              <a:rPr sz="1250">
                <a:solidFill>
                  <a:srgbClr val="222A3F"/>
                </a:solidFill>
                <a:latin typeface="Cambria"/>
              </a:rPr>
              <a:t>•  Check the supply before any save: powerHAL_isPowerLevelSafe() is a stub returning true on ESP32</a:t>
            </a:r>
          </a:p>
          <a:p>
            <a:pPr>
              <a:spcBef>
                <a:spcPts val="400"/>
              </a:spcBef>
            </a:pPr>
            <a:r>
              <a:rPr sz="1250">
                <a:solidFill>
                  <a:srgbClr val="222A3F"/>
                </a:solidFill>
                <a:latin typeface="Cambria"/>
              </a:rPr>
              <a:t>•  Keep nodes.proto atomic: the original is deleted before the new copy is written</a:t>
            </a:r>
          </a:p>
          <a:p>
            <a:pPr>
              <a:spcBef>
                <a:spcPts val="400"/>
              </a:spcBef>
            </a:pPr>
            <a:r>
              <a:rPr sz="1250">
                <a:solidFill>
                  <a:srgbClr val="222A3F"/>
                </a:solidFill>
                <a:latin typeface="Cambria"/>
              </a:rPr>
              <a:t>•  Act on a failed save: close() result discarded, 'Can't write prefs!' then return okay</a:t>
            </a:r>
          </a:p>
          <a:p>
            <a:pPr>
              <a:spcBef>
                <a:spcPts val="400"/>
              </a:spcBef>
            </a:pPr>
            <a:r>
              <a:rPr sz="1250">
                <a:solidFill>
                  <a:srgbClr val="222A3F"/>
                </a:solidFill>
                <a:latin typeface="Cambria"/>
              </a:rPr>
              <a:t>•  Consult the backup copy at boot: restorePreferences() runs only on operator command</a:t>
            </a:r>
          </a:p>
          <a:p>
            <a:pPr>
              <a:spcBef>
                <a:spcPts val="400"/>
              </a:spcBef>
            </a:pPr>
            <a:r>
              <a:rPr sz="1250">
                <a:solidFill>
                  <a:srgbClr val="222A3F"/>
                </a:solidFill>
                <a:latin typeface="Cambria"/>
              </a:rPr>
              <a:t>•  Retry before resetting: one unreadable file is a permanent factory reset</a:t>
            </a:r>
          </a:p>
        </p:txBody>
      </p:sp>
      <p:sp>
        <p:nvSpPr>
          <p:cNvPr id="13" name="Rectangle 12"/>
          <p:cNvSpPr/>
          <p:nvPr/>
        </p:nvSpPr>
        <p:spPr>
          <a:xfrm>
            <a:off x="502920" y="4572000"/>
            <a:ext cx="11155680" cy="137160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4663440"/>
            <a:ext cx="10826496" cy="274320"/>
          </a:xfrm>
          <a:prstGeom prst="rect">
            <a:avLst/>
          </a:prstGeom>
          <a:noFill/>
        </p:spPr>
        <p:txBody>
          <a:bodyPr wrap="square" lIns="0" rIns="0" tIns="0" bIns="0">
            <a:spAutoFit/>
          </a:bodyPr>
          <a:lstStyle/>
          <a:p>
            <a:pPr algn="l"/>
            <a:r>
              <a:rPr sz="1000" b="1" i="0">
                <a:solidFill>
                  <a:srgbClr val="E58E1A"/>
                </a:solidFill>
                <a:latin typeface="Courier New"/>
              </a:rPr>
              <a:t>src/power/PowerHAL.cpp, tag v2.7.26: THE GATE EVERY SAVE PASSES THROUGH ON OUR RADIOS</a:t>
            </a:r>
          </a:p>
        </p:txBody>
      </p:sp>
      <p:sp>
        <p:nvSpPr>
          <p:cNvPr id="15" name="TextBox 14"/>
          <p:cNvSpPr txBox="1"/>
          <p:nvPr/>
        </p:nvSpPr>
        <p:spPr>
          <a:xfrm>
            <a:off x="667512" y="4956048"/>
            <a:ext cx="10826496" cy="914400"/>
          </a:xfrm>
          <a:prstGeom prst="rect">
            <a:avLst/>
          </a:prstGeom>
          <a:noFill/>
        </p:spPr>
        <p:txBody>
          <a:bodyPr wrap="square" lIns="0" rIns="0" tIns="0" bIns="0">
            <a:spAutoFit/>
          </a:bodyPr>
          <a:lstStyle/>
          <a:p>
            <a:r>
              <a:rPr sz="1100">
                <a:solidFill>
                  <a:srgbClr val="C9D8F0"/>
                </a:solidFill>
                <a:latin typeface="Courier New"/>
              </a:rPr>
              <a:t>__attribute__((weak, noinline)) bool powerHAL_isPowerLevelSafe()</a:t>
            </a:r>
          </a:p>
          <a:p>
            <a:r>
              <a:rPr sz="1100">
                <a:solidFill>
                  <a:srgbClr val="C9D8F0"/>
                </a:solidFill>
                <a:latin typeface="Courier New"/>
              </a:rPr>
              <a:t>{</a:t>
            </a:r>
          </a:p>
          <a:p>
            <a:r>
              <a:rPr sz="1100">
                <a:solidFill>
                  <a:srgbClr val="FF9AA8"/>
                </a:solidFill>
                <a:latin typeface="Courier New"/>
              </a:rPr>
              <a:t>    return true;        // no ESP32 override exists in src/platform/esp32</a:t>
            </a:r>
          </a:p>
          <a:p>
            <a:r>
              <a:rPr sz="1100">
                <a:solidFill>
                  <a:srgbClr val="C9D8F0"/>
                </a:solidFill>
                <a:latin typeface="Courier New"/>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19/31  REV C  2026-10-27</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PHYSICS: A 260 MV WINDOW</a:t>
            </a:r>
          </a:p>
        </p:txBody>
      </p:sp>
      <p:pic>
        <p:nvPicPr>
          <p:cNvPr id="10" name="Picture 9" descr="g_voltage.png"/>
          <p:cNvPicPr>
            <a:picLocks noChangeAspect="1"/>
          </p:cNvPicPr>
          <p:nvPr/>
        </p:nvPicPr>
        <p:blipFill>
          <a:blip r:embed="rId2"/>
          <a:stretch>
            <a:fillRect/>
          </a:stretch>
        </p:blipFill>
        <p:spPr>
          <a:xfrm>
            <a:off x="502920" y="1143000"/>
            <a:ext cx="11155680" cy="4318328"/>
          </a:xfrm>
          <a:prstGeom prst="rect">
            <a:avLst/>
          </a:prstGeom>
        </p:spPr>
      </p:pic>
      <p:sp>
        <p:nvSpPr>
          <p:cNvPr id="11" name="TextBox 10"/>
          <p:cNvSpPr txBox="1"/>
          <p:nvPr/>
        </p:nvSpPr>
        <p:spPr>
          <a:xfrm>
            <a:off x="502920" y="5623560"/>
            <a:ext cx="11155680" cy="457200"/>
          </a:xfrm>
          <a:prstGeom prst="rect">
            <a:avLst/>
          </a:prstGeom>
          <a:noFill/>
        </p:spPr>
        <p:txBody>
          <a:bodyPr wrap="square" lIns="0" rIns="0" tIns="0" bIns="0">
            <a:spAutoFit/>
          </a:bodyPr>
          <a:lstStyle/>
          <a:p>
            <a:pPr algn="l"/>
            <a:r>
              <a:rPr sz="1050" b="0" i="0">
                <a:solidFill>
                  <a:srgbClr val="5E6B85"/>
                </a:solidFill>
                <a:latin typeface="Courier New"/>
              </a:rPr>
              <a:t>Boya BY25Q128AS (JEDEC 68 40 18, read from the chip): VCC 2.7 to 3.6 V, page program 0.6 ms, sector erase 50 ms, 100k cycles. Heltec V4 datasheet tables 3.2 and 3.4. ESP-IDF Kconfig for ESP32-S3.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20/31  REV C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UPSTREAM ALREADY KNOWS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meshtastic/firmware issue tracker</a:t>
            </a:r>
          </a:p>
        </p:txBody>
      </p:sp>
      <p:graphicFrame>
        <p:nvGraphicFramePr>
          <p:cNvPr id="9" name="Table 8"/>
          <p:cNvGraphicFramePr>
            <a:graphicFrameLocks noGrp="1"/>
          </p:cNvGraphicFramePr>
          <p:nvPr/>
        </p:nvGraphicFramePr>
        <p:xfrm>
          <a:off x="502920" y="1371600"/>
          <a:ext cx="11155680" cy="2852928"/>
        </p:xfrm>
        <a:graphic>
          <a:graphicData uri="http://schemas.openxmlformats.org/drawingml/2006/table">
            <a:tbl>
              <a:tblPr firstRow="1" bandRow="1">
                <a:tableStyleId>{5C22544A-7EE6-4342-B048-85BDC9FD1C3A}</a:tableStyleId>
              </a:tblPr>
              <a:tblGrid>
                <a:gridCol w="1554480"/>
                <a:gridCol w="2286000"/>
                <a:gridCol w="4754880"/>
                <a:gridCol w="2560320"/>
              </a:tblGrid>
              <a:tr h="475488">
                <a:tc>
                  <a:txBody>
                    <a:bodyPr/>
                    <a:lstStyle/>
                    <a:p>
                      <a:r>
                        <a:rPr sz="1100" b="1">
                          <a:solidFill>
                            <a:srgbClr val="FFFFFF"/>
                          </a:solidFill>
                          <a:latin typeface="Cambria"/>
                        </a:rPr>
                        <a:t>Reference</a:t>
                      </a:r>
                    </a:p>
                  </a:txBody>
                  <a:tcPr marL="73152" marR="73152" marT="27432" marB="27432">
                    <a:solidFill>
                      <a:srgbClr val="16213D"/>
                    </a:solidFill>
                  </a:tcPr>
                </a:tc>
                <a:tc>
                  <a:txBody>
                    <a:bodyPr/>
                    <a:lstStyle/>
                    <a:p>
                      <a:r>
                        <a:rPr sz="1100" b="1">
                          <a:solidFill>
                            <a:srgbClr val="FFFFFF"/>
                          </a:solidFill>
                          <a:latin typeface="Cambria"/>
                        </a:rPr>
                        <a:t>Boards</a:t>
                      </a:r>
                    </a:p>
                  </a:txBody>
                  <a:tcPr marL="73152" marR="73152" marT="27432" marB="27432">
                    <a:solidFill>
                      <a:srgbClr val="16213D"/>
                    </a:solidFill>
                  </a:tcPr>
                </a:tc>
                <a:tc>
                  <a:txBody>
                    <a:bodyPr/>
                    <a:lstStyle/>
                    <a:p>
                      <a:r>
                        <a:rPr sz="1100" b="1">
                          <a:solidFill>
                            <a:srgbClr val="FFFFFF"/>
                          </a:solidFill>
                          <a:latin typeface="Cambria"/>
                        </a:rPr>
                        <a:t>Report</a:t>
                      </a:r>
                    </a:p>
                  </a:txBody>
                  <a:tcPr marL="73152" marR="73152" marT="27432" marB="27432">
                    <a:solidFill>
                      <a:srgbClr val="16213D"/>
                    </a:solidFill>
                  </a:tcPr>
                </a:tc>
                <a:tc>
                  <a:txBody>
                    <a:bodyPr/>
                    <a:lstStyle/>
                    <a:p>
                      <a:r>
                        <a:rPr sz="1100" b="1">
                          <a:solidFill>
                            <a:srgbClr val="FFFFFF"/>
                          </a:solidFill>
                          <a:latin typeface="Cambria"/>
                        </a:rPr>
                        <a:t>Status</a:t>
                      </a:r>
                    </a:p>
                  </a:txBody>
                  <a:tcPr marL="73152" marR="73152" marT="27432" marB="27432">
                    <a:solidFill>
                      <a:srgbClr val="16213D"/>
                    </a:solidFill>
                  </a:tcPr>
                </a:tc>
              </a:tr>
              <a:tr h="475488">
                <a:tc>
                  <a:txBody>
                    <a:bodyPr/>
                    <a:lstStyle/>
                    <a:p>
                      <a:r>
                        <a:rPr sz="1100" b="0">
                          <a:solidFill>
                            <a:srgbClr val="222A3F"/>
                          </a:solidFill>
                          <a:latin typeface="Cambria"/>
                        </a:rPr>
                        <a:t>#4555</a:t>
                      </a:r>
                    </a:p>
                  </a:txBody>
                  <a:tcPr marL="73152" marR="73152" marT="27432" marB="27432">
                    <a:solidFill>
                      <a:srgbClr val="F2F5FA"/>
                    </a:solidFill>
                  </a:tcPr>
                </a:tc>
                <a:tc>
                  <a:txBody>
                    <a:bodyPr/>
                    <a:lstStyle/>
                    <a:p>
                      <a:r>
                        <a:rPr sz="1100" b="0">
                          <a:solidFill>
                            <a:srgbClr val="222A3F"/>
                          </a:solidFill>
                          <a:latin typeface="Cambria"/>
                        </a:rPr>
                        <a:t>Heltec HT-CT62, V3, V4</a:t>
                      </a:r>
                    </a:p>
                  </a:txBody>
                  <a:tcPr marL="73152" marR="73152" marT="27432" marB="27432">
                    <a:solidFill>
                      <a:srgbClr val="F2F5FA"/>
                    </a:solidFill>
                  </a:tcPr>
                </a:tc>
                <a:tc>
                  <a:txBody>
                    <a:bodyPr/>
                    <a:lstStyle/>
                    <a:p>
                      <a:r>
                        <a:rPr sz="1100" b="0">
                          <a:solidFill>
                            <a:srgbClr val="222A3F"/>
                          </a:solidFill>
                          <a:latin typeface="Cambria"/>
                        </a:rPr>
                        <a:t>Power loss in early boot resets configuration after 2 to 3 attempts</a:t>
                      </a:r>
                    </a:p>
                  </a:txBody>
                  <a:tcPr marL="73152" marR="73152" marT="27432" marB="27432">
                    <a:solidFill>
                      <a:srgbClr val="F2F5FA"/>
                    </a:solidFill>
                  </a:tcPr>
                </a:tc>
                <a:tc>
                  <a:txBody>
                    <a:bodyPr/>
                    <a:lstStyle/>
                    <a:p>
                      <a:r>
                        <a:rPr sz="1100" b="0">
                          <a:solidFill>
                            <a:srgbClr val="222A3F"/>
                          </a:solidFill>
                          <a:latin typeface="Cambria"/>
                        </a:rPr>
                        <a:t>Closed 'not planned' Oct 2025</a:t>
                      </a:r>
                    </a:p>
                  </a:txBody>
                  <a:tcPr marL="73152" marR="73152" marT="27432" marB="27432">
                    <a:solidFill>
                      <a:srgbClr val="F2F5FA"/>
                    </a:solidFill>
                  </a:tcPr>
                </a:tc>
              </a:tr>
              <a:tr h="475488">
                <a:tc>
                  <a:txBody>
                    <a:bodyPr/>
                    <a:lstStyle/>
                    <a:p>
                      <a:r>
                        <a:rPr sz="1100" b="0">
                          <a:solidFill>
                            <a:srgbClr val="222A3F"/>
                          </a:solidFill>
                          <a:latin typeface="Cambria"/>
                        </a:rPr>
                        <a:t>#4622</a:t>
                      </a:r>
                    </a:p>
                  </a:txBody>
                  <a:tcPr marL="73152" marR="73152" marT="27432" marB="27432">
                    <a:solidFill>
                      <a:srgbClr val="FFFFFF"/>
                    </a:solidFill>
                  </a:tcPr>
                </a:tc>
                <a:tc>
                  <a:txBody>
                    <a:bodyPr/>
                    <a:lstStyle/>
                    <a:p>
                      <a:r>
                        <a:rPr sz="1100" b="0">
                          <a:solidFill>
                            <a:srgbClr val="222A3F"/>
                          </a:solidFill>
                          <a:latin typeface="Cambria"/>
                        </a:rPr>
                        <a:t>Heltec V3</a:t>
                      </a:r>
                    </a:p>
                  </a:txBody>
                  <a:tcPr marL="73152" marR="73152" marT="27432" marB="27432">
                    <a:solidFill>
                      <a:srgbClr val="FFFFFF"/>
                    </a:solidFill>
                  </a:tcPr>
                </a:tc>
                <a:tc>
                  <a:txBody>
                    <a:bodyPr/>
                    <a:lstStyle/>
                    <a:p>
                      <a:r>
                        <a:rPr sz="1100" b="0">
                          <a:solidFill>
                            <a:srgbClr val="222A3F"/>
                          </a:solidFill>
                          <a:latin typeface="Cambria"/>
                        </a:rPr>
                        <a:t>Resets when the battery is empty</a:t>
                      </a:r>
                    </a:p>
                  </a:txBody>
                  <a:tcPr marL="73152" marR="73152" marT="27432" marB="27432">
                    <a:solidFill>
                      <a:srgbClr val="FFFFFF"/>
                    </a:solidFill>
                  </a:tcPr>
                </a:tc>
                <a:tc>
                  <a:txBody>
                    <a:bodyPr/>
                    <a:lstStyle/>
                    <a:p>
                      <a:r>
                        <a:rPr sz="1100" b="0">
                          <a:solidFill>
                            <a:srgbClr val="222A3F"/>
                          </a:solidFill>
                          <a:latin typeface="Cambria"/>
                        </a:rPr>
                        <a:t>Duplicate of #4555</a:t>
                      </a:r>
                    </a:p>
                  </a:txBody>
                  <a:tcPr marL="73152" marR="73152" marT="27432" marB="27432">
                    <a:solidFill>
                      <a:srgbClr val="FFFFFF"/>
                    </a:solidFill>
                  </a:tcPr>
                </a:tc>
              </a:tr>
              <a:tr h="475488">
                <a:tc>
                  <a:txBody>
                    <a:bodyPr/>
                    <a:lstStyle/>
                    <a:p>
                      <a:r>
                        <a:rPr sz="1100" b="0">
                          <a:solidFill>
                            <a:srgbClr val="222A3F"/>
                          </a:solidFill>
                          <a:latin typeface="Cambria"/>
                        </a:rPr>
                        <a:t>#2936, #3260</a:t>
                      </a:r>
                    </a:p>
                  </a:txBody>
                  <a:tcPr marL="73152" marR="73152" marT="27432" marB="27432">
                    <a:solidFill>
                      <a:srgbClr val="F2F5FA"/>
                    </a:solidFill>
                  </a:tcPr>
                </a:tc>
                <a:tc>
                  <a:txBody>
                    <a:bodyPr/>
                    <a:lstStyle/>
                    <a:p>
                      <a:r>
                        <a:rPr sz="1100" b="0">
                          <a:solidFill>
                            <a:srgbClr val="222A3F"/>
                          </a:solidFill>
                          <a:latin typeface="Cambria"/>
                        </a:rPr>
                        <a:t>RAK4631, Heltec V2</a:t>
                      </a:r>
                    </a:p>
                  </a:txBody>
                  <a:tcPr marL="73152" marR="73152" marT="27432" marB="27432">
                    <a:solidFill>
                      <a:srgbClr val="F2F5FA"/>
                    </a:solidFill>
                  </a:tcPr>
                </a:tc>
                <a:tc>
                  <a:txBody>
                    <a:bodyPr/>
                    <a:lstStyle/>
                    <a:p>
                      <a:r>
                        <a:rPr sz="1100" b="0">
                          <a:solidFill>
                            <a:srgbClr val="222A3F"/>
                          </a:solidFill>
                          <a:latin typeface="Cambria"/>
                        </a:rPr>
                        <a:t>Defaults after the battery dies; prefs files missing</a:t>
                      </a:r>
                    </a:p>
                  </a:txBody>
                  <a:tcPr marL="73152" marR="73152" marT="27432" marB="27432">
                    <a:solidFill>
                      <a:srgbClr val="F2F5FA"/>
                    </a:solidFill>
                  </a:tcPr>
                </a:tc>
                <a:tc>
                  <a:txBody>
                    <a:bodyPr/>
                    <a:lstStyle/>
                    <a:p>
                      <a:r>
                        <a:rPr sz="1100" b="0">
                          <a:solidFill>
                            <a:srgbClr val="222A3F"/>
                          </a:solidFill>
                          <a:latin typeface="Cambria"/>
                        </a:rPr>
                        <a:t>Older platform, same symptom</a:t>
                      </a:r>
                    </a:p>
                  </a:txBody>
                  <a:tcPr marL="73152" marR="73152" marT="27432" marB="27432">
                    <a:solidFill>
                      <a:srgbClr val="F2F5FA"/>
                    </a:solidFill>
                  </a:tcPr>
                </a:tc>
              </a:tr>
              <a:tr h="475488">
                <a:tc>
                  <a:txBody>
                    <a:bodyPr/>
                    <a:lstStyle/>
                    <a:p>
                      <a:r>
                        <a:rPr sz="1100" b="0">
                          <a:solidFill>
                            <a:srgbClr val="222A3F"/>
                          </a:solidFill>
                          <a:latin typeface="Cambria"/>
                        </a:rPr>
                        <a:t>#5259</a:t>
                      </a:r>
                    </a:p>
                  </a:txBody>
                  <a:tcPr marL="73152" marR="73152" marT="27432" marB="27432">
                    <a:solidFill>
                      <a:srgbClr val="FFFFFF"/>
                    </a:solidFill>
                  </a:tcPr>
                </a:tc>
                <a:tc>
                  <a:txBody>
                    <a:bodyPr/>
                    <a:lstStyle/>
                    <a:p>
                      <a:r>
                        <a:rPr sz="1100" b="0">
                          <a:solidFill>
                            <a:srgbClr val="222A3F"/>
                          </a:solidFill>
                          <a:latin typeface="Cambria"/>
                        </a:rPr>
                        <a:t>ESP32 boards</a:t>
                      </a:r>
                    </a:p>
                  </a:txBody>
                  <a:tcPr marL="73152" marR="73152" marT="27432" marB="27432">
                    <a:solidFill>
                      <a:srgbClr val="FFFFFF"/>
                    </a:solidFill>
                  </a:tcPr>
                </a:tc>
                <a:tc>
                  <a:txBody>
                    <a:bodyPr/>
                    <a:lstStyle/>
                    <a:p>
                      <a:r>
                        <a:rPr sz="1100" b="0">
                          <a:solidFill>
                            <a:srgbClr val="222A3F"/>
                          </a:solidFill>
                          <a:latin typeface="Cambria"/>
                        </a:rPr>
                        <a:t>3.10 V low-battery cutoff is below what the LDOs need</a:t>
                      </a:r>
                    </a:p>
                  </a:txBody>
                  <a:tcPr marL="73152" marR="73152" marT="27432" marB="27432">
                    <a:solidFill>
                      <a:srgbClr val="FFFFFF"/>
                    </a:solidFill>
                  </a:tcPr>
                </a:tc>
                <a:tc>
                  <a:txBody>
                    <a:bodyPr/>
                    <a:lstStyle/>
                    <a:p>
                      <a:r>
                        <a:rPr sz="1100" b="0">
                          <a:solidFill>
                            <a:srgbClr val="222A3F"/>
                          </a:solidFill>
                          <a:latin typeface="Cambria"/>
                        </a:rPr>
                        <a:t>Open</a:t>
                      </a:r>
                    </a:p>
                  </a:txBody>
                  <a:tcPr marL="73152" marR="73152" marT="27432" marB="27432">
                    <a:solidFill>
                      <a:srgbClr val="FFFFFF"/>
                    </a:solidFill>
                  </a:tcPr>
                </a:tc>
              </a:tr>
              <a:tr h="475488">
                <a:tc>
                  <a:txBody>
                    <a:bodyPr/>
                    <a:lstStyle/>
                    <a:p>
                      <a:r>
                        <a:rPr sz="1100" b="0">
                          <a:solidFill>
                            <a:srgbClr val="222A3F"/>
                          </a:solidFill>
                          <a:latin typeface="Cambria"/>
                        </a:rPr>
                        <a:t>PR #11872</a:t>
                      </a:r>
                    </a:p>
                  </a:txBody>
                  <a:tcPr marL="73152" marR="73152" marT="27432" marB="27432">
                    <a:solidFill>
                      <a:srgbClr val="F2F5FA"/>
                    </a:solidFill>
                  </a:tcPr>
                </a:tc>
                <a:tc>
                  <a:txBody>
                    <a:bodyPr/>
                    <a:lstStyle/>
                    <a:p>
                      <a:r>
                        <a:rPr sz="1100" b="0">
                          <a:solidFill>
                            <a:srgbClr val="222A3F"/>
                          </a:solidFill>
                          <a:latin typeface="Cambria"/>
                        </a:rPr>
                        <a:t>nRF52 only</a:t>
                      </a:r>
                    </a:p>
                  </a:txBody>
                  <a:tcPr marL="73152" marR="73152" marT="27432" marB="27432">
                    <a:solidFill>
                      <a:srgbClr val="F2F5FA"/>
                    </a:solidFill>
                  </a:tcPr>
                </a:tc>
                <a:tc>
                  <a:txBody>
                    <a:bodyPr/>
                    <a:lstStyle/>
                    <a:p>
                      <a:r>
                        <a:rPr sz="1100" b="0">
                          <a:solidFill>
                            <a:srgbClr val="222A3F"/>
                          </a:solidFill>
                          <a:latin typeface="Cambria"/>
                        </a:rPr>
                        <a:t>Retry saves, check the rail first, stop formatting on a low rail</a:t>
                      </a:r>
                    </a:p>
                  </a:txBody>
                  <a:tcPr marL="73152" marR="73152" marT="27432" marB="27432">
                    <a:solidFill>
                      <a:srgbClr val="F2F5FA"/>
                    </a:solidFill>
                  </a:tcPr>
                </a:tc>
                <a:tc>
                  <a:txBody>
                    <a:bodyPr/>
                    <a:lstStyle/>
                    <a:p>
                      <a:r>
                        <a:rPr sz="1100" b="0">
                          <a:solidFill>
                            <a:srgbClr val="222A3F"/>
                          </a:solidFill>
                          <a:latin typeface="Cambria"/>
                        </a:rPr>
                        <a:t>Merged; no ESP32 equivalent</a:t>
                      </a:r>
                    </a:p>
                  </a:txBody>
                  <a:tcPr marL="73152" marR="73152" marT="27432" marB="27432">
                    <a:solidFill>
                      <a:srgbClr val="F2F5FA"/>
                    </a:solidFill>
                  </a:tcPr>
                </a:tc>
              </a:tr>
            </a:tbl>
          </a:graphicData>
        </a:graphic>
      </p:graphicFrame>
      <p:sp>
        <p:nvSpPr>
          <p:cNvPr id="10" name="Rectangle 9"/>
          <p:cNvSpPr/>
          <p:nvPr/>
        </p:nvSpPr>
        <p:spPr>
          <a:xfrm>
            <a:off x="502920" y="4389120"/>
            <a:ext cx="11155680" cy="14630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4480559"/>
            <a:ext cx="10826496" cy="274320"/>
          </a:xfrm>
          <a:prstGeom prst="rect">
            <a:avLst/>
          </a:prstGeom>
          <a:noFill/>
        </p:spPr>
        <p:txBody>
          <a:bodyPr wrap="square" lIns="0" rIns="0" tIns="0" bIns="0">
            <a:spAutoFit/>
          </a:bodyPr>
          <a:lstStyle/>
          <a:p>
            <a:pPr algn="l"/>
            <a:r>
              <a:rPr sz="1000" b="1" i="0">
                <a:solidFill>
                  <a:srgbClr val="E58E1A"/>
                </a:solidFill>
                <a:latin typeface="Courier New"/>
              </a:rPr>
              <a:t>MAINTAINER, IN #4555</a:t>
            </a:r>
          </a:p>
        </p:txBody>
      </p:sp>
      <p:sp>
        <p:nvSpPr>
          <p:cNvPr id="12" name="TextBox 11"/>
          <p:cNvSpPr txBox="1"/>
          <p:nvPr/>
        </p:nvSpPr>
        <p:spPr>
          <a:xfrm>
            <a:off x="667512" y="4773168"/>
            <a:ext cx="10826496" cy="1005840"/>
          </a:xfrm>
          <a:prstGeom prst="rect">
            <a:avLst/>
          </a:prstGeom>
          <a:noFill/>
        </p:spPr>
        <p:txBody>
          <a:bodyPr wrap="square" lIns="0" rIns="0" tIns="0" bIns="0">
            <a:spAutoFit/>
          </a:bodyPr>
          <a:lstStyle/>
          <a:p>
            <a:r>
              <a:rPr sz="1100">
                <a:solidFill>
                  <a:srgbClr val="C9D8F0"/>
                </a:solidFill>
                <a:latin typeface="Courier New"/>
              </a:rPr>
              <a:t>"If the brownout circuit worked, it should hold the CPU in reset when voltage is too low for flash."</a:t>
            </a:r>
          </a:p>
          <a:p>
            <a:r>
              <a:rPr sz="1100">
                <a:solidFill>
                  <a:srgbClr val="5E6B85"/>
                </a:solidFill>
                <a:latin typeface="Courier New"/>
              </a:rPr>
              <a:t>Community workaround: hard-code the configuration in userPrefs.jsonc so the defaults ARE the intended settings.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21/31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HYPOTHESES, PREDICTIONS, VERDICTS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Predictions written before the measurement; verdicts after.</a:t>
            </a:r>
          </a:p>
        </p:txBody>
      </p:sp>
      <p:graphicFrame>
        <p:nvGraphicFramePr>
          <p:cNvPr id="11" name="Table 10"/>
          <p:cNvGraphicFramePr>
            <a:graphicFrameLocks noGrp="1"/>
          </p:cNvGraphicFramePr>
          <p:nvPr/>
        </p:nvGraphicFramePr>
        <p:xfrm>
          <a:off x="502920" y="1371600"/>
          <a:ext cx="11155680" cy="3291839"/>
        </p:xfrm>
        <a:graphic>
          <a:graphicData uri="http://schemas.openxmlformats.org/drawingml/2006/table">
            <a:tbl>
              <a:tblPr firstRow="1" bandRow="1">
                <a:tableStyleId>{5C22544A-7EE6-4342-B048-85BDC9FD1C3A}</a:tableStyleId>
              </a:tblPr>
              <a:tblGrid>
                <a:gridCol w="457200"/>
                <a:gridCol w="2377440"/>
                <a:gridCol w="4023360"/>
                <a:gridCol w="4297680"/>
              </a:tblGrid>
              <a:tr h="548639">
                <a:tc>
                  <a:txBody>
                    <a:bodyPr/>
                    <a:lstStyle/>
                    <a:p>
                      <a:r>
                        <a:rPr sz="1100" b="1">
                          <a:solidFill>
                            <a:srgbClr val="FFFFFF"/>
                          </a:solidFill>
                          <a:latin typeface="Cambria"/>
                        </a:rPr>
                        <a:t>#</a:t>
                      </a:r>
                    </a:p>
                  </a:txBody>
                  <a:tcPr marL="73152" marR="73152" marT="27432" marB="27432">
                    <a:solidFill>
                      <a:srgbClr val="16213D"/>
                    </a:solidFill>
                  </a:tcPr>
                </a:tc>
                <a:tc>
                  <a:txBody>
                    <a:bodyPr/>
                    <a:lstStyle/>
                    <a:p>
                      <a:r>
                        <a:rPr sz="1100" b="1">
                          <a:solidFill>
                            <a:srgbClr val="FFFFFF"/>
                          </a:solidFill>
                          <a:latin typeface="Cambria"/>
                        </a:rPr>
                        <a:t>Hypothesis</a:t>
                      </a:r>
                    </a:p>
                  </a:txBody>
                  <a:tcPr marL="73152" marR="73152" marT="27432" marB="27432">
                    <a:solidFill>
                      <a:srgbClr val="16213D"/>
                    </a:solidFill>
                  </a:tcPr>
                </a:tc>
                <a:tc>
                  <a:txBody>
                    <a:bodyPr/>
                    <a:lstStyle/>
                    <a:p>
                      <a:r>
                        <a:rPr sz="1100" b="1">
                          <a:solidFill>
                            <a:srgbClr val="FFFFFF"/>
                          </a:solidFill>
                          <a:latin typeface="Cambria"/>
                        </a:rPr>
                        <a:t>Would show</a:t>
                      </a:r>
                    </a:p>
                  </a:txBody>
                  <a:tcPr marL="73152" marR="73152" marT="27432" marB="27432">
                    <a:solidFill>
                      <a:srgbClr val="16213D"/>
                    </a:solidFill>
                  </a:tcPr>
                </a:tc>
                <a:tc>
                  <a:txBody>
                    <a:bodyPr/>
                    <a:lstStyle/>
                    <a:p>
                      <a:r>
                        <a:rPr sz="1100" b="1">
                          <a:solidFill>
                            <a:srgbClr val="FFFFFF"/>
                          </a:solidFill>
                          <a:latin typeface="Cambria"/>
                        </a:rPr>
                        <a:t>Verdict</a:t>
                      </a:r>
                    </a:p>
                  </a:txBody>
                  <a:tcPr marL="73152" marR="73152" marT="27432" marB="27432">
                    <a:solidFill>
                      <a:srgbClr val="16213D"/>
                    </a:solidFill>
                  </a:tcPr>
                </a:tc>
              </a:tr>
              <a:tr h="548639">
                <a:tc>
                  <a:txBody>
                    <a:bodyPr/>
                    <a:lstStyle/>
                    <a:p>
                      <a:r>
                        <a:rPr sz="1100" b="0">
                          <a:solidFill>
                            <a:srgbClr val="222A3F"/>
                          </a:solidFill>
                          <a:latin typeface="Cambria"/>
                        </a:rPr>
                        <a:t>H1</a:t>
                      </a:r>
                    </a:p>
                  </a:txBody>
                  <a:tcPr marL="73152" marR="73152" marT="27432" marB="27432">
                    <a:solidFill>
                      <a:srgbClr val="F2F5FA"/>
                    </a:solidFill>
                  </a:tcPr>
                </a:tc>
                <a:tc>
                  <a:txBody>
                    <a:bodyPr/>
                    <a:lstStyle/>
                    <a:p>
                      <a:r>
                        <a:rPr sz="1100" b="0">
                          <a:solidFill>
                            <a:srgbClr val="222A3F"/>
                          </a:solidFill>
                          <a:latin typeface="Cambria"/>
                        </a:rPr>
                        <a:t>Flash wear-out</a:t>
                      </a:r>
                    </a:p>
                  </a:txBody>
                  <a:tcPr marL="73152" marR="73152" marT="27432" marB="27432">
                    <a:solidFill>
                      <a:srgbClr val="F2F5FA"/>
                    </a:solidFill>
                  </a:tcPr>
                </a:tc>
                <a:tc>
                  <a:txBody>
                    <a:bodyPr/>
                    <a:lstStyle/>
                    <a:p>
                      <a:r>
                        <a:rPr sz="1100" b="0">
                          <a:solidFill>
                            <a:srgbClr val="222A3F"/>
                          </a:solidFill>
                          <a:latin typeface="Cambria"/>
                        </a:rPr>
                        <a:t>Diffuse failures; write counts near 100k per sector</a:t>
                      </a:r>
                    </a:p>
                  </a:txBody>
                  <a:tcPr marL="73152" marR="73152" marT="27432" marB="27432">
                    <a:solidFill>
                      <a:srgbClr val="F2F5FA"/>
                    </a:solidFill>
                  </a:tcPr>
                </a:tc>
                <a:tc>
                  <a:txBody>
                    <a:bodyPr/>
                    <a:lstStyle/>
                    <a:p>
                      <a:r>
                        <a:rPr sz="1100" b="0">
                          <a:solidFill>
                            <a:srgbClr val="222A3F"/>
                          </a:solidFill>
                          <a:latin typeface="Cambria"/>
                        </a:rPr>
                        <a:t>Rejected: 20 sectors per boot over 864 is millions of boots</a:t>
                      </a:r>
                    </a:p>
                  </a:txBody>
                  <a:tcPr marL="73152" marR="73152" marT="27432" marB="27432">
                    <a:solidFill>
                      <a:srgbClr val="F2F5FA"/>
                    </a:solidFill>
                  </a:tcPr>
                </a:tc>
              </a:tr>
              <a:tr h="548639">
                <a:tc>
                  <a:txBody>
                    <a:bodyPr/>
                    <a:lstStyle/>
                    <a:p>
                      <a:r>
                        <a:rPr sz="1100" b="0">
                          <a:solidFill>
                            <a:srgbClr val="222A3F"/>
                          </a:solidFill>
                          <a:latin typeface="Cambria"/>
                        </a:rPr>
                        <a:t>H2</a:t>
                      </a:r>
                    </a:p>
                  </a:txBody>
                  <a:tcPr marL="73152" marR="73152" marT="27432" marB="27432">
                    <a:solidFill>
                      <a:srgbClr val="FFFFFF"/>
                    </a:solidFill>
                  </a:tcPr>
                </a:tc>
                <a:tc>
                  <a:txBody>
                    <a:bodyPr/>
                    <a:lstStyle/>
                    <a:p>
                      <a:r>
                        <a:rPr sz="1100" b="0">
                          <a:solidFill>
                            <a:srgbClr val="222A3F"/>
                          </a:solidFill>
                          <a:latin typeface="Cambria"/>
                        </a:rPr>
                        <a:t>Defective cells</a:t>
                      </a:r>
                    </a:p>
                  </a:txBody>
                  <a:tcPr marL="73152" marR="73152" marT="27432" marB="27432">
                    <a:solidFill>
                      <a:srgbClr val="FFFFFF"/>
                    </a:solidFill>
                  </a:tcPr>
                </a:tc>
                <a:tc>
                  <a:txBody>
                    <a:bodyPr/>
                    <a:lstStyle/>
                    <a:p>
                      <a:r>
                        <a:rPr sz="1100" b="0">
                          <a:solidFill>
                            <a:srgbClr val="222A3F"/>
                          </a:solidFill>
                          <a:latin typeface="Cambria"/>
                        </a:rPr>
                        <a:t>Same sectors misread every pass; cells fail again after a rewrite</a:t>
                      </a:r>
                    </a:p>
                  </a:txBody>
                  <a:tcPr marL="73152" marR="73152" marT="27432" marB="27432">
                    <a:solidFill>
                      <a:srgbClr val="FFFFFF"/>
                    </a:solidFill>
                  </a:tcPr>
                </a:tc>
                <a:tc>
                  <a:txBody>
                    <a:bodyPr/>
                    <a:lstStyle/>
                    <a:p>
                      <a:r>
                        <a:rPr sz="1100" b="0">
                          <a:solidFill>
                            <a:srgbClr val="222A3F"/>
                          </a:solidFill>
                          <a:latin typeface="Cambria"/>
                        </a:rPr>
                        <a:t>Rejected: unstable sectors became perfect once rewritten</a:t>
                      </a:r>
                    </a:p>
                  </a:txBody>
                  <a:tcPr marL="73152" marR="73152" marT="27432" marB="27432">
                    <a:solidFill>
                      <a:srgbClr val="FFFFFF"/>
                    </a:solidFill>
                  </a:tcPr>
                </a:tc>
              </a:tr>
              <a:tr h="548639">
                <a:tc>
                  <a:txBody>
                    <a:bodyPr/>
                    <a:lstStyle/>
                    <a:p>
                      <a:r>
                        <a:rPr sz="1100" b="0">
                          <a:solidFill>
                            <a:srgbClr val="222A3F"/>
                          </a:solidFill>
                          <a:latin typeface="Cambria"/>
                        </a:rPr>
                        <a:t>H3</a:t>
                      </a:r>
                    </a:p>
                  </a:txBody>
                  <a:tcPr marL="73152" marR="73152" marT="27432" marB="27432">
                    <a:solidFill>
                      <a:srgbClr val="F2F5FA"/>
                    </a:solidFill>
                  </a:tcPr>
                </a:tc>
                <a:tc>
                  <a:txBody>
                    <a:bodyPr/>
                    <a:lstStyle/>
                    <a:p>
                      <a:r>
                        <a:rPr sz="1100" b="0">
                          <a:solidFill>
                            <a:srgbClr val="222A3F"/>
                          </a:solidFill>
                          <a:latin typeface="Cambria"/>
                        </a:rPr>
                        <a:t>Torn writes under low supply</a:t>
                      </a:r>
                    </a:p>
                  </a:txBody>
                  <a:tcPr marL="73152" marR="73152" marT="27432" marB="27432">
                    <a:solidFill>
                      <a:srgbClr val="F2F5FA"/>
                    </a:solidFill>
                  </a:tcPr>
                </a:tc>
                <a:tc>
                  <a:txBody>
                    <a:bodyPr/>
                    <a:lstStyle/>
                    <a:p>
                      <a:r>
                        <a:rPr sz="1100" b="0">
                          <a:solidFill>
                            <a:srgbClr val="222A3F"/>
                          </a:solidFill>
                          <a:latin typeface="Cambria"/>
                        </a:rPr>
                        <a:t>Follows power events; fixed sectors unstable until erased and reprogrammed</a:t>
                      </a:r>
                    </a:p>
                  </a:txBody>
                  <a:tcPr marL="73152" marR="73152" marT="27432" marB="27432">
                    <a:solidFill>
                      <a:srgbClr val="F2F5FA"/>
                    </a:solidFill>
                  </a:tcPr>
                </a:tc>
                <a:tc>
                  <a:txBody>
                    <a:bodyPr/>
                    <a:lstStyle/>
                    <a:p>
                      <a:r>
                        <a:rPr sz="1100" b="0">
                          <a:solidFill>
                            <a:srgbClr val="222A3F"/>
                          </a:solidFill>
                          <a:latin typeface="Cambria"/>
                        </a:rPr>
                        <a:t>Confirmed: measured on SF, repaired by a rewrite</a:t>
                      </a:r>
                    </a:p>
                  </a:txBody>
                  <a:tcPr marL="73152" marR="73152" marT="27432" marB="27432">
                    <a:solidFill>
                      <a:srgbClr val="F2F5FA"/>
                    </a:solidFill>
                  </a:tcPr>
                </a:tc>
              </a:tr>
              <a:tr h="548639">
                <a:tc>
                  <a:txBody>
                    <a:bodyPr/>
                    <a:lstStyle/>
                    <a:p>
                      <a:r>
                        <a:rPr sz="1100" b="0">
                          <a:solidFill>
                            <a:srgbClr val="222A3F"/>
                          </a:solidFill>
                          <a:latin typeface="Cambria"/>
                        </a:rPr>
                        <a:t>H4</a:t>
                      </a:r>
                    </a:p>
                  </a:txBody>
                  <a:tcPr marL="73152" marR="73152" marT="27432" marB="27432">
                    <a:solidFill>
                      <a:srgbClr val="FFFFFF"/>
                    </a:solidFill>
                  </a:tcPr>
                </a:tc>
                <a:tc>
                  <a:txBody>
                    <a:bodyPr/>
                    <a:lstStyle/>
                    <a:p>
                      <a:r>
                        <a:rPr sz="1100" b="0">
                          <a:solidFill>
                            <a:srgbClr val="222A3F"/>
                          </a:solidFill>
                          <a:latin typeface="Cambria"/>
                        </a:rPr>
                        <a:t>LittleFS bug</a:t>
                      </a:r>
                    </a:p>
                  </a:txBody>
                  <a:tcPr marL="73152" marR="73152" marT="27432" marB="27432">
                    <a:solidFill>
                      <a:srgbClr val="FFFFFF"/>
                    </a:solidFill>
                  </a:tcPr>
                </a:tc>
                <a:tc>
                  <a:txBody>
                    <a:bodyPr/>
                    <a:lstStyle/>
                    <a:p>
                      <a:r>
                        <a:rPr sz="1100" b="0">
                          <a:solidFill>
                            <a:srgbClr val="222A3F"/>
                          </a:solidFill>
                          <a:latin typeface="Cambria"/>
                        </a:rPr>
                        <a:t>Mount failures, corrupted directory pairs</a:t>
                      </a:r>
                    </a:p>
                  </a:txBody>
                  <a:tcPr marL="73152" marR="73152" marT="27432" marB="27432">
                    <a:solidFill>
                      <a:srgbClr val="FFFFFF"/>
                    </a:solidFill>
                  </a:tcPr>
                </a:tc>
                <a:tc>
                  <a:txBody>
                    <a:bodyPr/>
                    <a:lstStyle/>
                    <a:p>
                      <a:r>
                        <a:rPr sz="1100" b="0">
                          <a:solidFill>
                            <a:srgbClr val="222A3F"/>
                          </a:solidFill>
                          <a:latin typeface="Cambria"/>
                        </a:rPr>
                        <a:t>Rejected: mounts and decodes cleanly on both radios</a:t>
                      </a:r>
                    </a:p>
                  </a:txBody>
                  <a:tcPr marL="73152" marR="73152" marT="27432" marB="27432">
                    <a:solidFill>
                      <a:srgbClr val="FFFFFF"/>
                    </a:solidFill>
                  </a:tcPr>
                </a:tc>
              </a:tr>
              <a:tr h="548644">
                <a:tc>
                  <a:txBody>
                    <a:bodyPr/>
                    <a:lstStyle/>
                    <a:p>
                      <a:r>
                        <a:rPr sz="1100" b="0">
                          <a:solidFill>
                            <a:srgbClr val="222A3F"/>
                          </a:solidFill>
                          <a:latin typeface="Cambria"/>
                        </a:rPr>
                        <a:t>H5</a:t>
                      </a:r>
                    </a:p>
                  </a:txBody>
                  <a:tcPr marL="73152" marR="73152" marT="27432" marB="27432">
                    <a:solidFill>
                      <a:srgbClr val="F2F5FA"/>
                    </a:solidFill>
                  </a:tcPr>
                </a:tc>
                <a:tc>
                  <a:txBody>
                    <a:bodyPr/>
                    <a:lstStyle/>
                    <a:p>
                      <a:r>
                        <a:rPr sz="1100" b="0">
                          <a:solidFill>
                            <a:srgbClr val="222A3F"/>
                          </a:solidFill>
                          <a:latin typeface="Cambria"/>
                        </a:rPr>
                        <a:t>Firmware turns any failure into a reset</a:t>
                      </a:r>
                    </a:p>
                  </a:txBody>
                  <a:tcPr marL="73152" marR="73152" marT="27432" marB="27432">
                    <a:solidFill>
                      <a:srgbClr val="F2F5FA"/>
                    </a:solidFill>
                  </a:tcPr>
                </a:tc>
                <a:tc>
                  <a:txBody>
                    <a:bodyPr/>
                    <a:lstStyle/>
                    <a:p>
                      <a:r>
                        <a:rPr sz="1100" b="0">
                          <a:solidFill>
                            <a:srgbClr val="222A3F"/>
                          </a:solidFill>
                          <a:latin typeface="Cambria"/>
                        </a:rPr>
                        <a:t>Loss is permanent and silent</a:t>
                      </a:r>
                    </a:p>
                  </a:txBody>
                  <a:tcPr marL="73152" marR="73152" marT="27432" marB="27432">
                    <a:solidFill>
                      <a:srgbClr val="F2F5FA"/>
                    </a:solidFill>
                  </a:tcPr>
                </a:tc>
                <a:tc>
                  <a:txBody>
                    <a:bodyPr/>
                    <a:lstStyle/>
                    <a:p>
                      <a:r>
                        <a:rPr sz="1100" b="0">
                          <a:solidFill>
                            <a:srgbClr val="222A3F"/>
                          </a:solidFill>
                          <a:latin typeface="Cambria"/>
                        </a:rPr>
                        <a:t>Confirmed in source</a:t>
                      </a:r>
                    </a:p>
                  </a:txBody>
                  <a:tcPr marL="73152" marR="73152" marT="27432" marB="27432">
                    <a:solidFill>
                      <a:srgbClr val="F2F5FA"/>
                    </a:solidFill>
                  </a:tcPr>
                </a:tc>
              </a:tr>
            </a:tbl>
          </a:graphicData>
        </a:graphic>
      </p:graphicFrame>
      <p:sp>
        <p:nvSpPr>
          <p:cNvPr id="12" name="Rectangle 11"/>
          <p:cNvSpPr/>
          <p:nvPr/>
        </p:nvSpPr>
        <p:spPr>
          <a:xfrm>
            <a:off x="502920" y="4846320"/>
            <a:ext cx="11155680" cy="11430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965192"/>
            <a:ext cx="10826496" cy="905256"/>
          </a:xfrm>
          <a:prstGeom prst="rect">
            <a:avLst/>
          </a:prstGeom>
          <a:noFill/>
        </p:spPr>
        <p:txBody>
          <a:bodyPr wrap="square" lIns="0" rIns="0" tIns="0" bIns="0">
            <a:spAutoFit/>
          </a:bodyPr>
          <a:lstStyle/>
          <a:p>
            <a:r>
              <a:rPr sz="1350" b="1" spc="100">
                <a:solidFill>
                  <a:srgbClr val="1F9D68"/>
                </a:solidFill>
                <a:latin typeface="Cambria"/>
              </a:rPr>
              <a:t>THE DISCRIMINATING EXPERIMENT</a:t>
            </a:r>
          </a:p>
          <a:p>
            <a:pPr>
              <a:spcBef>
                <a:spcPts val="400"/>
              </a:spcBef>
            </a:pPr>
            <a:r>
              <a:rPr sz="1250">
                <a:solidFill>
                  <a:srgbClr val="222A3F"/>
                </a:solidFill>
                <a:latin typeface="Cambria"/>
              </a:rPr>
              <a:t>Three reads of the settings partition in one open connection with the firmware halted, at two serial speeds; a megabyte of program code, the NVS partition and the bootloader read the same way as controls.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22/31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METHOD: READING THE CHIP, FIRMWARE STOPPED</a:t>
            </a:r>
          </a:p>
        </p:txBody>
      </p:sp>
      <p:sp>
        <p:nvSpPr>
          <p:cNvPr id="10" name="Rectangle 9"/>
          <p:cNvSpPr/>
          <p:nvPr/>
        </p:nvSpPr>
        <p:spPr>
          <a:xfrm>
            <a:off x="502920" y="1280160"/>
            <a:ext cx="6766560" cy="265176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71600"/>
            <a:ext cx="6437376" cy="274320"/>
          </a:xfrm>
          <a:prstGeom prst="rect">
            <a:avLst/>
          </a:prstGeom>
          <a:noFill/>
        </p:spPr>
        <p:txBody>
          <a:bodyPr wrap="square" lIns="0" rIns="0" tIns="0" bIns="0">
            <a:spAutoFit/>
          </a:bodyPr>
          <a:lstStyle/>
          <a:p>
            <a:pPr algn="l"/>
            <a:r>
              <a:rPr sz="1000" b="1" i="0">
                <a:solidFill>
                  <a:srgbClr val="E58E1A"/>
                </a:solidFill>
                <a:latin typeface="Courier New"/>
              </a:rPr>
              <a:t>ESPTOOL STUB, ONE CONNECTION, NO RESET BETWEEN READS</a:t>
            </a:r>
          </a:p>
        </p:txBody>
      </p:sp>
      <p:sp>
        <p:nvSpPr>
          <p:cNvPr id="12" name="TextBox 11"/>
          <p:cNvSpPr txBox="1"/>
          <p:nvPr/>
        </p:nvSpPr>
        <p:spPr>
          <a:xfrm>
            <a:off x="667512" y="1664207"/>
            <a:ext cx="6437376" cy="2194560"/>
          </a:xfrm>
          <a:prstGeom prst="rect">
            <a:avLst/>
          </a:prstGeom>
          <a:noFill/>
        </p:spPr>
        <p:txBody>
          <a:bodyPr wrap="square" lIns="0" rIns="0" tIns="0" bIns="0">
            <a:spAutoFit/>
          </a:bodyPr>
          <a:lstStyle/>
          <a:p>
            <a:r>
              <a:rPr sz="1050">
                <a:solidFill>
                  <a:srgbClr val="C9D8F0"/>
                </a:solidFill>
                <a:latin typeface="Courier New"/>
              </a:rPr>
              <a:t>esp = detect_chip('COM4'); esp = esp.run_stub()</a:t>
            </a:r>
          </a:p>
          <a:p>
            <a:r>
              <a:rPr sz="1050">
                <a:solidFill>
                  <a:srgbClr val="C9D8F0"/>
                </a:solidFill>
                <a:latin typeface="Courier New"/>
              </a:rPr>
              <a:t>A = esp.read_flash(0xC90000, 0x360000)   # settings, 3.4 MB</a:t>
            </a:r>
          </a:p>
          <a:p>
            <a:r>
              <a:rPr sz="1050">
                <a:solidFill>
                  <a:srgbClr val="C9D8F0"/>
                </a:solidFill>
                <a:latin typeface="Courier New"/>
              </a:rPr>
              <a:t>B = esp.read_flash(0xC90000, 0x360000)</a:t>
            </a:r>
          </a:p>
          <a:p>
            <a:r>
              <a:rPr sz="1050">
                <a:solidFill>
                  <a:srgbClr val="C9D8F0"/>
                </a:solidFill>
                <a:latin typeface="Courier New"/>
              </a:rPr>
              <a:t>C = esp.read_flash(0xC90000, 0x360000)</a:t>
            </a:r>
          </a:p>
          <a:p>
            <a:r>
              <a:rPr sz="1050">
                <a:solidFill>
                  <a:srgbClr val="5E6B85"/>
                </a:solidFill>
                <a:latin typeface="Courier New"/>
              </a:rPr>
              <a:t>app = esp.read_flash(0x10000, 0x100000) x2   # control</a:t>
            </a:r>
          </a:p>
          <a:p>
            <a:r>
              <a:rPr sz="1050">
                <a:solidFill>
                  <a:srgbClr val="E58E1A"/>
                </a:solidFill>
                <a:latin typeface="Courier New"/>
              </a:rPr>
              <a:t>A == B ?   B == C ?   app1 == app2 ?</a:t>
            </a:r>
          </a:p>
          <a:p>
            <a:r>
              <a:rPr sz="1050">
                <a:solidFill>
                  <a:srgbClr val="5E6B85"/>
                </a:solidFill>
                <a:latin typeface="Courier New"/>
              </a:rPr>
              <a:t># each chunk is MD5-checked by the stub: a transfer error raises,</a:t>
            </a:r>
          </a:p>
          <a:p>
            <a:r>
              <a:rPr sz="1050">
                <a:solidFill>
                  <a:srgbClr val="5E6B85"/>
                </a:solidFill>
                <a:latin typeface="Courier New"/>
              </a:rPr>
              <a:t># a changed byte is what the chip returned</a:t>
            </a:r>
          </a:p>
        </p:txBody>
      </p:sp>
      <p:sp>
        <p:nvSpPr>
          <p:cNvPr id="13" name="Rectangle 12"/>
          <p:cNvSpPr/>
          <p:nvPr/>
        </p:nvSpPr>
        <p:spPr>
          <a:xfrm>
            <a:off x="7452360" y="1280160"/>
            <a:ext cx="4206240" cy="265176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1399031"/>
            <a:ext cx="3877055" cy="2414015"/>
          </a:xfrm>
          <a:prstGeom prst="rect">
            <a:avLst/>
          </a:prstGeom>
          <a:noFill/>
        </p:spPr>
        <p:txBody>
          <a:bodyPr wrap="square" lIns="0" rIns="0" tIns="0" bIns="0">
            <a:spAutoFit/>
          </a:bodyPr>
          <a:lstStyle/>
          <a:p>
            <a:r>
              <a:rPr sz="1350" b="1" spc="100">
                <a:solidFill>
                  <a:srgbClr val="1F9D68"/>
                </a:solidFill>
                <a:latin typeface="Cambria"/>
              </a:rPr>
              <a:t>CONTROLS</a:t>
            </a:r>
          </a:p>
          <a:p>
            <a:pPr>
              <a:spcBef>
                <a:spcPts val="400"/>
              </a:spcBef>
            </a:pPr>
            <a:r>
              <a:rPr sz="1200">
                <a:solidFill>
                  <a:srgbClr val="222A3F"/>
                </a:solidFill>
                <a:latin typeface="Cambria"/>
              </a:rPr>
              <a:t>•  Program partition, 1 MB, twice</a:t>
            </a:r>
          </a:p>
          <a:p>
            <a:pPr>
              <a:spcBef>
                <a:spcPts val="400"/>
              </a:spcBef>
            </a:pPr>
            <a:r>
              <a:rPr sz="1200">
                <a:solidFill>
                  <a:srgbClr val="222A3F"/>
                </a:solidFill>
                <a:latin typeface="Cambria"/>
              </a:rPr>
              <a:t>•  NVS partition and bootloader, twice</a:t>
            </a:r>
          </a:p>
          <a:p>
            <a:pPr>
              <a:spcBef>
                <a:spcPts val="400"/>
              </a:spcBef>
            </a:pPr>
            <a:r>
              <a:rPr sz="1200">
                <a:solidFill>
                  <a:srgbClr val="222A3F"/>
                </a:solidFill>
                <a:latin typeface="Cambria"/>
              </a:rPr>
              <a:t>•  16 KB window, four reads, at 115200 and at 921600 baud</a:t>
            </a:r>
          </a:p>
          <a:p>
            <a:pPr>
              <a:spcBef>
                <a:spcPts val="400"/>
              </a:spcBef>
            </a:pPr>
            <a:r>
              <a:rPr sz="1200">
                <a:solidFill>
                  <a:srgbClr val="222A3F"/>
                </a:solidFill>
                <a:latin typeface="Cambria"/>
              </a:rPr>
              <a:t>•  LittleFS image mounted and every file decoded on the laptop</a:t>
            </a:r>
          </a:p>
        </p:txBody>
      </p:sp>
      <p:sp>
        <p:nvSpPr>
          <p:cNvPr id="15" name="Rectangle 14"/>
          <p:cNvSpPr/>
          <p:nvPr/>
        </p:nvSpPr>
        <p:spPr>
          <a:xfrm>
            <a:off x="502920" y="4160520"/>
            <a:ext cx="11155680" cy="178308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279392"/>
            <a:ext cx="10826496" cy="1545336"/>
          </a:xfrm>
          <a:prstGeom prst="rect">
            <a:avLst/>
          </a:prstGeom>
          <a:noFill/>
        </p:spPr>
        <p:txBody>
          <a:bodyPr wrap="square" lIns="0" rIns="0" tIns="0" bIns="0">
            <a:spAutoFit/>
          </a:bodyPr>
          <a:lstStyle/>
          <a:p>
            <a:r>
              <a:rPr sz="1350" b="1" spc="100">
                <a:solidFill>
                  <a:srgbClr val="E58E1A"/>
                </a:solidFill>
                <a:latin typeface="Cambria"/>
              </a:rPr>
              <a:t>THE PITFALL THAT COST TWO ATTEMPTS</a:t>
            </a:r>
          </a:p>
          <a:p>
            <a:pPr>
              <a:spcBef>
                <a:spcPts val="400"/>
              </a:spcBef>
            </a:pPr>
            <a:r>
              <a:rPr sz="1250">
                <a:solidFill>
                  <a:srgbClr val="222A3F"/>
                </a:solidFill>
                <a:latin typeface="Cambria"/>
              </a:rPr>
              <a:t>•  This board resets whenever the USB serial port closes: separate esptool commands hide a boot, and a boot-time flash write, between 'back-to-back' reads</a:t>
            </a:r>
          </a:p>
          <a:p>
            <a:pPr>
              <a:spcBef>
                <a:spcPts val="400"/>
              </a:spcBef>
            </a:pPr>
            <a:r>
              <a:rPr sz="1250">
                <a:solidFill>
                  <a:srgbClr val="222A3F"/>
                </a:solidFill>
                <a:latin typeface="Cambria"/>
              </a:rPr>
              <a:t>•  Only reads inside one open connection count; the pitfall is itself evidence that the radio writes flash every time it starts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23/31  REV C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SAME SECTORS MISREAD, EVERY PASS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SF against RG, same day, same method</a:t>
            </a:r>
          </a:p>
        </p:txBody>
      </p:sp>
      <p:pic>
        <p:nvPicPr>
          <p:cNvPr id="9" name="Picture 8" descr="g_maps_compare.png"/>
          <p:cNvPicPr>
            <a:picLocks noChangeAspect="1"/>
          </p:cNvPicPr>
          <p:nvPr/>
        </p:nvPicPr>
        <p:blipFill>
          <a:blip r:embed="rId2"/>
          <a:stretch>
            <a:fillRect/>
          </a:stretch>
        </p:blipFill>
        <p:spPr>
          <a:xfrm>
            <a:off x="502920" y="1280160"/>
            <a:ext cx="11155680" cy="3238746"/>
          </a:xfrm>
          <a:prstGeom prst="rect">
            <a:avLst/>
          </a:prstGeom>
        </p:spPr>
      </p:pic>
      <p:sp>
        <p:nvSpPr>
          <p:cNvPr id="10" name="TextBox 9"/>
          <p:cNvSpPr txBox="1"/>
          <p:nvPr/>
        </p:nvSpPr>
        <p:spPr>
          <a:xfrm>
            <a:off x="502920" y="4572000"/>
            <a:ext cx="11155680" cy="548640"/>
          </a:xfrm>
          <a:prstGeom prst="rect">
            <a:avLst/>
          </a:prstGeom>
          <a:noFill/>
        </p:spPr>
        <p:txBody>
          <a:bodyPr wrap="square" lIns="0" rIns="0" tIns="0" bIns="0">
            <a:spAutoFit/>
          </a:bodyPr>
          <a:lstStyle/>
          <a:p>
            <a:pPr algn="l"/>
            <a:r>
              <a:rPr sz="1250" b="0" i="0">
                <a:solidFill>
                  <a:srgbClr val="222A3F"/>
                </a:solidFill>
                <a:latin typeface="Cambria"/>
              </a:rPr>
              <a:t>Red sectors changed between consecutive reads with no firmware running: the same sectors on every pass, at both serial speeds, while the program partition read identically.</a:t>
            </a:r>
          </a:p>
        </p:txBody>
      </p:sp>
      <p:sp>
        <p:nvSpPr>
          <p:cNvPr id="11" name="Rectangle 10"/>
          <p:cNvSpPr/>
          <p:nvPr/>
        </p:nvSpPr>
        <p:spPr>
          <a:xfrm>
            <a:off x="502920" y="5120640"/>
            <a:ext cx="3611880" cy="10058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230368"/>
            <a:ext cx="3611880" cy="558800"/>
          </a:xfrm>
          <a:prstGeom prst="rect">
            <a:avLst/>
          </a:prstGeom>
          <a:noFill/>
        </p:spPr>
        <p:txBody>
          <a:bodyPr wrap="square" lIns="0" rIns="0" tIns="0" bIns="0">
            <a:spAutoFit/>
          </a:bodyPr>
          <a:lstStyle/>
          <a:p>
            <a:pPr algn="ctr"/>
            <a:r>
              <a:rPr sz="2200" b="1" i="0">
                <a:solidFill>
                  <a:srgbClr val="C43A4B"/>
                </a:solidFill>
                <a:latin typeface="Cambria"/>
              </a:rPr>
              <a:t>21</a:t>
            </a:r>
          </a:p>
        </p:txBody>
      </p:sp>
      <p:sp>
        <p:nvSpPr>
          <p:cNvPr id="13" name="TextBox 12"/>
          <p:cNvSpPr txBox="1"/>
          <p:nvPr/>
        </p:nvSpPr>
        <p:spPr>
          <a:xfrm>
            <a:off x="640080" y="5880608"/>
            <a:ext cx="3337560" cy="172720"/>
          </a:xfrm>
          <a:prstGeom prst="rect">
            <a:avLst/>
          </a:prstGeom>
          <a:noFill/>
        </p:spPr>
        <p:txBody>
          <a:bodyPr wrap="square" lIns="0" rIns="0" tIns="0" bIns="0">
            <a:spAutoFit/>
          </a:bodyPr>
          <a:lstStyle/>
          <a:p>
            <a:pPr algn="ctr"/>
            <a:r>
              <a:rPr sz="1100" b="0" i="0">
                <a:solidFill>
                  <a:srgbClr val="222A3F"/>
                </a:solidFill>
                <a:latin typeface="Cambria"/>
              </a:rPr>
              <a:t>unstable sectors on SF, 12 heavily</a:t>
            </a:r>
          </a:p>
        </p:txBody>
      </p:sp>
      <p:sp>
        <p:nvSpPr>
          <p:cNvPr id="14" name="Rectangle 13"/>
          <p:cNvSpPr/>
          <p:nvPr/>
        </p:nvSpPr>
        <p:spPr>
          <a:xfrm>
            <a:off x="4274820" y="5120640"/>
            <a:ext cx="3611880" cy="10058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4820" y="5230368"/>
            <a:ext cx="3611880" cy="558800"/>
          </a:xfrm>
          <a:prstGeom prst="rect">
            <a:avLst/>
          </a:prstGeom>
          <a:noFill/>
        </p:spPr>
        <p:txBody>
          <a:bodyPr wrap="square" lIns="0" rIns="0" tIns="0" bIns="0">
            <a:spAutoFit/>
          </a:bodyPr>
          <a:lstStyle/>
          <a:p>
            <a:pPr algn="ctr"/>
            <a:r>
              <a:rPr sz="2200" b="1" i="0">
                <a:solidFill>
                  <a:srgbClr val="1F9D68"/>
                </a:solidFill>
                <a:latin typeface="Cambria"/>
              </a:rPr>
              <a:t>0</a:t>
            </a:r>
          </a:p>
        </p:txBody>
      </p:sp>
      <p:sp>
        <p:nvSpPr>
          <p:cNvPr id="16" name="TextBox 15"/>
          <p:cNvSpPr txBox="1"/>
          <p:nvPr/>
        </p:nvSpPr>
        <p:spPr>
          <a:xfrm>
            <a:off x="4411980" y="5880608"/>
            <a:ext cx="3337560" cy="172720"/>
          </a:xfrm>
          <a:prstGeom prst="rect">
            <a:avLst/>
          </a:prstGeom>
          <a:noFill/>
        </p:spPr>
        <p:txBody>
          <a:bodyPr wrap="square" lIns="0" rIns="0" tIns="0" bIns="0">
            <a:spAutoFit/>
          </a:bodyPr>
          <a:lstStyle/>
          <a:p>
            <a:pPr algn="ctr"/>
            <a:r>
              <a:rPr sz="1100" b="0" i="0">
                <a:solidFill>
                  <a:srgbClr val="222A3F"/>
                </a:solidFill>
                <a:latin typeface="Cambria"/>
              </a:rPr>
              <a:t>unstable sectors on RG</a:t>
            </a:r>
          </a:p>
        </p:txBody>
      </p:sp>
      <p:sp>
        <p:nvSpPr>
          <p:cNvPr id="17" name="Rectangle 16"/>
          <p:cNvSpPr/>
          <p:nvPr/>
        </p:nvSpPr>
        <p:spPr>
          <a:xfrm>
            <a:off x="8046720" y="5120640"/>
            <a:ext cx="3611880" cy="10058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5230368"/>
            <a:ext cx="3611880" cy="558800"/>
          </a:xfrm>
          <a:prstGeom prst="rect">
            <a:avLst/>
          </a:prstGeom>
          <a:noFill/>
        </p:spPr>
        <p:txBody>
          <a:bodyPr wrap="square" lIns="0" rIns="0" tIns="0" bIns="0">
            <a:spAutoFit/>
          </a:bodyPr>
          <a:lstStyle/>
          <a:p>
            <a:pPr algn="ctr"/>
            <a:r>
              <a:rPr sz="2200" b="1" i="0">
                <a:solidFill>
                  <a:srgbClr val="1F9D68"/>
                </a:solidFill>
                <a:latin typeface="Cambria"/>
              </a:rPr>
              <a:t>0</a:t>
            </a:r>
          </a:p>
        </p:txBody>
      </p:sp>
      <p:sp>
        <p:nvSpPr>
          <p:cNvPr id="19" name="TextBox 18"/>
          <p:cNvSpPr txBox="1"/>
          <p:nvPr/>
        </p:nvSpPr>
        <p:spPr>
          <a:xfrm>
            <a:off x="8183880" y="5880608"/>
            <a:ext cx="3337560" cy="172720"/>
          </a:xfrm>
          <a:prstGeom prst="rect">
            <a:avLst/>
          </a:prstGeom>
          <a:noFill/>
        </p:spPr>
        <p:txBody>
          <a:bodyPr wrap="square" lIns="0" rIns="0" tIns="0" bIns="0">
            <a:spAutoFit/>
          </a:bodyPr>
          <a:lstStyle/>
          <a:p>
            <a:pPr algn="ctr"/>
            <a:r>
              <a:rPr sz="1100" b="0" i="0">
                <a:solidFill>
                  <a:srgbClr val="222A3F"/>
                </a:solidFill>
                <a:latin typeface="Cambria"/>
              </a:rPr>
              <a:t>differences in program code, NVS, bootloader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24/31  REV C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NUMBERS</a:t>
            </a:r>
          </a:p>
        </p:txBody>
      </p:sp>
      <p:pic>
        <p:nvPicPr>
          <p:cNvPr id="8" name="Picture 7" descr="g_unstable.png"/>
          <p:cNvPicPr>
            <a:picLocks noChangeAspect="1"/>
          </p:cNvPicPr>
          <p:nvPr/>
        </p:nvPicPr>
        <p:blipFill>
          <a:blip r:embed="rId2"/>
          <a:stretch>
            <a:fillRect/>
          </a:stretch>
        </p:blipFill>
        <p:spPr>
          <a:xfrm>
            <a:off x="502920" y="1188720"/>
            <a:ext cx="7223760" cy="2097221"/>
          </a:xfrm>
          <a:prstGeom prst="rect">
            <a:avLst/>
          </a:prstGeom>
        </p:spPr>
      </p:pic>
      <p:sp>
        <p:nvSpPr>
          <p:cNvPr id="9" name="Rectangle 8"/>
          <p:cNvSpPr/>
          <p:nvPr/>
        </p:nvSpPr>
        <p:spPr>
          <a:xfrm>
            <a:off x="8001000" y="1188720"/>
            <a:ext cx="1783080" cy="13258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298448"/>
            <a:ext cx="1783080" cy="508000"/>
          </a:xfrm>
          <a:prstGeom prst="rect">
            <a:avLst/>
          </a:prstGeom>
          <a:noFill/>
        </p:spPr>
        <p:txBody>
          <a:bodyPr wrap="square" lIns="0" rIns="0" tIns="0" bIns="0">
            <a:spAutoFit/>
          </a:bodyPr>
          <a:lstStyle/>
          <a:p>
            <a:pPr algn="ctr"/>
            <a:r>
              <a:rPr sz="2000" b="1" i="0">
                <a:solidFill>
                  <a:srgbClr val="E58E1A"/>
                </a:solidFill>
                <a:latin typeface="Cambria"/>
              </a:rPr>
              <a:t>117 / 107</a:t>
            </a:r>
          </a:p>
        </p:txBody>
      </p:sp>
      <p:sp>
        <p:nvSpPr>
          <p:cNvPr id="11" name="TextBox 10"/>
          <p:cNvSpPr txBox="1"/>
          <p:nvPr/>
        </p:nvSpPr>
        <p:spPr>
          <a:xfrm>
            <a:off x="8138160" y="1897888"/>
            <a:ext cx="1508760" cy="543559"/>
          </a:xfrm>
          <a:prstGeom prst="rect">
            <a:avLst/>
          </a:prstGeom>
          <a:noFill/>
        </p:spPr>
        <p:txBody>
          <a:bodyPr wrap="square" lIns="0" rIns="0" tIns="0" bIns="0">
            <a:spAutoFit/>
          </a:bodyPr>
          <a:lstStyle/>
          <a:p>
            <a:pPr algn="ctr"/>
            <a:r>
              <a:rPr sz="1100" b="0" i="0">
                <a:solidFill>
                  <a:srgbClr val="222A3F"/>
                </a:solidFill>
                <a:latin typeface="Cambria"/>
              </a:rPr>
              <a:t>differing bytes, reads 1v2 and 2v3</a:t>
            </a:r>
          </a:p>
        </p:txBody>
      </p:sp>
      <p:sp>
        <p:nvSpPr>
          <p:cNvPr id="12" name="Rectangle 11"/>
          <p:cNvSpPr/>
          <p:nvPr/>
        </p:nvSpPr>
        <p:spPr>
          <a:xfrm>
            <a:off x="9921240" y="1188720"/>
            <a:ext cx="1783080" cy="13258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1298448"/>
            <a:ext cx="1783080" cy="508000"/>
          </a:xfrm>
          <a:prstGeom prst="rect">
            <a:avLst/>
          </a:prstGeom>
          <a:noFill/>
        </p:spPr>
        <p:txBody>
          <a:bodyPr wrap="square" lIns="0" rIns="0" tIns="0" bIns="0">
            <a:spAutoFit/>
          </a:bodyPr>
          <a:lstStyle/>
          <a:p>
            <a:pPr algn="ctr"/>
            <a:r>
              <a:rPr sz="2000" b="1" i="0">
                <a:solidFill>
                  <a:srgbClr val="E58E1A"/>
                </a:solidFill>
                <a:latin typeface="Cambria"/>
              </a:rPr>
              <a:t>118</a:t>
            </a:r>
          </a:p>
        </p:txBody>
      </p:sp>
      <p:sp>
        <p:nvSpPr>
          <p:cNvPr id="14" name="TextBox 13"/>
          <p:cNvSpPr txBox="1"/>
          <p:nvPr/>
        </p:nvSpPr>
        <p:spPr>
          <a:xfrm>
            <a:off x="10058400" y="1897888"/>
            <a:ext cx="1508760" cy="543559"/>
          </a:xfrm>
          <a:prstGeom prst="rect">
            <a:avLst/>
          </a:prstGeom>
          <a:noFill/>
        </p:spPr>
        <p:txBody>
          <a:bodyPr wrap="square" lIns="0" rIns="0" tIns="0" bIns="0">
            <a:spAutoFit/>
          </a:bodyPr>
          <a:lstStyle/>
          <a:p>
            <a:pPr algn="ctr"/>
            <a:r>
              <a:rPr sz="1100" b="0" i="0">
                <a:solidFill>
                  <a:srgbClr val="222A3F"/>
                </a:solidFill>
                <a:latin typeface="Cambria"/>
              </a:rPr>
              <a:t>bits flipped, both directions</a:t>
            </a:r>
          </a:p>
        </p:txBody>
      </p:sp>
      <p:sp>
        <p:nvSpPr>
          <p:cNvPr id="15" name="Rectangle 14"/>
          <p:cNvSpPr/>
          <p:nvPr/>
        </p:nvSpPr>
        <p:spPr>
          <a:xfrm>
            <a:off x="8001000" y="2651760"/>
            <a:ext cx="1783080" cy="13258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01000" y="2761488"/>
            <a:ext cx="17830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7" name="TextBox 16"/>
          <p:cNvSpPr txBox="1"/>
          <p:nvPr/>
        </p:nvSpPr>
        <p:spPr>
          <a:xfrm>
            <a:off x="8138160" y="3360928"/>
            <a:ext cx="1508760" cy="543559"/>
          </a:xfrm>
          <a:prstGeom prst="rect">
            <a:avLst/>
          </a:prstGeom>
          <a:noFill/>
        </p:spPr>
        <p:txBody>
          <a:bodyPr wrap="square" lIns="0" rIns="0" tIns="0" bIns="0">
            <a:spAutoFit/>
          </a:bodyPr>
          <a:lstStyle/>
          <a:p>
            <a:pPr algn="ctr"/>
            <a:r>
              <a:rPr sz="1100" b="0" i="0">
                <a:solidFill>
                  <a:srgbClr val="222A3F"/>
                </a:solidFill>
                <a:latin typeface="Cambria"/>
              </a:rPr>
              <a:t>differences in 1 MB of program code</a:t>
            </a:r>
          </a:p>
        </p:txBody>
      </p:sp>
      <p:sp>
        <p:nvSpPr>
          <p:cNvPr id="18" name="Rectangle 17"/>
          <p:cNvSpPr/>
          <p:nvPr/>
        </p:nvSpPr>
        <p:spPr>
          <a:xfrm>
            <a:off x="9921240" y="2651760"/>
            <a:ext cx="1783080" cy="13258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21240" y="2761488"/>
            <a:ext cx="17830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20" name="TextBox 19"/>
          <p:cNvSpPr txBox="1"/>
          <p:nvPr/>
        </p:nvSpPr>
        <p:spPr>
          <a:xfrm>
            <a:off x="10058400" y="3360928"/>
            <a:ext cx="1508760" cy="543559"/>
          </a:xfrm>
          <a:prstGeom prst="rect">
            <a:avLst/>
          </a:prstGeom>
          <a:noFill/>
        </p:spPr>
        <p:txBody>
          <a:bodyPr wrap="square" lIns="0" rIns="0" tIns="0" bIns="0">
            <a:spAutoFit/>
          </a:bodyPr>
          <a:lstStyle/>
          <a:p>
            <a:pPr algn="ctr"/>
            <a:r>
              <a:rPr sz="1100" b="0" i="0">
                <a:solidFill>
                  <a:srgbClr val="222A3F"/>
                </a:solidFill>
                <a:latin typeface="Cambria"/>
              </a:rPr>
              <a:t>differences in NVS and bootloader</a:t>
            </a:r>
          </a:p>
        </p:txBody>
      </p:sp>
      <p:sp>
        <p:nvSpPr>
          <p:cNvPr id="21" name="Rectangle 20"/>
          <p:cNvSpPr/>
          <p:nvPr/>
        </p:nvSpPr>
        <p:spPr>
          <a:xfrm>
            <a:off x="502920" y="4206240"/>
            <a:ext cx="11155680" cy="173736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325112"/>
            <a:ext cx="10826496" cy="1499616"/>
          </a:xfrm>
          <a:prstGeom prst="rect">
            <a:avLst/>
          </a:prstGeom>
          <a:noFill/>
        </p:spPr>
        <p:txBody>
          <a:bodyPr wrap="square" lIns="0" rIns="0" tIns="0" bIns="0">
            <a:spAutoFit/>
          </a:bodyPr>
          <a:lstStyle/>
          <a:p>
            <a:r>
              <a:rPr sz="1350" b="1" spc="100">
                <a:solidFill>
                  <a:srgbClr val="C43A4B"/>
                </a:solidFill>
                <a:latin typeface="Cambria"/>
              </a:rPr>
              <a:t>READING IT</a:t>
            </a:r>
          </a:p>
          <a:p>
            <a:pPr>
              <a:spcBef>
                <a:spcPts val="400"/>
              </a:spcBef>
            </a:pPr>
            <a:r>
              <a:rPr sz="1250">
                <a:solidFill>
                  <a:srgbClr val="222A3F"/>
                </a:solidFill>
                <a:latin typeface="Cambria"/>
              </a:rPr>
              <a:t>•  Fixed sectors, both bit directions, speed-independent, code partition stable: cells whose stored charge sits at the read threshold</a:t>
            </a:r>
          </a:p>
          <a:p>
            <a:pPr>
              <a:spcBef>
                <a:spcPts val="400"/>
              </a:spcBef>
            </a:pPr>
            <a:r>
              <a:rPr sz="1250">
                <a:solidFill>
                  <a:srgbClr val="222A3F"/>
                </a:solidFill>
                <a:latin typeface="Cambria"/>
              </a:rPr>
              <a:t>•  Not a serial artifact (chunks are verified), not wear (the pattern would be diffuse), not a filesystem bug (the image mounts and decodes)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25/31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DECISIVE TEST: DISTURBED, NOT DAMAGED</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Erase, program three patterns, read five times each. Free sectors only; configuration untouched.</a:t>
            </a:r>
          </a:p>
        </p:txBody>
      </p:sp>
      <p:graphicFrame>
        <p:nvGraphicFramePr>
          <p:cNvPr id="11" name="Table 10"/>
          <p:cNvGraphicFramePr>
            <a:graphicFrameLocks noGrp="1"/>
          </p:cNvGraphicFramePr>
          <p:nvPr/>
        </p:nvGraphicFramePr>
        <p:xfrm>
          <a:off x="502920" y="1463040"/>
          <a:ext cx="11155680" cy="1828800"/>
        </p:xfrm>
        <a:graphic>
          <a:graphicData uri="http://schemas.openxmlformats.org/drawingml/2006/table">
            <a:tbl>
              <a:tblPr firstRow="1" bandRow="1">
                <a:tableStyleId>{5C22544A-7EE6-4342-B048-85BDC9FD1C3A}</a:tableStyleId>
              </a:tblPr>
              <a:tblGrid>
                <a:gridCol w="2011680"/>
                <a:gridCol w="2377440"/>
                <a:gridCol w="1691640"/>
                <a:gridCol w="1691640"/>
                <a:gridCol w="1691640"/>
                <a:gridCol w="1691640"/>
              </a:tblGrid>
              <a:tr h="457200">
                <a:tc>
                  <a:txBody>
                    <a:bodyPr/>
                    <a:lstStyle/>
                    <a:p>
                      <a:r>
                        <a:rPr sz="1200" b="1">
                          <a:solidFill>
                            <a:srgbClr val="FFFFFF"/>
                          </a:solidFill>
                          <a:latin typeface="Cambria"/>
                        </a:rPr>
                        <a:t>Sector</a:t>
                      </a:r>
                    </a:p>
                  </a:txBody>
                  <a:tcPr marL="73152" marR="73152" marT="27432" marB="27432">
                    <a:solidFill>
                      <a:srgbClr val="16213D"/>
                    </a:solidFill>
                  </a:tcPr>
                </a:tc>
                <a:tc>
                  <a:txBody>
                    <a:bodyPr/>
                    <a:lstStyle/>
                    <a:p>
                      <a:r>
                        <a:rPr sz="1200" b="1">
                          <a:solidFill>
                            <a:srgbClr val="FFFFFF"/>
                          </a:solidFill>
                          <a:latin typeface="Cambria"/>
                        </a:rPr>
                        <a:t>As found</a:t>
                      </a:r>
                    </a:p>
                  </a:txBody>
                  <a:tcPr marL="73152" marR="73152" marT="27432" marB="27432">
                    <a:solidFill>
                      <a:srgbClr val="16213D"/>
                    </a:solidFill>
                  </a:tcPr>
                </a:tc>
                <a:tc>
                  <a:txBody>
                    <a:bodyPr/>
                    <a:lstStyle/>
                    <a:p>
                      <a:r>
                        <a:rPr sz="1200" b="1">
                          <a:solidFill>
                            <a:srgbClr val="FFFFFF"/>
                          </a:solidFill>
                          <a:latin typeface="Cambria"/>
                        </a:rPr>
                        <a:t>0x00 x5</a:t>
                      </a:r>
                    </a:p>
                  </a:txBody>
                  <a:tcPr marL="73152" marR="73152" marT="27432" marB="27432">
                    <a:solidFill>
                      <a:srgbClr val="16213D"/>
                    </a:solidFill>
                  </a:tcPr>
                </a:tc>
                <a:tc>
                  <a:txBody>
                    <a:bodyPr/>
                    <a:lstStyle/>
                    <a:p>
                      <a:r>
                        <a:rPr sz="1200" b="1">
                          <a:solidFill>
                            <a:srgbClr val="FFFFFF"/>
                          </a:solidFill>
                          <a:latin typeface="Cambria"/>
                        </a:rPr>
                        <a:t>A5/5A x5</a:t>
                      </a:r>
                    </a:p>
                  </a:txBody>
                  <a:tcPr marL="73152" marR="73152" marT="27432" marB="27432">
                    <a:solidFill>
                      <a:srgbClr val="16213D"/>
                    </a:solidFill>
                  </a:tcPr>
                </a:tc>
                <a:tc>
                  <a:txBody>
                    <a:bodyPr/>
                    <a:lstStyle/>
                    <a:p>
                      <a:r>
                        <a:rPr sz="1200" b="1">
                          <a:solidFill>
                            <a:srgbClr val="FFFFFF"/>
                          </a:solidFill>
                          <a:latin typeface="Cambria"/>
                        </a:rPr>
                        <a:t>random x5</a:t>
                      </a:r>
                    </a:p>
                  </a:txBody>
                  <a:tcPr marL="73152" marR="73152" marT="27432" marB="27432">
                    <a:solidFill>
                      <a:srgbClr val="16213D"/>
                    </a:solidFill>
                  </a:tcPr>
                </a:tc>
                <a:tc>
                  <a:txBody>
                    <a:bodyPr/>
                    <a:lstStyle/>
                    <a:p>
                      <a:r>
                        <a:rPr sz="1200" b="1">
                          <a:solidFill>
                            <a:srgbClr val="FFFFFF"/>
                          </a:solidFill>
                          <a:latin typeface="Cambria"/>
                        </a:rPr>
                        <a:t>Erased x5</a:t>
                      </a:r>
                    </a:p>
                  </a:txBody>
                  <a:tcPr marL="73152" marR="73152" marT="27432" marB="27432">
                    <a:solidFill>
                      <a:srgbClr val="16213D"/>
                    </a:solidFill>
                  </a:tcPr>
                </a:tc>
              </a:tr>
              <a:tr h="457200">
                <a:tc>
                  <a:txBody>
                    <a:bodyPr/>
                    <a:lstStyle/>
                    <a:p>
                      <a:r>
                        <a:rPr sz="1200" b="0">
                          <a:solidFill>
                            <a:srgbClr val="222A3F"/>
                          </a:solidFill>
                          <a:latin typeface="Cambria"/>
                        </a:rPr>
                        <a:t>57 (worst)</a:t>
                      </a:r>
                    </a:p>
                  </a:txBody>
                  <a:tcPr marL="73152" marR="73152" marT="27432" marB="27432">
                    <a:solidFill>
                      <a:srgbClr val="F2F5FA"/>
                    </a:solidFill>
                  </a:tcPr>
                </a:tc>
                <a:tc>
                  <a:txBody>
                    <a:bodyPr/>
                    <a:lstStyle/>
                    <a:p>
                      <a:r>
                        <a:rPr sz="1200" b="0">
                          <a:solidFill>
                            <a:srgbClr val="222A3F"/>
                          </a:solidFill>
                          <a:latin typeface="Cambria"/>
                        </a:rPr>
                        <a:t>27 bytes disagree</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r>
              <a:tr h="457200">
                <a:tc>
                  <a:txBody>
                    <a:bodyPr/>
                    <a:lstStyle/>
                    <a:p>
                      <a:r>
                        <a:rPr sz="1200" b="0">
                          <a:solidFill>
                            <a:srgbClr val="222A3F"/>
                          </a:solidFill>
                          <a:latin typeface="Cambria"/>
                        </a:rPr>
                        <a:t>31</a:t>
                      </a:r>
                    </a:p>
                  </a:txBody>
                  <a:tcPr marL="73152" marR="73152" marT="27432" marB="27432">
                    <a:solidFill>
                      <a:srgbClr val="FFFFFF"/>
                    </a:solidFill>
                  </a:tcPr>
                </a:tc>
                <a:tc>
                  <a:txBody>
                    <a:bodyPr/>
                    <a:lstStyle/>
                    <a:p>
                      <a:r>
                        <a:rPr sz="1200" b="0">
                          <a:solidFill>
                            <a:srgbClr val="222A3F"/>
                          </a:solidFill>
                          <a:latin typeface="Cambria"/>
                        </a:rPr>
                        <a:t>20 bytes disagree</a:t>
                      </a:r>
                    </a:p>
                  </a:txBody>
                  <a:tcPr marL="73152" marR="73152" marT="27432" marB="27432">
                    <a:solidFill>
                      <a:srgbClr val="FFFFFF"/>
                    </a:solidFill>
                  </a:tcPr>
                </a:tc>
                <a:tc>
                  <a:txBody>
                    <a:bodyPr/>
                    <a:lstStyle/>
                    <a:p>
                      <a:r>
                        <a:rPr sz="1200" b="0">
                          <a:solidFill>
                            <a:srgbClr val="222A3F"/>
                          </a:solidFill>
                          <a:latin typeface="Cambria"/>
                        </a:rPr>
                        <a:t>clean</a:t>
                      </a:r>
                    </a:p>
                  </a:txBody>
                  <a:tcPr marL="73152" marR="73152" marT="27432" marB="27432">
                    <a:solidFill>
                      <a:srgbClr val="FFFFFF"/>
                    </a:solidFill>
                  </a:tcPr>
                </a:tc>
                <a:tc>
                  <a:txBody>
                    <a:bodyPr/>
                    <a:lstStyle/>
                    <a:p>
                      <a:r>
                        <a:rPr sz="1200" b="0">
                          <a:solidFill>
                            <a:srgbClr val="222A3F"/>
                          </a:solidFill>
                          <a:latin typeface="Cambria"/>
                        </a:rPr>
                        <a:t>clean</a:t>
                      </a:r>
                    </a:p>
                  </a:txBody>
                  <a:tcPr marL="73152" marR="73152" marT="27432" marB="27432">
                    <a:solidFill>
                      <a:srgbClr val="FFFFFF"/>
                    </a:solidFill>
                  </a:tcPr>
                </a:tc>
                <a:tc>
                  <a:txBody>
                    <a:bodyPr/>
                    <a:lstStyle/>
                    <a:p>
                      <a:r>
                        <a:rPr sz="1200" b="0">
                          <a:solidFill>
                            <a:srgbClr val="222A3F"/>
                          </a:solidFill>
                          <a:latin typeface="Cambria"/>
                        </a:rPr>
                        <a:t>clean</a:t>
                      </a:r>
                    </a:p>
                  </a:txBody>
                  <a:tcPr marL="73152" marR="73152" marT="27432" marB="27432">
                    <a:solidFill>
                      <a:srgbClr val="FFFFFF"/>
                    </a:solidFill>
                  </a:tcPr>
                </a:tc>
                <a:tc>
                  <a:txBody>
                    <a:bodyPr/>
                    <a:lstStyle/>
                    <a:p>
                      <a:r>
                        <a:rPr sz="1200" b="0">
                          <a:solidFill>
                            <a:srgbClr val="222A3F"/>
                          </a:solidFill>
                          <a:latin typeface="Cambria"/>
                        </a:rPr>
                        <a:t>clean</a:t>
                      </a:r>
                    </a:p>
                  </a:txBody>
                  <a:tcPr marL="73152" marR="73152" marT="27432" marB="27432">
                    <a:solidFill>
                      <a:srgbClr val="FFFFFF"/>
                    </a:solidFill>
                  </a:tcPr>
                </a:tc>
              </a:tr>
              <a:tr h="457200">
                <a:tc>
                  <a:txBody>
                    <a:bodyPr/>
                    <a:lstStyle/>
                    <a:p>
                      <a:r>
                        <a:rPr sz="1200" b="0">
                          <a:solidFill>
                            <a:srgbClr val="222A3F"/>
                          </a:solidFill>
                          <a:latin typeface="Cambria"/>
                        </a:rPr>
                        <a:t>200 (control)</a:t>
                      </a:r>
                    </a:p>
                  </a:txBody>
                  <a:tcPr marL="73152" marR="73152" marT="27432" marB="27432">
                    <a:solidFill>
                      <a:srgbClr val="F2F5FA"/>
                    </a:solidFill>
                  </a:tcPr>
                </a:tc>
                <a:tc>
                  <a:txBody>
                    <a:bodyPr/>
                    <a:lstStyle/>
                    <a:p>
                      <a:r>
                        <a:rPr sz="1200" b="0">
                          <a:solidFill>
                            <a:srgbClr val="222A3F"/>
                          </a:solidFill>
                          <a:latin typeface="Cambria"/>
                        </a:rPr>
                        <a:t>stable</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c>
                  <a:txBody>
                    <a:bodyPr/>
                    <a:lstStyle/>
                    <a:p>
                      <a:r>
                        <a:rPr sz="1200" b="0">
                          <a:solidFill>
                            <a:srgbClr val="222A3F"/>
                          </a:solidFill>
                          <a:latin typeface="Cambria"/>
                        </a:rPr>
                        <a:t>clean</a:t>
                      </a:r>
                    </a:p>
                  </a:txBody>
                  <a:tcPr marL="73152" marR="73152" marT="27432" marB="27432">
                    <a:solidFill>
                      <a:srgbClr val="F2F5FA"/>
                    </a:solidFill>
                  </a:tcPr>
                </a:tc>
              </a:tr>
            </a:tbl>
          </a:graphicData>
        </a:graphic>
      </p:graphicFrame>
      <p:sp>
        <p:nvSpPr>
          <p:cNvPr id="12" name="Rectangle 11"/>
          <p:cNvSpPr/>
          <p:nvPr/>
        </p:nvSpPr>
        <p:spPr>
          <a:xfrm>
            <a:off x="502920" y="3566160"/>
            <a:ext cx="3611880" cy="20116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675887"/>
            <a:ext cx="3611880" cy="1016000"/>
          </a:xfrm>
          <a:prstGeom prst="rect">
            <a:avLst/>
          </a:prstGeom>
          <a:noFill/>
        </p:spPr>
        <p:txBody>
          <a:bodyPr wrap="square" lIns="0" rIns="0" tIns="0" bIns="0">
            <a:spAutoFit/>
          </a:bodyPr>
          <a:lstStyle/>
          <a:p>
            <a:pPr algn="ctr"/>
            <a:r>
              <a:rPr sz="4000" b="1" i="0">
                <a:solidFill>
                  <a:srgbClr val="1F9D68"/>
                </a:solidFill>
                <a:latin typeface="Cambria"/>
              </a:rPr>
              <a:t>0</a:t>
            </a:r>
          </a:p>
        </p:txBody>
      </p:sp>
      <p:sp>
        <p:nvSpPr>
          <p:cNvPr id="14" name="TextBox 13"/>
          <p:cNvSpPr txBox="1"/>
          <p:nvPr/>
        </p:nvSpPr>
        <p:spPr>
          <a:xfrm>
            <a:off x="640080" y="4783328"/>
            <a:ext cx="3337560" cy="721360"/>
          </a:xfrm>
          <a:prstGeom prst="rect">
            <a:avLst/>
          </a:prstGeom>
          <a:noFill/>
        </p:spPr>
        <p:txBody>
          <a:bodyPr wrap="square" lIns="0" rIns="0" tIns="0" bIns="0">
            <a:spAutoFit/>
          </a:bodyPr>
          <a:lstStyle/>
          <a:p>
            <a:pPr algn="ctr"/>
            <a:r>
              <a:rPr sz="1100" b="0" i="0">
                <a:solidFill>
                  <a:srgbClr val="222A3F"/>
                </a:solidFill>
                <a:latin typeface="Cambria"/>
              </a:rPr>
              <a:t>mismatches in 45 reads of three patterns across two scarred sectors</a:t>
            </a:r>
          </a:p>
        </p:txBody>
      </p:sp>
      <p:sp>
        <p:nvSpPr>
          <p:cNvPr id="15" name="Rectangle 14"/>
          <p:cNvSpPr/>
          <p:nvPr/>
        </p:nvSpPr>
        <p:spPr>
          <a:xfrm>
            <a:off x="4297680" y="3566160"/>
            <a:ext cx="7360920" cy="20116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3685032"/>
            <a:ext cx="7031736" cy="1773936"/>
          </a:xfrm>
          <a:prstGeom prst="rect">
            <a:avLst/>
          </a:prstGeom>
          <a:noFill/>
        </p:spPr>
        <p:txBody>
          <a:bodyPr wrap="square" lIns="0" rIns="0" tIns="0" bIns="0">
            <a:spAutoFit/>
          </a:bodyPr>
          <a:lstStyle/>
          <a:p>
            <a:r>
              <a:rPr sz="1350" b="1" spc="100">
                <a:solidFill>
                  <a:srgbClr val="1F9D68"/>
                </a:solidFill>
                <a:latin typeface="Cambria"/>
              </a:rPr>
              <a:t>VERDICT</a:t>
            </a:r>
          </a:p>
          <a:p>
            <a:pPr>
              <a:spcBef>
                <a:spcPts val="400"/>
              </a:spcBef>
            </a:pPr>
            <a:r>
              <a:rPr sz="1250">
                <a:solidFill>
                  <a:srgbClr val="222A3F"/>
                </a:solidFill>
                <a:latin typeface="Cambria"/>
              </a:rPr>
              <a:t>•  The silicon is sound: it programs, erases and holds every pattern once written under a healthy supply</a:t>
            </a:r>
          </a:p>
          <a:p>
            <a:pPr>
              <a:spcBef>
                <a:spcPts val="400"/>
              </a:spcBef>
            </a:pPr>
            <a:r>
              <a:rPr sz="1250">
                <a:solidFill>
                  <a:srgbClr val="222A3F"/>
                </a:solidFill>
                <a:latin typeface="Cambria"/>
              </a:rPr>
              <a:t>•  The instability was the residue of earlier writes completed with the supply outside the flash's range</a:t>
            </a:r>
          </a:p>
          <a:p>
            <a:pPr>
              <a:spcBef>
                <a:spcPts val="400"/>
              </a:spcBef>
            </a:pPr>
            <a:r>
              <a:rPr sz="1250">
                <a:solidFill>
                  <a:srgbClr val="222A3F"/>
                </a:solidFill>
                <a:latin typeface="Cambria"/>
              </a:rPr>
              <a:t>•  H2 falls; H3 stands. The hardware question is closed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26/31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REPAIR, SAME DAY</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Clean erase of the settings partition on USB power, then the snapshot.</a:t>
            </a:r>
          </a:p>
        </p:txBody>
      </p:sp>
      <p:sp>
        <p:nvSpPr>
          <p:cNvPr id="11" name="Rectangle 10"/>
          <p:cNvSpPr/>
          <p:nvPr/>
        </p:nvSpPr>
        <p:spPr>
          <a:xfrm>
            <a:off x="502920" y="1371600"/>
            <a:ext cx="361188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81328"/>
            <a:ext cx="3611880" cy="914400"/>
          </a:xfrm>
          <a:prstGeom prst="rect">
            <a:avLst/>
          </a:prstGeom>
          <a:noFill/>
        </p:spPr>
        <p:txBody>
          <a:bodyPr wrap="square" lIns="0" rIns="0" tIns="0" bIns="0">
            <a:spAutoFit/>
          </a:bodyPr>
          <a:lstStyle/>
          <a:p>
            <a:pPr algn="ctr"/>
            <a:r>
              <a:rPr sz="3600" b="1" i="0">
                <a:solidFill>
                  <a:srgbClr val="1F9D68"/>
                </a:solidFill>
                <a:latin typeface="Cambria"/>
              </a:rPr>
              <a:t>21 -&gt; 0</a:t>
            </a:r>
          </a:p>
        </p:txBody>
      </p:sp>
      <p:sp>
        <p:nvSpPr>
          <p:cNvPr id="13" name="TextBox 12"/>
          <p:cNvSpPr txBox="1"/>
          <p:nvPr/>
        </p:nvSpPr>
        <p:spPr>
          <a:xfrm>
            <a:off x="640080" y="2487168"/>
            <a:ext cx="3337560" cy="731520"/>
          </a:xfrm>
          <a:prstGeom prst="rect">
            <a:avLst/>
          </a:prstGeom>
          <a:noFill/>
        </p:spPr>
        <p:txBody>
          <a:bodyPr wrap="square" lIns="0" rIns="0" tIns="0" bIns="0">
            <a:spAutoFit/>
          </a:bodyPr>
          <a:lstStyle/>
          <a:p>
            <a:pPr algn="ctr"/>
            <a:r>
              <a:rPr sz="1100" b="0" i="0">
                <a:solidFill>
                  <a:srgbClr val="222A3F"/>
                </a:solidFill>
                <a:latin typeface="Cambria"/>
              </a:rPr>
              <a:t>unstable sectors on SF, measured before and after</a:t>
            </a:r>
          </a:p>
        </p:txBody>
      </p:sp>
      <p:sp>
        <p:nvSpPr>
          <p:cNvPr id="14" name="Rectangle 13"/>
          <p:cNvSpPr/>
          <p:nvPr/>
        </p:nvSpPr>
        <p:spPr>
          <a:xfrm>
            <a:off x="4274820" y="1371600"/>
            <a:ext cx="361188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4820" y="1481328"/>
            <a:ext cx="3611880" cy="914400"/>
          </a:xfrm>
          <a:prstGeom prst="rect">
            <a:avLst/>
          </a:prstGeom>
          <a:noFill/>
        </p:spPr>
        <p:txBody>
          <a:bodyPr wrap="square" lIns="0" rIns="0" tIns="0" bIns="0">
            <a:spAutoFit/>
          </a:bodyPr>
          <a:lstStyle/>
          <a:p>
            <a:pPr algn="ctr"/>
            <a:r>
              <a:rPr sz="3600" b="1" i="0">
                <a:solidFill>
                  <a:srgbClr val="E58E1A"/>
                </a:solidFill>
                <a:latin typeface="Cambria"/>
              </a:rPr>
              <a:t>2 passes</a:t>
            </a:r>
          </a:p>
        </p:txBody>
      </p:sp>
      <p:sp>
        <p:nvSpPr>
          <p:cNvPr id="16" name="TextBox 15"/>
          <p:cNvSpPr txBox="1"/>
          <p:nvPr/>
        </p:nvSpPr>
        <p:spPr>
          <a:xfrm>
            <a:off x="4411980" y="2487168"/>
            <a:ext cx="3337560" cy="731520"/>
          </a:xfrm>
          <a:prstGeom prst="rect">
            <a:avLst/>
          </a:prstGeom>
          <a:noFill/>
        </p:spPr>
        <p:txBody>
          <a:bodyPr wrap="square" lIns="0" rIns="0" tIns="0" bIns="0">
            <a:spAutoFit/>
          </a:bodyPr>
          <a:lstStyle/>
          <a:p>
            <a:pPr algn="ctr"/>
            <a:r>
              <a:rPr sz="1100" b="0" i="0">
                <a:solidFill>
                  <a:srgbClr val="222A3F"/>
                </a:solidFill>
                <a:latin typeface="Cambria"/>
              </a:rPr>
              <a:t>of --configure: the region write reboots the radio mid-transaction</a:t>
            </a:r>
          </a:p>
        </p:txBody>
      </p:sp>
      <p:sp>
        <p:nvSpPr>
          <p:cNvPr id="17" name="Rectangle 16"/>
          <p:cNvSpPr/>
          <p:nvPr/>
        </p:nvSpPr>
        <p:spPr>
          <a:xfrm>
            <a:off x="8046720" y="1371600"/>
            <a:ext cx="361188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1481328"/>
            <a:ext cx="3611880" cy="914400"/>
          </a:xfrm>
          <a:prstGeom prst="rect">
            <a:avLst/>
          </a:prstGeom>
          <a:noFill/>
        </p:spPr>
        <p:txBody>
          <a:bodyPr wrap="square" lIns="0" rIns="0" tIns="0" bIns="0">
            <a:spAutoFit/>
          </a:bodyPr>
          <a:lstStyle/>
          <a:p>
            <a:pPr algn="ctr"/>
            <a:r>
              <a:rPr sz="3600" b="1" i="0">
                <a:solidFill>
                  <a:srgbClr val="16213D"/>
                </a:solidFill>
                <a:latin typeface="Cambria"/>
              </a:rPr>
              <a:t>same key</a:t>
            </a:r>
          </a:p>
        </p:txBody>
      </p:sp>
      <p:sp>
        <p:nvSpPr>
          <p:cNvPr id="19" name="TextBox 18"/>
          <p:cNvSpPr txBox="1"/>
          <p:nvPr/>
        </p:nvSpPr>
        <p:spPr>
          <a:xfrm>
            <a:off x="8183880" y="2487168"/>
            <a:ext cx="3337560" cy="731520"/>
          </a:xfrm>
          <a:prstGeom prst="rect">
            <a:avLst/>
          </a:prstGeom>
          <a:noFill/>
        </p:spPr>
        <p:txBody>
          <a:bodyPr wrap="square" lIns="0" rIns="0" tIns="0" bIns="0">
            <a:spAutoFit/>
          </a:bodyPr>
          <a:lstStyle/>
          <a:p>
            <a:pPr algn="ctr"/>
            <a:r>
              <a:rPr sz="1100" b="0" i="0">
                <a:solidFill>
                  <a:srgbClr val="222A3F"/>
                </a:solidFill>
                <a:latin typeface="Cambria"/>
              </a:rPr>
              <a:t>node key pair preserved; RG's node table stays valid</a:t>
            </a:r>
          </a:p>
        </p:txBody>
      </p:sp>
      <p:sp>
        <p:nvSpPr>
          <p:cNvPr id="20" name="Rectangle 19"/>
          <p:cNvSpPr/>
          <p:nvPr/>
        </p:nvSpPr>
        <p:spPr>
          <a:xfrm>
            <a:off x="502920" y="3566160"/>
            <a:ext cx="5486400" cy="23774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685032"/>
            <a:ext cx="5157216" cy="2139696"/>
          </a:xfrm>
          <a:prstGeom prst="rect">
            <a:avLst/>
          </a:prstGeom>
          <a:noFill/>
        </p:spPr>
        <p:txBody>
          <a:bodyPr wrap="square" lIns="0" rIns="0" tIns="0" bIns="0">
            <a:spAutoFit/>
          </a:bodyPr>
          <a:lstStyle/>
          <a:p>
            <a:r>
              <a:rPr sz="1350" b="1" spc="100">
                <a:solidFill>
                  <a:srgbClr val="16213D"/>
                </a:solidFill>
                <a:latin typeface="Cambria"/>
              </a:rPr>
              <a:t>STEPS</a:t>
            </a:r>
          </a:p>
          <a:p>
            <a:pPr>
              <a:spcBef>
                <a:spcPts val="400"/>
              </a:spcBef>
            </a:pPr>
            <a:r>
              <a:rPr sz="1200">
                <a:solidFill>
                  <a:srgbClr val="222A3F"/>
                </a:solidFill>
                <a:latin typeface="Cambria"/>
              </a:rPr>
              <a:t>•  esptool erase_region 0xC90000 0x360000 (USB powered)</a:t>
            </a:r>
          </a:p>
          <a:p>
            <a:pPr>
              <a:spcBef>
                <a:spcPts val="400"/>
              </a:spcBef>
            </a:pPr>
            <a:r>
              <a:rPr sz="1200">
                <a:solidFill>
                  <a:srgbClr val="222A3F"/>
                </a:solidFill>
                <a:latin typeface="Cambria"/>
              </a:rPr>
              <a:t>•  First boot: 'Failed to initialize LittleFS', format, factory defaults</a:t>
            </a:r>
          </a:p>
          <a:p>
            <a:pPr>
              <a:spcBef>
                <a:spcPts val="400"/>
              </a:spcBef>
            </a:pPr>
            <a:r>
              <a:rPr sz="1200">
                <a:solidFill>
                  <a:srgbClr val="222A3F"/>
                </a:solidFill>
                <a:latin typeface="Cambria"/>
              </a:rPr>
              <a:t>•  meshtastic --configure sf-config.yaml, twice, 20 s apart</a:t>
            </a:r>
          </a:p>
          <a:p>
            <a:pPr>
              <a:spcBef>
                <a:spcPts val="400"/>
              </a:spcBef>
            </a:pPr>
            <a:r>
              <a:rPr sz="1200">
                <a:solidFill>
                  <a:srgbClr val="222A3F"/>
                </a:solidFill>
                <a:latin typeface="Cambria"/>
              </a:rPr>
              <a:t>•  Read back, reset, read back again: identical</a:t>
            </a:r>
          </a:p>
          <a:p>
            <a:pPr>
              <a:spcBef>
                <a:spcPts val="400"/>
              </a:spcBef>
            </a:pPr>
            <a:r>
              <a:rPr sz="1200">
                <a:solidFill>
                  <a:srgbClr val="222A3F"/>
                </a:solidFill>
                <a:latin typeface="Cambria"/>
              </a:rPr>
              <a:t>•  Three reads of the partition: 0 differing bytes</a:t>
            </a:r>
          </a:p>
        </p:txBody>
      </p:sp>
      <p:sp>
        <p:nvSpPr>
          <p:cNvPr id="22" name="Rectangle 21"/>
          <p:cNvSpPr/>
          <p:nvPr/>
        </p:nvSpPr>
        <p:spPr>
          <a:xfrm>
            <a:off x="6172200" y="3566160"/>
            <a:ext cx="5486400" cy="237744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36792" y="3685032"/>
            <a:ext cx="5157216" cy="2139696"/>
          </a:xfrm>
          <a:prstGeom prst="rect">
            <a:avLst/>
          </a:prstGeom>
          <a:noFill/>
        </p:spPr>
        <p:txBody>
          <a:bodyPr wrap="square" lIns="0" rIns="0" tIns="0" bIns="0">
            <a:spAutoFit/>
          </a:bodyPr>
          <a:lstStyle/>
          <a:p>
            <a:r>
              <a:rPr sz="1350" b="1" spc="100">
                <a:solidFill>
                  <a:srgbClr val="E58E1A"/>
                </a:solidFill>
                <a:latin typeface="Cambria"/>
              </a:rPr>
              <a:t>WHAT THE FIRST PASS TAUGHT</a:t>
            </a:r>
          </a:p>
          <a:p>
            <a:pPr>
              <a:spcBef>
                <a:spcPts val="400"/>
              </a:spcBef>
            </a:pPr>
            <a:r>
              <a:rPr sz="1200">
                <a:solidFill>
                  <a:srgbClr val="222A3F"/>
                </a:solidFill>
                <a:latin typeface="Cambria"/>
              </a:rPr>
              <a:t>•  Pass 1 restored Bluetooth, region and the presets; owner, role, channel and cadence were lost in the reboot the region write triggers</a:t>
            </a:r>
          </a:p>
          <a:p>
            <a:pPr>
              <a:spcBef>
                <a:spcPts val="400"/>
              </a:spcBef>
            </a:pPr>
            <a:r>
              <a:rPr sz="1200">
                <a:solidFill>
                  <a:srgbClr val="222A3F"/>
                </a:solidFill>
                <a:latin typeface="Cambria"/>
              </a:rPr>
              <a:t>•  Now a rule in User Guide 12.2: run the command twice</a:t>
            </a:r>
          </a:p>
          <a:p>
            <a:pPr>
              <a:spcBef>
                <a:spcPts val="400"/>
              </a:spcBef>
            </a:pPr>
            <a:r>
              <a:rPr sz="1200">
                <a:solidFill>
                  <a:srgbClr val="222A3F"/>
                </a:solidFill>
                <a:latin typeface="Cambria"/>
              </a:rPr>
              <a:t>•  RG needs no repair today; its baseline is clean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27/31  REV C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CHAIN OF CAUSATION</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Every link tagged with its class of evidence.</a:t>
            </a:r>
          </a:p>
        </p:txBody>
      </p:sp>
      <p:pic>
        <p:nvPicPr>
          <p:cNvPr id="9" name="Picture 8" descr="g_chain.png"/>
          <p:cNvPicPr>
            <a:picLocks noChangeAspect="1"/>
          </p:cNvPicPr>
          <p:nvPr/>
        </p:nvPicPr>
        <p:blipFill>
          <a:blip r:embed="rId2"/>
          <a:stretch>
            <a:fillRect/>
          </a:stretch>
        </p:blipFill>
        <p:spPr>
          <a:xfrm>
            <a:off x="502920" y="1280160"/>
            <a:ext cx="11155680" cy="2339094"/>
          </a:xfrm>
          <a:prstGeom prst="rect">
            <a:avLst/>
          </a:prstGeom>
        </p:spPr>
      </p:pic>
      <p:graphicFrame>
        <p:nvGraphicFramePr>
          <p:cNvPr id="10" name="Table 9"/>
          <p:cNvGraphicFramePr>
            <a:graphicFrameLocks noGrp="1"/>
          </p:cNvGraphicFramePr>
          <p:nvPr/>
        </p:nvGraphicFramePr>
        <p:xfrm>
          <a:off x="502920" y="3749039"/>
          <a:ext cx="11155680" cy="2304288"/>
        </p:xfrm>
        <a:graphic>
          <a:graphicData uri="http://schemas.openxmlformats.org/drawingml/2006/table">
            <a:tbl>
              <a:tblPr firstRow="1" bandRow="1">
                <a:tableStyleId>{5C22544A-7EE6-4342-B048-85BDC9FD1C3A}</a:tableStyleId>
              </a:tblPr>
              <a:tblGrid>
                <a:gridCol w="3657600"/>
                <a:gridCol w="4754880"/>
                <a:gridCol w="2743200"/>
              </a:tblGrid>
              <a:tr h="384048">
                <a:tc>
                  <a:txBody>
                    <a:bodyPr/>
                    <a:lstStyle/>
                    <a:p>
                      <a:r>
                        <a:rPr sz="1100" b="1">
                          <a:solidFill>
                            <a:srgbClr val="FFFFFF"/>
                          </a:solidFill>
                          <a:latin typeface="Cambria"/>
                        </a:rPr>
                        <a:t>Link</a:t>
                      </a:r>
                    </a:p>
                  </a:txBody>
                  <a:tcPr marL="73152" marR="73152" marT="27432" marB="27432">
                    <a:solidFill>
                      <a:srgbClr val="16213D"/>
                    </a:solidFill>
                  </a:tcPr>
                </a:tc>
                <a:tc>
                  <a:txBody>
                    <a:bodyPr/>
                    <a:lstStyle/>
                    <a:p>
                      <a:r>
                        <a:rPr sz="1100" b="1">
                          <a:solidFill>
                            <a:srgbClr val="FFFFFF"/>
                          </a:solidFill>
                          <a:latin typeface="Cambria"/>
                        </a:rPr>
                        <a:t>Evidence</a:t>
                      </a:r>
                    </a:p>
                  </a:txBody>
                  <a:tcPr marL="73152" marR="73152" marT="27432" marB="27432">
                    <a:solidFill>
                      <a:srgbClr val="16213D"/>
                    </a:solidFill>
                  </a:tcPr>
                </a:tc>
                <a:tc>
                  <a:txBody>
                    <a:bodyPr/>
                    <a:lstStyle/>
                    <a:p>
                      <a:r>
                        <a:rPr sz="1100" b="1">
                          <a:solidFill>
                            <a:srgbClr val="FFFFFF"/>
                          </a:solidFill>
                          <a:latin typeface="Cambria"/>
                        </a:rPr>
                        <a:t>Class</a:t>
                      </a:r>
                    </a:p>
                  </a:txBody>
                  <a:tcPr marL="73152" marR="73152" marT="27432" marB="27432">
                    <a:solidFill>
                      <a:srgbClr val="16213D"/>
                    </a:solidFill>
                  </a:tcPr>
                </a:tc>
              </a:tr>
              <a:tr h="384048">
                <a:tc>
                  <a:txBody>
                    <a:bodyPr/>
                    <a:lstStyle/>
                    <a:p>
                      <a:r>
                        <a:rPr sz="1100" b="0">
                          <a:solidFill>
                            <a:srgbClr val="222A3F"/>
                          </a:solidFill>
                          <a:latin typeface="Cambria"/>
                        </a:rPr>
                        <a:t>Flat battery, reboot churn on recovery</a:t>
                      </a:r>
                    </a:p>
                  </a:txBody>
                  <a:tcPr marL="73152" marR="73152" marT="27432" marB="27432">
                    <a:solidFill>
                      <a:srgbClr val="F2F5FA"/>
                    </a:solidFill>
                  </a:tcPr>
                </a:tc>
                <a:tc>
                  <a:txBody>
                    <a:bodyPr/>
                    <a:lstStyle/>
                    <a:p>
                      <a:r>
                        <a:rPr sz="1100" b="0">
                          <a:solidFill>
                            <a:srgbClr val="222A3F"/>
                          </a:solidFill>
                          <a:latin typeface="Cambria"/>
                        </a:rPr>
                        <a:t>3 of 4 incidents; #4555 reproduces it</a:t>
                      </a:r>
                    </a:p>
                  </a:txBody>
                  <a:tcPr marL="73152" marR="73152" marT="27432" marB="27432">
                    <a:solidFill>
                      <a:srgbClr val="F2F5FA"/>
                    </a:solidFill>
                  </a:tcPr>
                </a:tc>
                <a:tc>
                  <a:txBody>
                    <a:bodyPr/>
                    <a:lstStyle/>
                    <a:p>
                      <a:r>
                        <a:rPr sz="1100" b="0">
                          <a:solidFill>
                            <a:srgbClr val="222A3F"/>
                          </a:solidFill>
                          <a:latin typeface="Cambria"/>
                        </a:rPr>
                        <a:t>Observed</a:t>
                      </a:r>
                    </a:p>
                  </a:txBody>
                  <a:tcPr marL="73152" marR="73152" marT="27432" marB="27432">
                    <a:solidFill>
                      <a:srgbClr val="F2F5FA"/>
                    </a:solidFill>
                  </a:tcPr>
                </a:tc>
              </a:tr>
              <a:tr h="384048">
                <a:tc>
                  <a:txBody>
                    <a:bodyPr/>
                    <a:lstStyle/>
                    <a:p>
                      <a:r>
                        <a:rPr sz="1100" b="0">
                          <a:solidFill>
                            <a:srgbClr val="222A3F"/>
                          </a:solidFill>
                          <a:latin typeface="Cambria"/>
                        </a:rPr>
                        <a:t>Flash write on every boot, no voltage gate</a:t>
                      </a:r>
                    </a:p>
                  </a:txBody>
                  <a:tcPr marL="73152" marR="73152" marT="27432" marB="27432">
                    <a:solidFill>
                      <a:srgbClr val="FFFFFF"/>
                    </a:solidFill>
                  </a:tcPr>
                </a:tc>
                <a:tc>
                  <a:txBody>
                    <a:bodyPr/>
                    <a:lstStyle/>
                    <a:p>
                      <a:r>
                        <a:rPr sz="1100" b="0">
                          <a:solidFill>
                            <a:srgbClr val="222A3F"/>
                          </a:solidFill>
                          <a:latin typeface="Cambria"/>
                        </a:rPr>
                        <a:t>Boot log; PowerHAL.cpp stub</a:t>
                      </a:r>
                    </a:p>
                  </a:txBody>
                  <a:tcPr marL="73152" marR="73152" marT="27432" marB="27432">
                    <a:solidFill>
                      <a:srgbClr val="FFFFFF"/>
                    </a:solidFill>
                  </a:tcPr>
                </a:tc>
                <a:tc>
                  <a:txBody>
                    <a:bodyPr/>
                    <a:lstStyle/>
                    <a:p>
                      <a:r>
                        <a:rPr sz="1100" b="0">
                          <a:solidFill>
                            <a:srgbClr val="222A3F"/>
                          </a:solidFill>
                          <a:latin typeface="Cambria"/>
                        </a:rPr>
                        <a:t>Verified in source</a:t>
                      </a:r>
                    </a:p>
                  </a:txBody>
                  <a:tcPr marL="73152" marR="73152" marT="27432" marB="27432">
                    <a:solidFill>
                      <a:srgbClr val="FFFFFF"/>
                    </a:solidFill>
                  </a:tcPr>
                </a:tc>
              </a:tr>
              <a:tr h="384048">
                <a:tc>
                  <a:txBody>
                    <a:bodyPr/>
                    <a:lstStyle/>
                    <a:p>
                      <a:r>
                        <a:rPr sz="1100" b="0">
                          <a:solidFill>
                            <a:srgbClr val="222A3F"/>
                          </a:solidFill>
                          <a:latin typeface="Cambria"/>
                        </a:rPr>
                        <a:t>Rail between 2.44 and 2.7 V during a write</a:t>
                      </a:r>
                    </a:p>
                  </a:txBody>
                  <a:tcPr marL="73152" marR="73152" marT="27432" marB="27432">
                    <a:solidFill>
                      <a:srgbClr val="F2F5FA"/>
                    </a:solidFill>
                  </a:tcPr>
                </a:tc>
                <a:tc>
                  <a:txBody>
                    <a:bodyPr/>
                    <a:lstStyle/>
                    <a:p>
                      <a:r>
                        <a:rPr sz="1100" b="0">
                          <a:solidFill>
                            <a:srgbClr val="222A3F"/>
                          </a:solidFill>
                          <a:latin typeface="Cambria"/>
                        </a:rPr>
                        <a:t>Datasheets, sdkconfig, 750 mA TX pulses</a:t>
                      </a:r>
                    </a:p>
                  </a:txBody>
                  <a:tcPr marL="73152" marR="73152" marT="27432" marB="27432">
                    <a:solidFill>
                      <a:srgbClr val="F2F5FA"/>
                    </a:solidFill>
                  </a:tcPr>
                </a:tc>
                <a:tc>
                  <a:txBody>
                    <a:bodyPr/>
                    <a:lstStyle/>
                    <a:p>
                      <a:r>
                        <a:rPr sz="1100" b="0">
                          <a:solidFill>
                            <a:srgbClr val="222A3F"/>
                          </a:solidFill>
                          <a:latin typeface="Cambria"/>
                        </a:rPr>
                        <a:t>Inferred (scope capture pending)</a:t>
                      </a:r>
                    </a:p>
                  </a:txBody>
                  <a:tcPr marL="73152" marR="73152" marT="27432" marB="27432">
                    <a:solidFill>
                      <a:srgbClr val="F2F5FA"/>
                    </a:solidFill>
                  </a:tcPr>
                </a:tc>
              </a:tr>
              <a:tr h="384048">
                <a:tc>
                  <a:txBody>
                    <a:bodyPr/>
                    <a:lstStyle/>
                    <a:p>
                      <a:r>
                        <a:rPr sz="1100" b="0">
                          <a:solidFill>
                            <a:srgbClr val="222A3F"/>
                          </a:solidFill>
                          <a:latin typeface="Cambria"/>
                        </a:rPr>
                        <a:t>Cells left half-programmed</a:t>
                      </a:r>
                    </a:p>
                  </a:txBody>
                  <a:tcPr marL="73152" marR="73152" marT="27432" marB="27432">
                    <a:solidFill>
                      <a:srgbClr val="FFFFFF"/>
                    </a:solidFill>
                  </a:tcPr>
                </a:tc>
                <a:tc>
                  <a:txBody>
                    <a:bodyPr/>
                    <a:lstStyle/>
                    <a:p>
                      <a:r>
                        <a:rPr sz="1100" b="0">
                          <a:solidFill>
                            <a:srgbClr val="222A3F"/>
                          </a:solidFill>
                          <a:latin typeface="Cambria"/>
                        </a:rPr>
                        <a:t>SF sector map; healed by rewrite</a:t>
                      </a:r>
                    </a:p>
                  </a:txBody>
                  <a:tcPr marL="73152" marR="73152" marT="27432" marB="27432">
                    <a:solidFill>
                      <a:srgbClr val="FFFFFF"/>
                    </a:solidFill>
                  </a:tcPr>
                </a:tc>
                <a:tc>
                  <a:txBody>
                    <a:bodyPr/>
                    <a:lstStyle/>
                    <a:p>
                      <a:r>
                        <a:rPr sz="1100" b="0">
                          <a:solidFill>
                            <a:srgbClr val="222A3F"/>
                          </a:solidFill>
                          <a:latin typeface="Cambria"/>
                        </a:rPr>
                        <a:t>Measured</a:t>
                      </a:r>
                    </a:p>
                  </a:txBody>
                  <a:tcPr marL="73152" marR="73152" marT="27432" marB="27432">
                    <a:solidFill>
                      <a:srgbClr val="FFFFFF"/>
                    </a:solidFill>
                  </a:tcPr>
                </a:tc>
              </a:tr>
              <a:tr h="384048">
                <a:tc>
                  <a:txBody>
                    <a:bodyPr/>
                    <a:lstStyle/>
                    <a:p>
                      <a:r>
                        <a:rPr sz="1100" b="0">
                          <a:solidFill>
                            <a:srgbClr val="222A3F"/>
                          </a:solidFill>
                          <a:latin typeface="Cambria"/>
                        </a:rPr>
                        <a:t>Decode fails, defaults installed and saved</a:t>
                      </a:r>
                    </a:p>
                  </a:txBody>
                  <a:tcPr marL="73152" marR="73152" marT="27432" marB="27432">
                    <a:solidFill>
                      <a:srgbClr val="F2F5FA"/>
                    </a:solidFill>
                  </a:tcPr>
                </a:tc>
                <a:tc>
                  <a:txBody>
                    <a:bodyPr/>
                    <a:lstStyle/>
                    <a:p>
                      <a:r>
                        <a:rPr sz="1100" b="0">
                          <a:solidFill>
                            <a:srgbClr val="222A3F"/>
                          </a:solidFill>
                          <a:latin typeface="Cambria"/>
                        </a:rPr>
                        <a:t>NodeDB.cpp; the losses themselves</a:t>
                      </a:r>
                    </a:p>
                  </a:txBody>
                  <a:tcPr marL="73152" marR="73152" marT="27432" marB="27432">
                    <a:solidFill>
                      <a:srgbClr val="F2F5FA"/>
                    </a:solidFill>
                  </a:tcPr>
                </a:tc>
                <a:tc>
                  <a:txBody>
                    <a:bodyPr/>
                    <a:lstStyle/>
                    <a:p>
                      <a:r>
                        <a:rPr sz="1100" b="0">
                          <a:solidFill>
                            <a:srgbClr val="222A3F"/>
                          </a:solidFill>
                          <a:latin typeface="Cambria"/>
                        </a:rPr>
                        <a:t>Verified in source</a:t>
                      </a:r>
                    </a:p>
                  </a:txBody>
                  <a:tcPr marL="73152" marR="73152" marT="27432" marB="27432">
                    <a:solidFill>
                      <a:srgbClr val="F2F5FA"/>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28/31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PLAN, RANKED BY LEVERAGE</a:t>
            </a:r>
          </a:p>
        </p:txBody>
      </p:sp>
      <p:graphicFrame>
        <p:nvGraphicFramePr>
          <p:cNvPr id="10" name="Table 9"/>
          <p:cNvGraphicFramePr>
            <a:graphicFrameLocks noGrp="1"/>
          </p:cNvGraphicFramePr>
          <p:nvPr/>
        </p:nvGraphicFramePr>
        <p:xfrm>
          <a:off x="502920" y="1280160"/>
          <a:ext cx="11155679" cy="3950208"/>
        </p:xfrm>
        <a:graphic>
          <a:graphicData uri="http://schemas.openxmlformats.org/drawingml/2006/table">
            <a:tbl>
              <a:tblPr firstRow="1" bandRow="1">
                <a:tableStyleId>{5C22544A-7EE6-4342-B048-85BDC9FD1C3A}</a:tableStyleId>
              </a:tblPr>
              <a:tblGrid>
                <a:gridCol w="365760"/>
                <a:gridCol w="4572000"/>
                <a:gridCol w="3749039"/>
                <a:gridCol w="1188720"/>
                <a:gridCol w="1280160"/>
              </a:tblGrid>
              <a:tr h="658368">
                <a:tc>
                  <a:txBody>
                    <a:bodyPr/>
                    <a:lstStyle/>
                    <a:p>
                      <a:r>
                        <a:rPr sz="1100" b="1">
                          <a:solidFill>
                            <a:srgbClr val="FFFFFF"/>
                          </a:solidFill>
                          <a:latin typeface="Cambria"/>
                        </a:rPr>
                        <a:t>#</a:t>
                      </a:r>
                    </a:p>
                  </a:txBody>
                  <a:tcPr marL="73152" marR="73152" marT="27432" marB="27432">
                    <a:solidFill>
                      <a:srgbClr val="16213D"/>
                    </a:solidFill>
                  </a:tcPr>
                </a:tc>
                <a:tc>
                  <a:txBody>
                    <a:bodyPr/>
                    <a:lstStyle/>
                    <a:p>
                      <a:r>
                        <a:rPr sz="1100" b="1">
                          <a:solidFill>
                            <a:srgbClr val="FFFFFF"/>
                          </a:solidFill>
                          <a:latin typeface="Cambria"/>
                        </a:rPr>
                        <a:t>Fix</a:t>
                      </a:r>
                    </a:p>
                  </a:txBody>
                  <a:tcPr marL="73152" marR="73152" marT="27432" marB="27432">
                    <a:solidFill>
                      <a:srgbClr val="16213D"/>
                    </a:solidFill>
                  </a:tcPr>
                </a:tc>
                <a:tc>
                  <a:txBody>
                    <a:bodyPr/>
                    <a:lstStyle/>
                    <a:p>
                      <a:r>
                        <a:rPr sz="1100" b="1">
                          <a:solidFill>
                            <a:srgbClr val="FFFFFF"/>
                          </a:solidFill>
                          <a:latin typeface="Cambria"/>
                        </a:rPr>
                        <a:t>Effect</a:t>
                      </a:r>
                    </a:p>
                  </a:txBody>
                  <a:tcPr marL="73152" marR="73152" marT="27432" marB="27432">
                    <a:solidFill>
                      <a:srgbClr val="16213D"/>
                    </a:solidFill>
                  </a:tcPr>
                </a:tc>
                <a:tc>
                  <a:txBody>
                    <a:bodyPr/>
                    <a:lstStyle/>
                    <a:p>
                      <a:r>
                        <a:rPr sz="1100" b="1">
                          <a:solidFill>
                            <a:srgbClr val="FFFFFF"/>
                          </a:solidFill>
                          <a:latin typeface="Cambria"/>
                        </a:rPr>
                        <a:t>Effort</a:t>
                      </a:r>
                    </a:p>
                  </a:txBody>
                  <a:tcPr marL="73152" marR="73152" marT="27432" marB="27432">
                    <a:solidFill>
                      <a:srgbClr val="16213D"/>
                    </a:solidFill>
                  </a:tcPr>
                </a:tc>
                <a:tc>
                  <a:txBody>
                    <a:bodyPr/>
                    <a:lstStyle/>
                    <a:p>
                      <a:r>
                        <a:rPr sz="1100" b="1">
                          <a:solidFill>
                            <a:srgbClr val="FFFFFF"/>
                          </a:solidFill>
                          <a:latin typeface="Cambria"/>
                        </a:rPr>
                        <a:t>Status</a:t>
                      </a:r>
                    </a:p>
                  </a:txBody>
                  <a:tcPr marL="73152" marR="73152" marT="27432" marB="27432">
                    <a:solidFill>
                      <a:srgbClr val="16213D"/>
                    </a:solidFill>
                  </a:tcPr>
                </a:tc>
              </a:tr>
              <a:tr h="658368">
                <a:tc>
                  <a:txBody>
                    <a:bodyPr/>
                    <a:lstStyle/>
                    <a:p>
                      <a:r>
                        <a:rPr sz="1100" b="0">
                          <a:solidFill>
                            <a:srgbClr val="222A3F"/>
                          </a:solidFill>
                          <a:latin typeface="Cambria"/>
                        </a:rPr>
                        <a:t>1</a:t>
                      </a:r>
                    </a:p>
                  </a:txBody>
                  <a:tcPr marL="73152" marR="73152" marT="27432" marB="27432">
                    <a:solidFill>
                      <a:srgbClr val="F2F5FA"/>
                    </a:solidFill>
                  </a:tcPr>
                </a:tc>
                <a:tc>
                  <a:txBody>
                    <a:bodyPr/>
                    <a:lstStyle/>
                    <a:p>
                      <a:r>
                        <a:rPr sz="1100" b="0">
                          <a:solidFill>
                            <a:srgbClr val="222A3F"/>
                          </a:solidFill>
                          <a:latin typeface="Cambria"/>
                        </a:rPr>
                        <a:t>Build with our configuration as the defaults (userPrefs.jsonc + NO_PIN patch)</a:t>
                      </a:r>
                    </a:p>
                  </a:txBody>
                  <a:tcPr marL="73152" marR="73152" marT="27432" marB="27432">
                    <a:solidFill>
                      <a:srgbClr val="F2F5FA"/>
                    </a:solidFill>
                  </a:tcPr>
                </a:tc>
                <a:tc>
                  <a:txBody>
                    <a:bodyPr/>
                    <a:lstStyle/>
                    <a:p>
                      <a:r>
                        <a:rPr sz="1100" b="0">
                          <a:solidFill>
                            <a:srgbClr val="222A3F"/>
                          </a:solidFill>
                          <a:latin typeface="Cambria"/>
                        </a:rPr>
                        <a:t>A revert restores the intended state; the failure becomes invisible</a:t>
                      </a:r>
                    </a:p>
                  </a:txBody>
                  <a:tcPr marL="73152" marR="73152" marT="27432" marB="27432">
                    <a:solidFill>
                      <a:srgbClr val="F2F5FA"/>
                    </a:solidFill>
                  </a:tcPr>
                </a:tc>
                <a:tc>
                  <a:txBody>
                    <a:bodyPr/>
                    <a:lstStyle/>
                    <a:p>
                      <a:r>
                        <a:rPr sz="1100" b="0">
                          <a:solidFill>
                            <a:srgbClr val="222A3F"/>
                          </a:solidFill>
                          <a:latin typeface="Cambria"/>
                        </a:rPr>
                        <a:t>1 day</a:t>
                      </a:r>
                    </a:p>
                  </a:txBody>
                  <a:tcPr marL="73152" marR="73152" marT="27432" marB="27432">
                    <a:solidFill>
                      <a:srgbClr val="F2F5FA"/>
                    </a:solidFill>
                  </a:tcPr>
                </a:tc>
                <a:tc>
                  <a:txBody>
                    <a:bodyPr/>
                    <a:lstStyle/>
                    <a:p>
                      <a:r>
                        <a:rPr sz="1100" b="0">
                          <a:solidFill>
                            <a:srgbClr val="222A3F"/>
                          </a:solidFill>
                          <a:latin typeface="Cambria"/>
                        </a:rPr>
                        <a:t>built Oct 27</a:t>
                      </a:r>
                    </a:p>
                  </a:txBody>
                  <a:tcPr marL="73152" marR="73152" marT="27432" marB="27432">
                    <a:solidFill>
                      <a:srgbClr val="F2F5FA"/>
                    </a:solidFill>
                  </a:tcPr>
                </a:tc>
              </a:tr>
              <a:tr h="658368">
                <a:tc>
                  <a:txBody>
                    <a:bodyPr/>
                    <a:lstStyle/>
                    <a:p>
                      <a:r>
                        <a:rPr sz="1100" b="0">
                          <a:solidFill>
                            <a:srgbClr val="222A3F"/>
                          </a:solidFill>
                          <a:latin typeface="Cambria"/>
                        </a:rPr>
                        <a:t>2</a:t>
                      </a:r>
                    </a:p>
                  </a:txBody>
                  <a:tcPr marL="73152" marR="73152" marT="27432" marB="27432">
                    <a:solidFill>
                      <a:srgbClr val="FFFFFF"/>
                    </a:solidFill>
                  </a:tcPr>
                </a:tc>
                <a:tc>
                  <a:txBody>
                    <a:bodyPr/>
                    <a:lstStyle/>
                    <a:p>
                      <a:r>
                        <a:rPr sz="1100" b="0">
                          <a:solidFill>
                            <a:srgbClr val="222A3F"/>
                          </a:solidFill>
                          <a:latin typeface="Cambria"/>
                        </a:rPr>
                        <a:t>ESP32 power gate: refuse saves below 3.5 V on battery; drop the boot-time device.proto rewrite</a:t>
                      </a:r>
                    </a:p>
                  </a:txBody>
                  <a:tcPr marL="73152" marR="73152" marT="27432" marB="27432">
                    <a:solidFill>
                      <a:srgbClr val="FFFFFF"/>
                    </a:solidFill>
                  </a:tcPr>
                </a:tc>
                <a:tc>
                  <a:txBody>
                    <a:bodyPr/>
                    <a:lstStyle/>
                    <a:p>
                      <a:r>
                        <a:rPr sz="1100" b="0">
                          <a:solidFill>
                            <a:srgbClr val="222A3F"/>
                          </a:solidFill>
                          <a:latin typeface="Cambria"/>
                        </a:rPr>
                        <a:t>Removes the write that happens at the worst moment</a:t>
                      </a:r>
                    </a:p>
                  </a:txBody>
                  <a:tcPr marL="73152" marR="73152" marT="27432" marB="27432">
                    <a:solidFill>
                      <a:srgbClr val="FFFFFF"/>
                    </a:solidFill>
                  </a:tcPr>
                </a:tc>
                <a:tc>
                  <a:txBody>
                    <a:bodyPr/>
                    <a:lstStyle/>
                    <a:p>
                      <a:r>
                        <a:rPr sz="1100" b="0">
                          <a:solidFill>
                            <a:srgbClr val="222A3F"/>
                          </a:solidFill>
                          <a:latin typeface="Cambria"/>
                        </a:rPr>
                        <a:t>1 day + test</a:t>
                      </a:r>
                    </a:p>
                  </a:txBody>
                  <a:tcPr marL="73152" marR="73152" marT="27432" marB="27432">
                    <a:solidFill>
                      <a:srgbClr val="FFFFFF"/>
                    </a:solidFill>
                  </a:tcPr>
                </a:tc>
                <a:tc>
                  <a:txBody>
                    <a:bodyPr/>
                    <a:lstStyle/>
                    <a:p>
                      <a:r>
                        <a:rPr sz="1100" b="0">
                          <a:solidFill>
                            <a:srgbClr val="222A3F"/>
                          </a:solidFill>
                          <a:latin typeface="Cambria"/>
                        </a:rPr>
                        <a:t>next</a:t>
                      </a:r>
                    </a:p>
                  </a:txBody>
                  <a:tcPr marL="73152" marR="73152" marT="27432" marB="27432">
                    <a:solidFill>
                      <a:srgbClr val="FFFFFF"/>
                    </a:solidFill>
                  </a:tcPr>
                </a:tc>
              </a:tr>
              <a:tr h="658368">
                <a:tc>
                  <a:txBody>
                    <a:bodyPr/>
                    <a:lstStyle/>
                    <a:p>
                      <a:r>
                        <a:rPr sz="1100" b="0">
                          <a:solidFill>
                            <a:srgbClr val="222A3F"/>
                          </a:solidFill>
                          <a:latin typeface="Cambria"/>
                        </a:rPr>
                        <a:t>3</a:t>
                      </a:r>
                    </a:p>
                  </a:txBody>
                  <a:tcPr marL="73152" marR="73152" marT="27432" marB="27432">
                    <a:solidFill>
                      <a:srgbClr val="F2F5FA"/>
                    </a:solidFill>
                  </a:tcPr>
                </a:tc>
                <a:tc>
                  <a:txBody>
                    <a:bodyPr/>
                    <a:lstStyle/>
                    <a:p>
                      <a:r>
                        <a:rPr sz="1100" b="0">
                          <a:solidFill>
                            <a:srgbClr val="222A3F"/>
                          </a:solidFill>
                          <a:latin typeface="Cambria"/>
                        </a:rPr>
                        <a:t>Clean erase and re-provision of scarred partitions</a:t>
                      </a:r>
                    </a:p>
                  </a:txBody>
                  <a:tcPr marL="73152" marR="73152" marT="27432" marB="27432">
                    <a:solidFill>
                      <a:srgbClr val="F2F5FA"/>
                    </a:solidFill>
                  </a:tcPr>
                </a:tc>
                <a:tc>
                  <a:txBody>
                    <a:bodyPr/>
                    <a:lstStyle/>
                    <a:p>
                      <a:r>
                        <a:rPr sz="1100" b="0">
                          <a:solidFill>
                            <a:srgbClr val="222A3F"/>
                          </a:solidFill>
                          <a:latin typeface="Cambria"/>
                        </a:rPr>
                        <a:t>Removes residue already present</a:t>
                      </a:r>
                    </a:p>
                  </a:txBody>
                  <a:tcPr marL="73152" marR="73152" marT="27432" marB="27432">
                    <a:solidFill>
                      <a:srgbClr val="F2F5FA"/>
                    </a:solidFill>
                  </a:tcPr>
                </a:tc>
                <a:tc>
                  <a:txBody>
                    <a:bodyPr/>
                    <a:lstStyle/>
                    <a:p>
                      <a:r>
                        <a:rPr sz="1100" b="0">
                          <a:solidFill>
                            <a:srgbClr val="222A3F"/>
                          </a:solidFill>
                          <a:latin typeface="Cambria"/>
                        </a:rPr>
                        <a:t>30 min / radio</a:t>
                      </a:r>
                    </a:p>
                  </a:txBody>
                  <a:tcPr marL="73152" marR="73152" marT="27432" marB="27432">
                    <a:solidFill>
                      <a:srgbClr val="F2F5FA"/>
                    </a:solidFill>
                  </a:tcPr>
                </a:tc>
                <a:tc>
                  <a:txBody>
                    <a:bodyPr/>
                    <a:lstStyle/>
                    <a:p>
                      <a:r>
                        <a:rPr sz="1100" b="0">
                          <a:solidFill>
                            <a:srgbClr val="222A3F"/>
                          </a:solidFill>
                          <a:latin typeface="Cambria"/>
                        </a:rPr>
                        <a:t>done: SF</a:t>
                      </a:r>
                    </a:p>
                  </a:txBody>
                  <a:tcPr marL="73152" marR="73152" marT="27432" marB="27432">
                    <a:solidFill>
                      <a:srgbClr val="F2F5FA"/>
                    </a:solidFill>
                  </a:tcPr>
                </a:tc>
              </a:tr>
              <a:tr h="658368">
                <a:tc>
                  <a:txBody>
                    <a:bodyPr/>
                    <a:lstStyle/>
                    <a:p>
                      <a:r>
                        <a:rPr sz="1100" b="0">
                          <a:solidFill>
                            <a:srgbClr val="222A3F"/>
                          </a:solidFill>
                          <a:latin typeface="Cambria"/>
                        </a:rPr>
                        <a:t>4</a:t>
                      </a:r>
                    </a:p>
                  </a:txBody>
                  <a:tcPr marL="73152" marR="73152" marT="27432" marB="27432">
                    <a:solidFill>
                      <a:srgbClr val="FFFFFF"/>
                    </a:solidFill>
                  </a:tcPr>
                </a:tc>
                <a:tc>
                  <a:txBody>
                    <a:bodyPr/>
                    <a:lstStyle/>
                    <a:p>
                      <a:r>
                        <a:rPr sz="1100" b="0">
                          <a:solidFill>
                            <a:srgbClr val="222A3F"/>
                          </a:solidFill>
                          <a:latin typeface="Cambria"/>
                        </a:rPr>
                        <a:t>Raise the brownout reset to 2.67 or 2.84 V (core rebuild)</a:t>
                      </a:r>
                    </a:p>
                  </a:txBody>
                  <a:tcPr marL="73152" marR="73152" marT="27432" marB="27432">
                    <a:solidFill>
                      <a:srgbClr val="FFFFFF"/>
                    </a:solidFill>
                  </a:tcPr>
                </a:tc>
                <a:tc>
                  <a:txBody>
                    <a:bodyPr/>
                    <a:lstStyle/>
                    <a:p>
                      <a:r>
                        <a:rPr sz="1100" b="0">
                          <a:solidFill>
                            <a:srgbClr val="222A3F"/>
                          </a:solidFill>
                          <a:latin typeface="Cambria"/>
                        </a:rPr>
                        <a:t>CPU resets before the flash leaves spec</a:t>
                      </a:r>
                    </a:p>
                  </a:txBody>
                  <a:tcPr marL="73152" marR="73152" marT="27432" marB="27432">
                    <a:solidFill>
                      <a:srgbClr val="FFFFFF"/>
                    </a:solidFill>
                  </a:tcPr>
                </a:tc>
                <a:tc>
                  <a:txBody>
                    <a:bodyPr/>
                    <a:lstStyle/>
                    <a:p>
                      <a:r>
                        <a:rPr sz="1100" b="0">
                          <a:solidFill>
                            <a:srgbClr val="222A3F"/>
                          </a:solidFill>
                          <a:latin typeface="Cambria"/>
                        </a:rPr>
                        <a:t>2 days</a:t>
                      </a:r>
                    </a:p>
                  </a:txBody>
                  <a:tcPr marL="73152" marR="73152" marT="27432" marB="27432">
                    <a:solidFill>
                      <a:srgbClr val="FFFFFF"/>
                    </a:solidFill>
                  </a:tcPr>
                </a:tc>
                <a:tc>
                  <a:txBody>
                    <a:bodyPr/>
                    <a:lstStyle/>
                    <a:p>
                      <a:r>
                        <a:rPr sz="1100" b="0">
                          <a:solidFill>
                            <a:srgbClr val="222A3F"/>
                          </a:solidFill>
                          <a:latin typeface="Cambria"/>
                        </a:rPr>
                        <a:t>planned</a:t>
                      </a:r>
                    </a:p>
                  </a:txBody>
                  <a:tcPr marL="73152" marR="73152" marT="27432" marB="27432">
                    <a:solidFill>
                      <a:srgbClr val="FFFFFF"/>
                    </a:solidFill>
                  </a:tcPr>
                </a:tc>
              </a:tr>
              <a:tr h="658368">
                <a:tc>
                  <a:txBody>
                    <a:bodyPr/>
                    <a:lstStyle/>
                    <a:p>
                      <a:r>
                        <a:rPr sz="1100" b="0">
                          <a:solidFill>
                            <a:srgbClr val="222A3F"/>
                          </a:solidFill>
                          <a:latin typeface="Cambria"/>
                        </a:rPr>
                        <a:t>5</a:t>
                      </a:r>
                    </a:p>
                  </a:txBody>
                  <a:tcPr marL="73152" marR="73152" marT="27432" marB="27432">
                    <a:solidFill>
                      <a:srgbClr val="F2F5FA"/>
                    </a:solidFill>
                  </a:tcPr>
                </a:tc>
                <a:tc>
                  <a:txBody>
                    <a:bodyPr/>
                    <a:lstStyle/>
                    <a:p>
                      <a:r>
                        <a:rPr sz="1100" b="0">
                          <a:solidFill>
                            <a:srgbClr val="222A3F"/>
                          </a:solidFill>
                          <a:latin typeface="Cambria"/>
                        </a:rPr>
                        <a:t>Operations: never store flat, OLED pre-flight, config snapshots, phone-QR recovery</a:t>
                      </a:r>
                    </a:p>
                  </a:txBody>
                  <a:tcPr marL="73152" marR="73152" marT="27432" marB="27432">
                    <a:solidFill>
                      <a:srgbClr val="F2F5FA"/>
                    </a:solidFill>
                  </a:tcPr>
                </a:tc>
                <a:tc>
                  <a:txBody>
                    <a:bodyPr/>
                    <a:lstStyle/>
                    <a:p>
                      <a:r>
                        <a:rPr sz="1100" b="0">
                          <a:solidFill>
                            <a:srgbClr val="222A3F"/>
                          </a:solidFill>
                          <a:latin typeface="Cambria"/>
                        </a:rPr>
                        <a:t>Detection in 2 s, recovery in 90 s</a:t>
                      </a:r>
                    </a:p>
                  </a:txBody>
                  <a:tcPr marL="73152" marR="73152" marT="27432" marB="27432">
                    <a:solidFill>
                      <a:srgbClr val="F2F5FA"/>
                    </a:solidFill>
                  </a:tcPr>
                </a:tc>
                <a:tc>
                  <a:txBody>
                    <a:bodyPr/>
                    <a:lstStyle/>
                    <a:p>
                      <a:r>
                        <a:rPr sz="1100" b="0">
                          <a:solidFill>
                            <a:srgbClr val="222A3F"/>
                          </a:solidFill>
                          <a:latin typeface="Cambria"/>
                        </a:rPr>
                        <a:t>in force</a:t>
                      </a:r>
                    </a:p>
                  </a:txBody>
                  <a:tcPr marL="73152" marR="73152" marT="27432" marB="27432">
                    <a:solidFill>
                      <a:srgbClr val="F2F5FA"/>
                    </a:solidFill>
                  </a:tcPr>
                </a:tc>
                <a:tc>
                  <a:txBody>
                    <a:bodyPr/>
                    <a:lstStyle/>
                    <a:p>
                      <a:r>
                        <a:rPr sz="1100" b="0">
                          <a:solidFill>
                            <a:srgbClr val="222A3F"/>
                          </a:solidFill>
                          <a:latin typeface="Cambria"/>
                        </a:rPr>
                        <a:t>done</a:t>
                      </a:r>
                    </a:p>
                  </a:txBody>
                  <a:tcPr marL="73152" marR="73152" marT="27432" marB="27432">
                    <a:solidFill>
                      <a:srgbClr val="F2F5FA"/>
                    </a:solidFill>
                  </a:tcPr>
                </a:tc>
              </a:tr>
            </a:tbl>
          </a:graphicData>
        </a:graphic>
      </p:graphicFrame>
      <p:sp>
        <p:nvSpPr>
          <p:cNvPr id="11" name="Rectangle 10"/>
          <p:cNvSpPr/>
          <p:nvPr/>
        </p:nvSpPr>
        <p:spPr>
          <a:xfrm>
            <a:off x="502920" y="5349240"/>
            <a:ext cx="11155680" cy="6400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5468112"/>
            <a:ext cx="10826496" cy="402335"/>
          </a:xfrm>
          <a:prstGeom prst="rect">
            <a:avLst/>
          </a:prstGeom>
          <a:noFill/>
        </p:spPr>
        <p:txBody>
          <a:bodyPr wrap="square" lIns="0" rIns="0" tIns="0" bIns="0">
            <a:spAutoFit/>
          </a:bodyPr>
          <a:lstStyle/>
          <a:p>
            <a:r>
              <a:rPr sz="1250" b="1" spc="100">
                <a:solidFill>
                  <a:srgbClr val="16213D"/>
                </a:solidFill>
                <a:latin typeface="Cambria"/>
              </a:rPr>
              <a:t>ORDER OF VALUE</a:t>
            </a:r>
          </a:p>
          <a:p>
            <a:pPr>
              <a:spcBef>
                <a:spcPts val="400"/>
              </a:spcBef>
            </a:pPr>
            <a:r>
              <a:rPr sz="1200">
                <a:solidFill>
                  <a:srgbClr val="222A3F"/>
                </a:solidFill>
                <a:latin typeface="Cambria"/>
              </a:rPr>
              <a:t>Fix 1 hides the failure from the driver; fix 2 removes its cause; fix 3 cleans up the past; fix 4 is the hardware-correct answer and the most 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29/31  REV C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1: A REVERT THAT RESTORES OUR SETTINGS</a:t>
            </a:r>
          </a:p>
        </p:txBody>
      </p:sp>
      <p:sp>
        <p:nvSpPr>
          <p:cNvPr id="10" name="Rectangle 9"/>
          <p:cNvSpPr/>
          <p:nvPr/>
        </p:nvSpPr>
        <p:spPr>
          <a:xfrm>
            <a:off x="502920" y="1280160"/>
            <a:ext cx="6583680" cy="251460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71600"/>
            <a:ext cx="6254496" cy="274320"/>
          </a:xfrm>
          <a:prstGeom prst="rect">
            <a:avLst/>
          </a:prstGeom>
          <a:noFill/>
        </p:spPr>
        <p:txBody>
          <a:bodyPr wrap="square" lIns="0" rIns="0" tIns="0" bIns="0">
            <a:spAutoFit/>
          </a:bodyPr>
          <a:lstStyle/>
          <a:p>
            <a:pPr algn="l"/>
            <a:r>
              <a:rPr sz="1000" b="1" i="0">
                <a:solidFill>
                  <a:srgbClr val="E58E1A"/>
                </a:solidFill>
                <a:latin typeface="Courier New"/>
              </a:rPr>
              <a:t>userPrefs.jsonc (private repo; key redacted)</a:t>
            </a:r>
          </a:p>
        </p:txBody>
      </p:sp>
      <p:sp>
        <p:nvSpPr>
          <p:cNvPr id="12" name="TextBox 11"/>
          <p:cNvSpPr txBox="1"/>
          <p:nvPr/>
        </p:nvSpPr>
        <p:spPr>
          <a:xfrm>
            <a:off x="667512" y="1664207"/>
            <a:ext cx="6254496" cy="2057400"/>
          </a:xfrm>
          <a:prstGeom prst="rect">
            <a:avLst/>
          </a:prstGeom>
          <a:noFill/>
        </p:spPr>
        <p:txBody>
          <a:bodyPr wrap="square" lIns="0" rIns="0" tIns="0" bIns="0">
            <a:spAutoFit/>
          </a:bodyPr>
          <a:lstStyle/>
          <a:p>
            <a:r>
              <a:rPr sz="1000">
                <a:solidFill>
                  <a:srgbClr val="C9D8F0"/>
                </a:solidFill>
                <a:latin typeface="Courier New"/>
              </a:rPr>
              <a:t>"USERPREFS_CHANNELS_TO_WRITE": 1,</a:t>
            </a:r>
          </a:p>
          <a:p>
            <a:r>
              <a:rPr sz="1000">
                <a:solidFill>
                  <a:srgbClr val="C9D8F0"/>
                </a:solidFill>
                <a:latin typeface="Courier New"/>
              </a:rPr>
              <a:t>"USERPREFS_CHANNEL_0_NAME": "Group9",</a:t>
            </a:r>
          </a:p>
          <a:p>
            <a:r>
              <a:rPr sz="1000">
                <a:solidFill>
                  <a:srgbClr val="C9D8F0"/>
                </a:solidFill>
                <a:latin typeface="Courier New"/>
              </a:rPr>
              <a:t>"USERPREFS_CHANNEL_0_PRECISION": 32,</a:t>
            </a:r>
          </a:p>
          <a:p>
            <a:r>
              <a:rPr sz="1000">
                <a:solidFill>
                  <a:srgbClr val="FF9AA8"/>
                </a:solidFill>
                <a:latin typeface="Courier New"/>
              </a:rPr>
              <a:t>"USERPREFS_CHANNEL_0_PSK": "{ 0x.., ... 32 bytes }",</a:t>
            </a:r>
          </a:p>
          <a:p>
            <a:r>
              <a:rPr sz="1000">
                <a:solidFill>
                  <a:srgbClr val="C9D8F0"/>
                </a:solidFill>
                <a:latin typeface="Courier New"/>
              </a:rPr>
              <a:t>"USERPREFS_CONFIG_LORA_REGION": "..._RegionCode_US",</a:t>
            </a:r>
          </a:p>
          <a:p>
            <a:r>
              <a:rPr sz="1000">
                <a:solidFill>
                  <a:srgbClr val="C9D8F0"/>
                </a:solidFill>
                <a:latin typeface="Courier New"/>
              </a:rPr>
              <a:t>"USERPREFS_CONFIG_OWNER_LONG_NAME": "SF", "..._SHORT_NAME": "SF",</a:t>
            </a:r>
          </a:p>
          <a:p>
            <a:r>
              <a:rPr sz="1000">
                <a:solidFill>
                  <a:srgbClr val="C9D8F0"/>
                </a:solidFill>
                <a:latin typeface="Courier New"/>
              </a:rPr>
              <a:t>"USERPREFS_CONFIG_DEVICE_ROLE": "..._Role_CLIENT_MUTE",</a:t>
            </a:r>
          </a:p>
          <a:p>
            <a:r>
              <a:rPr sz="1000">
                <a:solidFill>
                  <a:srgbClr val="C9D8F0"/>
                </a:solidFill>
                <a:latin typeface="Courier New"/>
              </a:rPr>
              <a:t>"USERPREFS_CONFIG_GPS_UPDATE_INTERVAL": 10, "..._POSITION_BROADCAST_INTERVAL": 60,</a:t>
            </a:r>
          </a:p>
          <a:p>
            <a:r>
              <a:rPr sz="1000">
                <a:solidFill>
                  <a:srgbClr val="E58E1A"/>
                </a:solidFill>
                <a:latin typeface="Courier New"/>
              </a:rPr>
              <a:t>// NodeDB.cpp installDefaultConfig(): bluetooth.mode = NO_PIN   (one line)</a:t>
            </a:r>
          </a:p>
        </p:txBody>
      </p:sp>
      <p:sp>
        <p:nvSpPr>
          <p:cNvPr id="13" name="Rectangle 12"/>
          <p:cNvSpPr/>
          <p:nvPr/>
        </p:nvSpPr>
        <p:spPr>
          <a:xfrm>
            <a:off x="7269480" y="1280160"/>
            <a:ext cx="4389120" cy="25146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4072" y="1399031"/>
            <a:ext cx="4059935" cy="2276856"/>
          </a:xfrm>
          <a:prstGeom prst="rect">
            <a:avLst/>
          </a:prstGeom>
          <a:noFill/>
        </p:spPr>
        <p:txBody>
          <a:bodyPr wrap="square" lIns="0" rIns="0" tIns="0" bIns="0">
            <a:spAutoFit/>
          </a:bodyPr>
          <a:lstStyle/>
          <a:p>
            <a:r>
              <a:rPr sz="1350" b="1" spc="100">
                <a:solidFill>
                  <a:srgbClr val="1F9D68"/>
                </a:solidFill>
                <a:latin typeface="Cambria"/>
              </a:rPr>
              <a:t>WHY IT IS FIRST</a:t>
            </a:r>
          </a:p>
          <a:p>
            <a:pPr>
              <a:spcBef>
                <a:spcPts val="400"/>
              </a:spcBef>
            </a:pPr>
            <a:r>
              <a:rPr sz="1200">
                <a:solidFill>
                  <a:srgbClr val="222A3F"/>
                </a:solidFill>
                <a:latin typeface="Cambria"/>
              </a:rPr>
              <a:t>•  Every failure path ends in installDefault*()</a:t>
            </a:r>
          </a:p>
          <a:p>
            <a:pPr>
              <a:spcBef>
                <a:spcPts val="400"/>
              </a:spcBef>
            </a:pPr>
            <a:r>
              <a:rPr sz="1200">
                <a:solidFill>
                  <a:srgbClr val="222A3F"/>
                </a:solidFill>
                <a:latin typeface="Cambria"/>
              </a:rPr>
              <a:t>•  Today that means 906.875 MHz, a random PIN, a nameless radio</a:t>
            </a:r>
          </a:p>
          <a:p>
            <a:pPr>
              <a:spcBef>
                <a:spcPts val="400"/>
              </a:spcBef>
            </a:pPr>
            <a:r>
              <a:rPr sz="1200">
                <a:solidFill>
                  <a:srgbClr val="222A3F"/>
                </a:solidFill>
                <a:latin typeface="Cambria"/>
              </a:rPr>
              <a:t>•  With these defaults it means Group9 at 912.875, No PIN, SF or RG</a:t>
            </a:r>
          </a:p>
          <a:p>
            <a:pPr>
              <a:spcBef>
                <a:spcPts val="400"/>
              </a:spcBef>
            </a:pPr>
            <a:r>
              <a:rPr sz="1200">
                <a:solidFill>
                  <a:srgbClr val="222A3F"/>
                </a:solidFill>
                <a:latin typeface="Cambria"/>
              </a:rPr>
              <a:t>•  One build per radio, flashed with the fleet procedure</a:t>
            </a:r>
          </a:p>
        </p:txBody>
      </p:sp>
      <p:sp>
        <p:nvSpPr>
          <p:cNvPr id="15" name="Rectangle 14"/>
          <p:cNvSpPr/>
          <p:nvPr/>
        </p:nvSpPr>
        <p:spPr>
          <a:xfrm>
            <a:off x="502920" y="4023360"/>
            <a:ext cx="11155680" cy="14630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142232"/>
            <a:ext cx="10826496" cy="1225296"/>
          </a:xfrm>
          <a:prstGeom prst="rect">
            <a:avLst/>
          </a:prstGeom>
          <a:noFill/>
        </p:spPr>
        <p:txBody>
          <a:bodyPr wrap="square" lIns="0" rIns="0" tIns="0" bIns="0">
            <a:spAutoFit/>
          </a:bodyPr>
          <a:lstStyle/>
          <a:p>
            <a:r>
              <a:rPr sz="1350" b="1" spc="100">
                <a:solidFill>
                  <a:srgbClr val="16213D"/>
                </a:solidFill>
                <a:latin typeface="Cambria"/>
              </a:rPr>
              <a:t>ACCEPTANCE TEST</a:t>
            </a:r>
          </a:p>
          <a:p>
            <a:pPr>
              <a:spcBef>
                <a:spcPts val="400"/>
              </a:spcBef>
            </a:pPr>
            <a:r>
              <a:rPr sz="1250">
                <a:solidFill>
                  <a:srgbClr val="222A3F"/>
                </a:solidFill>
                <a:latin typeface="Cambria"/>
              </a:rPr>
              <a:t>•  Flash, provision nothing, power on: Group9 at 912.875 MHz, CLIENT_MUTE, No PIN, named, linked to a display with zero commands</a:t>
            </a:r>
          </a:p>
          <a:p>
            <a:pPr>
              <a:spcBef>
                <a:spcPts val="400"/>
              </a:spcBef>
            </a:pPr>
            <a:r>
              <a:rPr sz="1250">
                <a:solidFill>
                  <a:srgbClr val="222A3F"/>
                </a:solidFill>
                <a:latin typeface="Cambria"/>
              </a:rPr>
              <a:t>•  meshtastic --factory-reset, power-cycle: comes back identical. That is the proof a future revert is harmless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30/31  REV C  2026-10-27</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WE PROVE IT</a:t>
            </a:r>
          </a:p>
        </p:txBody>
      </p:sp>
      <p:graphicFrame>
        <p:nvGraphicFramePr>
          <p:cNvPr id="10" name="Table 9"/>
          <p:cNvGraphicFramePr>
            <a:graphicFrameLocks noGrp="1"/>
          </p:cNvGraphicFramePr>
          <p:nvPr/>
        </p:nvGraphicFramePr>
        <p:xfrm>
          <a:off x="502920" y="1280160"/>
          <a:ext cx="11155680" cy="3712463"/>
        </p:xfrm>
        <a:graphic>
          <a:graphicData uri="http://schemas.openxmlformats.org/drawingml/2006/table">
            <a:tbl>
              <a:tblPr firstRow="1" bandRow="1">
                <a:tableStyleId>{5C22544A-7EE6-4342-B048-85BDC9FD1C3A}</a:tableStyleId>
              </a:tblPr>
              <a:tblGrid>
                <a:gridCol w="548640"/>
                <a:gridCol w="5120640"/>
                <a:gridCol w="3657600"/>
                <a:gridCol w="1828800"/>
              </a:tblGrid>
              <a:tr h="530351">
                <a:tc>
                  <a:txBody>
                    <a:bodyPr/>
                    <a:lstStyle/>
                    <a:p>
                      <a:r>
                        <a:rPr sz="1100" b="1">
                          <a:solidFill>
                            <a:srgbClr val="FFFFFF"/>
                          </a:solidFill>
                          <a:latin typeface="Cambria"/>
                        </a:rPr>
                        <a:t>Step</a:t>
                      </a:r>
                    </a:p>
                  </a:txBody>
                  <a:tcPr marL="73152" marR="73152" marT="27432" marB="27432">
                    <a:solidFill>
                      <a:srgbClr val="16213D"/>
                    </a:solidFill>
                  </a:tcPr>
                </a:tc>
                <a:tc>
                  <a:txBody>
                    <a:bodyPr/>
                    <a:lstStyle/>
                    <a:p>
                      <a:r>
                        <a:rPr sz="1100" b="1">
                          <a:solidFill>
                            <a:srgbClr val="FFFFFF"/>
                          </a:solidFill>
                          <a:latin typeface="Cambria"/>
                        </a:rPr>
                        <a:t>Procedure</a:t>
                      </a:r>
                    </a:p>
                  </a:txBody>
                  <a:tcPr marL="73152" marR="73152" marT="27432" marB="27432">
                    <a:solidFill>
                      <a:srgbClr val="16213D"/>
                    </a:solidFill>
                  </a:tcPr>
                </a:tc>
                <a:tc>
                  <a:txBody>
                    <a:bodyPr/>
                    <a:lstStyle/>
                    <a:p>
                      <a:r>
                        <a:rPr sz="1100" b="1">
                          <a:solidFill>
                            <a:srgbClr val="FFFFFF"/>
                          </a:solidFill>
                          <a:latin typeface="Cambria"/>
                        </a:rPr>
                        <a:t>Pass criterion</a:t>
                      </a:r>
                    </a:p>
                  </a:txBody>
                  <a:tcPr marL="73152" marR="73152" marT="27432" marB="27432">
                    <a:solidFill>
                      <a:srgbClr val="16213D"/>
                    </a:solidFill>
                  </a:tcPr>
                </a:tc>
                <a:tc>
                  <a:txBody>
                    <a:bodyPr/>
                    <a:lstStyle/>
                    <a:p>
                      <a:r>
                        <a:rPr sz="1100" b="1">
                          <a:solidFill>
                            <a:srgbClr val="FFFFFF"/>
                          </a:solidFill>
                          <a:latin typeface="Cambria"/>
                        </a:rPr>
                        <a:t>Status</a:t>
                      </a:r>
                    </a:p>
                  </a:txBody>
                  <a:tcPr marL="73152" marR="73152" marT="27432" marB="27432">
                    <a:solidFill>
                      <a:srgbClr val="16213D"/>
                    </a:solidFill>
                  </a:tcPr>
                </a:tc>
              </a:tr>
              <a:tr h="530351">
                <a:tc>
                  <a:txBody>
                    <a:bodyPr/>
                    <a:lstStyle/>
                    <a:p>
                      <a:r>
                        <a:rPr sz="1100" b="0">
                          <a:solidFill>
                            <a:srgbClr val="222A3F"/>
                          </a:solidFill>
                          <a:latin typeface="Cambria"/>
                        </a:rPr>
                        <a:t>1</a:t>
                      </a:r>
                    </a:p>
                  </a:txBody>
                  <a:tcPr marL="73152" marR="73152" marT="27432" marB="27432">
                    <a:solidFill>
                      <a:srgbClr val="F2F5FA"/>
                    </a:solidFill>
                  </a:tcPr>
                </a:tc>
                <a:tc>
                  <a:txBody>
                    <a:bodyPr/>
                    <a:lstStyle/>
                    <a:p>
                      <a:r>
                        <a:rPr sz="1100" b="0">
                          <a:solidFill>
                            <a:srgbClr val="222A3F"/>
                          </a:solidFill>
                          <a:latin typeface="Cambria"/>
                        </a:rPr>
                        <a:t>Baseline flash map on both radios</a:t>
                      </a:r>
                    </a:p>
                  </a:txBody>
                  <a:tcPr marL="73152" marR="73152" marT="27432" marB="27432">
                    <a:solidFill>
                      <a:srgbClr val="F2F5FA"/>
                    </a:solidFill>
                  </a:tcPr>
                </a:tc>
                <a:tc>
                  <a:txBody>
                    <a:bodyPr/>
                    <a:lstStyle/>
                    <a:p>
                      <a:r>
                        <a:rPr sz="1100" b="0">
                          <a:solidFill>
                            <a:srgbClr val="222A3F"/>
                          </a:solidFill>
                          <a:latin typeface="Cambria"/>
                        </a:rPr>
                        <a:t>Recorded</a:t>
                      </a:r>
                    </a:p>
                  </a:txBody>
                  <a:tcPr marL="73152" marR="73152" marT="27432" marB="27432">
                    <a:solidFill>
                      <a:srgbClr val="F2F5FA"/>
                    </a:solidFill>
                  </a:tcPr>
                </a:tc>
                <a:tc>
                  <a:txBody>
                    <a:bodyPr/>
                    <a:lstStyle/>
                    <a:p>
                      <a:r>
                        <a:rPr sz="1100" b="0">
                          <a:solidFill>
                            <a:srgbClr val="222A3F"/>
                          </a:solidFill>
                          <a:latin typeface="Cambria"/>
                        </a:rPr>
                        <a:t>done: SF 21, RG 0</a:t>
                      </a:r>
                    </a:p>
                  </a:txBody>
                  <a:tcPr marL="73152" marR="73152" marT="27432" marB="27432">
                    <a:solidFill>
                      <a:srgbClr val="F2F5FA"/>
                    </a:solidFill>
                  </a:tcPr>
                </a:tc>
              </a:tr>
              <a:tr h="530351">
                <a:tc>
                  <a:txBody>
                    <a:bodyPr/>
                    <a:lstStyle/>
                    <a:p>
                      <a:r>
                        <a:rPr sz="1100" b="0">
                          <a:solidFill>
                            <a:srgbClr val="222A3F"/>
                          </a:solidFill>
                          <a:latin typeface="Cambria"/>
                        </a:rPr>
                        <a:t>2</a:t>
                      </a:r>
                    </a:p>
                  </a:txBody>
                  <a:tcPr marL="73152" marR="73152" marT="27432" marB="27432">
                    <a:solidFill>
                      <a:srgbClr val="FFFFFF"/>
                    </a:solidFill>
                  </a:tcPr>
                </a:tc>
                <a:tc>
                  <a:txBody>
                    <a:bodyPr/>
                    <a:lstStyle/>
                    <a:p>
                      <a:r>
                        <a:rPr sz="1100" b="0">
                          <a:solidFill>
                            <a:srgbClr val="222A3F"/>
                          </a:solidFill>
                          <a:latin typeface="Cambria"/>
                        </a:rPr>
                        <a:t>Decisive sector test; clean erase and re-provision</a:t>
                      </a:r>
                    </a:p>
                  </a:txBody>
                  <a:tcPr marL="73152" marR="73152" marT="27432" marB="27432">
                    <a:solidFill>
                      <a:srgbClr val="FFFFFF"/>
                    </a:solidFill>
                  </a:tcPr>
                </a:tc>
                <a:tc>
                  <a:txBody>
                    <a:bodyPr/>
                    <a:lstStyle/>
                    <a:p>
                      <a:r>
                        <a:rPr sz="1100" b="0">
                          <a:solidFill>
                            <a:srgbClr val="222A3F"/>
                          </a:solidFill>
                          <a:latin typeface="Cambria"/>
                        </a:rPr>
                        <a:t>Outcome recorded; 0 unstable after</a:t>
                      </a:r>
                    </a:p>
                  </a:txBody>
                  <a:tcPr marL="73152" marR="73152" marT="27432" marB="27432">
                    <a:solidFill>
                      <a:srgbClr val="FFFFFF"/>
                    </a:solidFill>
                  </a:tcPr>
                </a:tc>
                <a:tc>
                  <a:txBody>
                    <a:bodyPr/>
                    <a:lstStyle/>
                    <a:p>
                      <a:r>
                        <a:rPr sz="1100" b="0">
                          <a:solidFill>
                            <a:srgbClr val="222A3F"/>
                          </a:solidFill>
                          <a:latin typeface="Cambria"/>
                        </a:rPr>
                        <a:t>done: SF</a:t>
                      </a:r>
                    </a:p>
                  </a:txBody>
                  <a:tcPr marL="73152" marR="73152" marT="27432" marB="27432">
                    <a:solidFill>
                      <a:srgbClr val="FFFFFF"/>
                    </a:solidFill>
                  </a:tcPr>
                </a:tc>
              </a:tr>
              <a:tr h="530351">
                <a:tc>
                  <a:txBody>
                    <a:bodyPr/>
                    <a:lstStyle/>
                    <a:p>
                      <a:r>
                        <a:rPr sz="1100" b="0">
                          <a:solidFill>
                            <a:srgbClr val="222A3F"/>
                          </a:solidFill>
                          <a:latin typeface="Cambria"/>
                        </a:rPr>
                        <a:t>3</a:t>
                      </a:r>
                    </a:p>
                  </a:txBody>
                  <a:tcPr marL="73152" marR="73152" marT="27432" marB="27432">
                    <a:solidFill>
                      <a:srgbClr val="F2F5FA"/>
                    </a:solidFill>
                  </a:tcPr>
                </a:tc>
                <a:tc>
                  <a:txBody>
                    <a:bodyPr/>
                    <a:lstStyle/>
                    <a:p>
                      <a:r>
                        <a:rPr sz="1100" b="0">
                          <a:solidFill>
                            <a:srgbClr val="222A3F"/>
                          </a:solidFill>
                          <a:latin typeface="Cambria"/>
                        </a:rPr>
                        <a:t>Fix 1 (+2) builds; acceptance test on each radio</a:t>
                      </a:r>
                    </a:p>
                  </a:txBody>
                  <a:tcPr marL="73152" marR="73152" marT="27432" marB="27432">
                    <a:solidFill>
                      <a:srgbClr val="F2F5FA"/>
                    </a:solidFill>
                  </a:tcPr>
                </a:tc>
                <a:tc>
                  <a:txBody>
                    <a:bodyPr/>
                    <a:lstStyle/>
                    <a:p>
                      <a:r>
                        <a:rPr sz="1100" b="0">
                          <a:solidFill>
                            <a:srgbClr val="222A3F"/>
                          </a:solidFill>
                          <a:latin typeface="Cambria"/>
                        </a:rPr>
                        <a:t>Correct configuration with zero provisioning</a:t>
                      </a:r>
                    </a:p>
                  </a:txBody>
                  <a:tcPr marL="73152" marR="73152" marT="27432" marB="27432">
                    <a:solidFill>
                      <a:srgbClr val="F2F5FA"/>
                    </a:solidFill>
                  </a:tcPr>
                </a:tc>
                <a:tc>
                  <a:txBody>
                    <a:bodyPr/>
                    <a:lstStyle/>
                    <a:p>
                      <a:r>
                        <a:rPr sz="1100" b="0">
                          <a:solidFill>
                            <a:srgbClr val="222A3F"/>
                          </a:solidFill>
                          <a:latin typeface="Cambria"/>
                        </a:rPr>
                        <a:t>next</a:t>
                      </a:r>
                    </a:p>
                  </a:txBody>
                  <a:tcPr marL="73152" marR="73152" marT="27432" marB="27432">
                    <a:solidFill>
                      <a:srgbClr val="F2F5FA"/>
                    </a:solidFill>
                  </a:tcPr>
                </a:tc>
              </a:tr>
              <a:tr h="530351">
                <a:tc>
                  <a:txBody>
                    <a:bodyPr/>
                    <a:lstStyle/>
                    <a:p>
                      <a:r>
                        <a:rPr sz="1100" b="0">
                          <a:solidFill>
                            <a:srgbClr val="222A3F"/>
                          </a:solidFill>
                          <a:latin typeface="Cambria"/>
                        </a:rPr>
                        <a:t>4</a:t>
                      </a:r>
                    </a:p>
                  </a:txBody>
                  <a:tcPr marL="73152" marR="73152" marT="27432" marB="27432">
                    <a:solidFill>
                      <a:srgbClr val="FFFFFF"/>
                    </a:solidFill>
                  </a:tcPr>
                </a:tc>
                <a:tc>
                  <a:txBody>
                    <a:bodyPr/>
                    <a:lstStyle/>
                    <a:p>
                      <a:r>
                        <a:rPr sz="1100" b="0">
                          <a:solidFill>
                            <a:srgbClr val="222A3F"/>
                          </a:solidFill>
                          <a:latin typeface="Cambria"/>
                        </a:rPr>
                        <a:t>Flat-battery campaign: 5 full discharges per radio, read config and flash map each cycle</a:t>
                      </a:r>
                    </a:p>
                  </a:txBody>
                  <a:tcPr marL="73152" marR="73152" marT="27432" marB="27432">
                    <a:solidFill>
                      <a:srgbClr val="FFFFFF"/>
                    </a:solidFill>
                  </a:tcPr>
                </a:tc>
                <a:tc>
                  <a:txBody>
                    <a:bodyPr/>
                    <a:lstStyle/>
                    <a:p>
                      <a:r>
                        <a:rPr sz="1100" b="0">
                          <a:solidFill>
                            <a:srgbClr val="222A3F"/>
                          </a:solidFill>
                          <a:latin typeface="Cambria"/>
                        </a:rPr>
                        <a:t>0 of 10 cycles lose configuration; no new unstable sectors</a:t>
                      </a:r>
                    </a:p>
                  </a:txBody>
                  <a:tcPr marL="73152" marR="73152" marT="27432" marB="27432">
                    <a:solidFill>
                      <a:srgbClr val="FFFFFF"/>
                    </a:solidFill>
                  </a:tcPr>
                </a:tc>
                <a:tc>
                  <a:txBody>
                    <a:bodyPr/>
                    <a:lstStyle/>
                    <a:p>
                      <a:r>
                        <a:rPr sz="1100" b="0">
                          <a:solidFill>
                            <a:srgbClr val="222A3F"/>
                          </a:solidFill>
                          <a:latin typeface="Cambria"/>
                        </a:rPr>
                        <a:t>planned</a:t>
                      </a:r>
                    </a:p>
                  </a:txBody>
                  <a:tcPr marL="73152" marR="73152" marT="27432" marB="27432">
                    <a:solidFill>
                      <a:srgbClr val="FFFFFF"/>
                    </a:solidFill>
                  </a:tcPr>
                </a:tc>
              </a:tr>
              <a:tr h="530351">
                <a:tc>
                  <a:txBody>
                    <a:bodyPr/>
                    <a:lstStyle/>
                    <a:p>
                      <a:r>
                        <a:rPr sz="1100" b="0">
                          <a:solidFill>
                            <a:srgbClr val="222A3F"/>
                          </a:solidFill>
                          <a:latin typeface="Cambria"/>
                        </a:rPr>
                        <a:t>5</a:t>
                      </a:r>
                    </a:p>
                  </a:txBody>
                  <a:tcPr marL="73152" marR="73152" marT="27432" marB="27432">
                    <a:solidFill>
                      <a:srgbClr val="F2F5FA"/>
                    </a:solidFill>
                  </a:tcPr>
                </a:tc>
                <a:tc>
                  <a:txBody>
                    <a:bodyPr/>
                    <a:lstStyle/>
                    <a:p>
                      <a:r>
                        <a:rPr sz="1100" b="0">
                          <a:solidFill>
                            <a:srgbClr val="222A3F"/>
                          </a:solidFill>
                          <a:latin typeface="Cambria"/>
                        </a:rPr>
                        <a:t>Oscilloscope on the 3V3 pin during a TX burst at 3.4 V cell</a:t>
                      </a:r>
                    </a:p>
                  </a:txBody>
                  <a:tcPr marL="73152" marR="73152" marT="27432" marB="27432">
                    <a:solidFill>
                      <a:srgbClr val="F2F5FA"/>
                    </a:solidFill>
                  </a:tcPr>
                </a:tc>
                <a:tc>
                  <a:txBody>
                    <a:bodyPr/>
                    <a:lstStyle/>
                    <a:p>
                      <a:r>
                        <a:rPr sz="1100" b="0">
                          <a:solidFill>
                            <a:srgbClr val="222A3F"/>
                          </a:solidFill>
                          <a:latin typeface="Cambria"/>
                        </a:rPr>
                        <a:t>Minimum rail recorded; confirms or refutes the 2.7 V excursion</a:t>
                      </a:r>
                    </a:p>
                  </a:txBody>
                  <a:tcPr marL="73152" marR="73152" marT="27432" marB="27432">
                    <a:solidFill>
                      <a:srgbClr val="F2F5FA"/>
                    </a:solidFill>
                  </a:tcPr>
                </a:tc>
                <a:tc>
                  <a:txBody>
                    <a:bodyPr/>
                    <a:lstStyle/>
                    <a:p>
                      <a:r>
                        <a:rPr sz="1100" b="0">
                          <a:solidFill>
                            <a:srgbClr val="222A3F"/>
                          </a:solidFill>
                          <a:latin typeface="Cambria"/>
                        </a:rPr>
                        <a:t>planned</a:t>
                      </a:r>
                    </a:p>
                  </a:txBody>
                  <a:tcPr marL="73152" marR="73152" marT="27432" marB="27432">
                    <a:solidFill>
                      <a:srgbClr val="F2F5FA"/>
                    </a:solidFill>
                  </a:tcPr>
                </a:tc>
              </a:tr>
              <a:tr h="530357">
                <a:tc>
                  <a:txBody>
                    <a:bodyPr/>
                    <a:lstStyle/>
                    <a:p>
                      <a:r>
                        <a:rPr sz="1100" b="0">
                          <a:solidFill>
                            <a:srgbClr val="222A3F"/>
                          </a:solidFill>
                          <a:latin typeface="Cambria"/>
                        </a:rPr>
                        <a:t>6</a:t>
                      </a:r>
                    </a:p>
                  </a:txBody>
                  <a:tcPr marL="73152" marR="73152" marT="27432" marB="27432">
                    <a:solidFill>
                      <a:srgbClr val="FFFFFF"/>
                    </a:solidFill>
                  </a:tcPr>
                </a:tc>
                <a:tc>
                  <a:txBody>
                    <a:bodyPr/>
                    <a:lstStyle/>
                    <a:p>
                      <a:r>
                        <a:rPr sz="1100" b="0">
                          <a:solidFill>
                            <a:srgbClr val="222A3F"/>
                          </a:solidFill>
                          <a:latin typeface="Cambria"/>
                        </a:rPr>
                        <a:t>Documents: manual 16, User Guide 12</a:t>
                      </a:r>
                    </a:p>
                  </a:txBody>
                  <a:tcPr marL="73152" marR="73152" marT="27432" marB="27432">
                    <a:solidFill>
                      <a:srgbClr val="FFFFFF"/>
                    </a:solidFill>
                  </a:tcPr>
                </a:tc>
                <a:tc>
                  <a:txBody>
                    <a:bodyPr/>
                    <a:lstStyle/>
                    <a:p>
                      <a:r>
                        <a:rPr sz="1100" b="0">
                          <a:solidFill>
                            <a:srgbClr val="222A3F"/>
                          </a:solidFill>
                          <a:latin typeface="Cambria"/>
                        </a:rPr>
                        <a:t>Rebuilt and pushed</a:t>
                      </a:r>
                    </a:p>
                  </a:txBody>
                  <a:tcPr marL="73152" marR="73152" marT="27432" marB="27432">
                    <a:solidFill>
                      <a:srgbClr val="FFFFFF"/>
                    </a:solidFill>
                  </a:tcPr>
                </a:tc>
                <a:tc>
                  <a:txBody>
                    <a:bodyPr/>
                    <a:lstStyle/>
                    <a:p>
                      <a:r>
                        <a:rPr sz="1100" b="0">
                          <a:solidFill>
                            <a:srgbClr val="222A3F"/>
                          </a:solidFill>
                          <a:latin typeface="Cambria"/>
                        </a:rPr>
                        <a:t>done</a:t>
                      </a:r>
                    </a:p>
                  </a:txBody>
                  <a:tcPr marL="73152" marR="73152" marT="27432" marB="27432">
                    <a:solidFill>
                      <a:srgbClr val="FFFFFF"/>
                    </a:solidFill>
                  </a:tcPr>
                </a:tc>
              </a:tr>
            </a:tbl>
          </a:graphicData>
        </a:graphic>
      </p:graphicFrame>
      <p:sp>
        <p:nvSpPr>
          <p:cNvPr id="11" name="Rectangle 10"/>
          <p:cNvSpPr/>
          <p:nvPr/>
        </p:nvSpPr>
        <p:spPr>
          <a:xfrm>
            <a:off x="502920" y="5120640"/>
            <a:ext cx="11155680" cy="8229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5239512"/>
            <a:ext cx="10826496" cy="585216"/>
          </a:xfrm>
          <a:prstGeom prst="rect">
            <a:avLst/>
          </a:prstGeom>
          <a:noFill/>
        </p:spPr>
        <p:txBody>
          <a:bodyPr wrap="square" lIns="0" rIns="0" tIns="0" bIns="0">
            <a:spAutoFit/>
          </a:bodyPr>
          <a:lstStyle/>
          <a:p>
            <a:r>
              <a:rPr sz="1250" b="1" spc="100">
                <a:solidFill>
                  <a:srgbClr val="16213D"/>
                </a:solidFill>
                <a:latin typeface="Cambria"/>
              </a:rPr>
              <a:t>COST</a:t>
            </a:r>
          </a:p>
          <a:p>
            <a:pPr>
              <a:spcBef>
                <a:spcPts val="400"/>
              </a:spcBef>
            </a:pPr>
            <a:r>
              <a:rPr sz="1200">
                <a:solidFill>
                  <a:srgbClr val="222A3F"/>
                </a:solidFill>
                <a:latin typeface="Cambria"/>
              </a:rPr>
              <a:t>About a week of firmware work and one afternoon with a scope; no new hardware. Step 4 is the test that would have caught this in September.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CLOSE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31/31  REV C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ANSWER, AND WHAT THE FAILURES BOUGHT</a:t>
            </a:r>
          </a:p>
        </p:txBody>
      </p:sp>
      <p:sp>
        <p:nvSpPr>
          <p:cNvPr id="8" name="Rectangle 7"/>
          <p:cNvSpPr/>
          <p:nvPr/>
        </p:nvSpPr>
        <p:spPr>
          <a:xfrm>
            <a:off x="502920" y="132588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44752"/>
            <a:ext cx="10826496" cy="1179576"/>
          </a:xfrm>
          <a:prstGeom prst="rect">
            <a:avLst/>
          </a:prstGeom>
          <a:noFill/>
        </p:spPr>
        <p:txBody>
          <a:bodyPr wrap="square" lIns="0" rIns="0" tIns="0" bIns="0">
            <a:spAutoFit/>
          </a:bodyPr>
          <a:lstStyle/>
          <a:p>
            <a:r>
              <a:rPr sz="1500" b="1" spc="100">
                <a:solidFill>
                  <a:srgbClr val="16213D"/>
                </a:solidFill>
                <a:latin typeface="Cambria"/>
              </a:rPr>
              <a:t>IS IT THE MEMORY ITSELF?</a:t>
            </a:r>
          </a:p>
          <a:p>
            <a:pPr>
              <a:spcBef>
                <a:spcPts val="400"/>
              </a:spcBef>
            </a:pPr>
            <a:r>
              <a:rPr sz="1300">
                <a:solidFill>
                  <a:srgbClr val="222A3F"/>
                </a:solidFill>
                <a:latin typeface="Cambria"/>
              </a:rPr>
              <a:t>Partly, and measurably, but not as the question implies. SF's settings flash carried 21 sectors that would not hold a value; rewritten under a healthy supply they became perfect. The cells had been left half-written below the flash's 2.7 V minimum but above the 2.44 V reset point, a window the firmware never checks and then punishes with factory defaults.</a:t>
            </a:r>
          </a:p>
        </p:txBody>
      </p:sp>
      <p:sp>
        <p:nvSpPr>
          <p:cNvPr id="10" name="Rectangle 9"/>
          <p:cNvSpPr/>
          <p:nvPr/>
        </p:nvSpPr>
        <p:spPr>
          <a:xfrm>
            <a:off x="50292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81528"/>
            <a:ext cx="3657600" cy="609600"/>
          </a:xfrm>
          <a:prstGeom prst="rect">
            <a:avLst/>
          </a:prstGeom>
          <a:noFill/>
        </p:spPr>
        <p:txBody>
          <a:bodyPr wrap="square" lIns="0" rIns="0" tIns="0" bIns="0">
            <a:spAutoFit/>
          </a:bodyPr>
          <a:lstStyle/>
          <a:p>
            <a:pPr algn="ctr"/>
            <a:r>
              <a:rPr sz="2400" b="1" i="0">
                <a:solidFill>
                  <a:srgbClr val="E58E1A"/>
                </a:solidFill>
                <a:latin typeface="Cambria"/>
              </a:rPr>
              <a:t>11</a:t>
            </a:r>
          </a:p>
        </p:txBody>
      </p:sp>
      <p:sp>
        <p:nvSpPr>
          <p:cNvPr id="12" name="TextBox 11"/>
          <p:cNvSpPr txBox="1"/>
          <p:nvPr/>
        </p:nvSpPr>
        <p:spPr>
          <a:xfrm>
            <a:off x="64008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root-caused failures, each with a written signature and recovery</a:t>
            </a:r>
          </a:p>
        </p:txBody>
      </p:sp>
      <p:sp>
        <p:nvSpPr>
          <p:cNvPr id="13" name="Rectangle 12"/>
          <p:cNvSpPr/>
          <p:nvPr/>
        </p:nvSpPr>
        <p:spPr>
          <a:xfrm>
            <a:off x="425196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81528"/>
            <a:ext cx="3657600" cy="609600"/>
          </a:xfrm>
          <a:prstGeom prst="rect">
            <a:avLst/>
          </a:prstGeom>
          <a:noFill/>
        </p:spPr>
        <p:txBody>
          <a:bodyPr wrap="square" lIns="0" rIns="0" tIns="0" bIns="0">
            <a:spAutoFit/>
          </a:bodyPr>
          <a:lstStyle/>
          <a:p>
            <a:pPr algn="ctr"/>
            <a:r>
              <a:rPr sz="2400" b="1" i="0">
                <a:solidFill>
                  <a:srgbClr val="E58E1A"/>
                </a:solidFill>
                <a:latin typeface="Cambria"/>
              </a:rPr>
              <a:t>21 -&gt; 0</a:t>
            </a:r>
          </a:p>
        </p:txBody>
      </p:sp>
      <p:sp>
        <p:nvSpPr>
          <p:cNvPr id="15" name="TextBox 14"/>
          <p:cNvSpPr txBox="1"/>
          <p:nvPr/>
        </p:nvSpPr>
        <p:spPr>
          <a:xfrm>
            <a:off x="4389120" y="3782568"/>
            <a:ext cx="3383280" cy="350520"/>
          </a:xfrm>
          <a:prstGeom prst="rect">
            <a:avLst/>
          </a:prstGeom>
          <a:noFill/>
        </p:spPr>
        <p:txBody>
          <a:bodyPr wrap="square" lIns="0" rIns="0" tIns="0" bIns="0">
            <a:spAutoFit/>
          </a:bodyPr>
          <a:lstStyle/>
          <a:p>
            <a:pPr algn="ctr"/>
            <a:r>
              <a:rPr sz="1100" b="0" i="0">
                <a:solidFill>
                  <a:srgbClr val="222A3F"/>
                </a:solidFill>
                <a:latin typeface="Cambria"/>
              </a:rPr>
              <a:t>unstable flash sectors on SF; RG clean at 0</a:t>
            </a:r>
          </a:p>
        </p:txBody>
      </p:sp>
      <p:sp>
        <p:nvSpPr>
          <p:cNvPr id="16" name="Rectangle 15"/>
          <p:cNvSpPr/>
          <p:nvPr/>
        </p:nvSpPr>
        <p:spPr>
          <a:xfrm>
            <a:off x="800100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3081528"/>
            <a:ext cx="3657600" cy="609600"/>
          </a:xfrm>
          <a:prstGeom prst="rect">
            <a:avLst/>
          </a:prstGeom>
          <a:noFill/>
        </p:spPr>
        <p:txBody>
          <a:bodyPr wrap="square" lIns="0" rIns="0" tIns="0" bIns="0">
            <a:spAutoFit/>
          </a:bodyPr>
          <a:lstStyle/>
          <a:p>
            <a:pPr algn="ctr"/>
            <a:r>
              <a:rPr sz="2400" b="1" i="0">
                <a:solidFill>
                  <a:srgbClr val="E58E1A"/>
                </a:solidFill>
                <a:latin typeface="Cambria"/>
              </a:rPr>
              <a:t>0</a:t>
            </a:r>
          </a:p>
        </p:txBody>
      </p:sp>
      <p:sp>
        <p:nvSpPr>
          <p:cNvPr id="18" name="TextBox 17"/>
          <p:cNvSpPr txBox="1"/>
          <p:nvPr/>
        </p:nvSpPr>
        <p:spPr>
          <a:xfrm>
            <a:off x="813816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reflashes ever needed for a configuration failure</a:t>
            </a:r>
          </a:p>
        </p:txBody>
      </p:sp>
      <p:sp>
        <p:nvSpPr>
          <p:cNvPr id="19" name="Rectangle 18"/>
          <p:cNvSpPr/>
          <p:nvPr/>
        </p:nvSpPr>
        <p:spPr>
          <a:xfrm>
            <a:off x="50292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453128"/>
            <a:ext cx="3657600" cy="609600"/>
          </a:xfrm>
          <a:prstGeom prst="rect">
            <a:avLst/>
          </a:prstGeom>
          <a:noFill/>
        </p:spPr>
        <p:txBody>
          <a:bodyPr wrap="square" lIns="0" rIns="0" tIns="0" bIns="0">
            <a:spAutoFit/>
          </a:bodyPr>
          <a:lstStyle/>
          <a:p>
            <a:pPr algn="ctr"/>
            <a:r>
              <a:rPr sz="2400" b="1" i="0">
                <a:solidFill>
                  <a:srgbClr val="E58E1A"/>
                </a:solidFill>
                <a:latin typeface="Cambria"/>
              </a:rPr>
              <a:t>90 s</a:t>
            </a:r>
          </a:p>
        </p:txBody>
      </p:sp>
      <p:sp>
        <p:nvSpPr>
          <p:cNvPr id="21" name="TextBox 20"/>
          <p:cNvSpPr txBox="1"/>
          <p:nvPr/>
        </p:nvSpPr>
        <p:spPr>
          <a:xfrm>
            <a:off x="640080" y="5154168"/>
            <a:ext cx="3383280" cy="350520"/>
          </a:xfrm>
          <a:prstGeom prst="rect">
            <a:avLst/>
          </a:prstGeom>
          <a:noFill/>
        </p:spPr>
        <p:txBody>
          <a:bodyPr wrap="square" lIns="0" rIns="0" tIns="0" bIns="0">
            <a:spAutoFit/>
          </a:bodyPr>
          <a:lstStyle/>
          <a:p>
            <a:pPr algn="ctr"/>
            <a:r>
              <a:rPr sz="1100" b="0" i="0">
                <a:solidFill>
                  <a:srgbClr val="222A3F"/>
                </a:solidFill>
                <a:latin typeface="Cambria"/>
              </a:rPr>
              <a:t>to recover a reverted radio; 2 s to detect one</a:t>
            </a:r>
          </a:p>
        </p:txBody>
      </p:sp>
      <p:sp>
        <p:nvSpPr>
          <p:cNvPr id="22" name="Rectangle 21"/>
          <p:cNvSpPr/>
          <p:nvPr/>
        </p:nvSpPr>
        <p:spPr>
          <a:xfrm>
            <a:off x="425196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51960" y="4453128"/>
            <a:ext cx="3657600" cy="609600"/>
          </a:xfrm>
          <a:prstGeom prst="rect">
            <a:avLst/>
          </a:prstGeom>
          <a:noFill/>
        </p:spPr>
        <p:txBody>
          <a:bodyPr wrap="square" lIns="0" rIns="0" tIns="0" bIns="0">
            <a:spAutoFit/>
          </a:bodyPr>
          <a:lstStyle/>
          <a:p>
            <a:pPr algn="ctr"/>
            <a:r>
              <a:rPr sz="2400" b="1" i="0">
                <a:solidFill>
                  <a:srgbClr val="E58E1A"/>
                </a:solidFill>
                <a:latin typeface="Cambria"/>
              </a:rPr>
              <a:t>4.7 mi</a:t>
            </a:r>
          </a:p>
        </p:txBody>
      </p:sp>
      <p:sp>
        <p:nvSpPr>
          <p:cNvPr id="24" name="TextBox 23"/>
          <p:cNvSpPr txBox="1"/>
          <p:nvPr/>
        </p:nvSpPr>
        <p:spPr>
          <a:xfrm>
            <a:off x="438912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measured reach; honest envelope 0.5 to 4.7 mi by terrain</a:t>
            </a:r>
          </a:p>
        </p:txBody>
      </p:sp>
      <p:sp>
        <p:nvSpPr>
          <p:cNvPr id="25" name="Rectangle 24"/>
          <p:cNvSpPr/>
          <p:nvPr/>
        </p:nvSpPr>
        <p:spPr>
          <a:xfrm>
            <a:off x="800100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4453128"/>
            <a:ext cx="3657600" cy="609600"/>
          </a:xfrm>
          <a:prstGeom prst="rect">
            <a:avLst/>
          </a:prstGeom>
          <a:noFill/>
        </p:spPr>
        <p:txBody>
          <a:bodyPr wrap="square" lIns="0" rIns="0" tIns="0" bIns="0">
            <a:spAutoFit/>
          </a:bodyPr>
          <a:lstStyle/>
          <a:p>
            <a:pPr algn="ctr"/>
            <a:r>
              <a:rPr sz="2400" b="1" i="0">
                <a:solidFill>
                  <a:srgbClr val="E58E1A"/>
                </a:solidFill>
                <a:latin typeface="Cambria"/>
              </a:rPr>
              <a:t>1 build</a:t>
            </a:r>
          </a:p>
        </p:txBody>
      </p:sp>
      <p:sp>
        <p:nvSpPr>
          <p:cNvPr id="27" name="TextBox 26"/>
          <p:cNvSpPr txBox="1"/>
          <p:nvPr/>
        </p:nvSpPr>
        <p:spPr>
          <a:xfrm>
            <a:off x="813816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makes a future revert restore OUR configuration</a:t>
            </a:r>
          </a:p>
        </p:txBody>
      </p:sp>
      <p:sp>
        <p:nvSpPr>
          <p:cNvPr id="28" name="Rectangle 27"/>
          <p:cNvSpPr/>
          <p:nvPr/>
        </p:nvSpPr>
        <p:spPr>
          <a:xfrm>
            <a:off x="502920" y="5715000"/>
            <a:ext cx="11155680" cy="38404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769864"/>
            <a:ext cx="10698480" cy="274320"/>
          </a:xfrm>
          <a:prstGeom prst="rect">
            <a:avLst/>
          </a:prstGeom>
          <a:noFill/>
        </p:spPr>
        <p:txBody>
          <a:bodyPr wrap="square" lIns="0" rIns="0" tIns="0" bIns="0">
            <a:spAutoFit/>
          </a:bodyPr>
          <a:lstStyle/>
          <a:p>
            <a:pPr algn="ctr"/>
            <a:r>
              <a:rPr sz="1150" b="1" i="0">
                <a:solidFill>
                  <a:srgbClr val="FFFFFF"/>
                </a:solidFill>
                <a:latin typeface="Cambria"/>
              </a:rPr>
              <a:t>EVERY FAILURE BECAME A RULE; THE WORST ONE BECAME A MEASUREMENT, A REPAIR, AND A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