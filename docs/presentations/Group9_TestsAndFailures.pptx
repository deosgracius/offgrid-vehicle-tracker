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thesis: a system is only as deployable as its failures are diagnosable. This deck is the evidence that ours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expectations: this is not a list of embarrassments, it is the verification record of a system that is honest about itself. Ten failures, ten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it left to right. Note how failures cluster right before tests - and how the same villain, battery death, returns three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Day one. None of these were in any datasheet. The boot-loop alone cost a day and taught us to trust the vendor's ESP-IDF config over its Arduino screenshot.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faults, one drive. Every one invisible on the bench. This is why we drove six more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identity rule and the verification rule. Both sound obvious; both were learned by losing a radio for an 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Idea 2 of the project - the name IS the frequency - was learned here. The debug ladder: config diff, matched-power tests, traceroute, regression on the default channel, then the hash math exposed the slot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precise on stage: this is mitigated, not fixed. The corruption lives in the vendor firmware. Our contribution is that it went from a lost test morning to a non-event.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user-experience failures. Thirty seconds of night footage redesigned the main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independent faults in one evening, diagnosed in forty minutes because every one had a written signature. The test ran the next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deck in one table: ten failures, ten rules, every rule with an address in the codebase or the manual.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 campaigns. Each one found something the previous one could not. The last row is reserved.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measured envelope. Every bar is a different day, same two radios, same settings - verified by post-test audit.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 stale, green live. The 7:30 age reset is the finding: intermittent, not binary.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Reserved sheet. Fill the right-hand column from the screen footage when the drive is done; the pre-test audit row is already true.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numbers. The system is not one that never fails; it is one whose failures name themselves.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4592" y="146304"/>
            <a:ext cx="6350" cy="6126480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59" y="146304"/>
            <a:ext cx="6350" cy="6126480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81328" y="146304"/>
            <a:ext cx="6350" cy="6126480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39696" y="146304"/>
            <a:ext cx="6350" cy="6126480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98063" y="146304"/>
            <a:ext cx="6350" cy="6126480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56431" y="146304"/>
            <a:ext cx="6350" cy="6126480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799" y="146304"/>
            <a:ext cx="6350" cy="6126480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73167" y="146304"/>
            <a:ext cx="6350" cy="6126480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31535" y="146304"/>
            <a:ext cx="6350" cy="6126480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9903" y="146304"/>
            <a:ext cx="6350" cy="6126480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48271" y="146304"/>
            <a:ext cx="6350" cy="6126480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39" y="146304"/>
            <a:ext cx="6350" cy="6126480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65007" y="146304"/>
            <a:ext cx="6350" cy="6126480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23376" y="146304"/>
            <a:ext cx="6350" cy="6126480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381744" y="146304"/>
            <a:ext cx="6350" cy="6126480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040112" y="146304"/>
            <a:ext cx="6350" cy="6126480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698480" y="146304"/>
            <a:ext cx="6350" cy="6126480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356848" y="146304"/>
            <a:ext cx="6350" cy="6126480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015216" y="146304"/>
            <a:ext cx="6350" cy="6126480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64592" y="146304"/>
            <a:ext cx="11859768" cy="6350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64592" y="804672"/>
            <a:ext cx="11859768" cy="6350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4592" y="1463040"/>
            <a:ext cx="11859768" cy="6350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64592" y="2121408"/>
            <a:ext cx="11859768" cy="6350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64592" y="2779776"/>
            <a:ext cx="11859768" cy="6350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64592" y="3438144"/>
            <a:ext cx="11859768" cy="6350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64592" y="4096511"/>
            <a:ext cx="11859768" cy="6350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592" y="4754879"/>
            <a:ext cx="11859768" cy="6350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64592" y="5413247"/>
            <a:ext cx="11859768" cy="6350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64592" y="6071615"/>
            <a:ext cx="11859768" cy="6350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64592" y="146304"/>
            <a:ext cx="11859768" cy="6565392"/>
          </a:xfrm>
          <a:prstGeom prst="rect">
            <a:avLst/>
          </a:prstGeom>
          <a:noFill/>
          <a:ln w="22225">
            <a:solidFill>
              <a:srgbClr val="16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64592" y="6272784"/>
            <a:ext cx="11859768" cy="12700"/>
          </a:xfrm>
          <a:prstGeom prst="rect">
            <a:avLst/>
          </a:prstGeom>
          <a:solidFill>
            <a:srgbClr val="16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34593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E6B85"/>
                </a:solidFill>
                <a:latin typeface="Courier New"/>
              </a:rPr>
              <a:t>GROUP 9  |  OFF-GRID VEHICLE TRACKER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34593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E6B85"/>
                </a:solidFill>
                <a:latin typeface="Courier New"/>
              </a:rPr>
              <a:t>TESTS AND FAILURES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680" y="6345936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E6B85"/>
                </a:solidFill>
                <a:latin typeface="Courier New"/>
              </a:rPr>
              <a:t>SHEET 01/16  REV A  2026-10-24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9144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 i="0" spc="300">
                <a:solidFill>
                  <a:srgbClr val="16213D"/>
                </a:solidFill>
                <a:latin typeface="Cambria"/>
              </a:rPr>
              <a:t>WHAT BROKE, AND WHAT IT TAUGHT US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1755648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 spc="100">
                <a:solidFill>
                  <a:srgbClr val="E58E1A"/>
                </a:solidFill>
                <a:latin typeface="Cambria"/>
              </a:rPr>
              <a:t>THE TEST AND FAILURE RECORD, AUGUST TO OCTOBER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2331720"/>
            <a:ext cx="7315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22A3F"/>
                </a:solidFill>
                <a:latin typeface="Cambria"/>
              </a:rPr>
              <a:t>Ten root-caused failures, four field campaigns, and the rules each one left behind. Every entry here happened on this hardware and was reproduced or root-caused before it was written down. The New Mexico drive test will be added when it is complete.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3657600"/>
            <a:ext cx="39319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22A3F"/>
                </a:solidFill>
                <a:latin typeface="Courier New"/>
              </a:rPr>
              <a:t>Deo Grace Mwala
Josiah Horn
Victor Okwonna
Cannon Thomas
Sponsor: Dr. Richard Gale
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4592" y="146304"/>
            <a:ext cx="11859768" cy="6565392"/>
          </a:xfrm>
          <a:prstGeom prst="rect">
            <a:avLst/>
          </a:prstGeom>
          <a:noFill/>
          <a:ln w="22225">
            <a:solidFill>
              <a:srgbClr val="16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6272784"/>
            <a:ext cx="11859768" cy="12700"/>
          </a:xfrm>
          <a:prstGeom prst="rect">
            <a:avLst/>
          </a:prstGeom>
          <a:solidFill>
            <a:srgbClr val="16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34593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E6B85"/>
                </a:solidFill>
                <a:latin typeface="Courier New"/>
              </a:rPr>
              <a:t>GROUP 9  |  OFF-GRID VEHICLE TRACKER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634593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E6B85"/>
                </a:solidFill>
                <a:latin typeface="Courier New"/>
              </a:rPr>
              <a:t>PART I - THE FAILURES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6345936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E6B85"/>
                </a:solidFill>
                <a:latin typeface="Courier New"/>
              </a:rPr>
              <a:t>SHEET 02/16  REV A  2026-10-24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918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 i="0" spc="200">
                <a:solidFill>
                  <a:srgbClr val="16213D"/>
                </a:solidFill>
                <a:latin typeface="Cambria"/>
              </a:rPr>
              <a:t>WHY THE FAILURES ARE THE DELIVERABLE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11155680" cy="1417320"/>
          </a:xfrm>
          <a:prstGeom prst="rect">
            <a:avLst/>
          </a:prstGeom>
          <a:solidFill>
            <a:srgbClr val="F2F5FA"/>
          </a:solidFill>
          <a:ln w="15875">
            <a:solidFill>
              <a:srgbClr val="16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53312"/>
            <a:ext cx="10826496" cy="11795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spc="100">
                <a:solidFill>
                  <a:srgbClr val="16213D"/>
                </a:solidFill>
                <a:latin typeface="Cambria"/>
              </a:rPr>
              <a:t>A FAILURE IS ONLY USEFUL ONCE IT HAS A SIGNATURE</a:t>
            </a:r>
          </a:p>
          <a:p>
            <a:r>
              <a:rPr sz="1300">
                <a:solidFill>
                  <a:srgbClr val="222A3F"/>
                </a:solidFill>
                <a:latin typeface="Cambria"/>
              </a:rPr>
              <a:t>Every entry in our catalog records the symptom, the root cause, and the recovery, so the next person recognizes it in minutes, not days. A failure that was merely survived is a failure that will happen again; one with a written signature is a test case.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807208"/>
            <a:ext cx="11155680" cy="1417320"/>
          </a:xfrm>
          <a:prstGeom prst="rect">
            <a:avLst/>
          </a:prstGeom>
          <a:solidFill>
            <a:srgbClr val="F2F5FA"/>
          </a:solidFill>
          <a:ln w="15875">
            <a:solidFill>
              <a:srgbClr val="16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926080"/>
            <a:ext cx="10826496" cy="11795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spc="100">
                <a:solidFill>
                  <a:srgbClr val="16213D"/>
                </a:solidFill>
                <a:latin typeface="Cambria"/>
              </a:rPr>
              <a:t>EACH FAILURE PRODUCED A RULE OR A FEATURE</a:t>
            </a:r>
          </a:p>
          <a:p>
            <a:r>
              <a:rPr sz="1300">
                <a:solidFill>
                  <a:srgbClr val="222A3F"/>
                </a:solidFill>
                <a:latin typeface="Cambria"/>
              </a:rPr>
              <a:t>Pre-flight checks, cadence-aware alarms, the course-up compass, the config snapshot, the LINK LOST alarm: none were in the original plan. All came from something breaking on a bench, on a road, or on a canyon rim, and all are now in the manuals.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379976"/>
            <a:ext cx="11155680" cy="1417320"/>
          </a:xfrm>
          <a:prstGeom prst="rect">
            <a:avLst/>
          </a:prstGeom>
          <a:solidFill>
            <a:srgbClr val="F2F5FA"/>
          </a:solidFill>
          <a:ln w="15875">
            <a:solidFill>
              <a:srgbClr val="16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4498848"/>
            <a:ext cx="10826496" cy="11795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spc="100">
                <a:solidFill>
                  <a:srgbClr val="16213D"/>
                </a:solidFill>
                <a:latin typeface="Cambria"/>
              </a:rPr>
              <a:t>FIELD EQUIPMENT FAILS BETWEEN OUTINGS</a:t>
            </a:r>
          </a:p>
          <a:p>
            <a:r>
              <a:rPr sz="1300">
                <a:solidFill>
                  <a:srgbClr val="222A3F"/>
                </a:solidFill>
                <a:latin typeface="Cambria"/>
              </a:rPr>
              <a:t>The question is never whether; it is whether the team can diagnose it on a canyon rim with a phone. Three of ten failures struck the night before a test, and every one was cleared in time because the signature had already been written down.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4592" y="146304"/>
            <a:ext cx="11859768" cy="6565392"/>
          </a:xfrm>
          <a:prstGeom prst="rect">
            <a:avLst/>
          </a:prstGeom>
          <a:noFill/>
          <a:ln w="22225">
            <a:solidFill>
              <a:srgbClr val="16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6272784"/>
            <a:ext cx="11859768" cy="12700"/>
          </a:xfrm>
          <a:prstGeom prst="rect">
            <a:avLst/>
          </a:prstGeom>
          <a:solidFill>
            <a:srgbClr val="16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34593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E6B85"/>
                </a:solidFill>
                <a:latin typeface="Courier New"/>
              </a:rPr>
              <a:t>GROUP 9  |  OFF-GRID VEHICLE TRACKER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634593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E6B85"/>
                </a:solidFill>
                <a:latin typeface="Courier New"/>
              </a:rPr>
              <a:t>PART I - THE FAILURES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6345936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E6B85"/>
                </a:solidFill>
                <a:latin typeface="Courier New"/>
              </a:rPr>
              <a:t>SHEET 03/16  REV A  2026-10-24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918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 i="0" spc="200">
                <a:solidFill>
                  <a:srgbClr val="16213D"/>
                </a:solidFill>
                <a:latin typeface="Cambria"/>
              </a:rPr>
              <a:t>THE SEMESTER ON ONE LINE</a:t>
            </a:r>
          </a:p>
        </p:txBody>
      </p:sp>
      <p:pic>
        <p:nvPicPr>
          <p:cNvPr id="8" name="Picture 7" descr="g_fail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88720"/>
            <a:ext cx="11155680" cy="473271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89788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5E6B85"/>
                </a:solidFill>
                <a:latin typeface="Courier New"/>
              </a:rPr>
              <a:t>RED: FAILURES, ROOT-CAUSED.  GREEN: TESTS.  THE HOLLOW TRIANGLE IS NEW MEXICO, PENDING.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4592" y="146304"/>
            <a:ext cx="11859768" cy="6565392"/>
          </a:xfrm>
          <a:prstGeom prst="rect">
            <a:avLst/>
          </a:prstGeom>
          <a:noFill/>
          <a:ln w="22225">
            <a:solidFill>
              <a:srgbClr val="16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6272784"/>
            <a:ext cx="11859768" cy="12700"/>
          </a:xfrm>
          <a:prstGeom prst="rect">
            <a:avLst/>
          </a:prstGeom>
          <a:solidFill>
            <a:srgbClr val="16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34593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E6B85"/>
                </a:solidFill>
                <a:latin typeface="Courier New"/>
              </a:rPr>
              <a:t>GROUP 9  |  OFF-GRID VEHICLE TRACKER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634593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E6B85"/>
                </a:solidFill>
                <a:latin typeface="Courier New"/>
              </a:rPr>
              <a:t>PART I - THE FAILURES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6345936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E6B85"/>
                </a:solidFill>
                <a:latin typeface="Courier New"/>
              </a:rPr>
              <a:t>SHEET 04/16  REV A  2026-10-24</a:t>
            </a:r>
          </a:p>
        </p:txBody>
      </p:sp>
      <p:sp>
        <p:nvSpPr>
          <p:cNvPr id="7" name="Rectangle 6"/>
          <p:cNvSpPr/>
          <p:nvPr/>
        </p:nvSpPr>
        <p:spPr>
          <a:xfrm>
            <a:off x="9646920" y="347472"/>
            <a:ext cx="214884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19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402336"/>
            <a:ext cx="21488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199BD"/>
                </a:solidFill>
                <a:latin typeface="Courier New"/>
              </a:rPr>
              <a:t>OWNER: DEO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 i="0" spc="200">
                <a:solidFill>
                  <a:srgbClr val="16213D"/>
                </a:solidFill>
                <a:latin typeface="Cambria"/>
              </a:rPr>
              <a:t>FAILURES 1-3: BRING-UP, AUGUST 30-31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3657600" cy="2240280"/>
          </a:xfrm>
          <a:prstGeom prst="rect">
            <a:avLst/>
          </a:prstGeom>
          <a:solidFill>
            <a:srgbClr val="F2F5FA"/>
          </a:solidFill>
          <a:ln w="15875">
            <a:solidFill>
              <a:srgbClr val="C4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353312"/>
            <a:ext cx="3328416" cy="2002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spc="100">
                <a:solidFill>
                  <a:srgbClr val="C43A4B"/>
                </a:solidFill>
                <a:latin typeface="Cambria"/>
              </a:rPr>
              <a:t>1. THE DISPLAY BOOT-LOOPED SILENTLY</a:t>
            </a:r>
          </a:p>
          <a:p>
            <a:r>
              <a:rPr sz="1250">
                <a:solidFill>
                  <a:srgbClr val="222A3F"/>
                </a:solidFill>
                <a:latin typeface="Cambria"/>
              </a:rPr>
              <a:t>The official espressif32 platform (Arduino core 2.x) boot-loops this panel's chip revision. Fix: the pioarduino platform, dio_opi memory, dio flash mode. One full day to find.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5112" y="1234440"/>
            <a:ext cx="3657600" cy="2240280"/>
          </a:xfrm>
          <a:prstGeom prst="rect">
            <a:avLst/>
          </a:prstGeom>
          <a:solidFill>
            <a:srgbClr val="F2F5FA"/>
          </a:solidFill>
          <a:ln w="15875">
            <a:solidFill>
              <a:srgbClr val="C4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3" y="1353312"/>
            <a:ext cx="3328416" cy="2002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spc="100">
                <a:solidFill>
                  <a:srgbClr val="C43A4B"/>
                </a:solidFill>
                <a:latin typeface="Cambria"/>
              </a:rPr>
              <a:t>2. A BONDED RADIO GOES INVISIBLE</a:t>
            </a:r>
          </a:p>
          <a:p>
            <a:r>
              <a:rPr sz="1250">
                <a:solidFill>
                  <a:srgbClr val="222A3F"/>
                </a:solidFill>
                <a:latin typeface="Cambria"/>
              </a:rPr>
              <a:t>Store a BLE bond and the Meshtastic radio stops advertising to everyone, including its own peer. Fix: pair Just-Works on every connect, never store a bond, never deleteAllBonds() at boot.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47304" y="1234440"/>
            <a:ext cx="3657600" cy="2240280"/>
          </a:xfrm>
          <a:prstGeom prst="rect">
            <a:avLst/>
          </a:prstGeom>
          <a:solidFill>
            <a:srgbClr val="F2F5FA"/>
          </a:solidFill>
          <a:ln w="15875">
            <a:solidFill>
              <a:srgbClr val="C4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1896" y="1353312"/>
            <a:ext cx="3328416" cy="2002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spc="100">
                <a:solidFill>
                  <a:srgbClr val="C43A4B"/>
                </a:solidFill>
                <a:latin typeface="Cambria"/>
              </a:rPr>
              <a:t>3. PIN PAIRING REJECTED US</a:t>
            </a:r>
          </a:p>
          <a:p>
            <a:r>
              <a:rPr sz="1250">
                <a:solidFill>
                  <a:srgbClr val="222A3F"/>
                </a:solidFill>
                <a:latin typeface="Cambria"/>
              </a:rPr>
              <a:t>Default RANDOM_PIN mode fails our keypad-less display (SM confirm mismatch, rc=1284). Fix: radios run NO_PIN. This same setting is what reverts in failures 8 and 10.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703320"/>
            <a:ext cx="11155680" cy="1463040"/>
          </a:xfrm>
          <a:prstGeom prst="rect">
            <a:avLst/>
          </a:prstGeom>
          <a:solidFill>
            <a:srgbClr val="F2F5FA"/>
          </a:solidFill>
          <a:ln w="15875">
            <a:solidFill>
              <a:srgbClr val="1F9D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3822191"/>
            <a:ext cx="10826496" cy="1225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spc="100">
                <a:solidFill>
                  <a:srgbClr val="1F9D68"/>
                </a:solidFill>
                <a:latin typeface="Cambria"/>
              </a:rPr>
              <a:t>WHAT THEY BOUGHT</a:t>
            </a:r>
          </a:p>
          <a:p>
            <a:r>
              <a:rPr sz="1200">
                <a:solidFill>
                  <a:srgbClr val="222A3F"/>
                </a:solidFill>
                <a:latin typeface="Cambria"/>
              </a:rPr>
              <a:t>The BLE link state machine with exactly one recovery path (any failure tears down to SCANNING), the ignition-on product flow, and the first entries of the scar catalog. The display has never wedged since.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4592" y="146304"/>
            <a:ext cx="11859768" cy="6565392"/>
          </a:xfrm>
          <a:prstGeom prst="rect">
            <a:avLst/>
          </a:prstGeom>
          <a:noFill/>
          <a:ln w="22225">
            <a:solidFill>
              <a:srgbClr val="16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6272784"/>
            <a:ext cx="11859768" cy="12700"/>
          </a:xfrm>
          <a:prstGeom prst="rect">
            <a:avLst/>
          </a:prstGeom>
          <a:solidFill>
            <a:srgbClr val="16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34593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E6B85"/>
                </a:solidFill>
                <a:latin typeface="Courier New"/>
              </a:rPr>
              <a:t>GROUP 9  |  OFF-GRID VEHICLE TRACKER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634593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E6B85"/>
                </a:solidFill>
                <a:latin typeface="Courier New"/>
              </a:rPr>
              <a:t>PART I - THE FAILURES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6345936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E6B85"/>
                </a:solidFill>
                <a:latin typeface="Courier New"/>
              </a:rPr>
              <a:t>SHEET 05/16  REV A  2026-10-24</a:t>
            </a:r>
          </a:p>
        </p:txBody>
      </p:sp>
      <p:sp>
        <p:nvSpPr>
          <p:cNvPr id="7" name="Rectangle 6"/>
          <p:cNvSpPr/>
          <p:nvPr/>
        </p:nvSpPr>
        <p:spPr>
          <a:xfrm>
            <a:off x="9646920" y="347472"/>
            <a:ext cx="214884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6D4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402336"/>
            <a:ext cx="21488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6D4BDB"/>
                </a:solidFill>
                <a:latin typeface="Courier New"/>
              </a:rPr>
              <a:t>OWNER: JOSIAH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 i="0" spc="200">
                <a:solidFill>
                  <a:srgbClr val="16213D"/>
                </a:solidFill>
                <a:latin typeface="Cambria"/>
              </a:rPr>
              <a:t>FAILURE 4: THE FIRST DRIVE TEST, SEPTEMBER 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234440"/>
          <a:ext cx="1115568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572000"/>
                <a:gridCol w="3291840"/>
              </a:tblGrid>
              <a:tr h="54863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mbria"/>
                        </a:rPr>
                        <a:t>Symptom on the road</a:t>
                      </a:r>
                    </a:p>
                  </a:txBody>
                  <a:tcPr marL="73152" marR="73152" marT="27432" marB="27432">
                    <a:solidFill>
                      <a:srgbClr val="16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mbria"/>
                        </a:rPr>
                        <a:t>Root cause</a:t>
                      </a:r>
                    </a:p>
                  </a:txBody>
                  <a:tcPr marL="73152" marR="73152" marT="27432" marB="27432">
                    <a:solidFill>
                      <a:srgbClr val="16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mbria"/>
                        </a:rPr>
                        <a:t>Fix</a:t>
                      </a:r>
                    </a:p>
                  </a:txBody>
                  <a:tcPr marL="73152" marR="73152" marT="27432" marB="27432">
                    <a:solidFill>
                      <a:srgbClr val="16213D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A3F"/>
                          </a:solidFill>
                          <a:latin typeface="Cambria"/>
                        </a:rPr>
                        <a:t>Partner position frozen on a 6 km grid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A3F"/>
                          </a:solidFill>
                          <a:latin typeface="Cambria"/>
                        </a:rPr>
                        <a:t>Channel default position_precision = 13 truncates every broadcast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A3F"/>
                          </a:solidFill>
                          <a:latin typeface="Cambria"/>
                        </a:rPr>
                        <a:t>Precision 32 (full) on the channel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A3F"/>
                          </a:solidFill>
                          <a:latin typeface="Cambria"/>
                        </a:rPr>
                        <a:t>~4 minutes of apparent latency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A3F"/>
                          </a:solidFill>
                          <a:latin typeface="Cambria"/>
                        </a:rPr>
                        <a:t>gps_update_interval default 120 s: fresh fixes only every two minutes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A3F"/>
                          </a:solidFill>
                          <a:latin typeface="Cambria"/>
                        </a:rPr>
                        <a:t>GPS interval 10 s, broadcast 10 s moving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A3F"/>
                          </a:solidFill>
                          <a:latin typeface="Cambria"/>
                        </a:rPr>
                        <a:t>Speeds wildly wrong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A3F"/>
                          </a:solidFill>
                          <a:latin typeface="Cambria"/>
                        </a:rPr>
                        <a:t>Position.ground_speed is km/h on the wire, not m/s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A3F"/>
                          </a:solidFill>
                          <a:latin typeface="Cambria"/>
                        </a:rPr>
                        <a:t>Decoder converts; display shows mph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A3F"/>
                          </a:solidFill>
                          <a:latin typeface="Cambria"/>
                        </a:rPr>
                        <a:t>Parked car shows 1-3 mph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A3F"/>
                          </a:solidFill>
                          <a:latin typeface="Cambria"/>
                        </a:rPr>
                        <a:t>GPS jitter reported as speed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A3F"/>
                          </a:solidFill>
                          <a:latin typeface="Cambria"/>
                        </a:rPr>
                        <a:t>4.5 km/h deadband in the node table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4864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A3F"/>
                          </a:solidFill>
                          <a:latin typeface="Cambria"/>
                        </a:rPr>
                        <a:t>Clock an hour off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A3F"/>
                          </a:solidFill>
                          <a:latin typeface="Cambria"/>
                        </a:rPr>
                        <a:t>West Texas is Central time; the CT/MT line is not at -97.5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A3F"/>
                          </a:solidFill>
                          <a:latin typeface="Cambria"/>
                        </a:rPr>
                        <a:t>Timezone bands carried to the TX/NM border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493776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22A3F"/>
                </a:solidFill>
                <a:latin typeface="Cambria"/>
              </a:rPr>
              <a:t>The lesson that outlived the fixes: windowsill tests cannot find any of these. Smart broadcast, GPS refresh, precision quantization and speed units only show while actually driving. Every later feature was validated on the road.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4592" y="146304"/>
            <a:ext cx="11859768" cy="6565392"/>
          </a:xfrm>
          <a:prstGeom prst="rect">
            <a:avLst/>
          </a:prstGeom>
          <a:noFill/>
          <a:ln w="22225">
            <a:solidFill>
              <a:srgbClr val="16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6272784"/>
            <a:ext cx="11859768" cy="12700"/>
          </a:xfrm>
          <a:prstGeom prst="rect">
            <a:avLst/>
          </a:prstGeom>
          <a:solidFill>
            <a:srgbClr val="16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34593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E6B85"/>
                </a:solidFill>
                <a:latin typeface="Courier New"/>
              </a:rPr>
              <a:t>GROUP 9  |  OFF-GRID VEHICLE TRACKER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634593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E6B85"/>
                </a:solidFill>
                <a:latin typeface="Courier New"/>
              </a:rPr>
              <a:t>PART I - THE FAILURES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6345936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E6B85"/>
                </a:solidFill>
                <a:latin typeface="Courier New"/>
              </a:rPr>
              <a:t>SHEET 06/16  REV A  2026-10-24</a:t>
            </a:r>
          </a:p>
        </p:txBody>
      </p:sp>
      <p:sp>
        <p:nvSpPr>
          <p:cNvPr id="7" name="Rectangle 6"/>
          <p:cNvSpPr/>
          <p:nvPr/>
        </p:nvSpPr>
        <p:spPr>
          <a:xfrm>
            <a:off x="9646920" y="347472"/>
            <a:ext cx="214884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19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402336"/>
            <a:ext cx="21488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199BD"/>
                </a:solidFill>
                <a:latin typeface="Courier New"/>
              </a:rPr>
              <a:t>OWNER: DEO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 i="0" spc="200">
                <a:solidFill>
                  <a:srgbClr val="16213D"/>
                </a:solidFill>
                <a:latin typeface="Cambria"/>
              </a:rPr>
              <a:t>FAILURES 5-6: WRONG FLASH, LYING CLI (SEP 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5486400" cy="2103120"/>
          </a:xfrm>
          <a:prstGeom prst="rect">
            <a:avLst/>
          </a:prstGeom>
          <a:solidFill>
            <a:srgbClr val="F2F5FA"/>
          </a:solidFill>
          <a:ln w="15875">
            <a:solidFill>
              <a:srgbClr val="C4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353312"/>
            <a:ext cx="5157216" cy="1865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spc="100">
                <a:solidFill>
                  <a:srgbClr val="C43A4B"/>
                </a:solidFill>
                <a:latin typeface="Cambria"/>
              </a:rPr>
              <a:t>5. DISPLAY FIRMWARE FLASHED ONTO A RADIO</a:t>
            </a:r>
          </a:p>
          <a:p>
            <a:r>
              <a:rPr sz="1150">
                <a:solidFill>
                  <a:srgbClr val="222A3F"/>
                </a:solidFill>
                <a:latin typeface="Cambria"/>
              </a:rPr>
              <a:t>Both boards share USB ID 303A:1001; an auto-picked COM port put our firmware on the Heltec and erased Meshtastic. Seeing display logs proved nothing about WHICH board was flashed. Recovery: esptool erase, factory image, full re-provision. The node number survives (MAC-derived), so the display reconnected unchanged.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34440"/>
            <a:ext cx="5486400" cy="2103120"/>
          </a:xfrm>
          <a:prstGeom prst="rect">
            <a:avLst/>
          </a:prstGeom>
          <a:solidFill>
            <a:srgbClr val="F2F5FA"/>
          </a:solidFill>
          <a:ln w="15875">
            <a:solidFill>
              <a:srgbClr val="C4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1353312"/>
            <a:ext cx="5157216" cy="1865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spc="100">
                <a:solidFill>
                  <a:srgbClr val="C43A4B"/>
                </a:solidFill>
                <a:latin typeface="Cambria"/>
              </a:rPr>
              <a:t>6. A CONFIG WRITE THAT SILENTLY REVERTED</a:t>
            </a:r>
          </a:p>
          <a:p>
            <a:r>
              <a:rPr sz="1150">
                <a:solidFill>
                  <a:srgbClr val="222A3F"/>
                </a:solidFill>
                <a:latin typeface="Cambria"/>
              </a:rPr>
              <a:t>The CLI's port-close toggles DTR/RTS, hard-resetting the ESP32 mid-save. The write 'succeeds'; the next read shows the old value. Reboot-triggering settings (region, Bluetooth mode) are the usual victims, and nothing on the radio's screen changes.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566160"/>
            <a:ext cx="11155680" cy="1645920"/>
          </a:xfrm>
          <a:prstGeom prst="rect">
            <a:avLst/>
          </a:prstGeom>
          <a:solidFill>
            <a:srgbClr val="F2F5FA"/>
          </a:solidFill>
          <a:ln w="15875">
            <a:solidFill>
              <a:srgbClr val="1F9D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3685032"/>
            <a:ext cx="10826496" cy="1408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spc="100">
                <a:solidFill>
                  <a:srgbClr val="1F9D68"/>
                </a:solidFill>
                <a:latin typeface="Cambria"/>
              </a:rPr>
              <a:t>RULES THAT CAME OUT OF IT</a:t>
            </a:r>
          </a:p>
          <a:p>
            <a:r>
              <a:rPr sz="1200">
                <a:solidFill>
                  <a:srgbClr val="222A3F"/>
                </a:solidFill>
                <a:latin typeface="Cambria"/>
              </a:rPr>
              <a:t>Identify every board by its MAC (SER=) before touching it - never let a tool pick the port. Verify every config write by read-back AND on the radio's own screen. For stubborn values, use the Python API holding the port open. Both rules are now steps in the manual's flashing procedure.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4592" y="146304"/>
            <a:ext cx="11859768" cy="6565392"/>
          </a:xfrm>
          <a:prstGeom prst="rect">
            <a:avLst/>
          </a:prstGeom>
          <a:noFill/>
          <a:ln w="22225">
            <a:solidFill>
              <a:srgbClr val="16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6272784"/>
            <a:ext cx="11859768" cy="12700"/>
          </a:xfrm>
          <a:prstGeom prst="rect">
            <a:avLst/>
          </a:prstGeom>
          <a:solidFill>
            <a:srgbClr val="16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34593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E6B85"/>
                </a:solidFill>
                <a:latin typeface="Courier New"/>
              </a:rPr>
              <a:t>GROUP 9  |  OFF-GRID VEHICLE TRACKER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634593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E6B85"/>
                </a:solidFill>
                <a:latin typeface="Courier New"/>
              </a:rPr>
              <a:t>PART I - THE FAILURES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6345936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E6B85"/>
                </a:solidFill>
                <a:latin typeface="Courier New"/>
              </a:rPr>
              <a:t>SHEET 07/16  REV A  2026-10-24</a:t>
            </a:r>
          </a:p>
        </p:txBody>
      </p:sp>
      <p:sp>
        <p:nvSpPr>
          <p:cNvPr id="7" name="Rectangle 6"/>
          <p:cNvSpPr/>
          <p:nvPr/>
        </p:nvSpPr>
        <p:spPr>
          <a:xfrm>
            <a:off x="9646920" y="347472"/>
            <a:ext cx="214884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E58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402336"/>
            <a:ext cx="21488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E58E1A"/>
                </a:solidFill>
                <a:latin typeface="Courier New"/>
              </a:rPr>
              <a:t>OWNER: VICTOR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 i="0" spc="200">
                <a:solidFill>
                  <a:srgbClr val="16213D"/>
                </a:solidFill>
                <a:latin typeface="Cambria"/>
              </a:rPr>
              <a:t>FAILURE 7: "0 ONLINE", SAME CONFIGS (SEP 25)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5486400" cy="2286000"/>
          </a:xfrm>
          <a:prstGeom prst="rect">
            <a:avLst/>
          </a:prstGeom>
          <a:solidFill>
            <a:srgbClr val="F2F5FA"/>
          </a:solidFill>
          <a:ln w="15875">
            <a:solidFill>
              <a:srgbClr val="C4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353312"/>
            <a:ext cx="5157216" cy="20482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spc="100">
                <a:solidFill>
                  <a:srgbClr val="C43A4B"/>
                </a:solidFill>
                <a:latin typeface="Cambria"/>
              </a:rPr>
              <a:t>THE SYMPTOM</a:t>
            </a:r>
          </a:p>
          <a:p>
            <a:r>
              <a:rPr sz="1200">
                <a:solidFill>
                  <a:srgbClr val="222A3F"/>
                </a:solidFill>
                <a:latin typeface="Cambria"/>
              </a:rPr>
              <a:t>Two radios, same key, every config read-back identical, zero channel utilization, traceroute MAX_RETRANSMIT - total mutual silence. Every instrument said RF failure, and both radios' screens looked perfectly healthy.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34440"/>
            <a:ext cx="5486400" cy="2286000"/>
          </a:xfrm>
          <a:prstGeom prst="rect">
            <a:avLst/>
          </a:prstGeom>
          <a:solidFill>
            <a:srgbClr val="F2F5FA"/>
          </a:solidFill>
          <a:ln w="15875">
            <a:solidFill>
              <a:srgbClr val="C4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1353312"/>
            <a:ext cx="5157216" cy="20482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spc="100">
                <a:solidFill>
                  <a:srgbClr val="C43A4B"/>
                </a:solidFill>
                <a:latin typeface="Cambria"/>
              </a:rPr>
              <a:t>THE ROOT CAUSE</a:t>
            </a:r>
          </a:p>
          <a:p>
            <a:r>
              <a:rPr sz="1200">
                <a:solidFill>
                  <a:srgbClr val="222A3F"/>
                </a:solidFill>
                <a:latin typeface="Cambria"/>
              </a:rPr>
              <a:t>Meshtastic derives the frequency from a hash of the channel name: slot = djb2(name) mod 104. One channel write had silently reverted, so one radio sat on the public slot (906.875 MHz) and the other on Group9's slot 43 (912.875). Same key, different frequencies: nothing couples.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749039"/>
            <a:ext cx="11155680" cy="1463040"/>
          </a:xfrm>
          <a:prstGeom prst="rect">
            <a:avLst/>
          </a:prstGeom>
          <a:solidFill>
            <a:srgbClr val="1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3840479"/>
            <a:ext cx="108264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58E1A"/>
                </a:solidFill>
                <a:latin typeface="Courier New"/>
              </a:rPr>
              <a:t>THE TWO-SECOND PRE-FLIGHT THAT CAME OUT OF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4133087"/>
            <a:ext cx="1082649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>
                <a:solidFill>
                  <a:srgbClr val="C9D8F0"/>
                </a:solidFill>
                <a:latin typeface="Courier New"/>
              </a:rPr>
              <a:t>Both OLED LoRa screens must read  912.875 MHz  before any test or drive.</a:t>
            </a:r>
          </a:p>
          <a:p>
            <a:r>
              <a:rPr sz="1150">
                <a:solidFill>
                  <a:srgbClr val="5E6B85"/>
                </a:solidFill>
                <a:latin typeface="Courier New"/>
              </a:rPr>
              <a:t>The screen is ground truth. The CLI can read back the intended config while the radio still radiates on the old slot.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4592" y="146304"/>
            <a:ext cx="11859768" cy="6565392"/>
          </a:xfrm>
          <a:prstGeom prst="rect">
            <a:avLst/>
          </a:prstGeom>
          <a:noFill/>
          <a:ln w="22225">
            <a:solidFill>
              <a:srgbClr val="16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6272784"/>
            <a:ext cx="11859768" cy="12700"/>
          </a:xfrm>
          <a:prstGeom prst="rect">
            <a:avLst/>
          </a:prstGeom>
          <a:solidFill>
            <a:srgbClr val="16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34593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E6B85"/>
                </a:solidFill>
                <a:latin typeface="Courier New"/>
              </a:rPr>
              <a:t>GROUP 9  |  OFF-GRID VEHICLE TRACKER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634593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E6B85"/>
                </a:solidFill>
                <a:latin typeface="Courier New"/>
              </a:rPr>
              <a:t>PART I - THE FAILURES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6345936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E6B85"/>
                </a:solidFill>
                <a:latin typeface="Courier New"/>
              </a:rPr>
              <a:t>SHEET 08/16  REV A  2026-10-24</a:t>
            </a:r>
          </a:p>
        </p:txBody>
      </p:sp>
      <p:sp>
        <p:nvSpPr>
          <p:cNvPr id="7" name="Rectangle 6"/>
          <p:cNvSpPr/>
          <p:nvPr/>
        </p:nvSpPr>
        <p:spPr>
          <a:xfrm>
            <a:off x="9646920" y="347472"/>
            <a:ext cx="214884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19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402336"/>
            <a:ext cx="21488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199BD"/>
                </a:solidFill>
                <a:latin typeface="Courier New"/>
              </a:rPr>
              <a:t>OWNER: DEO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 i="0" spc="200">
                <a:solidFill>
                  <a:srgbClr val="16213D"/>
                </a:solidFill>
                <a:latin typeface="Cambria"/>
              </a:rPr>
              <a:t>FAILURES 8-10: BATTERY DEATH REVERTS CONFIG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234440"/>
          <a:ext cx="1115568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280160"/>
                <a:gridCol w="4937760"/>
                <a:gridCol w="3840480"/>
              </a:tblGrid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Date</a:t>
                      </a:r>
                    </a:p>
                  </a:txBody>
                  <a:tcPr marL="73152" marR="73152" marT="27432" marB="27432">
                    <a:solidFill>
                      <a:srgbClr val="16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Radio</a:t>
                      </a:r>
                    </a:p>
                  </a:txBody>
                  <a:tcPr marL="73152" marR="73152" marT="27432" marB="27432">
                    <a:solidFill>
                      <a:srgbClr val="16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What reverted</a:t>
                      </a:r>
                    </a:p>
                  </a:txBody>
                  <a:tcPr marL="73152" marR="73152" marT="27432" marB="27432">
                    <a:solidFill>
                      <a:srgbClr val="16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How it was found</a:t>
                      </a:r>
                    </a:p>
                  </a:txBody>
                  <a:tcPr marL="73152" marR="73152" marT="27432" marB="27432">
                    <a:solidFill>
                      <a:srgbClr val="16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Sep 30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Both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RG: channels. SF: everything (channel, role, Bluetooth, telemetry, owner)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Healthy screens, total silence; peer missing from node tables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Oct 17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SF (EA:D4)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Bluetooth mode, channel (906.875), owner name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Display looping: encrypted=1 bonded=0, write rc=261, disconnect 534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Oct 24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SF (EA:D4)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Channel + key, precision, Bluetooth, cadence, owner, canned messages, node DB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Routine diagnostic before the New Mexico test; role survived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02920" y="3703320"/>
            <a:ext cx="5486400" cy="2240280"/>
          </a:xfrm>
          <a:prstGeom prst="rect">
            <a:avLst/>
          </a:prstGeom>
          <a:solidFill>
            <a:srgbClr val="F2F5FA"/>
          </a:solidFill>
          <a:ln w="15875">
            <a:solidFill>
              <a:srgbClr val="E58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3822191"/>
            <a:ext cx="5157216" cy="2002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spc="100">
                <a:solidFill>
                  <a:srgbClr val="E58E1A"/>
                </a:solidFill>
                <a:latin typeface="Cambria"/>
              </a:rPr>
              <a:t>MECHANISM - MITIGATED, NOT FIXED</a:t>
            </a:r>
          </a:p>
          <a:p>
            <a:r>
              <a:rPr sz="1200">
                <a:solidFill>
                  <a:srgbClr val="222A3F"/>
                </a:solidFill>
                <a:latin typeface="Cambria"/>
              </a:rPr>
              <a:t>A brownout mid-write corrupts the config records in flash; at the next boot the firmware substitutes compiled-in defaults and saves them. This happens inside stock Meshtastic, which we do not fork, so we cannot prevent it. What we did is make it cheap: detectable in seconds and recoverable in a minute, without a laptop reflash.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3703320"/>
            <a:ext cx="5486400" cy="2240280"/>
          </a:xfrm>
          <a:prstGeom prst="rect">
            <a:avLst/>
          </a:prstGeom>
          <a:solidFill>
            <a:srgbClr val="F2F5FA"/>
          </a:solidFill>
          <a:ln w="15875">
            <a:solidFill>
              <a:srgbClr val="1F9D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6792" y="3822191"/>
            <a:ext cx="5157216" cy="2002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spc="100">
                <a:solidFill>
                  <a:srgbClr val="1F9D68"/>
                </a:solidFill>
                <a:latin typeface="Cambria"/>
              </a:rPr>
              <a:t>THE MITIGATION STACK</a:t>
            </a:r>
          </a:p>
          <a:p>
            <a:r>
              <a:rPr sz="1200">
                <a:solidFill>
                  <a:srgbClr val="222A3F"/>
                </a:solidFill>
                <a:latin typeface="Cambria"/>
              </a:rPr>
              <a:t>Detect in 2 s: the OLED pre-flight. Recover in 90 s: a full config snapshot per radio (--export-config / --configure) replaces the four-command recipe; the phone app's channel QR is the no-laptop path. Rule: re-run the WHOLE block, reverts come in batches. Never store a radio flat.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4592" y="146304"/>
            <a:ext cx="11859768" cy="6565392"/>
          </a:xfrm>
          <a:prstGeom prst="rect">
            <a:avLst/>
          </a:prstGeom>
          <a:noFill/>
          <a:ln w="22225">
            <a:solidFill>
              <a:srgbClr val="16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6272784"/>
            <a:ext cx="11859768" cy="12700"/>
          </a:xfrm>
          <a:prstGeom prst="rect">
            <a:avLst/>
          </a:prstGeom>
          <a:solidFill>
            <a:srgbClr val="16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34593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E6B85"/>
                </a:solidFill>
                <a:latin typeface="Courier New"/>
              </a:rPr>
              <a:t>GROUP 9  |  OFF-GRID VEHICLE TRACKER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634593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E6B85"/>
                </a:solidFill>
                <a:latin typeface="Courier New"/>
              </a:rPr>
              <a:t>PART I - THE FAILURES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6345936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E6B85"/>
                </a:solidFill>
                <a:latin typeface="Courier New"/>
              </a:rPr>
              <a:t>SHEET 09/16  REV A  2026-10-24</a:t>
            </a:r>
          </a:p>
        </p:txBody>
      </p:sp>
      <p:sp>
        <p:nvSpPr>
          <p:cNvPr id="7" name="Rectangle 6"/>
          <p:cNvSpPr/>
          <p:nvPr/>
        </p:nvSpPr>
        <p:spPr>
          <a:xfrm>
            <a:off x="9646920" y="347472"/>
            <a:ext cx="214884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6D4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402336"/>
            <a:ext cx="21488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6D4BDB"/>
                </a:solidFill>
                <a:latin typeface="Courier New"/>
              </a:rPr>
              <a:t>OWNER: JOSIAH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 i="0" spc="200">
                <a:solidFill>
                  <a:srgbClr val="16213D"/>
                </a:solidFill>
                <a:latin typeface="Cambria"/>
              </a:rPr>
              <a:t>FAILURE 9: THE HAND-ROTATED COMPASS (OCT 4)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5486400" cy="2011680"/>
          </a:xfrm>
          <a:prstGeom prst="rect">
            <a:avLst/>
          </a:prstGeom>
          <a:solidFill>
            <a:srgbClr val="F2F5FA"/>
          </a:solidFill>
          <a:ln w="15875">
            <a:solidFill>
              <a:srgbClr val="C4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353312"/>
            <a:ext cx="5157216" cy="1773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spc="100">
                <a:solidFill>
                  <a:srgbClr val="C43A4B"/>
                </a:solidFill>
                <a:latin typeface="Cambria"/>
              </a:rPr>
              <a:t>THE SYMPTOM</a:t>
            </a:r>
          </a:p>
          <a:p>
            <a:r>
              <a:rPr sz="1150">
                <a:solidFill>
                  <a:srgbClr val="222A3F"/>
                </a:solidFill>
                <a:latin typeface="Cambria"/>
              </a:rPr>
              <a:t>North-up ring at night: to read the arrow against the road the driver physically turned the unit - at which point nothing on it could be read. And the staleness cue alarmed at 59 s of perfectly normal silence from a parked partner.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34440"/>
            <a:ext cx="5486400" cy="2011680"/>
          </a:xfrm>
          <a:prstGeom prst="rect">
            <a:avLst/>
          </a:prstGeom>
          <a:solidFill>
            <a:srgbClr val="F2F5FA"/>
          </a:solidFill>
          <a:ln w="15875">
            <a:solidFill>
              <a:srgbClr val="1F9D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1353312"/>
            <a:ext cx="5157216" cy="1773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spc="100">
                <a:solidFill>
                  <a:srgbClr val="1F9D68"/>
                </a:solidFill>
                <a:latin typeface="Cambria"/>
              </a:rPr>
              <a:t>THE FIX, SHIPPED THE NEXT DAY</a:t>
            </a:r>
          </a:p>
          <a:p>
            <a:r>
              <a:rPr sz="1150">
                <a:solidFill>
                  <a:srgbClr val="222A3F"/>
                </a:solidFill>
                <a:latin typeface="Cambria"/>
              </a:rPr>
              <a:t>Course-up compass: the top of the ring is always straight ahead, cardinals rotate with the car, a nose mark at 12 o'clock, directions in clock positions. Cadence-aware staleness: 30 s for a moving partner, 90 s for a parked one.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474720"/>
            <a:ext cx="11155680" cy="1737360"/>
          </a:xfrm>
          <a:prstGeom prst="rect">
            <a:avLst/>
          </a:prstGeom>
          <a:solidFill>
            <a:srgbClr val="F2F5FA"/>
          </a:solidFill>
          <a:ln w="15875">
            <a:solidFill>
              <a:srgbClr val="16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3593591"/>
            <a:ext cx="10826496" cy="1499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spc="100">
                <a:solidFill>
                  <a:srgbClr val="16213D"/>
                </a:solidFill>
                <a:latin typeface="Cambria"/>
              </a:rPr>
              <a:t>WHY IT BELONGS IN A FAILURE DECK</a:t>
            </a:r>
          </a:p>
          <a:p>
            <a:r>
              <a:rPr sz="1200">
                <a:solidFill>
                  <a:srgbClr val="222A3F"/>
                </a:solidFill>
                <a:latin typeface="Cambria"/>
              </a:rPr>
              <a:t>Neither change was a bug fix; both were design errors that only a real drive at night could expose. They were validated on the road the next day (dart at 12 o'clock at 37 mph) and have carried every test since. The honest-display philosophy was tested here first: a cue that cries wolf is as dishonest as one that stays silent.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4592" y="146304"/>
            <a:ext cx="11859768" cy="6565392"/>
          </a:xfrm>
          <a:prstGeom prst="rect">
            <a:avLst/>
          </a:prstGeom>
          <a:noFill/>
          <a:ln w="22225">
            <a:solidFill>
              <a:srgbClr val="16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6272784"/>
            <a:ext cx="11859768" cy="12700"/>
          </a:xfrm>
          <a:prstGeom prst="rect">
            <a:avLst/>
          </a:prstGeom>
          <a:solidFill>
            <a:srgbClr val="16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34593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E6B85"/>
                </a:solidFill>
                <a:latin typeface="Courier New"/>
              </a:rPr>
              <a:t>GROUP 9  |  OFF-GRID VEHICLE TRACKER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634593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E6B85"/>
                </a:solidFill>
                <a:latin typeface="Courier New"/>
              </a:rPr>
              <a:t>PART I - THE FAILURES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6345936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E6B85"/>
                </a:solidFill>
                <a:latin typeface="Courier New"/>
              </a:rPr>
              <a:t>SHEET 10/16  REV A  2026-10-24</a:t>
            </a:r>
          </a:p>
        </p:txBody>
      </p:sp>
      <p:sp>
        <p:nvSpPr>
          <p:cNvPr id="7" name="Rectangle 6"/>
          <p:cNvSpPr/>
          <p:nvPr/>
        </p:nvSpPr>
        <p:spPr>
          <a:xfrm>
            <a:off x="9646920" y="347472"/>
            <a:ext cx="214884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19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402336"/>
            <a:ext cx="21488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199BD"/>
                </a:solidFill>
                <a:latin typeface="Courier New"/>
              </a:rPr>
              <a:t>OWNER: DEO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 i="0" spc="200">
                <a:solidFill>
                  <a:srgbClr val="16213D"/>
                </a:solidFill>
                <a:latin typeface="Cambria"/>
              </a:rPr>
              <a:t>FAILURE 10: THE NIGHT BEFORE THE CANYON (OCT 17)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3657600" cy="2011680"/>
          </a:xfrm>
          <a:prstGeom prst="rect">
            <a:avLst/>
          </a:prstGeom>
          <a:solidFill>
            <a:srgbClr val="F2F5FA"/>
          </a:solidFill>
          <a:ln w="15875">
            <a:solidFill>
              <a:srgbClr val="5E6B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353312"/>
            <a:ext cx="3328416" cy="1773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spc="100">
                <a:solidFill>
                  <a:srgbClr val="5E6B85"/>
                </a:solidFill>
                <a:latin typeface="Cambria"/>
              </a:rPr>
              <a:t>DISPLAY 1 "DEAD"</a:t>
            </a:r>
          </a:p>
          <a:p>
            <a:r>
              <a:rPr sz="1250">
                <a:solidFill>
                  <a:srgbClr val="222A3F"/>
                </a:solidFill>
                <a:latin typeface="Cambria"/>
              </a:rPr>
              <a:t>Actually fine. Power banks shut off under the display's milliwatt draw, and a reflective screen in a dim room reads as off. Flashlight test first.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5112" y="1234440"/>
            <a:ext cx="3657600" cy="2011680"/>
          </a:xfrm>
          <a:prstGeom prst="rect">
            <a:avLst/>
          </a:prstGeom>
          <a:solidFill>
            <a:srgbClr val="F2F5FA"/>
          </a:solidFill>
          <a:ln w="15875">
            <a:solidFill>
              <a:srgbClr val="E58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3" y="1353312"/>
            <a:ext cx="3328416" cy="1773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spc="100">
                <a:solidFill>
                  <a:srgbClr val="E58E1A"/>
                </a:solidFill>
                <a:latin typeface="Cambria"/>
              </a:rPr>
              <a:t>DISPLAY 2 HALF-DEAD USB-C</a:t>
            </a:r>
          </a:p>
          <a:p>
            <a:r>
              <a:rPr sz="1250">
                <a:solidFill>
                  <a:srgbClr val="222A3F"/>
                </a:solidFill>
                <a:latin typeface="Cambria"/>
              </a:rPr>
              <a:t>Powers in ONE plug orientation - damaged pins on one side. A coin-flip failure on every plug-in. Marked the working orientation; a repair item.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47304" y="1234440"/>
            <a:ext cx="3657600" cy="2011680"/>
          </a:xfrm>
          <a:prstGeom prst="rect">
            <a:avLst/>
          </a:prstGeom>
          <a:solidFill>
            <a:srgbClr val="F2F5FA"/>
          </a:solidFill>
          <a:ln w="15875">
            <a:solidFill>
              <a:srgbClr val="C4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1896" y="1353312"/>
            <a:ext cx="3328416" cy="1773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spc="100">
                <a:solidFill>
                  <a:srgbClr val="C43A4B"/>
                </a:solidFill>
                <a:latin typeface="Cambria"/>
              </a:rPr>
              <a:t>RADIO EA:D4 REVERTED</a:t>
            </a:r>
          </a:p>
          <a:p>
            <a:r>
              <a:rPr sz="1250">
                <a:solidFill>
                  <a:srgbClr val="222A3F"/>
                </a:solidFill>
                <a:latin typeface="Cambria"/>
              </a:rPr>
              <a:t>A week idle, battery flat: Bluetooth mode, channel and name gone. The display's serial log named it in one line: write status 261, insufficient authentication.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474720"/>
            <a:ext cx="11155680" cy="1691640"/>
          </a:xfrm>
          <a:prstGeom prst="rect">
            <a:avLst/>
          </a:prstGeom>
          <a:solidFill>
            <a:srgbClr val="1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3566160"/>
            <a:ext cx="108264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58E1A"/>
                </a:solidFill>
                <a:latin typeface="Courier New"/>
              </a:rPr>
              <a:t>DISPLAY SERIAL LOG - THE SIGNATURE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" y="3858768"/>
            <a:ext cx="10826496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>
                <a:solidFill>
                  <a:srgbClr val="C9D8F0"/>
                </a:solidFill>
                <a:latin typeface="Courier New"/>
              </a:rPr>
              <a:t>[ble] auth complete: encrypted=1 bonded=0</a:t>
            </a:r>
          </a:p>
          <a:p>
            <a:r>
              <a:rPr sz="1150">
                <a:solidFill>
                  <a:srgbClr val="FF9AA8"/>
                </a:solidFill>
                <a:latin typeface="Courier New"/>
              </a:rPr>
              <a:t>Write complete; status=261            &lt;- insufficient authentication: radio not in NO_PIN</a:t>
            </a:r>
          </a:p>
          <a:p>
            <a:r>
              <a:rPr sz="1150">
                <a:solidFill>
                  <a:srgbClr val="C9D8F0"/>
                </a:solidFill>
                <a:latin typeface="Courier New"/>
              </a:rPr>
              <a:t>[ble] want_config write failed</a:t>
            </a:r>
          </a:p>
          <a:p>
            <a:r>
              <a:rPr sz="1150">
                <a:solidFill>
                  <a:srgbClr val="C9D8F0"/>
                </a:solidFill>
                <a:latin typeface="Courier New"/>
              </a:rPr>
              <a:t>[ble] disconnected (reason 534)       &lt;- our side hung up, by design, to retry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4592" y="146304"/>
            <a:ext cx="11859768" cy="6565392"/>
          </a:xfrm>
          <a:prstGeom prst="rect">
            <a:avLst/>
          </a:prstGeom>
          <a:noFill/>
          <a:ln w="22225">
            <a:solidFill>
              <a:srgbClr val="16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6272784"/>
            <a:ext cx="11859768" cy="12700"/>
          </a:xfrm>
          <a:prstGeom prst="rect">
            <a:avLst/>
          </a:prstGeom>
          <a:solidFill>
            <a:srgbClr val="16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34593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E6B85"/>
                </a:solidFill>
                <a:latin typeface="Courier New"/>
              </a:rPr>
              <a:t>GROUP 9  |  OFF-GRID VEHICLE TRACKER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634593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E6B85"/>
                </a:solidFill>
                <a:latin typeface="Courier New"/>
              </a:rPr>
              <a:t>PART I - THE FAILURES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6345936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E6B85"/>
                </a:solidFill>
                <a:latin typeface="Courier New"/>
              </a:rPr>
              <a:t>SHEET 11/16  REV A  2026-10-24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918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 i="0" spc="200">
                <a:solidFill>
                  <a:srgbClr val="16213D"/>
                </a:solidFill>
                <a:latin typeface="Cambria"/>
              </a:rPr>
              <a:t>EVERY FAILURE BECAME A RULE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188720"/>
          <a:ext cx="111556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120640"/>
                <a:gridCol w="3291840"/>
              </a:tblGrid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Failure</a:t>
                      </a:r>
                    </a:p>
                  </a:txBody>
                  <a:tcPr marL="73152" marR="73152" marT="27432" marB="27432">
                    <a:solidFill>
                      <a:srgbClr val="16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Rule or feature it produced</a:t>
                      </a:r>
                    </a:p>
                  </a:txBody>
                  <a:tcPr marL="73152" marR="73152" marT="27432" marB="27432">
                    <a:solidFill>
                      <a:srgbClr val="16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Where it lives now</a:t>
                      </a:r>
                    </a:p>
                  </a:txBody>
                  <a:tcPr marL="73152" marR="73152" marT="27432" marB="27432">
                    <a:solidFill>
                      <a:srgbClr val="16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Boot-loop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pioarduino + dio_opi; vendor IDF config is ground truth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platformio.ini, manual 14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Bonded radio invisible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Just-Works pairing, no stored bond, one teardown path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ble_link.cpp, manual 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First-drive faults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Precision 32, 10 s GPS, km/h decode, deadband; validate on the road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Provisioning recipe, node_table.cpp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Wrong flash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Identify by MAC before any upload; never auto-pick a port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Manual 14.2 fleet table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Lying CLI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Read back every write; the OLED outranks the CLI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Manual 16, entry 6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Silent frequency revert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Pre-flight: both OLEDs read 912.875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User guide 3, manual 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Battery death reverts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Config snapshots; re-run the whole block; never store flat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hardware/*-config.yaml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Hand-rotated compass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Course-up compass; cadence-aware staleness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ui_render.cpp, manual 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Night before the canyon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Flashlight test, plug orientation, the 261 signature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Manual 16, entries 9-10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4592" y="146304"/>
            <a:ext cx="11859768" cy="6565392"/>
          </a:xfrm>
          <a:prstGeom prst="rect">
            <a:avLst/>
          </a:prstGeom>
          <a:noFill/>
          <a:ln w="22225">
            <a:solidFill>
              <a:srgbClr val="16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6272784"/>
            <a:ext cx="11859768" cy="12700"/>
          </a:xfrm>
          <a:prstGeom prst="rect">
            <a:avLst/>
          </a:prstGeom>
          <a:solidFill>
            <a:srgbClr val="16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34593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E6B85"/>
                </a:solidFill>
                <a:latin typeface="Courier New"/>
              </a:rPr>
              <a:t>GROUP 9  |  OFF-GRID VEHICLE TRACKER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634593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E6B85"/>
                </a:solidFill>
                <a:latin typeface="Courier New"/>
              </a:rPr>
              <a:t>PART II - THE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6345936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E6B85"/>
                </a:solidFill>
                <a:latin typeface="Courier New"/>
              </a:rPr>
              <a:t>SHEET 12/16  REV A  2026-10-24</a:t>
            </a:r>
          </a:p>
        </p:txBody>
      </p:sp>
      <p:sp>
        <p:nvSpPr>
          <p:cNvPr id="7" name="Rectangle 6"/>
          <p:cNvSpPr/>
          <p:nvPr/>
        </p:nvSpPr>
        <p:spPr>
          <a:xfrm>
            <a:off x="9646920" y="347472"/>
            <a:ext cx="214884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D94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402336"/>
            <a:ext cx="21488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D9488C"/>
                </a:solidFill>
                <a:latin typeface="Courier New"/>
              </a:rPr>
              <a:t>OWNER: CANNON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 i="0" spc="200">
                <a:solidFill>
                  <a:srgbClr val="16213D"/>
                </a:solidFill>
                <a:latin typeface="Cambria"/>
              </a:rPr>
              <a:t>THE TEST CAMPAIGNS SO FAR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188720"/>
          <a:ext cx="111556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194560"/>
                <a:gridCol w="1920240"/>
                <a:gridCol w="6035040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Date</a:t>
                      </a:r>
                    </a:p>
                  </a:txBody>
                  <a:tcPr marL="73152" marR="73152" marT="27432" marB="27432">
                    <a:solidFill>
                      <a:srgbClr val="16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Campaign</a:t>
                      </a:r>
                    </a:p>
                  </a:txBody>
                  <a:tcPr marL="73152" marR="73152" marT="27432" marB="27432">
                    <a:solidFill>
                      <a:srgbClr val="16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Environment</a:t>
                      </a:r>
                    </a:p>
                  </a:txBody>
                  <a:tcPr marL="73152" marR="73152" marT="27432" marB="27432">
                    <a:solidFill>
                      <a:srgbClr val="16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Key result</a:t>
                      </a:r>
                    </a:p>
                  </a:txBody>
                  <a:tcPr marL="73152" marR="73152" marT="27432" marB="27432">
                    <a:solidFill>
                      <a:srgbClr val="16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Aug 31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Bench, end-to-end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Desk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Live GPS decoded radio-to-display; link held across the room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Sep 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First drive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Town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Pipeline works at speed; five faults found (sheet 5)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Sep 25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Two-radio link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Desk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Round-trip traceroute 6.75 / 5.75 dB after the slot fix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Oct 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Night convoy drive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Town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Stale onset ~0.5 mi; course-up and cadence-aware cue born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Oct 5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Open-road range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Flat farm road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Full tracking to 3.26 mi; stale edge 3.75 mi; auto-reacquisition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Oct 18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Canyon range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Ceta Canyon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Stale from 1.29 mi; packet at 4.28; 7-min outage healed; rim antenna 4.7 mi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pending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New Mexico maximum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Open highway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A3F"/>
                          </a:solidFill>
                          <a:latin typeface="Cambria"/>
                        </a:rPr>
                        <a:t>Prediction: beats 3.75 mi - to be added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4592" y="146304"/>
            <a:ext cx="11859768" cy="6565392"/>
          </a:xfrm>
          <a:prstGeom prst="rect">
            <a:avLst/>
          </a:prstGeom>
          <a:noFill/>
          <a:ln w="22225">
            <a:solidFill>
              <a:srgbClr val="16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6272784"/>
            <a:ext cx="11859768" cy="12700"/>
          </a:xfrm>
          <a:prstGeom prst="rect">
            <a:avLst/>
          </a:prstGeom>
          <a:solidFill>
            <a:srgbClr val="16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34593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E6B85"/>
                </a:solidFill>
                <a:latin typeface="Courier New"/>
              </a:rPr>
              <a:t>GROUP 9  |  OFF-GRID VEHICLE TRACKER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634593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E6B85"/>
                </a:solidFill>
                <a:latin typeface="Courier New"/>
              </a:rPr>
              <a:t>PART II - THE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6345936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E6B85"/>
                </a:solidFill>
                <a:latin typeface="Courier New"/>
              </a:rPr>
              <a:t>SHEET 13/16  REV A  2026-10-24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918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 i="0" spc="200">
                <a:solidFill>
                  <a:srgbClr val="16213D"/>
                </a:solidFill>
                <a:latin typeface="Cambria"/>
              </a:rPr>
              <a:t>WHAT THE RANGE TESTS MEASURED</a:t>
            </a:r>
          </a:p>
        </p:txBody>
      </p:sp>
      <p:pic>
        <p:nvPicPr>
          <p:cNvPr id="8" name="Picture 7" descr="g_onset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280160"/>
            <a:ext cx="9052560" cy="40547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8521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5E6B85"/>
                </a:solidFill>
                <a:latin typeface="Courier New"/>
              </a:rPr>
              <a:t>SAME RADIOS, FOUR GEOMETRIES: 0.5 MI TO 4.7 MI. TERRAIN AND ANTENNA HEIGHT SET THE RANGE, NOT THE HARDWARE.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4592" y="146304"/>
            <a:ext cx="11859768" cy="6565392"/>
          </a:xfrm>
          <a:prstGeom prst="rect">
            <a:avLst/>
          </a:prstGeom>
          <a:noFill/>
          <a:ln w="22225">
            <a:solidFill>
              <a:srgbClr val="16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6272784"/>
            <a:ext cx="11859768" cy="12700"/>
          </a:xfrm>
          <a:prstGeom prst="rect">
            <a:avLst/>
          </a:prstGeom>
          <a:solidFill>
            <a:srgbClr val="16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34593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E6B85"/>
                </a:solidFill>
                <a:latin typeface="Courier New"/>
              </a:rPr>
              <a:t>GROUP 9  |  OFF-GRID VEHICLE TRACKER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634593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E6B85"/>
                </a:solidFill>
                <a:latin typeface="Courier New"/>
              </a:rPr>
              <a:t>PART II - THE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6345936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E6B85"/>
                </a:solidFill>
                <a:latin typeface="Courier New"/>
              </a:rPr>
              <a:t>SHEET 14/16  REV A  2026-10-24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918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 i="0" spc="200">
                <a:solidFill>
                  <a:srgbClr val="16213D"/>
                </a:solidFill>
                <a:latin typeface="Cambria"/>
              </a:rPr>
              <a:t>THE HARDEST TEST: CETA CANYON, OCTOBER 18</a:t>
            </a:r>
          </a:p>
        </p:txBody>
      </p:sp>
      <p:pic>
        <p:nvPicPr>
          <p:cNvPr id="8" name="Picture 7" descr="g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88720"/>
            <a:ext cx="7315200" cy="36576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046720" y="1188720"/>
            <a:ext cx="3657600" cy="3291840"/>
          </a:xfrm>
          <a:prstGeom prst="rect">
            <a:avLst/>
          </a:prstGeom>
          <a:solidFill>
            <a:srgbClr val="F2F5FA"/>
          </a:solidFill>
          <a:ln w="15875">
            <a:solidFill>
              <a:srgbClr val="16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1307592"/>
            <a:ext cx="3328416" cy="3054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spc="100">
                <a:solidFill>
                  <a:srgbClr val="16213D"/>
                </a:solidFill>
                <a:latin typeface="Cambria"/>
              </a:rPr>
              <a:t>WHAT IT PROVED</a:t>
            </a:r>
          </a:p>
          <a:p>
            <a:r>
              <a:rPr sz="1150">
                <a:solidFill>
                  <a:srgbClr val="222A3F"/>
                </a:solidFill>
                <a:latin typeface="Cambria"/>
              </a:rPr>
              <a:t>Behind rock the link is intermittent at any distance: stale from 1.29 mi, yet a packet landed at 4.28 mi through a gap. The longest silence ran seven minutes and was healed by one packet with no operator action. Both radios audited clean afterward: terrain, not hardware. The rim antenna held 4.7 mi - the quantitative case for the repeater.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4592" y="146304"/>
            <a:ext cx="11859768" cy="6565392"/>
          </a:xfrm>
          <a:prstGeom prst="rect">
            <a:avLst/>
          </a:prstGeom>
          <a:noFill/>
          <a:ln w="22225">
            <a:solidFill>
              <a:srgbClr val="16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6272784"/>
            <a:ext cx="11859768" cy="12700"/>
          </a:xfrm>
          <a:prstGeom prst="rect">
            <a:avLst/>
          </a:prstGeom>
          <a:solidFill>
            <a:srgbClr val="16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34593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E6B85"/>
                </a:solidFill>
                <a:latin typeface="Courier New"/>
              </a:rPr>
              <a:t>GROUP 9  |  OFF-GRID VEHICLE TRACKER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634593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E6B85"/>
                </a:solidFill>
                <a:latin typeface="Courier New"/>
              </a:rPr>
              <a:t>PART II - THE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6345936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E6B85"/>
                </a:solidFill>
                <a:latin typeface="Courier New"/>
              </a:rPr>
              <a:t>SHEET 15/16  REV A  2026-10-24</a:t>
            </a:r>
          </a:p>
        </p:txBody>
      </p:sp>
      <p:sp>
        <p:nvSpPr>
          <p:cNvPr id="7" name="Rectangle 6"/>
          <p:cNvSpPr/>
          <p:nvPr/>
        </p:nvSpPr>
        <p:spPr>
          <a:xfrm>
            <a:off x="9646920" y="347472"/>
            <a:ext cx="214884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E58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402336"/>
            <a:ext cx="21488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E58E1A"/>
                </a:solidFill>
                <a:latin typeface="Courier New"/>
              </a:rPr>
              <a:t>OWNER: VICTOR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 i="0" spc="200">
                <a:solidFill>
                  <a:srgbClr val="16213D"/>
                </a:solidFill>
                <a:latin typeface="Cambria"/>
              </a:rPr>
              <a:t>NEW MEXICO MAXIMUM-RANGE TEST - RESULTS PENDING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155680" cy="4663440"/>
          </a:xfrm>
          <a:prstGeom prst="rect">
            <a:avLst/>
          </a:prstGeom>
          <a:solidFill>
            <a:srgbClr val="F2F5FA"/>
          </a:solidFill>
          <a:ln w="15875">
            <a:solidFill>
              <a:srgbClr val="9AA7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41732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spc="100">
                <a:solidFill>
                  <a:srgbClr val="E58E1A"/>
                </a:solidFill>
                <a:latin typeface="Cambria"/>
              </a:rPr>
              <a:t>EXPERIMENT A - TO BE COMPLETED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92024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22A3F"/>
                </a:solidFill>
                <a:latin typeface="Cambria"/>
              </a:rPr>
              <a:t>Flat highway, clear Fresnel zone, drive until the catches stop. Prediction written before the test: beats the 3.75 mi flat-ground edge; with any elevation on one end, approaches the 4.7 mi rim figure or better.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31520" y="2880360"/>
          <a:ext cx="106984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377440"/>
                <a:gridCol w="2377440"/>
                <a:gridCol w="301752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mbria"/>
                        </a:rPr>
                        <a:t>Measurement</a:t>
                      </a:r>
                    </a:p>
                  </a:txBody>
                  <a:tcPr marL="73152" marR="73152" marT="27432" marB="27432">
                    <a:solidFill>
                      <a:srgbClr val="16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mbria"/>
                        </a:rPr>
                        <a:t>Open road (10-05)</a:t>
                      </a:r>
                    </a:p>
                  </a:txBody>
                  <a:tcPr marL="73152" marR="73152" marT="27432" marB="27432">
                    <a:solidFill>
                      <a:srgbClr val="16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mbria"/>
                        </a:rPr>
                        <a:t>Canyon (10-18)</a:t>
                      </a:r>
                    </a:p>
                  </a:txBody>
                  <a:tcPr marL="73152" marR="73152" marT="27432" marB="27432">
                    <a:solidFill>
                      <a:srgbClr val="16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mbria"/>
                        </a:rPr>
                        <a:t>New Mexico</a:t>
                      </a:r>
                    </a:p>
                  </a:txBody>
                  <a:tcPr marL="73152" marR="73152" marT="27432" marB="27432">
                    <a:solidFill>
                      <a:srgbClr val="16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A3F"/>
                          </a:solidFill>
                          <a:latin typeface="Cambria"/>
                        </a:rPr>
                        <a:t>Full-health range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A3F"/>
                          </a:solidFill>
                          <a:latin typeface="Cambria"/>
                        </a:rPr>
                        <a:t>3.26 mi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A3F"/>
                          </a:solidFill>
                          <a:latin typeface="Cambria"/>
                        </a:rPr>
                        <a:t>4.7 mi (rim LOS)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A3F"/>
                          </a:solidFill>
                          <a:latin typeface="Cambria"/>
                        </a:rPr>
                        <a:t>____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A3F"/>
                          </a:solidFill>
                          <a:latin typeface="Cambria"/>
                        </a:rPr>
                        <a:t>First staleness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A3F"/>
                          </a:solidFill>
                          <a:latin typeface="Cambria"/>
                        </a:rPr>
                        <a:t>3.75 mi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A3F"/>
                          </a:solidFill>
                          <a:latin typeface="Cambria"/>
                        </a:rPr>
                        <a:t>1.29 mi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A3F"/>
                          </a:solidFill>
                          <a:latin typeface="Cambria"/>
                        </a:rPr>
                        <a:t>____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A3F"/>
                          </a:solidFill>
                          <a:latin typeface="Cambria"/>
                        </a:rPr>
                        <a:t>Longest silence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A3F"/>
                          </a:solidFill>
                          <a:latin typeface="Cambria"/>
                        </a:rPr>
                        <a:t>~2 min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A3F"/>
                          </a:solidFill>
                          <a:latin typeface="Cambria"/>
                        </a:rPr>
                        <a:t>7 min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A3F"/>
                          </a:solidFill>
                          <a:latin typeface="Cambria"/>
                        </a:rPr>
                        <a:t>____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A3F"/>
                          </a:solidFill>
                          <a:latin typeface="Cambria"/>
                        </a:rPr>
                        <a:t>Reacquired by (inbound)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A3F"/>
                          </a:solidFill>
                          <a:latin typeface="Cambria"/>
                        </a:rPr>
                        <a:t>0.85 mi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A3F"/>
                          </a:solidFill>
                          <a:latin typeface="Cambria"/>
                        </a:rPr>
                        <a:t>2.90 mi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A3F"/>
                          </a:solidFill>
                          <a:latin typeface="Cambria"/>
                        </a:rPr>
                        <a:t>____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A3F"/>
                          </a:solidFill>
                          <a:latin typeface="Cambria"/>
                        </a:rPr>
                        <a:t>Pre-test audit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A3F"/>
                          </a:solidFill>
                          <a:latin typeface="Cambria"/>
                        </a:rPr>
                        <a:t>clean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A3F"/>
                          </a:solidFill>
                          <a:latin typeface="Cambria"/>
                        </a:rPr>
                        <a:t>clean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A3F"/>
                          </a:solidFill>
                          <a:latin typeface="Cambria"/>
                        </a:rPr>
                        <a:t>SF re-provisioned 10-24 after revert</a:t>
                      </a:r>
                    </a:p>
                  </a:txBody>
                  <a:tcPr marL="73152" marR="73152" marT="27432" marB="27432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4592" y="146304"/>
            <a:ext cx="11859768" cy="6565392"/>
          </a:xfrm>
          <a:prstGeom prst="rect">
            <a:avLst/>
          </a:prstGeom>
          <a:noFill/>
          <a:ln w="22225">
            <a:solidFill>
              <a:srgbClr val="16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6272784"/>
            <a:ext cx="11859768" cy="12700"/>
          </a:xfrm>
          <a:prstGeom prst="rect">
            <a:avLst/>
          </a:prstGeom>
          <a:solidFill>
            <a:srgbClr val="16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34593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E6B85"/>
                </a:solidFill>
                <a:latin typeface="Courier New"/>
              </a:rPr>
              <a:t>GROUP 9  |  OFF-GRID VEHICLE TRACKER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634593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E6B85"/>
                </a:solidFill>
                <a:latin typeface="Courier New"/>
              </a:rPr>
              <a:t>PART II - THE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6345936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E6B85"/>
                </a:solidFill>
                <a:latin typeface="Courier New"/>
              </a:rPr>
              <a:t>SHEET 16/16  REV A  2026-10-24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918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 i="0" spc="200">
                <a:solidFill>
                  <a:srgbClr val="16213D"/>
                </a:solidFill>
                <a:latin typeface="Cambria"/>
              </a:rPr>
              <a:t>WHAT THE FAILURES BOUGHT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3337560" cy="2148840"/>
          </a:xfrm>
          <a:prstGeom prst="rect">
            <a:avLst/>
          </a:prstGeom>
          <a:solidFill>
            <a:srgbClr val="F2F5FA"/>
          </a:solidFill>
          <a:ln w="12700">
            <a:solidFill>
              <a:srgbClr val="9AA7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1732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E58E1A"/>
                </a:solidFill>
                <a:latin typeface="Cambria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58568"/>
            <a:ext cx="288036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222A3F"/>
                </a:solidFill>
                <a:latin typeface="Cambria"/>
              </a:rPr>
              <a:t>root-caused failures, each with a written signature and recovery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234440"/>
            <a:ext cx="3337560" cy="2148840"/>
          </a:xfrm>
          <a:prstGeom prst="rect">
            <a:avLst/>
          </a:prstGeom>
          <a:solidFill>
            <a:srgbClr val="F2F5FA"/>
          </a:solidFill>
          <a:ln w="12700">
            <a:solidFill>
              <a:srgbClr val="9AA7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41732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E58E1A"/>
                </a:solidFill>
                <a:latin typeface="Cambria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258568"/>
            <a:ext cx="288036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222A3F"/>
                </a:solidFill>
                <a:latin typeface="Cambria"/>
              </a:rPr>
              <a:t>rules or features that exist only because something broke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66760" y="1234440"/>
            <a:ext cx="3337560" cy="2148840"/>
          </a:xfrm>
          <a:prstGeom prst="rect">
            <a:avLst/>
          </a:prstGeom>
          <a:solidFill>
            <a:srgbClr val="F2F5FA"/>
          </a:solidFill>
          <a:ln w="12700">
            <a:solidFill>
              <a:srgbClr val="9AA7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141732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E58E1A"/>
                </a:solidFill>
                <a:latin typeface="Cambria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2258568"/>
            <a:ext cx="288036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222A3F"/>
                </a:solidFill>
                <a:latin typeface="Cambria"/>
              </a:rPr>
              <a:t>reflashes needed for any configuration failure - all are re-provisioning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611880"/>
            <a:ext cx="3337560" cy="2148840"/>
          </a:xfrm>
          <a:prstGeom prst="rect">
            <a:avLst/>
          </a:prstGeom>
          <a:solidFill>
            <a:srgbClr val="F2F5FA"/>
          </a:solidFill>
          <a:ln w="12700">
            <a:solidFill>
              <a:srgbClr val="9AA7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E58E1A"/>
                </a:solidFill>
                <a:latin typeface="Cambria"/>
              </a:rPr>
              <a:t>90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636008"/>
            <a:ext cx="288036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222A3F"/>
                </a:solidFill>
                <a:latin typeface="Cambria"/>
              </a:rPr>
              <a:t>to recover a fully reverted radio today, versus a lost morning in September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34840" y="3611880"/>
            <a:ext cx="3337560" cy="2148840"/>
          </a:xfrm>
          <a:prstGeom prst="rect">
            <a:avLst/>
          </a:prstGeom>
          <a:solidFill>
            <a:srgbClr val="F2F5FA"/>
          </a:solidFill>
          <a:ln w="12700">
            <a:solidFill>
              <a:srgbClr val="9AA7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E58E1A"/>
                </a:solidFill>
                <a:latin typeface="Cambria"/>
              </a:rPr>
              <a:t>2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4636008"/>
            <a:ext cx="288036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222A3F"/>
                </a:solidFill>
                <a:latin typeface="Cambria"/>
              </a:rPr>
              <a:t>pre-flight check that would have caught every field-day failure so far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66760" y="3611880"/>
            <a:ext cx="3337560" cy="2148840"/>
          </a:xfrm>
          <a:prstGeom prst="rect">
            <a:avLst/>
          </a:prstGeom>
          <a:solidFill>
            <a:srgbClr val="F2F5FA"/>
          </a:solidFill>
          <a:ln w="12700">
            <a:solidFill>
              <a:srgbClr val="9AA7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76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E58E1A"/>
                </a:solidFill>
                <a:latin typeface="Cambria"/>
              </a:rPr>
              <a:t>4.7 mi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4636008"/>
            <a:ext cx="288036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222A3F"/>
                </a:solidFill>
                <a:latin typeface="Cambria"/>
              </a:rPr>
              <a:t>measured reach, with the honest envelope 0.5-4.7 mi by terrain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852160"/>
            <a:ext cx="11155680" cy="365760"/>
          </a:xfrm>
          <a:prstGeom prst="rect">
            <a:avLst/>
          </a:prstGeom>
          <a:solidFill>
            <a:srgbClr val="16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907024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mbria"/>
              </a:rPr>
              <a:t>EVERY FAILURE BECAME A RULE; EVERY RULE BECAME A TEST.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