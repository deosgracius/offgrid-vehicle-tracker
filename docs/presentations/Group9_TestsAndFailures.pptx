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thesis: a system is only as deployable as its failures are diagnosable. This deck is the evidence that ours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this is not a list of embarrassments, it is the verification record of a system that is honest about itself. Ten failures, ten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it left to right. Note how failures cluster right before tests - and how the same villain, battery death, returns three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one. None of these were in any datasheet. The boot-loop alone cost a day and taught us to trust the vendor's ESP-IDF config over its Arduino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faults, one drive. Every one invisible on the bench. This is why we drove six more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identity rule and the verification rule. Both sound obvious; both were learned by losing a radio for an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2 of the project - the name IS the frequency - was learned here. The debug ladder: config diff, matched-power tests, traceroute, regression on the default channel, then the hash math exposed the slot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precise on stage: this is mitigated, not fixed. The corruption lives in the vendor firmware. Our contribution is that it went from a lost test morning to a non-event.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user-experience failures. Thirty seconds of night footage redesigned the main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independent faults in one evening, diagnosed in forty minutes because every one had a written signature. The test ran the next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the deck in one table: ten failures, ten rules, every rule with an address in the codebase or the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campaigns. Each one found something the previous one could not. The last row is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measured envelope. Every bar is a different day, same two radios, same settings - verified by post-test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 stale, green live. The 7:30 age reset is the finding: intermittent, not binary.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display track's own verification record: the links and the firmware were fine; the data they rendered was bad because the radios' GPS receivers were indoors. The graph is parsed straight from the archived serial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diagnostic as the morning's, run on both radios at 14:27 before the New Mexico drive. Two leftovers corrected and read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Reserved sheet. Fill the right-hand column from the screen footage when the drive is done; the pre-test audit row is already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numbers. The system is not one that never fails; it is one whose failures name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59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1328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39696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98063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56431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799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73167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31535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9903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48271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39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7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23376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81744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40112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98480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356848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15216" y="146304"/>
            <a:ext cx="6350" cy="612648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" y="146304"/>
            <a:ext cx="11859768" cy="635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4592" y="804672"/>
            <a:ext cx="11859768" cy="635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1463040"/>
            <a:ext cx="11859768" cy="635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4592" y="2121408"/>
            <a:ext cx="11859768" cy="635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" y="2779776"/>
            <a:ext cx="11859768" cy="635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4592" y="3438144"/>
            <a:ext cx="11859768" cy="635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592" y="4096511"/>
            <a:ext cx="11859768" cy="635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592" y="4754879"/>
            <a:ext cx="11859768" cy="635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592" y="5413247"/>
            <a:ext cx="11859768" cy="635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4592" y="6071615"/>
            <a:ext cx="11859768" cy="6350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TESTS AND FAILURES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01/18  REV A  2026-10-24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 spc="300">
                <a:solidFill>
                  <a:srgbClr val="16213D"/>
                </a:solidFill>
                <a:latin typeface="Cambria"/>
              </a:rPr>
              <a:t>WHAT BROKE, AND WHAT IT TAUGHT 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17556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 spc="100">
                <a:solidFill>
                  <a:srgbClr val="E58E1A"/>
                </a:solidFill>
                <a:latin typeface="Cambria"/>
              </a:rPr>
              <a:t>THE TEST AND FAILURE RECORD, AUGUST TO OCTOBER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33172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A3F"/>
                </a:solidFill>
                <a:latin typeface="Cambria"/>
              </a:rPr>
              <a:t>Ten root-caused failures, four field campaigns, and the rules each one left behind. Every entry here happened on this hardware and was reproduced or root-caused before it was written down. The New Mexico drive test will be added when it is complete.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657600"/>
            <a:ext cx="39319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A3F"/>
                </a:solidFill>
                <a:latin typeface="Courier New"/>
              </a:rPr>
              <a:t>Deo Grace Mwala
Josiah Horn
Victor Okwonna
Cannon Thomas
Sponsor: Dr. Richard Gale
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 - THE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02/18  REV A  2026-10-24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WHY THE FAILURES ARE THE DELIVERABLE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1155680" cy="1417320"/>
          </a:xfrm>
          <a:prstGeom prst="rect">
            <a:avLst/>
          </a:prstGeom>
          <a:solidFill>
            <a:srgbClr val="F2F5FA"/>
          </a:solidFill>
          <a:ln w="1587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53312"/>
            <a:ext cx="1082649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spc="100">
                <a:solidFill>
                  <a:srgbClr val="16213D"/>
                </a:solidFill>
                <a:latin typeface="Cambria"/>
              </a:rPr>
              <a:t>A FAILURE IS ONLY USEFUL ONCE IT HAS A SIGNATURE</a:t>
            </a:r>
          </a:p>
          <a:p>
            <a:r>
              <a:rPr sz="1300">
                <a:solidFill>
                  <a:srgbClr val="222A3F"/>
                </a:solidFill>
                <a:latin typeface="Cambria"/>
              </a:rPr>
              <a:t>Every entry in our catalog records the symptom, the root cause, and the recovery, so the next person recognizes it in minutes, not days. A failure that was merely survived is a failure that will happen again; one with a written signature is a test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07208"/>
            <a:ext cx="11155680" cy="1417320"/>
          </a:xfrm>
          <a:prstGeom prst="rect">
            <a:avLst/>
          </a:prstGeom>
          <a:solidFill>
            <a:srgbClr val="F2F5FA"/>
          </a:solidFill>
          <a:ln w="1587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926080"/>
            <a:ext cx="1082649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spc="100">
                <a:solidFill>
                  <a:srgbClr val="16213D"/>
                </a:solidFill>
                <a:latin typeface="Cambria"/>
              </a:rPr>
              <a:t>EACH FAILURE PRODUCED A RULE OR A FEATURE</a:t>
            </a:r>
          </a:p>
          <a:p>
            <a:r>
              <a:rPr sz="1300">
                <a:solidFill>
                  <a:srgbClr val="222A3F"/>
                </a:solidFill>
                <a:latin typeface="Cambria"/>
              </a:rPr>
              <a:t>Pre-flight checks, cadence-aware alarms, the course-up compass, the config snapshot, the LINK LOST alarm: none were in the original plan. All came from something breaking on a bench, on a road, or on a canyon rim, and all are now in the manuals.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79976"/>
            <a:ext cx="11155680" cy="1417320"/>
          </a:xfrm>
          <a:prstGeom prst="rect">
            <a:avLst/>
          </a:prstGeom>
          <a:solidFill>
            <a:srgbClr val="F2F5FA"/>
          </a:solidFill>
          <a:ln w="1587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498848"/>
            <a:ext cx="1082649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spc="100">
                <a:solidFill>
                  <a:srgbClr val="16213D"/>
                </a:solidFill>
                <a:latin typeface="Cambria"/>
              </a:rPr>
              <a:t>FIELD EQUIPMENT FAILS BETWEEN OUTINGS</a:t>
            </a:r>
          </a:p>
          <a:p>
            <a:r>
              <a:rPr sz="1300">
                <a:solidFill>
                  <a:srgbClr val="222A3F"/>
                </a:solidFill>
                <a:latin typeface="Cambria"/>
              </a:rPr>
              <a:t>The question is never whether; it is whether the team can diagnose it on a canyon rim with a phone. Three of ten failures struck the night before a test, and every one was cleared in time because the signature had already been written 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 - THE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03/18  REV A  2026-10-24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THE SEMESTER ON ONE LINE</a:t>
            </a:r>
          </a:p>
        </p:txBody>
      </p:sp>
      <p:pic>
        <p:nvPicPr>
          <p:cNvPr id="8" name="Picture 7" descr="g_fail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47327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E6B85"/>
                </a:solidFill>
                <a:latin typeface="Courier New"/>
              </a:rPr>
              <a:t>RED: FAILURES, ROOT-CAUSED.  GREEN: TESTS.  THE HOLLOW TRIANGLE IS NEW MEXICO, PENDING.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 - THE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04/18  REV A  2026-10-24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347472"/>
            <a:ext cx="214884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9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402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199BD"/>
                </a:solidFill>
                <a:latin typeface="Courier New"/>
              </a:rPr>
              <a:t>OWNER: 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FAILURES 1-3: BRING-UP, AUGUST 30-31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657600" cy="2240280"/>
          </a:xfrm>
          <a:prstGeom prst="rect">
            <a:avLst/>
          </a:prstGeom>
          <a:solidFill>
            <a:srgbClr val="F2F5FA"/>
          </a:solidFill>
          <a:ln w="15875">
            <a:solidFill>
              <a:srgbClr val="C4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353312"/>
            <a:ext cx="3328416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C43A4B"/>
                </a:solidFill>
                <a:latin typeface="Cambria"/>
              </a:rPr>
              <a:t>1. THE DISPLAY BOOT-LOOPED SILENTLY</a:t>
            </a:r>
          </a:p>
          <a:p>
            <a:r>
              <a:rPr sz="1250">
                <a:solidFill>
                  <a:srgbClr val="222A3F"/>
                </a:solidFill>
                <a:latin typeface="Cambria"/>
              </a:rPr>
              <a:t>The official espressif32 platform (Arduino core 2.x) boot-loops this panel's chip revision. Fix: the pioarduino platform, dio_opi memory, dio flash mode. One full day to find.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234440"/>
            <a:ext cx="3657600" cy="2240280"/>
          </a:xfrm>
          <a:prstGeom prst="rect">
            <a:avLst/>
          </a:prstGeom>
          <a:solidFill>
            <a:srgbClr val="F2F5FA"/>
          </a:solidFill>
          <a:ln w="15875">
            <a:solidFill>
              <a:srgbClr val="C4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3" y="1353312"/>
            <a:ext cx="3328416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C43A4B"/>
                </a:solidFill>
                <a:latin typeface="Cambria"/>
              </a:rPr>
              <a:t>2. A BONDED RADIO GOES INVISIBLE</a:t>
            </a:r>
          </a:p>
          <a:p>
            <a:r>
              <a:rPr sz="1250">
                <a:solidFill>
                  <a:srgbClr val="222A3F"/>
                </a:solidFill>
                <a:latin typeface="Cambria"/>
              </a:rPr>
              <a:t>Store a BLE bond and the Meshtastic radio stops advertising to everyone, including its own peer. Fix: pair Just-Works on every connect, never store a bond, never deleteAllBonds() at boot.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7304" y="1234440"/>
            <a:ext cx="3657600" cy="2240280"/>
          </a:xfrm>
          <a:prstGeom prst="rect">
            <a:avLst/>
          </a:prstGeom>
          <a:solidFill>
            <a:srgbClr val="F2F5FA"/>
          </a:solidFill>
          <a:ln w="15875">
            <a:solidFill>
              <a:srgbClr val="C4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353312"/>
            <a:ext cx="3328416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C43A4B"/>
                </a:solidFill>
                <a:latin typeface="Cambria"/>
              </a:rPr>
              <a:t>3. PIN PAIRING REJECTED US</a:t>
            </a:r>
          </a:p>
          <a:p>
            <a:r>
              <a:rPr sz="1250">
                <a:solidFill>
                  <a:srgbClr val="222A3F"/>
                </a:solidFill>
                <a:latin typeface="Cambria"/>
              </a:rPr>
              <a:t>Default RANDOM_PIN mode fails our keypad-less display (SM confirm mismatch, rc=1284). Fix: radios run NO_PIN. This same setting is what reverts in failures 8 and 10.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03320"/>
            <a:ext cx="11155680" cy="1463040"/>
          </a:xfrm>
          <a:prstGeom prst="rect">
            <a:avLst/>
          </a:prstGeom>
          <a:solidFill>
            <a:srgbClr val="F2F5FA"/>
          </a:solidFill>
          <a:ln w="15875">
            <a:solidFill>
              <a:srgbClr val="1F9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822191"/>
            <a:ext cx="10826496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1F9D68"/>
                </a:solidFill>
                <a:latin typeface="Cambria"/>
              </a:rPr>
              <a:t>WHAT THEY BOUGHT</a:t>
            </a:r>
          </a:p>
          <a:p>
            <a:r>
              <a:rPr sz="1200">
                <a:solidFill>
                  <a:srgbClr val="222A3F"/>
                </a:solidFill>
                <a:latin typeface="Cambria"/>
              </a:rPr>
              <a:t>The BLE link state machine with exactly one recovery path (any failure tears down to SCANNING), the ignition-on product flow, and the first entries of the scar catalog. The display has never wedged since.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 - THE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05/18  REV A  2026-10-24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347472"/>
            <a:ext cx="214884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6D4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402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D4BDB"/>
                </a:solidFill>
                <a:latin typeface="Courier New"/>
              </a:rPr>
              <a:t>OWNER: JOSIAH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FAILURE 4: THE FIRST DRIVE TEST, SEPTEMBER 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556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572000"/>
                <a:gridCol w="3291840"/>
              </a:tblGrid>
              <a:tr h="54863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Symptom on the road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Root cause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Fix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Partner position frozen on a 6 km grid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Channel default position_precision = 13 truncates every broadcast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Precision 32 (full) on the channel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~4 minutes of apparent latency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gps_update_interval default 120 s: fresh fixes only every two minutes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GPS interval 10 s, broadcast 10 s moving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Speeds wildly wrong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Position.ground_speed is km/h on the wire, not m/s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Decoder converts; display shows mph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Parked car shows 1-3 mph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GPS jitter reported as speed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4.5 km/h deadband in the node table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Clock an hour off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West Texas is Central time; the CT/MT line is not at -97.5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Timezone bands carried to the TX/NM border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22A3F"/>
                </a:solidFill>
                <a:latin typeface="Cambria"/>
              </a:rPr>
              <a:t>The lesson that outlived the fixes: windowsill tests cannot find any of these. Smart broadcast, GPS refresh, precision quantization and speed units only show while actually driving. Every later feature was validated on the road.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 - THE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06/18  REV A  2026-10-24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347472"/>
            <a:ext cx="214884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9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402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199BD"/>
                </a:solidFill>
                <a:latin typeface="Courier New"/>
              </a:rPr>
              <a:t>OWNER: 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FAILURES 5-6: WRONG FLASH, LYING CLI (SEP 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5486400" cy="2103120"/>
          </a:xfrm>
          <a:prstGeom prst="rect">
            <a:avLst/>
          </a:prstGeom>
          <a:solidFill>
            <a:srgbClr val="F2F5FA"/>
          </a:solidFill>
          <a:ln w="15875">
            <a:solidFill>
              <a:srgbClr val="C4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353312"/>
            <a:ext cx="51572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C43A4B"/>
                </a:solidFill>
                <a:latin typeface="Cambria"/>
              </a:rPr>
              <a:t>5. DISPLAY FIRMWARE FLASHED ONTO A RADIO</a:t>
            </a:r>
          </a:p>
          <a:p>
            <a:r>
              <a:rPr sz="1150">
                <a:solidFill>
                  <a:srgbClr val="222A3F"/>
                </a:solidFill>
                <a:latin typeface="Cambria"/>
              </a:rPr>
              <a:t>Both boards share USB ID 303A:1001; an auto-picked COM port put our firmware on the Heltec and erased Meshtastic. Seeing display logs proved nothing about WHICH board was flashed. Recovery: esptool erase, factory image, full re-provision. The node number survives (MAC-derived), so the display reconnected unchanged.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5486400" cy="2103120"/>
          </a:xfrm>
          <a:prstGeom prst="rect">
            <a:avLst/>
          </a:prstGeom>
          <a:solidFill>
            <a:srgbClr val="F2F5FA"/>
          </a:solidFill>
          <a:ln w="15875">
            <a:solidFill>
              <a:srgbClr val="C4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53312"/>
            <a:ext cx="51572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C43A4B"/>
                </a:solidFill>
                <a:latin typeface="Cambria"/>
              </a:rPr>
              <a:t>6. A CONFIG WRITE THAT SILENTLY REVERTED</a:t>
            </a:r>
          </a:p>
          <a:p>
            <a:r>
              <a:rPr sz="1150">
                <a:solidFill>
                  <a:srgbClr val="222A3F"/>
                </a:solidFill>
                <a:latin typeface="Cambria"/>
              </a:rPr>
              <a:t>The CLI's port-close toggles DTR/RTS, hard-resetting the ESP32 mid-save. The write 'succeeds'; the next read shows the old value. Reboot-triggering settings (region, Bluetooth mode) are the usual victims, and nothing on the radio's screen changes.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66160"/>
            <a:ext cx="11155680" cy="1645920"/>
          </a:xfrm>
          <a:prstGeom prst="rect">
            <a:avLst/>
          </a:prstGeom>
          <a:solidFill>
            <a:srgbClr val="F2F5FA"/>
          </a:solidFill>
          <a:ln w="15875">
            <a:solidFill>
              <a:srgbClr val="1F9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685032"/>
            <a:ext cx="10826496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1F9D68"/>
                </a:solidFill>
                <a:latin typeface="Cambria"/>
              </a:rPr>
              <a:t>RULES THAT CAME OUT OF IT</a:t>
            </a:r>
          </a:p>
          <a:p>
            <a:r>
              <a:rPr sz="1200">
                <a:solidFill>
                  <a:srgbClr val="222A3F"/>
                </a:solidFill>
                <a:latin typeface="Cambria"/>
              </a:rPr>
              <a:t>Identify every board by its MAC (SER=) before touching it - never let a tool pick the port. Verify every config write by read-back AND on the radio's own screen. For stubborn values, use the Python API holding the port open. Both rules are now steps in the manual's flashing procedure.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 - THE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07/18  REV A  2026-10-24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347472"/>
            <a:ext cx="214884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E58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402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58E1A"/>
                </a:solidFill>
                <a:latin typeface="Courier New"/>
              </a:rPr>
              <a:t>OWNER: VICTOR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FAILURE 7: "0 ONLINE", SAME CONFIGS (SEP 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5486400" cy="2286000"/>
          </a:xfrm>
          <a:prstGeom prst="rect">
            <a:avLst/>
          </a:prstGeom>
          <a:solidFill>
            <a:srgbClr val="F2F5FA"/>
          </a:solidFill>
          <a:ln w="15875">
            <a:solidFill>
              <a:srgbClr val="C4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353312"/>
            <a:ext cx="5157216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C43A4B"/>
                </a:solidFill>
                <a:latin typeface="Cambria"/>
              </a:rPr>
              <a:t>THE SYMPTOM</a:t>
            </a:r>
          </a:p>
          <a:p>
            <a:r>
              <a:rPr sz="1200">
                <a:solidFill>
                  <a:srgbClr val="222A3F"/>
                </a:solidFill>
                <a:latin typeface="Cambria"/>
              </a:rPr>
              <a:t>Two radios, same key, every config read-back identical, zero channel utilization, traceroute MAX_RETRANSMIT - total mutual silence. Every instrument said RF failure, and both radios' screens looked perfectly healthy.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5486400" cy="2286000"/>
          </a:xfrm>
          <a:prstGeom prst="rect">
            <a:avLst/>
          </a:prstGeom>
          <a:solidFill>
            <a:srgbClr val="F2F5FA"/>
          </a:solidFill>
          <a:ln w="15875">
            <a:solidFill>
              <a:srgbClr val="C4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53312"/>
            <a:ext cx="5157216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C43A4B"/>
                </a:solidFill>
                <a:latin typeface="Cambria"/>
              </a:rPr>
              <a:t>THE ROOT CAUSE</a:t>
            </a:r>
          </a:p>
          <a:p>
            <a:r>
              <a:rPr sz="1200">
                <a:solidFill>
                  <a:srgbClr val="222A3F"/>
                </a:solidFill>
                <a:latin typeface="Cambria"/>
              </a:rPr>
              <a:t>Meshtastic derives the frequency from a hash of the channel name: slot = djb2(name) mod 104. One channel write had silently reverted, so one radio sat on the public slot (906.875 MHz) and the other on Group9's slot 43 (912.875). Same key, different frequencies: nothing couples.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49039"/>
            <a:ext cx="11155680" cy="1463040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840479"/>
            <a:ext cx="10826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58E1A"/>
                </a:solidFill>
                <a:latin typeface="Courier New"/>
              </a:rPr>
              <a:t>THE TWO-SECOND PRE-FLIGHT THAT CAME OUT OF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33087"/>
            <a:ext cx="1082649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C9D8F0"/>
                </a:solidFill>
                <a:latin typeface="Courier New"/>
              </a:rPr>
              <a:t>Both OLED LoRa screens must read  912.875 MHz  before any test or drive.</a:t>
            </a:r>
          </a:p>
          <a:p>
            <a:r>
              <a:rPr sz="1150">
                <a:solidFill>
                  <a:srgbClr val="5E6B85"/>
                </a:solidFill>
                <a:latin typeface="Courier New"/>
              </a:rPr>
              <a:t>The screen is ground truth. The CLI can read back the intended config while the radio still radiates on the old slot.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 - THE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08/18  REV A  2026-10-24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347472"/>
            <a:ext cx="214884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9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402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199BD"/>
                </a:solidFill>
                <a:latin typeface="Courier New"/>
              </a:rPr>
              <a:t>OWNER: 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FAILURES 8-10: BATTERY DEATH REVERTS CONFIG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556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280160"/>
                <a:gridCol w="4937760"/>
                <a:gridCol w="3840480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Date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Radio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What reverted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How it was found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Sep 30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Both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RG: channels. SF: everything (channel, role, Bluetooth, telemetry, owner)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Healthy screens, total silence; peer missing from node tables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Oct 17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SF (EA:D4)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Bluetooth mode, channel (906.875), owner name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Display looping: encrypted=1 bonded=0, write rc=261, disconnect 534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Oct 24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SF (EA:D4)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Channel + key, precision, Bluetooth, cadence, owner, canned messages, node DB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Routine diagnostic before the New Mexico test; role survived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3703320"/>
            <a:ext cx="5486400" cy="2240280"/>
          </a:xfrm>
          <a:prstGeom prst="rect">
            <a:avLst/>
          </a:prstGeom>
          <a:solidFill>
            <a:srgbClr val="F2F5FA"/>
          </a:solidFill>
          <a:ln w="15875">
            <a:solidFill>
              <a:srgbClr val="E58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822191"/>
            <a:ext cx="5157216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E58E1A"/>
                </a:solidFill>
                <a:latin typeface="Cambria"/>
              </a:rPr>
              <a:t>MECHANISM - MITIGATED, NOT FIXED</a:t>
            </a:r>
          </a:p>
          <a:p>
            <a:r>
              <a:rPr sz="1200">
                <a:solidFill>
                  <a:srgbClr val="222A3F"/>
                </a:solidFill>
                <a:latin typeface="Cambria"/>
              </a:rPr>
              <a:t>A brownout mid-write corrupts the config records in flash; at the next boot the firmware substitutes compiled-in defaults and saves them. This happens inside stock Meshtastic, which we do not fork, so we cannot prevent it. What we did is make it cheap: detectable in seconds and recoverable in a minute, without a laptop reflash.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486400" cy="2240280"/>
          </a:xfrm>
          <a:prstGeom prst="rect">
            <a:avLst/>
          </a:prstGeom>
          <a:solidFill>
            <a:srgbClr val="F2F5FA"/>
          </a:solidFill>
          <a:ln w="15875">
            <a:solidFill>
              <a:srgbClr val="1F9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3822191"/>
            <a:ext cx="5157216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1F9D68"/>
                </a:solidFill>
                <a:latin typeface="Cambria"/>
              </a:rPr>
              <a:t>THE MITIGATION STACK</a:t>
            </a:r>
          </a:p>
          <a:p>
            <a:r>
              <a:rPr sz="1200">
                <a:solidFill>
                  <a:srgbClr val="222A3F"/>
                </a:solidFill>
                <a:latin typeface="Cambria"/>
              </a:rPr>
              <a:t>Detect in 2 s: the OLED pre-flight. Recover in 90 s: a full config snapshot per radio (--export-config / --configure) replaces the four-command recipe; the phone app's channel QR is the no-laptop path. Rule: re-run the WHOLE block, reverts come in batches. Never store a radio flat.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 - THE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09/18  REV A  2026-10-24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347472"/>
            <a:ext cx="214884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6D4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402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D4BDB"/>
                </a:solidFill>
                <a:latin typeface="Courier New"/>
              </a:rPr>
              <a:t>OWNER: JOSIAH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FAILURE 9: THE HAND-ROTATED COMPASS (OCT 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5486400" cy="2011680"/>
          </a:xfrm>
          <a:prstGeom prst="rect">
            <a:avLst/>
          </a:prstGeom>
          <a:solidFill>
            <a:srgbClr val="F2F5FA"/>
          </a:solidFill>
          <a:ln w="15875">
            <a:solidFill>
              <a:srgbClr val="C4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353312"/>
            <a:ext cx="515721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C43A4B"/>
                </a:solidFill>
                <a:latin typeface="Cambria"/>
              </a:rPr>
              <a:t>THE SYMPTOM</a:t>
            </a:r>
          </a:p>
          <a:p>
            <a:r>
              <a:rPr sz="1150">
                <a:solidFill>
                  <a:srgbClr val="222A3F"/>
                </a:solidFill>
                <a:latin typeface="Cambria"/>
              </a:rPr>
              <a:t>North-up ring at night: to read the arrow against the road the driver physically turned the unit - at which point nothing on it could be read. And the staleness cue alarmed at 59 s of perfectly normal silence from a parked partner.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5486400" cy="2011680"/>
          </a:xfrm>
          <a:prstGeom prst="rect">
            <a:avLst/>
          </a:prstGeom>
          <a:solidFill>
            <a:srgbClr val="F2F5FA"/>
          </a:solidFill>
          <a:ln w="15875">
            <a:solidFill>
              <a:srgbClr val="1F9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53312"/>
            <a:ext cx="515721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1F9D68"/>
                </a:solidFill>
                <a:latin typeface="Cambria"/>
              </a:rPr>
              <a:t>THE FIX, SHIPPED THE NEXT DAY</a:t>
            </a:r>
          </a:p>
          <a:p>
            <a:r>
              <a:rPr sz="1150">
                <a:solidFill>
                  <a:srgbClr val="222A3F"/>
                </a:solidFill>
                <a:latin typeface="Cambria"/>
              </a:rPr>
              <a:t>Course-up compass: the top of the ring is always straight ahead, cardinals rotate with the car, a nose mark at 12 o'clock, directions in clock positions. Cadence-aware staleness: 30 s for a moving partner, 90 s for a parked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74720"/>
            <a:ext cx="11155680" cy="1737360"/>
          </a:xfrm>
          <a:prstGeom prst="rect">
            <a:avLst/>
          </a:prstGeom>
          <a:solidFill>
            <a:srgbClr val="F2F5FA"/>
          </a:solidFill>
          <a:ln w="1587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593591"/>
            <a:ext cx="10826496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16213D"/>
                </a:solidFill>
                <a:latin typeface="Cambria"/>
              </a:rPr>
              <a:t>WHY IT BELONGS IN A FAILURE DECK</a:t>
            </a:r>
          </a:p>
          <a:p>
            <a:r>
              <a:rPr sz="1200">
                <a:solidFill>
                  <a:srgbClr val="222A3F"/>
                </a:solidFill>
                <a:latin typeface="Cambria"/>
              </a:rPr>
              <a:t>Neither change was a bug fix; both were design errors that only a real drive at night could expose. They were validated on the road the next day (dart at 12 o'clock at 37 mph) and have carried every test since. The honest-display philosophy was tested here first: a cue that cries wolf is as dishonest as one that stays silent.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 - THE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10/18  REV A  2026-10-24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347472"/>
            <a:ext cx="214884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9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402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199BD"/>
                </a:solidFill>
                <a:latin typeface="Courier New"/>
              </a:rPr>
              <a:t>OWNER: 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FAILURE 10: THE NIGHT BEFORE THE CANYON (OCT 17)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657600" cy="2011680"/>
          </a:xfrm>
          <a:prstGeom prst="rect">
            <a:avLst/>
          </a:prstGeom>
          <a:solidFill>
            <a:srgbClr val="F2F5FA"/>
          </a:solidFill>
          <a:ln w="15875">
            <a:solidFill>
              <a:srgbClr val="5E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353312"/>
            <a:ext cx="332841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5E6B85"/>
                </a:solidFill>
                <a:latin typeface="Cambria"/>
              </a:rPr>
              <a:t>DISPLAY 1 "DEAD"</a:t>
            </a:r>
          </a:p>
          <a:p>
            <a:r>
              <a:rPr sz="1250">
                <a:solidFill>
                  <a:srgbClr val="222A3F"/>
                </a:solidFill>
                <a:latin typeface="Cambria"/>
              </a:rPr>
              <a:t>Actually fine. Power banks shut off under the display's milliwatt draw, and a reflective screen in a dim room reads as off. Flashlight test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234440"/>
            <a:ext cx="3657600" cy="2011680"/>
          </a:xfrm>
          <a:prstGeom prst="rect">
            <a:avLst/>
          </a:prstGeom>
          <a:solidFill>
            <a:srgbClr val="F2F5FA"/>
          </a:solidFill>
          <a:ln w="15875">
            <a:solidFill>
              <a:srgbClr val="E58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3" y="1353312"/>
            <a:ext cx="332841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E58E1A"/>
                </a:solidFill>
                <a:latin typeface="Cambria"/>
              </a:rPr>
              <a:t>DISPLAY 2 HALF-DEAD USB-C</a:t>
            </a:r>
          </a:p>
          <a:p>
            <a:r>
              <a:rPr sz="1250">
                <a:solidFill>
                  <a:srgbClr val="222A3F"/>
                </a:solidFill>
                <a:latin typeface="Cambria"/>
              </a:rPr>
              <a:t>Powers in ONE plug orientation - damaged pins on one side. A coin-flip failure on every plug-in. Marked the working orientation; a repair item.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7304" y="1234440"/>
            <a:ext cx="3657600" cy="2011680"/>
          </a:xfrm>
          <a:prstGeom prst="rect">
            <a:avLst/>
          </a:prstGeom>
          <a:solidFill>
            <a:srgbClr val="F2F5FA"/>
          </a:solidFill>
          <a:ln w="15875">
            <a:solidFill>
              <a:srgbClr val="C4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353312"/>
            <a:ext cx="332841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C43A4B"/>
                </a:solidFill>
                <a:latin typeface="Cambria"/>
              </a:rPr>
              <a:t>RADIO EA:D4 REVERTED</a:t>
            </a:r>
          </a:p>
          <a:p>
            <a:r>
              <a:rPr sz="1250">
                <a:solidFill>
                  <a:srgbClr val="222A3F"/>
                </a:solidFill>
                <a:latin typeface="Cambria"/>
              </a:rPr>
              <a:t>A week idle, battery flat: Bluetooth mode, channel and name gone. The display's serial log named it in one line: write status 261, insufficient authentication.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11155680" cy="1691640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566160"/>
            <a:ext cx="10826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58E1A"/>
                </a:solidFill>
                <a:latin typeface="Courier New"/>
              </a:rPr>
              <a:t>DISPLAY SERIAL LOG - THE SIGNATURE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858768"/>
            <a:ext cx="1082649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C9D8F0"/>
                </a:solidFill>
                <a:latin typeface="Courier New"/>
              </a:rPr>
              <a:t>[ble] auth complete: encrypted=1 bonded=0</a:t>
            </a:r>
          </a:p>
          <a:p>
            <a:r>
              <a:rPr sz="1150">
                <a:solidFill>
                  <a:srgbClr val="FF9AA8"/>
                </a:solidFill>
                <a:latin typeface="Courier New"/>
              </a:rPr>
              <a:t>Write complete; status=261            &lt;- insufficient authentication: radio not in NO_PIN</a:t>
            </a:r>
          </a:p>
          <a:p>
            <a:r>
              <a:rPr sz="1150">
                <a:solidFill>
                  <a:srgbClr val="C9D8F0"/>
                </a:solidFill>
                <a:latin typeface="Courier New"/>
              </a:rPr>
              <a:t>[ble] want_config write failed</a:t>
            </a:r>
          </a:p>
          <a:p>
            <a:r>
              <a:rPr sz="1150">
                <a:solidFill>
                  <a:srgbClr val="C9D8F0"/>
                </a:solidFill>
                <a:latin typeface="Courier New"/>
              </a:rPr>
              <a:t>[ble] disconnected (reason 534)       &lt;- our side hung up, by design, to retry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 - THE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11/18  REV A  2026-10-24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EVERY FAILURE BECAME A RULE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120640"/>
                <a:gridCol w="329184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Failure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Rule or feature it produced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Where it lives now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Boot-loop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pioarduino + dio_opi; vendor IDF config is ground truth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platformio.ini, manual 14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Bonded radio invisible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Just-Works pairing, no stored bond, one teardown path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ble_link.cpp, manual 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First-drive faults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Precision 32, 10 s GPS, km/h decode, deadband; validate on the road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Provisioning recipe, node_table.cpp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Wrong flash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Identify by MAC before any upload; never auto-pick a port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Manual 14.2 fleet table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Lying CLI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Read back every write; the OLED outranks the CLI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Manual 16, entry 6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Silent frequency revert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Pre-flight: both OLEDs read 912.875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User guide 3, manual 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Battery death reverts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Config snapshots; re-run the whole block; never store flat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hardware/*-config.yaml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Hand-rotated compass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Course-up compass; cadence-aware staleness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ui_render.cpp, manual 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Night before the canyon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Flashlight test, plug orientation, the 261 signature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Manual 16, entries 9-10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II - THE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12/18  REV A  2026-10-24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347472"/>
            <a:ext cx="214884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D94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402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488C"/>
                </a:solidFill>
                <a:latin typeface="Courier New"/>
              </a:rPr>
              <a:t>OWNER: CANNON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THE TEST CAMPAIGNS SO FAR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8872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1920240"/>
                <a:gridCol w="603504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Date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Campaign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Environment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Key result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Aug 31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Bench, end-to-end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Desk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Live GPS decoded radio-to-display; link held across the room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Sep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First drive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Town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Pipeline works at speed; five faults found (sheet 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Sep 25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Two-radio link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Desk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Round-trip traceroute 6.75 / 5.75 dB after the slot fix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Oct 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Night convoy drive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Town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Stale onset ~0.5 mi; course-up and cadence-aware cue born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Oct 5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Open-road range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Flat farm road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Full tracking to 3.26 mi; stale edge 3.75 mi; auto-reacquisition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Oct 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Canyon range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Ceta Canyon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Stale from 1.29 mi; packet at 4.28; 7-min outage healed; rim antenna 4.7 mi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pending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New Mexico maximum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Open highway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Prediction: beats 3.75 mi - to be added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II - THE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13/18  REV A  2026-10-24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WHAT THE RANGE TESTS MEASURED</a:t>
            </a:r>
          </a:p>
        </p:txBody>
      </p:sp>
      <p:pic>
        <p:nvPicPr>
          <p:cNvPr id="8" name="Picture 7" descr="g_onse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280160"/>
            <a:ext cx="9052560" cy="4054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E6B85"/>
                </a:solidFill>
                <a:latin typeface="Courier New"/>
              </a:rPr>
              <a:t>SAME RADIOS, FOUR GEOMETRIES: 0.5 MI TO 4.7 MI. TERRAIN AND ANTENNA HEIGHT SET THE RANGE, NOT THE HARDWARE.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II - THE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14/18  REV A  2026-10-24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THE HARDEST TEST: CETA CANYON, OCTOBER 18</a:t>
            </a:r>
          </a:p>
        </p:txBody>
      </p:sp>
      <p:pic>
        <p:nvPicPr>
          <p:cNvPr id="8" name="Picture 7" descr="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731520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46720" y="1188720"/>
            <a:ext cx="3657600" cy="3291840"/>
          </a:xfrm>
          <a:prstGeom prst="rect">
            <a:avLst/>
          </a:prstGeom>
          <a:solidFill>
            <a:srgbClr val="F2F5FA"/>
          </a:solidFill>
          <a:ln w="1587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307592"/>
            <a:ext cx="3328416" cy="3054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spc="100">
                <a:solidFill>
                  <a:srgbClr val="16213D"/>
                </a:solidFill>
                <a:latin typeface="Cambria"/>
              </a:rPr>
              <a:t>WHAT IT PROVED</a:t>
            </a:r>
          </a:p>
          <a:p>
            <a:r>
              <a:rPr sz="1150">
                <a:solidFill>
                  <a:srgbClr val="222A3F"/>
                </a:solidFill>
                <a:latin typeface="Cambria"/>
              </a:rPr>
              <a:t>Behind rock the link is intermittent at any distance: stale from 1.29 mi, yet a packet landed at 4.28 mi through a gap. The longest silence ran seven minutes and was healed by one packet with no operator action. Both radios audited clean afterward: terrain, not hardware. The rim antenna held 4.7 mi - the quantitative case for the repeater.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II - THE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15/18  REV A  2026-10-24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347472"/>
            <a:ext cx="214884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9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402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199BD"/>
                </a:solidFill>
                <a:latin typeface="Courier New"/>
              </a:rPr>
              <a:t>OWNER: 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PRE-DRIVE DIAGNOSTIC, OCT 24: THE DISPLAYS</a:t>
            </a:r>
          </a:p>
        </p:txBody>
      </p:sp>
      <p:pic>
        <p:nvPicPr>
          <p:cNvPr id="10" name="Picture 9" descr="g_lcd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589520" cy="281546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75320" y="1143000"/>
            <a:ext cx="3429000" cy="2834640"/>
          </a:xfrm>
          <a:prstGeom prst="rect">
            <a:avLst/>
          </a:prstGeom>
          <a:solidFill>
            <a:srgbClr val="F2F5FA"/>
          </a:solidFill>
          <a:ln w="15875">
            <a:solidFill>
              <a:srgbClr val="1F9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261872"/>
            <a:ext cx="3099816" cy="2596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100">
                <a:solidFill>
                  <a:srgbClr val="1F9D68"/>
                </a:solidFill>
                <a:latin typeface="Cambria"/>
              </a:rPr>
              <a:t>WHAT THE SERIAL LOGS PROVED</a:t>
            </a:r>
          </a:p>
          <a:p>
            <a:r>
              <a:rPr sz="1100">
                <a:solidFill>
                  <a:srgbClr val="222A3F"/>
                </a:solidFill>
                <a:latin typeface="Cambria"/>
              </a:rPr>
              <a:t>Both displays booted clean, paired in under 8 s (encrypted=1 bonded=0, every config write status 0), completed the config dump, built the correct node table (SF/RG), and held the link at heartbeat state 3 with zero rescans. Display 1 again needed a USB-C plug flip before it enumerated.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60520"/>
            <a:ext cx="11201400" cy="1600200"/>
          </a:xfrm>
          <a:prstGeom prst="rect">
            <a:avLst/>
          </a:prstGeom>
          <a:solidFill>
            <a:srgbClr val="F2F5FA"/>
          </a:solidFill>
          <a:ln w="15875">
            <a:solidFill>
              <a:srgbClr val="C4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279392"/>
            <a:ext cx="10872216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100">
                <a:solidFill>
                  <a:srgbClr val="C43A4B"/>
                </a:solidFill>
                <a:latin typeface="Cambria"/>
              </a:rPr>
              <a:t>THE OBSERVATION: 0.21 MI BETWEEN TWO RADIOS ON ONE DESK</a:t>
            </a:r>
          </a:p>
          <a:p>
            <a:r>
              <a:rPr sz="1150">
                <a:solidFill>
                  <a:srgbClr val="222A3F"/>
                </a:solidFill>
                <a:latin typeface="Cambria"/>
              </a:rPr>
              <a:t>The displays were right and the GPS fixes were wrong. Indoors, SF's fix scattered 100 to 400 m between packets with 1.4 m/s of phantom speed; RG later reported a coherent 50 mph eastbound drive for a minute before snapping home. A marginal fix produces fake velocity, not just jitter, and dead reckoning faithfully projects it. Fixes shipped the same hour: the closing/apart line reads "holding" when both cars are parked; the distance stays honest. Rule: judge a bench distance only with sky 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II - THE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16/18  REV A  2026-10-24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347472"/>
            <a:ext cx="214884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9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402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199BD"/>
                </a:solidFill>
                <a:latin typeface="Courier New"/>
              </a:rPr>
              <a:t>OWNER: 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PRE-DRIVE DIAGNOSTIC, OCT 24: THE RADIOS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8872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389120"/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Check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SF (EA:D4)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RG (BB:5C)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Channel 0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Group9, 32-byte key, precision 32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Group9, 32-byte key, precision 32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Role / Bluetooth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CLIENT_MUTE / No PIN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CLIENT_MUTE / No PIN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Position cadence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60 s, smart 10 s / 20 m, GPS 10 s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60 s, smart 10 s / 20 m, GPS 10 s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Telemetry heartbeat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was OFF (leftover of the morning revert): set to 300 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300 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Owner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SF / SF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was "Meshtastic bb5c": set to RG / RG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Battery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96 % (4.15 V)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69 % (3.88 V): charge before the drive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Own GPS, indoors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fix at 14:27, alt 1398 m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no fix: the radio that showed the phantom drive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Heard the partner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RG 1.1 min ago, 6.25 dB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SF 0.6 min ago, 6.5 dB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OLED LoRa screen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912.875 MHz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F"/>
                          </a:solidFill>
                          <a:latin typeface="Cambria"/>
                        </a:rPr>
                        <a:t>912.875 MHz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86400"/>
            <a:ext cx="11155680" cy="658368"/>
          </a:xfrm>
          <a:prstGeom prst="rect">
            <a:avLst/>
          </a:prstGeom>
          <a:solidFill>
            <a:srgbClr val="F2F5FA"/>
          </a:solidFill>
          <a:ln w="15875">
            <a:solidFill>
              <a:srgbClr val="1F9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5605272"/>
            <a:ext cx="1082649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spc="100">
                <a:solidFill>
                  <a:srgbClr val="1F9D68"/>
                </a:solidFill>
                <a:latin typeface="Cambria"/>
              </a:rPr>
              <a:t>RESULT</a:t>
            </a:r>
          </a:p>
          <a:p>
            <a:r>
              <a:rPr sz="1100">
                <a:solidFill>
                  <a:srgbClr val="222A3F"/>
                </a:solidFill>
                <a:latin typeface="Cambria"/>
              </a:rPr>
              <a:t>Both radios fully provisioned and in agreement; link at the September figure (~6.5 dB); config snapshots re-exported. Both displays showed the link on the first power-cycle after unplugging.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II - THE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17/18  REV A  2026-10-24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20" y="347472"/>
            <a:ext cx="214884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E58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402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58E1A"/>
                </a:solidFill>
                <a:latin typeface="Courier New"/>
              </a:rPr>
              <a:t>OWNER: VICTOR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NEW MEXICO MAXIMUM-RANGE TEST - RESULTS PENDING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1155680" cy="4663440"/>
          </a:xfrm>
          <a:prstGeom prst="rect">
            <a:avLst/>
          </a:prstGeom>
          <a:solidFill>
            <a:srgbClr val="F2F5FA"/>
          </a:solidFill>
          <a:ln w="15875">
            <a:solidFill>
              <a:srgbClr val="9AA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100">
                <a:solidFill>
                  <a:srgbClr val="E58E1A"/>
                </a:solidFill>
                <a:latin typeface="Cambria"/>
              </a:rPr>
              <a:t>EXPERIMENT A - TO BE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22A3F"/>
                </a:solidFill>
                <a:latin typeface="Cambria"/>
              </a:rPr>
              <a:t>Flat highway, clear Fresnel zone, drive until the catches stop. Prediction written before the test: beats the 3.75 mi flat-ground edge; with any elevation on one end, approaches the 4.7 mi rim figure or better.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28803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377440"/>
                <a:gridCol w="301752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Measurement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Open road (10-05)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Canyon (10-18)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New Mexico</a:t>
                      </a:r>
                    </a:p>
                  </a:txBody>
                  <a:tcPr marL="73152" marR="73152" marT="27432" marB="27432">
                    <a:solidFill>
                      <a:srgbClr val="16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Full-health range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3.26 mi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4.7 mi (rim LOS)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____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First staleness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3.75 mi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1.29 mi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____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Longest silence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~2 min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7 min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____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Reacquired by (inbound)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0.85 mi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2.90 mi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____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Pre-test audit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clean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clean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A3F"/>
                          </a:solidFill>
                          <a:latin typeface="Cambria"/>
                        </a:rPr>
                        <a:t>SF re-provisioned 10-24 after revert</a:t>
                      </a:r>
                    </a:p>
                  </a:txBody>
                  <a:tcPr marL="73152" marR="73152" marT="27432" marB="2743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noFill/>
          <a:ln w="22225">
            <a:solidFill>
              <a:srgbClr val="16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272784"/>
            <a:ext cx="11859768" cy="1270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B85"/>
                </a:solidFill>
                <a:latin typeface="Courier New"/>
              </a:rPr>
              <a:t>GROUP 9  |  OFF-GRID VEHICLE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459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B85"/>
                </a:solidFill>
                <a:latin typeface="Courier New"/>
              </a:rPr>
              <a:t>PART II - THE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63459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B85"/>
                </a:solidFill>
                <a:latin typeface="Courier New"/>
              </a:rPr>
              <a:t>SHEET 18/18  REV A  2026-10-24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 spc="200">
                <a:solidFill>
                  <a:srgbClr val="16213D"/>
                </a:solidFill>
                <a:latin typeface="Cambria"/>
              </a:rPr>
              <a:t>WHAT THE FAILURES BOUGHT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337560" cy="2148840"/>
          </a:xfrm>
          <a:prstGeom prst="rect">
            <a:avLst/>
          </a:prstGeom>
          <a:solidFill>
            <a:srgbClr val="F2F5FA"/>
          </a:solidFill>
          <a:ln w="12700">
            <a:solidFill>
              <a:srgbClr val="9AA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E58E1A"/>
                </a:solidFill>
                <a:latin typeface="Cambria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2A3F"/>
                </a:solidFill>
                <a:latin typeface="Cambria"/>
              </a:rPr>
              <a:t>root-caused failures, each with a written signature and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3337560" cy="2148840"/>
          </a:xfrm>
          <a:prstGeom prst="rect">
            <a:avLst/>
          </a:prstGeom>
          <a:solidFill>
            <a:srgbClr val="F2F5FA"/>
          </a:solidFill>
          <a:ln w="12700">
            <a:solidFill>
              <a:srgbClr val="9AA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E58E1A"/>
                </a:solidFill>
                <a:latin typeface="Cambria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58568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2A3F"/>
                </a:solidFill>
                <a:latin typeface="Cambria"/>
              </a:rPr>
              <a:t>rules or features that exist only because something broke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234440"/>
            <a:ext cx="3337560" cy="2148840"/>
          </a:xfrm>
          <a:prstGeom prst="rect">
            <a:avLst/>
          </a:prstGeom>
          <a:solidFill>
            <a:srgbClr val="F2F5FA"/>
          </a:solidFill>
          <a:ln w="12700">
            <a:solidFill>
              <a:srgbClr val="9AA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1732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E58E1A"/>
                </a:solidFill>
                <a:latin typeface="Cambr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258568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2A3F"/>
                </a:solidFill>
                <a:latin typeface="Cambria"/>
              </a:rPr>
              <a:t>reflashes needed for any configuration failure - all are re-provisioning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11880"/>
            <a:ext cx="3337560" cy="2148840"/>
          </a:xfrm>
          <a:prstGeom prst="rect">
            <a:avLst/>
          </a:prstGeom>
          <a:solidFill>
            <a:srgbClr val="F2F5FA"/>
          </a:solidFill>
          <a:ln w="12700">
            <a:solidFill>
              <a:srgbClr val="9AA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E58E1A"/>
                </a:solidFill>
                <a:latin typeface="Cambria"/>
              </a:rPr>
              <a:t>90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36008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2A3F"/>
                </a:solidFill>
                <a:latin typeface="Cambria"/>
              </a:rPr>
              <a:t>to recover a fully reverted radio today, versus a lost morning in September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611880"/>
            <a:ext cx="3337560" cy="2148840"/>
          </a:xfrm>
          <a:prstGeom prst="rect">
            <a:avLst/>
          </a:prstGeom>
          <a:solidFill>
            <a:srgbClr val="F2F5FA"/>
          </a:solidFill>
          <a:ln w="12700">
            <a:solidFill>
              <a:srgbClr val="9AA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E58E1A"/>
                </a:solidFill>
                <a:latin typeface="Cambria"/>
              </a:rPr>
              <a:t>2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636008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2A3F"/>
                </a:solidFill>
                <a:latin typeface="Cambria"/>
              </a:rPr>
              <a:t>pre-flight check that would have caught every field-day failure so far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3611880"/>
            <a:ext cx="3337560" cy="2148840"/>
          </a:xfrm>
          <a:prstGeom prst="rect">
            <a:avLst/>
          </a:prstGeom>
          <a:solidFill>
            <a:srgbClr val="F2F5FA"/>
          </a:solidFill>
          <a:ln w="12700">
            <a:solidFill>
              <a:srgbClr val="9AA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E58E1A"/>
                </a:solidFill>
                <a:latin typeface="Cambria"/>
              </a:rPr>
              <a:t>4.7 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636008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2A3F"/>
                </a:solidFill>
                <a:latin typeface="Cambria"/>
              </a:rPr>
              <a:t>measured reach, with the honest envelope 0.5-4.7 mi by terrain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90702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EVERY FAILURE BECAME A RULE; EVERY RULE BECAME A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