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are about to see was filmed in one session on open road. The structure is the test itself: start together, pull apart, hold the link to maximum range, find the edge,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SF kit stays with Josiah at the far point, RG kit rides with the driver. Point out the two different link indicators before anything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deliberate: we are driving away from the partner, so the off-course warning is correct behavior. It clears the moment the gap stops growing.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verification slide. Let the video run: the status page shows both coordinates, their ages, the partner's battery, and the distance. Anyone can check the haversine from the frame. The Find My screenshots are the independent ground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 the question: is 3.75 miles the limit? The measured reliable edge for this configuration, not the physics limit. The link budget's 20 dB environmental reserve is exactly what the town-versus-country factor of seven demonstrates.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Longest clip on purpose: let it breathe while you talk. Nothing was touched between the stale edge and this; the system healed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course-up compass shipped two days before this test, after the first night drive showed drivers physically rotating the unit. Here it is working at 37 mph. Close with the session stat: 19 feet to 3.75 miles and back, zero reconnects.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left to right. Attempt one: both draw a delay, both hear silence, both transmit, collision, both packets lost. Nothing crashes. Attempt two: new random delays, RG draws longer, hears SF's preamble, defers. CSMA with random backoff, the Ethernet philosophy. Determinism would be the dangerous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2-1.mp4"/><Relationship Id="rId2" Type="http://schemas.microsoft.com/office/2007/relationships/media" Target="../media/media-2-1.mp4"/><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video" Target="../media/media-7-4.mp4"/><Relationship Id="rId5" Type="http://schemas.microsoft.com/office/2007/relationships/media" Target="../media/media-7-4.mp4"/><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D"/>
        </a:solidFill>
      </p:bgPr>
    </p:bg>
    <p:spTree>
      <p:nvGrpSpPr>
        <p:cNvPr id="1" name=""/>
        <p:cNvGrpSpPr/>
        <p:nvPr/>
      </p:nvGrpSpPr>
      <p:grpSpPr>
        <a:xfrm>
          <a:off x="0" y="0"/>
          <a:ext cx="0" cy="0"/>
          <a:chOff x="0" y="0"/>
          <a:chExt cx="0" cy="0"/>
        </a:xfrm>
      </p:grpSpPr>
      <p:sp>
        <p:nvSpPr>
          <p:cNvPr id="2" name="Text 0"/>
          <p:cNvSpPr txBox="1"/>
          <p:nvPr/>
        </p:nvSpPr>
        <p:spPr>
          <a:xfrm>
            <a:off x="731520" y="1920240"/>
            <a:ext cx="10698480" cy="914400"/>
          </a:xfrm>
          <a:prstGeom prst="rect">
            <a:avLst/>
          </a:prstGeom>
          <a:noFill/>
          <a:ln/>
        </p:spPr>
        <p:txBody>
          <a:bodyPr wrap="square" rtlCol="0" anchor="ctr"/>
          <a:lstStyle/>
          <a:p>
            <a:pPr indent="0" marL="0">
              <a:buNone/>
            </a:pPr>
            <a:r>
              <a:rPr lang="en-US" sz="4400" b="1" spc="300" kern="0" dirty="0">
                <a:solidFill>
                  <a:srgbClr val="FFFFFF"/>
                </a:solidFill>
                <a:latin typeface="Arial" pitchFamily="34" charset="0"/>
                <a:ea typeface="Arial" pitchFamily="34" charset="-122"/>
                <a:cs typeface="Arial" pitchFamily="34" charset="-120"/>
              </a:rPr>
              <a:t>OFF-GRID VEHICLE TRACKER</a:t>
            </a:r>
            <a:endParaRPr lang="en-US" sz="4400" dirty="0"/>
          </a:p>
        </p:txBody>
      </p:sp>
      <p:sp>
        <p:nvSpPr>
          <p:cNvPr id="3" name="Text 1"/>
          <p:cNvSpPr txBox="1"/>
          <p:nvPr/>
        </p:nvSpPr>
        <p:spPr>
          <a:xfrm>
            <a:off x="731520" y="2880360"/>
            <a:ext cx="10698480" cy="548640"/>
          </a:xfrm>
          <a:prstGeom prst="rect">
            <a:avLst/>
          </a:prstGeom>
          <a:noFill/>
          <a:ln/>
        </p:spPr>
        <p:txBody>
          <a:bodyPr wrap="square" rtlCol="0" anchor="ctr"/>
          <a:lstStyle/>
          <a:p>
            <a:pPr indent="0" marL="0">
              <a:buNone/>
            </a:pPr>
            <a:r>
              <a:rPr lang="en-US" sz="2400" b="1" dirty="0">
                <a:solidFill>
                  <a:srgbClr val="E58E1A"/>
                </a:solidFill>
                <a:latin typeface="Arial" pitchFamily="34" charset="0"/>
                <a:ea typeface="Arial" pitchFamily="34" charset="-122"/>
                <a:cs typeface="Arial" pitchFamily="34" charset="-120"/>
              </a:rPr>
              <a:t>LIVE DEMO  ·  THE OPEN-ROAD RANGE TEST</a:t>
            </a:r>
            <a:endParaRPr lang="en-US" sz="2400" dirty="0"/>
          </a:p>
        </p:txBody>
      </p:sp>
      <p:sp>
        <p:nvSpPr>
          <p:cNvPr id="4" name="Text 2"/>
          <p:cNvSpPr txBox="1"/>
          <p:nvPr/>
        </p:nvSpPr>
        <p:spPr>
          <a:xfrm>
            <a:off x="731520" y="3657600"/>
            <a:ext cx="10241280" cy="1097280"/>
          </a:xfrm>
          <a:prstGeom prst="rect">
            <a:avLst/>
          </a:prstGeom>
          <a:noFill/>
          <a:ln/>
        </p:spPr>
        <p:txBody>
          <a:bodyPr wrap="square" rtlCol="0" anchor="ctr"/>
          <a:lstStyle/>
          <a:p>
            <a:pPr indent="0" marL="0">
              <a:buNone/>
            </a:pPr>
            <a:r>
              <a:rPr lang="en-US" sz="1500" dirty="0">
                <a:solidFill>
                  <a:srgbClr val="C9D8F0"/>
                </a:solidFill>
                <a:latin typeface="Arial" pitchFamily="34" charset="0"/>
                <a:ea typeface="Arial" pitchFamily="34" charset="-122"/>
                <a:cs typeface="Arial" pitchFamily="34" charset="-120"/>
              </a:rPr>
              <a:t>Recorded 2026-10-05 on N County Road 2000, Lubbock TX. One continuous session, filmed live:</a:t>
            </a:r>
            <a:endParaRPr lang="en-US" sz="1500" dirty="0"/>
          </a:p>
          <a:p>
            <a:pPr indent="0" marL="0">
              <a:buNone/>
            </a:pPr>
            <a:r>
              <a:rPr lang="en-US" sz="1500" dirty="0">
                <a:solidFill>
                  <a:srgbClr val="C9D8F0"/>
                </a:solidFill>
                <a:latin typeface="Arial" pitchFamily="34" charset="0"/>
                <a:ea typeface="Arial" pitchFamily="34" charset="-122"/>
                <a:cs typeface="Arial" pitchFamily="34" charset="-120"/>
              </a:rPr>
              <a:t>two Meshtastic radios on a private 912.875 MHz LoRa channel, two custom displays. No phone, no internet, no network.</a:t>
            </a:r>
            <a:endParaRPr lang="en-US" sz="1500" dirty="0"/>
          </a:p>
        </p:txBody>
      </p:sp>
      <p:sp>
        <p:nvSpPr>
          <p:cNvPr id="5" name="Text 3"/>
          <p:cNvSpPr txBox="1"/>
          <p:nvPr/>
        </p:nvSpPr>
        <p:spPr>
          <a:xfrm>
            <a:off x="731520" y="6035040"/>
            <a:ext cx="10058400" cy="365760"/>
          </a:xfrm>
          <a:prstGeom prst="rect">
            <a:avLst/>
          </a:prstGeom>
          <a:noFill/>
          <a:ln/>
        </p:spPr>
        <p:txBody>
          <a:bodyPr wrap="square" rtlCol="0" anchor="ctr"/>
          <a:lstStyle/>
          <a:p>
            <a:pPr indent="0" marL="0">
              <a:buNone/>
            </a:pPr>
            <a:r>
              <a:rPr lang="en-US" sz="1200" dirty="0">
                <a:solidFill>
                  <a:srgbClr val="9AA7BE"/>
                </a:solidFill>
                <a:latin typeface="Arial" pitchFamily="34" charset="0"/>
                <a:ea typeface="Arial" pitchFamily="34" charset="-122"/>
                <a:cs typeface="Arial" pitchFamily="34" charset="-120"/>
              </a:rPr>
              <a:t>GROUP 9  ·  CAPSTONE PROJECT LAB  ·  SPONSOR: DR. RICHARD GALE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Setting Off Together</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The baseline: two radios, 19 feet, all links green.</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Both kits in one car at the start point: 19 ft apart, "holding", "stopped". The 19 feet is GNSS scatter between two independent receivers, honestly displayed.</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Top right: RG&lt;-&gt;SF OK means the radios are actively hearing each other. Bottom: link OK is the display's Bluetooth link to its own radio.</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Every number on this screen arrives over the private LoRa channel and is computed on the display itself.</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Pulling Apart</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Driving away on purpose, and the screen objects.</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"At 3 o'clock, apart 24 mph": the separation rate is computed from consecutive positions, and the clock direction is relative to the hood.</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The CHANGE COURSE banner and blinker chevrons fire after five seconds of driving away from the partner: the display talks like a driver, not a GPS receiver.</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Age stays in single digits: at vehicle cadence the partner reports every 10 seconds while moving.</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Maximum Range: Link Held at 3.26 Miles</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188720"/>
            <a:ext cx="2898648" cy="5148072"/>
          </a:xfrm>
          <a:prstGeom prst="rect">
            <a:avLst/>
          </a:prstGeom>
        </p:spPr>
      </p:pic>
      <p:pic>
        <p:nvPicPr>
          <p:cNvPr id="4" name="Image 0" descr="C:/Users/deogr/AppData/Local/Temp/claude/C--Users-deogr-Documents-Fall-Project-Off-Grid-Vehicle-dection-project/eca057db-c8d2-4bae-87d3-8a6c4f6c4af6/scratchpad/demovid2/findmy_pin.jpg">    </p:cNvPr>
          <p:cNvPicPr>
            <a:picLocks noChangeAspect="1"/>
          </p:cNvPicPr>
          <p:nvPr/>
        </p:nvPicPr>
        <p:blipFill>
          <a:blip r:embed="rId4"/>
          <a:stretch>
            <a:fillRect/>
          </a:stretch>
        </p:blipFill>
        <p:spPr>
          <a:xfrm>
            <a:off x="3657600" y="1188720"/>
            <a:ext cx="2066544" cy="4480560"/>
          </a:xfrm>
          <a:prstGeom prst="rect">
            <a:avLst/>
          </a:prstGeom>
        </p:spPr>
      </p:pic>
      <p:pic>
        <p:nvPicPr>
          <p:cNvPr id="5" name="Image 1" descr="C:/Users/deogr/AppData/Local/Temp/claude/C--Users-deogr-Documents-Fall-Project-Off-Grid-Vehicle-dection-project/eca057db-c8d2-4bae-87d3-8a6c4f6c4af6/scratchpad/demovid2/findmy_route.jpg">    </p:cNvPr>
          <p:cNvPicPr>
            <a:picLocks noChangeAspect="1"/>
          </p:cNvPicPr>
          <p:nvPr/>
        </p:nvPicPr>
        <p:blipFill>
          <a:blip r:embed="rId5"/>
          <a:stretch>
            <a:fillRect/>
          </a:stretch>
        </p:blipFill>
        <p:spPr>
          <a:xfrm>
            <a:off x="5870448" y="1188720"/>
            <a:ext cx="2066544" cy="4480560"/>
          </a:xfrm>
          <a:prstGeom prst="rect">
            <a:avLst/>
          </a:prstGeom>
        </p:spPr>
      </p:pic>
      <p:sp>
        <p:nvSpPr>
          <p:cNvPr id="6" name="Text 1"/>
          <p:cNvSpPr txBox="1"/>
          <p:nvPr/>
        </p:nvSpPr>
        <p:spPr>
          <a:xfrm>
            <a:off x="8183880" y="1280160"/>
            <a:ext cx="3657600" cy="45720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Proof, twice over</a:t>
            </a:r>
            <a:endParaRPr lang="en-US" sz="2000" dirty="0"/>
          </a:p>
        </p:txBody>
      </p:sp>
      <p:sp>
        <p:nvSpPr>
          <p:cNvPr id="7" name="Text 2"/>
          <p:cNvSpPr txBox="1"/>
          <p:nvPr/>
        </p:nvSpPr>
        <p:spPr>
          <a:xfrm>
            <a:off x="8183880" y="1874520"/>
            <a:ext cx="3657600" cy="4480560"/>
          </a:xfrm>
          <a:prstGeom prst="rect">
            <a:avLst/>
          </a:prstGeom>
          <a:noFill/>
          <a:ln/>
        </p:spPr>
        <p:txBody>
          <a:bodyPr wrap="square" rtlCol="0" anchor="t"/>
          <a:lstStyle/>
          <a:p>
            <a:pPr marL="342900" indent="-342900">
              <a:spcAft>
                <a:spcPts val="1000"/>
              </a:spcAft>
              <a:buSzPct val="100000"/>
              <a:buChar char="•"/>
            </a:pPr>
            <a:r>
              <a:rPr lang="en-US" sz="1350" dirty="0">
                <a:solidFill>
                  <a:srgbClr val="1B2440"/>
                </a:solidFill>
                <a:latin typeface="Arial" pitchFamily="34" charset="0"/>
                <a:ea typeface="Arial" pitchFamily="34" charset="-122"/>
                <a:cs typeface="Arial" pitchFamily="34" charset="-120"/>
              </a:rPr>
              <a:t>The video: LINK CONNECTED at 3.26 miles, both coordinate sets live. The latitude delta is 0.04719 degrees = 5.25 km = 3.26 mi: the display's math agrees with its own coordinates at maximum range.</a:t>
            </a:r>
            <a:endParaRPr lang="en-US" sz="1350" dirty="0"/>
          </a:p>
          <a:p>
            <a:pPr marL="342900" indent="-342900">
              <a:spcAft>
                <a:spcPts val="1000"/>
              </a:spcAft>
              <a:buSzPct val="100000"/>
              <a:buChar char="•"/>
            </a:pPr>
            <a:r>
              <a:rPr lang="en-US" sz="1350" dirty="0">
                <a:solidFill>
                  <a:srgbClr val="1B2440"/>
                </a:solidFill>
                <a:latin typeface="Arial" pitchFamily="34" charset="0"/>
                <a:ea typeface="Arial" pitchFamily="34" charset="-122"/>
                <a:cs typeface="Arial" pitchFamily="34" charset="-120"/>
              </a:rPr>
              <a:t>The photos: independent ground truth. Find My places the parked partner 4.1 road miles up N County Road 2000.</a:t>
            </a:r>
            <a:endParaRPr lang="en-US" sz="1350" dirty="0"/>
          </a:p>
          <a:p>
            <a:pPr marL="342900" indent="-342900">
              <a:spcAft>
                <a:spcPts val="1000"/>
              </a:spcAft>
              <a:buSzPct val="100000"/>
              <a:buChar char="•"/>
            </a:pPr>
            <a:r>
              <a:rPr lang="en-US" sz="1350" dirty="0">
                <a:solidFill>
                  <a:srgbClr val="1B2440"/>
                </a:solidFill>
                <a:latin typeface="Arial" pitchFamily="34" charset="0"/>
                <a:ea typeface="Arial" pitchFamily="34" charset="-122"/>
                <a:cs typeface="Arial" pitchFamily="34" charset="-120"/>
              </a:rPr>
              <a:t>Design range: 3 to 5 km in terrain. Measured: 5.25 km fully healthy, antennas still inside the cars.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The Edge at 3.75 Miles</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Found the edge, and the system said so honestly.</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SF DATA STALE, age 2 minutes inverted, and the radio itself reports "Message failed to #Group9". The failure announces itself on both devices; nothing pretends.</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Is this the limit? It is the reliable edge for THIS setup: in-cabin antennas, one car parked. Not a physics wall.</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Every 6 dB of recovered margin roughly doubles range, and a roof antenna recovers 10 to 20 dB. The same hardware went stale at 0.5 miles in town the night before: a factor of seven from environment alone.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The Drive Back</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Back in range, hands off.</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A full minute of live tracking on the return leg: distance counting down, "closing" with the rate, ages in single digits.</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Reacquisition required no buttons and no restart. The radios never stopped agreeing; the vehicles just came back into range.</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Watch the age number: every ten seconds a new packet lands and it snaps back to zero.</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Course-Up at 37 mph, Then Reunion</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2898648" cy="5148072"/>
          </a:xfrm>
          <a:prstGeom prst="rect">
            <a:avLst/>
          </a:prstGeom>
        </p:spPr>
      </p:pic>
      <p:pic>
        <p:nvPicPr>
          <p:cNvPr id="6"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3749040" y="1188720"/>
            <a:ext cx="2898648" cy="5148072"/>
          </a:xfrm>
          <a:prstGeom prst="rect">
            <a:avLst/>
          </a:prstGeom>
        </p:spPr>
      </p:pic>
      <p:sp>
        <p:nvSpPr>
          <p:cNvPr id="5" name="Text 1"/>
          <p:cNvSpPr txBox="1"/>
          <p:nvPr/>
        </p:nvSpPr>
        <p:spPr>
          <a:xfrm>
            <a:off x="6949440" y="1325880"/>
            <a:ext cx="4754880" cy="45720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The last mile</a:t>
            </a:r>
            <a:endParaRPr lang="en-US" sz="2000" dirty="0"/>
          </a:p>
        </p:txBody>
      </p:sp>
      <p:sp>
        <p:nvSpPr>
          <p:cNvPr id="6" name="Text 2"/>
          <p:cNvSpPr txBox="1"/>
          <p:nvPr/>
        </p:nvSpPr>
        <p:spPr>
          <a:xfrm>
            <a:off x="6949440" y="1874520"/>
            <a:ext cx="4846320" cy="4389120"/>
          </a:xfrm>
          <a:prstGeom prst="rect">
            <a:avLst/>
          </a:prstGeom>
          <a:noFill/>
          <a:ln/>
        </p:spPr>
        <p:txBody>
          <a:bodyPr wrap="square" rtlCol="0" anchor="t"/>
          <a:lstStyle/>
          <a:p>
            <a:pPr marL="342900" indent="-342900">
              <a:spcAft>
                <a:spcPts val="1000"/>
              </a:spcAft>
              <a:buSzPct val="100000"/>
              <a:buChar char="•"/>
            </a:pPr>
            <a:r>
              <a:rPr lang="en-US" sz="1450" dirty="0">
                <a:solidFill>
                  <a:srgbClr val="1B2440"/>
                </a:solidFill>
                <a:latin typeface="Arial" pitchFamily="34" charset="0"/>
                <a:ea typeface="Arial" pitchFamily="34" charset="-122"/>
                <a:cs typeface="Arial" pitchFamily="34" charset="-120"/>
              </a:rPr>
              <a:t>Left: "0.83 Mi at 12 o'clock, you 37 mph". The cardinal letters have rotated with the car: straight ahead is the top of the ring, the dart points through the windshield at the partner.</a:t>
            </a:r>
            <a:endParaRPr lang="en-US" sz="1450" dirty="0"/>
          </a:p>
          <a:p>
            <a:pPr marL="342900" indent="-342900">
              <a:spcAft>
                <a:spcPts val="1000"/>
              </a:spcAft>
              <a:buSzPct val="100000"/>
              <a:buChar char="•"/>
            </a:pPr>
            <a:r>
              <a:rPr lang="en-US" sz="1450" dirty="0">
                <a:solidFill>
                  <a:srgbClr val="1B2440"/>
                </a:solidFill>
                <a:latin typeface="Arial" pitchFamily="34" charset="0"/>
                <a:ea typeface="Arial" pitchFamily="34" charset="-122"/>
                <a:cs typeface="Arial" pitchFamily="34" charset="-120"/>
              </a:rPr>
              <a:t>Right: the final approach, 127 ft, age 3 seconds, closing. One continuous session from 19 feet to 3.75 miles and back, zero reconnects.</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64240" cy="640080"/>
          </a:xfrm>
          <a:prstGeom prst="rect">
            <a:avLst/>
          </a:prstGeom>
          <a:noFill/>
          <a:ln/>
        </p:spPr>
        <p:txBody>
          <a:bodyPr wrap="square" rtlCol="0" anchor="ctr"/>
          <a:lstStyle/>
          <a:p>
            <a:pPr indent="0" marL="0">
              <a:buNone/>
            </a:pPr>
            <a:r>
              <a:rPr lang="en-US" sz="3000" b="1" dirty="0">
                <a:solidFill>
                  <a:srgbClr val="16213D"/>
                </a:solidFill>
                <a:latin typeface="Arial" pitchFamily="34" charset="0"/>
                <a:ea typeface="Arial" pitchFamily="34" charset="-122"/>
                <a:cs typeface="Arial" pitchFamily="34" charset="-120"/>
              </a:rPr>
              <a:t>Edge Case: Both Radios Boot at the Same Instant</a:t>
            </a:r>
            <a:endParaRPr lang="en-US" sz="3000" dirty="0"/>
          </a:p>
        </p:txBody>
      </p:sp>
      <p:sp>
        <p:nvSpPr>
          <p:cNvPr id="3" name="Text 1"/>
          <p:cNvSpPr txBox="1"/>
          <p:nvPr/>
        </p:nvSpPr>
        <p:spPr>
          <a:xfrm>
            <a:off x="548640" y="914400"/>
            <a:ext cx="11064240" cy="411480"/>
          </a:xfrm>
          <a:prstGeom prst="rect">
            <a:avLst/>
          </a:prstGeom>
          <a:noFill/>
          <a:ln/>
        </p:spPr>
        <p:txBody>
          <a:bodyPr wrap="square" rtlCol="0" anchor="ctr"/>
          <a:lstStyle/>
          <a:p>
            <a:pPr indent="0" marL="0">
              <a:buNone/>
            </a:pPr>
            <a:r>
              <a:rPr lang="en-US" sz="1600" b="1" i="1" dirty="0">
                <a:solidFill>
                  <a:srgbClr val="E58E1A"/>
                </a:solidFill>
                <a:latin typeface="Arial" pitchFamily="34" charset="0"/>
                <a:ea typeface="Arial" pitchFamily="34" charset="-122"/>
                <a:cs typeface="Arial" pitchFamily="34" charset="-120"/>
              </a:rPr>
              <a:t>If both send their NodeInfo at once, who talks first, and why doesn't communication crash?</a:t>
            </a:r>
            <a:endParaRPr lang="en-US" sz="1600" dirty="0"/>
          </a:p>
        </p:txBody>
      </p:sp>
      <p:pic>
        <p:nvPicPr>
          <p:cNvPr id="4" name="Image 0" descr="C:\Users\deogr\AppData\Local\Temp\claude\C--Users-deogr-Documents-Fall-Project-Off-Grid-Vehicle-dection-project\eca057db-c8d2-4bae-87d3-8a6c4f6c4af6\scratchpad\demovid\fig_collision.png">    </p:cNvPr>
          <p:cNvPicPr>
            <a:picLocks noChangeAspect="1"/>
          </p:cNvPicPr>
          <p:nvPr/>
        </p:nvPicPr>
        <p:blipFill>
          <a:blip r:embed="rId1"/>
          <a:stretch>
            <a:fillRect/>
          </a:stretch>
        </p:blipFill>
        <p:spPr>
          <a:xfrm>
            <a:off x="713232" y="1417320"/>
            <a:ext cx="10771632" cy="4818888"/>
          </a:xfrm>
          <a:prstGeom prst="rect">
            <a:avLst/>
          </a:prstGeom>
        </p:spPr>
      </p:pic>
      <p:sp>
        <p:nvSpPr>
          <p:cNvPr id="5" name="Text 2"/>
          <p:cNvSpPr txBox="1"/>
          <p:nvPr/>
        </p:nvSpPr>
        <p:spPr>
          <a:xfrm>
            <a:off x="713232" y="6291072"/>
            <a:ext cx="10789920" cy="566928"/>
          </a:xfrm>
          <a:prstGeom prst="rect">
            <a:avLst/>
          </a:prstGeom>
          <a:noFill/>
          <a:ln/>
        </p:spPr>
        <p:txBody>
          <a:bodyPr wrap="square" rtlCol="0" anchor="ctr"/>
          <a:lstStyle/>
          <a:p>
            <a:pPr indent="0" marL="0">
              <a:buNone/>
            </a:pPr>
            <a:r>
              <a:rPr lang="en-US" sz="1250" dirty="0">
                <a:solidFill>
                  <a:srgbClr val="1B2440"/>
                </a:solidFill>
                <a:latin typeface="Arial" pitchFamily="34" charset="0"/>
                <a:ea typeface="Arial" pitchFamily="34" charset="-122"/>
                <a:cs typeface="Arial" pitchFamily="34" charset="-120"/>
              </a:rPr>
              <a:t>No master and no schedule, on purpose. Listen before talk avoids most ties; a true collision just loses two packets; fresh random backoffs make a repeat collision odds 1-in-N, then 1-in-N²; and NodeInfo rebroadcasts periodically anyway. Measured on our bench: two radios power-cycled together find each other in under a minute, every time.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2026-10-06T00:24:03Z</dcterms:created>
  <dcterms:modified xsi:type="dcterms:W3CDTF">2026-10-06T00:24:03Z</dcterms:modified>
</cp:coreProperties>
</file>