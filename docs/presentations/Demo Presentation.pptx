
<file path=[Content_Types].xml><?xml version="1.0" encoding="utf-8"?>
<Types xmlns="http://schemas.openxmlformats.org/package/2006/content-types">
  <Default Extension="jpeg" ContentType="image/jpeg"/>
  <Default Extension="jpg" ContentType="image/jp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p:scale>
          <a:sx n="75" d="100"/>
          <a:sy n="75" d="100"/>
        </p:scale>
        <p:origin x="302" y="2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214317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you are about to see was filmed in one session on open road. The structure is the test itself: start together, pull apart, hold the link to maximum range, find the edge, come back.</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scene: SF kit stays with Josiah at the far point, RG kit rides with the driver. Point out the two different link indicators before anything moves.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deliberate: we are driving away from the partner, so the off-course warning is correct behavior. It clears the moment the gap stops growing.</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verification slide. Let the video run: the status page shows both coordinates, their ages, the partner's battery, and the distance. Anyone can check the haversine from the frame. The Find My screenshots are the independent ground truth.</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Anticipate the question: is 3.75 miles the limit? The measured reliable edge for this configuration, not the physics limit. The link budget's 20 dB environmental reserve is exactly what the town-versus-country factor of seven demonstrates.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both run. The right clip is the proof of usefulness: screen says 700 ft at 10 o'clock, the driver turns, and the actual car fills the windshield. It ends parked 25 feet behind the partner.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course-up compass shipped two days before this test, after the first night drive showed drivers physically rotating the unit. Here it is working at 37 mph. Close with the session stat: 19 feet to 3.75 miles and back, zero reconnects.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diagram left to right. Attempt one: both draw a delay, both hear silence, both transmit, collision, both packets lost. Nothing crashes. Attempt two: new random delays, RG draws longer, hears SF's preamble, defers. CSMA with random backoff, the Ethernet philosophy. Determinism would be the dangerous design.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1.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2.mp4"/><Relationship Id="rId1" Type="http://schemas.microsoft.com/office/2007/relationships/media" Target="../media/media2.mp4"/><Relationship Id="rId5" Type="http://schemas.openxmlformats.org/officeDocument/2006/relationships/image" Target="../media/image1.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1.xml"/><Relationship Id="rId7" Type="http://schemas.openxmlformats.org/officeDocument/2006/relationships/image" Target="../media/image3.jpg"/><Relationship Id="rId2" Type="http://schemas.openxmlformats.org/officeDocument/2006/relationships/video" Target="../media/media3.mp4"/><Relationship Id="rId1" Type="http://schemas.microsoft.com/office/2007/relationships/media" Target="../media/media3.mp4"/><Relationship Id="rId6" Type="http://schemas.openxmlformats.org/officeDocument/2006/relationships/image" Target="../media/image2.jpg"/><Relationship Id="rId5" Type="http://schemas.openxmlformats.org/officeDocument/2006/relationships/image" Target="../media/image1.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4.mp4"/><Relationship Id="rId1" Type="http://schemas.microsoft.com/office/2007/relationships/media" Target="../media/media4.mp4"/><Relationship Id="rId5" Type="http://schemas.openxmlformats.org/officeDocument/2006/relationships/image" Target="../media/image1.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microsoft.com/office/2007/relationships/media" Target="../media/media6.mp4"/><Relationship Id="rId7" Type="http://schemas.openxmlformats.org/officeDocument/2006/relationships/image" Target="../media/image1.png"/><Relationship Id="rId2" Type="http://schemas.openxmlformats.org/officeDocument/2006/relationships/video" Target="../media/media5.mp4"/><Relationship Id="rId1" Type="http://schemas.microsoft.com/office/2007/relationships/media" Target="../media/media5.mp4"/><Relationship Id="rId6" Type="http://schemas.openxmlformats.org/officeDocument/2006/relationships/notesSlide" Target="../notesSlides/notesSlide6.xml"/><Relationship Id="rId5" Type="http://schemas.openxmlformats.org/officeDocument/2006/relationships/slideLayout" Target="../slideLayouts/slideLayout1.xml"/><Relationship Id="rId4" Type="http://schemas.openxmlformats.org/officeDocument/2006/relationships/video" Target="../media/media6.mp4"/></Relationships>
</file>

<file path=ppt/slides/_rels/slide7.xml.rels><?xml version="1.0" encoding="UTF-8" standalone="yes"?>
<Relationships xmlns="http://schemas.openxmlformats.org/package/2006/relationships"><Relationship Id="rId3" Type="http://schemas.microsoft.com/office/2007/relationships/media" Target="../media/media8.mp4"/><Relationship Id="rId7" Type="http://schemas.openxmlformats.org/officeDocument/2006/relationships/image" Target="../media/image1.png"/><Relationship Id="rId2" Type="http://schemas.openxmlformats.org/officeDocument/2006/relationships/video" Target="../media/media7.mp4"/><Relationship Id="rId1" Type="http://schemas.microsoft.com/office/2007/relationships/media" Target="../media/media7.mp4"/><Relationship Id="rId6" Type="http://schemas.openxmlformats.org/officeDocument/2006/relationships/notesSlide" Target="../notesSlides/notesSlide7.xml"/><Relationship Id="rId5" Type="http://schemas.openxmlformats.org/officeDocument/2006/relationships/slideLayout" Target="../slideLayouts/slideLayout1.xml"/><Relationship Id="rId4" Type="http://schemas.openxmlformats.org/officeDocument/2006/relationships/video" Target="../media/media8.mp4"/></Relationships>
</file>

<file path=ppt/slides/_rels/slide8.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13D"/>
        </a:solidFill>
        <a:effectLst/>
      </p:bgPr>
    </p:bg>
    <p:spTree>
      <p:nvGrpSpPr>
        <p:cNvPr id="1" name=""/>
        <p:cNvGrpSpPr/>
        <p:nvPr/>
      </p:nvGrpSpPr>
      <p:grpSpPr>
        <a:xfrm>
          <a:off x="0" y="0"/>
          <a:ext cx="0" cy="0"/>
          <a:chOff x="0" y="0"/>
          <a:chExt cx="0" cy="0"/>
        </a:xfrm>
      </p:grpSpPr>
      <p:sp>
        <p:nvSpPr>
          <p:cNvPr id="2" name="Text 0"/>
          <p:cNvSpPr txBox="1"/>
          <p:nvPr/>
        </p:nvSpPr>
        <p:spPr>
          <a:xfrm>
            <a:off x="731520" y="1920240"/>
            <a:ext cx="10698480" cy="914400"/>
          </a:xfrm>
          <a:prstGeom prst="rect">
            <a:avLst/>
          </a:prstGeom>
          <a:noFill/>
          <a:ln/>
        </p:spPr>
        <p:txBody>
          <a:bodyPr wrap="square" rtlCol="0" anchor="ctr"/>
          <a:lstStyle/>
          <a:p>
            <a:pPr marL="0" indent="0" algn="ctr">
              <a:buNone/>
            </a:pPr>
            <a:r>
              <a:rPr lang="en-US" sz="4400" b="1" kern="0" spc="300" dirty="0">
                <a:solidFill>
                  <a:srgbClr val="FFFFFF"/>
                </a:solidFill>
                <a:latin typeface="Arial" pitchFamily="34" charset="0"/>
                <a:ea typeface="Arial" pitchFamily="34" charset="-122"/>
                <a:cs typeface="Arial" pitchFamily="34" charset="-120"/>
              </a:rPr>
              <a:t>OFF-GRID VEHICLE TRACKER</a:t>
            </a:r>
            <a:endParaRPr lang="en-US" sz="4400" dirty="0"/>
          </a:p>
        </p:txBody>
      </p:sp>
      <p:sp>
        <p:nvSpPr>
          <p:cNvPr id="3" name="Text 1"/>
          <p:cNvSpPr txBox="1"/>
          <p:nvPr/>
        </p:nvSpPr>
        <p:spPr>
          <a:xfrm>
            <a:off x="746760" y="2880360"/>
            <a:ext cx="10698480" cy="548640"/>
          </a:xfrm>
          <a:prstGeom prst="rect">
            <a:avLst/>
          </a:prstGeom>
          <a:noFill/>
          <a:ln/>
        </p:spPr>
        <p:txBody>
          <a:bodyPr wrap="square" rtlCol="0" anchor="ctr"/>
          <a:lstStyle/>
          <a:p>
            <a:pPr marL="0" indent="0" algn="ctr">
              <a:buNone/>
            </a:pPr>
            <a:r>
              <a:rPr lang="en-US" sz="2400" b="1" dirty="0">
                <a:solidFill>
                  <a:srgbClr val="E58E1A"/>
                </a:solidFill>
                <a:latin typeface="Arial" pitchFamily="34" charset="0"/>
                <a:ea typeface="Arial" pitchFamily="34" charset="-122"/>
                <a:cs typeface="Arial" pitchFamily="34" charset="-120"/>
              </a:rPr>
              <a:t>LIVE DEMO  ·  THE OPEN-ROAD RANGE TEST</a:t>
            </a:r>
            <a:endParaRPr lang="en-US" sz="2400" dirty="0"/>
          </a:p>
        </p:txBody>
      </p:sp>
      <p:sp>
        <p:nvSpPr>
          <p:cNvPr id="4" name="Text 2"/>
          <p:cNvSpPr txBox="1"/>
          <p:nvPr/>
        </p:nvSpPr>
        <p:spPr>
          <a:xfrm>
            <a:off x="975360" y="3705860"/>
            <a:ext cx="10241280" cy="1097280"/>
          </a:xfrm>
          <a:prstGeom prst="rect">
            <a:avLst/>
          </a:prstGeom>
          <a:noFill/>
          <a:ln/>
        </p:spPr>
        <p:txBody>
          <a:bodyPr wrap="square" rtlCol="0" anchor="ctr"/>
          <a:lstStyle/>
          <a:p>
            <a:pPr marL="0" indent="0" algn="ctr">
              <a:buNone/>
            </a:pPr>
            <a:r>
              <a:rPr lang="en-US" sz="1500" dirty="0">
                <a:solidFill>
                  <a:srgbClr val="C9D8F0"/>
                </a:solidFill>
                <a:latin typeface="Arial" pitchFamily="34" charset="0"/>
                <a:ea typeface="Arial" pitchFamily="34" charset="-122"/>
                <a:cs typeface="Arial" pitchFamily="34" charset="-120"/>
              </a:rPr>
              <a:t>Recorded 2026-10-05 on N County Road 2000, Lubbock TX. One continuous session, filmed live:</a:t>
            </a:r>
            <a:endParaRPr lang="en-US" sz="1500" dirty="0"/>
          </a:p>
          <a:p>
            <a:pPr marL="0" indent="0" algn="ctr">
              <a:buNone/>
            </a:pPr>
            <a:r>
              <a:rPr lang="en-US" sz="1500" dirty="0">
                <a:solidFill>
                  <a:srgbClr val="C9D8F0"/>
                </a:solidFill>
                <a:latin typeface="Arial" pitchFamily="34" charset="0"/>
                <a:ea typeface="Arial" pitchFamily="34" charset="-122"/>
                <a:cs typeface="Arial" pitchFamily="34" charset="-120"/>
              </a:rPr>
              <a:t>two Meshtastic radios on a private 912.875 MHz LoRa channel, two custom displays. No phone, no internet, no network.</a:t>
            </a:r>
            <a:endParaRPr lang="en-US" sz="1500" dirty="0"/>
          </a:p>
        </p:txBody>
      </p:sp>
      <p:sp>
        <p:nvSpPr>
          <p:cNvPr id="5" name="Text 3"/>
          <p:cNvSpPr txBox="1"/>
          <p:nvPr/>
        </p:nvSpPr>
        <p:spPr>
          <a:xfrm>
            <a:off x="1051560" y="6177280"/>
            <a:ext cx="10058400" cy="365760"/>
          </a:xfrm>
          <a:prstGeom prst="rect">
            <a:avLst/>
          </a:prstGeom>
          <a:noFill/>
          <a:ln/>
        </p:spPr>
        <p:txBody>
          <a:bodyPr wrap="square" rtlCol="0" anchor="ctr"/>
          <a:lstStyle/>
          <a:p>
            <a:pPr marL="0" indent="0" algn="ctr">
              <a:buNone/>
            </a:pPr>
            <a:r>
              <a:rPr lang="en-US" sz="1200" dirty="0">
                <a:solidFill>
                  <a:srgbClr val="9AA7BE"/>
                </a:solidFill>
                <a:latin typeface="Arial" pitchFamily="34" charset="0"/>
                <a:ea typeface="Arial" pitchFamily="34" charset="-122"/>
                <a:cs typeface="Arial" pitchFamily="34" charset="-120"/>
              </a:rPr>
              <a:t>OFF-GRID PROJECT ·  CAPSTONE PROJECT LAB  ·  SPONSOR: DR. RICHARD GALE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rtlCol="0" anchor="ctr"/>
          <a:lstStyle/>
          <a:p>
            <a:pPr marL="0" indent="0" algn="ctr">
              <a:buNone/>
            </a:pPr>
            <a:r>
              <a:rPr lang="en-US" sz="3200" b="1" dirty="0">
                <a:solidFill>
                  <a:srgbClr val="16213D"/>
                </a:solidFill>
                <a:latin typeface="Arial" pitchFamily="34" charset="0"/>
                <a:ea typeface="Arial" pitchFamily="34" charset="-122"/>
                <a:cs typeface="Arial" pitchFamily="34" charset="-120"/>
              </a:rPr>
              <a:t>Setting Off Together</a:t>
            </a:r>
            <a:endParaRPr lang="en-US" sz="3200" dirty="0"/>
          </a:p>
        </p:txBody>
      </p:sp>
      <p:pic>
        <p:nvPicPr>
          <p:cNvPr id="3" name="Media 0">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640080" y="1188720"/>
            <a:ext cx="3017520" cy="5367528"/>
          </a:xfrm>
          <a:prstGeom prst="rect">
            <a:avLst/>
          </a:prstGeom>
        </p:spPr>
      </p:pic>
      <p:sp>
        <p:nvSpPr>
          <p:cNvPr id="4" name="Text 1"/>
          <p:cNvSpPr txBox="1"/>
          <p:nvPr/>
        </p:nvSpPr>
        <p:spPr>
          <a:xfrm>
            <a:off x="4206240" y="1325880"/>
            <a:ext cx="7406640" cy="548640"/>
          </a:xfrm>
          <a:prstGeom prst="rect">
            <a:avLst/>
          </a:prstGeom>
          <a:noFill/>
          <a:ln/>
        </p:spPr>
        <p:txBody>
          <a:bodyPr wrap="square" rtlCol="0" anchor="ctr"/>
          <a:lstStyle/>
          <a:p>
            <a:pPr marL="0" indent="0">
              <a:buNone/>
            </a:pPr>
            <a:r>
              <a:rPr lang="en-US" sz="2000" b="1" dirty="0">
                <a:solidFill>
                  <a:srgbClr val="E58E1A"/>
                </a:solidFill>
                <a:latin typeface="Arial" pitchFamily="34" charset="0"/>
                <a:ea typeface="Arial" pitchFamily="34" charset="-122"/>
                <a:cs typeface="Arial" pitchFamily="34" charset="-120"/>
              </a:rPr>
              <a:t>The baseline: two radios, 19 feet, all links green.</a:t>
            </a:r>
            <a:endParaRPr lang="en-US" sz="2000" dirty="0"/>
          </a:p>
        </p:txBody>
      </p:sp>
      <p:sp>
        <p:nvSpPr>
          <p:cNvPr id="5" name="Text 2"/>
          <p:cNvSpPr txBox="1"/>
          <p:nvPr/>
        </p:nvSpPr>
        <p:spPr>
          <a:xfrm>
            <a:off x="4206240" y="2011680"/>
            <a:ext cx="7315200" cy="4206240"/>
          </a:xfrm>
          <a:prstGeom prst="rect">
            <a:avLst/>
          </a:prstGeom>
          <a:noFill/>
          <a:ln/>
        </p:spPr>
        <p:txBody>
          <a:bodyPr wrap="square" rtlCol="0" anchor="t"/>
          <a:lstStyle/>
          <a:p>
            <a:pPr marL="342900" indent="-342900">
              <a:spcAft>
                <a:spcPts val="1000"/>
              </a:spcAft>
              <a:buSzPct val="100000"/>
              <a:buChar char="•"/>
            </a:pPr>
            <a:r>
              <a:rPr lang="en-US" sz="1600" dirty="0">
                <a:solidFill>
                  <a:srgbClr val="1B2440"/>
                </a:solidFill>
                <a:latin typeface="Arial" pitchFamily="34" charset="0"/>
                <a:ea typeface="Arial" pitchFamily="34" charset="-122"/>
                <a:cs typeface="Arial" pitchFamily="34" charset="-120"/>
              </a:rPr>
              <a:t>19 ft apart, holding, stopped. The gap is GNSS scatter, honestly shown.</a:t>
            </a:r>
            <a:endParaRPr lang="en-US" sz="1600" dirty="0"/>
          </a:p>
          <a:p>
            <a:pPr marL="342900" indent="-342900">
              <a:spcAft>
                <a:spcPts val="1000"/>
              </a:spcAft>
              <a:buSzPct val="100000"/>
              <a:buChar char="•"/>
            </a:pPr>
            <a:r>
              <a:rPr lang="en-US" sz="1600" dirty="0">
                <a:solidFill>
                  <a:srgbClr val="1B2440"/>
                </a:solidFill>
                <a:latin typeface="Arial" pitchFamily="34" charset="0"/>
                <a:ea typeface="Arial" pitchFamily="34" charset="-122"/>
                <a:cs typeface="Arial" pitchFamily="34" charset="-120"/>
              </a:rPr>
              <a:t>RG&lt;-&gt;SF OK means the radios hear each other. link OK is the display's own radio link.</a:t>
            </a:r>
            <a:endParaRPr lang="en-US" sz="1600" dirty="0"/>
          </a:p>
          <a:p>
            <a:pPr marL="342900" indent="-342900">
              <a:spcAft>
                <a:spcPts val="1000"/>
              </a:spcAft>
              <a:buSzPct val="100000"/>
              <a:buChar char="•"/>
            </a:pPr>
            <a:r>
              <a:rPr lang="en-US" sz="1600" dirty="0">
                <a:solidFill>
                  <a:srgbClr val="1B2440"/>
                </a:solidFill>
                <a:latin typeface="Arial" pitchFamily="34" charset="0"/>
                <a:ea typeface="Arial" pitchFamily="34" charset="-122"/>
                <a:cs typeface="Arial" pitchFamily="34" charset="-120"/>
              </a:rPr>
              <a:t>Everything on screen arrives over the private LoRa channel.</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rtlCol="0" anchor="ctr"/>
          <a:lstStyle/>
          <a:p>
            <a:pPr marL="0" indent="0" algn="ctr">
              <a:buNone/>
            </a:pPr>
            <a:r>
              <a:rPr lang="en-US" sz="3200" b="1" dirty="0">
                <a:solidFill>
                  <a:srgbClr val="16213D"/>
                </a:solidFill>
                <a:latin typeface="Arial" pitchFamily="34" charset="0"/>
                <a:ea typeface="Arial" pitchFamily="34" charset="-122"/>
                <a:cs typeface="Arial" pitchFamily="34" charset="-120"/>
              </a:rPr>
              <a:t>Pulling Apart</a:t>
            </a:r>
            <a:endParaRPr lang="en-US" sz="3200" dirty="0"/>
          </a:p>
        </p:txBody>
      </p:sp>
      <p:pic>
        <p:nvPicPr>
          <p:cNvPr id="3" name="Media 0">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640080" y="1188720"/>
            <a:ext cx="3017520" cy="5367528"/>
          </a:xfrm>
          <a:prstGeom prst="rect">
            <a:avLst/>
          </a:prstGeom>
        </p:spPr>
      </p:pic>
      <p:sp>
        <p:nvSpPr>
          <p:cNvPr id="4" name="Text 1"/>
          <p:cNvSpPr txBox="1"/>
          <p:nvPr/>
        </p:nvSpPr>
        <p:spPr>
          <a:xfrm>
            <a:off x="4206240" y="1325880"/>
            <a:ext cx="7406640" cy="548640"/>
          </a:xfrm>
          <a:prstGeom prst="rect">
            <a:avLst/>
          </a:prstGeom>
          <a:noFill/>
          <a:ln/>
        </p:spPr>
        <p:txBody>
          <a:bodyPr wrap="square" rtlCol="0" anchor="ctr"/>
          <a:lstStyle/>
          <a:p>
            <a:pPr marL="0" indent="0">
              <a:buNone/>
            </a:pPr>
            <a:r>
              <a:rPr lang="en-US" sz="2000" b="1" dirty="0">
                <a:solidFill>
                  <a:srgbClr val="E58E1A"/>
                </a:solidFill>
                <a:latin typeface="Arial" pitchFamily="34" charset="0"/>
                <a:ea typeface="Arial" pitchFamily="34" charset="-122"/>
                <a:cs typeface="Arial" pitchFamily="34" charset="-120"/>
              </a:rPr>
              <a:t>Driving away on purpose, and the screen objects.</a:t>
            </a:r>
            <a:endParaRPr lang="en-US" sz="2000" dirty="0"/>
          </a:p>
        </p:txBody>
      </p:sp>
      <p:sp>
        <p:nvSpPr>
          <p:cNvPr id="5" name="Text 2"/>
          <p:cNvSpPr txBox="1"/>
          <p:nvPr/>
        </p:nvSpPr>
        <p:spPr>
          <a:xfrm>
            <a:off x="4206240" y="2011680"/>
            <a:ext cx="7315200" cy="4206240"/>
          </a:xfrm>
          <a:prstGeom prst="rect">
            <a:avLst/>
          </a:prstGeom>
          <a:noFill/>
          <a:ln/>
        </p:spPr>
        <p:txBody>
          <a:bodyPr wrap="square" rtlCol="0" anchor="t"/>
          <a:lstStyle/>
          <a:p>
            <a:pPr marL="342900" indent="-342900">
              <a:spcAft>
                <a:spcPts val="1000"/>
              </a:spcAft>
              <a:buSzPct val="100000"/>
              <a:buChar char="•"/>
            </a:pPr>
            <a:r>
              <a:rPr lang="en-US" sz="1600" dirty="0">
                <a:solidFill>
                  <a:srgbClr val="1B2440"/>
                </a:solidFill>
                <a:latin typeface="Arial" pitchFamily="34" charset="0"/>
                <a:ea typeface="Arial" pitchFamily="34" charset="-122"/>
                <a:cs typeface="Arial" pitchFamily="34" charset="-120"/>
              </a:rPr>
              <a:t>At 3 o'clock, apart 24 mph. Clock directions are relative to the hood.</a:t>
            </a:r>
            <a:endParaRPr lang="en-US" sz="1600" dirty="0"/>
          </a:p>
          <a:p>
            <a:pPr marL="342900" indent="-342900">
              <a:spcAft>
                <a:spcPts val="1000"/>
              </a:spcAft>
              <a:buSzPct val="100000"/>
              <a:buChar char="•"/>
            </a:pPr>
            <a:r>
              <a:rPr lang="en-US" sz="1600" dirty="0">
                <a:solidFill>
                  <a:srgbClr val="1B2440"/>
                </a:solidFill>
                <a:latin typeface="Arial" pitchFamily="34" charset="0"/>
                <a:ea typeface="Arial" pitchFamily="34" charset="-122"/>
                <a:cs typeface="Arial" pitchFamily="34" charset="-120"/>
              </a:rPr>
              <a:t>CHANGE COURSE fires after five seconds of driving away. It clears when the gap stops growing.</a:t>
            </a:r>
            <a:endParaRPr lang="en-US" sz="1600" dirty="0"/>
          </a:p>
          <a:p>
            <a:pPr marL="342900" indent="-342900">
              <a:spcAft>
                <a:spcPts val="1000"/>
              </a:spcAft>
              <a:buSzPct val="100000"/>
              <a:buChar char="•"/>
            </a:pPr>
            <a:r>
              <a:rPr lang="en-US" sz="1600" dirty="0">
                <a:solidFill>
                  <a:srgbClr val="1B2440"/>
                </a:solidFill>
                <a:latin typeface="Arial" pitchFamily="34" charset="0"/>
                <a:ea typeface="Arial" pitchFamily="34" charset="-122"/>
                <a:cs typeface="Arial" pitchFamily="34" charset="-120"/>
              </a:rPr>
              <a:t>Ages stay in single digits at the ten second cadence.</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rtlCol="0" anchor="ctr"/>
          <a:lstStyle/>
          <a:p>
            <a:pPr marL="0" indent="0" algn="ctr">
              <a:buNone/>
            </a:pPr>
            <a:r>
              <a:rPr lang="en-US" sz="3200" b="1" dirty="0">
                <a:solidFill>
                  <a:srgbClr val="16213D"/>
                </a:solidFill>
                <a:latin typeface="Arial" pitchFamily="34" charset="0"/>
                <a:ea typeface="Arial" pitchFamily="34" charset="-122"/>
                <a:cs typeface="Arial" pitchFamily="34" charset="-120"/>
              </a:rPr>
              <a:t>Maximum Range: Link Held at 3.26 Miles</a:t>
            </a:r>
            <a:endParaRPr lang="en-US" sz="3200" dirty="0"/>
          </a:p>
        </p:txBody>
      </p:sp>
      <p:pic>
        <p:nvPicPr>
          <p:cNvPr id="3" name="Media 0">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548640" y="1188720"/>
            <a:ext cx="2898648" cy="5148072"/>
          </a:xfrm>
          <a:prstGeom prst="rect">
            <a:avLst/>
          </a:prstGeom>
        </p:spPr>
      </p:pic>
      <p:pic>
        <p:nvPicPr>
          <p:cNvPr id="4" name="Image 0" descr="C:/Users/deogr/AppData/Local/Temp/claude/C--Users-deogr-Documents-Fall-Project-Off-Grid-Vehicle-dection-project/eca057db-c8d2-4bae-87d3-8a6c4f6c4af6/scratchpad/demovid2/findmy_pin.jpg"/>
          <p:cNvPicPr>
            <a:picLocks noChangeAspect="1"/>
          </p:cNvPicPr>
          <p:nvPr/>
        </p:nvPicPr>
        <p:blipFill>
          <a:blip r:embed="rId6"/>
          <a:stretch>
            <a:fillRect/>
          </a:stretch>
        </p:blipFill>
        <p:spPr>
          <a:xfrm>
            <a:off x="3657600" y="1188720"/>
            <a:ext cx="2066544" cy="4480560"/>
          </a:xfrm>
          <a:prstGeom prst="rect">
            <a:avLst/>
          </a:prstGeom>
        </p:spPr>
      </p:pic>
      <p:pic>
        <p:nvPicPr>
          <p:cNvPr id="5" name="Image 1" descr="C:/Users/deogr/AppData/Local/Temp/claude/C--Users-deogr-Documents-Fall-Project-Off-Grid-Vehicle-dection-project/eca057db-c8d2-4bae-87d3-8a6c4f6c4af6/scratchpad/demovid2/findmy_route.jpg"/>
          <p:cNvPicPr>
            <a:picLocks noChangeAspect="1"/>
          </p:cNvPicPr>
          <p:nvPr/>
        </p:nvPicPr>
        <p:blipFill>
          <a:blip r:embed="rId7"/>
          <a:stretch>
            <a:fillRect/>
          </a:stretch>
        </p:blipFill>
        <p:spPr>
          <a:xfrm>
            <a:off x="5870448" y="1188720"/>
            <a:ext cx="2066544" cy="4480560"/>
          </a:xfrm>
          <a:prstGeom prst="rect">
            <a:avLst/>
          </a:prstGeom>
        </p:spPr>
      </p:pic>
      <p:sp>
        <p:nvSpPr>
          <p:cNvPr id="6" name="Text 1"/>
          <p:cNvSpPr txBox="1"/>
          <p:nvPr/>
        </p:nvSpPr>
        <p:spPr>
          <a:xfrm>
            <a:off x="8183880" y="1280160"/>
            <a:ext cx="3657600" cy="457200"/>
          </a:xfrm>
          <a:prstGeom prst="rect">
            <a:avLst/>
          </a:prstGeom>
          <a:noFill/>
          <a:ln/>
        </p:spPr>
        <p:txBody>
          <a:bodyPr wrap="square" rtlCol="0" anchor="ctr"/>
          <a:lstStyle/>
          <a:p>
            <a:pPr marL="0" indent="0">
              <a:buNone/>
            </a:pPr>
            <a:r>
              <a:rPr lang="en-US" sz="2000" b="1" dirty="0">
                <a:solidFill>
                  <a:srgbClr val="E58E1A"/>
                </a:solidFill>
                <a:latin typeface="Arial" pitchFamily="34" charset="0"/>
                <a:ea typeface="Arial" pitchFamily="34" charset="-122"/>
                <a:cs typeface="Arial" pitchFamily="34" charset="-120"/>
              </a:rPr>
              <a:t>Proof, twice over</a:t>
            </a:r>
            <a:endParaRPr lang="en-US" sz="2000" dirty="0"/>
          </a:p>
        </p:txBody>
      </p:sp>
      <p:sp>
        <p:nvSpPr>
          <p:cNvPr id="7" name="Text 2"/>
          <p:cNvSpPr txBox="1"/>
          <p:nvPr/>
        </p:nvSpPr>
        <p:spPr>
          <a:xfrm>
            <a:off x="8183880" y="1874520"/>
            <a:ext cx="3657600" cy="4480560"/>
          </a:xfrm>
          <a:prstGeom prst="rect">
            <a:avLst/>
          </a:prstGeom>
          <a:noFill/>
          <a:ln/>
        </p:spPr>
        <p:txBody>
          <a:bodyPr wrap="square" rtlCol="0" anchor="t"/>
          <a:lstStyle/>
          <a:p>
            <a:pPr marL="342900" indent="-342900">
              <a:spcAft>
                <a:spcPts val="1000"/>
              </a:spcAft>
              <a:buSzPct val="100000"/>
              <a:buChar char="•"/>
            </a:pPr>
            <a:r>
              <a:rPr lang="en-US" sz="1350" dirty="0">
                <a:solidFill>
                  <a:srgbClr val="1B2440"/>
                </a:solidFill>
                <a:latin typeface="Arial" pitchFamily="34" charset="0"/>
                <a:ea typeface="Arial" pitchFamily="34" charset="-122"/>
                <a:cs typeface="Arial" pitchFamily="34" charset="-120"/>
              </a:rPr>
              <a:t>The video: LINK CONNECTED at 3.26 miles, both coordinate sets live. The latitude delta is 0.04719 degrees = 5.25 km = 3.26 mi: the display's math agrees with its own coordinates at maximum range.</a:t>
            </a:r>
            <a:endParaRPr lang="en-US" sz="1350" dirty="0"/>
          </a:p>
          <a:p>
            <a:pPr marL="342900" indent="-342900">
              <a:spcAft>
                <a:spcPts val="1000"/>
              </a:spcAft>
              <a:buSzPct val="100000"/>
              <a:buChar char="•"/>
            </a:pPr>
            <a:r>
              <a:rPr lang="en-US" sz="1350" dirty="0">
                <a:solidFill>
                  <a:srgbClr val="1B2440"/>
                </a:solidFill>
                <a:latin typeface="Arial" pitchFamily="34" charset="0"/>
                <a:ea typeface="Arial" pitchFamily="34" charset="-122"/>
                <a:cs typeface="Arial" pitchFamily="34" charset="-120"/>
              </a:rPr>
              <a:t>The photos: independent ground truth. Find My places the parked partner 4.1 road miles up N County Road 2000.</a:t>
            </a:r>
            <a:endParaRPr lang="en-US" sz="1350" dirty="0"/>
          </a:p>
          <a:p>
            <a:pPr marL="342900" indent="-342900">
              <a:spcAft>
                <a:spcPts val="1000"/>
              </a:spcAft>
              <a:buSzPct val="100000"/>
              <a:buChar char="•"/>
            </a:pPr>
            <a:r>
              <a:rPr lang="en-US" sz="1350" dirty="0">
                <a:solidFill>
                  <a:srgbClr val="1B2440"/>
                </a:solidFill>
                <a:latin typeface="Arial" pitchFamily="34" charset="0"/>
                <a:ea typeface="Arial" pitchFamily="34" charset="-122"/>
                <a:cs typeface="Arial" pitchFamily="34" charset="-120"/>
              </a:rPr>
              <a:t>Design range: 3 to 5 km in terrain. Measured: 5.25 km fully healthy, antennas still inside the cars.</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rtlCol="0" anchor="ctr"/>
          <a:lstStyle/>
          <a:p>
            <a:pPr marL="0" indent="0" algn="ctr">
              <a:buNone/>
            </a:pPr>
            <a:r>
              <a:rPr lang="en-US" sz="3200" b="1" dirty="0">
                <a:solidFill>
                  <a:srgbClr val="16213D"/>
                </a:solidFill>
                <a:latin typeface="Arial" pitchFamily="34" charset="0"/>
                <a:ea typeface="Arial" pitchFamily="34" charset="-122"/>
                <a:cs typeface="Arial" pitchFamily="34" charset="-120"/>
              </a:rPr>
              <a:t>The Edge at 3.75 Miles</a:t>
            </a:r>
            <a:endParaRPr lang="en-US" sz="3200" dirty="0"/>
          </a:p>
        </p:txBody>
      </p:sp>
      <p:pic>
        <p:nvPicPr>
          <p:cNvPr id="3" name="Media 0">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640080" y="1188720"/>
            <a:ext cx="3017520" cy="5367528"/>
          </a:xfrm>
          <a:prstGeom prst="rect">
            <a:avLst/>
          </a:prstGeom>
        </p:spPr>
      </p:pic>
      <p:sp>
        <p:nvSpPr>
          <p:cNvPr id="4" name="Text 1"/>
          <p:cNvSpPr txBox="1"/>
          <p:nvPr/>
        </p:nvSpPr>
        <p:spPr>
          <a:xfrm>
            <a:off x="4206240" y="1325880"/>
            <a:ext cx="7406640" cy="548640"/>
          </a:xfrm>
          <a:prstGeom prst="rect">
            <a:avLst/>
          </a:prstGeom>
          <a:noFill/>
          <a:ln/>
        </p:spPr>
        <p:txBody>
          <a:bodyPr wrap="square" rtlCol="0" anchor="ctr"/>
          <a:lstStyle/>
          <a:p>
            <a:pPr marL="0" indent="0">
              <a:buNone/>
            </a:pPr>
            <a:r>
              <a:rPr lang="en-US" sz="2000" b="1" dirty="0">
                <a:solidFill>
                  <a:srgbClr val="E58E1A"/>
                </a:solidFill>
                <a:latin typeface="Arial" pitchFamily="34" charset="0"/>
                <a:ea typeface="Arial" pitchFamily="34" charset="-122"/>
                <a:cs typeface="Arial" pitchFamily="34" charset="-120"/>
              </a:rPr>
              <a:t>Found the edge, and the system said so honestly.</a:t>
            </a:r>
            <a:endParaRPr lang="en-US" sz="2000" dirty="0"/>
          </a:p>
        </p:txBody>
      </p:sp>
      <p:sp>
        <p:nvSpPr>
          <p:cNvPr id="5" name="Text 2"/>
          <p:cNvSpPr txBox="1"/>
          <p:nvPr/>
        </p:nvSpPr>
        <p:spPr>
          <a:xfrm>
            <a:off x="4206240" y="2011680"/>
            <a:ext cx="7315200" cy="4206240"/>
          </a:xfrm>
          <a:prstGeom prst="rect">
            <a:avLst/>
          </a:prstGeom>
          <a:noFill/>
          <a:ln/>
        </p:spPr>
        <p:txBody>
          <a:bodyPr wrap="square" rtlCol="0" anchor="t"/>
          <a:lstStyle/>
          <a:p>
            <a:pPr marL="342900" indent="-342900">
              <a:spcAft>
                <a:spcPts val="1000"/>
              </a:spcAft>
              <a:buSzPct val="100000"/>
              <a:buChar char="•"/>
            </a:pPr>
            <a:r>
              <a:rPr lang="en-US" sz="1600" dirty="0">
                <a:solidFill>
                  <a:srgbClr val="1B2440"/>
                </a:solidFill>
                <a:latin typeface="Arial" pitchFamily="34" charset="0"/>
                <a:ea typeface="Arial" pitchFamily="34" charset="-122"/>
                <a:cs typeface="Arial" pitchFamily="34" charset="-120"/>
              </a:rPr>
              <a:t>DATA STALE, age 2 minutes, and the radio reports the failed message. Both devices tell the truth.</a:t>
            </a:r>
            <a:endParaRPr lang="en-US" sz="1600" dirty="0"/>
          </a:p>
          <a:p>
            <a:pPr marL="342900" indent="-342900">
              <a:spcAft>
                <a:spcPts val="1000"/>
              </a:spcAft>
              <a:buSzPct val="100000"/>
              <a:buChar char="•"/>
            </a:pPr>
            <a:r>
              <a:rPr lang="en-US" sz="1600" dirty="0">
                <a:solidFill>
                  <a:srgbClr val="1B2440"/>
                </a:solidFill>
                <a:latin typeface="Arial" pitchFamily="34" charset="0"/>
                <a:ea typeface="Arial" pitchFamily="34" charset="-122"/>
                <a:cs typeface="Arial" pitchFamily="34" charset="-120"/>
              </a:rPr>
              <a:t>The reliable edge for this setup, not a physics wall. Antennas were inside the cars.</a:t>
            </a:r>
            <a:endParaRPr lang="en-US" sz="1600" dirty="0"/>
          </a:p>
          <a:p>
            <a:pPr marL="342900" indent="-342900">
              <a:spcAft>
                <a:spcPts val="1000"/>
              </a:spcAft>
              <a:buSzPct val="100000"/>
              <a:buChar char="•"/>
            </a:pPr>
            <a:r>
              <a:rPr lang="en-US" sz="1600" dirty="0">
                <a:solidFill>
                  <a:srgbClr val="1B2440"/>
                </a:solidFill>
                <a:latin typeface="Arial" pitchFamily="34" charset="0"/>
                <a:ea typeface="Arial" pitchFamily="34" charset="-122"/>
                <a:cs typeface="Arial" pitchFamily="34" charset="-120"/>
              </a:rPr>
              <a:t>A roof antenna recovers 10 to 20 dB, and every 6 dB doubles range. In town the same hardware went stale at half a mile.</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rtlCol="0" anchor="ctr"/>
          <a:lstStyle/>
          <a:p>
            <a:pPr marL="0" indent="0" algn="ctr">
              <a:buNone/>
            </a:pPr>
            <a:r>
              <a:rPr lang="en-US" sz="3200" b="1" dirty="0">
                <a:solidFill>
                  <a:srgbClr val="16213D"/>
                </a:solidFill>
                <a:latin typeface="Arial" pitchFamily="34" charset="0"/>
                <a:ea typeface="Arial" pitchFamily="34" charset="-122"/>
                <a:cs typeface="Arial" pitchFamily="34" charset="-120"/>
              </a:rPr>
              <a:t>The Drive Back</a:t>
            </a:r>
            <a:endParaRPr lang="en-US" sz="3200" dirty="0"/>
          </a:p>
        </p:txBody>
      </p:sp>
      <p:pic>
        <p:nvPicPr>
          <p:cNvPr id="3" name="Media 0">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640080" y="1188720"/>
            <a:ext cx="2898648" cy="5148072"/>
          </a:xfrm>
          <a:prstGeom prst="rect">
            <a:avLst/>
          </a:prstGeom>
        </p:spPr>
      </p:pic>
      <p:pic>
        <p:nvPicPr>
          <p:cNvPr id="6" name="Media 1">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7"/>
          <a:stretch>
            <a:fillRect/>
          </a:stretch>
        </p:blipFill>
        <p:spPr>
          <a:xfrm>
            <a:off x="3749040" y="1188720"/>
            <a:ext cx="2898648" cy="5148072"/>
          </a:xfrm>
          <a:prstGeom prst="rect">
            <a:avLst/>
          </a:prstGeom>
        </p:spPr>
      </p:pic>
      <p:sp>
        <p:nvSpPr>
          <p:cNvPr id="5" name="Text 1"/>
          <p:cNvSpPr txBox="1"/>
          <p:nvPr/>
        </p:nvSpPr>
        <p:spPr>
          <a:xfrm>
            <a:off x="6949440" y="1325880"/>
            <a:ext cx="4754880" cy="457200"/>
          </a:xfrm>
          <a:prstGeom prst="rect">
            <a:avLst/>
          </a:prstGeom>
          <a:noFill/>
          <a:ln/>
        </p:spPr>
        <p:txBody>
          <a:bodyPr wrap="square" rtlCol="0" anchor="ctr"/>
          <a:lstStyle/>
          <a:p>
            <a:pPr marL="0" indent="0">
              <a:buNone/>
            </a:pPr>
            <a:r>
              <a:rPr lang="en-US" sz="2000" b="1" dirty="0">
                <a:solidFill>
                  <a:srgbClr val="E58E1A"/>
                </a:solidFill>
                <a:latin typeface="Arial" pitchFamily="34" charset="0"/>
                <a:ea typeface="Arial" pitchFamily="34" charset="-122"/>
                <a:cs typeface="Arial" pitchFamily="34" charset="-120"/>
              </a:rPr>
              <a:t>Back in range, hands off</a:t>
            </a:r>
            <a:endParaRPr lang="en-US" sz="2000" dirty="0"/>
          </a:p>
        </p:txBody>
      </p:sp>
      <p:sp>
        <p:nvSpPr>
          <p:cNvPr id="4" name="Text 2"/>
          <p:cNvSpPr txBox="1"/>
          <p:nvPr/>
        </p:nvSpPr>
        <p:spPr>
          <a:xfrm>
            <a:off x="6949440" y="1874520"/>
            <a:ext cx="4846320" cy="4389120"/>
          </a:xfrm>
          <a:prstGeom prst="rect">
            <a:avLst/>
          </a:prstGeom>
          <a:noFill/>
          <a:ln/>
        </p:spPr>
        <p:txBody>
          <a:bodyPr wrap="square" rtlCol="0" anchor="t"/>
          <a:lstStyle/>
          <a:p>
            <a:pPr marL="342900" indent="-342900">
              <a:spcAft>
                <a:spcPts val="1000"/>
              </a:spcAft>
              <a:buSzPct val="100000"/>
              <a:buChar char="•"/>
            </a:pPr>
            <a:r>
              <a:rPr lang="en-US" sz="1450" dirty="0">
                <a:solidFill>
                  <a:srgbClr val="1B2440"/>
                </a:solidFill>
                <a:latin typeface="Arial" pitchFamily="34" charset="0"/>
                <a:ea typeface="Arial" pitchFamily="34" charset="-122"/>
                <a:cs typeface="Arial" pitchFamily="34" charset="-120"/>
              </a:rPr>
              <a:t>Left: the countdown. Distance falling, closing rate shown, ages in single digits.</a:t>
            </a:r>
            <a:endParaRPr lang="en-US" sz="1450" dirty="0"/>
          </a:p>
          <a:p>
            <a:pPr marL="342900" indent="-342900">
              <a:spcAft>
                <a:spcPts val="1000"/>
              </a:spcAft>
              <a:buSzPct val="100000"/>
              <a:buChar char="•"/>
            </a:pPr>
            <a:r>
              <a:rPr lang="en-US" sz="1450" dirty="0">
                <a:solidFill>
                  <a:srgbClr val="1B2440"/>
                </a:solidFill>
                <a:latin typeface="Arial" pitchFamily="34" charset="0"/>
                <a:ea typeface="Arial" pitchFamily="34" charset="-122"/>
                <a:cs typeface="Arial" pitchFamily="34" charset="-120"/>
              </a:rPr>
              <a:t>Right: how we got there. The display guides the turn, the partner's car appears through the windshield, and it ends at 25 ft, stopped.</a:t>
            </a:r>
            <a:endParaRPr lang="en-US" sz="1450" dirty="0"/>
          </a:p>
          <a:p>
            <a:pPr marL="342900" indent="-342900">
              <a:spcAft>
                <a:spcPts val="1000"/>
              </a:spcAft>
              <a:buSzPct val="100000"/>
              <a:buChar char="•"/>
            </a:pPr>
            <a:r>
              <a:rPr lang="en-US" sz="1450" dirty="0">
                <a:solidFill>
                  <a:srgbClr val="1B2440"/>
                </a:solidFill>
                <a:latin typeface="Arial" pitchFamily="34" charset="0"/>
                <a:ea typeface="Arial" pitchFamily="34" charset="-122"/>
                <a:cs typeface="Arial" pitchFamily="34" charset="-120"/>
              </a:rPr>
              <a:t>No buttons pressed. The system reacquired itself.</a:t>
            </a:r>
            <a:endParaRPr lang="en-US" sz="14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rtlCol="0" anchor="ctr"/>
          <a:lstStyle/>
          <a:p>
            <a:pPr marL="0" indent="0" algn="ctr">
              <a:buNone/>
            </a:pPr>
            <a:r>
              <a:rPr lang="en-US" sz="3200" b="1" dirty="0">
                <a:solidFill>
                  <a:srgbClr val="16213D"/>
                </a:solidFill>
                <a:latin typeface="Arial" pitchFamily="34" charset="0"/>
                <a:ea typeface="Arial" pitchFamily="34" charset="-122"/>
                <a:cs typeface="Arial" pitchFamily="34" charset="-120"/>
              </a:rPr>
              <a:t>Course-Up at 37 mph, Then Reunion</a:t>
            </a:r>
            <a:endParaRPr lang="en-US" sz="3200" dirty="0"/>
          </a:p>
        </p:txBody>
      </p:sp>
      <p:pic>
        <p:nvPicPr>
          <p:cNvPr id="3" name="Media 0">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640080" y="1188720"/>
            <a:ext cx="2898648" cy="5148072"/>
          </a:xfrm>
          <a:prstGeom prst="rect">
            <a:avLst/>
          </a:prstGeom>
        </p:spPr>
      </p:pic>
      <p:pic>
        <p:nvPicPr>
          <p:cNvPr id="6" name="Media 1">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7"/>
          <a:stretch>
            <a:fillRect/>
          </a:stretch>
        </p:blipFill>
        <p:spPr>
          <a:xfrm>
            <a:off x="3749040" y="1188720"/>
            <a:ext cx="2898648" cy="5148072"/>
          </a:xfrm>
          <a:prstGeom prst="rect">
            <a:avLst/>
          </a:prstGeom>
        </p:spPr>
      </p:pic>
      <p:sp>
        <p:nvSpPr>
          <p:cNvPr id="5" name="Text 1"/>
          <p:cNvSpPr txBox="1"/>
          <p:nvPr/>
        </p:nvSpPr>
        <p:spPr>
          <a:xfrm>
            <a:off x="6949440" y="1325880"/>
            <a:ext cx="4754880" cy="457200"/>
          </a:xfrm>
          <a:prstGeom prst="rect">
            <a:avLst/>
          </a:prstGeom>
          <a:noFill/>
          <a:ln/>
        </p:spPr>
        <p:txBody>
          <a:bodyPr wrap="square" rtlCol="0" anchor="ctr"/>
          <a:lstStyle/>
          <a:p>
            <a:pPr marL="0" indent="0">
              <a:buNone/>
            </a:pPr>
            <a:r>
              <a:rPr lang="en-US" sz="2000" b="1" dirty="0">
                <a:solidFill>
                  <a:srgbClr val="E58E1A"/>
                </a:solidFill>
                <a:latin typeface="Arial" pitchFamily="34" charset="0"/>
                <a:ea typeface="Arial" pitchFamily="34" charset="-122"/>
                <a:cs typeface="Arial" pitchFamily="34" charset="-120"/>
              </a:rPr>
              <a:t>The last mile</a:t>
            </a:r>
            <a:endParaRPr lang="en-US" sz="2000" dirty="0"/>
          </a:p>
        </p:txBody>
      </p:sp>
      <p:sp>
        <p:nvSpPr>
          <p:cNvPr id="4" name="Text 2"/>
          <p:cNvSpPr txBox="1"/>
          <p:nvPr/>
        </p:nvSpPr>
        <p:spPr>
          <a:xfrm>
            <a:off x="6949440" y="1874520"/>
            <a:ext cx="4846320" cy="4389120"/>
          </a:xfrm>
          <a:prstGeom prst="rect">
            <a:avLst/>
          </a:prstGeom>
          <a:noFill/>
          <a:ln/>
        </p:spPr>
        <p:txBody>
          <a:bodyPr wrap="square" rtlCol="0" anchor="t"/>
          <a:lstStyle/>
          <a:p>
            <a:pPr marL="342900" indent="-342900">
              <a:spcAft>
                <a:spcPts val="1000"/>
              </a:spcAft>
              <a:buSzPct val="100000"/>
              <a:buChar char="•"/>
            </a:pPr>
            <a:r>
              <a:rPr lang="en-US" sz="1450" dirty="0">
                <a:solidFill>
                  <a:srgbClr val="1B2440"/>
                </a:solidFill>
                <a:latin typeface="Arial" pitchFamily="34" charset="0"/>
                <a:ea typeface="Arial" pitchFamily="34" charset="-122"/>
                <a:cs typeface="Arial" pitchFamily="34" charset="-120"/>
              </a:rPr>
              <a:t>Left: 0.83 Mi at 12 o'clock at 37 mph. The ring rotates with the car, so straight ahead is up.</a:t>
            </a:r>
            <a:endParaRPr lang="en-US" sz="1450" dirty="0"/>
          </a:p>
          <a:p>
            <a:pPr marL="342900" indent="-342900">
              <a:spcAft>
                <a:spcPts val="1000"/>
              </a:spcAft>
              <a:buSzPct val="100000"/>
              <a:buChar char="•"/>
            </a:pPr>
            <a:r>
              <a:rPr lang="en-US" sz="1450" dirty="0">
                <a:solidFill>
                  <a:srgbClr val="1B2440"/>
                </a:solidFill>
                <a:latin typeface="Arial" pitchFamily="34" charset="0"/>
                <a:ea typeface="Arial" pitchFamily="34" charset="-122"/>
                <a:cs typeface="Arial" pitchFamily="34" charset="-120"/>
              </a:rPr>
              <a:t>Right: final approach. 127 ft, age 3 seconds. One session, 19 feet to 3.75 miles and back, zero reconnects.</a:t>
            </a:r>
            <a:endParaRPr lang="en-US" sz="14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Question marks in a line and one question mark is lit">
            <a:extLst>
              <a:ext uri="{FF2B5EF4-FFF2-40B4-BE49-F238E27FC236}">
                <a16:creationId xmlns:a16="http://schemas.microsoft.com/office/drawing/2014/main" id="{55624E4B-A5B8-9190-7F24-92453B307F0F}"/>
              </a:ext>
            </a:extLst>
          </p:cNvPr>
          <p:cNvPicPr>
            <a:picLocks noChangeAspect="1"/>
          </p:cNvPicPr>
          <p:nvPr/>
        </p:nvPicPr>
        <p:blipFill>
          <a:blip r:embed="rId3"/>
          <a:srcRect r="15627" b="-1"/>
          <a:stretch>
            <a:fillRect/>
          </a:stretch>
        </p:blipFill>
        <p:spPr>
          <a:xfrm>
            <a:off x="3523488" y="10"/>
            <a:ext cx="8668512" cy="6857990"/>
          </a:xfrm>
          <a:prstGeom prst="rect">
            <a:avLst/>
          </a:prstGeom>
        </p:spPr>
      </p:pic>
      <p:sp>
        <p:nvSpPr>
          <p:cNvPr id="10" name="Rectangle 9">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ext 0"/>
          <p:cNvSpPr txBox="1"/>
          <p:nvPr/>
        </p:nvSpPr>
        <p:spPr>
          <a:xfrm>
            <a:off x="477981" y="1122363"/>
            <a:ext cx="4023360" cy="3204134"/>
          </a:xfrm>
          <a:prstGeom prst="rect">
            <a:avLst/>
          </a:prstGeom>
        </p:spPr>
        <p:txBody>
          <a:bodyPr vert="horz" lIns="91440" tIns="45720" rIns="91440" bIns="45720" rtlCol="0" anchor="b">
            <a:normAutofit/>
          </a:bodyPr>
          <a:lstStyle/>
          <a:p>
            <a:pPr marL="0" indent="0">
              <a:lnSpc>
                <a:spcPct val="90000"/>
              </a:lnSpc>
              <a:spcBef>
                <a:spcPct val="0"/>
              </a:spcBef>
              <a:spcAft>
                <a:spcPts val="600"/>
              </a:spcAft>
            </a:pPr>
            <a:r>
              <a:rPr lang="en-US" sz="4800" b="1" dirty="0">
                <a:solidFill>
                  <a:schemeClr val="bg1"/>
                </a:solidFill>
                <a:latin typeface="+mj-lt"/>
                <a:ea typeface="+mj-ea"/>
                <a:cs typeface="+mj-cs"/>
              </a:rPr>
              <a:t>Question?</a:t>
            </a:r>
            <a:endParaRPr lang="en-US" sz="4800" dirty="0">
              <a:solidFill>
                <a:schemeClr val="bg1"/>
              </a:solidFill>
              <a:latin typeface="+mj-lt"/>
              <a:ea typeface="+mj-ea"/>
              <a:cs typeface="+mj-cs"/>
            </a:endParaRPr>
          </a:p>
        </p:txBody>
      </p:sp>
      <p:sp>
        <p:nvSpPr>
          <p:cNvPr id="12" name="Rectangle 11">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4" name="Rectangle 13">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841</Words>
  <Application>Microsoft Office PowerPoint</Application>
  <PresentationFormat>Widescreen</PresentationFormat>
  <Paragraphs>51</Paragraphs>
  <Slides>8</Slides>
  <Notes>8</Notes>
  <HiddenSlides>0</HiddenSlides>
  <MMClips>8</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Arial</vt:lpstr>
      <vt:lpstr>Calibri</vt:lpstr>
      <vt:lpstr>Calibri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Mwala, Deo</cp:lastModifiedBy>
  <cp:revision>3</cp:revision>
  <dcterms:created xsi:type="dcterms:W3CDTF">2026-10-06T00:39:35Z</dcterms:created>
  <dcterms:modified xsi:type="dcterms:W3CDTF">2026-10-06T00:58:40Z</dcterms:modified>
</cp:coreProperties>
</file>