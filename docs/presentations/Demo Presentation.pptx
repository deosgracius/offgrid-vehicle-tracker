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are about to see is live hardware recorded Saturday night. Two radios, two displays, zero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age number first. Everything on this screen arrives over our private LoRa channel and gets decoded on the display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engineer page. Judges can check the coordinates against a map if they want, these are real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clip is why the UI uses clock positions and banners: at 17 mph nobody reads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flipped handling in raw footage: that drive test is exactly what triggered the course-up firmware fix, shipped the next day. Iteration from road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thesis: nothing between the vehicles but physics and agreement. Then invite questions on the range test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verification slide. The status page shows both coordinates and the distance; anyone can check the haversine. The Find My screenshots are the independent ground truth: 4.1 road miles, about 3.3 straight-line. Design said 3 to 5 km; we measured full health at 5.25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the question: is 3.75 miles the limit? Answer: it is the measured reliable edge for this configuration, not the physics limit. The link budget has 55 dB being consumed by the real world here; a roof antenna alone buys back 10 to 20 dB, and every 6 dB roughly doubles range. Then point at the right video: on the way back the system reacquires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Attempt one: both draw a delay, both hear silence, both transmit, collision, both packets lost. Nothing crashes, each radio just hears no reply. Attempt two: each draws a NEW random delay, RG happens to draw longer, its listen window now hears SF's preamble and defers. That is CSMA with random backoff, the same philosophy as Ethernet. And even repeated bad luck is covered because NodeInfo is periodic. Determinism would be the dangerous design: two identical radios on a fixed schedule would collide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video" Target="../media/media-8-4.mp4"/><Relationship Id="rId5" Type="http://schemas.microsoft.com/office/2007/relationships/media" Target="../media/media-8-4.mp4"/><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Text 0"/>
          <p:cNvSpPr txBox="1"/>
          <p:nvPr/>
        </p:nvSpPr>
        <p:spPr>
          <a:xfrm>
            <a:off x="731520" y="1920240"/>
            <a:ext cx="10698480" cy="914400"/>
          </a:xfrm>
          <a:prstGeom prst="rect">
            <a:avLst/>
          </a:prstGeom>
          <a:noFill/>
          <a:ln/>
        </p:spPr>
        <p:txBody>
          <a:bodyPr wrap="square" rtlCol="0" anchor="ctr"/>
          <a:lstStyle/>
          <a:p>
            <a:pPr indent="0" marL="0">
              <a:buNone/>
            </a:pPr>
            <a:r>
              <a:rPr lang="en-US" sz="4400" b="1" spc="300" kern="0" dirty="0">
                <a:solidFill>
                  <a:srgbClr val="FFFFFF"/>
                </a:solidFill>
                <a:latin typeface="Arial" pitchFamily="34" charset="0"/>
                <a:ea typeface="Arial" pitchFamily="34" charset="-122"/>
                <a:cs typeface="Arial" pitchFamily="34" charset="-120"/>
              </a:rPr>
              <a:t>OFF-GRID VEHICLE TRACKER</a:t>
            </a:r>
            <a:endParaRPr lang="en-US" sz="4400" dirty="0"/>
          </a:p>
        </p:txBody>
      </p:sp>
      <p:sp>
        <p:nvSpPr>
          <p:cNvPr id="3" name="Text 1"/>
          <p:cNvSpPr txBox="1"/>
          <p:nvPr/>
        </p:nvSpPr>
        <p:spPr>
          <a:xfrm>
            <a:off x="731520" y="2880360"/>
            <a:ext cx="10698480" cy="548640"/>
          </a:xfrm>
          <a:prstGeom prst="rect">
            <a:avLst/>
          </a:prstGeom>
          <a:noFill/>
          <a:ln/>
        </p:spPr>
        <p:txBody>
          <a:bodyPr wrap="square" rtlCol="0" anchor="ctr"/>
          <a:lstStyle/>
          <a:p>
            <a:pPr indent="0" marL="0">
              <a:buNone/>
            </a:pPr>
            <a:r>
              <a:rPr lang="en-US" sz="2400" b="1" dirty="0">
                <a:solidFill>
                  <a:srgbClr val="E58E1A"/>
                </a:solidFill>
                <a:latin typeface="Arial" pitchFamily="34" charset="0"/>
                <a:ea typeface="Arial" pitchFamily="34" charset="-122"/>
                <a:cs typeface="Arial" pitchFamily="34" charset="-120"/>
              </a:rPr>
              <a:t>LIVE DEMO  ·  TWO-VEHICLE DRIVE TEST</a:t>
            </a:r>
            <a:endParaRPr lang="en-US" sz="2400" dirty="0"/>
          </a:p>
        </p:txBody>
      </p:sp>
      <p:sp>
        <p:nvSpPr>
          <p:cNvPr id="4" name="Text 2"/>
          <p:cNvSpPr txBox="1"/>
          <p:nvPr/>
        </p:nvSpPr>
        <p:spPr>
          <a:xfrm>
            <a:off x="731520" y="3657600"/>
            <a:ext cx="9875520" cy="1097280"/>
          </a:xfrm>
          <a:prstGeom prst="rect">
            <a:avLst/>
          </a:prstGeom>
          <a:noFill/>
          <a:ln/>
        </p:spPr>
        <p:txBody>
          <a:bodyPr wrap="square" rtlCol="0" anchor="ctr"/>
          <a:lstStyle/>
          <a:p>
            <a:pPr indent="0" marL="0">
              <a:buNone/>
            </a:pPr>
            <a:r>
              <a:rPr lang="en-US" sz="1500" dirty="0">
                <a:solidFill>
                  <a:srgbClr val="C9D8F0"/>
                </a:solidFill>
                <a:latin typeface="Arial" pitchFamily="34" charset="0"/>
                <a:ea typeface="Arial" pitchFamily="34" charset="-122"/>
                <a:cs typeface="Arial" pitchFamily="34" charset="-120"/>
              </a:rPr>
              <a:t>Recorded 2026-10-04 and 10-05, Lubbock TX. Every screen in these videos is live hardware:</a:t>
            </a:r>
            <a:endParaRPr lang="en-US" sz="1500" dirty="0"/>
          </a:p>
          <a:p>
            <a:pPr indent="0" marL="0">
              <a:buNone/>
            </a:pPr>
            <a:r>
              <a:rPr lang="en-US" sz="1500" dirty="0">
                <a:solidFill>
                  <a:srgbClr val="C9D8F0"/>
                </a:solidFill>
                <a:latin typeface="Arial" pitchFamily="34" charset="0"/>
                <a:ea typeface="Arial" pitchFamily="34" charset="-122"/>
                <a:cs typeface="Arial" pitchFamily="34" charset="-120"/>
              </a:rPr>
              <a:t>two Meshtastic radios on a private 912.875 MHz LoRa channel, two custom displays. No phone, no internet, no network.</a:t>
            </a:r>
            <a:endParaRPr lang="en-US" sz="1500" dirty="0"/>
          </a:p>
        </p:txBody>
      </p:sp>
      <p:sp>
        <p:nvSpPr>
          <p:cNvPr id="5" name="Text 3"/>
          <p:cNvSpPr txBox="1"/>
          <p:nvPr/>
        </p:nvSpPr>
        <p:spPr>
          <a:xfrm>
            <a:off x="731520" y="6035040"/>
            <a:ext cx="10058400" cy="365760"/>
          </a:xfrm>
          <a:prstGeom prst="rect">
            <a:avLst/>
          </a:prstGeom>
          <a:noFill/>
          <a:ln/>
        </p:spPr>
        <p:txBody>
          <a:bodyPr wrap="square" rtlCol="0" anchor="ctr"/>
          <a:lstStyle/>
          <a:p>
            <a:pPr indent="0" marL="0">
              <a:buNone/>
            </a:pPr>
            <a:r>
              <a:rPr lang="en-US" sz="1200" dirty="0">
                <a:solidFill>
                  <a:srgbClr val="9AA7BE"/>
                </a:solidFill>
                <a:latin typeface="Arial" pitchFamily="34" charset="0"/>
                <a:ea typeface="Arial" pitchFamily="34" charset="-122"/>
                <a:cs typeface="Arial" pitchFamily="34" charset="-120"/>
              </a:rPr>
              <a:t>GROUP 9  ·  CAPSTONE PROJECT LAB  ·  SPONSOR: DR. RICHARD GALE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Link Up: The Partner Pulls Away</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One minute of live tracking, no network anywhere.</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Radio SF and its display, side by side and live. Top right: SF&lt;-&gt;RG OK means the radios are actively hearing each other.</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RG drives away: 621 ft becomes 0.30 miles on screen, position updates every 10 seconds while moving.</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"age 7s" is the honesty meter: how old the partner's last report is. Single digits means the link is fresh.</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"apart 15 mph" is computed on the display from consecutive positions, nobody transmits a speed-apart number.</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Status Page: Everything the Link Knows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Full telemetry: positions, ages, battery, separation.</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LINK CONNECTED, and below it: radios RG&lt;-&gt;SF COMMUNICATING. Two different links, both named.</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Both vehicles' live coordinates to five decimal places, each with its own data age.</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RG reports its battery over the air: 95 percent. A dying partner radio warns this screen first.</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573 ft between vehicles, and in words: SF IS S OF RG. Readable at a glance, at night, on a reflective panel.</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Driving With It: The Convoy Page at 17 mph</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The display talks like a driver, not like a GPS receiver.</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Shot while actually driving: "you 17 mph" is our own GPS speed.</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"0.27 Mi at 3 o'clock": the partner's direction in windshield terms, not map terms.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Blinker chevrons and the CHANGE COURSE banner fire when we drive away from the partner for 5 seconds.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"holding" means the gap is steady: the display smooths closing speed so GPS jitter never flaps the label.</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Separation, Honestly Reported</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What losing ground looks like on the glass.</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partner drives off: "apart 13 mph", distance climbing through 0.26 miles.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age keeps counting between packets, and past the threshold the arrow hollows: estimate, not measurement.</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screen never pretends. Stale data looks stale, by design.</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Note: this footage predates our course-up compass update, we held the unit rotated to match the road. The firmware now rotates the compass instead of the driver rotating the display.</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Closing the Loop</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3017520" cy="5367528"/>
          </a:xfrm>
          <a:prstGeom prst="rect">
            <a:avLst/>
          </a:prstGeom>
        </p:spPr>
      </p:pic>
      <p:sp>
        <p:nvSpPr>
          <p:cNvPr id="4" name="Text 1"/>
          <p:cNvSpPr txBox="1"/>
          <p:nvPr/>
        </p:nvSpPr>
        <p:spPr>
          <a:xfrm>
            <a:off x="4206240" y="1325880"/>
            <a:ext cx="7406640" cy="548640"/>
          </a:xfrm>
          <a:prstGeom prst="rect">
            <a:avLst/>
          </a:prstGeom>
          <a:noFill/>
          <a:ln/>
        </p:spPr>
        <p:txBody>
          <a:bodyPr wrap="square" rtlCol="0" anchor="ctr"/>
          <a:lstStyle/>
          <a:p>
            <a:pPr indent="0" marL="0">
              <a:buNone/>
            </a:pPr>
            <a:r>
              <a:rPr lang="en-US" sz="2000" b="1" dirty="0">
                <a:solidFill>
                  <a:srgbClr val="E58E1A"/>
                </a:solidFill>
                <a:latin typeface="Arial" pitchFamily="34" charset="0"/>
                <a:ea typeface="Arial" pitchFamily="34" charset="-122"/>
                <a:cs typeface="Arial" pitchFamily="34" charset="-120"/>
              </a:rPr>
              <a:t>Coming back together, guided by the arrow.</a:t>
            </a:r>
            <a:endParaRPr lang="en-US" sz="2000" dirty="0"/>
          </a:p>
        </p:txBody>
      </p:sp>
      <p:sp>
        <p:nvSpPr>
          <p:cNvPr id="5" name="Text 2"/>
          <p:cNvSpPr txBox="1"/>
          <p:nvPr/>
        </p:nvSpPr>
        <p:spPr>
          <a:xfrm>
            <a:off x="4206240" y="2011680"/>
            <a:ext cx="73152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The return leg: "closing 13 mph", 0.37 miles down to 546 ft.</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Radio and display in one frame: the radio's OLED shows 1 online and channel utilization in single digits, airtime budget holding.</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From parked link-up to separation to reunion: one continuous session, zero reconnects, zero touches.</a:t>
            </a:r>
            <a:endParaRPr lang="en-US" sz="1700" dirty="0"/>
          </a:p>
          <a:p>
            <a:pPr marL="342900" indent="-342900">
              <a:spcAft>
                <a:spcPts val="1000"/>
              </a:spcAft>
              <a:buSzPct val="100000"/>
              <a:buChar char="•"/>
            </a:pPr>
            <a:r>
              <a:rPr lang="en-US" sz="1700" dirty="0">
                <a:solidFill>
                  <a:srgbClr val="1B2440"/>
                </a:solidFill>
                <a:latin typeface="Arial" pitchFamily="34" charset="0"/>
                <a:ea typeface="Arial" pitchFamily="34" charset="-122"/>
                <a:cs typeface="Arial" pitchFamily="34" charset="-120"/>
              </a:rPr>
              <a:t>Next milestone: the open-road range test, measuring signal-to-noise versus distance against our link budget prediction.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Range Test: Link Held at 3.26 Miles</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188720"/>
            <a:ext cx="2898648" cy="5148072"/>
          </a:xfrm>
          <a:prstGeom prst="rect">
            <a:avLst/>
          </a:prstGeom>
        </p:spPr>
      </p:pic>
      <p:pic>
        <p:nvPicPr>
          <p:cNvPr id="4" name="Image 0" descr="C:/Users/deogr/AppData/Local/Temp/claude/C--Users-deogr-Documents-Fall-Project-Off-Grid-Vehicle-dection-project/eca057db-c8d2-4bae-87d3-8a6c4f6c4af6/scratchpad/demovid2/findmy_pin.jpg">    </p:cNvPr>
          <p:cNvPicPr>
            <a:picLocks noChangeAspect="1"/>
          </p:cNvPicPr>
          <p:nvPr/>
        </p:nvPicPr>
        <p:blipFill>
          <a:blip r:embed="rId4"/>
          <a:stretch>
            <a:fillRect/>
          </a:stretch>
        </p:blipFill>
        <p:spPr>
          <a:xfrm>
            <a:off x="3657600" y="1188720"/>
            <a:ext cx="2066544" cy="4480560"/>
          </a:xfrm>
          <a:prstGeom prst="rect">
            <a:avLst/>
          </a:prstGeom>
        </p:spPr>
      </p:pic>
      <p:pic>
        <p:nvPicPr>
          <p:cNvPr id="5" name="Image 1" descr="C:/Users/deogr/AppData/Local/Temp/claude/C--Users-deogr-Documents-Fall-Project-Off-Grid-Vehicle-dection-project/eca057db-c8d2-4bae-87d3-8a6c4f6c4af6/scratchpad/demovid2/findmy_route.jpg">    </p:cNvPr>
          <p:cNvPicPr>
            <a:picLocks noChangeAspect="1"/>
          </p:cNvPicPr>
          <p:nvPr/>
        </p:nvPicPr>
        <p:blipFill>
          <a:blip r:embed="rId5"/>
          <a:stretch>
            <a:fillRect/>
          </a:stretch>
        </p:blipFill>
        <p:spPr>
          <a:xfrm>
            <a:off x="5870448" y="1188720"/>
            <a:ext cx="2066544" cy="4480560"/>
          </a:xfrm>
          <a:prstGeom prst="rect">
            <a:avLst/>
          </a:prstGeom>
        </p:spPr>
      </p:pic>
      <p:sp>
        <p:nvSpPr>
          <p:cNvPr id="6" name="Text 1"/>
          <p:cNvSpPr txBox="1"/>
          <p:nvPr/>
        </p:nvSpPr>
        <p:spPr>
          <a:xfrm>
            <a:off x="8183880" y="1280160"/>
            <a:ext cx="3657600" cy="457200"/>
          </a:xfrm>
          <a:prstGeom prst="rect">
            <a:avLst/>
          </a:prstGeom>
          <a:noFill/>
          <a:ln/>
        </p:spPr>
        <p:txBody>
          <a:bodyPr wrap="square" rtlCol="0" anchor="ctr"/>
          <a:lstStyle/>
          <a:p>
            <a:pPr indent="0" marL="0">
              <a:buNone/>
            </a:pPr>
            <a:r>
              <a:rPr lang="en-US" sz="1800" b="1" dirty="0">
                <a:solidFill>
                  <a:srgbClr val="E58E1A"/>
                </a:solidFill>
                <a:latin typeface="Arial" pitchFamily="34" charset="0"/>
                <a:ea typeface="Arial" pitchFamily="34" charset="-122"/>
                <a:cs typeface="Arial" pitchFamily="34" charset="-120"/>
              </a:rPr>
              <a:t>Open road, 2026-10-05</a:t>
            </a:r>
            <a:endParaRPr lang="en-US" sz="1800" dirty="0"/>
          </a:p>
        </p:txBody>
      </p:sp>
      <p:sp>
        <p:nvSpPr>
          <p:cNvPr id="7" name="Text 2"/>
          <p:cNvSpPr txBox="1"/>
          <p:nvPr/>
        </p:nvSpPr>
        <p:spPr>
          <a:xfrm>
            <a:off x="8183880" y="1828800"/>
            <a:ext cx="3657600" cy="4480560"/>
          </a:xfrm>
          <a:prstGeom prst="rect">
            <a:avLst/>
          </a:prstGeom>
          <a:noFill/>
          <a:ln/>
        </p:spPr>
        <p:txBody>
          <a:bodyPr wrap="square" rtlCol="0" anchor="t"/>
          <a:lstStyle/>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video: LINK CONNECTED at 3.26 miles, both coordinate sets live on screen. The latitude delta is 0.04719 degrees = 5.25 km = 3.26 mi: the display's math agrees with its own coordinates at maximum range.</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The photos: independent ground truth. Find My places the parked partner 4.1 road miles up N County Road 2000.</a:t>
            </a:r>
            <a:endParaRPr lang="en-US" sz="1350" dirty="0"/>
          </a:p>
          <a:p>
            <a:pPr marL="342900" indent="-342900">
              <a:spcAft>
                <a:spcPts val="1000"/>
              </a:spcAft>
              <a:buSzPct val="100000"/>
              <a:buChar char="•"/>
            </a:pPr>
            <a:r>
              <a:rPr lang="en-US" sz="1350" dirty="0">
                <a:solidFill>
                  <a:srgbClr val="1B2440"/>
                </a:solidFill>
                <a:latin typeface="Arial" pitchFamily="34" charset="0"/>
                <a:ea typeface="Arial" pitchFamily="34" charset="-122"/>
                <a:cs typeface="Arial" pitchFamily="34" charset="-120"/>
              </a:rPr>
              <a:t>Design range was 3 to 5 km in terrain. Measured: 5.25 km fully healthy, with antennas still inside the cars.</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rtlCol="0" anchor="ctr"/>
          <a:lstStyle/>
          <a:p>
            <a:pPr indent="0" marL="0">
              <a:buNone/>
            </a:pPr>
            <a:r>
              <a:rPr lang="en-US" sz="3200" b="1" dirty="0">
                <a:solidFill>
                  <a:srgbClr val="16213D"/>
                </a:solidFill>
                <a:latin typeface="Arial" pitchFamily="34" charset="0"/>
                <a:ea typeface="Arial" pitchFamily="34" charset="-122"/>
                <a:cs typeface="Arial" pitchFamily="34" charset="-120"/>
              </a:rPr>
              <a:t>The Edge at 3.75 Miles, and the Way Back</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188720"/>
            <a:ext cx="2898648" cy="5148072"/>
          </a:xfrm>
          <a:prstGeom prst="rect">
            <a:avLst/>
          </a:prstGeom>
        </p:spPr>
      </p:pic>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3749040" y="1188720"/>
            <a:ext cx="2898648" cy="5148072"/>
          </a:xfrm>
          <a:prstGeom prst="rect">
            <a:avLst/>
          </a:prstGeom>
        </p:spPr>
      </p:pic>
      <p:sp>
        <p:nvSpPr>
          <p:cNvPr id="5" name="Text 1"/>
          <p:cNvSpPr txBox="1"/>
          <p:nvPr/>
        </p:nvSpPr>
        <p:spPr>
          <a:xfrm>
            <a:off x="6949440" y="1280160"/>
            <a:ext cx="4663440" cy="457200"/>
          </a:xfrm>
          <a:prstGeom prst="rect">
            <a:avLst/>
          </a:prstGeom>
          <a:noFill/>
          <a:ln/>
        </p:spPr>
        <p:txBody>
          <a:bodyPr wrap="square" rtlCol="0" anchor="ctr"/>
          <a:lstStyle/>
          <a:p>
            <a:pPr indent="0" marL="0">
              <a:buNone/>
            </a:pPr>
            <a:r>
              <a:rPr lang="en-US" sz="1800" b="1" dirty="0">
                <a:solidFill>
                  <a:srgbClr val="E58E1A"/>
                </a:solidFill>
                <a:latin typeface="Arial" pitchFamily="34" charset="0"/>
                <a:ea typeface="Arial" pitchFamily="34" charset="-122"/>
                <a:cs typeface="Arial" pitchFamily="34" charset="-120"/>
              </a:rPr>
              <a:t>Honest at the edge, instant on return</a:t>
            </a:r>
            <a:endParaRPr lang="en-US" sz="1800" dirty="0"/>
          </a:p>
        </p:txBody>
      </p:sp>
      <p:sp>
        <p:nvSpPr>
          <p:cNvPr id="6" name="Text 2"/>
          <p:cNvSpPr txBox="1"/>
          <p:nvPr/>
        </p:nvSpPr>
        <p:spPr>
          <a:xfrm>
            <a:off x="6949440" y="1828800"/>
            <a:ext cx="4892040" cy="4572000"/>
          </a:xfrm>
          <a:prstGeom prst="rect">
            <a:avLst/>
          </a:prstGeom>
          <a:noFill/>
          <a:ln/>
        </p:spPr>
        <p:txBody>
          <a:bodyPr wrap="square" rtlCol="0" anchor="t"/>
          <a:lstStyle/>
          <a:p>
            <a:pPr marL="342900" indent="-342900">
              <a:spcAft>
                <a:spcPts val="900"/>
              </a:spcAft>
              <a:buSzPct val="100000"/>
              <a:buChar char="•"/>
            </a:pPr>
            <a:r>
              <a:rPr lang="en-US" sz="1300" dirty="0">
                <a:solidFill>
                  <a:srgbClr val="1B2440"/>
                </a:solidFill>
                <a:latin typeface="Arial" pitchFamily="34" charset="0"/>
                <a:ea typeface="Arial" pitchFamily="34" charset="-122"/>
                <a:cs typeface="Arial" pitchFamily="34" charset="-120"/>
              </a:rPr>
              <a:t>At 3.75 miles the display declares SF DATA STALE and the radio reports the failed message. Nothing pretends; the failure announces itself on both devices.</a:t>
            </a:r>
            <a:endParaRPr lang="en-US" sz="1300" dirty="0"/>
          </a:p>
          <a:p>
            <a:pPr marL="342900" indent="-342900">
              <a:spcAft>
                <a:spcPts val="900"/>
              </a:spcAft>
              <a:buSzPct val="100000"/>
              <a:buChar char="•"/>
            </a:pPr>
            <a:r>
              <a:rPr lang="en-US" sz="1300" dirty="0">
                <a:solidFill>
                  <a:srgbClr val="1B2440"/>
                </a:solidFill>
                <a:latin typeface="Arial" pitchFamily="34" charset="0"/>
                <a:ea typeface="Arial" pitchFamily="34" charset="-122"/>
                <a:cs typeface="Arial" pitchFamily="34" charset="-120"/>
              </a:rPr>
              <a:t>Is 3.75 miles the limit? It is the reliable edge for THIS setup: in-cabin antennas, one car parked. Not a physics wall. Every 6 dB of margin doubles range, and a roof antenna recovers 10 to 20 dB.</a:t>
            </a:r>
            <a:endParaRPr lang="en-US" sz="1300" dirty="0"/>
          </a:p>
          <a:p>
            <a:pPr marL="342900" indent="-342900">
              <a:spcAft>
                <a:spcPts val="900"/>
              </a:spcAft>
              <a:buSzPct val="100000"/>
              <a:buChar char="•"/>
            </a:pPr>
            <a:r>
              <a:rPr lang="en-US" sz="1300" dirty="0">
                <a:solidFill>
                  <a:srgbClr val="1B2440"/>
                </a:solidFill>
                <a:latin typeface="Arial" pitchFamily="34" charset="0"/>
                <a:ea typeface="Arial" pitchFamily="34" charset="-122"/>
                <a:cs typeface="Arial" pitchFamily="34" charset="-120"/>
              </a:rPr>
              <a:t>Same hardware went stale at 0.5 miles in town the night before: a factor of seven from environment alone, exactly what the link budget's 20 dB reserve models.</a:t>
            </a:r>
            <a:endParaRPr lang="en-US" sz="1300" dirty="0"/>
          </a:p>
          <a:p>
            <a:pPr marL="342900" indent="-342900">
              <a:spcAft>
                <a:spcPts val="900"/>
              </a:spcAft>
              <a:buSzPct val="100000"/>
              <a:buChar char="•"/>
            </a:pPr>
            <a:r>
              <a:rPr lang="en-US" sz="1300" dirty="0">
                <a:solidFill>
                  <a:srgbClr val="1B2440"/>
                </a:solidFill>
                <a:latin typeface="Arial" pitchFamily="34" charset="0"/>
                <a:ea typeface="Arial" pitchFamily="34" charset="-122"/>
                <a:cs typeface="Arial" pitchFamily="34" charset="-120"/>
              </a:rPr>
              <a:t>Driving back: course-up dart at 12 o'clock, age in the teens, at 37 mph. Reacquisition needs no buttons.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64240" cy="640080"/>
          </a:xfrm>
          <a:prstGeom prst="rect">
            <a:avLst/>
          </a:prstGeom>
          <a:noFill/>
          <a:ln/>
        </p:spPr>
        <p:txBody>
          <a:bodyPr wrap="square" rtlCol="0" anchor="ctr"/>
          <a:lstStyle/>
          <a:p>
            <a:pPr indent="0" marL="0">
              <a:buNone/>
            </a:pPr>
            <a:r>
              <a:rPr lang="en-US" sz="3000" b="1" dirty="0">
                <a:solidFill>
                  <a:srgbClr val="16213D"/>
                </a:solidFill>
                <a:latin typeface="Arial" pitchFamily="34" charset="0"/>
                <a:ea typeface="Arial" pitchFamily="34" charset="-122"/>
                <a:cs typeface="Arial" pitchFamily="34" charset="-120"/>
              </a:rPr>
              <a:t>Edge Case: Both Radios Boot at the Same Instant</a:t>
            </a:r>
            <a:endParaRPr lang="en-US" sz="3000" dirty="0"/>
          </a:p>
        </p:txBody>
      </p:sp>
      <p:sp>
        <p:nvSpPr>
          <p:cNvPr id="3" name="Text 1"/>
          <p:cNvSpPr txBox="1"/>
          <p:nvPr/>
        </p:nvSpPr>
        <p:spPr>
          <a:xfrm>
            <a:off x="548640" y="914400"/>
            <a:ext cx="11064240" cy="411480"/>
          </a:xfrm>
          <a:prstGeom prst="rect">
            <a:avLst/>
          </a:prstGeom>
          <a:noFill/>
          <a:ln/>
        </p:spPr>
        <p:txBody>
          <a:bodyPr wrap="square" rtlCol="0" anchor="ctr"/>
          <a:lstStyle/>
          <a:p>
            <a:pPr indent="0" marL="0">
              <a:buNone/>
            </a:pPr>
            <a:r>
              <a:rPr lang="en-US" sz="1600" b="1" i="1" dirty="0">
                <a:solidFill>
                  <a:srgbClr val="E58E1A"/>
                </a:solidFill>
                <a:latin typeface="Arial" pitchFamily="34" charset="0"/>
                <a:ea typeface="Arial" pitchFamily="34" charset="-122"/>
                <a:cs typeface="Arial" pitchFamily="34" charset="-120"/>
              </a:rPr>
              <a:t>If both send their NodeInfo at once, who talks first, and why doesn't communication crash?</a:t>
            </a:r>
            <a:endParaRPr lang="en-US" sz="1600" dirty="0"/>
          </a:p>
        </p:txBody>
      </p:sp>
      <p:pic>
        <p:nvPicPr>
          <p:cNvPr id="4" name="Image 0" descr="C:\Users\deogr\AppData\Local\Temp\claude\C--Users-deogr-Documents-Fall-Project-Off-Grid-Vehicle-dection-project\eca057db-c8d2-4bae-87d3-8a6c4f6c4af6\scratchpad\demovid\fig_collision.png">    </p:cNvPr>
          <p:cNvPicPr>
            <a:picLocks noChangeAspect="1"/>
          </p:cNvPicPr>
          <p:nvPr/>
        </p:nvPicPr>
        <p:blipFill>
          <a:blip r:embed="rId1"/>
          <a:stretch>
            <a:fillRect/>
          </a:stretch>
        </p:blipFill>
        <p:spPr>
          <a:xfrm>
            <a:off x="713232" y="1417320"/>
            <a:ext cx="10771632" cy="4818888"/>
          </a:xfrm>
          <a:prstGeom prst="rect">
            <a:avLst/>
          </a:prstGeom>
        </p:spPr>
      </p:pic>
      <p:sp>
        <p:nvSpPr>
          <p:cNvPr id="5" name="Text 2"/>
          <p:cNvSpPr txBox="1"/>
          <p:nvPr/>
        </p:nvSpPr>
        <p:spPr>
          <a:xfrm>
            <a:off x="713232" y="6291072"/>
            <a:ext cx="10789920" cy="566928"/>
          </a:xfrm>
          <a:prstGeom prst="rect">
            <a:avLst/>
          </a:prstGeom>
          <a:noFill/>
          <a:ln/>
        </p:spPr>
        <p:txBody>
          <a:bodyPr wrap="square" rtlCol="0" anchor="ctr"/>
          <a:lstStyle/>
          <a:p>
            <a:pPr indent="0" marL="0">
              <a:buNone/>
            </a:pPr>
            <a:r>
              <a:rPr lang="en-US" sz="1250" dirty="0">
                <a:solidFill>
                  <a:srgbClr val="1B2440"/>
                </a:solidFill>
                <a:latin typeface="Arial" pitchFamily="34" charset="0"/>
                <a:ea typeface="Arial" pitchFamily="34" charset="-122"/>
                <a:cs typeface="Arial" pitchFamily="34" charset="-120"/>
              </a:rPr>
              <a:t>No master and no schedule, on purpose. Listen before talk avoids most ties; a true collision just loses two packets; fresh random backoffs make a repeat collision odds 1-in-N, then 1-in-N²; and NodeInfo rebroadcasts periodically anyway. Measured on our bench: two radios power-cycled together find each other in under a minute, every time.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2026-10-06T00:10:16Z</dcterms:created>
  <dcterms:modified xsi:type="dcterms:W3CDTF">2026-10-06T00:10:16Z</dcterms:modified>
</cp:coreProperties>
</file>