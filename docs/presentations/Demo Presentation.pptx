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are about to see is live hardware recorded Saturday night. Two radios, two displays, zero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age number first. Everything on this screen arrives over our private LoRa channel and gets decoded on the display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engineer page. Judges can check the coordinates against a map if they want, these are real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clip is why the UI uses clock positions and banners: at 17 mph nobody reads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flipped handling in raw footage: that drive test is exactly what triggered the course-up firmware fix, shipped the next day. Iteration from road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thesis: nothing between the vehicles but physics and agreement. Then invite questions on the range test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Attempt one: both draw a delay, both hear silence, both transmit, collision, both packets lost. Nothing crashes, each radio just hears no reply. Attempt two: each draws a NEW random delay, RG happens to draw longer, its listen window now hears SF's preamble and defers. That is CSMA with random backoff, the same philosophy as Ethernet. And even repeated bad luck is covered because NodeInfo is periodic. Determinism would be the dangerous design: two identical radios on a fixed schedule would collide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Text 0"/>
          <p:cNvSpPr txBox="1"/>
          <p:nvPr/>
        </p:nvSpPr>
        <p:spPr>
          <a:xfrm>
            <a:off x="731520" y="1920240"/>
            <a:ext cx="10698480" cy="914400"/>
          </a:xfrm>
          <a:prstGeom prst="rect">
            <a:avLst/>
          </a:prstGeom>
          <a:noFill/>
          <a:ln/>
        </p:spPr>
        <p:txBody>
          <a:bodyPr wrap="square"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OFF-GRID VEHICLE TRACKER</a:t>
            </a:r>
            <a:endParaRPr lang="en-US" sz="4400" dirty="0"/>
          </a:p>
        </p:txBody>
      </p:sp>
      <p:sp>
        <p:nvSpPr>
          <p:cNvPr id="3" name="Text 1"/>
          <p:cNvSpPr txBox="1"/>
          <p:nvPr/>
        </p:nvSpPr>
        <p:spPr>
          <a:xfrm>
            <a:off x="731520" y="2880360"/>
            <a:ext cx="10698480" cy="548640"/>
          </a:xfrm>
          <a:prstGeom prst="rect">
            <a:avLst/>
          </a:prstGeom>
          <a:noFill/>
          <a:ln/>
        </p:spPr>
        <p:txBody>
          <a:bodyPr wrap="square" rtlCol="0" anchor="ctr"/>
          <a:lstStyle/>
          <a:p>
            <a:pPr indent="0" marL="0">
              <a:buNone/>
            </a:pPr>
            <a:r>
              <a:rPr lang="en-US" sz="2400" b="1" dirty="0">
                <a:solidFill>
                  <a:srgbClr val="E58E1A"/>
                </a:solidFill>
                <a:latin typeface="Arial" pitchFamily="34" charset="0"/>
                <a:ea typeface="Arial" pitchFamily="34" charset="-122"/>
                <a:cs typeface="Arial" pitchFamily="34" charset="-120"/>
              </a:rPr>
              <a:t>LIVE DEMO  ·  TWO-VEHICLE DRIVE TEST</a:t>
            </a:r>
            <a:endParaRPr lang="en-US" sz="2400" dirty="0"/>
          </a:p>
        </p:txBody>
      </p:sp>
      <p:sp>
        <p:nvSpPr>
          <p:cNvPr id="4" name="Text 2"/>
          <p:cNvSpPr txBox="1"/>
          <p:nvPr/>
        </p:nvSpPr>
        <p:spPr>
          <a:xfrm>
            <a:off x="731520" y="3657600"/>
            <a:ext cx="9875520" cy="1097280"/>
          </a:xfrm>
          <a:prstGeom prst="rect">
            <a:avLst/>
          </a:prstGeom>
          <a:noFill/>
          <a:ln/>
        </p:spPr>
        <p:txBody>
          <a:bodyPr wrap="square" rtlCol="0" anchor="ctr"/>
          <a:lstStyle/>
          <a:p>
            <a:pPr indent="0" marL="0">
              <a:buNone/>
            </a:pPr>
            <a:r>
              <a:rPr lang="en-US" sz="1500" dirty="0">
                <a:solidFill>
                  <a:srgbClr val="C9D8F0"/>
                </a:solidFill>
                <a:latin typeface="Arial" pitchFamily="34" charset="0"/>
                <a:ea typeface="Arial" pitchFamily="34" charset="-122"/>
                <a:cs typeface="Arial" pitchFamily="34" charset="-120"/>
              </a:rPr>
              <a:t>Recorded 2026-10-04, Lubbock TX. Every screen in these videos is live hardware:</a:t>
            </a:r>
            <a:endParaRPr lang="en-US" sz="1500" dirty="0"/>
          </a:p>
          <a:p>
            <a:pPr indent="0" marL="0">
              <a:buNone/>
            </a:pPr>
            <a:r>
              <a:rPr lang="en-US" sz="1500" dirty="0">
                <a:solidFill>
                  <a:srgbClr val="C9D8F0"/>
                </a:solidFill>
                <a:latin typeface="Arial" pitchFamily="34" charset="0"/>
                <a:ea typeface="Arial" pitchFamily="34" charset="-122"/>
                <a:cs typeface="Arial" pitchFamily="34" charset="-120"/>
              </a:rPr>
              <a:t>two Meshtastic radios on a private 912.875 MHz LoRa channel, two custom displays. No phone, no internet, no network.</a:t>
            </a:r>
            <a:endParaRPr lang="en-US" sz="1500" dirty="0"/>
          </a:p>
        </p:txBody>
      </p:sp>
      <p:sp>
        <p:nvSpPr>
          <p:cNvPr id="5" name="Text 3"/>
          <p:cNvSpPr txBox="1"/>
          <p:nvPr/>
        </p:nvSpPr>
        <p:spPr>
          <a:xfrm>
            <a:off x="731520" y="6035040"/>
            <a:ext cx="10058400" cy="365760"/>
          </a:xfrm>
          <a:prstGeom prst="rect">
            <a:avLst/>
          </a:prstGeom>
          <a:noFill/>
          <a:ln/>
        </p:spPr>
        <p:txBody>
          <a:bodyPr wrap="square" rtlCol="0" anchor="ctr"/>
          <a:lstStyle/>
          <a:p>
            <a:pPr indent="0" marL="0">
              <a:buNone/>
            </a:pPr>
            <a:r>
              <a:rPr lang="en-US" sz="1200" dirty="0">
                <a:solidFill>
                  <a:srgbClr val="9AA7BE"/>
                </a:solidFill>
                <a:latin typeface="Arial" pitchFamily="34" charset="0"/>
                <a:ea typeface="Arial" pitchFamily="34" charset="-122"/>
                <a:cs typeface="Arial" pitchFamily="34" charset="-120"/>
              </a:rPr>
              <a:t>GROUP 9  ·  CAPSTONE PROJECT LAB  ·  SPONSOR: DR. RICHARD GALE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Link Up: The Partner Pulls Away</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One minute of live tracking, no network anywhere.</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Radio SF and its display, side by side and live. Top right: SF&lt;-&gt;RG OK means the radios are actively hearing each other.</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RG drives away: 621 ft becomes 0.30 miles on screen, position updates every 10 seconds while moving.</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"age 7s" is the honesty meter: how old the partner's last report is. Single digits means the link is fresh.</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"apart 15 mph" is computed on the display from consecutive positions, nobody transmits a speed-apart number.</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Status Page: Everything the Link Knows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Full telemetry: positions, ages, battery, separation.</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LINK CONNECTED, and below it: radios RG&lt;-&gt;SF COMMUNICATING. Two different links, both named.</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Both vehicles' live coordinates to five decimal places, each with its own data age.</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RG reports its battery over the air: 95 percent. A dying partner radio warns this screen first.</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573 ft between vehicles, and in words: SF IS S OF RG. Readable at a glance, at night, on a reflective panel.</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Driving With It: The Convoy Page at 17 mph</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The display talks like a driver, not like a GPS receiver.</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Shot while actually driving: "you 17 mph" is our own GPS speed.</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"0.27 Mi at 3 o'clock": the partner's direction in windshield terms, not map terms.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Blinker chevrons and the CHANGE COURSE banner fire when we drive away from the partner for 5 seconds.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"holding" means the gap is steady: the display smooths closing speed so GPS jitter never flaps the label.</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Separation, Honestly Reported</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What losing ground looks like on the glass.</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partner drives off: "apart 13 mph", distance climbing through 0.26 miles.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age keeps counting between packets, and past the threshold the arrow hollows: estimate, not measurement.</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screen never pretends. Stale data looks stale, by design.</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Note: this footage predates our course-up compass update, we held the unit rotated to match the road. The firmware now rotates the compass instead of the driver rotating the display.</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Closing the Loop</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Coming back together, guided by the arrow.</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return leg: "closing 13 mph", 0.37 miles down to 546 ft.</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Radio and display in one frame: the radio's OLED shows 1 online and channel utilization in single digits, airtime budget holding.</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From parked link-up to separation to reunion: one continuous session, zero reconnects, zero touches.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Next milestone: the open-road range test, measuring signal-to-noise versus distance against our link budget prediction.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64240" cy="640080"/>
          </a:xfrm>
          <a:prstGeom prst="rect">
            <a:avLst/>
          </a:prstGeom>
          <a:noFill/>
          <a:ln/>
        </p:spPr>
        <p:txBody>
          <a:bodyPr wrap="square" rtlCol="0" anchor="ctr"/>
          <a:lstStyle/>
          <a:p>
            <a:pPr indent="0" marL="0">
              <a:buNone/>
            </a:pPr>
            <a:r>
              <a:rPr lang="en-US" sz="3000" b="1" dirty="0">
                <a:solidFill>
                  <a:srgbClr val="16213D"/>
                </a:solidFill>
                <a:latin typeface="Arial" pitchFamily="34" charset="0"/>
                <a:ea typeface="Arial" pitchFamily="34" charset="-122"/>
                <a:cs typeface="Arial" pitchFamily="34" charset="-120"/>
              </a:rPr>
              <a:t>Edge Case: Both Radios Boot at the Same Instant</a:t>
            </a:r>
            <a:endParaRPr lang="en-US" sz="3000" dirty="0"/>
          </a:p>
        </p:txBody>
      </p:sp>
      <p:sp>
        <p:nvSpPr>
          <p:cNvPr id="3" name="Text 1"/>
          <p:cNvSpPr txBox="1"/>
          <p:nvPr/>
        </p:nvSpPr>
        <p:spPr>
          <a:xfrm>
            <a:off x="548640" y="914400"/>
            <a:ext cx="11064240" cy="411480"/>
          </a:xfrm>
          <a:prstGeom prst="rect">
            <a:avLst/>
          </a:prstGeom>
          <a:noFill/>
          <a:ln/>
        </p:spPr>
        <p:txBody>
          <a:bodyPr wrap="square" rtlCol="0" anchor="ctr"/>
          <a:lstStyle/>
          <a:p>
            <a:pPr indent="0" marL="0">
              <a:buNone/>
            </a:pPr>
            <a:r>
              <a:rPr lang="en-US" sz="1600" b="1" i="1" dirty="0">
                <a:solidFill>
                  <a:srgbClr val="E58E1A"/>
                </a:solidFill>
                <a:latin typeface="Arial" pitchFamily="34" charset="0"/>
                <a:ea typeface="Arial" pitchFamily="34" charset="-122"/>
                <a:cs typeface="Arial" pitchFamily="34" charset="-120"/>
              </a:rPr>
              <a:t>If both send their NodeInfo at once, who talks first, and why doesn't communication crash?</a:t>
            </a:r>
            <a:endParaRPr lang="en-US" sz="1600" dirty="0"/>
          </a:p>
        </p:txBody>
      </p:sp>
      <p:pic>
        <p:nvPicPr>
          <p:cNvPr id="4" name="Image 0" descr="C:\Users\deogr\AppData\Local\Temp\claude\C--Users-deogr-Documents-Fall-Project-Off-Grid-Vehicle-dection-project\eca057db-c8d2-4bae-87d3-8a6c4f6c4af6\scratchpad\demovid\fig_collision.png">    </p:cNvPr>
          <p:cNvPicPr>
            <a:picLocks noChangeAspect="1"/>
          </p:cNvPicPr>
          <p:nvPr/>
        </p:nvPicPr>
        <p:blipFill>
          <a:blip r:embed="rId1"/>
          <a:stretch>
            <a:fillRect/>
          </a:stretch>
        </p:blipFill>
        <p:spPr>
          <a:xfrm>
            <a:off x="713232" y="1417320"/>
            <a:ext cx="10771632" cy="4818888"/>
          </a:xfrm>
          <a:prstGeom prst="rect">
            <a:avLst/>
          </a:prstGeom>
        </p:spPr>
      </p:pic>
      <p:sp>
        <p:nvSpPr>
          <p:cNvPr id="5" name="Text 2"/>
          <p:cNvSpPr txBox="1"/>
          <p:nvPr/>
        </p:nvSpPr>
        <p:spPr>
          <a:xfrm>
            <a:off x="713232" y="6291072"/>
            <a:ext cx="10789920" cy="566928"/>
          </a:xfrm>
          <a:prstGeom prst="rect">
            <a:avLst/>
          </a:prstGeom>
          <a:noFill/>
          <a:ln/>
        </p:spPr>
        <p:txBody>
          <a:bodyPr wrap="square" rtlCol="0" anchor="ctr"/>
          <a:lstStyle/>
          <a:p>
            <a:pPr indent="0" marL="0">
              <a:buNone/>
            </a:pPr>
            <a:r>
              <a:rPr lang="en-US" sz="1250" dirty="0">
                <a:solidFill>
                  <a:srgbClr val="1B2440"/>
                </a:solidFill>
                <a:latin typeface="Arial" pitchFamily="34" charset="0"/>
                <a:ea typeface="Arial" pitchFamily="34" charset="-122"/>
                <a:cs typeface="Arial" pitchFamily="34" charset="-120"/>
              </a:rPr>
              <a:t>No master and no schedule, on purpose. Listen before talk avoids most ties; a true collision just loses two packets; fresh random backoffs make a repeat collision odds 1-in-N, then 1-in-N²; and NodeInfo rebroadcasts periodically anyway. Measured on our bench: two radios power-cycled together find each other in under a minute, every time.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2026-10-05T07:42:19Z</dcterms:created>
  <dcterms:modified xsi:type="dcterms:W3CDTF">2026-10-05T07:42:19Z</dcterms:modified>
</cp:coreProperties>
</file>