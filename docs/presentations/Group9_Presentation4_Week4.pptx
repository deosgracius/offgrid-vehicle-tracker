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last week ended on our own cliffhanger - one radio still talks to itself; radio two turns this into a tracker. This week we do the disciplined thing: publish the procedure, the design, the predicted curve, and the metrics BEFORE the measurement. Next review reports against exactly this sheet set, so nothing can be quietly redefined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recap, no re-teaching: four layers proven with one device, the dashed fifth is this week. Key claim to land: the partner path is the identical decode path with a different node number - the code that will handle the partner has been running for weeks on our own packets.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week's one hard result: on the road, position and speed updated every ten seconds as configured - the first drive where observed cadence matched designed cadence. Tell the archaeology briefly: three earlier defects (position precision grid, 30-second GPS refresh, ghost re-broadcasts) each masked this until fixed, so this drive is the validation that the whole chain is clean. The navy card ties it forward: PDR and the age metric on sheet 09 are only measurable because the schedule is now known-good.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box is the code running today, verbatim from the repository, including its own TODO comment. Right box is the design being implemented this week. The argument: the pattern is proven - the radio's BLE address already lives in NVS the same way. And the sequencing point matters to a reviewer: build the chooser before the ambiguity arrives,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exists because radio one's configuration was learned the hard way and written down each time. The channel URL is the crown jewels: it carries the encryption key, and because the channel name hashes to the frequency slot, it is also the frequency agreement. Read the four acceptance criteria aloud - declaring them before the attempt is the difference between a procedure and a hope. Criterion 2, both OLEDs reading one online, will be the first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chart: received power falls with distance (log scale); the orange wall is the minus 131 dBm sensitivity floor from datasheet Table 6-1; the shaded band between free space and the terrain-degraded curve is where reality lives. The claim to make carefully: free space predicts absurd range, tens of kilometers - real range is set by terrain, Fresnel clearance, and the vehicle install, which is precisely what the range campaign measures. The methodological point is the navy card: publishing the prediction before measuring converts a demo into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photo is the live system being honest about the missing partner; the right photo is the same hardware running the simulator, which has fed fake partners through the real rendering since week one. So the frontend claim is unusual and strong: the plan for radio two's arrival is zero frontend changes. The queued work is the partner-selection screen (pairs with Deo's NVS design) and night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strictly ordered so each isolates one variable: bench removes distance, static range removes motion, the drive adds motion, edge cases add the failure modes we already catalogued. The right panel is the per-packet log schema - six fields, chosen so sheet 05's curve and sheet 08's metrics can both be computed from the same file. Close on the ledger line: the constraints sheet from last week literally becomes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metrics, each with its definition and a pre-declared pass threshold. Why declare now: after the data exists, any threshold looks chosen to flatter it. PDR is computable because broadcasts are scheduled, so expected count is known. Age p95 is the driver-facing truth. Reconnect covers the known BLE drop cases. DR error audits the dead reckoning against each next real fix. ChUtil keeps us honest citizens of the shared band. Every one computes from the six-field log on sheet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deck's thesis: machine, then exam, then results. If asked why radio two is not already done, the honest answer is scheduling - the gantt has it in weeks 4 to 5, we are at 42 percent against a 25 percent target, and the disciplined move was to publish the acceptance criteria and metrics before touching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verified links as last week. If the link-budget model on sheet 05 is challenged: FSPL is the standard Friis free-space form, the sensitivity floor is datasheet Table 6-1, and the full derivation is in TELECOM_ANALYSIS.md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4</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01/11  REV D  2026-09-16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CLOSING THE LOOP</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4 DESIGN REVIEW: METHOD BEFORE MEASUREMENT</a:t>
            </a:r>
            <a:endParaRPr lang="en-US" sz="1700" dirty="0"/>
          </a:p>
        </p:txBody>
      </p:sp>
      <p:sp>
        <p:nvSpPr>
          <p:cNvPr id="47" name="Text 45"/>
          <p:cNvSpPr txBox="1"/>
          <p:nvPr/>
        </p:nvSpPr>
        <p:spPr>
          <a:xfrm>
            <a:off x="658368" y="2423160"/>
            <a:ext cx="7589520" cy="123444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week's drive test closed the cadence question: position and speed measured fresh every ten seconds on the road, with one-second motion in between. The rest of this review publishes, in advance, everything the fifth layer will be judged by: procedure, design, predicted curve, protocol, and metrics.</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84048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 test: the ten-second cadence, proven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what changes on screen when the partner appears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two procedure, predicted link curve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drive-test protocol, metrics declared in advance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42% vs 25%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98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2026-09-16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OPEN LAYER</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WHERE WE LEFT OFF: ONE LAYER OPEN</a:t>
            </a:r>
            <a:endParaRPr lang="en-US" sz="2300" dirty="0"/>
          </a:p>
        </p:txBody>
      </p:sp>
      <p:sp>
        <p:nvSpPr>
          <p:cNvPr id="10" name="Shape 8"/>
          <p:cNvSpPr/>
          <p:nvPr/>
        </p:nvSpPr>
        <p:spPr>
          <a:xfrm>
            <a:off x="548640" y="1188720"/>
            <a:ext cx="4754880" cy="676656"/>
          </a:xfrm>
          <a:prstGeom prst="rect">
            <a:avLst/>
          </a:prstGeom>
          <a:solidFill>
            <a:srgbClr val="F2F5FA"/>
          </a:solidFill>
          <a:ln w="15875">
            <a:solidFill>
              <a:srgbClr val="1199BD"/>
            </a:solidFill>
            <a:prstDash val="solid"/>
          </a:ln>
        </p:spPr>
      </p:sp>
      <p:sp>
        <p:nvSpPr>
          <p:cNvPr id="11" name="Text 9"/>
          <p:cNvSpPr txBox="1"/>
          <p:nvPr/>
        </p:nvSpPr>
        <p:spPr>
          <a:xfrm>
            <a:off x="713232" y="1234440"/>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GPS to radio</a:t>
            </a:r>
            <a:endParaRPr lang="en-US" sz="1250" dirty="0"/>
          </a:p>
        </p:txBody>
      </p:sp>
      <p:sp>
        <p:nvSpPr>
          <p:cNvPr id="12" name="Text 10"/>
          <p:cNvSpPr txBox="1"/>
          <p:nvPr/>
        </p:nvSpPr>
        <p:spPr>
          <a:xfrm>
            <a:off x="3794760" y="1188720"/>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3" name="Shape 11"/>
          <p:cNvSpPr/>
          <p:nvPr/>
        </p:nvSpPr>
        <p:spPr>
          <a:xfrm>
            <a:off x="1051560" y="1865376"/>
            <a:ext cx="0" cy="164592"/>
          </a:xfrm>
          <a:prstGeom prst="line">
            <a:avLst/>
          </a:prstGeom>
          <a:noFill/>
          <a:ln w="28575">
            <a:solidFill>
              <a:srgbClr val="1199BD"/>
            </a:solidFill>
            <a:prstDash val="solid"/>
            <a:tailEnd type="triangle"/>
          </a:ln>
        </p:spPr>
      </p:sp>
      <p:sp>
        <p:nvSpPr>
          <p:cNvPr id="14" name="Shape 12"/>
          <p:cNvSpPr/>
          <p:nvPr/>
        </p:nvSpPr>
        <p:spPr>
          <a:xfrm>
            <a:off x="548640" y="2029968"/>
            <a:ext cx="4754880" cy="676656"/>
          </a:xfrm>
          <a:prstGeom prst="rect">
            <a:avLst/>
          </a:prstGeom>
          <a:solidFill>
            <a:srgbClr val="F2F5FA"/>
          </a:solidFill>
          <a:ln w="15875">
            <a:solidFill>
              <a:srgbClr val="1199BD"/>
            </a:solidFill>
            <a:prstDash val="solid"/>
          </a:ln>
        </p:spPr>
      </p:sp>
      <p:sp>
        <p:nvSpPr>
          <p:cNvPr id="15" name="Text 13"/>
          <p:cNvSpPr txBox="1"/>
          <p:nvPr/>
        </p:nvSpPr>
        <p:spPr>
          <a:xfrm>
            <a:off x="713232" y="2075688"/>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Radio to display</a:t>
            </a:r>
            <a:endParaRPr lang="en-US" sz="1250" dirty="0"/>
          </a:p>
        </p:txBody>
      </p:sp>
      <p:sp>
        <p:nvSpPr>
          <p:cNvPr id="16" name="Text 14"/>
          <p:cNvSpPr txBox="1"/>
          <p:nvPr/>
        </p:nvSpPr>
        <p:spPr>
          <a:xfrm>
            <a:off x="3794760" y="2029968"/>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7" name="Shape 15"/>
          <p:cNvSpPr/>
          <p:nvPr/>
        </p:nvSpPr>
        <p:spPr>
          <a:xfrm>
            <a:off x="1051560" y="2706624"/>
            <a:ext cx="0" cy="164592"/>
          </a:xfrm>
          <a:prstGeom prst="line">
            <a:avLst/>
          </a:prstGeom>
          <a:noFill/>
          <a:ln w="28575">
            <a:solidFill>
              <a:srgbClr val="1199BD"/>
            </a:solidFill>
            <a:prstDash val="solid"/>
            <a:tailEnd type="triangle"/>
          </a:ln>
        </p:spPr>
      </p:sp>
      <p:sp>
        <p:nvSpPr>
          <p:cNvPr id="18" name="Shape 16"/>
          <p:cNvSpPr/>
          <p:nvPr/>
        </p:nvSpPr>
        <p:spPr>
          <a:xfrm>
            <a:off x="548640" y="2871216"/>
            <a:ext cx="4754880" cy="676656"/>
          </a:xfrm>
          <a:prstGeom prst="rect">
            <a:avLst/>
          </a:prstGeom>
          <a:solidFill>
            <a:srgbClr val="F2F5FA"/>
          </a:solidFill>
          <a:ln w="15875">
            <a:solidFill>
              <a:srgbClr val="1199BD"/>
            </a:solidFill>
            <a:prstDash val="solid"/>
          </a:ln>
        </p:spPr>
      </p:sp>
      <p:sp>
        <p:nvSpPr>
          <p:cNvPr id="19" name="Text 17"/>
          <p:cNvSpPr txBox="1"/>
          <p:nvPr/>
        </p:nvSpPr>
        <p:spPr>
          <a:xfrm>
            <a:off x="713232" y="2916936"/>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Decode to TrackerState</a:t>
            </a:r>
            <a:endParaRPr lang="en-US" sz="1250" dirty="0"/>
          </a:p>
        </p:txBody>
      </p:sp>
      <p:sp>
        <p:nvSpPr>
          <p:cNvPr id="20" name="Text 18"/>
          <p:cNvSpPr txBox="1"/>
          <p:nvPr/>
        </p:nvSpPr>
        <p:spPr>
          <a:xfrm>
            <a:off x="3794760" y="2871216"/>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1" name="Shape 19"/>
          <p:cNvSpPr/>
          <p:nvPr/>
        </p:nvSpPr>
        <p:spPr>
          <a:xfrm>
            <a:off x="1051560" y="3547872"/>
            <a:ext cx="0" cy="164592"/>
          </a:xfrm>
          <a:prstGeom prst="line">
            <a:avLst/>
          </a:prstGeom>
          <a:noFill/>
          <a:ln w="28575">
            <a:solidFill>
              <a:srgbClr val="1199BD"/>
            </a:solidFill>
            <a:prstDash val="solid"/>
            <a:tailEnd type="triangle"/>
          </a:ln>
        </p:spPr>
      </p:sp>
      <p:sp>
        <p:nvSpPr>
          <p:cNvPr id="22" name="Shape 20"/>
          <p:cNvSpPr/>
          <p:nvPr/>
        </p:nvSpPr>
        <p:spPr>
          <a:xfrm>
            <a:off x="548640" y="3712464"/>
            <a:ext cx="4754880" cy="676656"/>
          </a:xfrm>
          <a:prstGeom prst="rect">
            <a:avLst/>
          </a:prstGeom>
          <a:solidFill>
            <a:srgbClr val="F2F5FA"/>
          </a:solidFill>
          <a:ln w="15875">
            <a:solidFill>
              <a:srgbClr val="1199BD"/>
            </a:solidFill>
            <a:prstDash val="solid"/>
          </a:ln>
        </p:spPr>
      </p:sp>
      <p:sp>
        <p:nvSpPr>
          <p:cNvPr id="23" name="Text 21"/>
          <p:cNvSpPr txBox="1"/>
          <p:nvPr/>
        </p:nvSpPr>
        <p:spPr>
          <a:xfrm>
            <a:off x="713232" y="3758184"/>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Navigation and UI</a:t>
            </a:r>
            <a:endParaRPr lang="en-US" sz="1250" dirty="0"/>
          </a:p>
        </p:txBody>
      </p:sp>
      <p:sp>
        <p:nvSpPr>
          <p:cNvPr id="24" name="Text 22"/>
          <p:cNvSpPr txBox="1"/>
          <p:nvPr/>
        </p:nvSpPr>
        <p:spPr>
          <a:xfrm>
            <a:off x="3794760" y="3712464"/>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5" name="Shape 23"/>
          <p:cNvSpPr/>
          <p:nvPr/>
        </p:nvSpPr>
        <p:spPr>
          <a:xfrm>
            <a:off x="1051560" y="4389120"/>
            <a:ext cx="0" cy="164592"/>
          </a:xfrm>
          <a:prstGeom prst="line">
            <a:avLst/>
          </a:prstGeom>
          <a:noFill/>
          <a:ln w="28575">
            <a:solidFill>
              <a:srgbClr val="1199BD"/>
            </a:solidFill>
            <a:prstDash val="solid"/>
            <a:tailEnd type="triangle"/>
          </a:ln>
        </p:spPr>
      </p:sp>
      <p:sp>
        <p:nvSpPr>
          <p:cNvPr id="26" name="Shape 24"/>
          <p:cNvSpPr/>
          <p:nvPr/>
        </p:nvSpPr>
        <p:spPr>
          <a:xfrm>
            <a:off x="548640" y="4553712"/>
            <a:ext cx="4754880" cy="676656"/>
          </a:xfrm>
          <a:prstGeom prst="rect">
            <a:avLst/>
          </a:prstGeom>
          <a:solidFill>
            <a:srgbClr val="FFFFFF"/>
          </a:solidFill>
          <a:ln w="15875">
            <a:solidFill>
              <a:srgbClr val="E58E1A"/>
            </a:solidFill>
            <a:prstDash val="dash"/>
          </a:ln>
        </p:spPr>
      </p:sp>
      <p:sp>
        <p:nvSpPr>
          <p:cNvPr id="27" name="Text 25"/>
          <p:cNvSpPr txBox="1"/>
          <p:nvPr/>
        </p:nvSpPr>
        <p:spPr>
          <a:xfrm>
            <a:off x="713232" y="4599432"/>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Partner over LoRa</a:t>
            </a:r>
            <a:endParaRPr lang="en-US" sz="1250" dirty="0"/>
          </a:p>
        </p:txBody>
      </p:sp>
      <p:sp>
        <p:nvSpPr>
          <p:cNvPr id="28" name="Text 26"/>
          <p:cNvSpPr txBox="1"/>
          <p:nvPr/>
        </p:nvSpPr>
        <p:spPr>
          <a:xfrm>
            <a:off x="3794760" y="4553712"/>
            <a:ext cx="1371600" cy="676656"/>
          </a:xfrm>
          <a:prstGeom prst="rect">
            <a:avLst/>
          </a:prstGeom>
          <a:noFill/>
          <a:ln/>
        </p:spPr>
        <p:txBody>
          <a:bodyPr wrap="square" lIns="0" tIns="0" rIns="0" bIns="0" rtlCol="0" anchor="ctr"/>
          <a:lstStyle/>
          <a:p>
            <a:pPr algn="ctr" indent="0" marL="0">
              <a:buNone/>
            </a:pPr>
            <a:r>
              <a:rPr lang="en-US" sz="1000" b="1" dirty="0">
                <a:solidFill>
                  <a:srgbClr val="B06207"/>
                </a:solidFill>
                <a:latin typeface="Courier New" pitchFamily="34" charset="0"/>
                <a:ea typeface="Courier New" pitchFamily="34" charset="-122"/>
                <a:cs typeface="Courier New" pitchFamily="34" charset="-120"/>
              </a:rPr>
              <a:t>THIS WEEK</a:t>
            </a:r>
            <a:endParaRPr lang="en-US" sz="1000" dirty="0"/>
          </a:p>
        </p:txBody>
      </p:sp>
      <p:pic>
        <p:nvPicPr>
          <p:cNvPr id="29"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760720" y="1188720"/>
            <a:ext cx="2331720" cy="1828800"/>
          </a:xfrm>
          <a:prstGeom prst="rect">
            <a:avLst/>
          </a:prstGeom>
        </p:spPr>
      </p:pic>
      <p:sp>
        <p:nvSpPr>
          <p:cNvPr id="30" name="Shape 27"/>
          <p:cNvSpPr/>
          <p:nvPr/>
        </p:nvSpPr>
        <p:spPr>
          <a:xfrm>
            <a:off x="5760720" y="1188720"/>
            <a:ext cx="2331720" cy="1828800"/>
          </a:xfrm>
          <a:prstGeom prst="rect">
            <a:avLst/>
          </a:prstGeom>
          <a:ln w="12700">
            <a:solidFill>
              <a:srgbClr val="9AA7BE"/>
            </a:solidFill>
            <a:prstDash val="solid"/>
          </a:ln>
        </p:spPr>
      </p:sp>
      <p:sp>
        <p:nvSpPr>
          <p:cNvPr id="31" name="Text 28"/>
          <p:cNvSpPr txBox="1"/>
          <p:nvPr/>
        </p:nvSpPr>
        <p:spPr>
          <a:xfrm>
            <a:off x="5760720" y="3044952"/>
            <a:ext cx="23317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display says it plainly</a:t>
            </a:r>
            <a:endParaRPr lang="en-US" sz="950" dirty="0"/>
          </a:p>
        </p:txBody>
      </p:sp>
      <p:sp>
        <p:nvSpPr>
          <p:cNvPr id="32" name="Shape 29"/>
          <p:cNvSpPr/>
          <p:nvPr/>
        </p:nvSpPr>
        <p:spPr>
          <a:xfrm>
            <a:off x="8366760" y="1188720"/>
            <a:ext cx="3337560" cy="1828800"/>
          </a:xfrm>
          <a:prstGeom prst="rect">
            <a:avLst/>
          </a:prstGeom>
          <a:solidFill>
            <a:srgbClr val="16213D"/>
          </a:solidFill>
          <a:ln/>
        </p:spPr>
      </p:sp>
      <p:sp>
        <p:nvSpPr>
          <p:cNvPr id="33" name="Text 30"/>
          <p:cNvSpPr txBox="1"/>
          <p:nvPr/>
        </p:nvSpPr>
        <p:spPr>
          <a:xfrm>
            <a:off x="8549640" y="1325880"/>
            <a:ext cx="2971800" cy="1600200"/>
          </a:xfrm>
          <a:prstGeom prst="rect">
            <a:avLst/>
          </a:prstGeom>
          <a:noFill/>
          <a:ln/>
        </p:spPr>
        <p:txBody>
          <a:bodyPr wrap="square" lIns="0" tIns="0" rIns="0" bIns="0" rtlCol="0" anchor="ctr"/>
          <a:lstStyle/>
          <a:p>
            <a:pPr indent="0" marL="0">
              <a:spcAft>
                <a:spcPts val="500"/>
              </a:spcAft>
              <a:buNone/>
            </a:pPr>
            <a:r>
              <a:rPr lang="en-US" sz="1150" b="1" dirty="0">
                <a:solidFill>
                  <a:srgbClr val="E58E1A"/>
                </a:solidFill>
                <a:latin typeface="Courier New" pitchFamily="34" charset="0"/>
                <a:ea typeface="Courier New" pitchFamily="34" charset="-122"/>
                <a:cs typeface="Courier New" pitchFamily="34" charset="-120"/>
              </a:rPr>
              <a:t>THE CLIFFHANGER</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“One radio still talks to itself. Radio number two turns this into a tracker.” That sentence is this week's work order.</a:t>
            </a:r>
            <a:endParaRPr lang="en-US" sz="1150" dirty="0"/>
          </a:p>
        </p:txBody>
      </p:sp>
      <p:sp>
        <p:nvSpPr>
          <p:cNvPr id="34" name="Text 31"/>
          <p:cNvSpPr txBox="1"/>
          <p:nvPr/>
        </p:nvSpPr>
        <p:spPr>
          <a:xfrm>
            <a:off x="5760720" y="3520440"/>
            <a:ext cx="5943600" cy="14630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Everything below the dashed layer runs today: decoding, navigation, dead reckoning, honest ages.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partner path is the same decode code with a different node number. Nothing new is written; something existing gets its second speaker.</a:t>
            </a:r>
            <a:endParaRPr lang="en-US" sz="1250" dirty="0"/>
          </a:p>
        </p:txBody>
      </p:sp>
      <p:sp>
        <p:nvSpPr>
          <p:cNvPr id="35" name="Shape 32"/>
          <p:cNvSpPr/>
          <p:nvPr/>
        </p:nvSpPr>
        <p:spPr>
          <a:xfrm>
            <a:off x="548640" y="5486400"/>
            <a:ext cx="11155680" cy="640080"/>
          </a:xfrm>
          <a:prstGeom prst="rect">
            <a:avLst/>
          </a:prstGeom>
          <a:solidFill>
            <a:srgbClr val="F2F5FA"/>
          </a:solidFill>
          <a:ln w="9525">
            <a:solidFill>
              <a:srgbClr val="9AA7BE"/>
            </a:solidFill>
            <a:prstDash val="solid"/>
          </a:ln>
        </p:spPr>
      </p:sp>
      <p:sp>
        <p:nvSpPr>
          <p:cNvPr id="36" name="Text 33"/>
          <p:cNvSpPr txBox="1"/>
          <p:nvPr/>
        </p:nvSpPr>
        <p:spPr>
          <a:xfrm>
            <a:off x="777240" y="5559552"/>
            <a:ext cx="10744200" cy="5029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This review publishes the plan the fifth layer will be judged by: procedure, design, predicted curve, protocol, metrics.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 TEST RESULT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RESULT: EVERY TEN SECONDS, ON THE ROAD</a:t>
            </a:r>
            <a:endParaRPr lang="en-US" sz="2300" dirty="0"/>
          </a:p>
        </p:txBody>
      </p:sp>
      <p:sp>
        <p:nvSpPr>
          <p:cNvPr id="10" name="Shape 8"/>
          <p:cNvSpPr/>
          <p:nvPr/>
        </p:nvSpPr>
        <p:spPr>
          <a:xfrm>
            <a:off x="457200" y="1188720"/>
            <a:ext cx="2606040" cy="1051560"/>
          </a:xfrm>
          <a:prstGeom prst="rect">
            <a:avLst/>
          </a:prstGeom>
          <a:solidFill>
            <a:srgbClr val="F2F5FA"/>
          </a:solidFill>
          <a:ln w="19050">
            <a:solidFill>
              <a:srgbClr val="1199BD"/>
            </a:solidFill>
            <a:prstDash val="solid"/>
          </a:ln>
        </p:spPr>
      </p:sp>
      <p:sp>
        <p:nvSpPr>
          <p:cNvPr id="11" name="Text 9"/>
          <p:cNvSpPr txBox="1"/>
          <p:nvPr/>
        </p:nvSpPr>
        <p:spPr>
          <a:xfrm>
            <a:off x="548640"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GPS fix</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10 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gps_update_interval 10</a:t>
            </a:r>
            <a:endParaRPr lang="en-US" sz="1200" dirty="0"/>
          </a:p>
        </p:txBody>
      </p:sp>
      <p:sp>
        <p:nvSpPr>
          <p:cNvPr id="12" name="Shape 10"/>
          <p:cNvSpPr/>
          <p:nvPr/>
        </p:nvSpPr>
        <p:spPr>
          <a:xfrm>
            <a:off x="3063240" y="1709928"/>
            <a:ext cx="301752" cy="0"/>
          </a:xfrm>
          <a:prstGeom prst="line">
            <a:avLst/>
          </a:prstGeom>
          <a:noFill/>
          <a:ln w="28575">
            <a:solidFill>
              <a:srgbClr val="1199BD"/>
            </a:solidFill>
            <a:prstDash val="solid"/>
            <a:tailEnd type="triangle"/>
          </a:ln>
        </p:spPr>
      </p:sp>
      <p:sp>
        <p:nvSpPr>
          <p:cNvPr id="13" name="Shape 11"/>
          <p:cNvSpPr/>
          <p:nvPr/>
        </p:nvSpPr>
        <p:spPr>
          <a:xfrm>
            <a:off x="3364992" y="1188720"/>
            <a:ext cx="2606040" cy="1051560"/>
          </a:xfrm>
          <a:prstGeom prst="rect">
            <a:avLst/>
          </a:prstGeom>
          <a:solidFill>
            <a:srgbClr val="F2F5FA"/>
          </a:solidFill>
          <a:ln w="19050">
            <a:solidFill>
              <a:srgbClr val="1199BD"/>
            </a:solidFill>
            <a:prstDash val="solid"/>
          </a:ln>
        </p:spPr>
      </p:sp>
      <p:sp>
        <p:nvSpPr>
          <p:cNvPr id="14" name="Text 12"/>
          <p:cNvSpPr txBox="1"/>
          <p:nvPr/>
        </p:nvSpPr>
        <p:spPr>
          <a:xfrm>
            <a:off x="3456432"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Smart broadcast</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10 s / 20 m moving</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min interval + distance</a:t>
            </a:r>
            <a:endParaRPr lang="en-US" sz="1200" dirty="0"/>
          </a:p>
        </p:txBody>
      </p:sp>
      <p:sp>
        <p:nvSpPr>
          <p:cNvPr id="15" name="Shape 13"/>
          <p:cNvSpPr/>
          <p:nvPr/>
        </p:nvSpPr>
        <p:spPr>
          <a:xfrm>
            <a:off x="5971032" y="1709928"/>
            <a:ext cx="301752" cy="0"/>
          </a:xfrm>
          <a:prstGeom prst="line">
            <a:avLst/>
          </a:prstGeom>
          <a:noFill/>
          <a:ln w="28575">
            <a:solidFill>
              <a:srgbClr val="1199BD"/>
            </a:solidFill>
            <a:prstDash val="solid"/>
            <a:tailEnd type="triangle"/>
          </a:ln>
        </p:spPr>
      </p:sp>
      <p:sp>
        <p:nvSpPr>
          <p:cNvPr id="16" name="Shape 14"/>
          <p:cNvSpPr/>
          <p:nvPr/>
        </p:nvSpPr>
        <p:spPr>
          <a:xfrm>
            <a:off x="6272784" y="1188720"/>
            <a:ext cx="2606040" cy="1051560"/>
          </a:xfrm>
          <a:prstGeom prst="rect">
            <a:avLst/>
          </a:prstGeom>
          <a:solidFill>
            <a:srgbClr val="F2F5FA"/>
          </a:solidFill>
          <a:ln w="19050">
            <a:solidFill>
              <a:srgbClr val="1199BD"/>
            </a:solidFill>
            <a:prstDash val="solid"/>
          </a:ln>
        </p:spPr>
      </p:sp>
      <p:sp>
        <p:nvSpPr>
          <p:cNvPr id="17" name="Text 15"/>
          <p:cNvSpPr txBox="1"/>
          <p:nvPr/>
        </p:nvSpPr>
        <p:spPr>
          <a:xfrm>
            <a:off x="6364224"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BLE delivery</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milliseconds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notify, then drain</a:t>
            </a:r>
            <a:endParaRPr lang="en-US" sz="1200" dirty="0"/>
          </a:p>
        </p:txBody>
      </p:sp>
      <p:sp>
        <p:nvSpPr>
          <p:cNvPr id="18" name="Shape 16"/>
          <p:cNvSpPr/>
          <p:nvPr/>
        </p:nvSpPr>
        <p:spPr>
          <a:xfrm>
            <a:off x="8878824" y="1709928"/>
            <a:ext cx="301752" cy="0"/>
          </a:xfrm>
          <a:prstGeom prst="line">
            <a:avLst/>
          </a:prstGeom>
          <a:noFill/>
          <a:ln w="28575">
            <a:solidFill>
              <a:srgbClr val="1199BD"/>
            </a:solidFill>
            <a:prstDash val="solid"/>
            <a:tailEnd type="triangle"/>
          </a:ln>
        </p:spPr>
      </p:sp>
      <p:sp>
        <p:nvSpPr>
          <p:cNvPr id="19" name="Shape 17"/>
          <p:cNvSpPr/>
          <p:nvPr/>
        </p:nvSpPr>
        <p:spPr>
          <a:xfrm>
            <a:off x="9180576" y="1188720"/>
            <a:ext cx="2606040" cy="1051560"/>
          </a:xfrm>
          <a:prstGeom prst="rect">
            <a:avLst/>
          </a:prstGeom>
          <a:solidFill>
            <a:srgbClr val="F2F5FA"/>
          </a:solidFill>
          <a:ln w="19050">
            <a:solidFill>
              <a:srgbClr val="1199BD"/>
            </a:solidFill>
            <a:prstDash val="solid"/>
          </a:ln>
        </p:spPr>
      </p:sp>
      <p:sp>
        <p:nvSpPr>
          <p:cNvPr id="20" name="Text 18"/>
          <p:cNvSpPr txBox="1"/>
          <p:nvPr/>
        </p:nvSpPr>
        <p:spPr>
          <a:xfrm>
            <a:off x="9272016"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Screen motion</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second</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dead reckoning</a:t>
            </a:r>
            <a:endParaRPr lang="en-US" sz="1200" dirty="0"/>
          </a:p>
        </p:txBody>
      </p:sp>
      <p:sp>
        <p:nvSpPr>
          <p:cNvPr id="21" name="Text 19"/>
          <p:cNvSpPr txBox="1"/>
          <p:nvPr/>
        </p:nvSpPr>
        <p:spPr>
          <a:xfrm>
            <a:off x="457200" y="2423160"/>
            <a:ext cx="11292840" cy="256032"/>
          </a:xfrm>
          <a:prstGeom prst="rect">
            <a:avLst/>
          </a:prstGeom>
          <a:noFill/>
          <a:ln/>
        </p:spPr>
        <p:txBody>
          <a:bodyPr wrap="square" lIns="0" tIns="0" rIns="0" bIns="0" rtlCol="0" anchor="ctr"/>
          <a:lstStyle/>
          <a:p>
            <a:pPr indent="0" marL="0">
              <a:buNone/>
            </a:pPr>
            <a:r>
              <a:rPr lang="en-US" sz="1000" b="1" spc="100" kern="0" dirty="0">
                <a:solidFill>
                  <a:srgbClr val="1F9D68"/>
                </a:solidFill>
                <a:latin typeface="Courier New" pitchFamily="34" charset="0"/>
                <a:ea typeface="Courier New" pitchFamily="34" charset="-122"/>
                <a:cs typeface="Courier New" pitchFamily="34" charset="-120"/>
              </a:rPr>
              <a:t>VERIFIED IN MOTION, 2026-09-16 DRIVE TEST</a:t>
            </a:r>
            <a:endParaRPr lang="en-US" sz="1000" dirty="0"/>
          </a:p>
        </p:txBody>
      </p:sp>
      <p:sp>
        <p:nvSpPr>
          <p:cNvPr id="22" name="Text 20"/>
          <p:cNvSpPr txBox="1"/>
          <p:nvPr/>
        </p:nvSpPr>
        <p:spPr>
          <a:xfrm>
            <a:off x="457200" y="2834640"/>
            <a:ext cx="1129284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Observed while driving: coordinates and speed refreshed roughly every ten seconds, matching the configured cadence for the first time on the road.</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This closes the chain of cadence fixes from weeks three and four: the coarse-grid freeze, the stale GPS refresh, and the re-broadcast ghost each hid this behavior until removed.</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cadence question is now settled for one vehicle. Radio two inherits this configuration through the channel recipe, so the partner arrives at the same ten seconds.</a:t>
            </a:r>
            <a:endParaRPr lang="en-US" sz="1300" dirty="0"/>
          </a:p>
        </p:txBody>
      </p:sp>
      <p:sp>
        <p:nvSpPr>
          <p:cNvPr id="23" name="Shape 21"/>
          <p:cNvSpPr/>
          <p:nvPr/>
        </p:nvSpPr>
        <p:spPr>
          <a:xfrm>
            <a:off x="457200" y="4709160"/>
            <a:ext cx="11292840" cy="1371600"/>
          </a:xfrm>
          <a:prstGeom prst="rect">
            <a:avLst/>
          </a:prstGeom>
          <a:solidFill>
            <a:srgbClr val="16213D"/>
          </a:solidFill>
          <a:ln/>
        </p:spPr>
      </p:sp>
      <p:sp>
        <p:nvSpPr>
          <p:cNvPr id="24" name="Text 22"/>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THIS MATTERS FOR THE EXAM</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Two of the five declared metrics depend on this cadence: packet delivery ratio counts against the ten-second schedule, and the age target of 25 seconds assumes fixes arrive on it. This drive test pinned down the denominator before the two-radio test supplies the numerator.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PARTNER SELECTION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PARTNER SELECTION: FROM RULE TO CONFIGURATION</a:t>
            </a:r>
            <a:endParaRPr lang="en-US" sz="2300" dirty="0"/>
          </a:p>
        </p:txBody>
      </p:sp>
      <p:sp>
        <p:nvSpPr>
          <p:cNvPr id="10" name="Shape 8"/>
          <p:cNvSpPr/>
          <p:nvPr/>
        </p:nvSpPr>
        <p:spPr>
          <a:xfrm>
            <a:off x="457200" y="1097280"/>
            <a:ext cx="5532120" cy="1554480"/>
          </a:xfrm>
          <a:prstGeom prst="rect">
            <a:avLst/>
          </a:prstGeom>
          <a:solidFill>
            <a:srgbClr val="1B2440"/>
          </a:solidFill>
          <a:ln/>
        </p:spPr>
      </p:sp>
      <p:sp>
        <p:nvSpPr>
          <p:cNvPr id="11" name="Text 9"/>
          <p:cNvSpPr txBox="1"/>
          <p:nvPr/>
        </p:nvSpPr>
        <p:spPr>
          <a:xfrm>
            <a:off x="594360" y="116128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today: the bring-up rule</a:t>
            </a:r>
            <a:endParaRPr lang="en-US" sz="1000" dirty="0"/>
          </a:p>
        </p:txBody>
      </p:sp>
      <p:sp>
        <p:nvSpPr>
          <p:cNvPr id="12" name="Text 10"/>
          <p:cNvSpPr txBox="1"/>
          <p:nvPr/>
        </p:nvSpPr>
        <p:spPr>
          <a:xfrm>
            <a:off x="594360" y="1417320"/>
            <a:ext cx="525780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first non-self node heard becomes the partner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if (s_partner_num == 0)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s_partner_num =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Serial.printf("[node] partner: 0x%08lx",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97280"/>
            <a:ext cx="5394960" cy="1554480"/>
          </a:xfrm>
          <a:prstGeom prst="rect">
            <a:avLst/>
          </a:prstGeom>
          <a:solidFill>
            <a:srgbClr val="1B2440"/>
          </a:solidFill>
          <a:ln/>
        </p:spPr>
      </p:sp>
      <p:sp>
        <p:nvSpPr>
          <p:cNvPr id="14" name="Text 12"/>
          <p:cNvSpPr txBox="1"/>
          <p:nvPr/>
        </p:nvSpPr>
        <p:spPr>
          <a:xfrm>
            <a:off x="6492240" y="116128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design: partner as configuration</a:t>
            </a:r>
            <a:endParaRPr lang="en-US" sz="1000" dirty="0"/>
          </a:p>
        </p:txBody>
      </p:sp>
      <p:sp>
        <p:nvSpPr>
          <p:cNvPr id="15" name="Text 13"/>
          <p:cNvSpPr txBox="1"/>
          <p:nvPr/>
        </p:nvSpPr>
        <p:spPr>
          <a:xfrm>
            <a:off x="6492240" y="1417320"/>
            <a:ext cx="512064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NVS-persisted choice, selectable from the UI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prefs.putUInt("partner", chosen_node);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 accepts only the chosen 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KEY-hold cycles candidates when several heard</a:t>
            </a:r>
            <a:endParaRPr lang="en-US" sz="1000" dirty="0"/>
          </a:p>
        </p:txBody>
      </p:sp>
      <p:sp>
        <p:nvSpPr>
          <p:cNvPr id="16" name="Shape 14"/>
          <p:cNvSpPr/>
          <p:nvPr/>
        </p:nvSpPr>
        <p:spPr>
          <a:xfrm>
            <a:off x="5989320" y="1874520"/>
            <a:ext cx="320040" cy="0"/>
          </a:xfrm>
          <a:prstGeom prst="line">
            <a:avLst/>
          </a:prstGeom>
          <a:noFill/>
          <a:ln w="28575">
            <a:solidFill>
              <a:srgbClr val="1199BD"/>
            </a:solidFill>
            <a:prstDash val="solid"/>
            <a:tailEnd type="triangle"/>
          </a:ln>
        </p:spPr>
      </p:sp>
      <p:sp>
        <p:nvSpPr>
          <p:cNvPr id="17" name="Text 15"/>
          <p:cNvSpPr txBox="1"/>
          <p:nvPr/>
        </p:nvSpPr>
        <p:spPr>
          <a:xfrm>
            <a:off x="457200" y="2926080"/>
            <a:ext cx="11292840" cy="16459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The bring-up rule was correct for one radio: with a single voice on the channel, first-heard is unambiguous.</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With a mesh it becomes a race. The fix is the same pattern as the radio's own address: the choice lives in NVS flash, survives power cycles, and is set from the display, not the code.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Same firmware in every vehicle. Pairing is configuration, not code.</a:t>
            </a:r>
            <a:endParaRPr lang="en-US" sz="1300" dirty="0"/>
          </a:p>
        </p:txBody>
      </p:sp>
      <p:sp>
        <p:nvSpPr>
          <p:cNvPr id="18" name="Shape 16"/>
          <p:cNvSpPr/>
          <p:nvPr/>
        </p:nvSpPr>
        <p:spPr>
          <a:xfrm>
            <a:off x="457200" y="4709160"/>
            <a:ext cx="11292840" cy="1371600"/>
          </a:xfrm>
          <a:prstGeom prst="rect">
            <a:avLst/>
          </a:prstGeom>
          <a:solidFill>
            <a:srgbClr val="F2F5FA"/>
          </a:solidFill>
          <a:ln w="9525">
            <a:solidFill>
              <a:srgbClr val="9AA7BE"/>
            </a:solidFill>
            <a:prstDash val="solid"/>
          </a:ln>
        </p:spPr>
      </p:sp>
      <p:sp>
        <p:nvSpPr>
          <p:cNvPr id="19" name="Text 17"/>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16213D"/>
                </a:solidFill>
                <a:latin typeface="Courier New" pitchFamily="34" charset="0"/>
                <a:ea typeface="Courier New" pitchFamily="34" charset="-122"/>
                <a:cs typeface="Courier New" pitchFamily="34" charset="-120"/>
              </a:rPr>
              <a:t>WHY THIS ORDER OF WORK</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Selection ships before the two-radio bench test on purpose: the first time two real nodes speak, the display must already know how to choose between them. Designing the chooser after the ambiguity exists would mean debugging both at once.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TWO PROCEDURE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TWO: A FIFTEEN-MINUTE PROCEDURE</a:t>
            </a:r>
            <a:endParaRPr lang="en-US" sz="2300" dirty="0"/>
          </a:p>
        </p:txBody>
      </p:sp>
      <p:sp>
        <p:nvSpPr>
          <p:cNvPr id="10" name="Shape 8"/>
          <p:cNvSpPr/>
          <p:nvPr/>
        </p:nvSpPr>
        <p:spPr>
          <a:xfrm>
            <a:off x="457200" y="1097280"/>
            <a:ext cx="7315200" cy="2286000"/>
          </a:xfrm>
          <a:prstGeom prst="rect">
            <a:avLst/>
          </a:prstGeom>
          <a:solidFill>
            <a:srgbClr val="1B2440"/>
          </a:solidFill>
          <a:ln/>
        </p:spPr>
      </p:sp>
      <p:sp>
        <p:nvSpPr>
          <p:cNvPr id="11" name="Text 9"/>
          <p:cNvSpPr txBox="1"/>
          <p:nvPr/>
        </p:nvSpPr>
        <p:spPr>
          <a:xfrm>
            <a:off x="594360" y="1161288"/>
            <a:ext cx="7040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hardware/README.md  the recipe, one command per line</a:t>
            </a:r>
            <a:endParaRPr lang="en-US" sz="1000" dirty="0"/>
          </a:p>
        </p:txBody>
      </p:sp>
      <p:sp>
        <p:nvSpPr>
          <p:cNvPr id="12" name="Text 10"/>
          <p:cNvSpPr txBox="1"/>
          <p:nvPr/>
        </p:nvSpPr>
        <p:spPr>
          <a:xfrm>
            <a:off x="594360" y="1417320"/>
            <a:ext cx="70408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--seturl "https://meshtastic.org/e/#Ci4S..."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channel URL: carries the AES key AND the frequency agreement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position.position_broadcast_secs 60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position.broadcast_smart_minimum_interval_secs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position.broadcast_smart_minimum_distance 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position.gps_update_interval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--get lora.region     # VERIFY every write</a:t>
            </a:r>
            <a:endParaRPr lang="en-US" sz="1000" dirty="0"/>
          </a:p>
        </p:txBody>
      </p:sp>
      <p:sp>
        <p:nvSpPr>
          <p:cNvPr id="13" name="Shape 11"/>
          <p:cNvSpPr/>
          <p:nvPr/>
        </p:nvSpPr>
        <p:spPr>
          <a:xfrm>
            <a:off x="8092440" y="1097280"/>
            <a:ext cx="3657600" cy="2286000"/>
          </a:xfrm>
          <a:prstGeom prst="rect">
            <a:avLst/>
          </a:prstGeom>
          <a:solidFill>
            <a:srgbClr val="FDF3E3"/>
          </a:solidFill>
          <a:ln w="15875">
            <a:solidFill>
              <a:srgbClr val="E58E1A"/>
            </a:solidFill>
            <a:prstDash val="solid"/>
          </a:ln>
        </p:spPr>
      </p:sp>
      <p:sp>
        <p:nvSpPr>
          <p:cNvPr id="14" name="Text 12"/>
          <p:cNvSpPr txBox="1"/>
          <p:nvPr/>
        </p:nvSpPr>
        <p:spPr>
          <a:xfrm>
            <a:off x="8229600" y="1234440"/>
            <a:ext cx="3383280" cy="205740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TWO DOCUMENTED TRAPS</a:t>
            </a:r>
            <a:endParaRPr lang="en-US" sz="1100" dirty="0"/>
          </a:p>
          <a:p>
            <a:pPr indent="0" marL="0">
              <a:buNone/>
            </a:pPr>
            <a:r>
              <a:rPr lang="en-US" sz="1100" dirty="0">
                <a:solidFill>
                  <a:srgbClr val="222A3F"/>
                </a:solidFill>
                <a:latin typeface="Arial" pitchFamily="34" charset="0"/>
                <a:ea typeface="Arial" pitchFamily="34" charset="-122"/>
                <a:cs typeface="Arial" pitchFamily="34" charset="-120"/>
              </a:rPr>
              <a:t>Reboot-triggering writes can silently revert (the port close resets the chip mid-save): read back every setting. And identical boards demand a named upload port: we have paid for that lesson once.</a:t>
            </a:r>
            <a:endParaRPr lang="en-US" sz="1100" dirty="0"/>
          </a:p>
        </p:txBody>
      </p:sp>
      <p:sp>
        <p:nvSpPr>
          <p:cNvPr id="15" name="Text 13"/>
          <p:cNvSpPr txBox="1"/>
          <p:nvPr/>
        </p:nvSpPr>
        <p:spPr>
          <a:xfrm>
            <a:off x="457200" y="3657600"/>
            <a:ext cx="7315200" cy="292608"/>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ACCEPTANCE CRITERIA, WRITTEN BEFORE THE ATTEMPT</a:t>
            </a:r>
            <a:endParaRPr lang="en-US" sz="1200" dirty="0"/>
          </a:p>
        </p:txBody>
      </p:sp>
      <p:sp>
        <p:nvSpPr>
          <p:cNvPr id="16" name="Shape 14"/>
          <p:cNvSpPr/>
          <p:nvPr/>
        </p:nvSpPr>
        <p:spPr>
          <a:xfrm>
            <a:off x="457200" y="4069080"/>
            <a:ext cx="457200" cy="402336"/>
          </a:xfrm>
          <a:prstGeom prst="rect">
            <a:avLst/>
          </a:prstGeom>
          <a:solidFill>
            <a:srgbClr val="16213D"/>
          </a:solidFill>
          <a:ln/>
        </p:spPr>
      </p:sp>
      <p:sp>
        <p:nvSpPr>
          <p:cNvPr id="17" name="Text 15"/>
          <p:cNvSpPr txBox="1"/>
          <p:nvPr/>
        </p:nvSpPr>
        <p:spPr>
          <a:xfrm>
            <a:off x="457200" y="4096512"/>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1051560" y="4096512"/>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Radio two's OLED shows the Group9 channel and US region</a:t>
            </a:r>
            <a:endParaRPr lang="en-US" sz="1250" dirty="0"/>
          </a:p>
        </p:txBody>
      </p:sp>
      <p:sp>
        <p:nvSpPr>
          <p:cNvPr id="19" name="Shape 17"/>
          <p:cNvSpPr/>
          <p:nvPr/>
        </p:nvSpPr>
        <p:spPr>
          <a:xfrm>
            <a:off x="457200" y="4581144"/>
            <a:ext cx="457200" cy="402336"/>
          </a:xfrm>
          <a:prstGeom prst="rect">
            <a:avLst/>
          </a:prstGeom>
          <a:solidFill>
            <a:srgbClr val="16213D"/>
          </a:solidFill>
          <a:ln/>
        </p:spPr>
      </p:sp>
      <p:sp>
        <p:nvSpPr>
          <p:cNvPr id="20" name="Text 18"/>
          <p:cNvSpPr txBox="1"/>
          <p:nvPr/>
        </p:nvSpPr>
        <p:spPr>
          <a:xfrm>
            <a:off x="457200" y="4608576"/>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2</a:t>
            </a:r>
            <a:endParaRPr lang="en-US" sz="1200" dirty="0"/>
          </a:p>
        </p:txBody>
      </p:sp>
      <p:sp>
        <p:nvSpPr>
          <p:cNvPr id="21" name="Text 19"/>
          <p:cNvSpPr txBox="1"/>
          <p:nvPr/>
        </p:nvSpPr>
        <p:spPr>
          <a:xfrm>
            <a:off x="1051560" y="4608576"/>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Both OLEDs read “1 online”: each radio hears the other</a:t>
            </a:r>
            <a:endParaRPr lang="en-US" sz="1250" dirty="0"/>
          </a:p>
        </p:txBody>
      </p:sp>
      <p:sp>
        <p:nvSpPr>
          <p:cNvPr id="22" name="Shape 20"/>
          <p:cNvSpPr/>
          <p:nvPr/>
        </p:nvSpPr>
        <p:spPr>
          <a:xfrm>
            <a:off x="457200" y="5093208"/>
            <a:ext cx="457200" cy="402336"/>
          </a:xfrm>
          <a:prstGeom prst="rect">
            <a:avLst/>
          </a:prstGeom>
          <a:solidFill>
            <a:srgbClr val="16213D"/>
          </a:solidFill>
          <a:ln/>
        </p:spPr>
      </p:sp>
      <p:sp>
        <p:nvSpPr>
          <p:cNvPr id="23" name="Text 21"/>
          <p:cNvSpPr txBox="1"/>
          <p:nvPr/>
        </p:nvSpPr>
        <p:spPr>
          <a:xfrm>
            <a:off x="457200" y="5120640"/>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3</a:t>
            </a:r>
            <a:endParaRPr lang="en-US" sz="1200" dirty="0"/>
          </a:p>
        </p:txBody>
      </p:sp>
      <p:sp>
        <p:nvSpPr>
          <p:cNvPr id="24" name="Text 22"/>
          <p:cNvSpPr txBox="1"/>
          <p:nvPr/>
        </p:nvSpPr>
        <p:spPr>
          <a:xfrm>
            <a:off x="1051560" y="5120640"/>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The display's PTR row fills with radio two's live position</a:t>
            </a:r>
            <a:endParaRPr lang="en-US" sz="1250" dirty="0"/>
          </a:p>
        </p:txBody>
      </p:sp>
      <p:sp>
        <p:nvSpPr>
          <p:cNvPr id="25" name="Shape 23"/>
          <p:cNvSpPr/>
          <p:nvPr/>
        </p:nvSpPr>
        <p:spPr>
          <a:xfrm>
            <a:off x="457200" y="5605272"/>
            <a:ext cx="457200" cy="402336"/>
          </a:xfrm>
          <a:prstGeom prst="rect">
            <a:avLst/>
          </a:prstGeom>
          <a:solidFill>
            <a:srgbClr val="16213D"/>
          </a:solidFill>
          <a:ln/>
        </p:spPr>
      </p:sp>
      <p:sp>
        <p:nvSpPr>
          <p:cNvPr id="26" name="Text 24"/>
          <p:cNvSpPr txBox="1"/>
          <p:nvPr/>
        </p:nvSpPr>
        <p:spPr>
          <a:xfrm>
            <a:off x="457200" y="5632704"/>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4</a:t>
            </a:r>
            <a:endParaRPr lang="en-US" sz="1200" dirty="0"/>
          </a:p>
        </p:txBody>
      </p:sp>
      <p:sp>
        <p:nvSpPr>
          <p:cNvPr id="27" name="Text 25"/>
          <p:cNvSpPr txBox="1"/>
          <p:nvPr/>
        </p:nvSpPr>
        <p:spPr>
          <a:xfrm>
            <a:off x="1051560" y="5632704"/>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ChUtil stays in single digits with both radios broadcasting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PREDICTED LINK CURVE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PREDICTION THE RANGE TEST WILL JUDGE</a:t>
            </a:r>
            <a:endParaRPr lang="en-US" sz="2300" dirty="0"/>
          </a:p>
        </p:txBody>
      </p:sp>
      <p:pic>
        <p:nvPicPr>
          <p:cNvPr id="10" name="Image 0" descr="C:/Users/deogr/AppData/Local/Temp/claude/C--Users-deogr-Documents-Fall-Project-Off-Grid-Vehicle-dection-project/e8b2e8fa-1513-4aa8-a8f6-ce4fcd20e664/scratchpad/deck3/g_linkbudget.png">    </p:cNvPr>
          <p:cNvPicPr>
            <a:picLocks noChangeAspect="1"/>
          </p:cNvPicPr>
          <p:nvPr/>
        </p:nvPicPr>
        <p:blipFill>
          <a:blip r:embed="rId1"/>
          <a:stretch>
            <a:fillRect/>
          </a:stretch>
        </p:blipFill>
        <p:spPr>
          <a:xfrm>
            <a:off x="457200" y="1051560"/>
            <a:ext cx="6035040" cy="3959352"/>
          </a:xfrm>
          <a:prstGeom prst="rect">
            <a:avLst/>
          </a:prstGeom>
        </p:spPr>
      </p:pic>
      <p:sp>
        <p:nvSpPr>
          <p:cNvPr id="11" name="Shape 8"/>
          <p:cNvSpPr/>
          <p:nvPr/>
        </p:nvSpPr>
        <p:spPr>
          <a:xfrm>
            <a:off x="457200" y="1051560"/>
            <a:ext cx="6035040" cy="3959352"/>
          </a:xfrm>
          <a:prstGeom prst="rect">
            <a:avLst/>
          </a:prstGeom>
          <a:ln w="12700">
            <a:solidFill>
              <a:srgbClr val="9AA7BE"/>
            </a:solidFill>
            <a:prstDash val="solid"/>
          </a:ln>
        </p:spPr>
      </p:sp>
      <p:sp>
        <p:nvSpPr>
          <p:cNvPr id="12" name="Text 9"/>
          <p:cNvSpPr txBox="1"/>
          <p:nvPr/>
        </p:nvSpPr>
        <p:spPr>
          <a:xfrm>
            <a:off x="6720840" y="1188720"/>
            <a:ext cx="4983480" cy="31089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Transmit +22 dBm, 3 dBi at each end, free-space loss at 915 MHz: the solid curve. Terrain and clutter cost more: the dashed band.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orange line is the wall: -131 dBm, the SF11 sensitivity from the datasheet. Where the band crosses the wall is the range prediction.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Free space says tens of kilometers; terrain will decide the real number. The range campaign plots measured RSSI points onto this exact chart.</a:t>
            </a:r>
            <a:endParaRPr lang="en-US" sz="1250" dirty="0"/>
          </a:p>
        </p:txBody>
      </p:sp>
      <p:sp>
        <p:nvSpPr>
          <p:cNvPr id="13" name="Shape 10"/>
          <p:cNvSpPr/>
          <p:nvPr/>
        </p:nvSpPr>
        <p:spPr>
          <a:xfrm>
            <a:off x="6720840" y="4434840"/>
            <a:ext cx="4983480" cy="1554480"/>
          </a:xfrm>
          <a:prstGeom prst="rect">
            <a:avLst/>
          </a:prstGeom>
          <a:solidFill>
            <a:srgbClr val="16213D"/>
          </a:solidFill>
          <a:ln/>
        </p:spPr>
      </p:sp>
      <p:sp>
        <p:nvSpPr>
          <p:cNvPr id="14" name="Text 11"/>
          <p:cNvSpPr txBox="1"/>
          <p:nvPr/>
        </p:nvSpPr>
        <p:spPr>
          <a:xfrm>
            <a:off x="6903720" y="4572000"/>
            <a:ext cx="4617720" cy="132588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PUBLISH THE CURVE FIRST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 measurement without a prior prediction is a demo. A measurement against a published curve is an experiment. Next review overlays the field points on this figure, wherever they land.</a:t>
            </a:r>
            <a:endParaRPr lang="en-US" sz="1200" dirty="0"/>
          </a:p>
        </p:txBody>
      </p:sp>
      <p:sp>
        <p:nvSpPr>
          <p:cNvPr id="15" name="Text 12"/>
          <p:cNvSpPr txBox="1"/>
          <p:nvPr/>
        </p:nvSpPr>
        <p:spPr>
          <a:xfrm>
            <a:off x="457200" y="5138928"/>
            <a:ext cx="6035040" cy="45720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MODEL: FSPL = 32.45 + 20log(f) + 20log(d) · RSSI = 22 + 3 + 3 - FSPL - terrain   [DS Table 6-1 · AN1200.22 · TELECOM_ANALYSIS.md]</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PARTNER-READY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SCREEN IS ALREADY PARTNER-SHAPED</a:t>
            </a:r>
            <a:endParaRPr lang="en-US" sz="2300" dirty="0"/>
          </a:p>
        </p:txBody>
      </p:sp>
      <p:pic>
        <p:nvPicPr>
          <p:cNvPr id="10"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457200" y="1143000"/>
            <a:ext cx="2651760" cy="2084832"/>
          </a:xfrm>
          <a:prstGeom prst="rect">
            <a:avLst/>
          </a:prstGeom>
        </p:spPr>
      </p:pic>
      <p:sp>
        <p:nvSpPr>
          <p:cNvPr id="11" name="Shape 8"/>
          <p:cNvSpPr/>
          <p:nvPr/>
        </p:nvSpPr>
        <p:spPr>
          <a:xfrm>
            <a:off x="457200" y="1143000"/>
            <a:ext cx="2651760" cy="2084832"/>
          </a:xfrm>
          <a:prstGeom prst="rect">
            <a:avLst/>
          </a:prstGeom>
          <a:ln w="12700">
            <a:solidFill>
              <a:srgbClr val="9AA7BE"/>
            </a:solidFill>
            <a:prstDash val="solid"/>
          </a:ln>
        </p:spPr>
      </p:sp>
      <p:sp>
        <p:nvSpPr>
          <p:cNvPr id="12" name="Text 9"/>
          <p:cNvSpPr txBox="1"/>
          <p:nvPr/>
        </p:nvSpPr>
        <p:spPr>
          <a:xfrm>
            <a:off x="457200" y="3255264"/>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Today: honest about the gap</a:t>
            </a:r>
            <a:endParaRPr lang="en-US" sz="950" dirty="0"/>
          </a:p>
        </p:txBody>
      </p:sp>
      <p:pic>
        <p:nvPicPr>
          <p:cNvPr id="13" name="Image 1" descr="C:/Users/deogr/AppData/Local/Temp/claude/C--Users-deogr-Documents-Fall-Project-Off-Grid-Vehicle-dection-project/e8b2e8fa-1513-4aa8-a8f6-ce4fcd20e664/scratchpad/deck3/p_compass.jpg">    </p:cNvPr>
          <p:cNvPicPr>
            <a:picLocks noChangeAspect="1"/>
          </p:cNvPicPr>
          <p:nvPr/>
        </p:nvPicPr>
        <p:blipFill>
          <a:blip r:embed="rId2"/>
          <a:stretch>
            <a:fillRect/>
          </a:stretch>
        </p:blipFill>
        <p:spPr>
          <a:xfrm>
            <a:off x="3383280" y="1143000"/>
            <a:ext cx="2651760" cy="2185416"/>
          </a:xfrm>
          <a:prstGeom prst="rect">
            <a:avLst/>
          </a:prstGeom>
        </p:spPr>
      </p:pic>
      <p:sp>
        <p:nvSpPr>
          <p:cNvPr id="14" name="Shape 10"/>
          <p:cNvSpPr/>
          <p:nvPr/>
        </p:nvSpPr>
        <p:spPr>
          <a:xfrm>
            <a:off x="3383280" y="1143000"/>
            <a:ext cx="2651760" cy="2185416"/>
          </a:xfrm>
          <a:prstGeom prst="rect">
            <a:avLst/>
          </a:prstGeom>
          <a:ln w="12700">
            <a:solidFill>
              <a:srgbClr val="9AA7BE"/>
            </a:solidFill>
            <a:prstDash val="solid"/>
          </a:ln>
        </p:spPr>
      </p:sp>
      <p:sp>
        <p:nvSpPr>
          <p:cNvPr id="15" name="Text 11"/>
          <p:cNvSpPr txBox="1"/>
          <p:nvPr/>
        </p:nvSpPr>
        <p:spPr>
          <a:xfrm>
            <a:off x="3383280" y="3355848"/>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Sim preview: what fills in</a:t>
            </a:r>
            <a:endParaRPr lang="en-US" sz="950" dirty="0"/>
          </a:p>
        </p:txBody>
      </p:sp>
      <p:sp>
        <p:nvSpPr>
          <p:cNvPr id="16" name="Text 12"/>
          <p:cNvSpPr txBox="1"/>
          <p:nvPr/>
        </p:nvSpPr>
        <p:spPr>
          <a:xfrm>
            <a:off x="6400800" y="1188720"/>
            <a:ext cx="530352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partner element exists and runs today, exercised for weeks by the simulator and by our own radio's packets: the arrow, the distance, the ages, the banners.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When radio two speaks, node_table stores a second fix and the same rendering draws it. The planned frontend change for that day is zero lines.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Queued this week instead: partner-selection screen (choose among heard nodes) and night readability with the edge light.</a:t>
            </a:r>
            <a:endParaRPr lang="en-US" sz="1250" dirty="0"/>
          </a:p>
        </p:txBody>
      </p:sp>
      <p:sp>
        <p:nvSpPr>
          <p:cNvPr id="17" name="Shape 13"/>
          <p:cNvSpPr/>
          <p:nvPr/>
        </p:nvSpPr>
        <p:spPr>
          <a:xfrm>
            <a:off x="457200" y="4206240"/>
            <a:ext cx="11292840" cy="868680"/>
          </a:xfrm>
          <a:prstGeom prst="rect">
            <a:avLst/>
          </a:prstGeom>
          <a:solidFill>
            <a:srgbClr val="F2F5FA"/>
          </a:solidFill>
          <a:ln w="9525">
            <a:solidFill>
              <a:srgbClr val="9AA7BE"/>
            </a:solidFill>
            <a:prstDash val="solid"/>
          </a:ln>
        </p:spPr>
      </p:sp>
      <p:sp>
        <p:nvSpPr>
          <p:cNvPr id="18" name="Text 14"/>
          <p:cNvSpPr txBox="1"/>
          <p:nvPr/>
        </p:nvSpPr>
        <p:spPr>
          <a:xfrm>
            <a:off x="731520" y="4315968"/>
            <a:ext cx="10744200" cy="658368"/>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Definition of ready: the UI needs nothing from radio two's arrival except the data itself. That was the point of building on simulated partners from week one.</a:t>
            </a:r>
            <a:endParaRPr lang="en-US" sz="1250" dirty="0"/>
          </a:p>
        </p:txBody>
      </p:sp>
      <p:sp>
        <p:nvSpPr>
          <p:cNvPr id="19" name="Shape 15"/>
          <p:cNvSpPr/>
          <p:nvPr/>
        </p:nvSpPr>
        <p:spPr>
          <a:xfrm>
            <a:off x="457200" y="5349240"/>
            <a:ext cx="11292840" cy="731520"/>
          </a:xfrm>
          <a:prstGeom prst="rect">
            <a:avLst/>
          </a:prstGeom>
          <a:solidFill>
            <a:srgbClr val="16213D"/>
          </a:solidFill>
          <a:ln/>
        </p:spPr>
      </p:sp>
      <p:sp>
        <p:nvSpPr>
          <p:cNvPr id="20" name="Text 16"/>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The compass photo above is the simulator driving the real display: the partner pipeline, rehearsed nightly for three weeks.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DRIVE-TEST PROTOCOL</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DRIVE-TEST PROTOCOL, VERSION ONE</a:t>
            </a:r>
            <a:endParaRPr lang="en-US" sz="2300" dirty="0"/>
          </a:p>
        </p:txBody>
      </p:sp>
      <p:sp>
        <p:nvSpPr>
          <p:cNvPr id="10" name="Shape 8"/>
          <p:cNvSpPr/>
          <p:nvPr/>
        </p:nvSpPr>
        <p:spPr>
          <a:xfrm>
            <a:off x="457200" y="1143000"/>
            <a:ext cx="7863840" cy="804672"/>
          </a:xfrm>
          <a:prstGeom prst="rect">
            <a:avLst/>
          </a:prstGeom>
          <a:solidFill>
            <a:srgbClr val="F2F5FA"/>
          </a:solidFill>
          <a:ln w="15875">
            <a:solidFill>
              <a:srgbClr val="D9488C"/>
            </a:solidFill>
            <a:prstDash val="solid"/>
          </a:ln>
        </p:spPr>
      </p:sp>
      <p:sp>
        <p:nvSpPr>
          <p:cNvPr id="11" name="Text 9"/>
          <p:cNvSpPr txBox="1"/>
          <p:nvPr/>
        </p:nvSpPr>
        <p:spPr>
          <a:xfrm>
            <a:off x="621792" y="1197864"/>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P0  BENCH</a:t>
            </a:r>
            <a:endParaRPr lang="en-US" sz="1100" dirty="0"/>
          </a:p>
        </p:txBody>
      </p:sp>
      <p:sp>
        <p:nvSpPr>
          <p:cNvPr id="12" name="Text 10"/>
          <p:cNvSpPr txBox="1"/>
          <p:nvPr/>
        </p:nvSpPr>
        <p:spPr>
          <a:xfrm>
            <a:off x="621792" y="1472184"/>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both radios on one desk: acceptance criteria 1 to 4 from sheet 04, thirty minutes of soak, zero drops expected</a:t>
            </a:r>
            <a:endParaRPr lang="en-US" sz="1100" dirty="0"/>
          </a:p>
        </p:txBody>
      </p:sp>
      <p:sp>
        <p:nvSpPr>
          <p:cNvPr id="13" name="Shape 11"/>
          <p:cNvSpPr/>
          <p:nvPr/>
        </p:nvSpPr>
        <p:spPr>
          <a:xfrm>
            <a:off x="914400" y="1947672"/>
            <a:ext cx="0" cy="128016"/>
          </a:xfrm>
          <a:prstGeom prst="line">
            <a:avLst/>
          </a:prstGeom>
          <a:noFill/>
          <a:ln w="28575">
            <a:solidFill>
              <a:srgbClr val="D9488C"/>
            </a:solidFill>
            <a:prstDash val="solid"/>
            <a:tailEnd type="triangle"/>
          </a:ln>
        </p:spPr>
      </p:sp>
      <p:sp>
        <p:nvSpPr>
          <p:cNvPr id="14" name="Shape 12"/>
          <p:cNvSpPr/>
          <p:nvPr/>
        </p:nvSpPr>
        <p:spPr>
          <a:xfrm>
            <a:off x="457200" y="2075688"/>
            <a:ext cx="7863840" cy="804672"/>
          </a:xfrm>
          <a:prstGeom prst="rect">
            <a:avLst/>
          </a:prstGeom>
          <a:solidFill>
            <a:srgbClr val="F2F5FA"/>
          </a:solidFill>
          <a:ln w="15875">
            <a:solidFill>
              <a:srgbClr val="D9488C"/>
            </a:solidFill>
            <a:prstDash val="solid"/>
          </a:ln>
        </p:spPr>
      </p:sp>
      <p:sp>
        <p:nvSpPr>
          <p:cNvPr id="15" name="Text 13"/>
          <p:cNvSpPr txBox="1"/>
          <p:nvPr/>
        </p:nvSpPr>
        <p:spPr>
          <a:xfrm>
            <a:off x="621792" y="2130552"/>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P1  STATIC RANGE</a:t>
            </a:r>
            <a:endParaRPr lang="en-US" sz="1100" dirty="0"/>
          </a:p>
        </p:txBody>
      </p:sp>
      <p:sp>
        <p:nvSpPr>
          <p:cNvPr id="16" name="Text 14"/>
          <p:cNvSpPr txBox="1"/>
          <p:nvPr/>
        </p:nvSpPr>
        <p:spPr>
          <a:xfrm>
            <a:off x="621792" y="2404872"/>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one radio fixed, one carried: log RSSI and SNR at marked distances until packets stop; plot onto sheet 05</a:t>
            </a:r>
            <a:endParaRPr lang="en-US" sz="1100" dirty="0"/>
          </a:p>
        </p:txBody>
      </p:sp>
      <p:sp>
        <p:nvSpPr>
          <p:cNvPr id="17" name="Shape 15"/>
          <p:cNvSpPr/>
          <p:nvPr/>
        </p:nvSpPr>
        <p:spPr>
          <a:xfrm>
            <a:off x="914400" y="2880360"/>
            <a:ext cx="0" cy="128016"/>
          </a:xfrm>
          <a:prstGeom prst="line">
            <a:avLst/>
          </a:prstGeom>
          <a:noFill/>
          <a:ln w="28575">
            <a:solidFill>
              <a:srgbClr val="D9488C"/>
            </a:solidFill>
            <a:prstDash val="solid"/>
            <a:tailEnd type="triangle"/>
          </a:ln>
        </p:spPr>
      </p:sp>
      <p:sp>
        <p:nvSpPr>
          <p:cNvPr id="18" name="Shape 16"/>
          <p:cNvSpPr/>
          <p:nvPr/>
        </p:nvSpPr>
        <p:spPr>
          <a:xfrm>
            <a:off x="457200" y="3008376"/>
            <a:ext cx="7863840" cy="804672"/>
          </a:xfrm>
          <a:prstGeom prst="rect">
            <a:avLst/>
          </a:prstGeom>
          <a:solidFill>
            <a:srgbClr val="F2F5FA"/>
          </a:solidFill>
          <a:ln w="15875">
            <a:solidFill>
              <a:srgbClr val="D9488C"/>
            </a:solidFill>
            <a:prstDash val="solid"/>
          </a:ln>
        </p:spPr>
      </p:sp>
      <p:sp>
        <p:nvSpPr>
          <p:cNvPr id="19" name="Text 17"/>
          <p:cNvSpPr txBox="1"/>
          <p:nvPr/>
        </p:nvSpPr>
        <p:spPr>
          <a:xfrm>
            <a:off x="621792" y="3063240"/>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P2  TWO-VEHICLE DRIVE</a:t>
            </a:r>
            <a:endParaRPr lang="en-US" sz="1100" dirty="0"/>
          </a:p>
        </p:txBody>
      </p:sp>
      <p:sp>
        <p:nvSpPr>
          <p:cNvPr id="20" name="Text 18"/>
          <p:cNvSpPr txBox="1"/>
          <p:nvPr/>
        </p:nvSpPr>
        <p:spPr>
          <a:xfrm>
            <a:off x="621792" y="3337560"/>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city loop then open road: PTR row live, ages under 15 s while moving, arrow tracks the real partner</a:t>
            </a:r>
            <a:endParaRPr lang="en-US" sz="1100" dirty="0"/>
          </a:p>
        </p:txBody>
      </p:sp>
      <p:sp>
        <p:nvSpPr>
          <p:cNvPr id="21" name="Shape 19"/>
          <p:cNvSpPr/>
          <p:nvPr/>
        </p:nvSpPr>
        <p:spPr>
          <a:xfrm>
            <a:off x="914400" y="3813048"/>
            <a:ext cx="0" cy="128016"/>
          </a:xfrm>
          <a:prstGeom prst="line">
            <a:avLst/>
          </a:prstGeom>
          <a:noFill/>
          <a:ln w="28575">
            <a:solidFill>
              <a:srgbClr val="D9488C"/>
            </a:solidFill>
            <a:prstDash val="solid"/>
            <a:tailEnd type="triangle"/>
          </a:ln>
        </p:spPr>
      </p:sp>
      <p:sp>
        <p:nvSpPr>
          <p:cNvPr id="22" name="Shape 20"/>
          <p:cNvSpPr/>
          <p:nvPr/>
        </p:nvSpPr>
        <p:spPr>
          <a:xfrm>
            <a:off x="457200" y="3941064"/>
            <a:ext cx="7863840" cy="804672"/>
          </a:xfrm>
          <a:prstGeom prst="rect">
            <a:avLst/>
          </a:prstGeom>
          <a:solidFill>
            <a:srgbClr val="F2F5FA"/>
          </a:solidFill>
          <a:ln w="15875">
            <a:solidFill>
              <a:srgbClr val="D9488C"/>
            </a:solidFill>
            <a:prstDash val="solid"/>
          </a:ln>
        </p:spPr>
      </p:sp>
      <p:sp>
        <p:nvSpPr>
          <p:cNvPr id="23" name="Text 21"/>
          <p:cNvSpPr txBox="1"/>
          <p:nvPr/>
        </p:nvSpPr>
        <p:spPr>
          <a:xfrm>
            <a:off x="621792" y="3995928"/>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P3  EDGE CASES</a:t>
            </a:r>
            <a:endParaRPr lang="en-US" sz="1100" dirty="0"/>
          </a:p>
        </p:txBody>
      </p:sp>
      <p:sp>
        <p:nvSpPr>
          <p:cNvPr id="24" name="Text 22"/>
          <p:cNvSpPr txBox="1"/>
          <p:nvPr/>
        </p:nvSpPr>
        <p:spPr>
          <a:xfrm>
            <a:off x="621792" y="4270248"/>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canyon streets, garage exit, one vehicle parked with no sky: ghosts must age honestly, links must self-heal</a:t>
            </a:r>
            <a:endParaRPr lang="en-US" sz="1100" dirty="0"/>
          </a:p>
        </p:txBody>
      </p:sp>
      <p:sp>
        <p:nvSpPr>
          <p:cNvPr id="25" name="Shape 23"/>
          <p:cNvSpPr/>
          <p:nvPr/>
        </p:nvSpPr>
        <p:spPr>
          <a:xfrm>
            <a:off x="8549640" y="1143000"/>
            <a:ext cx="3200400" cy="3657600"/>
          </a:xfrm>
          <a:prstGeom prst="rect">
            <a:avLst/>
          </a:prstGeom>
          <a:solidFill>
            <a:srgbClr val="FFFFFF"/>
          </a:solidFill>
          <a:ln w="15875">
            <a:solidFill>
              <a:srgbClr val="16213D"/>
            </a:solidFill>
            <a:prstDash val="solid"/>
          </a:ln>
        </p:spPr>
      </p:sp>
      <p:sp>
        <p:nvSpPr>
          <p:cNvPr id="26" name="Text 24"/>
          <p:cNvSpPr txBox="1"/>
          <p:nvPr/>
        </p:nvSpPr>
        <p:spPr>
          <a:xfrm>
            <a:off x="8732520" y="1298448"/>
            <a:ext cx="2834640" cy="3383280"/>
          </a:xfrm>
          <a:prstGeom prst="rect">
            <a:avLst/>
          </a:prstGeom>
          <a:noFill/>
          <a:ln/>
        </p:spPr>
        <p:txBody>
          <a:bodyPr wrap="square" lIns="0" tIns="0" rIns="0" bIns="0" rtlCol="0" anchor="ctr"/>
          <a:lstStyle/>
          <a:p>
            <a:pPr indent="0" marL="0">
              <a:spcAft>
                <a:spcPts val="600"/>
              </a:spcAft>
              <a:buNone/>
            </a:pPr>
            <a:r>
              <a:rPr lang="en-US" sz="1100" b="1" dirty="0">
                <a:solidFill>
                  <a:srgbClr val="16213D"/>
                </a:solidFill>
                <a:latin typeface="Courier New" pitchFamily="34" charset="0"/>
                <a:ea typeface="Courier New" pitchFamily="34" charset="-122"/>
                <a:cs typeface="Courier New" pitchFamily="34" charset="-120"/>
              </a:rPr>
              <a:t>LOGGED PER PACKET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timestamp</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node id</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RSSI  [dBm]</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SNR   [dB]</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distance at receipt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age when displayed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Harness: serial capture on the display side; one dated log per test in testing/.</a:t>
            </a:r>
            <a:endParaRPr lang="en-US" sz="1100" dirty="0"/>
          </a:p>
        </p:txBody>
      </p:sp>
      <p:sp>
        <p:nvSpPr>
          <p:cNvPr id="27" name="Shape 25"/>
          <p:cNvSpPr/>
          <p:nvPr/>
        </p:nvSpPr>
        <p:spPr>
          <a:xfrm>
            <a:off x="457200" y="5120640"/>
            <a:ext cx="11292840" cy="960120"/>
          </a:xfrm>
          <a:prstGeom prst="rect">
            <a:avLst/>
          </a:prstGeom>
          <a:solidFill>
            <a:srgbClr val="F2F5FA"/>
          </a:solidFill>
          <a:ln w="9525">
            <a:solidFill>
              <a:srgbClr val="9AA7BE"/>
            </a:solidFill>
            <a:prstDash val="solid"/>
          </a:ln>
        </p:spPr>
      </p:sp>
      <p:sp>
        <p:nvSpPr>
          <p:cNvPr id="28" name="Text 26"/>
          <p:cNvSpPr txBox="1"/>
          <p:nvPr/>
        </p:nvSpPr>
        <p:spPr>
          <a:xfrm>
            <a:off x="731520" y="5230368"/>
            <a:ext cx="10744200" cy="7315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phase inherits its checks from the constraints ledger: the sky-view rule, the ignition-on rule, the one-client rule, the adapter rule. The ledger was the test plan all along.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METRICS DECLARED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NUMBERS THAT WILL JUDGE THE SYSTEM</a:t>
            </a:r>
            <a:endParaRPr lang="en-US" sz="2300" dirty="0"/>
          </a:p>
        </p:txBody>
      </p:sp>
      <p:sp>
        <p:nvSpPr>
          <p:cNvPr id="10" name="Shape 8"/>
          <p:cNvSpPr/>
          <p:nvPr/>
        </p:nvSpPr>
        <p:spPr>
          <a:xfrm>
            <a:off x="457200" y="1143000"/>
            <a:ext cx="2103120" cy="804672"/>
          </a:xfrm>
          <a:prstGeom prst="rect">
            <a:avLst/>
          </a:prstGeom>
          <a:solidFill>
            <a:srgbClr val="16213D"/>
          </a:solidFill>
          <a:ln/>
        </p:spPr>
      </p:sp>
      <p:sp>
        <p:nvSpPr>
          <p:cNvPr id="11" name="Text 9"/>
          <p:cNvSpPr txBox="1"/>
          <p:nvPr/>
        </p:nvSpPr>
        <p:spPr>
          <a:xfrm>
            <a:off x="457200" y="1216152"/>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PDR</a:t>
            </a:r>
            <a:endParaRPr lang="en-US" sz="1300" dirty="0"/>
          </a:p>
        </p:txBody>
      </p:sp>
      <p:sp>
        <p:nvSpPr>
          <p:cNvPr id="12" name="Text 10"/>
          <p:cNvSpPr txBox="1"/>
          <p:nvPr/>
        </p:nvSpPr>
        <p:spPr>
          <a:xfrm>
            <a:off x="457200" y="1581912"/>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packet delivery ratio</a:t>
            </a:r>
            <a:endParaRPr lang="en-US" sz="900" dirty="0"/>
          </a:p>
        </p:txBody>
      </p:sp>
      <p:sp>
        <p:nvSpPr>
          <p:cNvPr id="13" name="Text 11"/>
          <p:cNvSpPr txBox="1"/>
          <p:nvPr/>
        </p:nvSpPr>
        <p:spPr>
          <a:xfrm>
            <a:off x="2743200" y="1197864"/>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received / expected broadcasts per interval</a:t>
            </a:r>
            <a:endParaRPr lang="en-US" sz="1200" dirty="0"/>
          </a:p>
        </p:txBody>
      </p:sp>
      <p:sp>
        <p:nvSpPr>
          <p:cNvPr id="14" name="Shape 12"/>
          <p:cNvSpPr/>
          <p:nvPr/>
        </p:nvSpPr>
        <p:spPr>
          <a:xfrm>
            <a:off x="8503920" y="1143000"/>
            <a:ext cx="3246120" cy="804672"/>
          </a:xfrm>
          <a:prstGeom prst="rect">
            <a:avLst/>
          </a:prstGeom>
          <a:solidFill>
            <a:srgbClr val="F2F5FA"/>
          </a:solidFill>
          <a:ln w="15875">
            <a:solidFill>
              <a:srgbClr val="1F9D68"/>
            </a:solidFill>
            <a:prstDash val="solid"/>
          </a:ln>
        </p:spPr>
      </p:sp>
      <p:sp>
        <p:nvSpPr>
          <p:cNvPr id="15" name="Text 13"/>
          <p:cNvSpPr txBox="1"/>
          <p:nvPr/>
        </p:nvSpPr>
        <p:spPr>
          <a:xfrm>
            <a:off x="8641080" y="1197864"/>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&gt; 90% inside working range</a:t>
            </a:r>
            <a:endParaRPr lang="en-US" sz="1150" dirty="0"/>
          </a:p>
        </p:txBody>
      </p:sp>
      <p:sp>
        <p:nvSpPr>
          <p:cNvPr id="16" name="Shape 14"/>
          <p:cNvSpPr/>
          <p:nvPr/>
        </p:nvSpPr>
        <p:spPr>
          <a:xfrm>
            <a:off x="457200" y="2075688"/>
            <a:ext cx="2103120" cy="804672"/>
          </a:xfrm>
          <a:prstGeom prst="rect">
            <a:avLst/>
          </a:prstGeom>
          <a:solidFill>
            <a:srgbClr val="16213D"/>
          </a:solidFill>
          <a:ln/>
        </p:spPr>
      </p:sp>
      <p:sp>
        <p:nvSpPr>
          <p:cNvPr id="17" name="Text 15"/>
          <p:cNvSpPr txBox="1"/>
          <p:nvPr/>
        </p:nvSpPr>
        <p:spPr>
          <a:xfrm>
            <a:off x="457200" y="2148840"/>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AGE p95</a:t>
            </a:r>
            <a:endParaRPr lang="en-US" sz="1300" dirty="0"/>
          </a:p>
        </p:txBody>
      </p:sp>
      <p:sp>
        <p:nvSpPr>
          <p:cNvPr id="18" name="Text 16"/>
          <p:cNvSpPr txBox="1"/>
          <p:nvPr/>
        </p:nvSpPr>
        <p:spPr>
          <a:xfrm>
            <a:off x="457200" y="2514600"/>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freshness</a:t>
            </a:r>
            <a:endParaRPr lang="en-US" sz="900" dirty="0"/>
          </a:p>
        </p:txBody>
      </p:sp>
      <p:sp>
        <p:nvSpPr>
          <p:cNvPr id="19" name="Text 17"/>
          <p:cNvSpPr txBox="1"/>
          <p:nvPr/>
        </p:nvSpPr>
        <p:spPr>
          <a:xfrm>
            <a:off x="2743200" y="2130552"/>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95th percentile of displayed partner age</a:t>
            </a:r>
            <a:endParaRPr lang="en-US" sz="1200" dirty="0"/>
          </a:p>
        </p:txBody>
      </p:sp>
      <p:sp>
        <p:nvSpPr>
          <p:cNvPr id="20" name="Shape 18"/>
          <p:cNvSpPr/>
          <p:nvPr/>
        </p:nvSpPr>
        <p:spPr>
          <a:xfrm>
            <a:off x="8503920" y="2075688"/>
            <a:ext cx="3246120" cy="804672"/>
          </a:xfrm>
          <a:prstGeom prst="rect">
            <a:avLst/>
          </a:prstGeom>
          <a:solidFill>
            <a:srgbClr val="F2F5FA"/>
          </a:solidFill>
          <a:ln w="15875">
            <a:solidFill>
              <a:srgbClr val="1F9D68"/>
            </a:solidFill>
            <a:prstDash val="solid"/>
          </a:ln>
        </p:spPr>
      </p:sp>
      <p:sp>
        <p:nvSpPr>
          <p:cNvPr id="21" name="Text 19"/>
          <p:cNvSpPr txBox="1"/>
          <p:nvPr/>
        </p:nvSpPr>
        <p:spPr>
          <a:xfrm>
            <a:off x="8641080" y="2130552"/>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25 s while both move</a:t>
            </a:r>
            <a:endParaRPr lang="en-US" sz="1150" dirty="0"/>
          </a:p>
        </p:txBody>
      </p:sp>
      <p:sp>
        <p:nvSpPr>
          <p:cNvPr id="22" name="Shape 20"/>
          <p:cNvSpPr/>
          <p:nvPr/>
        </p:nvSpPr>
        <p:spPr>
          <a:xfrm>
            <a:off x="457200" y="3008376"/>
            <a:ext cx="2103120" cy="804672"/>
          </a:xfrm>
          <a:prstGeom prst="rect">
            <a:avLst/>
          </a:prstGeom>
          <a:solidFill>
            <a:srgbClr val="16213D"/>
          </a:solidFill>
          <a:ln/>
        </p:spPr>
      </p:sp>
      <p:sp>
        <p:nvSpPr>
          <p:cNvPr id="23" name="Text 21"/>
          <p:cNvSpPr txBox="1"/>
          <p:nvPr/>
        </p:nvSpPr>
        <p:spPr>
          <a:xfrm>
            <a:off x="457200" y="3081528"/>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RECONNECT</a:t>
            </a:r>
            <a:endParaRPr lang="en-US" sz="1300" dirty="0"/>
          </a:p>
        </p:txBody>
      </p:sp>
      <p:sp>
        <p:nvSpPr>
          <p:cNvPr id="24" name="Text 22"/>
          <p:cNvSpPr txBox="1"/>
          <p:nvPr/>
        </p:nvSpPr>
        <p:spPr>
          <a:xfrm>
            <a:off x="457200" y="3447288"/>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link resilience</a:t>
            </a:r>
            <a:endParaRPr lang="en-US" sz="900" dirty="0"/>
          </a:p>
        </p:txBody>
      </p:sp>
      <p:sp>
        <p:nvSpPr>
          <p:cNvPr id="25" name="Text 23"/>
          <p:cNvSpPr txBox="1"/>
          <p:nvPr/>
        </p:nvSpPr>
        <p:spPr>
          <a:xfrm>
            <a:off x="2743200" y="3063240"/>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BLE self-heals after drop, no user action</a:t>
            </a:r>
            <a:endParaRPr lang="en-US" sz="1200" dirty="0"/>
          </a:p>
        </p:txBody>
      </p:sp>
      <p:sp>
        <p:nvSpPr>
          <p:cNvPr id="26" name="Shape 24"/>
          <p:cNvSpPr/>
          <p:nvPr/>
        </p:nvSpPr>
        <p:spPr>
          <a:xfrm>
            <a:off x="8503920" y="3008376"/>
            <a:ext cx="3246120" cy="804672"/>
          </a:xfrm>
          <a:prstGeom prst="rect">
            <a:avLst/>
          </a:prstGeom>
          <a:solidFill>
            <a:srgbClr val="F2F5FA"/>
          </a:solidFill>
          <a:ln w="15875">
            <a:solidFill>
              <a:srgbClr val="1F9D68"/>
            </a:solidFill>
            <a:prstDash val="solid"/>
          </a:ln>
        </p:spPr>
      </p:sp>
      <p:sp>
        <p:nvSpPr>
          <p:cNvPr id="27" name="Text 25"/>
          <p:cNvSpPr txBox="1"/>
          <p:nvPr/>
        </p:nvSpPr>
        <p:spPr>
          <a:xfrm>
            <a:off x="8641080" y="3063240"/>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100% of drops, &lt; 30 s</a:t>
            </a:r>
            <a:endParaRPr lang="en-US" sz="1150" dirty="0"/>
          </a:p>
        </p:txBody>
      </p:sp>
      <p:sp>
        <p:nvSpPr>
          <p:cNvPr id="28" name="Shape 26"/>
          <p:cNvSpPr/>
          <p:nvPr/>
        </p:nvSpPr>
        <p:spPr>
          <a:xfrm>
            <a:off x="457200" y="3941064"/>
            <a:ext cx="2103120" cy="804672"/>
          </a:xfrm>
          <a:prstGeom prst="rect">
            <a:avLst/>
          </a:prstGeom>
          <a:solidFill>
            <a:srgbClr val="16213D"/>
          </a:solidFill>
          <a:ln/>
        </p:spPr>
      </p:sp>
      <p:sp>
        <p:nvSpPr>
          <p:cNvPr id="29" name="Text 27"/>
          <p:cNvSpPr txBox="1"/>
          <p:nvPr/>
        </p:nvSpPr>
        <p:spPr>
          <a:xfrm>
            <a:off x="457200" y="4014216"/>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DR ERROR</a:t>
            </a:r>
            <a:endParaRPr lang="en-US" sz="1300" dirty="0"/>
          </a:p>
        </p:txBody>
      </p:sp>
      <p:sp>
        <p:nvSpPr>
          <p:cNvPr id="30" name="Text 28"/>
          <p:cNvSpPr txBox="1"/>
          <p:nvPr/>
        </p:nvSpPr>
        <p:spPr>
          <a:xfrm>
            <a:off x="457200" y="4379976"/>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projection honesty</a:t>
            </a:r>
            <a:endParaRPr lang="en-US" sz="900" dirty="0"/>
          </a:p>
        </p:txBody>
      </p:sp>
      <p:sp>
        <p:nvSpPr>
          <p:cNvPr id="31" name="Text 29"/>
          <p:cNvSpPr txBox="1"/>
          <p:nvPr/>
        </p:nvSpPr>
        <p:spPr>
          <a:xfrm>
            <a:off x="2743200" y="3995928"/>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gap between projected and next real fix</a:t>
            </a:r>
            <a:endParaRPr lang="en-US" sz="1200" dirty="0"/>
          </a:p>
        </p:txBody>
      </p:sp>
      <p:sp>
        <p:nvSpPr>
          <p:cNvPr id="32" name="Shape 30"/>
          <p:cNvSpPr/>
          <p:nvPr/>
        </p:nvSpPr>
        <p:spPr>
          <a:xfrm>
            <a:off x="8503920" y="3941064"/>
            <a:ext cx="3246120" cy="804672"/>
          </a:xfrm>
          <a:prstGeom prst="rect">
            <a:avLst/>
          </a:prstGeom>
          <a:solidFill>
            <a:srgbClr val="F2F5FA"/>
          </a:solidFill>
          <a:ln w="15875">
            <a:solidFill>
              <a:srgbClr val="1F9D68"/>
            </a:solidFill>
            <a:prstDash val="solid"/>
          </a:ln>
        </p:spPr>
      </p:sp>
      <p:sp>
        <p:nvSpPr>
          <p:cNvPr id="33" name="Text 31"/>
          <p:cNvSpPr txBox="1"/>
          <p:nvPr/>
        </p:nvSpPr>
        <p:spPr>
          <a:xfrm>
            <a:off x="8641080" y="3995928"/>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30 m at highway speed</a:t>
            </a:r>
            <a:endParaRPr lang="en-US" sz="1150" dirty="0"/>
          </a:p>
        </p:txBody>
      </p:sp>
      <p:sp>
        <p:nvSpPr>
          <p:cNvPr id="34" name="Shape 32"/>
          <p:cNvSpPr/>
          <p:nvPr/>
        </p:nvSpPr>
        <p:spPr>
          <a:xfrm>
            <a:off x="457200" y="4873752"/>
            <a:ext cx="2103120" cy="804672"/>
          </a:xfrm>
          <a:prstGeom prst="rect">
            <a:avLst/>
          </a:prstGeom>
          <a:solidFill>
            <a:srgbClr val="16213D"/>
          </a:solidFill>
          <a:ln/>
        </p:spPr>
      </p:sp>
      <p:sp>
        <p:nvSpPr>
          <p:cNvPr id="35" name="Text 33"/>
          <p:cNvSpPr txBox="1"/>
          <p:nvPr/>
        </p:nvSpPr>
        <p:spPr>
          <a:xfrm>
            <a:off x="457200" y="4946904"/>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CHUTIL</a:t>
            </a:r>
            <a:endParaRPr lang="en-US" sz="1300" dirty="0"/>
          </a:p>
        </p:txBody>
      </p:sp>
      <p:sp>
        <p:nvSpPr>
          <p:cNvPr id="36" name="Text 34"/>
          <p:cNvSpPr txBox="1"/>
          <p:nvPr/>
        </p:nvSpPr>
        <p:spPr>
          <a:xfrm>
            <a:off x="457200" y="5312664"/>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channel citizenship</a:t>
            </a:r>
            <a:endParaRPr lang="en-US" sz="900" dirty="0"/>
          </a:p>
        </p:txBody>
      </p:sp>
      <p:sp>
        <p:nvSpPr>
          <p:cNvPr id="37" name="Text 35"/>
          <p:cNvSpPr txBox="1"/>
          <p:nvPr/>
        </p:nvSpPr>
        <p:spPr>
          <a:xfrm>
            <a:off x="2743200" y="4928616"/>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utilization with both radios broadcasting</a:t>
            </a:r>
            <a:endParaRPr lang="en-US" sz="1200" dirty="0"/>
          </a:p>
        </p:txBody>
      </p:sp>
      <p:sp>
        <p:nvSpPr>
          <p:cNvPr id="38" name="Shape 36"/>
          <p:cNvSpPr/>
          <p:nvPr/>
        </p:nvSpPr>
        <p:spPr>
          <a:xfrm>
            <a:off x="8503920" y="4873752"/>
            <a:ext cx="3246120" cy="804672"/>
          </a:xfrm>
          <a:prstGeom prst="rect">
            <a:avLst/>
          </a:prstGeom>
          <a:solidFill>
            <a:srgbClr val="F2F5FA"/>
          </a:solidFill>
          <a:ln w="15875">
            <a:solidFill>
              <a:srgbClr val="1F9D68"/>
            </a:solidFill>
            <a:prstDash val="solid"/>
          </a:ln>
        </p:spPr>
      </p:sp>
      <p:sp>
        <p:nvSpPr>
          <p:cNvPr id="39" name="Text 37"/>
          <p:cNvSpPr txBox="1"/>
          <p:nvPr/>
        </p:nvSpPr>
        <p:spPr>
          <a:xfrm>
            <a:off x="8641080" y="4928616"/>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10% steady state</a:t>
            </a:r>
            <a:endParaRPr lang="en-US" sz="1150" dirty="0"/>
          </a:p>
        </p:txBody>
      </p:sp>
      <p:sp>
        <p:nvSpPr>
          <p:cNvPr id="40" name="Text 38"/>
          <p:cNvSpPr txBox="1"/>
          <p:nvPr/>
        </p:nvSpPr>
        <p:spPr>
          <a:xfrm>
            <a:off x="457200" y="5870448"/>
            <a:ext cx="11292840" cy="274320"/>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TARGETS SET BEFORE THE FIRST TWO-RADIO PACKET. NEXT REVIEW REPORTS EACH ROW, PASS OR FAIL.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42%</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25% week-four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cadence verified on the road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 + 1</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layers proven + the layer this sheet set closes</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5</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metrics pre-declared, thresholds locked</a:t>
            </a:r>
            <a:endParaRPr lang="en-US" sz="1050" dirty="0"/>
          </a:p>
        </p:txBody>
      </p:sp>
      <p:sp>
        <p:nvSpPr>
          <p:cNvPr id="20" name="Text 18"/>
          <p:cNvSpPr txBox="1"/>
          <p:nvPr/>
        </p:nvSpPr>
        <p:spPr>
          <a:xfrm>
            <a:off x="457200" y="2788920"/>
            <a:ext cx="576072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DONE THIS WEEK, AND NEXT IN ORDER</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Done: drive test verified the ten-second cadence end to end, in motion.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partner selection lands in firmware (Deo), before the ambiguity arrives.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radio two provisioned by the recipe; acceptance criteria checked (Victor).</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Next: bench soak, static range walk with the logging harness (Cannon); partner-selection screen and night readability (Josiah).</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REVIEW REPORTS</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before/after of the PTR row: “no partner heard yet” to live coordinates.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Field RSSI points overlaid on sheet 05's predicted curve.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five metrics from sheet 08, each marked pass or fail.</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Last week we showed a working machine. This week we published the exam it must pass. Next week it takes the exam.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Datasheet. SNR limit per spreading factor.</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Datasheet.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Documentation, LoRa and Position Configuration.</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M.1371, Automatic Identification System. Beacon-interval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Friis/FSPL path-loss model background and haversine reference.</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Core Specification (GATT).</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RADIO_PHY_DEEP_DIVE, TELECOM_ANALYSIS, hardware/README, testing/.</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2026-09-16T14:18:01Z</dcterms:created>
  <dcterms:modified xsi:type="dcterms:W3CDTF">2026-09-16T14:18:01Z</dcterms:modified>
</cp:coreProperties>
</file>