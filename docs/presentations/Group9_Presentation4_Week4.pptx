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last week ended on our own cliffhanger - one radio still talks to itself; radio two turns this into a tracker. This week we do the disciplined thing: publish the procedure, the design, the predicted curve, and the metrics BEFORE the measurement. Next review reports against exactly this sheet set, so nothing can be quietly redefined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of recap, no re-teaching: four layers proven with one device, the dashed fifth is this week. Key claim to land: the partner path is the identical decode path with a different node number - the code that will handle the partner has been running for weeks on our own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week's one hard result: on the road, position and speed updated every ten seconds as configured - the first drive where observed cadence matched designed cadence. Tell the archaeology briefly: three earlier defects (position precision grid, 30-second GPS refresh, ghost re-broadcasts) each masked this until fixed, so this drive is the validation that the whole chain is clean. The navy card ties it forward: PDR and the age metric on sheet 09 are only measurable because the schedule is now known-good.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box is the code running today, verbatim from the repository, including its own TODO comment. Right box is the design being implemented this week. The argument: the pattern is proven - the radio's BLE address already lives in NVS the same way. And the sequencing point matters to a reviewer: build the chooser before the ambiguity arrives,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recipe exists because radio one's configuration was learned the hard way and written down each time. The channel URL is the crown jewels: it carries the encryption key, and because the channel name hashes to the frequency slot, it is also the frequency agreement. Read the four acceptance criteria aloud - declaring them before the attempt is the difference between a procedure and a hope. Criterion 2, both OLEDs reading one online, will be the first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chart: received power falls with distance (log scale); the orange wall is the minus 131 dBm sensitivity floor from datasheet Table 6-1; the shaded band between free space and the terrain-degraded curve is where reality lives. The claim to make carefully: free space predicts absurd range, tens of kilometers - real range is set by terrain, Fresnel clearance, and the vehicle install, which is precisely what the range campaign measures. The methodological point is the navy card: publishing the prediction before measuring converts a demo into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photo is the live system being honest about the missing partner; the right photo is the same hardware running the simulator, which has fed fake partners through the real rendering since week one. So the frontend claim is unusual and strong: the plan for radio two's arrival is zero frontend changes. The queued work is the partner-selection screen (pairs with Deo's NVS design) and night readability.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strictly ordered so each isolates one variable: bench removes distance, static range removes motion, the drive adds motion, edge cases add the failure modes we already catalogued. The right panel is the per-packet log schema - six fields, chosen so sheet 05's curve and sheet 08's metrics can both be computed from the same file. Close on the ledger line: the constraints sheet from last week literally becomes the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metrics, each with its definition and a pre-declared pass threshold. Why declare now: after the data exists, any threshold looks chosen to flatter it. PDR is computable because broadcasts are scheduled, so expected count is known. Age p95 is the driver-facing truth. Reconnect covers the known BLE drop cases. DR error audits the dead reckoning against each next real fix. ChUtil keeps us honest citizens of the shared band. Every one computes from the six-field log on sheet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is the deck's thesis: machine, then exam, then results. If asked why radio two is not already done, the honest answer is scheduling - the gantt has it in weeks 4 to 5, we are at 42 percent against a 25 percent target, and the disciplined move was to publish the acceptance criteria and metrics before touching the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verified links as last week. If the link-budget model on sheet 05 is challenged: FSPL is the standard Friis free-space form, the sensitivity floor is datasheet Table 6-1, and the full derivation is in TELECOM_ANALYSIS.md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semtech.com/products/wireless-rf/lora-connect/sx1276" TargetMode="External"/><Relationship Id="rId2" Type="http://schemas.openxmlformats.org/officeDocument/2006/relationships/hyperlink" Target="https://info.semtech.com/find-documentation" TargetMode="External"/><Relationship Id="rId3" Type="http://schemas.openxmlformats.org/officeDocument/2006/relationships/hyperlink" Target="https://www.semtech.com/products/wireless-rf/lora-connect/sx1262" TargetMode="External"/><Relationship Id="rId4" Type="http://schemas.openxmlformats.org/officeDocument/2006/relationships/hyperlink" Target="https://meshtastic.org/docs/configuration/radio/lora/" TargetMode="External"/><Relationship Id="rId5" Type="http://schemas.openxmlformats.org/officeDocument/2006/relationships/hyperlink" Target="https://github.com/meshtastic/protobufs" TargetMode="External"/><Relationship Id="rId6" Type="http://schemas.openxmlformats.org/officeDocument/2006/relationships/hyperlink" Target="https://www.law.cornell.edu/cfr/text/47/15.247" TargetMode="External"/><Relationship Id="rId7" Type="http://schemas.openxmlformats.org/officeDocument/2006/relationships/hyperlink" Target="https://www.itu.int/rec/R-REC-M.1371/en" TargetMode="External"/><Relationship Id="rId8" Type="http://schemas.openxmlformats.org/officeDocument/2006/relationships/hyperlink" Target="https://www.movable-type.co.uk/scripts/latlong.html" TargetMode="External"/><Relationship Id="rId9" Type="http://schemas.openxmlformats.org/officeDocument/2006/relationships/hyperlink" Target="https://www.bluetooth.com/specifications/specs/core-specification/" TargetMode="External"/><Relationship Id="rId10" Type="http://schemas.openxmlformats.org/officeDocument/2006/relationships/hyperlink" Target="https://github.com/deosgracius/offgrid-vehicle-tracker" TargetMode="External"/><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DESIGN REVIEW, WEEK 4</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01/11  REV D  2026-09-16</a:t>
            </a:r>
            <a:endParaRPr lang="en-US" sz="900" dirty="0"/>
          </a:p>
        </p:txBody>
      </p:sp>
      <p:sp>
        <p:nvSpPr>
          <p:cNvPr id="7" name="Shape 5"/>
          <p:cNvSpPr/>
          <p:nvPr/>
        </p:nvSpPr>
        <p:spPr>
          <a:xfrm>
            <a:off x="621792" y="146304"/>
            <a:ext cx="0" cy="6126480"/>
          </a:xfrm>
          <a:prstGeom prst="line">
            <a:avLst/>
          </a:prstGeom>
          <a:noFill/>
          <a:ln w="6350">
            <a:solidFill>
              <a:srgbClr val="E8EDF5"/>
            </a:solidFill>
            <a:prstDash val="solid"/>
          </a:ln>
        </p:spPr>
      </p:sp>
      <p:sp>
        <p:nvSpPr>
          <p:cNvPr id="8" name="Shape 6"/>
          <p:cNvSpPr/>
          <p:nvPr/>
        </p:nvSpPr>
        <p:spPr>
          <a:xfrm>
            <a:off x="1078992" y="146304"/>
            <a:ext cx="0" cy="6126480"/>
          </a:xfrm>
          <a:prstGeom prst="line">
            <a:avLst/>
          </a:prstGeom>
          <a:noFill/>
          <a:ln w="6350">
            <a:solidFill>
              <a:srgbClr val="E8EDF5"/>
            </a:solidFill>
            <a:prstDash val="solid"/>
          </a:ln>
        </p:spPr>
      </p:sp>
      <p:sp>
        <p:nvSpPr>
          <p:cNvPr id="9" name="Shape 7"/>
          <p:cNvSpPr/>
          <p:nvPr/>
        </p:nvSpPr>
        <p:spPr>
          <a:xfrm>
            <a:off x="1536192" y="146304"/>
            <a:ext cx="0" cy="6126480"/>
          </a:xfrm>
          <a:prstGeom prst="line">
            <a:avLst/>
          </a:prstGeom>
          <a:noFill/>
          <a:ln w="6350">
            <a:solidFill>
              <a:srgbClr val="E8EDF5"/>
            </a:solidFill>
            <a:prstDash val="solid"/>
          </a:ln>
        </p:spPr>
      </p:sp>
      <p:sp>
        <p:nvSpPr>
          <p:cNvPr id="10" name="Shape 8"/>
          <p:cNvSpPr/>
          <p:nvPr/>
        </p:nvSpPr>
        <p:spPr>
          <a:xfrm>
            <a:off x="1993392" y="146304"/>
            <a:ext cx="0" cy="6126480"/>
          </a:xfrm>
          <a:prstGeom prst="line">
            <a:avLst/>
          </a:prstGeom>
          <a:noFill/>
          <a:ln w="6350">
            <a:solidFill>
              <a:srgbClr val="E8EDF5"/>
            </a:solidFill>
            <a:prstDash val="solid"/>
          </a:ln>
        </p:spPr>
      </p:sp>
      <p:sp>
        <p:nvSpPr>
          <p:cNvPr id="11" name="Shape 9"/>
          <p:cNvSpPr/>
          <p:nvPr/>
        </p:nvSpPr>
        <p:spPr>
          <a:xfrm>
            <a:off x="2450592" y="146304"/>
            <a:ext cx="0" cy="6126480"/>
          </a:xfrm>
          <a:prstGeom prst="line">
            <a:avLst/>
          </a:prstGeom>
          <a:noFill/>
          <a:ln w="6350">
            <a:solidFill>
              <a:srgbClr val="E8EDF5"/>
            </a:solidFill>
            <a:prstDash val="solid"/>
          </a:ln>
        </p:spPr>
      </p:sp>
      <p:sp>
        <p:nvSpPr>
          <p:cNvPr id="12" name="Shape 10"/>
          <p:cNvSpPr/>
          <p:nvPr/>
        </p:nvSpPr>
        <p:spPr>
          <a:xfrm>
            <a:off x="2907792" y="146304"/>
            <a:ext cx="0" cy="6126480"/>
          </a:xfrm>
          <a:prstGeom prst="line">
            <a:avLst/>
          </a:prstGeom>
          <a:noFill/>
          <a:ln w="6350">
            <a:solidFill>
              <a:srgbClr val="E8EDF5"/>
            </a:solidFill>
            <a:prstDash val="solid"/>
          </a:ln>
        </p:spPr>
      </p:sp>
      <p:sp>
        <p:nvSpPr>
          <p:cNvPr id="13" name="Shape 11"/>
          <p:cNvSpPr/>
          <p:nvPr/>
        </p:nvSpPr>
        <p:spPr>
          <a:xfrm>
            <a:off x="3364992" y="146304"/>
            <a:ext cx="0" cy="6126480"/>
          </a:xfrm>
          <a:prstGeom prst="line">
            <a:avLst/>
          </a:prstGeom>
          <a:noFill/>
          <a:ln w="6350">
            <a:solidFill>
              <a:srgbClr val="E8EDF5"/>
            </a:solidFill>
            <a:prstDash val="solid"/>
          </a:ln>
        </p:spPr>
      </p:sp>
      <p:sp>
        <p:nvSpPr>
          <p:cNvPr id="14" name="Shape 12"/>
          <p:cNvSpPr/>
          <p:nvPr/>
        </p:nvSpPr>
        <p:spPr>
          <a:xfrm>
            <a:off x="3822192" y="146304"/>
            <a:ext cx="0" cy="6126480"/>
          </a:xfrm>
          <a:prstGeom prst="line">
            <a:avLst/>
          </a:prstGeom>
          <a:noFill/>
          <a:ln w="6350">
            <a:solidFill>
              <a:srgbClr val="E8EDF5"/>
            </a:solidFill>
            <a:prstDash val="solid"/>
          </a:ln>
        </p:spPr>
      </p:sp>
      <p:sp>
        <p:nvSpPr>
          <p:cNvPr id="15" name="Shape 13"/>
          <p:cNvSpPr/>
          <p:nvPr/>
        </p:nvSpPr>
        <p:spPr>
          <a:xfrm>
            <a:off x="4279392" y="146304"/>
            <a:ext cx="0" cy="6126480"/>
          </a:xfrm>
          <a:prstGeom prst="line">
            <a:avLst/>
          </a:prstGeom>
          <a:noFill/>
          <a:ln w="6350">
            <a:solidFill>
              <a:srgbClr val="E8EDF5"/>
            </a:solidFill>
            <a:prstDash val="solid"/>
          </a:ln>
        </p:spPr>
      </p:sp>
      <p:sp>
        <p:nvSpPr>
          <p:cNvPr id="16" name="Shape 14"/>
          <p:cNvSpPr/>
          <p:nvPr/>
        </p:nvSpPr>
        <p:spPr>
          <a:xfrm>
            <a:off x="4736592" y="146304"/>
            <a:ext cx="0" cy="6126480"/>
          </a:xfrm>
          <a:prstGeom prst="line">
            <a:avLst/>
          </a:prstGeom>
          <a:noFill/>
          <a:ln w="6350">
            <a:solidFill>
              <a:srgbClr val="E8EDF5"/>
            </a:solidFill>
            <a:prstDash val="solid"/>
          </a:ln>
        </p:spPr>
      </p:sp>
      <p:sp>
        <p:nvSpPr>
          <p:cNvPr id="17" name="Shape 15"/>
          <p:cNvSpPr/>
          <p:nvPr/>
        </p:nvSpPr>
        <p:spPr>
          <a:xfrm>
            <a:off x="5193792" y="146304"/>
            <a:ext cx="0" cy="6126480"/>
          </a:xfrm>
          <a:prstGeom prst="line">
            <a:avLst/>
          </a:prstGeom>
          <a:noFill/>
          <a:ln w="6350">
            <a:solidFill>
              <a:srgbClr val="E8EDF5"/>
            </a:solidFill>
            <a:prstDash val="solid"/>
          </a:ln>
        </p:spPr>
      </p:sp>
      <p:sp>
        <p:nvSpPr>
          <p:cNvPr id="18" name="Shape 16"/>
          <p:cNvSpPr/>
          <p:nvPr/>
        </p:nvSpPr>
        <p:spPr>
          <a:xfrm>
            <a:off x="5650992" y="146304"/>
            <a:ext cx="0" cy="6126480"/>
          </a:xfrm>
          <a:prstGeom prst="line">
            <a:avLst/>
          </a:prstGeom>
          <a:noFill/>
          <a:ln w="6350">
            <a:solidFill>
              <a:srgbClr val="E8EDF5"/>
            </a:solidFill>
            <a:prstDash val="solid"/>
          </a:ln>
        </p:spPr>
      </p:sp>
      <p:sp>
        <p:nvSpPr>
          <p:cNvPr id="19" name="Shape 17"/>
          <p:cNvSpPr/>
          <p:nvPr/>
        </p:nvSpPr>
        <p:spPr>
          <a:xfrm>
            <a:off x="6108192" y="146304"/>
            <a:ext cx="0" cy="6126480"/>
          </a:xfrm>
          <a:prstGeom prst="line">
            <a:avLst/>
          </a:prstGeom>
          <a:noFill/>
          <a:ln w="6350">
            <a:solidFill>
              <a:srgbClr val="E8EDF5"/>
            </a:solidFill>
            <a:prstDash val="solid"/>
          </a:ln>
        </p:spPr>
      </p:sp>
      <p:sp>
        <p:nvSpPr>
          <p:cNvPr id="20" name="Shape 18"/>
          <p:cNvSpPr/>
          <p:nvPr/>
        </p:nvSpPr>
        <p:spPr>
          <a:xfrm>
            <a:off x="6565392" y="146304"/>
            <a:ext cx="0" cy="6126480"/>
          </a:xfrm>
          <a:prstGeom prst="line">
            <a:avLst/>
          </a:prstGeom>
          <a:noFill/>
          <a:ln w="6350">
            <a:solidFill>
              <a:srgbClr val="E8EDF5"/>
            </a:solidFill>
            <a:prstDash val="solid"/>
          </a:ln>
        </p:spPr>
      </p:sp>
      <p:sp>
        <p:nvSpPr>
          <p:cNvPr id="21" name="Shape 19"/>
          <p:cNvSpPr/>
          <p:nvPr/>
        </p:nvSpPr>
        <p:spPr>
          <a:xfrm>
            <a:off x="7022592" y="146304"/>
            <a:ext cx="0" cy="6126480"/>
          </a:xfrm>
          <a:prstGeom prst="line">
            <a:avLst/>
          </a:prstGeom>
          <a:noFill/>
          <a:ln w="6350">
            <a:solidFill>
              <a:srgbClr val="E8EDF5"/>
            </a:solidFill>
            <a:prstDash val="solid"/>
          </a:ln>
        </p:spPr>
      </p:sp>
      <p:sp>
        <p:nvSpPr>
          <p:cNvPr id="22" name="Shape 20"/>
          <p:cNvSpPr/>
          <p:nvPr/>
        </p:nvSpPr>
        <p:spPr>
          <a:xfrm>
            <a:off x="7479792" y="146304"/>
            <a:ext cx="0" cy="6126480"/>
          </a:xfrm>
          <a:prstGeom prst="line">
            <a:avLst/>
          </a:prstGeom>
          <a:noFill/>
          <a:ln w="6350">
            <a:solidFill>
              <a:srgbClr val="E8EDF5"/>
            </a:solidFill>
            <a:prstDash val="solid"/>
          </a:ln>
        </p:spPr>
      </p:sp>
      <p:sp>
        <p:nvSpPr>
          <p:cNvPr id="23" name="Shape 21"/>
          <p:cNvSpPr/>
          <p:nvPr/>
        </p:nvSpPr>
        <p:spPr>
          <a:xfrm>
            <a:off x="7936992" y="146304"/>
            <a:ext cx="0" cy="6126480"/>
          </a:xfrm>
          <a:prstGeom prst="line">
            <a:avLst/>
          </a:prstGeom>
          <a:noFill/>
          <a:ln w="6350">
            <a:solidFill>
              <a:srgbClr val="E8EDF5"/>
            </a:solidFill>
            <a:prstDash val="solid"/>
          </a:ln>
        </p:spPr>
      </p:sp>
      <p:sp>
        <p:nvSpPr>
          <p:cNvPr id="24" name="Shape 22"/>
          <p:cNvSpPr/>
          <p:nvPr/>
        </p:nvSpPr>
        <p:spPr>
          <a:xfrm>
            <a:off x="8394192" y="146304"/>
            <a:ext cx="0" cy="6126480"/>
          </a:xfrm>
          <a:prstGeom prst="line">
            <a:avLst/>
          </a:prstGeom>
          <a:noFill/>
          <a:ln w="6350">
            <a:solidFill>
              <a:srgbClr val="E8EDF5"/>
            </a:solidFill>
            <a:prstDash val="solid"/>
          </a:ln>
        </p:spPr>
      </p:sp>
      <p:sp>
        <p:nvSpPr>
          <p:cNvPr id="25" name="Shape 23"/>
          <p:cNvSpPr/>
          <p:nvPr/>
        </p:nvSpPr>
        <p:spPr>
          <a:xfrm>
            <a:off x="8851392" y="146304"/>
            <a:ext cx="0" cy="6126480"/>
          </a:xfrm>
          <a:prstGeom prst="line">
            <a:avLst/>
          </a:prstGeom>
          <a:noFill/>
          <a:ln w="6350">
            <a:solidFill>
              <a:srgbClr val="E8EDF5"/>
            </a:solidFill>
            <a:prstDash val="solid"/>
          </a:ln>
        </p:spPr>
      </p:sp>
      <p:sp>
        <p:nvSpPr>
          <p:cNvPr id="26" name="Shape 24"/>
          <p:cNvSpPr/>
          <p:nvPr/>
        </p:nvSpPr>
        <p:spPr>
          <a:xfrm>
            <a:off x="9308592" y="146304"/>
            <a:ext cx="0" cy="6126480"/>
          </a:xfrm>
          <a:prstGeom prst="line">
            <a:avLst/>
          </a:prstGeom>
          <a:noFill/>
          <a:ln w="6350">
            <a:solidFill>
              <a:srgbClr val="E8EDF5"/>
            </a:solidFill>
            <a:prstDash val="solid"/>
          </a:ln>
        </p:spPr>
      </p:sp>
      <p:sp>
        <p:nvSpPr>
          <p:cNvPr id="27" name="Shape 25"/>
          <p:cNvSpPr/>
          <p:nvPr/>
        </p:nvSpPr>
        <p:spPr>
          <a:xfrm>
            <a:off x="9765792" y="146304"/>
            <a:ext cx="0" cy="6126480"/>
          </a:xfrm>
          <a:prstGeom prst="line">
            <a:avLst/>
          </a:prstGeom>
          <a:noFill/>
          <a:ln w="6350">
            <a:solidFill>
              <a:srgbClr val="E8EDF5"/>
            </a:solidFill>
            <a:prstDash val="solid"/>
          </a:ln>
        </p:spPr>
      </p:sp>
      <p:sp>
        <p:nvSpPr>
          <p:cNvPr id="28" name="Shape 26"/>
          <p:cNvSpPr/>
          <p:nvPr/>
        </p:nvSpPr>
        <p:spPr>
          <a:xfrm>
            <a:off x="10222992" y="146304"/>
            <a:ext cx="0" cy="6126480"/>
          </a:xfrm>
          <a:prstGeom prst="line">
            <a:avLst/>
          </a:prstGeom>
          <a:noFill/>
          <a:ln w="6350">
            <a:solidFill>
              <a:srgbClr val="E8EDF5"/>
            </a:solidFill>
            <a:prstDash val="solid"/>
          </a:ln>
        </p:spPr>
      </p:sp>
      <p:sp>
        <p:nvSpPr>
          <p:cNvPr id="29" name="Shape 27"/>
          <p:cNvSpPr/>
          <p:nvPr/>
        </p:nvSpPr>
        <p:spPr>
          <a:xfrm>
            <a:off x="10680192" y="146304"/>
            <a:ext cx="0" cy="6126480"/>
          </a:xfrm>
          <a:prstGeom prst="line">
            <a:avLst/>
          </a:prstGeom>
          <a:noFill/>
          <a:ln w="6350">
            <a:solidFill>
              <a:srgbClr val="E8EDF5"/>
            </a:solidFill>
            <a:prstDash val="solid"/>
          </a:ln>
        </p:spPr>
      </p:sp>
      <p:sp>
        <p:nvSpPr>
          <p:cNvPr id="30" name="Shape 28"/>
          <p:cNvSpPr/>
          <p:nvPr/>
        </p:nvSpPr>
        <p:spPr>
          <a:xfrm>
            <a:off x="11137392" y="146304"/>
            <a:ext cx="0" cy="6126480"/>
          </a:xfrm>
          <a:prstGeom prst="line">
            <a:avLst/>
          </a:prstGeom>
          <a:noFill/>
          <a:ln w="6350">
            <a:solidFill>
              <a:srgbClr val="E8EDF5"/>
            </a:solidFill>
            <a:prstDash val="solid"/>
          </a:ln>
        </p:spPr>
      </p:sp>
      <p:sp>
        <p:nvSpPr>
          <p:cNvPr id="31" name="Shape 29"/>
          <p:cNvSpPr/>
          <p:nvPr/>
        </p:nvSpPr>
        <p:spPr>
          <a:xfrm>
            <a:off x="11594592" y="146304"/>
            <a:ext cx="0" cy="6126480"/>
          </a:xfrm>
          <a:prstGeom prst="line">
            <a:avLst/>
          </a:prstGeom>
          <a:noFill/>
          <a:ln w="6350">
            <a:solidFill>
              <a:srgbClr val="E8EDF5"/>
            </a:solidFill>
            <a:prstDash val="solid"/>
          </a:ln>
        </p:spPr>
      </p:sp>
      <p:sp>
        <p:nvSpPr>
          <p:cNvPr id="32" name="Shape 30"/>
          <p:cNvSpPr/>
          <p:nvPr/>
        </p:nvSpPr>
        <p:spPr>
          <a:xfrm>
            <a:off x="164592" y="603504"/>
            <a:ext cx="11859768" cy="0"/>
          </a:xfrm>
          <a:prstGeom prst="line">
            <a:avLst/>
          </a:prstGeom>
          <a:noFill/>
          <a:ln w="6350">
            <a:solidFill>
              <a:srgbClr val="E8EDF5"/>
            </a:solidFill>
            <a:prstDash val="solid"/>
          </a:ln>
        </p:spPr>
      </p:sp>
      <p:sp>
        <p:nvSpPr>
          <p:cNvPr id="33" name="Shape 31"/>
          <p:cNvSpPr/>
          <p:nvPr/>
        </p:nvSpPr>
        <p:spPr>
          <a:xfrm>
            <a:off x="164592" y="1060704"/>
            <a:ext cx="11859768" cy="0"/>
          </a:xfrm>
          <a:prstGeom prst="line">
            <a:avLst/>
          </a:prstGeom>
          <a:noFill/>
          <a:ln w="6350">
            <a:solidFill>
              <a:srgbClr val="E8EDF5"/>
            </a:solidFill>
            <a:prstDash val="solid"/>
          </a:ln>
        </p:spPr>
      </p:sp>
      <p:sp>
        <p:nvSpPr>
          <p:cNvPr id="34" name="Shape 32"/>
          <p:cNvSpPr/>
          <p:nvPr/>
        </p:nvSpPr>
        <p:spPr>
          <a:xfrm>
            <a:off x="164592" y="1517904"/>
            <a:ext cx="11859768" cy="0"/>
          </a:xfrm>
          <a:prstGeom prst="line">
            <a:avLst/>
          </a:prstGeom>
          <a:noFill/>
          <a:ln w="6350">
            <a:solidFill>
              <a:srgbClr val="E8EDF5"/>
            </a:solidFill>
            <a:prstDash val="solid"/>
          </a:ln>
        </p:spPr>
      </p:sp>
      <p:sp>
        <p:nvSpPr>
          <p:cNvPr id="35" name="Shape 33"/>
          <p:cNvSpPr/>
          <p:nvPr/>
        </p:nvSpPr>
        <p:spPr>
          <a:xfrm>
            <a:off x="164592" y="1975104"/>
            <a:ext cx="11859768" cy="0"/>
          </a:xfrm>
          <a:prstGeom prst="line">
            <a:avLst/>
          </a:prstGeom>
          <a:noFill/>
          <a:ln w="6350">
            <a:solidFill>
              <a:srgbClr val="E8EDF5"/>
            </a:solidFill>
            <a:prstDash val="solid"/>
          </a:ln>
        </p:spPr>
      </p:sp>
      <p:sp>
        <p:nvSpPr>
          <p:cNvPr id="36" name="Shape 34"/>
          <p:cNvSpPr/>
          <p:nvPr/>
        </p:nvSpPr>
        <p:spPr>
          <a:xfrm>
            <a:off x="164592" y="2432304"/>
            <a:ext cx="11859768" cy="0"/>
          </a:xfrm>
          <a:prstGeom prst="line">
            <a:avLst/>
          </a:prstGeom>
          <a:noFill/>
          <a:ln w="6350">
            <a:solidFill>
              <a:srgbClr val="E8EDF5"/>
            </a:solidFill>
            <a:prstDash val="solid"/>
          </a:ln>
        </p:spPr>
      </p:sp>
      <p:sp>
        <p:nvSpPr>
          <p:cNvPr id="37" name="Shape 35"/>
          <p:cNvSpPr/>
          <p:nvPr/>
        </p:nvSpPr>
        <p:spPr>
          <a:xfrm>
            <a:off x="164592" y="2889504"/>
            <a:ext cx="11859768" cy="0"/>
          </a:xfrm>
          <a:prstGeom prst="line">
            <a:avLst/>
          </a:prstGeom>
          <a:noFill/>
          <a:ln w="6350">
            <a:solidFill>
              <a:srgbClr val="E8EDF5"/>
            </a:solidFill>
            <a:prstDash val="solid"/>
          </a:ln>
        </p:spPr>
      </p:sp>
      <p:sp>
        <p:nvSpPr>
          <p:cNvPr id="38" name="Shape 36"/>
          <p:cNvSpPr/>
          <p:nvPr/>
        </p:nvSpPr>
        <p:spPr>
          <a:xfrm>
            <a:off x="164592" y="3346704"/>
            <a:ext cx="11859768" cy="0"/>
          </a:xfrm>
          <a:prstGeom prst="line">
            <a:avLst/>
          </a:prstGeom>
          <a:noFill/>
          <a:ln w="6350">
            <a:solidFill>
              <a:srgbClr val="E8EDF5"/>
            </a:solidFill>
            <a:prstDash val="solid"/>
          </a:ln>
        </p:spPr>
      </p:sp>
      <p:sp>
        <p:nvSpPr>
          <p:cNvPr id="39" name="Shape 37"/>
          <p:cNvSpPr/>
          <p:nvPr/>
        </p:nvSpPr>
        <p:spPr>
          <a:xfrm>
            <a:off x="164592" y="3803904"/>
            <a:ext cx="11859768" cy="0"/>
          </a:xfrm>
          <a:prstGeom prst="line">
            <a:avLst/>
          </a:prstGeom>
          <a:noFill/>
          <a:ln w="6350">
            <a:solidFill>
              <a:srgbClr val="E8EDF5"/>
            </a:solidFill>
            <a:prstDash val="solid"/>
          </a:ln>
        </p:spPr>
      </p:sp>
      <p:sp>
        <p:nvSpPr>
          <p:cNvPr id="40" name="Shape 38"/>
          <p:cNvSpPr/>
          <p:nvPr/>
        </p:nvSpPr>
        <p:spPr>
          <a:xfrm>
            <a:off x="164592" y="4261104"/>
            <a:ext cx="11859768" cy="0"/>
          </a:xfrm>
          <a:prstGeom prst="line">
            <a:avLst/>
          </a:prstGeom>
          <a:noFill/>
          <a:ln w="6350">
            <a:solidFill>
              <a:srgbClr val="E8EDF5"/>
            </a:solidFill>
            <a:prstDash val="solid"/>
          </a:ln>
        </p:spPr>
      </p:sp>
      <p:sp>
        <p:nvSpPr>
          <p:cNvPr id="41" name="Shape 39"/>
          <p:cNvSpPr/>
          <p:nvPr/>
        </p:nvSpPr>
        <p:spPr>
          <a:xfrm>
            <a:off x="164592" y="4718304"/>
            <a:ext cx="11859768" cy="0"/>
          </a:xfrm>
          <a:prstGeom prst="line">
            <a:avLst/>
          </a:prstGeom>
          <a:noFill/>
          <a:ln w="6350">
            <a:solidFill>
              <a:srgbClr val="E8EDF5"/>
            </a:solidFill>
            <a:prstDash val="solid"/>
          </a:ln>
        </p:spPr>
      </p:sp>
      <p:sp>
        <p:nvSpPr>
          <p:cNvPr id="42" name="Shape 40"/>
          <p:cNvSpPr/>
          <p:nvPr/>
        </p:nvSpPr>
        <p:spPr>
          <a:xfrm>
            <a:off x="164592" y="5175504"/>
            <a:ext cx="11859768" cy="0"/>
          </a:xfrm>
          <a:prstGeom prst="line">
            <a:avLst/>
          </a:prstGeom>
          <a:noFill/>
          <a:ln w="6350">
            <a:solidFill>
              <a:srgbClr val="E8EDF5"/>
            </a:solidFill>
            <a:prstDash val="solid"/>
          </a:ln>
        </p:spPr>
      </p:sp>
      <p:sp>
        <p:nvSpPr>
          <p:cNvPr id="43" name="Shape 41"/>
          <p:cNvSpPr/>
          <p:nvPr/>
        </p:nvSpPr>
        <p:spPr>
          <a:xfrm>
            <a:off x="164592" y="5632704"/>
            <a:ext cx="11859768" cy="0"/>
          </a:xfrm>
          <a:prstGeom prst="line">
            <a:avLst/>
          </a:prstGeom>
          <a:noFill/>
          <a:ln w="6350">
            <a:solidFill>
              <a:srgbClr val="E8EDF5"/>
            </a:solidFill>
            <a:prstDash val="solid"/>
          </a:ln>
        </p:spPr>
      </p:sp>
      <p:sp>
        <p:nvSpPr>
          <p:cNvPr id="44" name="Shape 42"/>
          <p:cNvSpPr/>
          <p:nvPr/>
        </p:nvSpPr>
        <p:spPr>
          <a:xfrm>
            <a:off x="164592" y="6089904"/>
            <a:ext cx="11859768" cy="0"/>
          </a:xfrm>
          <a:prstGeom prst="line">
            <a:avLst/>
          </a:prstGeom>
          <a:noFill/>
          <a:ln w="6350">
            <a:solidFill>
              <a:srgbClr val="E8EDF5"/>
            </a:solidFill>
            <a:prstDash val="solid"/>
          </a:ln>
        </p:spPr>
      </p:sp>
      <p:sp>
        <p:nvSpPr>
          <p:cNvPr id="45" name="Text 43"/>
          <p:cNvSpPr txBox="1"/>
          <p:nvPr/>
        </p:nvSpPr>
        <p:spPr>
          <a:xfrm>
            <a:off x="640080" y="1051560"/>
            <a:ext cx="10881360" cy="822960"/>
          </a:xfrm>
          <a:prstGeom prst="rect">
            <a:avLst/>
          </a:prstGeom>
          <a:noFill/>
          <a:ln/>
        </p:spPr>
        <p:txBody>
          <a:bodyPr wrap="square" lIns="0" tIns="0" rIns="0" bIns="0" rtlCol="0" anchor="ctr"/>
          <a:lstStyle/>
          <a:p>
            <a:pPr indent="0" marL="0">
              <a:buNone/>
            </a:pPr>
            <a:r>
              <a:rPr lang="en-US" sz="4400" b="1" spc="300" kern="0" dirty="0">
                <a:solidFill>
                  <a:srgbClr val="16213D"/>
                </a:solidFill>
                <a:latin typeface="Arial" pitchFamily="34" charset="0"/>
                <a:ea typeface="Arial" pitchFamily="34" charset="-122"/>
                <a:cs typeface="Arial" pitchFamily="34" charset="-120"/>
              </a:rPr>
              <a:t>CLOSING THE LOOP</a:t>
            </a:r>
            <a:endParaRPr lang="en-US" sz="4400" dirty="0"/>
          </a:p>
        </p:txBody>
      </p:sp>
      <p:sp>
        <p:nvSpPr>
          <p:cNvPr id="46" name="Text 44"/>
          <p:cNvSpPr txBox="1"/>
          <p:nvPr/>
        </p:nvSpPr>
        <p:spPr>
          <a:xfrm>
            <a:off x="658368" y="1874520"/>
            <a:ext cx="10881360" cy="411480"/>
          </a:xfrm>
          <a:prstGeom prst="rect">
            <a:avLst/>
          </a:prstGeom>
          <a:noFill/>
          <a:ln/>
        </p:spPr>
        <p:txBody>
          <a:bodyPr wrap="square" lIns="0" tIns="0" rIns="0" bIns="0" rtlCol="0" anchor="ctr"/>
          <a:lstStyle/>
          <a:p>
            <a:pPr indent="0" marL="0">
              <a:buNone/>
            </a:pPr>
            <a:r>
              <a:rPr lang="en-US" sz="1700" b="1" spc="100" kern="0" dirty="0">
                <a:solidFill>
                  <a:srgbClr val="E58E1A"/>
                </a:solidFill>
                <a:latin typeface="Arial" pitchFamily="34" charset="0"/>
                <a:ea typeface="Arial" pitchFamily="34" charset="-122"/>
                <a:cs typeface="Arial" pitchFamily="34" charset="-120"/>
              </a:rPr>
              <a:t>WEEK 4 DESIGN REVIEW: METHOD BEFORE MEASUREMENT</a:t>
            </a:r>
            <a:endParaRPr lang="en-US" sz="1700" dirty="0"/>
          </a:p>
        </p:txBody>
      </p:sp>
      <p:sp>
        <p:nvSpPr>
          <p:cNvPr id="47" name="Text 45"/>
          <p:cNvSpPr txBox="1"/>
          <p:nvPr/>
        </p:nvSpPr>
        <p:spPr>
          <a:xfrm>
            <a:off x="658368" y="2423160"/>
            <a:ext cx="7589520" cy="1234440"/>
          </a:xfrm>
          <a:prstGeom prst="rect">
            <a:avLst/>
          </a:prstGeom>
          <a:noFill/>
          <a:ln/>
        </p:spPr>
        <p:txBody>
          <a:bodyPr wrap="square" lIns="0" tIns="0" rIns="0" bIns="0" rtlCol="0" anchor="ctr"/>
          <a:lstStyle/>
          <a:p>
            <a:pPr indent="0" marL="0">
              <a:buNone/>
            </a:pPr>
            <a:r>
              <a:rPr lang="en-US" sz="1300" dirty="0">
                <a:solidFill>
                  <a:srgbClr val="222A3F"/>
                </a:solidFill>
                <a:latin typeface="Arial" pitchFamily="34" charset="0"/>
                <a:ea typeface="Arial" pitchFamily="34" charset="-122"/>
                <a:cs typeface="Arial" pitchFamily="34" charset="-120"/>
              </a:rPr>
              <a:t>This week's drive test closed the cadence question: position and speed measured fresh every ten seconds on the road, with one-second motion in between. The rest of this review publishes, in advance, everything the fifth layer will be judged by: procedure, design, predicted curve, protocol, and metrics.</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58368" y="3840480"/>
          <a:ext cx="7589520" cy="914400"/>
        </p:xfrm>
        <a:graphic>
          <a:graphicData uri="http://schemas.openxmlformats.org/drawingml/2006/table">
            <a:tbl>
              <a:tblPr/>
              <a:tblGrid>
                <a:gridCol w="1234440"/>
                <a:gridCol w="2514600"/>
                <a:gridCol w="3840480"/>
              </a:tblGrid>
              <a:tr h="384048">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OWNER</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SUBSYSTEM</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THIS WEEK</a:t>
                      </a:r>
                      <a:endParaRPr lang="en-US" sz="100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16213D"/>
                    </a:solidFill>
                  </a:tcPr>
                </a:tc>
              </a:tr>
              <a:tr h="384048">
                <a:tc>
                  <a:txBody>
                    <a:bodyPr/>
                    <a:lstStyle/>
                    <a:p>
                      <a:pPr indent="0" marL="0">
                        <a:buNone/>
                      </a:pPr>
                      <a:r>
                        <a:rPr lang="en-US" sz="1150" b="1" dirty="0">
                          <a:solidFill>
                            <a:srgbClr val="1199BD"/>
                          </a:solidFill>
                          <a:latin typeface="Courier New" pitchFamily="34" charset="0"/>
                          <a:ea typeface="Courier New" pitchFamily="34" charset="-122"/>
                          <a:cs typeface="Courier New" pitchFamily="34" charset="-120"/>
                        </a:rPr>
                        <a:t>DEO</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Backend, protocol/</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drive test: the ten-second cadence, proven</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384048">
                <a:tc>
                  <a:txBody>
                    <a:bodyPr/>
                    <a:lstStyle/>
                    <a:p>
                      <a:pPr indent="0" marL="0">
                        <a:buNone/>
                      </a:pPr>
                      <a:r>
                        <a:rPr lang="en-US" sz="1150" b="1" dirty="0">
                          <a:solidFill>
                            <a:srgbClr val="6D4BDB"/>
                          </a:solidFill>
                          <a:latin typeface="Courier New" pitchFamily="34" charset="0"/>
                          <a:ea typeface="Courier New" pitchFamily="34" charset="-122"/>
                          <a:cs typeface="Courier New" pitchFamily="34" charset="-120"/>
                        </a:rPr>
                        <a:t>JOSIAH</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Frontend, ui/ and nav/</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what changes on screen when the partner appears</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r h="384048">
                <a:tc>
                  <a:txBody>
                    <a:bodyPr/>
                    <a:lstStyle/>
                    <a:p>
                      <a:pPr indent="0" marL="0">
                        <a:buNone/>
                      </a:pPr>
                      <a:r>
                        <a:rPr lang="en-US" sz="1150" b="1" dirty="0">
                          <a:solidFill>
                            <a:srgbClr val="E58E1A"/>
                          </a:solidFill>
                          <a:latin typeface="Courier New" pitchFamily="34" charset="0"/>
                          <a:ea typeface="Courier New" pitchFamily="34" charset="-122"/>
                          <a:cs typeface="Courier New" pitchFamily="34" charset="-120"/>
                        </a:rPr>
                        <a:t>VICTOR</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Radio and PHY</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radio two procedure, predicted link curve</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2F5FA"/>
                    </a:solidFill>
                  </a:tcPr>
                </a:tc>
              </a:tr>
              <a:tr h="384048">
                <a:tc>
                  <a:txBody>
                    <a:bodyPr/>
                    <a:lstStyle/>
                    <a:p>
                      <a:pPr indent="0" marL="0">
                        <a:buNone/>
                      </a:pPr>
                      <a:r>
                        <a:rPr lang="en-US" sz="1150" b="1" dirty="0">
                          <a:solidFill>
                            <a:srgbClr val="D9488C"/>
                          </a:solidFill>
                          <a:latin typeface="Courier New" pitchFamily="34" charset="0"/>
                          <a:ea typeface="Courier New" pitchFamily="34" charset="-122"/>
                          <a:cs typeface="Courier New" pitchFamily="34" charset="-120"/>
                        </a:rPr>
                        <a:t>CANNON</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Integration and test</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c>
                  <a:txBody>
                    <a:bodyPr/>
                    <a:lstStyle/>
                    <a:p>
                      <a:pPr indent="0" marL="0">
                        <a:buNone/>
                      </a:pPr>
                      <a:r>
                        <a:rPr lang="en-US" sz="1150" dirty="0">
                          <a:solidFill>
                            <a:srgbClr val="222A3F"/>
                          </a:solidFill>
                          <a:latin typeface="Arial" pitchFamily="34" charset="0"/>
                          <a:ea typeface="Arial" pitchFamily="34" charset="-122"/>
                          <a:cs typeface="Arial" pitchFamily="34" charset="-120"/>
                        </a:rPr>
                        <a:t>drive-test protocol, metrics declared in advance</a:t>
                      </a:r>
                      <a:endParaRPr lang="en-US" sz="1150" dirty="0">
                        <a:latin typeface="Arial" charset="0"/>
                        <a:ea typeface="Arial" charset="0"/>
                        <a:cs typeface="Arial" charset="0"/>
                      </a:endParaRPr>
                    </a:p>
                  </a:txBody>
                  <a:tcPr marL="91440" marR="91440" marT="45720" marB="45720" anchor="ctr">
                    <a:lnL w="9525" cap="flat" cmpd="sng" algn="ctr">
                      <a:solidFill>
                        <a:srgbClr val="9AA7BE"/>
                      </a:solidFill>
                      <a:prstDash val="solid"/>
                      <a:round/>
                      <a:headEnd type="none" w="med" len="med"/>
                      <a:tailEnd type="none" w="med" len="med"/>
                    </a:lnL>
                    <a:lnR w="9525" cap="flat" cmpd="sng" algn="ctr">
                      <a:solidFill>
                        <a:srgbClr val="9AA7BE"/>
                      </a:solidFill>
                      <a:prstDash val="solid"/>
                      <a:round/>
                      <a:headEnd type="none" w="med" len="med"/>
                      <a:tailEnd type="none" w="med" len="med"/>
                    </a:lnR>
                    <a:lnT w="9525" cap="flat" cmpd="sng" algn="ctr">
                      <a:solidFill>
                        <a:srgbClr val="9AA7BE"/>
                      </a:solidFill>
                      <a:prstDash val="solid"/>
                      <a:round/>
                      <a:headEnd type="none" w="med" len="med"/>
                      <a:tailEnd type="none" w="med" len="med"/>
                    </a:lnT>
                    <a:lnB w="9525" cap="flat" cmpd="sng" algn="ctr">
                      <a:solidFill>
                        <a:srgbClr val="9AA7BE"/>
                      </a:solidFill>
                      <a:prstDash val="solid"/>
                      <a:round/>
                      <a:headEnd type="none" w="med" len="med"/>
                      <a:tailEnd type="none" w="med" len="med"/>
                    </a:lnB>
                    <a:solidFill>
                      <a:srgbClr val="FFFFFF"/>
                    </a:solidFill>
                  </a:tcPr>
                </a:tc>
              </a:tr>
            </a:tbl>
          </a:graphicData>
        </a:graphic>
      </p:graphicFrame>
      <p:sp>
        <p:nvSpPr>
          <p:cNvPr id="49" name="Shape 46"/>
          <p:cNvSpPr/>
          <p:nvPr/>
        </p:nvSpPr>
        <p:spPr>
          <a:xfrm>
            <a:off x="8732520" y="2423160"/>
            <a:ext cx="3017520" cy="3246120"/>
          </a:xfrm>
          <a:prstGeom prst="rect">
            <a:avLst/>
          </a:prstGeom>
          <a:solidFill>
            <a:srgbClr val="FFFFFF"/>
          </a:solidFill>
          <a:ln w="15875">
            <a:solidFill>
              <a:srgbClr val="16213D"/>
            </a:solidFill>
            <a:prstDash val="solid"/>
          </a:ln>
        </p:spPr>
      </p:sp>
      <p:sp>
        <p:nvSpPr>
          <p:cNvPr id="50" name="Text 47"/>
          <p:cNvSpPr txBox="1"/>
          <p:nvPr/>
        </p:nvSpPr>
        <p:spPr>
          <a:xfrm>
            <a:off x="8869680" y="248716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PROJECT</a:t>
            </a:r>
            <a:endParaRPr lang="en-US" sz="900" dirty="0"/>
          </a:p>
        </p:txBody>
      </p:sp>
      <p:sp>
        <p:nvSpPr>
          <p:cNvPr id="51" name="Text 48"/>
          <p:cNvSpPr txBox="1"/>
          <p:nvPr/>
        </p:nvSpPr>
        <p:spPr>
          <a:xfrm>
            <a:off x="8869680" y="270662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Off-Grid Vehicle Tracker</a:t>
            </a:r>
            <a:endParaRPr lang="en-US" sz="1050" dirty="0"/>
          </a:p>
        </p:txBody>
      </p:sp>
      <p:sp>
        <p:nvSpPr>
          <p:cNvPr id="52" name="Shape 49"/>
          <p:cNvSpPr/>
          <p:nvPr/>
        </p:nvSpPr>
        <p:spPr>
          <a:xfrm>
            <a:off x="8732520" y="2980944"/>
            <a:ext cx="3017520" cy="0"/>
          </a:xfrm>
          <a:prstGeom prst="line">
            <a:avLst/>
          </a:prstGeom>
          <a:noFill/>
          <a:ln w="9525">
            <a:solidFill>
              <a:srgbClr val="9AA7BE"/>
            </a:solidFill>
            <a:prstDash val="solid"/>
          </a:ln>
        </p:spPr>
      </p:sp>
      <p:sp>
        <p:nvSpPr>
          <p:cNvPr id="53" name="Text 50"/>
          <p:cNvSpPr txBox="1"/>
          <p:nvPr/>
        </p:nvSpPr>
        <p:spPr>
          <a:xfrm>
            <a:off x="8869680" y="301294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SPONSOR</a:t>
            </a:r>
            <a:endParaRPr lang="en-US" sz="900" dirty="0"/>
          </a:p>
        </p:txBody>
      </p:sp>
      <p:sp>
        <p:nvSpPr>
          <p:cNvPr id="54" name="Text 51"/>
          <p:cNvSpPr txBox="1"/>
          <p:nvPr/>
        </p:nvSpPr>
        <p:spPr>
          <a:xfrm>
            <a:off x="8869680" y="323240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Dr. Richard Gale</a:t>
            </a:r>
            <a:endParaRPr lang="en-US" sz="1050" dirty="0"/>
          </a:p>
        </p:txBody>
      </p:sp>
      <p:sp>
        <p:nvSpPr>
          <p:cNvPr id="55" name="Shape 52"/>
          <p:cNvSpPr/>
          <p:nvPr/>
        </p:nvSpPr>
        <p:spPr>
          <a:xfrm>
            <a:off x="8732520" y="3506724"/>
            <a:ext cx="3017520" cy="0"/>
          </a:xfrm>
          <a:prstGeom prst="line">
            <a:avLst/>
          </a:prstGeom>
          <a:noFill/>
          <a:ln w="9525">
            <a:solidFill>
              <a:srgbClr val="9AA7BE"/>
            </a:solidFill>
            <a:prstDash val="solid"/>
          </a:ln>
        </p:spPr>
      </p:sp>
      <p:sp>
        <p:nvSpPr>
          <p:cNvPr id="56" name="Text 53"/>
          <p:cNvSpPr txBox="1"/>
          <p:nvPr/>
        </p:nvSpPr>
        <p:spPr>
          <a:xfrm>
            <a:off x="8869680" y="353872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COURSE</a:t>
            </a:r>
            <a:endParaRPr lang="en-US" sz="900" dirty="0"/>
          </a:p>
        </p:txBody>
      </p:sp>
      <p:sp>
        <p:nvSpPr>
          <p:cNvPr id="57" name="Text 54"/>
          <p:cNvSpPr txBox="1"/>
          <p:nvPr/>
        </p:nvSpPr>
        <p:spPr>
          <a:xfrm>
            <a:off x="8869680" y="375818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Capstone Project Lab</a:t>
            </a:r>
            <a:endParaRPr lang="en-US" sz="1050" dirty="0"/>
          </a:p>
        </p:txBody>
      </p:sp>
      <p:sp>
        <p:nvSpPr>
          <p:cNvPr id="58" name="Shape 55"/>
          <p:cNvSpPr/>
          <p:nvPr/>
        </p:nvSpPr>
        <p:spPr>
          <a:xfrm>
            <a:off x="8732520" y="4032504"/>
            <a:ext cx="3017520" cy="0"/>
          </a:xfrm>
          <a:prstGeom prst="line">
            <a:avLst/>
          </a:prstGeom>
          <a:noFill/>
          <a:ln w="9525">
            <a:solidFill>
              <a:srgbClr val="9AA7BE"/>
            </a:solidFill>
            <a:prstDash val="solid"/>
          </a:ln>
        </p:spPr>
      </p:sp>
      <p:sp>
        <p:nvSpPr>
          <p:cNvPr id="59" name="Text 56"/>
          <p:cNvSpPr txBox="1"/>
          <p:nvPr/>
        </p:nvSpPr>
        <p:spPr>
          <a:xfrm>
            <a:off x="8869680" y="406450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STATUS</a:t>
            </a:r>
            <a:endParaRPr lang="en-US" sz="900" dirty="0"/>
          </a:p>
        </p:txBody>
      </p:sp>
      <p:sp>
        <p:nvSpPr>
          <p:cNvPr id="60" name="Text 57"/>
          <p:cNvSpPr txBox="1"/>
          <p:nvPr/>
        </p:nvSpPr>
        <p:spPr>
          <a:xfrm>
            <a:off x="8869680" y="428396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42% vs 25% target, ahead</a:t>
            </a:r>
            <a:endParaRPr lang="en-US" sz="1050" dirty="0"/>
          </a:p>
        </p:txBody>
      </p:sp>
      <p:sp>
        <p:nvSpPr>
          <p:cNvPr id="61" name="Shape 58"/>
          <p:cNvSpPr/>
          <p:nvPr/>
        </p:nvSpPr>
        <p:spPr>
          <a:xfrm>
            <a:off x="8732520" y="4558284"/>
            <a:ext cx="3017520" cy="0"/>
          </a:xfrm>
          <a:prstGeom prst="line">
            <a:avLst/>
          </a:prstGeom>
          <a:noFill/>
          <a:ln w="9525">
            <a:solidFill>
              <a:srgbClr val="9AA7BE"/>
            </a:solidFill>
            <a:prstDash val="solid"/>
          </a:ln>
        </p:spPr>
      </p:sp>
      <p:sp>
        <p:nvSpPr>
          <p:cNvPr id="62" name="Text 59"/>
          <p:cNvSpPr txBox="1"/>
          <p:nvPr/>
        </p:nvSpPr>
        <p:spPr>
          <a:xfrm>
            <a:off x="8869680" y="459028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HOURS</a:t>
            </a:r>
            <a:endParaRPr lang="en-US" sz="900" dirty="0"/>
          </a:p>
        </p:txBody>
      </p:sp>
      <p:sp>
        <p:nvSpPr>
          <p:cNvPr id="63" name="Text 60"/>
          <p:cNvSpPr txBox="1"/>
          <p:nvPr/>
        </p:nvSpPr>
        <p:spPr>
          <a:xfrm>
            <a:off x="8869680" y="480974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78 of 768 logged</a:t>
            </a:r>
            <a:endParaRPr lang="en-US" sz="1050" dirty="0"/>
          </a:p>
        </p:txBody>
      </p:sp>
      <p:sp>
        <p:nvSpPr>
          <p:cNvPr id="64" name="Shape 61"/>
          <p:cNvSpPr/>
          <p:nvPr/>
        </p:nvSpPr>
        <p:spPr>
          <a:xfrm>
            <a:off x="8732520" y="5084064"/>
            <a:ext cx="3017520" cy="0"/>
          </a:xfrm>
          <a:prstGeom prst="line">
            <a:avLst/>
          </a:prstGeom>
          <a:noFill/>
          <a:ln w="9525">
            <a:solidFill>
              <a:srgbClr val="9AA7BE"/>
            </a:solidFill>
            <a:prstDash val="solid"/>
          </a:ln>
        </p:spPr>
      </p:sp>
      <p:sp>
        <p:nvSpPr>
          <p:cNvPr id="65" name="Text 62"/>
          <p:cNvSpPr txBox="1"/>
          <p:nvPr/>
        </p:nvSpPr>
        <p:spPr>
          <a:xfrm>
            <a:off x="8869680" y="5116068"/>
            <a:ext cx="1143000" cy="256032"/>
          </a:xfrm>
          <a:prstGeom prst="rect">
            <a:avLst/>
          </a:prstGeom>
          <a:noFill/>
          <a:ln/>
        </p:spPr>
        <p:txBody>
          <a:bodyPr wrap="square" lIns="0" tIns="0" rIns="0" bIns="0" rtlCol="0" anchor="ctr"/>
          <a:lstStyle/>
          <a:p>
            <a:pPr indent="0" marL="0">
              <a:buNone/>
            </a:pPr>
            <a:r>
              <a:rPr lang="en-US" sz="900" b="1" dirty="0">
                <a:solidFill>
                  <a:srgbClr val="5E6B85"/>
                </a:solidFill>
                <a:latin typeface="Courier New" pitchFamily="34" charset="0"/>
                <a:ea typeface="Courier New" pitchFamily="34" charset="-122"/>
                <a:cs typeface="Courier New" pitchFamily="34" charset="-120"/>
              </a:rPr>
              <a:t>DATE</a:t>
            </a:r>
            <a:endParaRPr lang="en-US" sz="900" dirty="0"/>
          </a:p>
        </p:txBody>
      </p:sp>
      <p:sp>
        <p:nvSpPr>
          <p:cNvPr id="66" name="Text 63"/>
          <p:cNvSpPr txBox="1"/>
          <p:nvPr/>
        </p:nvSpPr>
        <p:spPr>
          <a:xfrm>
            <a:off x="8869680" y="5335524"/>
            <a:ext cx="2788920" cy="274320"/>
          </a:xfrm>
          <a:prstGeom prst="rect">
            <a:avLst/>
          </a:prstGeom>
          <a:noFill/>
          <a:ln/>
        </p:spPr>
        <p:txBody>
          <a:bodyPr wrap="square" lIns="0" tIns="0" rIns="0" bIns="0" rtlCol="0" anchor="ctr"/>
          <a:lstStyle/>
          <a:p>
            <a:pPr indent="0" marL="0">
              <a:buNone/>
            </a:pPr>
            <a:r>
              <a:rPr lang="en-US" sz="1050" dirty="0">
                <a:solidFill>
                  <a:srgbClr val="16213D"/>
                </a:solidFill>
                <a:latin typeface="Arial" pitchFamily="34" charset="0"/>
                <a:ea typeface="Arial" pitchFamily="34" charset="-122"/>
                <a:cs typeface="Arial" pitchFamily="34" charset="-120"/>
              </a:rPr>
              <a:t>2026-09-16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THE OPEN LAYER</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02/11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WHERE WE LEFT OFF: ONE LAYER OPEN</a:t>
            </a:r>
            <a:endParaRPr lang="en-US" sz="2300" dirty="0"/>
          </a:p>
        </p:txBody>
      </p:sp>
      <p:sp>
        <p:nvSpPr>
          <p:cNvPr id="10" name="Shape 8"/>
          <p:cNvSpPr/>
          <p:nvPr/>
        </p:nvSpPr>
        <p:spPr>
          <a:xfrm>
            <a:off x="548640" y="1188720"/>
            <a:ext cx="4754880" cy="676656"/>
          </a:xfrm>
          <a:prstGeom prst="rect">
            <a:avLst/>
          </a:prstGeom>
          <a:solidFill>
            <a:srgbClr val="F2F5FA"/>
          </a:solidFill>
          <a:ln w="15875">
            <a:solidFill>
              <a:srgbClr val="1199BD"/>
            </a:solidFill>
            <a:prstDash val="solid"/>
          </a:ln>
        </p:spPr>
      </p:sp>
      <p:sp>
        <p:nvSpPr>
          <p:cNvPr id="11" name="Text 9"/>
          <p:cNvSpPr txBox="1"/>
          <p:nvPr/>
        </p:nvSpPr>
        <p:spPr>
          <a:xfrm>
            <a:off x="713232" y="1234440"/>
            <a:ext cx="3108960" cy="585216"/>
          </a:xfrm>
          <a:prstGeom prst="rect">
            <a:avLst/>
          </a:prstGeom>
          <a:noFill/>
          <a:ln/>
        </p:spPr>
        <p:txBody>
          <a:bodyPr wrap="square" lIns="0" tIns="0" rIns="0" bIns="0" rtlCol="0" anchor="ctr"/>
          <a:lstStyle/>
          <a:p>
            <a:pPr indent="0" marL="0">
              <a:buNone/>
            </a:pPr>
            <a:r>
              <a:rPr lang="en-US" sz="1250" b="1" dirty="0">
                <a:solidFill>
                  <a:srgbClr val="16213D"/>
                </a:solidFill>
                <a:latin typeface="Arial" pitchFamily="34" charset="0"/>
                <a:ea typeface="Arial" pitchFamily="34" charset="-122"/>
                <a:cs typeface="Arial" pitchFamily="34" charset="-120"/>
              </a:rPr>
              <a:t>GPS to radio</a:t>
            </a:r>
            <a:endParaRPr lang="en-US" sz="1250" dirty="0"/>
          </a:p>
        </p:txBody>
      </p:sp>
      <p:sp>
        <p:nvSpPr>
          <p:cNvPr id="12" name="Text 10"/>
          <p:cNvSpPr txBox="1"/>
          <p:nvPr/>
        </p:nvSpPr>
        <p:spPr>
          <a:xfrm>
            <a:off x="3794760" y="1188720"/>
            <a:ext cx="1371600" cy="676656"/>
          </a:xfrm>
          <a:prstGeom prst="rect">
            <a:avLst/>
          </a:prstGeom>
          <a:noFill/>
          <a:ln/>
        </p:spPr>
        <p:txBody>
          <a:bodyPr wrap="square" lIns="0" tIns="0" rIns="0" bIns="0" rtlCol="0" anchor="ctr"/>
          <a:lstStyle/>
          <a:p>
            <a:pPr algn="ctr" indent="0" marL="0">
              <a:buNone/>
            </a:pPr>
            <a:r>
              <a:rPr lang="en-US" sz="1000" b="1" dirty="0">
                <a:solidFill>
                  <a:srgbClr val="1F9D68"/>
                </a:solidFill>
                <a:latin typeface="Courier New" pitchFamily="34" charset="0"/>
                <a:ea typeface="Courier New" pitchFamily="34" charset="-122"/>
                <a:cs typeface="Courier New" pitchFamily="34" charset="-120"/>
              </a:rPr>
              <a:t>PROVEN</a:t>
            </a:r>
            <a:endParaRPr lang="en-US" sz="1000" dirty="0"/>
          </a:p>
        </p:txBody>
      </p:sp>
      <p:sp>
        <p:nvSpPr>
          <p:cNvPr id="13" name="Shape 11"/>
          <p:cNvSpPr/>
          <p:nvPr/>
        </p:nvSpPr>
        <p:spPr>
          <a:xfrm>
            <a:off x="1051560" y="1865376"/>
            <a:ext cx="0" cy="164592"/>
          </a:xfrm>
          <a:prstGeom prst="line">
            <a:avLst/>
          </a:prstGeom>
          <a:noFill/>
          <a:ln w="28575">
            <a:solidFill>
              <a:srgbClr val="1199BD"/>
            </a:solidFill>
            <a:prstDash val="solid"/>
            <a:tailEnd type="triangle"/>
          </a:ln>
        </p:spPr>
      </p:sp>
      <p:sp>
        <p:nvSpPr>
          <p:cNvPr id="14" name="Shape 12"/>
          <p:cNvSpPr/>
          <p:nvPr/>
        </p:nvSpPr>
        <p:spPr>
          <a:xfrm>
            <a:off x="548640" y="2029968"/>
            <a:ext cx="4754880" cy="676656"/>
          </a:xfrm>
          <a:prstGeom prst="rect">
            <a:avLst/>
          </a:prstGeom>
          <a:solidFill>
            <a:srgbClr val="F2F5FA"/>
          </a:solidFill>
          <a:ln w="15875">
            <a:solidFill>
              <a:srgbClr val="1199BD"/>
            </a:solidFill>
            <a:prstDash val="solid"/>
          </a:ln>
        </p:spPr>
      </p:sp>
      <p:sp>
        <p:nvSpPr>
          <p:cNvPr id="15" name="Text 13"/>
          <p:cNvSpPr txBox="1"/>
          <p:nvPr/>
        </p:nvSpPr>
        <p:spPr>
          <a:xfrm>
            <a:off x="713232" y="2075688"/>
            <a:ext cx="3108960" cy="585216"/>
          </a:xfrm>
          <a:prstGeom prst="rect">
            <a:avLst/>
          </a:prstGeom>
          <a:noFill/>
          <a:ln/>
        </p:spPr>
        <p:txBody>
          <a:bodyPr wrap="square" lIns="0" tIns="0" rIns="0" bIns="0" rtlCol="0" anchor="ctr"/>
          <a:lstStyle/>
          <a:p>
            <a:pPr indent="0" marL="0">
              <a:buNone/>
            </a:pPr>
            <a:r>
              <a:rPr lang="en-US" sz="1250" b="1" dirty="0">
                <a:solidFill>
                  <a:srgbClr val="16213D"/>
                </a:solidFill>
                <a:latin typeface="Arial" pitchFamily="34" charset="0"/>
                <a:ea typeface="Arial" pitchFamily="34" charset="-122"/>
                <a:cs typeface="Arial" pitchFamily="34" charset="-120"/>
              </a:rPr>
              <a:t>Radio to display</a:t>
            </a:r>
            <a:endParaRPr lang="en-US" sz="1250" dirty="0"/>
          </a:p>
        </p:txBody>
      </p:sp>
      <p:sp>
        <p:nvSpPr>
          <p:cNvPr id="16" name="Text 14"/>
          <p:cNvSpPr txBox="1"/>
          <p:nvPr/>
        </p:nvSpPr>
        <p:spPr>
          <a:xfrm>
            <a:off x="3794760" y="2029968"/>
            <a:ext cx="1371600" cy="676656"/>
          </a:xfrm>
          <a:prstGeom prst="rect">
            <a:avLst/>
          </a:prstGeom>
          <a:noFill/>
          <a:ln/>
        </p:spPr>
        <p:txBody>
          <a:bodyPr wrap="square" lIns="0" tIns="0" rIns="0" bIns="0" rtlCol="0" anchor="ctr"/>
          <a:lstStyle/>
          <a:p>
            <a:pPr algn="ctr" indent="0" marL="0">
              <a:buNone/>
            </a:pPr>
            <a:r>
              <a:rPr lang="en-US" sz="1000" b="1" dirty="0">
                <a:solidFill>
                  <a:srgbClr val="1F9D68"/>
                </a:solidFill>
                <a:latin typeface="Courier New" pitchFamily="34" charset="0"/>
                <a:ea typeface="Courier New" pitchFamily="34" charset="-122"/>
                <a:cs typeface="Courier New" pitchFamily="34" charset="-120"/>
              </a:rPr>
              <a:t>PROVEN</a:t>
            </a:r>
            <a:endParaRPr lang="en-US" sz="1000" dirty="0"/>
          </a:p>
        </p:txBody>
      </p:sp>
      <p:sp>
        <p:nvSpPr>
          <p:cNvPr id="17" name="Shape 15"/>
          <p:cNvSpPr/>
          <p:nvPr/>
        </p:nvSpPr>
        <p:spPr>
          <a:xfrm>
            <a:off x="1051560" y="2706624"/>
            <a:ext cx="0" cy="164592"/>
          </a:xfrm>
          <a:prstGeom prst="line">
            <a:avLst/>
          </a:prstGeom>
          <a:noFill/>
          <a:ln w="28575">
            <a:solidFill>
              <a:srgbClr val="1199BD"/>
            </a:solidFill>
            <a:prstDash val="solid"/>
            <a:tailEnd type="triangle"/>
          </a:ln>
        </p:spPr>
      </p:sp>
      <p:sp>
        <p:nvSpPr>
          <p:cNvPr id="18" name="Shape 16"/>
          <p:cNvSpPr/>
          <p:nvPr/>
        </p:nvSpPr>
        <p:spPr>
          <a:xfrm>
            <a:off x="548640" y="2871216"/>
            <a:ext cx="4754880" cy="676656"/>
          </a:xfrm>
          <a:prstGeom prst="rect">
            <a:avLst/>
          </a:prstGeom>
          <a:solidFill>
            <a:srgbClr val="F2F5FA"/>
          </a:solidFill>
          <a:ln w="15875">
            <a:solidFill>
              <a:srgbClr val="1199BD"/>
            </a:solidFill>
            <a:prstDash val="solid"/>
          </a:ln>
        </p:spPr>
      </p:sp>
      <p:sp>
        <p:nvSpPr>
          <p:cNvPr id="19" name="Text 17"/>
          <p:cNvSpPr txBox="1"/>
          <p:nvPr/>
        </p:nvSpPr>
        <p:spPr>
          <a:xfrm>
            <a:off x="713232" y="2916936"/>
            <a:ext cx="3108960" cy="585216"/>
          </a:xfrm>
          <a:prstGeom prst="rect">
            <a:avLst/>
          </a:prstGeom>
          <a:noFill/>
          <a:ln/>
        </p:spPr>
        <p:txBody>
          <a:bodyPr wrap="square" lIns="0" tIns="0" rIns="0" bIns="0" rtlCol="0" anchor="ctr"/>
          <a:lstStyle/>
          <a:p>
            <a:pPr indent="0" marL="0">
              <a:buNone/>
            </a:pPr>
            <a:r>
              <a:rPr lang="en-US" sz="1250" b="1" dirty="0">
                <a:solidFill>
                  <a:srgbClr val="16213D"/>
                </a:solidFill>
                <a:latin typeface="Arial" pitchFamily="34" charset="0"/>
                <a:ea typeface="Arial" pitchFamily="34" charset="-122"/>
                <a:cs typeface="Arial" pitchFamily="34" charset="-120"/>
              </a:rPr>
              <a:t>Decode to TrackerState</a:t>
            </a:r>
            <a:endParaRPr lang="en-US" sz="1250" dirty="0"/>
          </a:p>
        </p:txBody>
      </p:sp>
      <p:sp>
        <p:nvSpPr>
          <p:cNvPr id="20" name="Text 18"/>
          <p:cNvSpPr txBox="1"/>
          <p:nvPr/>
        </p:nvSpPr>
        <p:spPr>
          <a:xfrm>
            <a:off x="3794760" y="2871216"/>
            <a:ext cx="1371600" cy="676656"/>
          </a:xfrm>
          <a:prstGeom prst="rect">
            <a:avLst/>
          </a:prstGeom>
          <a:noFill/>
          <a:ln/>
        </p:spPr>
        <p:txBody>
          <a:bodyPr wrap="square" lIns="0" tIns="0" rIns="0" bIns="0" rtlCol="0" anchor="ctr"/>
          <a:lstStyle/>
          <a:p>
            <a:pPr algn="ctr" indent="0" marL="0">
              <a:buNone/>
            </a:pPr>
            <a:r>
              <a:rPr lang="en-US" sz="1000" b="1" dirty="0">
                <a:solidFill>
                  <a:srgbClr val="1F9D68"/>
                </a:solidFill>
                <a:latin typeface="Courier New" pitchFamily="34" charset="0"/>
                <a:ea typeface="Courier New" pitchFamily="34" charset="-122"/>
                <a:cs typeface="Courier New" pitchFamily="34" charset="-120"/>
              </a:rPr>
              <a:t>PROVEN</a:t>
            </a:r>
            <a:endParaRPr lang="en-US" sz="1000" dirty="0"/>
          </a:p>
        </p:txBody>
      </p:sp>
      <p:sp>
        <p:nvSpPr>
          <p:cNvPr id="21" name="Shape 19"/>
          <p:cNvSpPr/>
          <p:nvPr/>
        </p:nvSpPr>
        <p:spPr>
          <a:xfrm>
            <a:off x="1051560" y="3547872"/>
            <a:ext cx="0" cy="164592"/>
          </a:xfrm>
          <a:prstGeom prst="line">
            <a:avLst/>
          </a:prstGeom>
          <a:noFill/>
          <a:ln w="28575">
            <a:solidFill>
              <a:srgbClr val="1199BD"/>
            </a:solidFill>
            <a:prstDash val="solid"/>
            <a:tailEnd type="triangle"/>
          </a:ln>
        </p:spPr>
      </p:sp>
      <p:sp>
        <p:nvSpPr>
          <p:cNvPr id="22" name="Shape 20"/>
          <p:cNvSpPr/>
          <p:nvPr/>
        </p:nvSpPr>
        <p:spPr>
          <a:xfrm>
            <a:off x="548640" y="3712464"/>
            <a:ext cx="4754880" cy="676656"/>
          </a:xfrm>
          <a:prstGeom prst="rect">
            <a:avLst/>
          </a:prstGeom>
          <a:solidFill>
            <a:srgbClr val="F2F5FA"/>
          </a:solidFill>
          <a:ln w="15875">
            <a:solidFill>
              <a:srgbClr val="1199BD"/>
            </a:solidFill>
            <a:prstDash val="solid"/>
          </a:ln>
        </p:spPr>
      </p:sp>
      <p:sp>
        <p:nvSpPr>
          <p:cNvPr id="23" name="Text 21"/>
          <p:cNvSpPr txBox="1"/>
          <p:nvPr/>
        </p:nvSpPr>
        <p:spPr>
          <a:xfrm>
            <a:off x="713232" y="3758184"/>
            <a:ext cx="3108960" cy="585216"/>
          </a:xfrm>
          <a:prstGeom prst="rect">
            <a:avLst/>
          </a:prstGeom>
          <a:noFill/>
          <a:ln/>
        </p:spPr>
        <p:txBody>
          <a:bodyPr wrap="square" lIns="0" tIns="0" rIns="0" bIns="0" rtlCol="0" anchor="ctr"/>
          <a:lstStyle/>
          <a:p>
            <a:pPr indent="0" marL="0">
              <a:buNone/>
            </a:pPr>
            <a:r>
              <a:rPr lang="en-US" sz="1250" b="1" dirty="0">
                <a:solidFill>
                  <a:srgbClr val="16213D"/>
                </a:solidFill>
                <a:latin typeface="Arial" pitchFamily="34" charset="0"/>
                <a:ea typeface="Arial" pitchFamily="34" charset="-122"/>
                <a:cs typeface="Arial" pitchFamily="34" charset="-120"/>
              </a:rPr>
              <a:t>Navigation and UI</a:t>
            </a:r>
            <a:endParaRPr lang="en-US" sz="1250" dirty="0"/>
          </a:p>
        </p:txBody>
      </p:sp>
      <p:sp>
        <p:nvSpPr>
          <p:cNvPr id="24" name="Text 22"/>
          <p:cNvSpPr txBox="1"/>
          <p:nvPr/>
        </p:nvSpPr>
        <p:spPr>
          <a:xfrm>
            <a:off x="3794760" y="3712464"/>
            <a:ext cx="1371600" cy="676656"/>
          </a:xfrm>
          <a:prstGeom prst="rect">
            <a:avLst/>
          </a:prstGeom>
          <a:noFill/>
          <a:ln/>
        </p:spPr>
        <p:txBody>
          <a:bodyPr wrap="square" lIns="0" tIns="0" rIns="0" bIns="0" rtlCol="0" anchor="ctr"/>
          <a:lstStyle/>
          <a:p>
            <a:pPr algn="ctr" indent="0" marL="0">
              <a:buNone/>
            </a:pPr>
            <a:r>
              <a:rPr lang="en-US" sz="1000" b="1" dirty="0">
                <a:solidFill>
                  <a:srgbClr val="1F9D68"/>
                </a:solidFill>
                <a:latin typeface="Courier New" pitchFamily="34" charset="0"/>
                <a:ea typeface="Courier New" pitchFamily="34" charset="-122"/>
                <a:cs typeface="Courier New" pitchFamily="34" charset="-120"/>
              </a:rPr>
              <a:t>PROVEN</a:t>
            </a:r>
            <a:endParaRPr lang="en-US" sz="1000" dirty="0"/>
          </a:p>
        </p:txBody>
      </p:sp>
      <p:sp>
        <p:nvSpPr>
          <p:cNvPr id="25" name="Shape 23"/>
          <p:cNvSpPr/>
          <p:nvPr/>
        </p:nvSpPr>
        <p:spPr>
          <a:xfrm>
            <a:off x="1051560" y="4389120"/>
            <a:ext cx="0" cy="164592"/>
          </a:xfrm>
          <a:prstGeom prst="line">
            <a:avLst/>
          </a:prstGeom>
          <a:noFill/>
          <a:ln w="28575">
            <a:solidFill>
              <a:srgbClr val="1199BD"/>
            </a:solidFill>
            <a:prstDash val="solid"/>
            <a:tailEnd type="triangle"/>
          </a:ln>
        </p:spPr>
      </p:sp>
      <p:sp>
        <p:nvSpPr>
          <p:cNvPr id="26" name="Shape 24"/>
          <p:cNvSpPr/>
          <p:nvPr/>
        </p:nvSpPr>
        <p:spPr>
          <a:xfrm>
            <a:off x="548640" y="4553712"/>
            <a:ext cx="4754880" cy="676656"/>
          </a:xfrm>
          <a:prstGeom prst="rect">
            <a:avLst/>
          </a:prstGeom>
          <a:solidFill>
            <a:srgbClr val="FFFFFF"/>
          </a:solidFill>
          <a:ln w="15875">
            <a:solidFill>
              <a:srgbClr val="E58E1A"/>
            </a:solidFill>
            <a:prstDash val="dash"/>
          </a:ln>
        </p:spPr>
      </p:sp>
      <p:sp>
        <p:nvSpPr>
          <p:cNvPr id="27" name="Text 25"/>
          <p:cNvSpPr txBox="1"/>
          <p:nvPr/>
        </p:nvSpPr>
        <p:spPr>
          <a:xfrm>
            <a:off x="713232" y="4599432"/>
            <a:ext cx="3108960" cy="585216"/>
          </a:xfrm>
          <a:prstGeom prst="rect">
            <a:avLst/>
          </a:prstGeom>
          <a:noFill/>
          <a:ln/>
        </p:spPr>
        <p:txBody>
          <a:bodyPr wrap="square" lIns="0" tIns="0" rIns="0" bIns="0" rtlCol="0" anchor="ctr"/>
          <a:lstStyle/>
          <a:p>
            <a:pPr indent="0" marL="0">
              <a:buNone/>
            </a:pPr>
            <a:r>
              <a:rPr lang="en-US" sz="1250" b="1" dirty="0">
                <a:solidFill>
                  <a:srgbClr val="16213D"/>
                </a:solidFill>
                <a:latin typeface="Arial" pitchFamily="34" charset="0"/>
                <a:ea typeface="Arial" pitchFamily="34" charset="-122"/>
                <a:cs typeface="Arial" pitchFamily="34" charset="-120"/>
              </a:rPr>
              <a:t>Partner over LoRa</a:t>
            </a:r>
            <a:endParaRPr lang="en-US" sz="1250" dirty="0"/>
          </a:p>
        </p:txBody>
      </p:sp>
      <p:sp>
        <p:nvSpPr>
          <p:cNvPr id="28" name="Text 26"/>
          <p:cNvSpPr txBox="1"/>
          <p:nvPr/>
        </p:nvSpPr>
        <p:spPr>
          <a:xfrm>
            <a:off x="3794760" y="4553712"/>
            <a:ext cx="1371600" cy="676656"/>
          </a:xfrm>
          <a:prstGeom prst="rect">
            <a:avLst/>
          </a:prstGeom>
          <a:noFill/>
          <a:ln/>
        </p:spPr>
        <p:txBody>
          <a:bodyPr wrap="square" lIns="0" tIns="0" rIns="0" bIns="0" rtlCol="0" anchor="ctr"/>
          <a:lstStyle/>
          <a:p>
            <a:pPr algn="ctr" indent="0" marL="0">
              <a:buNone/>
            </a:pPr>
            <a:r>
              <a:rPr lang="en-US" sz="1000" b="1" dirty="0">
                <a:solidFill>
                  <a:srgbClr val="B06207"/>
                </a:solidFill>
                <a:latin typeface="Courier New" pitchFamily="34" charset="0"/>
                <a:ea typeface="Courier New" pitchFamily="34" charset="-122"/>
                <a:cs typeface="Courier New" pitchFamily="34" charset="-120"/>
              </a:rPr>
              <a:t>THIS WEEK</a:t>
            </a:r>
            <a:endParaRPr lang="en-US" sz="1000" dirty="0"/>
          </a:p>
        </p:txBody>
      </p:sp>
      <p:pic>
        <p:nvPicPr>
          <p:cNvPr id="29" name="Image 0" descr="C:/Users/deogr/AppData/Local/Temp/claude/C--Users-deogr-Documents-Fall-Project-Off-Grid-Vehicle-dection-project/e8b2e8fa-1513-4aa8-a8f6-ce4fcd20e664/scratchpad/deck3/p_search.jpg">    </p:cNvPr>
          <p:cNvPicPr>
            <a:picLocks noChangeAspect="1"/>
          </p:cNvPicPr>
          <p:nvPr/>
        </p:nvPicPr>
        <p:blipFill>
          <a:blip r:embed="rId1"/>
          <a:stretch>
            <a:fillRect/>
          </a:stretch>
        </p:blipFill>
        <p:spPr>
          <a:xfrm>
            <a:off x="5760720" y="1188720"/>
            <a:ext cx="2331720" cy="1828800"/>
          </a:xfrm>
          <a:prstGeom prst="rect">
            <a:avLst/>
          </a:prstGeom>
        </p:spPr>
      </p:pic>
      <p:sp>
        <p:nvSpPr>
          <p:cNvPr id="30" name="Shape 27"/>
          <p:cNvSpPr/>
          <p:nvPr/>
        </p:nvSpPr>
        <p:spPr>
          <a:xfrm>
            <a:off x="5760720" y="1188720"/>
            <a:ext cx="2331720" cy="1828800"/>
          </a:xfrm>
          <a:prstGeom prst="rect">
            <a:avLst/>
          </a:prstGeom>
          <a:ln w="12700">
            <a:solidFill>
              <a:srgbClr val="9AA7BE"/>
            </a:solidFill>
            <a:prstDash val="solid"/>
          </a:ln>
        </p:spPr>
      </p:sp>
      <p:sp>
        <p:nvSpPr>
          <p:cNvPr id="31" name="Text 28"/>
          <p:cNvSpPr txBox="1"/>
          <p:nvPr/>
        </p:nvSpPr>
        <p:spPr>
          <a:xfrm>
            <a:off x="5760720" y="3044952"/>
            <a:ext cx="233172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The display says it plainly</a:t>
            </a:r>
            <a:endParaRPr lang="en-US" sz="950" dirty="0"/>
          </a:p>
        </p:txBody>
      </p:sp>
      <p:sp>
        <p:nvSpPr>
          <p:cNvPr id="32" name="Shape 29"/>
          <p:cNvSpPr/>
          <p:nvPr/>
        </p:nvSpPr>
        <p:spPr>
          <a:xfrm>
            <a:off x="8366760" y="1188720"/>
            <a:ext cx="3337560" cy="1828800"/>
          </a:xfrm>
          <a:prstGeom prst="rect">
            <a:avLst/>
          </a:prstGeom>
          <a:solidFill>
            <a:srgbClr val="16213D"/>
          </a:solidFill>
          <a:ln/>
        </p:spPr>
      </p:sp>
      <p:sp>
        <p:nvSpPr>
          <p:cNvPr id="33" name="Text 30"/>
          <p:cNvSpPr txBox="1"/>
          <p:nvPr/>
        </p:nvSpPr>
        <p:spPr>
          <a:xfrm>
            <a:off x="8549640" y="1325880"/>
            <a:ext cx="2971800" cy="1600200"/>
          </a:xfrm>
          <a:prstGeom prst="rect">
            <a:avLst/>
          </a:prstGeom>
          <a:noFill/>
          <a:ln/>
        </p:spPr>
        <p:txBody>
          <a:bodyPr wrap="square" lIns="0" tIns="0" rIns="0" bIns="0" rtlCol="0" anchor="ctr"/>
          <a:lstStyle/>
          <a:p>
            <a:pPr indent="0" marL="0">
              <a:spcAft>
                <a:spcPts val="500"/>
              </a:spcAft>
              <a:buNone/>
            </a:pPr>
            <a:r>
              <a:rPr lang="en-US" sz="1150" b="1" dirty="0">
                <a:solidFill>
                  <a:srgbClr val="E58E1A"/>
                </a:solidFill>
                <a:latin typeface="Courier New" pitchFamily="34" charset="0"/>
                <a:ea typeface="Courier New" pitchFamily="34" charset="-122"/>
                <a:cs typeface="Courier New" pitchFamily="34" charset="-120"/>
              </a:rPr>
              <a:t>THE CLIFFHANGER</a:t>
            </a:r>
            <a:endParaRPr lang="en-US" sz="1150" dirty="0"/>
          </a:p>
          <a:p>
            <a:pPr indent="0" marL="0">
              <a:buNone/>
            </a:pPr>
            <a:r>
              <a:rPr lang="en-US" sz="1150" dirty="0">
                <a:solidFill>
                  <a:srgbClr val="FFFFFF"/>
                </a:solidFill>
                <a:latin typeface="Arial" pitchFamily="34" charset="0"/>
                <a:ea typeface="Arial" pitchFamily="34" charset="-122"/>
                <a:cs typeface="Arial" pitchFamily="34" charset="-120"/>
              </a:rPr>
              <a:t>“One radio still talks to itself. Radio number two turns this into a tracker.” That sentence is this week's work order.</a:t>
            </a:r>
            <a:endParaRPr lang="en-US" sz="1150" dirty="0"/>
          </a:p>
        </p:txBody>
      </p:sp>
      <p:sp>
        <p:nvSpPr>
          <p:cNvPr id="34" name="Text 31"/>
          <p:cNvSpPr txBox="1"/>
          <p:nvPr/>
        </p:nvSpPr>
        <p:spPr>
          <a:xfrm>
            <a:off x="5760720" y="3520440"/>
            <a:ext cx="5943600" cy="14630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Everything below the dashed layer runs today: decoding, navigation, dead reckoning, honest ages.</a:t>
            </a:r>
            <a:endParaRPr lang="en-US" sz="1250" dirty="0"/>
          </a:p>
          <a:p>
            <a:pPr marL="342900" indent="-342900">
              <a:buSzPct val="100000"/>
              <a:buChar char="▪"/>
            </a:pPr>
            <a:r>
              <a:rPr lang="en-US" sz="1250" dirty="0">
                <a:solidFill>
                  <a:srgbClr val="222A3F"/>
                </a:solidFill>
                <a:latin typeface="Arial" pitchFamily="34" charset="0"/>
                <a:ea typeface="Arial" pitchFamily="34" charset="-122"/>
                <a:cs typeface="Arial" pitchFamily="34" charset="-120"/>
              </a:rPr>
              <a:t>The partner path is the same decode code with a different node number. Nothing new is written; something existing gets its second speaker.</a:t>
            </a:r>
            <a:endParaRPr lang="en-US" sz="1250" dirty="0"/>
          </a:p>
        </p:txBody>
      </p:sp>
      <p:sp>
        <p:nvSpPr>
          <p:cNvPr id="35" name="Shape 32"/>
          <p:cNvSpPr/>
          <p:nvPr/>
        </p:nvSpPr>
        <p:spPr>
          <a:xfrm>
            <a:off x="548640" y="5486400"/>
            <a:ext cx="11155680" cy="640080"/>
          </a:xfrm>
          <a:prstGeom prst="rect">
            <a:avLst/>
          </a:prstGeom>
          <a:solidFill>
            <a:srgbClr val="F2F5FA"/>
          </a:solidFill>
          <a:ln w="9525">
            <a:solidFill>
              <a:srgbClr val="9AA7BE"/>
            </a:solidFill>
            <a:prstDash val="solid"/>
          </a:ln>
        </p:spPr>
      </p:sp>
      <p:sp>
        <p:nvSpPr>
          <p:cNvPr id="36" name="Text 33"/>
          <p:cNvSpPr txBox="1"/>
          <p:nvPr/>
        </p:nvSpPr>
        <p:spPr>
          <a:xfrm>
            <a:off x="777240" y="5559552"/>
            <a:ext cx="10744200" cy="50292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This review publishes the plan the fifth layer will be judged by: procedure, design, predicted curve, protocol, metrics.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DRIVE TEST RESULT</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03/11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RESULT: EVERY TEN SECONDS, ON THE ROAD</a:t>
            </a:r>
            <a:endParaRPr lang="en-US" sz="2300" dirty="0"/>
          </a:p>
        </p:txBody>
      </p:sp>
      <p:sp>
        <p:nvSpPr>
          <p:cNvPr id="10" name="Shape 8"/>
          <p:cNvSpPr/>
          <p:nvPr/>
        </p:nvSpPr>
        <p:spPr>
          <a:xfrm>
            <a:off x="457200" y="1188720"/>
            <a:ext cx="2606040" cy="1051560"/>
          </a:xfrm>
          <a:prstGeom prst="rect">
            <a:avLst/>
          </a:prstGeom>
          <a:solidFill>
            <a:srgbClr val="F2F5FA"/>
          </a:solidFill>
          <a:ln w="19050">
            <a:solidFill>
              <a:srgbClr val="1199BD"/>
            </a:solidFill>
            <a:prstDash val="solid"/>
          </a:ln>
        </p:spPr>
      </p:sp>
      <p:sp>
        <p:nvSpPr>
          <p:cNvPr id="11" name="Text 9"/>
          <p:cNvSpPr txBox="1"/>
          <p:nvPr/>
        </p:nvSpPr>
        <p:spPr>
          <a:xfrm>
            <a:off x="548640" y="1261872"/>
            <a:ext cx="2423160" cy="914400"/>
          </a:xfrm>
          <a:prstGeom prst="rect">
            <a:avLst/>
          </a:prstGeom>
          <a:noFill/>
          <a:ln/>
        </p:spPr>
        <p:txBody>
          <a:bodyPr wrap="square" lIns="0" tIns="0" rIns="0" bIns="0" rtlCol="0" anchor="ctr"/>
          <a:lstStyle/>
          <a:p>
            <a:pPr algn="ctr" indent="0" marL="0">
              <a:buNone/>
            </a:pPr>
            <a:r>
              <a:rPr lang="en-US" sz="1200" b="1" dirty="0">
                <a:solidFill>
                  <a:srgbClr val="16213D"/>
                </a:solidFill>
                <a:latin typeface="Arial" pitchFamily="34" charset="0"/>
                <a:ea typeface="Arial" pitchFamily="34" charset="-122"/>
                <a:cs typeface="Arial" pitchFamily="34" charset="-120"/>
              </a:rPr>
              <a:t>GPS fix</a:t>
            </a:r>
            <a:endParaRPr lang="en-US" sz="1200" dirty="0"/>
          </a:p>
          <a:p>
            <a:pPr algn="ctr" indent="0" marL="0">
              <a:buNone/>
            </a:pPr>
            <a:r>
              <a:rPr lang="en-US" sz="1200" b="1" dirty="0">
                <a:solidFill>
                  <a:srgbClr val="1F9D68"/>
                </a:solidFill>
                <a:latin typeface="Arial" pitchFamily="34" charset="0"/>
                <a:ea typeface="Arial" pitchFamily="34" charset="-122"/>
                <a:cs typeface="Arial" pitchFamily="34" charset="-120"/>
              </a:rPr>
              <a:t>every 10 s</a:t>
            </a:r>
            <a:endParaRPr lang="en-US" sz="120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gps_update_interval 10</a:t>
            </a:r>
            <a:endParaRPr lang="en-US" sz="1200" dirty="0"/>
          </a:p>
        </p:txBody>
      </p:sp>
      <p:sp>
        <p:nvSpPr>
          <p:cNvPr id="12" name="Shape 10"/>
          <p:cNvSpPr/>
          <p:nvPr/>
        </p:nvSpPr>
        <p:spPr>
          <a:xfrm>
            <a:off x="3063240" y="1709928"/>
            <a:ext cx="301752" cy="0"/>
          </a:xfrm>
          <a:prstGeom prst="line">
            <a:avLst/>
          </a:prstGeom>
          <a:noFill/>
          <a:ln w="28575">
            <a:solidFill>
              <a:srgbClr val="1199BD"/>
            </a:solidFill>
            <a:prstDash val="solid"/>
            <a:tailEnd type="triangle"/>
          </a:ln>
        </p:spPr>
      </p:sp>
      <p:sp>
        <p:nvSpPr>
          <p:cNvPr id="13" name="Shape 11"/>
          <p:cNvSpPr/>
          <p:nvPr/>
        </p:nvSpPr>
        <p:spPr>
          <a:xfrm>
            <a:off x="3364992" y="1188720"/>
            <a:ext cx="2606040" cy="1051560"/>
          </a:xfrm>
          <a:prstGeom prst="rect">
            <a:avLst/>
          </a:prstGeom>
          <a:solidFill>
            <a:srgbClr val="F2F5FA"/>
          </a:solidFill>
          <a:ln w="19050">
            <a:solidFill>
              <a:srgbClr val="1199BD"/>
            </a:solidFill>
            <a:prstDash val="solid"/>
          </a:ln>
        </p:spPr>
      </p:sp>
      <p:sp>
        <p:nvSpPr>
          <p:cNvPr id="14" name="Text 12"/>
          <p:cNvSpPr txBox="1"/>
          <p:nvPr/>
        </p:nvSpPr>
        <p:spPr>
          <a:xfrm>
            <a:off x="3456432" y="1261872"/>
            <a:ext cx="2423160" cy="914400"/>
          </a:xfrm>
          <a:prstGeom prst="rect">
            <a:avLst/>
          </a:prstGeom>
          <a:noFill/>
          <a:ln/>
        </p:spPr>
        <p:txBody>
          <a:bodyPr wrap="square" lIns="0" tIns="0" rIns="0" bIns="0" rtlCol="0" anchor="ctr"/>
          <a:lstStyle/>
          <a:p>
            <a:pPr algn="ctr" indent="0" marL="0">
              <a:buNone/>
            </a:pPr>
            <a:r>
              <a:rPr lang="en-US" sz="1200" b="1" dirty="0">
                <a:solidFill>
                  <a:srgbClr val="16213D"/>
                </a:solidFill>
                <a:latin typeface="Arial" pitchFamily="34" charset="0"/>
                <a:ea typeface="Arial" pitchFamily="34" charset="-122"/>
                <a:cs typeface="Arial" pitchFamily="34" charset="-120"/>
              </a:rPr>
              <a:t>Smart broadcast</a:t>
            </a:r>
            <a:endParaRPr lang="en-US" sz="1200" dirty="0"/>
          </a:p>
          <a:p>
            <a:pPr algn="ctr" indent="0" marL="0">
              <a:buNone/>
            </a:pPr>
            <a:r>
              <a:rPr lang="en-US" sz="1200" b="1" dirty="0">
                <a:solidFill>
                  <a:srgbClr val="1F9D68"/>
                </a:solidFill>
                <a:latin typeface="Arial" pitchFamily="34" charset="0"/>
                <a:ea typeface="Arial" pitchFamily="34" charset="-122"/>
                <a:cs typeface="Arial" pitchFamily="34" charset="-120"/>
              </a:rPr>
              <a:t>10 s / 20 m moving</a:t>
            </a:r>
            <a:endParaRPr lang="en-US" sz="120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min interval + distance</a:t>
            </a:r>
            <a:endParaRPr lang="en-US" sz="1200" dirty="0"/>
          </a:p>
        </p:txBody>
      </p:sp>
      <p:sp>
        <p:nvSpPr>
          <p:cNvPr id="15" name="Shape 13"/>
          <p:cNvSpPr/>
          <p:nvPr/>
        </p:nvSpPr>
        <p:spPr>
          <a:xfrm>
            <a:off x="5971032" y="1709928"/>
            <a:ext cx="301752" cy="0"/>
          </a:xfrm>
          <a:prstGeom prst="line">
            <a:avLst/>
          </a:prstGeom>
          <a:noFill/>
          <a:ln w="28575">
            <a:solidFill>
              <a:srgbClr val="1199BD"/>
            </a:solidFill>
            <a:prstDash val="solid"/>
            <a:tailEnd type="triangle"/>
          </a:ln>
        </p:spPr>
      </p:sp>
      <p:sp>
        <p:nvSpPr>
          <p:cNvPr id="16" name="Shape 14"/>
          <p:cNvSpPr/>
          <p:nvPr/>
        </p:nvSpPr>
        <p:spPr>
          <a:xfrm>
            <a:off x="6272784" y="1188720"/>
            <a:ext cx="2606040" cy="1051560"/>
          </a:xfrm>
          <a:prstGeom prst="rect">
            <a:avLst/>
          </a:prstGeom>
          <a:solidFill>
            <a:srgbClr val="F2F5FA"/>
          </a:solidFill>
          <a:ln w="19050">
            <a:solidFill>
              <a:srgbClr val="1199BD"/>
            </a:solidFill>
            <a:prstDash val="solid"/>
          </a:ln>
        </p:spPr>
      </p:sp>
      <p:sp>
        <p:nvSpPr>
          <p:cNvPr id="17" name="Text 15"/>
          <p:cNvSpPr txBox="1"/>
          <p:nvPr/>
        </p:nvSpPr>
        <p:spPr>
          <a:xfrm>
            <a:off x="6364224" y="1261872"/>
            <a:ext cx="2423160" cy="914400"/>
          </a:xfrm>
          <a:prstGeom prst="rect">
            <a:avLst/>
          </a:prstGeom>
          <a:noFill/>
          <a:ln/>
        </p:spPr>
        <p:txBody>
          <a:bodyPr wrap="square" lIns="0" tIns="0" rIns="0" bIns="0" rtlCol="0" anchor="ctr"/>
          <a:lstStyle/>
          <a:p>
            <a:pPr algn="ctr" indent="0" marL="0">
              <a:buNone/>
            </a:pPr>
            <a:r>
              <a:rPr lang="en-US" sz="1200" b="1" dirty="0">
                <a:solidFill>
                  <a:srgbClr val="16213D"/>
                </a:solidFill>
                <a:latin typeface="Arial" pitchFamily="34" charset="0"/>
                <a:ea typeface="Arial" pitchFamily="34" charset="-122"/>
                <a:cs typeface="Arial" pitchFamily="34" charset="-120"/>
              </a:rPr>
              <a:t>BLE delivery</a:t>
            </a:r>
            <a:endParaRPr lang="en-US" sz="1200" dirty="0"/>
          </a:p>
          <a:p>
            <a:pPr algn="ctr" indent="0" marL="0">
              <a:buNone/>
            </a:pPr>
            <a:r>
              <a:rPr lang="en-US" sz="1200" b="1" dirty="0">
                <a:solidFill>
                  <a:srgbClr val="1F9D68"/>
                </a:solidFill>
                <a:latin typeface="Arial" pitchFamily="34" charset="0"/>
                <a:ea typeface="Arial" pitchFamily="34" charset="-122"/>
                <a:cs typeface="Arial" pitchFamily="34" charset="-120"/>
              </a:rPr>
              <a:t>milliseconds</a:t>
            </a:r>
            <a:endParaRPr lang="en-US" sz="120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notify, then drain</a:t>
            </a:r>
            <a:endParaRPr lang="en-US" sz="1200" dirty="0"/>
          </a:p>
        </p:txBody>
      </p:sp>
      <p:sp>
        <p:nvSpPr>
          <p:cNvPr id="18" name="Shape 16"/>
          <p:cNvSpPr/>
          <p:nvPr/>
        </p:nvSpPr>
        <p:spPr>
          <a:xfrm>
            <a:off x="8878824" y="1709928"/>
            <a:ext cx="301752" cy="0"/>
          </a:xfrm>
          <a:prstGeom prst="line">
            <a:avLst/>
          </a:prstGeom>
          <a:noFill/>
          <a:ln w="28575">
            <a:solidFill>
              <a:srgbClr val="1199BD"/>
            </a:solidFill>
            <a:prstDash val="solid"/>
            <a:tailEnd type="triangle"/>
          </a:ln>
        </p:spPr>
      </p:sp>
      <p:sp>
        <p:nvSpPr>
          <p:cNvPr id="19" name="Shape 17"/>
          <p:cNvSpPr/>
          <p:nvPr/>
        </p:nvSpPr>
        <p:spPr>
          <a:xfrm>
            <a:off x="9180576" y="1188720"/>
            <a:ext cx="2606040" cy="1051560"/>
          </a:xfrm>
          <a:prstGeom prst="rect">
            <a:avLst/>
          </a:prstGeom>
          <a:solidFill>
            <a:srgbClr val="F2F5FA"/>
          </a:solidFill>
          <a:ln w="19050">
            <a:solidFill>
              <a:srgbClr val="1199BD"/>
            </a:solidFill>
            <a:prstDash val="solid"/>
          </a:ln>
        </p:spPr>
      </p:sp>
      <p:sp>
        <p:nvSpPr>
          <p:cNvPr id="20" name="Text 18"/>
          <p:cNvSpPr txBox="1"/>
          <p:nvPr/>
        </p:nvSpPr>
        <p:spPr>
          <a:xfrm>
            <a:off x="9272016" y="1261872"/>
            <a:ext cx="2423160" cy="914400"/>
          </a:xfrm>
          <a:prstGeom prst="rect">
            <a:avLst/>
          </a:prstGeom>
          <a:noFill/>
          <a:ln/>
        </p:spPr>
        <p:txBody>
          <a:bodyPr wrap="square" lIns="0" tIns="0" rIns="0" bIns="0" rtlCol="0" anchor="ctr"/>
          <a:lstStyle/>
          <a:p>
            <a:pPr algn="ctr" indent="0" marL="0">
              <a:buNone/>
            </a:pPr>
            <a:r>
              <a:rPr lang="en-US" sz="1200" b="1" dirty="0">
                <a:solidFill>
                  <a:srgbClr val="16213D"/>
                </a:solidFill>
                <a:latin typeface="Arial" pitchFamily="34" charset="0"/>
                <a:ea typeface="Arial" pitchFamily="34" charset="-122"/>
                <a:cs typeface="Arial" pitchFamily="34" charset="-120"/>
              </a:rPr>
              <a:t>Screen motion</a:t>
            </a:r>
            <a:endParaRPr lang="en-US" sz="1200" dirty="0"/>
          </a:p>
          <a:p>
            <a:pPr algn="ctr" indent="0" marL="0">
              <a:buNone/>
            </a:pPr>
            <a:r>
              <a:rPr lang="en-US" sz="1200" b="1" dirty="0">
                <a:solidFill>
                  <a:srgbClr val="1F9D68"/>
                </a:solidFill>
                <a:latin typeface="Arial" pitchFamily="34" charset="0"/>
                <a:ea typeface="Arial" pitchFamily="34" charset="-122"/>
                <a:cs typeface="Arial" pitchFamily="34" charset="-120"/>
              </a:rPr>
              <a:t>every second</a:t>
            </a:r>
            <a:endParaRPr lang="en-US" sz="1200" dirty="0"/>
          </a:p>
          <a:p>
            <a:pPr algn="ctr" indent="0" marL="0">
              <a:buNone/>
            </a:pPr>
            <a:r>
              <a:rPr lang="en-US" sz="850" dirty="0">
                <a:solidFill>
                  <a:srgbClr val="5E6B85"/>
                </a:solidFill>
                <a:latin typeface="Courier New" pitchFamily="34" charset="0"/>
                <a:ea typeface="Courier New" pitchFamily="34" charset="-122"/>
                <a:cs typeface="Courier New" pitchFamily="34" charset="-120"/>
              </a:rPr>
              <a:t>dead reckoning</a:t>
            </a:r>
            <a:endParaRPr lang="en-US" sz="1200" dirty="0"/>
          </a:p>
        </p:txBody>
      </p:sp>
      <p:sp>
        <p:nvSpPr>
          <p:cNvPr id="21" name="Text 19"/>
          <p:cNvSpPr txBox="1"/>
          <p:nvPr/>
        </p:nvSpPr>
        <p:spPr>
          <a:xfrm>
            <a:off x="457200" y="2423160"/>
            <a:ext cx="11292840" cy="256032"/>
          </a:xfrm>
          <a:prstGeom prst="rect">
            <a:avLst/>
          </a:prstGeom>
          <a:noFill/>
          <a:ln/>
        </p:spPr>
        <p:txBody>
          <a:bodyPr wrap="square" lIns="0" tIns="0" rIns="0" bIns="0" rtlCol="0" anchor="ctr"/>
          <a:lstStyle/>
          <a:p>
            <a:pPr indent="0" marL="0">
              <a:buNone/>
            </a:pPr>
            <a:r>
              <a:rPr lang="en-US" sz="1000" b="1" spc="100" kern="0" dirty="0">
                <a:solidFill>
                  <a:srgbClr val="1F9D68"/>
                </a:solidFill>
                <a:latin typeface="Courier New" pitchFamily="34" charset="0"/>
                <a:ea typeface="Courier New" pitchFamily="34" charset="-122"/>
                <a:cs typeface="Courier New" pitchFamily="34" charset="-120"/>
              </a:rPr>
              <a:t>VERIFIED IN MOTION, 2026-09-16 DRIVE TEST</a:t>
            </a:r>
            <a:endParaRPr lang="en-US" sz="1000" dirty="0"/>
          </a:p>
        </p:txBody>
      </p:sp>
      <p:sp>
        <p:nvSpPr>
          <p:cNvPr id="22" name="Text 20"/>
          <p:cNvSpPr txBox="1"/>
          <p:nvPr/>
        </p:nvSpPr>
        <p:spPr>
          <a:xfrm>
            <a:off x="457200" y="2834640"/>
            <a:ext cx="11292840" cy="17373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Observed while driving: coordinates and speed refreshed roughly every ten seconds, matching the configured cadence for the first time on the road.</a:t>
            </a:r>
            <a:endParaRPr lang="en-US" sz="1300" dirty="0"/>
          </a:p>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This closes the chain of cadence fixes from weeks three and four: the coarse-grid freeze, the stale GPS refresh, and the re-broadcast ghost each hid this behavior until removed.</a:t>
            </a:r>
            <a:endParaRPr lang="en-US" sz="1300" dirty="0"/>
          </a:p>
          <a:p>
            <a:pPr marL="342900" indent="-342900">
              <a:buSzPct val="100000"/>
              <a:buChar char="▪"/>
            </a:pPr>
            <a:r>
              <a:rPr lang="en-US" sz="1300" dirty="0">
                <a:solidFill>
                  <a:srgbClr val="222A3F"/>
                </a:solidFill>
                <a:latin typeface="Arial" pitchFamily="34" charset="0"/>
                <a:ea typeface="Arial" pitchFamily="34" charset="-122"/>
                <a:cs typeface="Arial" pitchFamily="34" charset="-120"/>
              </a:rPr>
              <a:t>The cadence question is now settled for one vehicle. Radio two inherits this configuration through the channel recipe, so the partner arrives at the same ten seconds.</a:t>
            </a:r>
            <a:endParaRPr lang="en-US" sz="1300" dirty="0"/>
          </a:p>
        </p:txBody>
      </p:sp>
      <p:sp>
        <p:nvSpPr>
          <p:cNvPr id="23" name="Shape 21"/>
          <p:cNvSpPr/>
          <p:nvPr/>
        </p:nvSpPr>
        <p:spPr>
          <a:xfrm>
            <a:off x="457200" y="4709160"/>
            <a:ext cx="11292840" cy="1371600"/>
          </a:xfrm>
          <a:prstGeom prst="rect">
            <a:avLst/>
          </a:prstGeom>
          <a:solidFill>
            <a:srgbClr val="16213D"/>
          </a:solidFill>
          <a:ln/>
        </p:spPr>
      </p:sp>
      <p:sp>
        <p:nvSpPr>
          <p:cNvPr id="24" name="Text 22"/>
          <p:cNvSpPr txBox="1"/>
          <p:nvPr/>
        </p:nvSpPr>
        <p:spPr>
          <a:xfrm>
            <a:off x="731520" y="4846320"/>
            <a:ext cx="10744200" cy="1143000"/>
          </a:xfrm>
          <a:prstGeom prst="rect">
            <a:avLst/>
          </a:prstGeom>
          <a:noFill/>
          <a:ln/>
        </p:spPr>
        <p:txBody>
          <a:bodyPr wrap="square" lIns="0" tIns="0" rIns="0" bIns="0" rtlCol="0" anchor="ctr"/>
          <a:lstStyle/>
          <a:p>
            <a:pPr indent="0" marL="0">
              <a:spcAft>
                <a:spcPts val="500"/>
              </a:spcAft>
              <a:buNone/>
            </a:pPr>
            <a:r>
              <a:rPr lang="en-US" sz="1100" b="1" dirty="0">
                <a:solidFill>
                  <a:srgbClr val="E58E1A"/>
                </a:solidFill>
                <a:latin typeface="Courier New" pitchFamily="34" charset="0"/>
                <a:ea typeface="Courier New" pitchFamily="34" charset="-122"/>
                <a:cs typeface="Courier New" pitchFamily="34" charset="-120"/>
              </a:rPr>
              <a:t>WHY THIS MATTERS FOR THE EXAM</a:t>
            </a:r>
            <a:endParaRPr lang="en-US" sz="1250" dirty="0"/>
          </a:p>
          <a:p>
            <a:pPr indent="0" marL="0">
              <a:buNone/>
            </a:pPr>
            <a:r>
              <a:rPr lang="en-US" sz="1250" dirty="0">
                <a:solidFill>
                  <a:srgbClr val="FFFFFF"/>
                </a:solidFill>
                <a:latin typeface="Arial" pitchFamily="34" charset="0"/>
                <a:ea typeface="Arial" pitchFamily="34" charset="-122"/>
                <a:cs typeface="Arial" pitchFamily="34" charset="-120"/>
              </a:rPr>
              <a:t>Two of the five declared metrics depend on this cadence: packet delivery ratio counts against the ten-second schedule, and the age target of 25 seconds assumes fixes arrive on it. This drive test pinned down the denominator before the two-radio test supplies the numerator.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PARTNER SELECTION</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04/11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1199BD"/>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1199BD"/>
                </a:solidFill>
                <a:latin typeface="Courier New" pitchFamily="34" charset="0"/>
                <a:ea typeface="Courier New" pitchFamily="34" charset="-122"/>
                <a:cs typeface="Courier New" pitchFamily="34" charset="-120"/>
              </a:rPr>
              <a:t>OWNER: DEO</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PARTNER SELECTION: FROM RULE TO CONFIGURATION</a:t>
            </a:r>
            <a:endParaRPr lang="en-US" sz="2300" dirty="0"/>
          </a:p>
        </p:txBody>
      </p:sp>
      <p:sp>
        <p:nvSpPr>
          <p:cNvPr id="10" name="Shape 8"/>
          <p:cNvSpPr/>
          <p:nvPr/>
        </p:nvSpPr>
        <p:spPr>
          <a:xfrm>
            <a:off x="457200" y="1097280"/>
            <a:ext cx="5532120" cy="1554480"/>
          </a:xfrm>
          <a:prstGeom prst="rect">
            <a:avLst/>
          </a:prstGeom>
          <a:solidFill>
            <a:srgbClr val="1B2440"/>
          </a:solidFill>
          <a:ln/>
        </p:spPr>
      </p:sp>
      <p:sp>
        <p:nvSpPr>
          <p:cNvPr id="11" name="Text 9"/>
          <p:cNvSpPr txBox="1"/>
          <p:nvPr/>
        </p:nvSpPr>
        <p:spPr>
          <a:xfrm>
            <a:off x="594360" y="1161288"/>
            <a:ext cx="5257800" cy="237744"/>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node_table.cpp  today: the bring-up rule</a:t>
            </a:r>
            <a:endParaRPr lang="en-US" sz="1000" dirty="0"/>
          </a:p>
        </p:txBody>
      </p:sp>
      <p:sp>
        <p:nvSpPr>
          <p:cNvPr id="12" name="Text 10"/>
          <p:cNvSpPr txBox="1"/>
          <p:nvPr/>
        </p:nvSpPr>
        <p:spPr>
          <a:xfrm>
            <a:off x="594360" y="1417320"/>
            <a:ext cx="5257800" cy="114300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 first non-self node heard becomes the partner</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if (s_partner_num == 0) {</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s_partner_num = from_num;</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Serial.printf("[node] partner: 0x%08lx", from_num);</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a:t>
            </a:r>
            <a:endParaRPr lang="en-US" sz="1000" dirty="0"/>
          </a:p>
        </p:txBody>
      </p:sp>
      <p:sp>
        <p:nvSpPr>
          <p:cNvPr id="13" name="Shape 11"/>
          <p:cNvSpPr/>
          <p:nvPr/>
        </p:nvSpPr>
        <p:spPr>
          <a:xfrm>
            <a:off x="6355080" y="1097280"/>
            <a:ext cx="5394960" cy="1554480"/>
          </a:xfrm>
          <a:prstGeom prst="rect">
            <a:avLst/>
          </a:prstGeom>
          <a:solidFill>
            <a:srgbClr val="1B2440"/>
          </a:solidFill>
          <a:ln/>
        </p:spPr>
      </p:sp>
      <p:sp>
        <p:nvSpPr>
          <p:cNvPr id="14" name="Text 12"/>
          <p:cNvSpPr txBox="1"/>
          <p:nvPr/>
        </p:nvSpPr>
        <p:spPr>
          <a:xfrm>
            <a:off x="6492240" y="1161288"/>
            <a:ext cx="5120640" cy="237744"/>
          </a:xfrm>
          <a:prstGeom prst="rect">
            <a:avLst/>
          </a:prstGeom>
          <a:noFill/>
          <a:ln/>
        </p:spPr>
        <p:txBody>
          <a:bodyPr wrap="square" lIns="0" tIns="0" rIns="0" bIns="0" rtlCol="0" anchor="ctr"/>
          <a:lstStyle/>
          <a:p>
            <a:pPr indent="0" marL="0">
              <a:buNone/>
            </a:pPr>
            <a:r>
              <a:rPr lang="en-US" sz="1000" b="1" dirty="0">
                <a:solidFill>
                  <a:srgbClr val="1199BD"/>
                </a:solidFill>
                <a:latin typeface="Courier New" pitchFamily="34" charset="0"/>
                <a:ea typeface="Courier New" pitchFamily="34" charset="-122"/>
                <a:cs typeface="Courier New" pitchFamily="34" charset="-120"/>
              </a:rPr>
              <a:t>design: partner as configuration</a:t>
            </a:r>
            <a:endParaRPr lang="en-US" sz="1000" dirty="0"/>
          </a:p>
        </p:txBody>
      </p:sp>
      <p:sp>
        <p:nvSpPr>
          <p:cNvPr id="15" name="Text 13"/>
          <p:cNvSpPr txBox="1"/>
          <p:nvPr/>
        </p:nvSpPr>
        <p:spPr>
          <a:xfrm>
            <a:off x="6492240" y="1417320"/>
            <a:ext cx="5120640" cy="114300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 NVS-persisted choice, selectable from the UI</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prefs.putUInt("partner", chosen_node);</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node_table accepts only the chosen node;</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KEY-hold cycles candidates when several heard</a:t>
            </a:r>
            <a:endParaRPr lang="en-US" sz="1000" dirty="0"/>
          </a:p>
        </p:txBody>
      </p:sp>
      <p:sp>
        <p:nvSpPr>
          <p:cNvPr id="16" name="Shape 14"/>
          <p:cNvSpPr/>
          <p:nvPr/>
        </p:nvSpPr>
        <p:spPr>
          <a:xfrm>
            <a:off x="5989320" y="1874520"/>
            <a:ext cx="320040" cy="0"/>
          </a:xfrm>
          <a:prstGeom prst="line">
            <a:avLst/>
          </a:prstGeom>
          <a:noFill/>
          <a:ln w="28575">
            <a:solidFill>
              <a:srgbClr val="1199BD"/>
            </a:solidFill>
            <a:prstDash val="solid"/>
            <a:tailEnd type="triangle"/>
          </a:ln>
        </p:spPr>
      </p:sp>
      <p:sp>
        <p:nvSpPr>
          <p:cNvPr id="17" name="Text 15"/>
          <p:cNvSpPr txBox="1"/>
          <p:nvPr/>
        </p:nvSpPr>
        <p:spPr>
          <a:xfrm>
            <a:off x="457200" y="2926080"/>
            <a:ext cx="11292840" cy="164592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The bring-up rule was correct for one radio: with a single voice on the channel, first-heard is unambiguous.</a:t>
            </a:r>
            <a:endParaRPr lang="en-US" sz="1300" dirty="0"/>
          </a:p>
          <a:p>
            <a:pPr marL="342900" indent="-342900">
              <a:spcAft>
                <a:spcPts val="600"/>
              </a:spcAft>
              <a:buSzPct val="100000"/>
              <a:buChar char="▪"/>
            </a:pPr>
            <a:r>
              <a:rPr lang="en-US" sz="1300" dirty="0">
                <a:solidFill>
                  <a:srgbClr val="222A3F"/>
                </a:solidFill>
                <a:latin typeface="Arial" pitchFamily="34" charset="0"/>
                <a:ea typeface="Arial" pitchFamily="34" charset="-122"/>
                <a:cs typeface="Arial" pitchFamily="34" charset="-120"/>
              </a:rPr>
              <a:t>With a mesh it becomes a race. The fix is the same pattern as the radio's own address: the choice lives in NVS flash, survives power cycles, and is set from the display, not the code.</a:t>
            </a:r>
            <a:endParaRPr lang="en-US" sz="1300" dirty="0"/>
          </a:p>
          <a:p>
            <a:pPr marL="342900" indent="-342900">
              <a:buSzPct val="100000"/>
              <a:buChar char="▪"/>
            </a:pPr>
            <a:r>
              <a:rPr lang="en-US" sz="1300" dirty="0">
                <a:solidFill>
                  <a:srgbClr val="222A3F"/>
                </a:solidFill>
                <a:latin typeface="Arial" pitchFamily="34" charset="0"/>
                <a:ea typeface="Arial" pitchFamily="34" charset="-122"/>
                <a:cs typeface="Arial" pitchFamily="34" charset="-120"/>
              </a:rPr>
              <a:t>Same firmware in every vehicle. Pairing is configuration, not code.</a:t>
            </a:r>
            <a:endParaRPr lang="en-US" sz="1300" dirty="0"/>
          </a:p>
        </p:txBody>
      </p:sp>
      <p:sp>
        <p:nvSpPr>
          <p:cNvPr id="18" name="Shape 16"/>
          <p:cNvSpPr/>
          <p:nvPr/>
        </p:nvSpPr>
        <p:spPr>
          <a:xfrm>
            <a:off x="457200" y="4709160"/>
            <a:ext cx="11292840" cy="1371600"/>
          </a:xfrm>
          <a:prstGeom prst="rect">
            <a:avLst/>
          </a:prstGeom>
          <a:solidFill>
            <a:srgbClr val="F2F5FA"/>
          </a:solidFill>
          <a:ln w="9525">
            <a:solidFill>
              <a:srgbClr val="9AA7BE"/>
            </a:solidFill>
            <a:prstDash val="solid"/>
          </a:ln>
        </p:spPr>
      </p:sp>
      <p:sp>
        <p:nvSpPr>
          <p:cNvPr id="19" name="Text 17"/>
          <p:cNvSpPr txBox="1"/>
          <p:nvPr/>
        </p:nvSpPr>
        <p:spPr>
          <a:xfrm>
            <a:off x="731520" y="4846320"/>
            <a:ext cx="10744200" cy="1143000"/>
          </a:xfrm>
          <a:prstGeom prst="rect">
            <a:avLst/>
          </a:prstGeom>
          <a:noFill/>
          <a:ln/>
        </p:spPr>
        <p:txBody>
          <a:bodyPr wrap="square" lIns="0" tIns="0" rIns="0" bIns="0" rtlCol="0" anchor="ctr"/>
          <a:lstStyle/>
          <a:p>
            <a:pPr indent="0" marL="0">
              <a:spcAft>
                <a:spcPts val="500"/>
              </a:spcAft>
              <a:buNone/>
            </a:pPr>
            <a:r>
              <a:rPr lang="en-US" sz="1100" b="1" dirty="0">
                <a:solidFill>
                  <a:srgbClr val="16213D"/>
                </a:solidFill>
                <a:latin typeface="Courier New" pitchFamily="34" charset="0"/>
                <a:ea typeface="Courier New" pitchFamily="34" charset="-122"/>
                <a:cs typeface="Courier New" pitchFamily="34" charset="-120"/>
              </a:rPr>
              <a:t>WHY THIS ORDER OF WORK</a:t>
            </a:r>
            <a:endParaRPr lang="en-US" sz="1250" dirty="0"/>
          </a:p>
          <a:p>
            <a:pPr indent="0" marL="0">
              <a:buNone/>
            </a:pPr>
            <a:r>
              <a:rPr lang="en-US" sz="1250" dirty="0">
                <a:solidFill>
                  <a:srgbClr val="222A3F"/>
                </a:solidFill>
                <a:latin typeface="Arial" pitchFamily="34" charset="0"/>
                <a:ea typeface="Arial" pitchFamily="34" charset="-122"/>
                <a:cs typeface="Arial" pitchFamily="34" charset="-120"/>
              </a:rPr>
              <a:t>Selection ships before the two-radio bench test on purpose: the first time two real nodes speak, the display must already know how to choose between them. Designing the chooser after the ambiguity exists would mean debugging both at once.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RADIO TWO PROCEDURE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05/11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RADIO TWO: A FIFTEEN-MINUTE PROCEDURE</a:t>
            </a:r>
            <a:endParaRPr lang="en-US" sz="2300" dirty="0"/>
          </a:p>
        </p:txBody>
      </p:sp>
      <p:sp>
        <p:nvSpPr>
          <p:cNvPr id="10" name="Shape 8"/>
          <p:cNvSpPr/>
          <p:nvPr/>
        </p:nvSpPr>
        <p:spPr>
          <a:xfrm>
            <a:off x="457200" y="1097280"/>
            <a:ext cx="7315200" cy="2286000"/>
          </a:xfrm>
          <a:prstGeom prst="rect">
            <a:avLst/>
          </a:prstGeom>
          <a:solidFill>
            <a:srgbClr val="1B2440"/>
          </a:solidFill>
          <a:ln/>
        </p:spPr>
      </p:sp>
      <p:sp>
        <p:nvSpPr>
          <p:cNvPr id="11" name="Text 9"/>
          <p:cNvSpPr txBox="1"/>
          <p:nvPr/>
        </p:nvSpPr>
        <p:spPr>
          <a:xfrm>
            <a:off x="594360" y="1161288"/>
            <a:ext cx="7040880" cy="237744"/>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hardware/README.md  the recipe, one command per line</a:t>
            </a:r>
            <a:endParaRPr lang="en-US" sz="1000" dirty="0"/>
          </a:p>
        </p:txBody>
      </p:sp>
      <p:sp>
        <p:nvSpPr>
          <p:cNvPr id="12" name="Text 10"/>
          <p:cNvSpPr txBox="1"/>
          <p:nvPr/>
        </p:nvSpPr>
        <p:spPr>
          <a:xfrm>
            <a:off x="594360" y="1417320"/>
            <a:ext cx="7040880" cy="1874520"/>
          </a:xfrm>
          <a:prstGeom prst="rect">
            <a:avLst/>
          </a:prstGeom>
          <a:noFill/>
          <a:ln/>
        </p:spPr>
        <p:txBody>
          <a:bodyPr wrap="square" lIns="0" tIns="0" rIns="0" bIns="0" rtlCol="0" anchor="t"/>
          <a:lstStyle/>
          <a:p>
            <a:pPr indent="0" marL="0">
              <a:buNone/>
            </a:pPr>
            <a:r>
              <a:rPr lang="en-US" sz="1000" dirty="0">
                <a:solidFill>
                  <a:srgbClr val="C9D8F0"/>
                </a:solidFill>
                <a:latin typeface="Courier New" pitchFamily="34" charset="0"/>
                <a:ea typeface="Courier New" pitchFamily="34" charset="-122"/>
                <a:cs typeface="Courier New" pitchFamily="34" charset="-120"/>
              </a:rPr>
              <a:t>meshtastic --port COMx --seturl "https://meshtastic.org/e/#Ci4S..."</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   # channel URL: carries the AES key AND the frequency agreement</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meshtastic --port COMx --set position.position_broadcast_secs 60</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meshtastic --port COMx --set position.broadcast_smart_minimum_interval_secs 10</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meshtastic --port COMx --set position.broadcast_smart_minimum_distance 20</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meshtastic --port COMx --set position.gps_update_interval 10</a:t>
            </a:r>
            <a:endParaRPr lang="en-US" sz="1000" dirty="0"/>
          </a:p>
          <a:p>
            <a:pPr indent="0" marL="0">
              <a:buNone/>
            </a:pPr>
            <a:r>
              <a:rPr lang="en-US" sz="1000" dirty="0">
                <a:solidFill>
                  <a:srgbClr val="C9D8F0"/>
                </a:solidFill>
                <a:latin typeface="Courier New" pitchFamily="34" charset="0"/>
                <a:ea typeface="Courier New" pitchFamily="34" charset="-122"/>
                <a:cs typeface="Courier New" pitchFamily="34" charset="-120"/>
              </a:rPr>
              <a:t>meshtastic --port COMx --get lora.region     # VERIFY every write</a:t>
            </a:r>
            <a:endParaRPr lang="en-US" sz="1000" dirty="0"/>
          </a:p>
        </p:txBody>
      </p:sp>
      <p:sp>
        <p:nvSpPr>
          <p:cNvPr id="13" name="Shape 11"/>
          <p:cNvSpPr/>
          <p:nvPr/>
        </p:nvSpPr>
        <p:spPr>
          <a:xfrm>
            <a:off x="8092440" y="1097280"/>
            <a:ext cx="3657600" cy="2286000"/>
          </a:xfrm>
          <a:prstGeom prst="rect">
            <a:avLst/>
          </a:prstGeom>
          <a:solidFill>
            <a:srgbClr val="FDF3E3"/>
          </a:solidFill>
          <a:ln w="15875">
            <a:solidFill>
              <a:srgbClr val="E58E1A"/>
            </a:solidFill>
            <a:prstDash val="solid"/>
          </a:ln>
        </p:spPr>
      </p:sp>
      <p:sp>
        <p:nvSpPr>
          <p:cNvPr id="14" name="Text 12"/>
          <p:cNvSpPr txBox="1"/>
          <p:nvPr/>
        </p:nvSpPr>
        <p:spPr>
          <a:xfrm>
            <a:off x="8229600" y="1234440"/>
            <a:ext cx="3383280" cy="2057400"/>
          </a:xfrm>
          <a:prstGeom prst="rect">
            <a:avLst/>
          </a:prstGeom>
          <a:noFill/>
          <a:ln/>
        </p:spPr>
        <p:txBody>
          <a:bodyPr wrap="square" lIns="0" tIns="0" rIns="0" bIns="0" rtlCol="0" anchor="ctr"/>
          <a:lstStyle/>
          <a:p>
            <a:pPr indent="0" marL="0">
              <a:spcAft>
                <a:spcPts val="500"/>
              </a:spcAft>
              <a:buNone/>
            </a:pPr>
            <a:r>
              <a:rPr lang="en-US" sz="1100" b="1" dirty="0">
                <a:solidFill>
                  <a:srgbClr val="B06207"/>
                </a:solidFill>
                <a:latin typeface="Courier New" pitchFamily="34" charset="0"/>
                <a:ea typeface="Courier New" pitchFamily="34" charset="-122"/>
                <a:cs typeface="Courier New" pitchFamily="34" charset="-120"/>
              </a:rPr>
              <a:t>TWO DOCUMENTED TRAPS</a:t>
            </a:r>
            <a:endParaRPr lang="en-US" sz="1100" dirty="0"/>
          </a:p>
          <a:p>
            <a:pPr indent="0" marL="0">
              <a:buNone/>
            </a:pPr>
            <a:r>
              <a:rPr lang="en-US" sz="1100" dirty="0">
                <a:solidFill>
                  <a:srgbClr val="222A3F"/>
                </a:solidFill>
                <a:latin typeface="Arial" pitchFamily="34" charset="0"/>
                <a:ea typeface="Arial" pitchFamily="34" charset="-122"/>
                <a:cs typeface="Arial" pitchFamily="34" charset="-120"/>
              </a:rPr>
              <a:t>Reboot-triggering writes can silently revert (the port close resets the chip mid-save): read back every setting. And identical boards demand a named upload port: we have paid for that lesson once.</a:t>
            </a:r>
            <a:endParaRPr lang="en-US" sz="1100" dirty="0"/>
          </a:p>
        </p:txBody>
      </p:sp>
      <p:sp>
        <p:nvSpPr>
          <p:cNvPr id="15" name="Text 13"/>
          <p:cNvSpPr txBox="1"/>
          <p:nvPr/>
        </p:nvSpPr>
        <p:spPr>
          <a:xfrm>
            <a:off x="457200" y="3657600"/>
            <a:ext cx="7315200" cy="292608"/>
          </a:xfrm>
          <a:prstGeom prst="rect">
            <a:avLst/>
          </a:prstGeom>
          <a:noFill/>
          <a:ln/>
        </p:spPr>
        <p:txBody>
          <a:bodyPr wrap="square" lIns="0" tIns="0" rIns="0" bIns="0" rtlCol="0" anchor="ctr"/>
          <a:lstStyle/>
          <a:p>
            <a:pPr indent="0" marL="0">
              <a:buNone/>
            </a:pPr>
            <a:r>
              <a:rPr lang="en-US" sz="1200" b="1" spc="100" kern="0" dirty="0">
                <a:solidFill>
                  <a:srgbClr val="16213D"/>
                </a:solidFill>
                <a:latin typeface="Arial" pitchFamily="34" charset="0"/>
                <a:ea typeface="Arial" pitchFamily="34" charset="-122"/>
                <a:cs typeface="Arial" pitchFamily="34" charset="-120"/>
              </a:rPr>
              <a:t>ACCEPTANCE CRITERIA, WRITTEN BEFORE THE ATTEMPT</a:t>
            </a:r>
            <a:endParaRPr lang="en-US" sz="1200" dirty="0"/>
          </a:p>
        </p:txBody>
      </p:sp>
      <p:sp>
        <p:nvSpPr>
          <p:cNvPr id="16" name="Shape 14"/>
          <p:cNvSpPr/>
          <p:nvPr/>
        </p:nvSpPr>
        <p:spPr>
          <a:xfrm>
            <a:off x="457200" y="4069080"/>
            <a:ext cx="457200" cy="402336"/>
          </a:xfrm>
          <a:prstGeom prst="rect">
            <a:avLst/>
          </a:prstGeom>
          <a:solidFill>
            <a:srgbClr val="16213D"/>
          </a:solidFill>
          <a:ln/>
        </p:spPr>
      </p:sp>
      <p:sp>
        <p:nvSpPr>
          <p:cNvPr id="17" name="Text 15"/>
          <p:cNvSpPr txBox="1"/>
          <p:nvPr/>
        </p:nvSpPr>
        <p:spPr>
          <a:xfrm>
            <a:off x="457200" y="4096512"/>
            <a:ext cx="457200" cy="347472"/>
          </a:xfrm>
          <a:prstGeom prst="rect">
            <a:avLst/>
          </a:prstGeom>
          <a:noFill/>
          <a:ln/>
        </p:spPr>
        <p:txBody>
          <a:bodyPr wrap="square" lIns="0" tIns="0" rIns="0" bIns="0" rtlCol="0" anchor="ctr"/>
          <a:lstStyle/>
          <a:p>
            <a:pPr algn="ctr" indent="0" marL="0">
              <a:buNone/>
            </a:pPr>
            <a:r>
              <a:rPr lang="en-US" sz="1200" b="1" dirty="0">
                <a:solidFill>
                  <a:srgbClr val="E58E1A"/>
                </a:solidFill>
                <a:latin typeface="Courier New" pitchFamily="34" charset="0"/>
                <a:ea typeface="Courier New" pitchFamily="34" charset="-122"/>
                <a:cs typeface="Courier New" pitchFamily="34" charset="-120"/>
              </a:rPr>
              <a:t>1</a:t>
            </a:r>
            <a:endParaRPr lang="en-US" sz="1200" dirty="0"/>
          </a:p>
        </p:txBody>
      </p:sp>
      <p:sp>
        <p:nvSpPr>
          <p:cNvPr id="18" name="Text 16"/>
          <p:cNvSpPr txBox="1"/>
          <p:nvPr/>
        </p:nvSpPr>
        <p:spPr>
          <a:xfrm>
            <a:off x="1051560" y="4096512"/>
            <a:ext cx="10515600" cy="36576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Radio two's OLED shows the Group9 channel and US region</a:t>
            </a:r>
            <a:endParaRPr lang="en-US" sz="1250" dirty="0"/>
          </a:p>
        </p:txBody>
      </p:sp>
      <p:sp>
        <p:nvSpPr>
          <p:cNvPr id="19" name="Shape 17"/>
          <p:cNvSpPr/>
          <p:nvPr/>
        </p:nvSpPr>
        <p:spPr>
          <a:xfrm>
            <a:off x="457200" y="4581144"/>
            <a:ext cx="457200" cy="402336"/>
          </a:xfrm>
          <a:prstGeom prst="rect">
            <a:avLst/>
          </a:prstGeom>
          <a:solidFill>
            <a:srgbClr val="16213D"/>
          </a:solidFill>
          <a:ln/>
        </p:spPr>
      </p:sp>
      <p:sp>
        <p:nvSpPr>
          <p:cNvPr id="20" name="Text 18"/>
          <p:cNvSpPr txBox="1"/>
          <p:nvPr/>
        </p:nvSpPr>
        <p:spPr>
          <a:xfrm>
            <a:off x="457200" y="4608576"/>
            <a:ext cx="457200" cy="347472"/>
          </a:xfrm>
          <a:prstGeom prst="rect">
            <a:avLst/>
          </a:prstGeom>
          <a:noFill/>
          <a:ln/>
        </p:spPr>
        <p:txBody>
          <a:bodyPr wrap="square" lIns="0" tIns="0" rIns="0" bIns="0" rtlCol="0" anchor="ctr"/>
          <a:lstStyle/>
          <a:p>
            <a:pPr algn="ctr" indent="0" marL="0">
              <a:buNone/>
            </a:pPr>
            <a:r>
              <a:rPr lang="en-US" sz="1200" b="1" dirty="0">
                <a:solidFill>
                  <a:srgbClr val="E58E1A"/>
                </a:solidFill>
                <a:latin typeface="Courier New" pitchFamily="34" charset="0"/>
                <a:ea typeface="Courier New" pitchFamily="34" charset="-122"/>
                <a:cs typeface="Courier New" pitchFamily="34" charset="-120"/>
              </a:rPr>
              <a:t>2</a:t>
            </a:r>
            <a:endParaRPr lang="en-US" sz="1200" dirty="0"/>
          </a:p>
        </p:txBody>
      </p:sp>
      <p:sp>
        <p:nvSpPr>
          <p:cNvPr id="21" name="Text 19"/>
          <p:cNvSpPr txBox="1"/>
          <p:nvPr/>
        </p:nvSpPr>
        <p:spPr>
          <a:xfrm>
            <a:off x="1051560" y="4608576"/>
            <a:ext cx="10515600" cy="36576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Both OLEDs read “1 online”: each radio hears the other</a:t>
            </a:r>
            <a:endParaRPr lang="en-US" sz="1250" dirty="0"/>
          </a:p>
        </p:txBody>
      </p:sp>
      <p:sp>
        <p:nvSpPr>
          <p:cNvPr id="22" name="Shape 20"/>
          <p:cNvSpPr/>
          <p:nvPr/>
        </p:nvSpPr>
        <p:spPr>
          <a:xfrm>
            <a:off x="457200" y="5093208"/>
            <a:ext cx="457200" cy="402336"/>
          </a:xfrm>
          <a:prstGeom prst="rect">
            <a:avLst/>
          </a:prstGeom>
          <a:solidFill>
            <a:srgbClr val="16213D"/>
          </a:solidFill>
          <a:ln/>
        </p:spPr>
      </p:sp>
      <p:sp>
        <p:nvSpPr>
          <p:cNvPr id="23" name="Text 21"/>
          <p:cNvSpPr txBox="1"/>
          <p:nvPr/>
        </p:nvSpPr>
        <p:spPr>
          <a:xfrm>
            <a:off x="457200" y="5120640"/>
            <a:ext cx="457200" cy="347472"/>
          </a:xfrm>
          <a:prstGeom prst="rect">
            <a:avLst/>
          </a:prstGeom>
          <a:noFill/>
          <a:ln/>
        </p:spPr>
        <p:txBody>
          <a:bodyPr wrap="square" lIns="0" tIns="0" rIns="0" bIns="0" rtlCol="0" anchor="ctr"/>
          <a:lstStyle/>
          <a:p>
            <a:pPr algn="ctr" indent="0" marL="0">
              <a:buNone/>
            </a:pPr>
            <a:r>
              <a:rPr lang="en-US" sz="1200" b="1" dirty="0">
                <a:solidFill>
                  <a:srgbClr val="E58E1A"/>
                </a:solidFill>
                <a:latin typeface="Courier New" pitchFamily="34" charset="0"/>
                <a:ea typeface="Courier New" pitchFamily="34" charset="-122"/>
                <a:cs typeface="Courier New" pitchFamily="34" charset="-120"/>
              </a:rPr>
              <a:t>3</a:t>
            </a:r>
            <a:endParaRPr lang="en-US" sz="1200" dirty="0"/>
          </a:p>
        </p:txBody>
      </p:sp>
      <p:sp>
        <p:nvSpPr>
          <p:cNvPr id="24" name="Text 22"/>
          <p:cNvSpPr txBox="1"/>
          <p:nvPr/>
        </p:nvSpPr>
        <p:spPr>
          <a:xfrm>
            <a:off x="1051560" y="5120640"/>
            <a:ext cx="10515600" cy="36576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The display's PTR row fills with radio two's live position</a:t>
            </a:r>
            <a:endParaRPr lang="en-US" sz="1250" dirty="0"/>
          </a:p>
        </p:txBody>
      </p:sp>
      <p:sp>
        <p:nvSpPr>
          <p:cNvPr id="25" name="Shape 23"/>
          <p:cNvSpPr/>
          <p:nvPr/>
        </p:nvSpPr>
        <p:spPr>
          <a:xfrm>
            <a:off x="457200" y="5605272"/>
            <a:ext cx="457200" cy="402336"/>
          </a:xfrm>
          <a:prstGeom prst="rect">
            <a:avLst/>
          </a:prstGeom>
          <a:solidFill>
            <a:srgbClr val="16213D"/>
          </a:solidFill>
          <a:ln/>
        </p:spPr>
      </p:sp>
      <p:sp>
        <p:nvSpPr>
          <p:cNvPr id="26" name="Text 24"/>
          <p:cNvSpPr txBox="1"/>
          <p:nvPr/>
        </p:nvSpPr>
        <p:spPr>
          <a:xfrm>
            <a:off x="457200" y="5632704"/>
            <a:ext cx="457200" cy="347472"/>
          </a:xfrm>
          <a:prstGeom prst="rect">
            <a:avLst/>
          </a:prstGeom>
          <a:noFill/>
          <a:ln/>
        </p:spPr>
        <p:txBody>
          <a:bodyPr wrap="square" lIns="0" tIns="0" rIns="0" bIns="0" rtlCol="0" anchor="ctr"/>
          <a:lstStyle/>
          <a:p>
            <a:pPr algn="ctr" indent="0" marL="0">
              <a:buNone/>
            </a:pPr>
            <a:r>
              <a:rPr lang="en-US" sz="1200" b="1" dirty="0">
                <a:solidFill>
                  <a:srgbClr val="E58E1A"/>
                </a:solidFill>
                <a:latin typeface="Courier New" pitchFamily="34" charset="0"/>
                <a:ea typeface="Courier New" pitchFamily="34" charset="-122"/>
                <a:cs typeface="Courier New" pitchFamily="34" charset="-120"/>
              </a:rPr>
              <a:t>4</a:t>
            </a:r>
            <a:endParaRPr lang="en-US" sz="1200" dirty="0"/>
          </a:p>
        </p:txBody>
      </p:sp>
      <p:sp>
        <p:nvSpPr>
          <p:cNvPr id="27" name="Text 25"/>
          <p:cNvSpPr txBox="1"/>
          <p:nvPr/>
        </p:nvSpPr>
        <p:spPr>
          <a:xfrm>
            <a:off x="1051560" y="5632704"/>
            <a:ext cx="10515600" cy="36576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ChUtil stays in single digits with both radios broadcasting</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PREDICTED LINK CURVE</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06/11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E58E1A"/>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E58E1A"/>
                </a:solidFill>
                <a:latin typeface="Courier New" pitchFamily="34" charset="0"/>
                <a:ea typeface="Courier New" pitchFamily="34" charset="-122"/>
                <a:cs typeface="Courier New" pitchFamily="34" charset="-120"/>
              </a:rPr>
              <a:t>OWNER: VICTOR</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THE PREDICTION THE RANGE TEST WILL JUDGE</a:t>
            </a:r>
            <a:endParaRPr lang="en-US" sz="2300" dirty="0"/>
          </a:p>
        </p:txBody>
      </p:sp>
      <p:pic>
        <p:nvPicPr>
          <p:cNvPr id="10" name="Image 0" descr="C:/Users/deogr/AppData/Local/Temp/claude/C--Users-deogr-Documents-Fall-Project-Off-Grid-Vehicle-dection-project/e8b2e8fa-1513-4aa8-a8f6-ce4fcd20e664/scratchpad/deck3/g_linkbudget.png">    </p:cNvPr>
          <p:cNvPicPr>
            <a:picLocks noChangeAspect="1"/>
          </p:cNvPicPr>
          <p:nvPr/>
        </p:nvPicPr>
        <p:blipFill>
          <a:blip r:embed="rId1"/>
          <a:stretch>
            <a:fillRect/>
          </a:stretch>
        </p:blipFill>
        <p:spPr>
          <a:xfrm>
            <a:off x="457200" y="1051560"/>
            <a:ext cx="6035040" cy="3959352"/>
          </a:xfrm>
          <a:prstGeom prst="rect">
            <a:avLst/>
          </a:prstGeom>
        </p:spPr>
      </p:pic>
      <p:sp>
        <p:nvSpPr>
          <p:cNvPr id="11" name="Shape 8"/>
          <p:cNvSpPr/>
          <p:nvPr/>
        </p:nvSpPr>
        <p:spPr>
          <a:xfrm>
            <a:off x="457200" y="1051560"/>
            <a:ext cx="6035040" cy="3959352"/>
          </a:xfrm>
          <a:prstGeom prst="rect">
            <a:avLst/>
          </a:prstGeom>
          <a:ln w="12700">
            <a:solidFill>
              <a:srgbClr val="9AA7BE"/>
            </a:solidFill>
            <a:prstDash val="solid"/>
          </a:ln>
        </p:spPr>
      </p:sp>
      <p:sp>
        <p:nvSpPr>
          <p:cNvPr id="12" name="Text 9"/>
          <p:cNvSpPr txBox="1"/>
          <p:nvPr/>
        </p:nvSpPr>
        <p:spPr>
          <a:xfrm>
            <a:off x="6720840" y="1188720"/>
            <a:ext cx="4983480" cy="31089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Transmit +22 dBm, 3 dBi at each end, free-space loss at 915 MHz: the solid curve. Terrain and clutter cost more: the dashed band.</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The orange line is the wall: -131 dBm, the SF11 sensitivity from the datasheet. Where the band crosses the wall is the range prediction.</a:t>
            </a:r>
            <a:endParaRPr lang="en-US" sz="1250" dirty="0"/>
          </a:p>
          <a:p>
            <a:pPr marL="342900" indent="-342900">
              <a:buSzPct val="100000"/>
              <a:buChar char="▪"/>
            </a:pPr>
            <a:r>
              <a:rPr lang="en-US" sz="1250" dirty="0">
                <a:solidFill>
                  <a:srgbClr val="222A3F"/>
                </a:solidFill>
                <a:latin typeface="Arial" pitchFamily="34" charset="0"/>
                <a:ea typeface="Arial" pitchFamily="34" charset="-122"/>
                <a:cs typeface="Arial" pitchFamily="34" charset="-120"/>
              </a:rPr>
              <a:t>Free space says tens of kilometers; terrain will decide the real number. The range campaign plots measured RSSI points onto this exact chart.</a:t>
            </a:r>
            <a:endParaRPr lang="en-US" sz="1250" dirty="0"/>
          </a:p>
        </p:txBody>
      </p:sp>
      <p:sp>
        <p:nvSpPr>
          <p:cNvPr id="13" name="Shape 10"/>
          <p:cNvSpPr/>
          <p:nvPr/>
        </p:nvSpPr>
        <p:spPr>
          <a:xfrm>
            <a:off x="6720840" y="4434840"/>
            <a:ext cx="4983480" cy="1554480"/>
          </a:xfrm>
          <a:prstGeom prst="rect">
            <a:avLst/>
          </a:prstGeom>
          <a:solidFill>
            <a:srgbClr val="16213D"/>
          </a:solidFill>
          <a:ln/>
        </p:spPr>
      </p:sp>
      <p:sp>
        <p:nvSpPr>
          <p:cNvPr id="14" name="Text 11"/>
          <p:cNvSpPr txBox="1"/>
          <p:nvPr/>
        </p:nvSpPr>
        <p:spPr>
          <a:xfrm>
            <a:off x="6903720" y="4572000"/>
            <a:ext cx="4617720" cy="1325880"/>
          </a:xfrm>
          <a:prstGeom prst="rect">
            <a:avLst/>
          </a:prstGeom>
          <a:noFill/>
          <a:ln/>
        </p:spPr>
        <p:txBody>
          <a:bodyPr wrap="square" lIns="0" tIns="0" rIns="0" bIns="0" rtlCol="0" anchor="ctr"/>
          <a:lstStyle/>
          <a:p>
            <a:pPr indent="0" marL="0">
              <a:spcAft>
                <a:spcPts val="500"/>
              </a:spcAft>
              <a:buNone/>
            </a:pPr>
            <a:r>
              <a:rPr lang="en-US" sz="1100" b="1" dirty="0">
                <a:solidFill>
                  <a:srgbClr val="E58E1A"/>
                </a:solidFill>
                <a:latin typeface="Courier New" pitchFamily="34" charset="0"/>
                <a:ea typeface="Courier New" pitchFamily="34" charset="-122"/>
                <a:cs typeface="Courier New" pitchFamily="34" charset="-120"/>
              </a:rPr>
              <a:t>WHY PUBLISH THE CURVE FIRST</a:t>
            </a:r>
            <a:endParaRPr lang="en-US" sz="1200" dirty="0"/>
          </a:p>
          <a:p>
            <a:pPr indent="0" marL="0">
              <a:buNone/>
            </a:pPr>
            <a:r>
              <a:rPr lang="en-US" sz="1200" dirty="0">
                <a:solidFill>
                  <a:srgbClr val="FFFFFF"/>
                </a:solidFill>
                <a:latin typeface="Arial" pitchFamily="34" charset="0"/>
                <a:ea typeface="Arial" pitchFamily="34" charset="-122"/>
                <a:cs typeface="Arial" pitchFamily="34" charset="-120"/>
              </a:rPr>
              <a:t>A measurement without a prior prediction is a demo. A measurement against a published curve is an experiment. Next review overlays the field points on this figure, wherever they land.</a:t>
            </a:r>
            <a:endParaRPr lang="en-US" sz="1200" dirty="0"/>
          </a:p>
        </p:txBody>
      </p:sp>
      <p:sp>
        <p:nvSpPr>
          <p:cNvPr id="15" name="Text 12"/>
          <p:cNvSpPr txBox="1"/>
          <p:nvPr/>
        </p:nvSpPr>
        <p:spPr>
          <a:xfrm>
            <a:off x="457200" y="5138928"/>
            <a:ext cx="6035040" cy="457200"/>
          </a:xfrm>
          <a:prstGeom prst="rect">
            <a:avLst/>
          </a:prstGeom>
          <a:noFill/>
          <a:ln/>
        </p:spPr>
        <p:txBody>
          <a:bodyPr wrap="square" lIns="0" tIns="0" rIns="0" bIns="0" rtlCol="0" anchor="ctr"/>
          <a:lstStyle/>
          <a:p>
            <a:pPr indent="0" marL="0">
              <a:buNone/>
            </a:pPr>
            <a:r>
              <a:rPr lang="en-US" sz="850" dirty="0">
                <a:solidFill>
                  <a:srgbClr val="5E6B85"/>
                </a:solidFill>
                <a:latin typeface="Courier New" pitchFamily="34" charset="0"/>
                <a:ea typeface="Courier New" pitchFamily="34" charset="-122"/>
                <a:cs typeface="Courier New" pitchFamily="34" charset="-120"/>
              </a:rPr>
              <a:t>MODEL: FSPL = 32.45 + 20log(f) + 20log(d) · RSSI = 22 + 3 + 3 - FSPL - terrain   [DS Table 6-1 · AN1200.22 · TELECOM_ANALYSIS.md]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FRONTEND, PARTNER-READY</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07/11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6D4BDB"/>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6D4BDB"/>
                </a:solidFill>
                <a:latin typeface="Courier New" pitchFamily="34" charset="0"/>
                <a:ea typeface="Courier New" pitchFamily="34" charset="-122"/>
                <a:cs typeface="Courier New" pitchFamily="34" charset="-120"/>
              </a:rPr>
              <a:t>OWNER: JOSIAH</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THE SCREEN IS ALREADY PARTNER-SHAPED</a:t>
            </a:r>
            <a:endParaRPr lang="en-US" sz="2300" dirty="0"/>
          </a:p>
        </p:txBody>
      </p:sp>
      <p:pic>
        <p:nvPicPr>
          <p:cNvPr id="10" name="Image 0" descr="C:/Users/deogr/AppData/Local/Temp/claude/C--Users-deogr-Documents-Fall-Project-Off-Grid-Vehicle-dection-project/e8b2e8fa-1513-4aa8-a8f6-ce4fcd20e664/scratchpad/deck3/p_search.jpg">    </p:cNvPr>
          <p:cNvPicPr>
            <a:picLocks noChangeAspect="1"/>
          </p:cNvPicPr>
          <p:nvPr/>
        </p:nvPicPr>
        <p:blipFill>
          <a:blip r:embed="rId1"/>
          <a:stretch>
            <a:fillRect/>
          </a:stretch>
        </p:blipFill>
        <p:spPr>
          <a:xfrm>
            <a:off x="457200" y="1143000"/>
            <a:ext cx="2651760" cy="2084832"/>
          </a:xfrm>
          <a:prstGeom prst="rect">
            <a:avLst/>
          </a:prstGeom>
        </p:spPr>
      </p:pic>
      <p:sp>
        <p:nvSpPr>
          <p:cNvPr id="11" name="Shape 8"/>
          <p:cNvSpPr/>
          <p:nvPr/>
        </p:nvSpPr>
        <p:spPr>
          <a:xfrm>
            <a:off x="457200" y="1143000"/>
            <a:ext cx="2651760" cy="2084832"/>
          </a:xfrm>
          <a:prstGeom prst="rect">
            <a:avLst/>
          </a:prstGeom>
          <a:ln w="12700">
            <a:solidFill>
              <a:srgbClr val="9AA7BE"/>
            </a:solidFill>
            <a:prstDash val="solid"/>
          </a:ln>
        </p:spPr>
      </p:sp>
      <p:sp>
        <p:nvSpPr>
          <p:cNvPr id="12" name="Text 9"/>
          <p:cNvSpPr txBox="1"/>
          <p:nvPr/>
        </p:nvSpPr>
        <p:spPr>
          <a:xfrm>
            <a:off x="457200" y="3255264"/>
            <a:ext cx="265176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Today: honest about the gap</a:t>
            </a:r>
            <a:endParaRPr lang="en-US" sz="950" dirty="0"/>
          </a:p>
        </p:txBody>
      </p:sp>
      <p:pic>
        <p:nvPicPr>
          <p:cNvPr id="13" name="Image 1" descr="C:/Users/deogr/AppData/Local/Temp/claude/C--Users-deogr-Documents-Fall-Project-Off-Grid-Vehicle-dection-project/e8b2e8fa-1513-4aa8-a8f6-ce4fcd20e664/scratchpad/deck3/p_compass.jpg">    </p:cNvPr>
          <p:cNvPicPr>
            <a:picLocks noChangeAspect="1"/>
          </p:cNvPicPr>
          <p:nvPr/>
        </p:nvPicPr>
        <p:blipFill>
          <a:blip r:embed="rId2"/>
          <a:stretch>
            <a:fillRect/>
          </a:stretch>
        </p:blipFill>
        <p:spPr>
          <a:xfrm>
            <a:off x="3383280" y="1143000"/>
            <a:ext cx="2651760" cy="2185416"/>
          </a:xfrm>
          <a:prstGeom prst="rect">
            <a:avLst/>
          </a:prstGeom>
        </p:spPr>
      </p:pic>
      <p:sp>
        <p:nvSpPr>
          <p:cNvPr id="14" name="Shape 10"/>
          <p:cNvSpPr/>
          <p:nvPr/>
        </p:nvSpPr>
        <p:spPr>
          <a:xfrm>
            <a:off x="3383280" y="1143000"/>
            <a:ext cx="2651760" cy="2185416"/>
          </a:xfrm>
          <a:prstGeom prst="rect">
            <a:avLst/>
          </a:prstGeom>
          <a:ln w="12700">
            <a:solidFill>
              <a:srgbClr val="9AA7BE"/>
            </a:solidFill>
            <a:prstDash val="solid"/>
          </a:ln>
        </p:spPr>
      </p:sp>
      <p:sp>
        <p:nvSpPr>
          <p:cNvPr id="15" name="Text 11"/>
          <p:cNvSpPr txBox="1"/>
          <p:nvPr/>
        </p:nvSpPr>
        <p:spPr>
          <a:xfrm>
            <a:off x="3383280" y="3355848"/>
            <a:ext cx="2651760" cy="274320"/>
          </a:xfrm>
          <a:prstGeom prst="rect">
            <a:avLst/>
          </a:prstGeom>
          <a:noFill/>
          <a:ln/>
        </p:spPr>
        <p:txBody>
          <a:bodyPr wrap="square" lIns="0" tIns="0" rIns="0" bIns="0" rtlCol="0" anchor="ctr"/>
          <a:lstStyle/>
          <a:p>
            <a:pPr algn="ctr" indent="0" marL="0">
              <a:buNone/>
            </a:pPr>
            <a:r>
              <a:rPr lang="en-US" sz="950" dirty="0">
                <a:solidFill>
                  <a:srgbClr val="5E6B85"/>
                </a:solidFill>
                <a:latin typeface="Courier New" pitchFamily="34" charset="0"/>
                <a:ea typeface="Courier New" pitchFamily="34" charset="-122"/>
                <a:cs typeface="Courier New" pitchFamily="34" charset="-120"/>
              </a:rPr>
              <a:t>Sim preview: what fills in</a:t>
            </a:r>
            <a:endParaRPr lang="en-US" sz="950" dirty="0"/>
          </a:p>
        </p:txBody>
      </p:sp>
      <p:sp>
        <p:nvSpPr>
          <p:cNvPr id="16" name="Text 12"/>
          <p:cNvSpPr txBox="1"/>
          <p:nvPr/>
        </p:nvSpPr>
        <p:spPr>
          <a:xfrm>
            <a:off x="6400800" y="1188720"/>
            <a:ext cx="5303520" cy="283464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Every partner element exists and runs today, exercised for weeks by the simulator and by our own radio's packets: the arrow, the distance, the ages, the banners.</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When radio two speaks, node_table stores a second fix and the same rendering draws it. The planned frontend change for that day is zero lines.</a:t>
            </a:r>
            <a:endParaRPr lang="en-US" sz="1250" dirty="0"/>
          </a:p>
          <a:p>
            <a:pPr marL="342900" indent="-342900">
              <a:buSzPct val="100000"/>
              <a:buChar char="▪"/>
            </a:pPr>
            <a:r>
              <a:rPr lang="en-US" sz="1250" dirty="0">
                <a:solidFill>
                  <a:srgbClr val="222A3F"/>
                </a:solidFill>
                <a:latin typeface="Arial" pitchFamily="34" charset="0"/>
                <a:ea typeface="Arial" pitchFamily="34" charset="-122"/>
                <a:cs typeface="Arial" pitchFamily="34" charset="-120"/>
              </a:rPr>
              <a:t>Queued this week instead: partner-selection screen (choose among heard nodes) and night readability with the edge light.</a:t>
            </a:r>
            <a:endParaRPr lang="en-US" sz="1250" dirty="0"/>
          </a:p>
        </p:txBody>
      </p:sp>
      <p:sp>
        <p:nvSpPr>
          <p:cNvPr id="17" name="Shape 13"/>
          <p:cNvSpPr/>
          <p:nvPr/>
        </p:nvSpPr>
        <p:spPr>
          <a:xfrm>
            <a:off x="457200" y="4206240"/>
            <a:ext cx="11292840" cy="868680"/>
          </a:xfrm>
          <a:prstGeom prst="rect">
            <a:avLst/>
          </a:prstGeom>
          <a:solidFill>
            <a:srgbClr val="F2F5FA"/>
          </a:solidFill>
          <a:ln w="9525">
            <a:solidFill>
              <a:srgbClr val="9AA7BE"/>
            </a:solidFill>
            <a:prstDash val="solid"/>
          </a:ln>
        </p:spPr>
      </p:sp>
      <p:sp>
        <p:nvSpPr>
          <p:cNvPr id="18" name="Text 14"/>
          <p:cNvSpPr txBox="1"/>
          <p:nvPr/>
        </p:nvSpPr>
        <p:spPr>
          <a:xfrm>
            <a:off x="731520" y="4315968"/>
            <a:ext cx="10744200" cy="658368"/>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Definition of ready: the UI needs nothing from radio two's arrival except the data itself. That was the point of building on simulated partners from week one.</a:t>
            </a:r>
            <a:endParaRPr lang="en-US" sz="1250" dirty="0"/>
          </a:p>
        </p:txBody>
      </p:sp>
      <p:sp>
        <p:nvSpPr>
          <p:cNvPr id="19" name="Shape 15"/>
          <p:cNvSpPr/>
          <p:nvPr/>
        </p:nvSpPr>
        <p:spPr>
          <a:xfrm>
            <a:off x="457200" y="5349240"/>
            <a:ext cx="11292840" cy="731520"/>
          </a:xfrm>
          <a:prstGeom prst="rect">
            <a:avLst/>
          </a:prstGeom>
          <a:solidFill>
            <a:srgbClr val="16213D"/>
          </a:solidFill>
          <a:ln/>
        </p:spPr>
      </p:sp>
      <p:sp>
        <p:nvSpPr>
          <p:cNvPr id="20" name="Text 16"/>
          <p:cNvSpPr txBox="1"/>
          <p:nvPr/>
        </p:nvSpPr>
        <p:spPr>
          <a:xfrm>
            <a:off x="731520" y="5440680"/>
            <a:ext cx="10744200"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The compass photo above is the simulator driving the real display: the partner pipeline, rehearsed nightly for three weeks.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DRIVE-TEST PROTOCOL</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08/11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D9488C"/>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D9488C"/>
                </a:solidFill>
                <a:latin typeface="Courier New" pitchFamily="34" charset="0"/>
                <a:ea typeface="Courier New" pitchFamily="34" charset="-122"/>
                <a:cs typeface="Courier New" pitchFamily="34" charset="-120"/>
              </a:rPr>
              <a:t>OWNER: CANNON</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DRIVE-TEST PROTOCOL, VERSION ONE</a:t>
            </a:r>
            <a:endParaRPr lang="en-US" sz="2300" dirty="0"/>
          </a:p>
        </p:txBody>
      </p:sp>
      <p:sp>
        <p:nvSpPr>
          <p:cNvPr id="10" name="Shape 8"/>
          <p:cNvSpPr/>
          <p:nvPr/>
        </p:nvSpPr>
        <p:spPr>
          <a:xfrm>
            <a:off x="457200" y="1143000"/>
            <a:ext cx="7863840" cy="804672"/>
          </a:xfrm>
          <a:prstGeom prst="rect">
            <a:avLst/>
          </a:prstGeom>
          <a:solidFill>
            <a:srgbClr val="F2F5FA"/>
          </a:solidFill>
          <a:ln w="15875">
            <a:solidFill>
              <a:srgbClr val="D9488C"/>
            </a:solidFill>
            <a:prstDash val="solid"/>
          </a:ln>
        </p:spPr>
      </p:sp>
      <p:sp>
        <p:nvSpPr>
          <p:cNvPr id="11" name="Text 9"/>
          <p:cNvSpPr txBox="1"/>
          <p:nvPr/>
        </p:nvSpPr>
        <p:spPr>
          <a:xfrm>
            <a:off x="621792" y="1197864"/>
            <a:ext cx="1920240" cy="274320"/>
          </a:xfrm>
          <a:prstGeom prst="rect">
            <a:avLst/>
          </a:prstGeom>
          <a:noFill/>
          <a:ln/>
        </p:spPr>
        <p:txBody>
          <a:bodyPr wrap="square" lIns="0" tIns="0" rIns="0" bIns="0" rtlCol="0" anchor="ctr"/>
          <a:lstStyle/>
          <a:p>
            <a:pPr indent="0" marL="0">
              <a:buNone/>
            </a:pPr>
            <a:r>
              <a:rPr lang="en-US" sz="1100" b="1" dirty="0">
                <a:solidFill>
                  <a:srgbClr val="D9488C"/>
                </a:solidFill>
                <a:latin typeface="Courier New" pitchFamily="34" charset="0"/>
                <a:ea typeface="Courier New" pitchFamily="34" charset="-122"/>
                <a:cs typeface="Courier New" pitchFamily="34" charset="-120"/>
              </a:rPr>
              <a:t>P0  BENCH</a:t>
            </a:r>
            <a:endParaRPr lang="en-US" sz="1100" dirty="0"/>
          </a:p>
        </p:txBody>
      </p:sp>
      <p:sp>
        <p:nvSpPr>
          <p:cNvPr id="12" name="Text 10"/>
          <p:cNvSpPr txBox="1"/>
          <p:nvPr/>
        </p:nvSpPr>
        <p:spPr>
          <a:xfrm>
            <a:off x="621792" y="1472184"/>
            <a:ext cx="7543800" cy="457200"/>
          </a:xfrm>
          <a:prstGeom prst="rect">
            <a:avLst/>
          </a:prstGeom>
          <a:noFill/>
          <a:ln/>
        </p:spPr>
        <p:txBody>
          <a:bodyPr wrap="square" lIns="0" tIns="0" rIns="0" bIns="0" rtlCol="0" anchor="ctr"/>
          <a:lstStyle/>
          <a:p>
            <a:pPr indent="0" marL="0">
              <a:buNone/>
            </a:pPr>
            <a:r>
              <a:rPr lang="en-US" sz="1100" dirty="0">
                <a:solidFill>
                  <a:srgbClr val="222A3F"/>
                </a:solidFill>
                <a:latin typeface="Arial" pitchFamily="34" charset="0"/>
                <a:ea typeface="Arial" pitchFamily="34" charset="-122"/>
                <a:cs typeface="Arial" pitchFamily="34" charset="-120"/>
              </a:rPr>
              <a:t>both radios on one desk: acceptance criteria 1 to 4 from sheet 04, thirty minutes of soak, zero drops expected</a:t>
            </a:r>
            <a:endParaRPr lang="en-US" sz="1100" dirty="0"/>
          </a:p>
        </p:txBody>
      </p:sp>
      <p:sp>
        <p:nvSpPr>
          <p:cNvPr id="13" name="Shape 11"/>
          <p:cNvSpPr/>
          <p:nvPr/>
        </p:nvSpPr>
        <p:spPr>
          <a:xfrm>
            <a:off x="914400" y="1947672"/>
            <a:ext cx="0" cy="128016"/>
          </a:xfrm>
          <a:prstGeom prst="line">
            <a:avLst/>
          </a:prstGeom>
          <a:noFill/>
          <a:ln w="28575">
            <a:solidFill>
              <a:srgbClr val="D9488C"/>
            </a:solidFill>
            <a:prstDash val="solid"/>
            <a:tailEnd type="triangle"/>
          </a:ln>
        </p:spPr>
      </p:sp>
      <p:sp>
        <p:nvSpPr>
          <p:cNvPr id="14" name="Shape 12"/>
          <p:cNvSpPr/>
          <p:nvPr/>
        </p:nvSpPr>
        <p:spPr>
          <a:xfrm>
            <a:off x="457200" y="2075688"/>
            <a:ext cx="7863840" cy="804672"/>
          </a:xfrm>
          <a:prstGeom prst="rect">
            <a:avLst/>
          </a:prstGeom>
          <a:solidFill>
            <a:srgbClr val="F2F5FA"/>
          </a:solidFill>
          <a:ln w="15875">
            <a:solidFill>
              <a:srgbClr val="D9488C"/>
            </a:solidFill>
            <a:prstDash val="solid"/>
          </a:ln>
        </p:spPr>
      </p:sp>
      <p:sp>
        <p:nvSpPr>
          <p:cNvPr id="15" name="Text 13"/>
          <p:cNvSpPr txBox="1"/>
          <p:nvPr/>
        </p:nvSpPr>
        <p:spPr>
          <a:xfrm>
            <a:off x="621792" y="2130552"/>
            <a:ext cx="1920240" cy="274320"/>
          </a:xfrm>
          <a:prstGeom prst="rect">
            <a:avLst/>
          </a:prstGeom>
          <a:noFill/>
          <a:ln/>
        </p:spPr>
        <p:txBody>
          <a:bodyPr wrap="square" lIns="0" tIns="0" rIns="0" bIns="0" rtlCol="0" anchor="ctr"/>
          <a:lstStyle/>
          <a:p>
            <a:pPr indent="0" marL="0">
              <a:buNone/>
            </a:pPr>
            <a:r>
              <a:rPr lang="en-US" sz="1100" b="1" dirty="0">
                <a:solidFill>
                  <a:srgbClr val="D9488C"/>
                </a:solidFill>
                <a:latin typeface="Courier New" pitchFamily="34" charset="0"/>
                <a:ea typeface="Courier New" pitchFamily="34" charset="-122"/>
                <a:cs typeface="Courier New" pitchFamily="34" charset="-120"/>
              </a:rPr>
              <a:t>P1  STATIC RANGE</a:t>
            </a:r>
            <a:endParaRPr lang="en-US" sz="1100" dirty="0"/>
          </a:p>
        </p:txBody>
      </p:sp>
      <p:sp>
        <p:nvSpPr>
          <p:cNvPr id="16" name="Text 14"/>
          <p:cNvSpPr txBox="1"/>
          <p:nvPr/>
        </p:nvSpPr>
        <p:spPr>
          <a:xfrm>
            <a:off x="621792" y="2404872"/>
            <a:ext cx="7543800" cy="457200"/>
          </a:xfrm>
          <a:prstGeom prst="rect">
            <a:avLst/>
          </a:prstGeom>
          <a:noFill/>
          <a:ln/>
        </p:spPr>
        <p:txBody>
          <a:bodyPr wrap="square" lIns="0" tIns="0" rIns="0" bIns="0" rtlCol="0" anchor="ctr"/>
          <a:lstStyle/>
          <a:p>
            <a:pPr indent="0" marL="0">
              <a:buNone/>
            </a:pPr>
            <a:r>
              <a:rPr lang="en-US" sz="1100" dirty="0">
                <a:solidFill>
                  <a:srgbClr val="222A3F"/>
                </a:solidFill>
                <a:latin typeface="Arial" pitchFamily="34" charset="0"/>
                <a:ea typeface="Arial" pitchFamily="34" charset="-122"/>
                <a:cs typeface="Arial" pitchFamily="34" charset="-120"/>
              </a:rPr>
              <a:t>one radio fixed, one carried: log RSSI and SNR at marked distances until packets stop; plot onto sheet 05</a:t>
            </a:r>
            <a:endParaRPr lang="en-US" sz="1100" dirty="0"/>
          </a:p>
        </p:txBody>
      </p:sp>
      <p:sp>
        <p:nvSpPr>
          <p:cNvPr id="17" name="Shape 15"/>
          <p:cNvSpPr/>
          <p:nvPr/>
        </p:nvSpPr>
        <p:spPr>
          <a:xfrm>
            <a:off x="914400" y="2880360"/>
            <a:ext cx="0" cy="128016"/>
          </a:xfrm>
          <a:prstGeom prst="line">
            <a:avLst/>
          </a:prstGeom>
          <a:noFill/>
          <a:ln w="28575">
            <a:solidFill>
              <a:srgbClr val="D9488C"/>
            </a:solidFill>
            <a:prstDash val="solid"/>
            <a:tailEnd type="triangle"/>
          </a:ln>
        </p:spPr>
      </p:sp>
      <p:sp>
        <p:nvSpPr>
          <p:cNvPr id="18" name="Shape 16"/>
          <p:cNvSpPr/>
          <p:nvPr/>
        </p:nvSpPr>
        <p:spPr>
          <a:xfrm>
            <a:off x="457200" y="3008376"/>
            <a:ext cx="7863840" cy="804672"/>
          </a:xfrm>
          <a:prstGeom prst="rect">
            <a:avLst/>
          </a:prstGeom>
          <a:solidFill>
            <a:srgbClr val="F2F5FA"/>
          </a:solidFill>
          <a:ln w="15875">
            <a:solidFill>
              <a:srgbClr val="D9488C"/>
            </a:solidFill>
            <a:prstDash val="solid"/>
          </a:ln>
        </p:spPr>
      </p:sp>
      <p:sp>
        <p:nvSpPr>
          <p:cNvPr id="19" name="Text 17"/>
          <p:cNvSpPr txBox="1"/>
          <p:nvPr/>
        </p:nvSpPr>
        <p:spPr>
          <a:xfrm>
            <a:off x="621792" y="3063240"/>
            <a:ext cx="1920240" cy="274320"/>
          </a:xfrm>
          <a:prstGeom prst="rect">
            <a:avLst/>
          </a:prstGeom>
          <a:noFill/>
          <a:ln/>
        </p:spPr>
        <p:txBody>
          <a:bodyPr wrap="square" lIns="0" tIns="0" rIns="0" bIns="0" rtlCol="0" anchor="ctr"/>
          <a:lstStyle/>
          <a:p>
            <a:pPr indent="0" marL="0">
              <a:buNone/>
            </a:pPr>
            <a:r>
              <a:rPr lang="en-US" sz="1100" b="1" dirty="0">
                <a:solidFill>
                  <a:srgbClr val="D9488C"/>
                </a:solidFill>
                <a:latin typeface="Courier New" pitchFamily="34" charset="0"/>
                <a:ea typeface="Courier New" pitchFamily="34" charset="-122"/>
                <a:cs typeface="Courier New" pitchFamily="34" charset="-120"/>
              </a:rPr>
              <a:t>P2  TWO-VEHICLE DRIVE</a:t>
            </a:r>
            <a:endParaRPr lang="en-US" sz="1100" dirty="0"/>
          </a:p>
        </p:txBody>
      </p:sp>
      <p:sp>
        <p:nvSpPr>
          <p:cNvPr id="20" name="Text 18"/>
          <p:cNvSpPr txBox="1"/>
          <p:nvPr/>
        </p:nvSpPr>
        <p:spPr>
          <a:xfrm>
            <a:off x="621792" y="3337560"/>
            <a:ext cx="7543800" cy="457200"/>
          </a:xfrm>
          <a:prstGeom prst="rect">
            <a:avLst/>
          </a:prstGeom>
          <a:noFill/>
          <a:ln/>
        </p:spPr>
        <p:txBody>
          <a:bodyPr wrap="square" lIns="0" tIns="0" rIns="0" bIns="0" rtlCol="0" anchor="ctr"/>
          <a:lstStyle/>
          <a:p>
            <a:pPr indent="0" marL="0">
              <a:buNone/>
            </a:pPr>
            <a:r>
              <a:rPr lang="en-US" sz="1100" dirty="0">
                <a:solidFill>
                  <a:srgbClr val="222A3F"/>
                </a:solidFill>
                <a:latin typeface="Arial" pitchFamily="34" charset="0"/>
                <a:ea typeface="Arial" pitchFamily="34" charset="-122"/>
                <a:cs typeface="Arial" pitchFamily="34" charset="-120"/>
              </a:rPr>
              <a:t>city loop then open road: PTR row live, ages under 15 s while moving, arrow tracks the real partner</a:t>
            </a:r>
            <a:endParaRPr lang="en-US" sz="1100" dirty="0"/>
          </a:p>
        </p:txBody>
      </p:sp>
      <p:sp>
        <p:nvSpPr>
          <p:cNvPr id="21" name="Shape 19"/>
          <p:cNvSpPr/>
          <p:nvPr/>
        </p:nvSpPr>
        <p:spPr>
          <a:xfrm>
            <a:off x="914400" y="3813048"/>
            <a:ext cx="0" cy="128016"/>
          </a:xfrm>
          <a:prstGeom prst="line">
            <a:avLst/>
          </a:prstGeom>
          <a:noFill/>
          <a:ln w="28575">
            <a:solidFill>
              <a:srgbClr val="D9488C"/>
            </a:solidFill>
            <a:prstDash val="solid"/>
            <a:tailEnd type="triangle"/>
          </a:ln>
        </p:spPr>
      </p:sp>
      <p:sp>
        <p:nvSpPr>
          <p:cNvPr id="22" name="Shape 20"/>
          <p:cNvSpPr/>
          <p:nvPr/>
        </p:nvSpPr>
        <p:spPr>
          <a:xfrm>
            <a:off x="457200" y="3941064"/>
            <a:ext cx="7863840" cy="804672"/>
          </a:xfrm>
          <a:prstGeom prst="rect">
            <a:avLst/>
          </a:prstGeom>
          <a:solidFill>
            <a:srgbClr val="F2F5FA"/>
          </a:solidFill>
          <a:ln w="15875">
            <a:solidFill>
              <a:srgbClr val="D9488C"/>
            </a:solidFill>
            <a:prstDash val="solid"/>
          </a:ln>
        </p:spPr>
      </p:sp>
      <p:sp>
        <p:nvSpPr>
          <p:cNvPr id="23" name="Text 21"/>
          <p:cNvSpPr txBox="1"/>
          <p:nvPr/>
        </p:nvSpPr>
        <p:spPr>
          <a:xfrm>
            <a:off x="621792" y="3995928"/>
            <a:ext cx="1920240" cy="274320"/>
          </a:xfrm>
          <a:prstGeom prst="rect">
            <a:avLst/>
          </a:prstGeom>
          <a:noFill/>
          <a:ln/>
        </p:spPr>
        <p:txBody>
          <a:bodyPr wrap="square" lIns="0" tIns="0" rIns="0" bIns="0" rtlCol="0" anchor="ctr"/>
          <a:lstStyle/>
          <a:p>
            <a:pPr indent="0" marL="0">
              <a:buNone/>
            </a:pPr>
            <a:r>
              <a:rPr lang="en-US" sz="1100" b="1" dirty="0">
                <a:solidFill>
                  <a:srgbClr val="D9488C"/>
                </a:solidFill>
                <a:latin typeface="Courier New" pitchFamily="34" charset="0"/>
                <a:ea typeface="Courier New" pitchFamily="34" charset="-122"/>
                <a:cs typeface="Courier New" pitchFamily="34" charset="-120"/>
              </a:rPr>
              <a:t>P3  EDGE CASES</a:t>
            </a:r>
            <a:endParaRPr lang="en-US" sz="1100" dirty="0"/>
          </a:p>
        </p:txBody>
      </p:sp>
      <p:sp>
        <p:nvSpPr>
          <p:cNvPr id="24" name="Text 22"/>
          <p:cNvSpPr txBox="1"/>
          <p:nvPr/>
        </p:nvSpPr>
        <p:spPr>
          <a:xfrm>
            <a:off x="621792" y="4270248"/>
            <a:ext cx="7543800" cy="457200"/>
          </a:xfrm>
          <a:prstGeom prst="rect">
            <a:avLst/>
          </a:prstGeom>
          <a:noFill/>
          <a:ln/>
        </p:spPr>
        <p:txBody>
          <a:bodyPr wrap="square" lIns="0" tIns="0" rIns="0" bIns="0" rtlCol="0" anchor="ctr"/>
          <a:lstStyle/>
          <a:p>
            <a:pPr indent="0" marL="0">
              <a:buNone/>
            </a:pPr>
            <a:r>
              <a:rPr lang="en-US" sz="1100" dirty="0">
                <a:solidFill>
                  <a:srgbClr val="222A3F"/>
                </a:solidFill>
                <a:latin typeface="Arial" pitchFamily="34" charset="0"/>
                <a:ea typeface="Arial" pitchFamily="34" charset="-122"/>
                <a:cs typeface="Arial" pitchFamily="34" charset="-120"/>
              </a:rPr>
              <a:t>canyon streets, garage exit, one vehicle parked with no sky: ghosts must age honestly, links must self-heal</a:t>
            </a:r>
            <a:endParaRPr lang="en-US" sz="1100" dirty="0"/>
          </a:p>
        </p:txBody>
      </p:sp>
      <p:sp>
        <p:nvSpPr>
          <p:cNvPr id="25" name="Shape 23"/>
          <p:cNvSpPr/>
          <p:nvPr/>
        </p:nvSpPr>
        <p:spPr>
          <a:xfrm>
            <a:off x="8549640" y="1143000"/>
            <a:ext cx="3200400" cy="3657600"/>
          </a:xfrm>
          <a:prstGeom prst="rect">
            <a:avLst/>
          </a:prstGeom>
          <a:solidFill>
            <a:srgbClr val="FFFFFF"/>
          </a:solidFill>
          <a:ln w="15875">
            <a:solidFill>
              <a:srgbClr val="16213D"/>
            </a:solidFill>
            <a:prstDash val="solid"/>
          </a:ln>
        </p:spPr>
      </p:sp>
      <p:sp>
        <p:nvSpPr>
          <p:cNvPr id="26" name="Text 24"/>
          <p:cNvSpPr txBox="1"/>
          <p:nvPr/>
        </p:nvSpPr>
        <p:spPr>
          <a:xfrm>
            <a:off x="8732520" y="1298448"/>
            <a:ext cx="2834640" cy="3383280"/>
          </a:xfrm>
          <a:prstGeom prst="rect">
            <a:avLst/>
          </a:prstGeom>
          <a:noFill/>
          <a:ln/>
        </p:spPr>
        <p:txBody>
          <a:bodyPr wrap="square" lIns="0" tIns="0" rIns="0" bIns="0" rtlCol="0" anchor="ctr"/>
          <a:lstStyle/>
          <a:p>
            <a:pPr indent="0" marL="0">
              <a:spcAft>
                <a:spcPts val="600"/>
              </a:spcAft>
              <a:buNone/>
            </a:pPr>
            <a:r>
              <a:rPr lang="en-US" sz="1100" b="1" dirty="0">
                <a:solidFill>
                  <a:srgbClr val="16213D"/>
                </a:solidFill>
                <a:latin typeface="Courier New" pitchFamily="34" charset="0"/>
                <a:ea typeface="Courier New" pitchFamily="34" charset="-122"/>
                <a:cs typeface="Courier New" pitchFamily="34" charset="-120"/>
              </a:rPr>
              <a:t>LOGGED PER PACKET</a:t>
            </a:r>
            <a:endParaRPr lang="en-US" sz="1100" dirty="0"/>
          </a:p>
          <a:p>
            <a:pPr indent="0" marL="0">
              <a:spcAft>
                <a:spcPts val="600"/>
              </a:spcAft>
              <a:buNone/>
            </a:pPr>
            <a:r>
              <a:rPr lang="en-US" sz="1100" dirty="0">
                <a:solidFill>
                  <a:srgbClr val="222A3F"/>
                </a:solidFill>
                <a:latin typeface="Courier New" pitchFamily="34" charset="0"/>
                <a:ea typeface="Courier New" pitchFamily="34" charset="-122"/>
                <a:cs typeface="Courier New" pitchFamily="34" charset="-120"/>
              </a:rPr>
              <a:t>timestamp</a:t>
            </a:r>
            <a:endParaRPr lang="en-US" sz="1100" dirty="0"/>
          </a:p>
          <a:p>
            <a:pPr indent="0" marL="0">
              <a:spcAft>
                <a:spcPts val="600"/>
              </a:spcAft>
              <a:buNone/>
            </a:pPr>
            <a:r>
              <a:rPr lang="en-US" sz="1100" dirty="0">
                <a:solidFill>
                  <a:srgbClr val="222A3F"/>
                </a:solidFill>
                <a:latin typeface="Courier New" pitchFamily="34" charset="0"/>
                <a:ea typeface="Courier New" pitchFamily="34" charset="-122"/>
                <a:cs typeface="Courier New" pitchFamily="34" charset="-120"/>
              </a:rPr>
              <a:t>node id</a:t>
            </a:r>
            <a:endParaRPr lang="en-US" sz="1100" dirty="0"/>
          </a:p>
          <a:p>
            <a:pPr indent="0" marL="0">
              <a:spcAft>
                <a:spcPts val="600"/>
              </a:spcAft>
              <a:buNone/>
            </a:pPr>
            <a:r>
              <a:rPr lang="en-US" sz="1100" dirty="0">
                <a:solidFill>
                  <a:srgbClr val="222A3F"/>
                </a:solidFill>
                <a:latin typeface="Courier New" pitchFamily="34" charset="0"/>
                <a:ea typeface="Courier New" pitchFamily="34" charset="-122"/>
                <a:cs typeface="Courier New" pitchFamily="34" charset="-120"/>
              </a:rPr>
              <a:t>RSSI  [dBm]</a:t>
            </a:r>
            <a:endParaRPr lang="en-US" sz="1100" dirty="0"/>
          </a:p>
          <a:p>
            <a:pPr indent="0" marL="0">
              <a:spcAft>
                <a:spcPts val="600"/>
              </a:spcAft>
              <a:buNone/>
            </a:pPr>
            <a:r>
              <a:rPr lang="en-US" sz="1100" dirty="0">
                <a:solidFill>
                  <a:srgbClr val="222A3F"/>
                </a:solidFill>
                <a:latin typeface="Courier New" pitchFamily="34" charset="0"/>
                <a:ea typeface="Courier New" pitchFamily="34" charset="-122"/>
                <a:cs typeface="Courier New" pitchFamily="34" charset="-120"/>
              </a:rPr>
              <a:t>SNR   [dB]</a:t>
            </a:r>
            <a:endParaRPr lang="en-US" sz="1100" dirty="0"/>
          </a:p>
          <a:p>
            <a:pPr indent="0" marL="0">
              <a:spcAft>
                <a:spcPts val="600"/>
              </a:spcAft>
              <a:buNone/>
            </a:pPr>
            <a:r>
              <a:rPr lang="en-US" sz="1100" dirty="0">
                <a:solidFill>
                  <a:srgbClr val="222A3F"/>
                </a:solidFill>
                <a:latin typeface="Courier New" pitchFamily="34" charset="0"/>
                <a:ea typeface="Courier New" pitchFamily="34" charset="-122"/>
                <a:cs typeface="Courier New" pitchFamily="34" charset="-120"/>
              </a:rPr>
              <a:t>distance at receipt</a:t>
            </a:r>
            <a:endParaRPr lang="en-US" sz="1100" dirty="0"/>
          </a:p>
          <a:p>
            <a:pPr indent="0" marL="0">
              <a:spcAft>
                <a:spcPts val="600"/>
              </a:spcAft>
              <a:buNone/>
            </a:pPr>
            <a:r>
              <a:rPr lang="en-US" sz="1100" dirty="0">
                <a:solidFill>
                  <a:srgbClr val="222A3F"/>
                </a:solidFill>
                <a:latin typeface="Courier New" pitchFamily="34" charset="0"/>
                <a:ea typeface="Courier New" pitchFamily="34" charset="-122"/>
                <a:cs typeface="Courier New" pitchFamily="34" charset="-120"/>
              </a:rPr>
              <a:t>age when displayed</a:t>
            </a:r>
            <a:endParaRPr lang="en-US" sz="1100" dirty="0"/>
          </a:p>
          <a:p>
            <a:pPr indent="0" marL="0">
              <a:buNone/>
            </a:pPr>
            <a:r>
              <a:rPr lang="en-US" sz="1050" dirty="0">
                <a:solidFill>
                  <a:srgbClr val="5E6B85"/>
                </a:solidFill>
                <a:latin typeface="Arial" pitchFamily="34" charset="0"/>
                <a:ea typeface="Arial" pitchFamily="34" charset="-122"/>
                <a:cs typeface="Arial" pitchFamily="34" charset="-120"/>
              </a:rPr>
              <a:t>Harness: serial capture on the display side; one dated log per test in testing/.</a:t>
            </a:r>
            <a:endParaRPr lang="en-US" sz="1100" dirty="0"/>
          </a:p>
        </p:txBody>
      </p:sp>
      <p:sp>
        <p:nvSpPr>
          <p:cNvPr id="27" name="Shape 25"/>
          <p:cNvSpPr/>
          <p:nvPr/>
        </p:nvSpPr>
        <p:spPr>
          <a:xfrm>
            <a:off x="457200" y="5120640"/>
            <a:ext cx="11292840" cy="960120"/>
          </a:xfrm>
          <a:prstGeom prst="rect">
            <a:avLst/>
          </a:prstGeom>
          <a:solidFill>
            <a:srgbClr val="F2F5FA"/>
          </a:solidFill>
          <a:ln w="9525">
            <a:solidFill>
              <a:srgbClr val="9AA7BE"/>
            </a:solidFill>
            <a:prstDash val="solid"/>
          </a:ln>
        </p:spPr>
      </p:sp>
      <p:sp>
        <p:nvSpPr>
          <p:cNvPr id="28" name="Text 26"/>
          <p:cNvSpPr txBox="1"/>
          <p:nvPr/>
        </p:nvSpPr>
        <p:spPr>
          <a:xfrm>
            <a:off x="731520" y="5230368"/>
            <a:ext cx="10744200" cy="731520"/>
          </a:xfrm>
          <a:prstGeom prst="rect">
            <a:avLst/>
          </a:prstGeom>
          <a:noFill/>
          <a:ln/>
        </p:spPr>
        <p:txBody>
          <a:bodyPr wrap="square" lIns="0" tIns="0" rIns="0" bIns="0" rtlCol="0" anchor="ctr"/>
          <a:lstStyle/>
          <a:p>
            <a:pPr indent="0" marL="0">
              <a:buNone/>
            </a:pPr>
            <a:r>
              <a:rPr lang="en-US" sz="1250" dirty="0">
                <a:solidFill>
                  <a:srgbClr val="222A3F"/>
                </a:solidFill>
                <a:latin typeface="Arial" pitchFamily="34" charset="0"/>
                <a:ea typeface="Arial" pitchFamily="34" charset="-122"/>
                <a:cs typeface="Arial" pitchFamily="34" charset="-120"/>
              </a:rPr>
              <a:t>Every phase inherits its checks from the constraints ledger: the sky-view rule, the ignition-on rule, the one-client rule, the adapter rule. The ledger was the test plan all along.</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METRICS DECLARED</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09/11  REV D  2026-09-16</a:t>
            </a:r>
            <a:endParaRPr lang="en-US" sz="900" dirty="0"/>
          </a:p>
        </p:txBody>
      </p:sp>
      <p:sp>
        <p:nvSpPr>
          <p:cNvPr id="7" name="Shape 5"/>
          <p:cNvSpPr/>
          <p:nvPr/>
        </p:nvSpPr>
        <p:spPr>
          <a:xfrm>
            <a:off x="9646920" y="347472"/>
            <a:ext cx="2148840" cy="420624"/>
          </a:xfrm>
          <a:prstGeom prst="rect">
            <a:avLst/>
          </a:prstGeom>
          <a:solidFill>
            <a:srgbClr val="FFFFFF"/>
          </a:solidFill>
          <a:ln w="19050">
            <a:solidFill>
              <a:srgbClr val="D9488C"/>
            </a:solidFill>
            <a:prstDash val="solid"/>
          </a:ln>
        </p:spPr>
      </p:sp>
      <p:sp>
        <p:nvSpPr>
          <p:cNvPr id="8" name="Text 6"/>
          <p:cNvSpPr txBox="1"/>
          <p:nvPr/>
        </p:nvSpPr>
        <p:spPr>
          <a:xfrm>
            <a:off x="9646920" y="402336"/>
            <a:ext cx="2148840" cy="310896"/>
          </a:xfrm>
          <a:prstGeom prst="rect">
            <a:avLst/>
          </a:prstGeom>
          <a:noFill/>
          <a:ln/>
        </p:spPr>
        <p:txBody>
          <a:bodyPr wrap="square" lIns="0" tIns="0" rIns="0" bIns="0" rtlCol="0" anchor="ctr"/>
          <a:lstStyle/>
          <a:p>
            <a:pPr algn="ctr" indent="0" marL="0">
              <a:buNone/>
            </a:pPr>
            <a:r>
              <a:rPr lang="en-US" sz="1100" b="1" dirty="0">
                <a:solidFill>
                  <a:srgbClr val="D9488C"/>
                </a:solidFill>
                <a:latin typeface="Courier New" pitchFamily="34" charset="0"/>
                <a:ea typeface="Courier New" pitchFamily="34" charset="-122"/>
                <a:cs typeface="Courier New" pitchFamily="34" charset="-120"/>
              </a:rPr>
              <a:t>OWNER: CANNON</a:t>
            </a:r>
            <a:endParaRPr lang="en-US" sz="1100" dirty="0"/>
          </a:p>
        </p:txBody>
      </p:sp>
      <p:sp>
        <p:nvSpPr>
          <p:cNvPr id="9" name="Text 7"/>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THE NUMBERS THAT WILL JUDGE THE SYSTEM</a:t>
            </a:r>
            <a:endParaRPr lang="en-US" sz="2300" dirty="0"/>
          </a:p>
        </p:txBody>
      </p:sp>
      <p:sp>
        <p:nvSpPr>
          <p:cNvPr id="10" name="Shape 8"/>
          <p:cNvSpPr/>
          <p:nvPr/>
        </p:nvSpPr>
        <p:spPr>
          <a:xfrm>
            <a:off x="457200" y="1143000"/>
            <a:ext cx="2103120" cy="804672"/>
          </a:xfrm>
          <a:prstGeom prst="rect">
            <a:avLst/>
          </a:prstGeom>
          <a:solidFill>
            <a:srgbClr val="16213D"/>
          </a:solidFill>
          <a:ln/>
        </p:spPr>
      </p:sp>
      <p:sp>
        <p:nvSpPr>
          <p:cNvPr id="11" name="Text 9"/>
          <p:cNvSpPr txBox="1"/>
          <p:nvPr/>
        </p:nvSpPr>
        <p:spPr>
          <a:xfrm>
            <a:off x="457200" y="1216152"/>
            <a:ext cx="2103120" cy="365760"/>
          </a:xfrm>
          <a:prstGeom prst="rect">
            <a:avLst/>
          </a:prstGeom>
          <a:noFill/>
          <a:ln/>
        </p:spPr>
        <p:txBody>
          <a:bodyPr wrap="square" lIns="0" tIns="0" rIns="0" bIns="0" rtlCol="0" anchor="ctr"/>
          <a:lstStyle/>
          <a:p>
            <a:pPr algn="ctr" indent="0" marL="0">
              <a:buNone/>
            </a:pPr>
            <a:r>
              <a:rPr lang="en-US" sz="1300" b="1" dirty="0">
                <a:solidFill>
                  <a:srgbClr val="E58E1A"/>
                </a:solidFill>
                <a:latin typeface="Courier New" pitchFamily="34" charset="0"/>
                <a:ea typeface="Courier New" pitchFamily="34" charset="-122"/>
                <a:cs typeface="Courier New" pitchFamily="34" charset="-120"/>
              </a:rPr>
              <a:t>PDR</a:t>
            </a:r>
            <a:endParaRPr lang="en-US" sz="1300" dirty="0"/>
          </a:p>
        </p:txBody>
      </p:sp>
      <p:sp>
        <p:nvSpPr>
          <p:cNvPr id="12" name="Text 10"/>
          <p:cNvSpPr txBox="1"/>
          <p:nvPr/>
        </p:nvSpPr>
        <p:spPr>
          <a:xfrm>
            <a:off x="457200" y="1581912"/>
            <a:ext cx="2103120" cy="274320"/>
          </a:xfrm>
          <a:prstGeom prst="rect">
            <a:avLst/>
          </a:prstGeom>
          <a:noFill/>
          <a:ln/>
        </p:spPr>
        <p:txBody>
          <a:bodyPr wrap="square" lIns="0" tIns="0" rIns="0" bIns="0" rtlCol="0" anchor="ctr"/>
          <a:lstStyle/>
          <a:p>
            <a:pPr algn="ctr" indent="0" marL="0">
              <a:buNone/>
            </a:pPr>
            <a:r>
              <a:rPr lang="en-US" sz="900" dirty="0">
                <a:solidFill>
                  <a:srgbClr val="C9D8F0"/>
                </a:solidFill>
                <a:latin typeface="Arial" pitchFamily="34" charset="0"/>
                <a:ea typeface="Arial" pitchFamily="34" charset="-122"/>
                <a:cs typeface="Arial" pitchFamily="34" charset="-120"/>
              </a:rPr>
              <a:t>packet delivery ratio</a:t>
            </a:r>
            <a:endParaRPr lang="en-US" sz="900" dirty="0"/>
          </a:p>
        </p:txBody>
      </p:sp>
      <p:sp>
        <p:nvSpPr>
          <p:cNvPr id="13" name="Text 11"/>
          <p:cNvSpPr txBox="1"/>
          <p:nvPr/>
        </p:nvSpPr>
        <p:spPr>
          <a:xfrm>
            <a:off x="2743200" y="1197864"/>
            <a:ext cx="5577840" cy="694944"/>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received / expected broadcasts per interval</a:t>
            </a:r>
            <a:endParaRPr lang="en-US" sz="1200" dirty="0"/>
          </a:p>
        </p:txBody>
      </p:sp>
      <p:sp>
        <p:nvSpPr>
          <p:cNvPr id="14" name="Shape 12"/>
          <p:cNvSpPr/>
          <p:nvPr/>
        </p:nvSpPr>
        <p:spPr>
          <a:xfrm>
            <a:off x="8503920" y="1143000"/>
            <a:ext cx="3246120" cy="804672"/>
          </a:xfrm>
          <a:prstGeom prst="rect">
            <a:avLst/>
          </a:prstGeom>
          <a:solidFill>
            <a:srgbClr val="F2F5FA"/>
          </a:solidFill>
          <a:ln w="15875">
            <a:solidFill>
              <a:srgbClr val="1F9D68"/>
            </a:solidFill>
            <a:prstDash val="solid"/>
          </a:ln>
        </p:spPr>
      </p:sp>
      <p:sp>
        <p:nvSpPr>
          <p:cNvPr id="15" name="Text 13"/>
          <p:cNvSpPr txBox="1"/>
          <p:nvPr/>
        </p:nvSpPr>
        <p:spPr>
          <a:xfrm>
            <a:off x="8641080" y="1197864"/>
            <a:ext cx="3017520" cy="694944"/>
          </a:xfrm>
          <a:prstGeom prst="rect">
            <a:avLst/>
          </a:prstGeom>
          <a:noFill/>
          <a:ln/>
        </p:spPr>
        <p:txBody>
          <a:bodyPr wrap="square" lIns="0" tIns="0" rIns="0" bIns="0" rtlCol="0" anchor="ctr"/>
          <a:lstStyle/>
          <a:p>
            <a:pPr indent="0" marL="0">
              <a:buNone/>
            </a:pPr>
            <a:r>
              <a:rPr lang="en-US" sz="1150" b="1" dirty="0">
                <a:solidFill>
                  <a:srgbClr val="1F9D68"/>
                </a:solidFill>
                <a:latin typeface="Courier New" pitchFamily="34" charset="0"/>
                <a:ea typeface="Courier New" pitchFamily="34" charset="-122"/>
                <a:cs typeface="Courier New" pitchFamily="34" charset="-120"/>
              </a:rPr>
              <a:t>&gt; 90% inside working range</a:t>
            </a:r>
            <a:endParaRPr lang="en-US" sz="1150" dirty="0"/>
          </a:p>
        </p:txBody>
      </p:sp>
      <p:sp>
        <p:nvSpPr>
          <p:cNvPr id="16" name="Shape 14"/>
          <p:cNvSpPr/>
          <p:nvPr/>
        </p:nvSpPr>
        <p:spPr>
          <a:xfrm>
            <a:off x="457200" y="2075688"/>
            <a:ext cx="2103120" cy="804672"/>
          </a:xfrm>
          <a:prstGeom prst="rect">
            <a:avLst/>
          </a:prstGeom>
          <a:solidFill>
            <a:srgbClr val="16213D"/>
          </a:solidFill>
          <a:ln/>
        </p:spPr>
      </p:sp>
      <p:sp>
        <p:nvSpPr>
          <p:cNvPr id="17" name="Text 15"/>
          <p:cNvSpPr txBox="1"/>
          <p:nvPr/>
        </p:nvSpPr>
        <p:spPr>
          <a:xfrm>
            <a:off x="457200" y="2148840"/>
            <a:ext cx="2103120" cy="365760"/>
          </a:xfrm>
          <a:prstGeom prst="rect">
            <a:avLst/>
          </a:prstGeom>
          <a:noFill/>
          <a:ln/>
        </p:spPr>
        <p:txBody>
          <a:bodyPr wrap="square" lIns="0" tIns="0" rIns="0" bIns="0" rtlCol="0" anchor="ctr"/>
          <a:lstStyle/>
          <a:p>
            <a:pPr algn="ctr" indent="0" marL="0">
              <a:buNone/>
            </a:pPr>
            <a:r>
              <a:rPr lang="en-US" sz="1300" b="1" dirty="0">
                <a:solidFill>
                  <a:srgbClr val="E58E1A"/>
                </a:solidFill>
                <a:latin typeface="Courier New" pitchFamily="34" charset="0"/>
                <a:ea typeface="Courier New" pitchFamily="34" charset="-122"/>
                <a:cs typeface="Courier New" pitchFamily="34" charset="-120"/>
              </a:rPr>
              <a:t>AGE p95</a:t>
            </a:r>
            <a:endParaRPr lang="en-US" sz="1300" dirty="0"/>
          </a:p>
        </p:txBody>
      </p:sp>
      <p:sp>
        <p:nvSpPr>
          <p:cNvPr id="18" name="Text 16"/>
          <p:cNvSpPr txBox="1"/>
          <p:nvPr/>
        </p:nvSpPr>
        <p:spPr>
          <a:xfrm>
            <a:off x="457200" y="2514600"/>
            <a:ext cx="2103120" cy="274320"/>
          </a:xfrm>
          <a:prstGeom prst="rect">
            <a:avLst/>
          </a:prstGeom>
          <a:noFill/>
          <a:ln/>
        </p:spPr>
        <p:txBody>
          <a:bodyPr wrap="square" lIns="0" tIns="0" rIns="0" bIns="0" rtlCol="0" anchor="ctr"/>
          <a:lstStyle/>
          <a:p>
            <a:pPr algn="ctr" indent="0" marL="0">
              <a:buNone/>
            </a:pPr>
            <a:r>
              <a:rPr lang="en-US" sz="900" dirty="0">
                <a:solidFill>
                  <a:srgbClr val="C9D8F0"/>
                </a:solidFill>
                <a:latin typeface="Arial" pitchFamily="34" charset="0"/>
                <a:ea typeface="Arial" pitchFamily="34" charset="-122"/>
                <a:cs typeface="Arial" pitchFamily="34" charset="-120"/>
              </a:rPr>
              <a:t>freshness</a:t>
            </a:r>
            <a:endParaRPr lang="en-US" sz="900" dirty="0"/>
          </a:p>
        </p:txBody>
      </p:sp>
      <p:sp>
        <p:nvSpPr>
          <p:cNvPr id="19" name="Text 17"/>
          <p:cNvSpPr txBox="1"/>
          <p:nvPr/>
        </p:nvSpPr>
        <p:spPr>
          <a:xfrm>
            <a:off x="2743200" y="2130552"/>
            <a:ext cx="5577840" cy="694944"/>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95th percentile of displayed partner age</a:t>
            </a:r>
            <a:endParaRPr lang="en-US" sz="1200" dirty="0"/>
          </a:p>
        </p:txBody>
      </p:sp>
      <p:sp>
        <p:nvSpPr>
          <p:cNvPr id="20" name="Shape 18"/>
          <p:cNvSpPr/>
          <p:nvPr/>
        </p:nvSpPr>
        <p:spPr>
          <a:xfrm>
            <a:off x="8503920" y="2075688"/>
            <a:ext cx="3246120" cy="804672"/>
          </a:xfrm>
          <a:prstGeom prst="rect">
            <a:avLst/>
          </a:prstGeom>
          <a:solidFill>
            <a:srgbClr val="F2F5FA"/>
          </a:solidFill>
          <a:ln w="15875">
            <a:solidFill>
              <a:srgbClr val="1F9D68"/>
            </a:solidFill>
            <a:prstDash val="solid"/>
          </a:ln>
        </p:spPr>
      </p:sp>
      <p:sp>
        <p:nvSpPr>
          <p:cNvPr id="21" name="Text 19"/>
          <p:cNvSpPr txBox="1"/>
          <p:nvPr/>
        </p:nvSpPr>
        <p:spPr>
          <a:xfrm>
            <a:off x="8641080" y="2130552"/>
            <a:ext cx="3017520" cy="694944"/>
          </a:xfrm>
          <a:prstGeom prst="rect">
            <a:avLst/>
          </a:prstGeom>
          <a:noFill/>
          <a:ln/>
        </p:spPr>
        <p:txBody>
          <a:bodyPr wrap="square" lIns="0" tIns="0" rIns="0" bIns="0" rtlCol="0" anchor="ctr"/>
          <a:lstStyle/>
          <a:p>
            <a:pPr indent="0" marL="0">
              <a:buNone/>
            </a:pPr>
            <a:r>
              <a:rPr lang="en-US" sz="1150" b="1" dirty="0">
                <a:solidFill>
                  <a:srgbClr val="1F9D68"/>
                </a:solidFill>
                <a:latin typeface="Courier New" pitchFamily="34" charset="0"/>
                <a:ea typeface="Courier New" pitchFamily="34" charset="-122"/>
                <a:cs typeface="Courier New" pitchFamily="34" charset="-120"/>
              </a:rPr>
              <a:t>&lt; 25 s while both move</a:t>
            </a:r>
            <a:endParaRPr lang="en-US" sz="1150" dirty="0"/>
          </a:p>
        </p:txBody>
      </p:sp>
      <p:sp>
        <p:nvSpPr>
          <p:cNvPr id="22" name="Shape 20"/>
          <p:cNvSpPr/>
          <p:nvPr/>
        </p:nvSpPr>
        <p:spPr>
          <a:xfrm>
            <a:off x="457200" y="3008376"/>
            <a:ext cx="2103120" cy="804672"/>
          </a:xfrm>
          <a:prstGeom prst="rect">
            <a:avLst/>
          </a:prstGeom>
          <a:solidFill>
            <a:srgbClr val="16213D"/>
          </a:solidFill>
          <a:ln/>
        </p:spPr>
      </p:sp>
      <p:sp>
        <p:nvSpPr>
          <p:cNvPr id="23" name="Text 21"/>
          <p:cNvSpPr txBox="1"/>
          <p:nvPr/>
        </p:nvSpPr>
        <p:spPr>
          <a:xfrm>
            <a:off x="457200" y="3081528"/>
            <a:ext cx="2103120" cy="365760"/>
          </a:xfrm>
          <a:prstGeom prst="rect">
            <a:avLst/>
          </a:prstGeom>
          <a:noFill/>
          <a:ln/>
        </p:spPr>
        <p:txBody>
          <a:bodyPr wrap="square" lIns="0" tIns="0" rIns="0" bIns="0" rtlCol="0" anchor="ctr"/>
          <a:lstStyle/>
          <a:p>
            <a:pPr algn="ctr" indent="0" marL="0">
              <a:buNone/>
            </a:pPr>
            <a:r>
              <a:rPr lang="en-US" sz="1300" b="1" dirty="0">
                <a:solidFill>
                  <a:srgbClr val="E58E1A"/>
                </a:solidFill>
                <a:latin typeface="Courier New" pitchFamily="34" charset="0"/>
                <a:ea typeface="Courier New" pitchFamily="34" charset="-122"/>
                <a:cs typeface="Courier New" pitchFamily="34" charset="-120"/>
              </a:rPr>
              <a:t>RECONNECT</a:t>
            </a:r>
            <a:endParaRPr lang="en-US" sz="1300" dirty="0"/>
          </a:p>
        </p:txBody>
      </p:sp>
      <p:sp>
        <p:nvSpPr>
          <p:cNvPr id="24" name="Text 22"/>
          <p:cNvSpPr txBox="1"/>
          <p:nvPr/>
        </p:nvSpPr>
        <p:spPr>
          <a:xfrm>
            <a:off x="457200" y="3447288"/>
            <a:ext cx="2103120" cy="274320"/>
          </a:xfrm>
          <a:prstGeom prst="rect">
            <a:avLst/>
          </a:prstGeom>
          <a:noFill/>
          <a:ln/>
        </p:spPr>
        <p:txBody>
          <a:bodyPr wrap="square" lIns="0" tIns="0" rIns="0" bIns="0" rtlCol="0" anchor="ctr"/>
          <a:lstStyle/>
          <a:p>
            <a:pPr algn="ctr" indent="0" marL="0">
              <a:buNone/>
            </a:pPr>
            <a:r>
              <a:rPr lang="en-US" sz="900" dirty="0">
                <a:solidFill>
                  <a:srgbClr val="C9D8F0"/>
                </a:solidFill>
                <a:latin typeface="Arial" pitchFamily="34" charset="0"/>
                <a:ea typeface="Arial" pitchFamily="34" charset="-122"/>
                <a:cs typeface="Arial" pitchFamily="34" charset="-120"/>
              </a:rPr>
              <a:t>link resilience</a:t>
            </a:r>
            <a:endParaRPr lang="en-US" sz="900" dirty="0"/>
          </a:p>
        </p:txBody>
      </p:sp>
      <p:sp>
        <p:nvSpPr>
          <p:cNvPr id="25" name="Text 23"/>
          <p:cNvSpPr txBox="1"/>
          <p:nvPr/>
        </p:nvSpPr>
        <p:spPr>
          <a:xfrm>
            <a:off x="2743200" y="3063240"/>
            <a:ext cx="5577840" cy="694944"/>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BLE self-heals after drop, no user action</a:t>
            </a:r>
            <a:endParaRPr lang="en-US" sz="1200" dirty="0"/>
          </a:p>
        </p:txBody>
      </p:sp>
      <p:sp>
        <p:nvSpPr>
          <p:cNvPr id="26" name="Shape 24"/>
          <p:cNvSpPr/>
          <p:nvPr/>
        </p:nvSpPr>
        <p:spPr>
          <a:xfrm>
            <a:off x="8503920" y="3008376"/>
            <a:ext cx="3246120" cy="804672"/>
          </a:xfrm>
          <a:prstGeom prst="rect">
            <a:avLst/>
          </a:prstGeom>
          <a:solidFill>
            <a:srgbClr val="F2F5FA"/>
          </a:solidFill>
          <a:ln w="15875">
            <a:solidFill>
              <a:srgbClr val="1F9D68"/>
            </a:solidFill>
            <a:prstDash val="solid"/>
          </a:ln>
        </p:spPr>
      </p:sp>
      <p:sp>
        <p:nvSpPr>
          <p:cNvPr id="27" name="Text 25"/>
          <p:cNvSpPr txBox="1"/>
          <p:nvPr/>
        </p:nvSpPr>
        <p:spPr>
          <a:xfrm>
            <a:off x="8641080" y="3063240"/>
            <a:ext cx="3017520" cy="694944"/>
          </a:xfrm>
          <a:prstGeom prst="rect">
            <a:avLst/>
          </a:prstGeom>
          <a:noFill/>
          <a:ln/>
        </p:spPr>
        <p:txBody>
          <a:bodyPr wrap="square" lIns="0" tIns="0" rIns="0" bIns="0" rtlCol="0" anchor="ctr"/>
          <a:lstStyle/>
          <a:p>
            <a:pPr indent="0" marL="0">
              <a:buNone/>
            </a:pPr>
            <a:r>
              <a:rPr lang="en-US" sz="1150" b="1" dirty="0">
                <a:solidFill>
                  <a:srgbClr val="1F9D68"/>
                </a:solidFill>
                <a:latin typeface="Courier New" pitchFamily="34" charset="0"/>
                <a:ea typeface="Courier New" pitchFamily="34" charset="-122"/>
                <a:cs typeface="Courier New" pitchFamily="34" charset="-120"/>
              </a:rPr>
              <a:t>100% of drops, &lt; 30 s</a:t>
            </a:r>
            <a:endParaRPr lang="en-US" sz="1150" dirty="0"/>
          </a:p>
        </p:txBody>
      </p:sp>
      <p:sp>
        <p:nvSpPr>
          <p:cNvPr id="28" name="Shape 26"/>
          <p:cNvSpPr/>
          <p:nvPr/>
        </p:nvSpPr>
        <p:spPr>
          <a:xfrm>
            <a:off x="457200" y="3941064"/>
            <a:ext cx="2103120" cy="804672"/>
          </a:xfrm>
          <a:prstGeom prst="rect">
            <a:avLst/>
          </a:prstGeom>
          <a:solidFill>
            <a:srgbClr val="16213D"/>
          </a:solidFill>
          <a:ln/>
        </p:spPr>
      </p:sp>
      <p:sp>
        <p:nvSpPr>
          <p:cNvPr id="29" name="Text 27"/>
          <p:cNvSpPr txBox="1"/>
          <p:nvPr/>
        </p:nvSpPr>
        <p:spPr>
          <a:xfrm>
            <a:off x="457200" y="4014216"/>
            <a:ext cx="2103120" cy="365760"/>
          </a:xfrm>
          <a:prstGeom prst="rect">
            <a:avLst/>
          </a:prstGeom>
          <a:noFill/>
          <a:ln/>
        </p:spPr>
        <p:txBody>
          <a:bodyPr wrap="square" lIns="0" tIns="0" rIns="0" bIns="0" rtlCol="0" anchor="ctr"/>
          <a:lstStyle/>
          <a:p>
            <a:pPr algn="ctr" indent="0" marL="0">
              <a:buNone/>
            </a:pPr>
            <a:r>
              <a:rPr lang="en-US" sz="1300" b="1" dirty="0">
                <a:solidFill>
                  <a:srgbClr val="E58E1A"/>
                </a:solidFill>
                <a:latin typeface="Courier New" pitchFamily="34" charset="0"/>
                <a:ea typeface="Courier New" pitchFamily="34" charset="-122"/>
                <a:cs typeface="Courier New" pitchFamily="34" charset="-120"/>
              </a:rPr>
              <a:t>DR ERROR</a:t>
            </a:r>
            <a:endParaRPr lang="en-US" sz="1300" dirty="0"/>
          </a:p>
        </p:txBody>
      </p:sp>
      <p:sp>
        <p:nvSpPr>
          <p:cNvPr id="30" name="Text 28"/>
          <p:cNvSpPr txBox="1"/>
          <p:nvPr/>
        </p:nvSpPr>
        <p:spPr>
          <a:xfrm>
            <a:off x="457200" y="4379976"/>
            <a:ext cx="2103120" cy="274320"/>
          </a:xfrm>
          <a:prstGeom prst="rect">
            <a:avLst/>
          </a:prstGeom>
          <a:noFill/>
          <a:ln/>
        </p:spPr>
        <p:txBody>
          <a:bodyPr wrap="square" lIns="0" tIns="0" rIns="0" bIns="0" rtlCol="0" anchor="ctr"/>
          <a:lstStyle/>
          <a:p>
            <a:pPr algn="ctr" indent="0" marL="0">
              <a:buNone/>
            </a:pPr>
            <a:r>
              <a:rPr lang="en-US" sz="900" dirty="0">
                <a:solidFill>
                  <a:srgbClr val="C9D8F0"/>
                </a:solidFill>
                <a:latin typeface="Arial" pitchFamily="34" charset="0"/>
                <a:ea typeface="Arial" pitchFamily="34" charset="-122"/>
                <a:cs typeface="Arial" pitchFamily="34" charset="-120"/>
              </a:rPr>
              <a:t>projection honesty</a:t>
            </a:r>
            <a:endParaRPr lang="en-US" sz="900" dirty="0"/>
          </a:p>
        </p:txBody>
      </p:sp>
      <p:sp>
        <p:nvSpPr>
          <p:cNvPr id="31" name="Text 29"/>
          <p:cNvSpPr txBox="1"/>
          <p:nvPr/>
        </p:nvSpPr>
        <p:spPr>
          <a:xfrm>
            <a:off x="2743200" y="3995928"/>
            <a:ext cx="5577840" cy="694944"/>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gap between projected and next real fix</a:t>
            </a:r>
            <a:endParaRPr lang="en-US" sz="1200" dirty="0"/>
          </a:p>
        </p:txBody>
      </p:sp>
      <p:sp>
        <p:nvSpPr>
          <p:cNvPr id="32" name="Shape 30"/>
          <p:cNvSpPr/>
          <p:nvPr/>
        </p:nvSpPr>
        <p:spPr>
          <a:xfrm>
            <a:off x="8503920" y="3941064"/>
            <a:ext cx="3246120" cy="804672"/>
          </a:xfrm>
          <a:prstGeom prst="rect">
            <a:avLst/>
          </a:prstGeom>
          <a:solidFill>
            <a:srgbClr val="F2F5FA"/>
          </a:solidFill>
          <a:ln w="15875">
            <a:solidFill>
              <a:srgbClr val="1F9D68"/>
            </a:solidFill>
            <a:prstDash val="solid"/>
          </a:ln>
        </p:spPr>
      </p:sp>
      <p:sp>
        <p:nvSpPr>
          <p:cNvPr id="33" name="Text 31"/>
          <p:cNvSpPr txBox="1"/>
          <p:nvPr/>
        </p:nvSpPr>
        <p:spPr>
          <a:xfrm>
            <a:off x="8641080" y="3995928"/>
            <a:ext cx="3017520" cy="694944"/>
          </a:xfrm>
          <a:prstGeom prst="rect">
            <a:avLst/>
          </a:prstGeom>
          <a:noFill/>
          <a:ln/>
        </p:spPr>
        <p:txBody>
          <a:bodyPr wrap="square" lIns="0" tIns="0" rIns="0" bIns="0" rtlCol="0" anchor="ctr"/>
          <a:lstStyle/>
          <a:p>
            <a:pPr indent="0" marL="0">
              <a:buNone/>
            </a:pPr>
            <a:r>
              <a:rPr lang="en-US" sz="1150" b="1" dirty="0">
                <a:solidFill>
                  <a:srgbClr val="1F9D68"/>
                </a:solidFill>
                <a:latin typeface="Courier New" pitchFamily="34" charset="0"/>
                <a:ea typeface="Courier New" pitchFamily="34" charset="-122"/>
                <a:cs typeface="Courier New" pitchFamily="34" charset="-120"/>
              </a:rPr>
              <a:t>&lt; 30 m at highway speed</a:t>
            </a:r>
            <a:endParaRPr lang="en-US" sz="1150" dirty="0"/>
          </a:p>
        </p:txBody>
      </p:sp>
      <p:sp>
        <p:nvSpPr>
          <p:cNvPr id="34" name="Shape 32"/>
          <p:cNvSpPr/>
          <p:nvPr/>
        </p:nvSpPr>
        <p:spPr>
          <a:xfrm>
            <a:off x="457200" y="4873752"/>
            <a:ext cx="2103120" cy="804672"/>
          </a:xfrm>
          <a:prstGeom prst="rect">
            <a:avLst/>
          </a:prstGeom>
          <a:solidFill>
            <a:srgbClr val="16213D"/>
          </a:solidFill>
          <a:ln/>
        </p:spPr>
      </p:sp>
      <p:sp>
        <p:nvSpPr>
          <p:cNvPr id="35" name="Text 33"/>
          <p:cNvSpPr txBox="1"/>
          <p:nvPr/>
        </p:nvSpPr>
        <p:spPr>
          <a:xfrm>
            <a:off x="457200" y="4946904"/>
            <a:ext cx="2103120" cy="365760"/>
          </a:xfrm>
          <a:prstGeom prst="rect">
            <a:avLst/>
          </a:prstGeom>
          <a:noFill/>
          <a:ln/>
        </p:spPr>
        <p:txBody>
          <a:bodyPr wrap="square" lIns="0" tIns="0" rIns="0" bIns="0" rtlCol="0" anchor="ctr"/>
          <a:lstStyle/>
          <a:p>
            <a:pPr algn="ctr" indent="0" marL="0">
              <a:buNone/>
            </a:pPr>
            <a:r>
              <a:rPr lang="en-US" sz="1300" b="1" dirty="0">
                <a:solidFill>
                  <a:srgbClr val="E58E1A"/>
                </a:solidFill>
                <a:latin typeface="Courier New" pitchFamily="34" charset="0"/>
                <a:ea typeface="Courier New" pitchFamily="34" charset="-122"/>
                <a:cs typeface="Courier New" pitchFamily="34" charset="-120"/>
              </a:rPr>
              <a:t>CHUTIL</a:t>
            </a:r>
            <a:endParaRPr lang="en-US" sz="1300" dirty="0"/>
          </a:p>
        </p:txBody>
      </p:sp>
      <p:sp>
        <p:nvSpPr>
          <p:cNvPr id="36" name="Text 34"/>
          <p:cNvSpPr txBox="1"/>
          <p:nvPr/>
        </p:nvSpPr>
        <p:spPr>
          <a:xfrm>
            <a:off x="457200" y="5312664"/>
            <a:ext cx="2103120" cy="274320"/>
          </a:xfrm>
          <a:prstGeom prst="rect">
            <a:avLst/>
          </a:prstGeom>
          <a:noFill/>
          <a:ln/>
        </p:spPr>
        <p:txBody>
          <a:bodyPr wrap="square" lIns="0" tIns="0" rIns="0" bIns="0" rtlCol="0" anchor="ctr"/>
          <a:lstStyle/>
          <a:p>
            <a:pPr algn="ctr" indent="0" marL="0">
              <a:buNone/>
            </a:pPr>
            <a:r>
              <a:rPr lang="en-US" sz="900" dirty="0">
                <a:solidFill>
                  <a:srgbClr val="C9D8F0"/>
                </a:solidFill>
                <a:latin typeface="Arial" pitchFamily="34" charset="0"/>
                <a:ea typeface="Arial" pitchFamily="34" charset="-122"/>
                <a:cs typeface="Arial" pitchFamily="34" charset="-120"/>
              </a:rPr>
              <a:t>channel citizenship</a:t>
            </a:r>
            <a:endParaRPr lang="en-US" sz="900" dirty="0"/>
          </a:p>
        </p:txBody>
      </p:sp>
      <p:sp>
        <p:nvSpPr>
          <p:cNvPr id="37" name="Text 35"/>
          <p:cNvSpPr txBox="1"/>
          <p:nvPr/>
        </p:nvSpPr>
        <p:spPr>
          <a:xfrm>
            <a:off x="2743200" y="4928616"/>
            <a:ext cx="5577840" cy="694944"/>
          </a:xfrm>
          <a:prstGeom prst="rect">
            <a:avLst/>
          </a:prstGeom>
          <a:noFill/>
          <a:ln/>
        </p:spPr>
        <p:txBody>
          <a:bodyPr wrap="square" lIns="0" tIns="0" rIns="0" bIns="0" rtlCol="0" anchor="ctr"/>
          <a:lstStyle/>
          <a:p>
            <a:pPr indent="0" marL="0">
              <a:buNone/>
            </a:pPr>
            <a:r>
              <a:rPr lang="en-US" sz="1200" dirty="0">
                <a:solidFill>
                  <a:srgbClr val="222A3F"/>
                </a:solidFill>
                <a:latin typeface="Arial" pitchFamily="34" charset="0"/>
                <a:ea typeface="Arial" pitchFamily="34" charset="-122"/>
                <a:cs typeface="Arial" pitchFamily="34" charset="-120"/>
              </a:rPr>
              <a:t>utilization with both radios broadcasting</a:t>
            </a:r>
            <a:endParaRPr lang="en-US" sz="1200" dirty="0"/>
          </a:p>
        </p:txBody>
      </p:sp>
      <p:sp>
        <p:nvSpPr>
          <p:cNvPr id="38" name="Shape 36"/>
          <p:cNvSpPr/>
          <p:nvPr/>
        </p:nvSpPr>
        <p:spPr>
          <a:xfrm>
            <a:off x="8503920" y="4873752"/>
            <a:ext cx="3246120" cy="804672"/>
          </a:xfrm>
          <a:prstGeom prst="rect">
            <a:avLst/>
          </a:prstGeom>
          <a:solidFill>
            <a:srgbClr val="F2F5FA"/>
          </a:solidFill>
          <a:ln w="15875">
            <a:solidFill>
              <a:srgbClr val="1F9D68"/>
            </a:solidFill>
            <a:prstDash val="solid"/>
          </a:ln>
        </p:spPr>
      </p:sp>
      <p:sp>
        <p:nvSpPr>
          <p:cNvPr id="39" name="Text 37"/>
          <p:cNvSpPr txBox="1"/>
          <p:nvPr/>
        </p:nvSpPr>
        <p:spPr>
          <a:xfrm>
            <a:off x="8641080" y="4928616"/>
            <a:ext cx="3017520" cy="694944"/>
          </a:xfrm>
          <a:prstGeom prst="rect">
            <a:avLst/>
          </a:prstGeom>
          <a:noFill/>
          <a:ln/>
        </p:spPr>
        <p:txBody>
          <a:bodyPr wrap="square" lIns="0" tIns="0" rIns="0" bIns="0" rtlCol="0" anchor="ctr"/>
          <a:lstStyle/>
          <a:p>
            <a:pPr indent="0" marL="0">
              <a:buNone/>
            </a:pPr>
            <a:r>
              <a:rPr lang="en-US" sz="1150" b="1" dirty="0">
                <a:solidFill>
                  <a:srgbClr val="1F9D68"/>
                </a:solidFill>
                <a:latin typeface="Courier New" pitchFamily="34" charset="0"/>
                <a:ea typeface="Courier New" pitchFamily="34" charset="-122"/>
                <a:cs typeface="Courier New" pitchFamily="34" charset="-120"/>
              </a:rPr>
              <a:t>&lt; 10% steady state</a:t>
            </a:r>
            <a:endParaRPr lang="en-US" sz="1150" dirty="0"/>
          </a:p>
        </p:txBody>
      </p:sp>
      <p:sp>
        <p:nvSpPr>
          <p:cNvPr id="40" name="Text 38"/>
          <p:cNvSpPr txBox="1"/>
          <p:nvPr/>
        </p:nvSpPr>
        <p:spPr>
          <a:xfrm>
            <a:off x="457200" y="5870448"/>
            <a:ext cx="11292840" cy="274320"/>
          </a:xfrm>
          <a:prstGeom prst="rect">
            <a:avLst/>
          </a:prstGeom>
          <a:noFill/>
          <a:ln/>
        </p:spPr>
        <p:txBody>
          <a:bodyPr wrap="square" lIns="0" tIns="0" rIns="0" bIns="0" rtlCol="0" anchor="ctr"/>
          <a:lstStyle/>
          <a:p>
            <a:pPr indent="0" marL="0">
              <a:buNone/>
            </a:pPr>
            <a:r>
              <a:rPr lang="en-US" sz="1000" b="1" dirty="0">
                <a:solidFill>
                  <a:srgbClr val="5E6B85"/>
                </a:solidFill>
                <a:latin typeface="Courier New" pitchFamily="34" charset="0"/>
                <a:ea typeface="Courier New" pitchFamily="34" charset="-122"/>
                <a:cs typeface="Courier New" pitchFamily="34" charset="-120"/>
              </a:rPr>
              <a:t>TARGETS SET BEFORE THE FIRST TWO-RADIO PACKET. NEXT REVIEW REPORTS EACH ROW, PASS OR FAIL.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STATUS AND NEXT STEPS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10/11  REV D  2026-09-16</a:t>
            </a:r>
            <a:endParaRPr lang="en-US" sz="900" dirty="0"/>
          </a:p>
        </p:txBody>
      </p:sp>
      <p:sp>
        <p:nvSpPr>
          <p:cNvPr id="7" name="Text 5"/>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STATUS AND WHAT COMES NEXT</a:t>
            </a:r>
            <a:endParaRPr lang="en-US" sz="2300" dirty="0"/>
          </a:p>
        </p:txBody>
      </p:sp>
      <p:sp>
        <p:nvSpPr>
          <p:cNvPr id="8" name="Shape 6"/>
          <p:cNvSpPr/>
          <p:nvPr/>
        </p:nvSpPr>
        <p:spPr>
          <a:xfrm>
            <a:off x="457200" y="1097280"/>
            <a:ext cx="2688336" cy="1371600"/>
          </a:xfrm>
          <a:prstGeom prst="rect">
            <a:avLst/>
          </a:prstGeom>
          <a:solidFill>
            <a:srgbClr val="F2F5FA"/>
          </a:solidFill>
          <a:ln w="9525">
            <a:solidFill>
              <a:srgbClr val="9AA7BE"/>
            </a:solidFill>
            <a:prstDash val="solid"/>
          </a:ln>
        </p:spPr>
      </p:sp>
      <p:sp>
        <p:nvSpPr>
          <p:cNvPr id="9" name="Text 7"/>
          <p:cNvSpPr txBox="1"/>
          <p:nvPr/>
        </p:nvSpPr>
        <p:spPr>
          <a:xfrm>
            <a:off x="640080"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42%</a:t>
            </a:r>
            <a:endParaRPr lang="en-US" sz="2700" dirty="0"/>
          </a:p>
        </p:txBody>
      </p:sp>
      <p:sp>
        <p:nvSpPr>
          <p:cNvPr id="10" name="Text 8"/>
          <p:cNvSpPr txBox="1"/>
          <p:nvPr/>
        </p:nvSpPr>
        <p:spPr>
          <a:xfrm>
            <a:off x="640080"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of tasks complete against a 25% week-four target</a:t>
            </a:r>
            <a:endParaRPr lang="en-US" sz="1050" dirty="0"/>
          </a:p>
        </p:txBody>
      </p:sp>
      <p:sp>
        <p:nvSpPr>
          <p:cNvPr id="11" name="Shape 9"/>
          <p:cNvSpPr/>
          <p:nvPr/>
        </p:nvSpPr>
        <p:spPr>
          <a:xfrm>
            <a:off x="3328416" y="1097280"/>
            <a:ext cx="2688336" cy="1371600"/>
          </a:xfrm>
          <a:prstGeom prst="rect">
            <a:avLst/>
          </a:prstGeom>
          <a:solidFill>
            <a:srgbClr val="F2F5FA"/>
          </a:solidFill>
          <a:ln w="9525">
            <a:solidFill>
              <a:srgbClr val="9AA7BE"/>
            </a:solidFill>
            <a:prstDash val="solid"/>
          </a:ln>
        </p:spPr>
      </p:sp>
      <p:sp>
        <p:nvSpPr>
          <p:cNvPr id="12" name="Text 10"/>
          <p:cNvSpPr txBox="1"/>
          <p:nvPr/>
        </p:nvSpPr>
        <p:spPr>
          <a:xfrm>
            <a:off x="3511296"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10 s</a:t>
            </a:r>
            <a:endParaRPr lang="en-US" sz="2700" dirty="0"/>
          </a:p>
        </p:txBody>
      </p:sp>
      <p:sp>
        <p:nvSpPr>
          <p:cNvPr id="13" name="Text 11"/>
          <p:cNvSpPr txBox="1"/>
          <p:nvPr/>
        </p:nvSpPr>
        <p:spPr>
          <a:xfrm>
            <a:off x="3511296"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cadence verified on the road this week</a:t>
            </a:r>
            <a:endParaRPr lang="en-US" sz="1050" dirty="0"/>
          </a:p>
        </p:txBody>
      </p:sp>
      <p:sp>
        <p:nvSpPr>
          <p:cNvPr id="14" name="Shape 12"/>
          <p:cNvSpPr/>
          <p:nvPr/>
        </p:nvSpPr>
        <p:spPr>
          <a:xfrm>
            <a:off x="6199632" y="1097280"/>
            <a:ext cx="2688336" cy="1371600"/>
          </a:xfrm>
          <a:prstGeom prst="rect">
            <a:avLst/>
          </a:prstGeom>
          <a:solidFill>
            <a:srgbClr val="F2F5FA"/>
          </a:solidFill>
          <a:ln w="9525">
            <a:solidFill>
              <a:srgbClr val="9AA7BE"/>
            </a:solidFill>
            <a:prstDash val="solid"/>
          </a:ln>
        </p:spPr>
      </p:sp>
      <p:sp>
        <p:nvSpPr>
          <p:cNvPr id="15" name="Text 13"/>
          <p:cNvSpPr txBox="1"/>
          <p:nvPr/>
        </p:nvSpPr>
        <p:spPr>
          <a:xfrm>
            <a:off x="6382512"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4 + 1</a:t>
            </a:r>
            <a:endParaRPr lang="en-US" sz="2700" dirty="0"/>
          </a:p>
        </p:txBody>
      </p:sp>
      <p:sp>
        <p:nvSpPr>
          <p:cNvPr id="16" name="Text 14"/>
          <p:cNvSpPr txBox="1"/>
          <p:nvPr/>
        </p:nvSpPr>
        <p:spPr>
          <a:xfrm>
            <a:off x="6382512"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layers proven + the layer this sheet set closes</a:t>
            </a:r>
            <a:endParaRPr lang="en-US" sz="1050" dirty="0"/>
          </a:p>
        </p:txBody>
      </p:sp>
      <p:sp>
        <p:nvSpPr>
          <p:cNvPr id="17" name="Shape 15"/>
          <p:cNvSpPr/>
          <p:nvPr/>
        </p:nvSpPr>
        <p:spPr>
          <a:xfrm>
            <a:off x="9070848" y="1097280"/>
            <a:ext cx="2688336" cy="1371600"/>
          </a:xfrm>
          <a:prstGeom prst="rect">
            <a:avLst/>
          </a:prstGeom>
          <a:solidFill>
            <a:srgbClr val="F2F5FA"/>
          </a:solidFill>
          <a:ln w="9525">
            <a:solidFill>
              <a:srgbClr val="9AA7BE"/>
            </a:solidFill>
            <a:prstDash val="solid"/>
          </a:ln>
        </p:spPr>
      </p:sp>
      <p:sp>
        <p:nvSpPr>
          <p:cNvPr id="18" name="Text 16"/>
          <p:cNvSpPr txBox="1"/>
          <p:nvPr/>
        </p:nvSpPr>
        <p:spPr>
          <a:xfrm>
            <a:off x="9253728" y="1207008"/>
            <a:ext cx="2377440" cy="548640"/>
          </a:xfrm>
          <a:prstGeom prst="rect">
            <a:avLst/>
          </a:prstGeom>
          <a:noFill/>
          <a:ln/>
        </p:spPr>
        <p:txBody>
          <a:bodyPr wrap="square" lIns="0" tIns="0" rIns="0" bIns="0" rtlCol="0" anchor="ctr"/>
          <a:lstStyle/>
          <a:p>
            <a:pPr indent="0" marL="0">
              <a:buNone/>
            </a:pPr>
            <a:r>
              <a:rPr lang="en-US" sz="2700" b="1" dirty="0">
                <a:solidFill>
                  <a:srgbClr val="16213D"/>
                </a:solidFill>
                <a:latin typeface="Arial" pitchFamily="34" charset="0"/>
                <a:ea typeface="Arial" pitchFamily="34" charset="-122"/>
                <a:cs typeface="Arial" pitchFamily="34" charset="-120"/>
              </a:rPr>
              <a:t>5</a:t>
            </a:r>
            <a:endParaRPr lang="en-US" sz="2700" dirty="0"/>
          </a:p>
        </p:txBody>
      </p:sp>
      <p:sp>
        <p:nvSpPr>
          <p:cNvPr id="19" name="Text 17"/>
          <p:cNvSpPr txBox="1"/>
          <p:nvPr/>
        </p:nvSpPr>
        <p:spPr>
          <a:xfrm>
            <a:off x="9253728" y="1783080"/>
            <a:ext cx="2377440" cy="594360"/>
          </a:xfrm>
          <a:prstGeom prst="rect">
            <a:avLst/>
          </a:prstGeom>
          <a:noFill/>
          <a:ln/>
        </p:spPr>
        <p:txBody>
          <a:bodyPr wrap="square" lIns="0" tIns="0" rIns="0" bIns="0" rtlCol="0" anchor="ctr"/>
          <a:lstStyle/>
          <a:p>
            <a:pPr indent="0" marL="0">
              <a:buNone/>
            </a:pPr>
            <a:r>
              <a:rPr lang="en-US" sz="1050" dirty="0">
                <a:solidFill>
                  <a:srgbClr val="5E6B85"/>
                </a:solidFill>
                <a:latin typeface="Arial" pitchFamily="34" charset="0"/>
                <a:ea typeface="Arial" pitchFamily="34" charset="-122"/>
                <a:cs typeface="Arial" pitchFamily="34" charset="-120"/>
              </a:rPr>
              <a:t>metrics pre-declared, thresholds locked</a:t>
            </a:r>
            <a:endParaRPr lang="en-US" sz="1050" dirty="0"/>
          </a:p>
        </p:txBody>
      </p:sp>
      <p:sp>
        <p:nvSpPr>
          <p:cNvPr id="20" name="Text 18"/>
          <p:cNvSpPr txBox="1"/>
          <p:nvPr/>
        </p:nvSpPr>
        <p:spPr>
          <a:xfrm>
            <a:off x="457200" y="2788920"/>
            <a:ext cx="5760720" cy="320040"/>
          </a:xfrm>
          <a:prstGeom prst="rect">
            <a:avLst/>
          </a:prstGeom>
          <a:noFill/>
          <a:ln/>
        </p:spPr>
        <p:txBody>
          <a:bodyPr wrap="square" lIns="0" tIns="0" rIns="0" bIns="0" rtlCol="0" anchor="ctr"/>
          <a:lstStyle/>
          <a:p>
            <a:pPr indent="0" marL="0">
              <a:buNone/>
            </a:pPr>
            <a:r>
              <a:rPr lang="en-US" sz="1300" b="1" spc="100" kern="0" dirty="0">
                <a:solidFill>
                  <a:srgbClr val="16213D"/>
                </a:solidFill>
                <a:latin typeface="Arial" pitchFamily="34" charset="0"/>
                <a:ea typeface="Arial" pitchFamily="34" charset="-122"/>
                <a:cs typeface="Arial" pitchFamily="34" charset="-120"/>
              </a:rPr>
              <a:t>DONE THIS WEEK, AND NEXT IN ORDER</a:t>
            </a:r>
            <a:endParaRPr lang="en-US" sz="1300" dirty="0"/>
          </a:p>
        </p:txBody>
      </p:sp>
      <p:sp>
        <p:nvSpPr>
          <p:cNvPr id="21" name="Text 19"/>
          <p:cNvSpPr txBox="1"/>
          <p:nvPr/>
        </p:nvSpPr>
        <p:spPr>
          <a:xfrm>
            <a:off x="457200" y="3154680"/>
            <a:ext cx="5760720" cy="210312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A3F"/>
                </a:solidFill>
                <a:latin typeface="Arial" pitchFamily="34" charset="0"/>
                <a:ea typeface="Arial" pitchFamily="34" charset="-122"/>
                <a:cs typeface="Arial" pitchFamily="34" charset="-120"/>
              </a:rPr>
              <a:t>Done: drive test verified the ten-second cadence end to end, in motion.</a:t>
            </a:r>
            <a:endParaRPr lang="en-US" sz="1200" dirty="0"/>
          </a:p>
          <a:p>
            <a:pPr marL="342900" indent="-342900">
              <a:spcAft>
                <a:spcPts val="600"/>
              </a:spcAft>
              <a:buSzPct val="100000"/>
              <a:buChar char="▪"/>
            </a:pPr>
            <a:r>
              <a:rPr lang="en-US" sz="1200" dirty="0">
                <a:solidFill>
                  <a:srgbClr val="222A3F"/>
                </a:solidFill>
                <a:latin typeface="Arial" pitchFamily="34" charset="0"/>
                <a:ea typeface="Arial" pitchFamily="34" charset="-122"/>
                <a:cs typeface="Arial" pitchFamily="34" charset="-120"/>
              </a:rPr>
              <a:t>Next: partner selection lands in firmware (Deo), before the ambiguity arrives.</a:t>
            </a:r>
            <a:endParaRPr lang="en-US" sz="1200" dirty="0"/>
          </a:p>
          <a:p>
            <a:pPr marL="342900" indent="-342900">
              <a:spcAft>
                <a:spcPts val="600"/>
              </a:spcAft>
              <a:buSzPct val="100000"/>
              <a:buChar char="▪"/>
            </a:pPr>
            <a:r>
              <a:rPr lang="en-US" sz="1200" dirty="0">
                <a:solidFill>
                  <a:srgbClr val="222A3F"/>
                </a:solidFill>
                <a:latin typeface="Arial" pitchFamily="34" charset="0"/>
                <a:ea typeface="Arial" pitchFamily="34" charset="-122"/>
                <a:cs typeface="Arial" pitchFamily="34" charset="-120"/>
              </a:rPr>
              <a:t>Next: radio two provisioned by the recipe; acceptance criteria checked (Victor).</a:t>
            </a:r>
            <a:endParaRPr lang="en-US" sz="1200" dirty="0"/>
          </a:p>
          <a:p>
            <a:pPr marL="342900" indent="-342900">
              <a:buSzPct val="100000"/>
              <a:buChar char="▪"/>
            </a:pPr>
            <a:r>
              <a:rPr lang="en-US" sz="1200" dirty="0">
                <a:solidFill>
                  <a:srgbClr val="222A3F"/>
                </a:solidFill>
                <a:latin typeface="Arial" pitchFamily="34" charset="0"/>
                <a:ea typeface="Arial" pitchFamily="34" charset="-122"/>
                <a:cs typeface="Arial" pitchFamily="34" charset="-120"/>
              </a:rPr>
              <a:t>Next: bench soak, static range walk with the logging harness (Cannon); partner-selection screen and night readability (Josiah).</a:t>
            </a:r>
            <a:endParaRPr lang="en-US" sz="1200" dirty="0"/>
          </a:p>
        </p:txBody>
      </p:sp>
      <p:sp>
        <p:nvSpPr>
          <p:cNvPr id="22" name="Text 20"/>
          <p:cNvSpPr txBox="1"/>
          <p:nvPr/>
        </p:nvSpPr>
        <p:spPr>
          <a:xfrm>
            <a:off x="6537960" y="2788920"/>
            <a:ext cx="4572000" cy="320040"/>
          </a:xfrm>
          <a:prstGeom prst="rect">
            <a:avLst/>
          </a:prstGeom>
          <a:noFill/>
          <a:ln/>
        </p:spPr>
        <p:txBody>
          <a:bodyPr wrap="square" lIns="0" tIns="0" rIns="0" bIns="0" rtlCol="0" anchor="ctr"/>
          <a:lstStyle/>
          <a:p>
            <a:pPr indent="0" marL="0">
              <a:buNone/>
            </a:pPr>
            <a:r>
              <a:rPr lang="en-US" sz="1300" b="1" spc="100" kern="0" dirty="0">
                <a:solidFill>
                  <a:srgbClr val="16213D"/>
                </a:solidFill>
                <a:latin typeface="Arial" pitchFamily="34" charset="0"/>
                <a:ea typeface="Arial" pitchFamily="34" charset="-122"/>
                <a:cs typeface="Arial" pitchFamily="34" charset="-120"/>
              </a:rPr>
              <a:t>NEXT REVIEW REPORTS</a:t>
            </a:r>
            <a:endParaRPr lang="en-US" sz="1300" dirty="0"/>
          </a:p>
        </p:txBody>
      </p:sp>
      <p:sp>
        <p:nvSpPr>
          <p:cNvPr id="23" name="Text 21"/>
          <p:cNvSpPr txBox="1"/>
          <p:nvPr/>
        </p:nvSpPr>
        <p:spPr>
          <a:xfrm>
            <a:off x="6537960" y="3154680"/>
            <a:ext cx="5120640" cy="21031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The before/after of the PTR row: “no partner heard yet” to live coordinates.</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Field RSSI points overlaid on sheet 05's predicted curve.</a:t>
            </a:r>
            <a:endParaRPr lang="en-US" sz="1250" dirty="0"/>
          </a:p>
          <a:p>
            <a:pPr marL="342900" indent="-342900">
              <a:spcAft>
                <a:spcPts val="600"/>
              </a:spcAft>
              <a:buSzPct val="100000"/>
              <a:buChar char="▪"/>
            </a:pPr>
            <a:r>
              <a:rPr lang="en-US" sz="1250" dirty="0">
                <a:solidFill>
                  <a:srgbClr val="222A3F"/>
                </a:solidFill>
                <a:latin typeface="Arial" pitchFamily="34" charset="0"/>
                <a:ea typeface="Arial" pitchFamily="34" charset="-122"/>
                <a:cs typeface="Arial" pitchFamily="34" charset="-120"/>
              </a:rPr>
              <a:t>The five metrics from sheet 08, each marked pass or fail.</a:t>
            </a:r>
            <a:endParaRPr lang="en-US" sz="1250" dirty="0"/>
          </a:p>
          <a:p>
            <a:pPr marL="342900" indent="-342900">
              <a:buSzPct val="100000"/>
              <a:buChar char="▪"/>
            </a:pPr>
            <a:r>
              <a:rPr lang="en-US" sz="1250" dirty="0">
                <a:solidFill>
                  <a:srgbClr val="222A3F"/>
                </a:solidFill>
                <a:latin typeface="Arial" pitchFamily="34" charset="0"/>
                <a:ea typeface="Arial" pitchFamily="34" charset="-122"/>
                <a:cs typeface="Arial" pitchFamily="34" charset="-120"/>
              </a:rPr>
              <a:t>Then the first two-vehicle drive test.</a:t>
            </a:r>
            <a:endParaRPr lang="en-US" sz="1250" dirty="0"/>
          </a:p>
        </p:txBody>
      </p:sp>
      <p:sp>
        <p:nvSpPr>
          <p:cNvPr id="24" name="Shape 22"/>
          <p:cNvSpPr/>
          <p:nvPr/>
        </p:nvSpPr>
        <p:spPr>
          <a:xfrm>
            <a:off x="457200" y="5440680"/>
            <a:ext cx="11292840" cy="685800"/>
          </a:xfrm>
          <a:prstGeom prst="rect">
            <a:avLst/>
          </a:prstGeom>
          <a:solidFill>
            <a:srgbClr val="16213D"/>
          </a:solidFill>
          <a:ln/>
        </p:spPr>
      </p:sp>
      <p:sp>
        <p:nvSpPr>
          <p:cNvPr id="25" name="Text 23"/>
          <p:cNvSpPr txBox="1"/>
          <p:nvPr/>
        </p:nvSpPr>
        <p:spPr>
          <a:xfrm>
            <a:off x="731520" y="5532120"/>
            <a:ext cx="10744200"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Last week we showed a working machine. This week we published the exam it must pass. Next week it takes the exam.</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146304"/>
            <a:ext cx="11859768" cy="6565392"/>
          </a:xfrm>
          <a:prstGeom prst="rect">
            <a:avLst/>
          </a:prstGeom>
          <a:ln w="22225">
            <a:solidFill>
              <a:srgbClr val="16213D"/>
            </a:solidFill>
            <a:prstDash val="solid"/>
          </a:ln>
        </p:spPr>
      </p:sp>
      <p:sp>
        <p:nvSpPr>
          <p:cNvPr id="3" name="Shape 1"/>
          <p:cNvSpPr/>
          <p:nvPr/>
        </p:nvSpPr>
        <p:spPr>
          <a:xfrm>
            <a:off x="164592" y="6272784"/>
            <a:ext cx="11859768" cy="0"/>
          </a:xfrm>
          <a:prstGeom prst="line">
            <a:avLst/>
          </a:prstGeom>
          <a:noFill/>
          <a:ln w="12700">
            <a:solidFill>
              <a:srgbClr val="16213D"/>
            </a:solidFill>
            <a:prstDash val="solid"/>
          </a:ln>
        </p:spPr>
      </p:sp>
      <p:sp>
        <p:nvSpPr>
          <p:cNvPr id="4" name="Text 2"/>
          <p:cNvSpPr txBox="1"/>
          <p:nvPr/>
        </p:nvSpPr>
        <p:spPr>
          <a:xfrm>
            <a:off x="320040" y="6345936"/>
            <a:ext cx="4206240" cy="292608"/>
          </a:xfrm>
          <a:prstGeom prst="rect">
            <a:avLst/>
          </a:prstGeom>
          <a:noFill/>
          <a:ln/>
        </p:spPr>
        <p:txBody>
          <a:bodyPr wrap="square" lIns="0" tIns="0" rIns="0" bIns="0" rtlCol="0" anchor="ctr"/>
          <a:lstStyle/>
          <a:p>
            <a:pPr indent="0" marL="0">
              <a:buNone/>
            </a:pPr>
            <a:r>
              <a:rPr lang="en-US" sz="900" dirty="0">
                <a:solidFill>
                  <a:srgbClr val="5E6B85"/>
                </a:solidFill>
                <a:latin typeface="Courier New" pitchFamily="34" charset="0"/>
                <a:ea typeface="Courier New" pitchFamily="34" charset="-122"/>
                <a:cs typeface="Courier New" pitchFamily="34" charset="-120"/>
              </a:rPr>
              <a:t>GROUP 9  |  OFF-GRID VEHICLE TRACKER</a:t>
            </a:r>
            <a:endParaRPr lang="en-US" sz="900" dirty="0"/>
          </a:p>
        </p:txBody>
      </p:sp>
      <p:sp>
        <p:nvSpPr>
          <p:cNvPr id="5" name="Text 3"/>
          <p:cNvSpPr txBox="1"/>
          <p:nvPr/>
        </p:nvSpPr>
        <p:spPr>
          <a:xfrm>
            <a:off x="4572000" y="6345936"/>
            <a:ext cx="4206240" cy="292608"/>
          </a:xfrm>
          <a:prstGeom prst="rect">
            <a:avLst/>
          </a:prstGeom>
          <a:noFill/>
          <a:ln/>
        </p:spPr>
        <p:txBody>
          <a:bodyPr wrap="square" lIns="0" tIns="0" rIns="0" bIns="0" rtlCol="0" anchor="ctr"/>
          <a:lstStyle/>
          <a:p>
            <a:pPr algn="ctr" indent="0" marL="0">
              <a:buNone/>
            </a:pPr>
            <a:r>
              <a:rPr lang="en-US" sz="900" dirty="0">
                <a:solidFill>
                  <a:srgbClr val="5E6B85"/>
                </a:solidFill>
                <a:latin typeface="Courier New" pitchFamily="34" charset="0"/>
                <a:ea typeface="Courier New" pitchFamily="34" charset="-122"/>
                <a:cs typeface="Courier New" pitchFamily="34" charset="-120"/>
              </a:rPr>
              <a:t>REFERENCES</a:t>
            </a:r>
            <a:endParaRPr lang="en-US" sz="900" dirty="0"/>
          </a:p>
        </p:txBody>
      </p:sp>
      <p:sp>
        <p:nvSpPr>
          <p:cNvPr id="6" name="Text 4"/>
          <p:cNvSpPr txBox="1"/>
          <p:nvPr/>
        </p:nvSpPr>
        <p:spPr>
          <a:xfrm>
            <a:off x="8869680" y="6345936"/>
            <a:ext cx="3017520" cy="292608"/>
          </a:xfrm>
          <a:prstGeom prst="rect">
            <a:avLst/>
          </a:prstGeom>
          <a:noFill/>
          <a:ln/>
        </p:spPr>
        <p:txBody>
          <a:bodyPr wrap="square" lIns="0" tIns="0" rIns="0" bIns="0" rtlCol="0" anchor="ctr"/>
          <a:lstStyle/>
          <a:p>
            <a:pPr algn="r" indent="0" marL="0">
              <a:buNone/>
            </a:pPr>
            <a:r>
              <a:rPr lang="en-US" sz="900" dirty="0">
                <a:solidFill>
                  <a:srgbClr val="5E6B85"/>
                </a:solidFill>
                <a:latin typeface="Courier New" pitchFamily="34" charset="0"/>
                <a:ea typeface="Courier New" pitchFamily="34" charset="-122"/>
                <a:cs typeface="Courier New" pitchFamily="34" charset="-120"/>
              </a:rPr>
              <a:t>SHEET 11/11  REV D  2026-09-16</a:t>
            </a:r>
            <a:endParaRPr lang="en-US" sz="900" dirty="0"/>
          </a:p>
        </p:txBody>
      </p:sp>
      <p:sp>
        <p:nvSpPr>
          <p:cNvPr id="7" name="Text 5"/>
          <p:cNvSpPr txBox="1"/>
          <p:nvPr/>
        </p:nvSpPr>
        <p:spPr>
          <a:xfrm>
            <a:off x="457200" y="329184"/>
            <a:ext cx="9052560" cy="566928"/>
          </a:xfrm>
          <a:prstGeom prst="rect">
            <a:avLst/>
          </a:prstGeom>
          <a:noFill/>
          <a:ln/>
        </p:spPr>
        <p:txBody>
          <a:bodyPr wrap="square" lIns="0" tIns="0" rIns="0" bIns="0" rtlCol="0" anchor="ctr"/>
          <a:lstStyle/>
          <a:p>
            <a:pPr indent="0" marL="0">
              <a:buNone/>
            </a:pPr>
            <a:r>
              <a:rPr lang="en-US" sz="2300" b="1" spc="200" kern="0" dirty="0">
                <a:solidFill>
                  <a:srgbClr val="16213D"/>
                </a:solidFill>
                <a:latin typeface="Arial" pitchFamily="34" charset="0"/>
                <a:ea typeface="Arial" pitchFamily="34" charset="-122"/>
                <a:cs typeface="Arial" pitchFamily="34" charset="-120"/>
              </a:rPr>
              <a:t>REFERENCES</a:t>
            </a:r>
            <a:endParaRPr lang="en-US" sz="2300" dirty="0"/>
          </a:p>
        </p:txBody>
      </p:sp>
      <p:sp>
        <p:nvSpPr>
          <p:cNvPr id="8" name="Text 6"/>
          <p:cNvSpPr txBox="1"/>
          <p:nvPr/>
        </p:nvSpPr>
        <p:spPr>
          <a:xfrm>
            <a:off x="457200" y="1115568"/>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[1]</a:t>
            </a:r>
            <a:endParaRPr lang="en-US" sz="1000" dirty="0"/>
          </a:p>
        </p:txBody>
      </p:sp>
      <p:sp>
        <p:nvSpPr>
          <p:cNvPr id="9" name="Text 7"/>
          <p:cNvSpPr txBox="1"/>
          <p:nvPr/>
        </p:nvSpPr>
        <p:spPr>
          <a:xfrm>
            <a:off x="960120" y="1115568"/>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Semtech Corp., SX1276/77/78/79 Datasheet. SNR limit per spreading factor.</a:t>
            </a:r>
            <a:endParaRPr lang="en-US" sz="950" dirty="0"/>
          </a:p>
        </p:txBody>
      </p:sp>
      <p:sp>
        <p:nvSpPr>
          <p:cNvPr id="10" name="Text 8"/>
          <p:cNvSpPr txBox="1"/>
          <p:nvPr/>
        </p:nvSpPr>
        <p:spPr>
          <a:xfrm>
            <a:off x="960120" y="1773936"/>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1" invalidUrl="" action="" tgtFrame="" tooltip="https://www.semtech.com/products/wireless-rf/lora-connect/sx1276" history="1" highlightClick="0" endSnd="0">
                  <a:extLst>
                    <a:ext uri="{A12FA001-AC4F-418D-AE19-62706E023703}">
                      <ahyp:hlinkClr xmlns:ahyp="http://schemas.microsoft.com/office/drawing/2018/hyperlinkcolor" val="tx"/>
                    </a:ext>
                  </a:extLst>
                </a:hlinkClick>
              </a:rPr>
              <a:t>semtech.com/products/wireless-rf/lora-connect/sx1276</a:t>
            </a:r>
            <a:endParaRPr lang="en-US" sz="800" dirty="0"/>
          </a:p>
        </p:txBody>
      </p:sp>
      <p:sp>
        <p:nvSpPr>
          <p:cNvPr id="11" name="Text 9"/>
          <p:cNvSpPr txBox="1"/>
          <p:nvPr/>
        </p:nvSpPr>
        <p:spPr>
          <a:xfrm>
            <a:off x="457200" y="2084832"/>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[2]</a:t>
            </a:r>
            <a:endParaRPr lang="en-US" sz="1000" dirty="0"/>
          </a:p>
        </p:txBody>
      </p:sp>
      <p:sp>
        <p:nvSpPr>
          <p:cNvPr id="12" name="Text 10"/>
          <p:cNvSpPr txBox="1"/>
          <p:nvPr/>
        </p:nvSpPr>
        <p:spPr>
          <a:xfrm>
            <a:off x="960120" y="2084832"/>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Semtech Corp., AN1200.22, LoRa Modulation Basics. Airtime and processing gain.</a:t>
            </a:r>
            <a:endParaRPr lang="en-US" sz="950" dirty="0"/>
          </a:p>
        </p:txBody>
      </p:sp>
      <p:sp>
        <p:nvSpPr>
          <p:cNvPr id="13" name="Text 11"/>
          <p:cNvSpPr txBox="1"/>
          <p:nvPr/>
        </p:nvSpPr>
        <p:spPr>
          <a:xfrm>
            <a:off x="960120" y="2743200"/>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2" invalidUrl="" action="" tgtFrame="" tooltip="https://info.semtech.com/find-documentation" history="1" highlightClick="0" endSnd="0">
                  <a:extLst>
                    <a:ext uri="{A12FA001-AC4F-418D-AE19-62706E023703}">
                      <ahyp:hlinkClr xmlns:ahyp="http://schemas.microsoft.com/office/drawing/2018/hyperlinkcolor" val="tx"/>
                    </a:ext>
                  </a:extLst>
                </a:hlinkClick>
              </a:rPr>
              <a:t>info.semtech.com/find-documentation (search AN1200.22)</a:t>
            </a:r>
            <a:endParaRPr lang="en-US" sz="800" dirty="0"/>
          </a:p>
        </p:txBody>
      </p:sp>
      <p:sp>
        <p:nvSpPr>
          <p:cNvPr id="14" name="Text 12"/>
          <p:cNvSpPr txBox="1"/>
          <p:nvPr/>
        </p:nvSpPr>
        <p:spPr>
          <a:xfrm>
            <a:off x="457200" y="3054096"/>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[3]</a:t>
            </a:r>
            <a:endParaRPr lang="en-US" sz="1000" dirty="0"/>
          </a:p>
        </p:txBody>
      </p:sp>
      <p:sp>
        <p:nvSpPr>
          <p:cNvPr id="15" name="Text 13"/>
          <p:cNvSpPr txBox="1"/>
          <p:nvPr/>
        </p:nvSpPr>
        <p:spPr>
          <a:xfrm>
            <a:off x="960120" y="3054096"/>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Semtech Corp., SX1261/2 Datasheet. Sensitivity and transmit specifications.</a:t>
            </a:r>
            <a:endParaRPr lang="en-US" sz="950" dirty="0"/>
          </a:p>
        </p:txBody>
      </p:sp>
      <p:sp>
        <p:nvSpPr>
          <p:cNvPr id="16" name="Text 14"/>
          <p:cNvSpPr txBox="1"/>
          <p:nvPr/>
        </p:nvSpPr>
        <p:spPr>
          <a:xfrm>
            <a:off x="960120" y="3712464"/>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3" invalidUrl="" action="" tgtFrame="" tooltip="https://www.semtech.com/products/wireless-rf/lora-connect/sx1262" history="1" highlightClick="0" endSnd="0">
                  <a:extLst>
                    <a:ext uri="{A12FA001-AC4F-418D-AE19-62706E023703}">
                      <ahyp:hlinkClr xmlns:ahyp="http://schemas.microsoft.com/office/drawing/2018/hyperlinkcolor" val="tx"/>
                    </a:ext>
                  </a:extLst>
                </a:hlinkClick>
              </a:rPr>
              <a:t>semtech.com/products/wireless-rf/lora-connect/sx1262</a:t>
            </a:r>
            <a:endParaRPr lang="en-US" sz="800" dirty="0"/>
          </a:p>
        </p:txBody>
      </p:sp>
      <p:sp>
        <p:nvSpPr>
          <p:cNvPr id="17" name="Text 15"/>
          <p:cNvSpPr txBox="1"/>
          <p:nvPr/>
        </p:nvSpPr>
        <p:spPr>
          <a:xfrm>
            <a:off x="457200" y="4023360"/>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[4]</a:t>
            </a:r>
            <a:endParaRPr lang="en-US" sz="1000" dirty="0"/>
          </a:p>
        </p:txBody>
      </p:sp>
      <p:sp>
        <p:nvSpPr>
          <p:cNvPr id="18" name="Text 16"/>
          <p:cNvSpPr txBox="1"/>
          <p:nvPr/>
        </p:nvSpPr>
        <p:spPr>
          <a:xfrm>
            <a:off x="960120" y="4023360"/>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Meshtastic Documentation, LoRa and Position Configuration.</a:t>
            </a:r>
            <a:endParaRPr lang="en-US" sz="950" dirty="0"/>
          </a:p>
        </p:txBody>
      </p:sp>
      <p:sp>
        <p:nvSpPr>
          <p:cNvPr id="19" name="Text 17"/>
          <p:cNvSpPr txBox="1"/>
          <p:nvPr/>
        </p:nvSpPr>
        <p:spPr>
          <a:xfrm>
            <a:off x="960120" y="4681728"/>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4" invalidUrl="" action="" tgtFrame="" tooltip="https://meshtastic.org/docs/configuration/radio/lora/" history="1" highlightClick="0" endSnd="0">
                  <a:extLst>
                    <a:ext uri="{A12FA001-AC4F-418D-AE19-62706E023703}">
                      <ahyp:hlinkClr xmlns:ahyp="http://schemas.microsoft.com/office/drawing/2018/hyperlinkcolor" val="tx"/>
                    </a:ext>
                  </a:extLst>
                </a:hlinkClick>
              </a:rPr>
              <a:t>meshtastic.org/docs/configuration/radio/lora</a:t>
            </a:r>
            <a:endParaRPr lang="en-US" sz="800" dirty="0"/>
          </a:p>
        </p:txBody>
      </p:sp>
      <p:sp>
        <p:nvSpPr>
          <p:cNvPr id="20" name="Text 18"/>
          <p:cNvSpPr txBox="1"/>
          <p:nvPr/>
        </p:nvSpPr>
        <p:spPr>
          <a:xfrm>
            <a:off x="457200" y="4992624"/>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[5]</a:t>
            </a:r>
            <a:endParaRPr lang="en-US" sz="1000" dirty="0"/>
          </a:p>
        </p:txBody>
      </p:sp>
      <p:sp>
        <p:nvSpPr>
          <p:cNvPr id="21" name="Text 19"/>
          <p:cNvSpPr txBox="1"/>
          <p:nvPr/>
        </p:nvSpPr>
        <p:spPr>
          <a:xfrm>
            <a:off x="960120" y="4992624"/>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Meshtastic Protobufs Repository. The published message schema.</a:t>
            </a:r>
            <a:endParaRPr lang="en-US" sz="950" dirty="0"/>
          </a:p>
        </p:txBody>
      </p:sp>
      <p:sp>
        <p:nvSpPr>
          <p:cNvPr id="22" name="Text 20"/>
          <p:cNvSpPr txBox="1"/>
          <p:nvPr/>
        </p:nvSpPr>
        <p:spPr>
          <a:xfrm>
            <a:off x="960120" y="5650992"/>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5" invalidUrl="" action="" tgtFrame="" tooltip="https://github.com/meshtastic/protobufs" history="1" highlightClick="0" endSnd="0">
                  <a:extLst>
                    <a:ext uri="{A12FA001-AC4F-418D-AE19-62706E023703}">
                      <ahyp:hlinkClr xmlns:ahyp="http://schemas.microsoft.com/office/drawing/2018/hyperlinkcolor" val="tx"/>
                    </a:ext>
                  </a:extLst>
                </a:hlinkClick>
              </a:rPr>
              <a:t>github.com/meshtastic/protobufs</a:t>
            </a:r>
            <a:endParaRPr lang="en-US" sz="800" dirty="0"/>
          </a:p>
        </p:txBody>
      </p:sp>
      <p:sp>
        <p:nvSpPr>
          <p:cNvPr id="23" name="Text 21"/>
          <p:cNvSpPr txBox="1"/>
          <p:nvPr/>
        </p:nvSpPr>
        <p:spPr>
          <a:xfrm>
            <a:off x="6263640" y="1115568"/>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[6]</a:t>
            </a:r>
            <a:endParaRPr lang="en-US" sz="1000" dirty="0"/>
          </a:p>
        </p:txBody>
      </p:sp>
      <p:sp>
        <p:nvSpPr>
          <p:cNvPr id="24" name="Text 22"/>
          <p:cNvSpPr txBox="1"/>
          <p:nvPr/>
        </p:nvSpPr>
        <p:spPr>
          <a:xfrm>
            <a:off x="6766560" y="1115568"/>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FCC Rules, 47 CFR 15.247. The 902 to 928 MHz ISM band.</a:t>
            </a:r>
            <a:endParaRPr lang="en-US" sz="950" dirty="0"/>
          </a:p>
        </p:txBody>
      </p:sp>
      <p:sp>
        <p:nvSpPr>
          <p:cNvPr id="25" name="Text 23"/>
          <p:cNvSpPr txBox="1"/>
          <p:nvPr/>
        </p:nvSpPr>
        <p:spPr>
          <a:xfrm>
            <a:off x="6766560" y="1773936"/>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6" invalidUrl="" action="" tgtFrame="" tooltip="https://www.law.cornell.edu/cfr/text/47/15.247" history="1" highlightClick="0" endSnd="0">
                  <a:extLst>
                    <a:ext uri="{A12FA001-AC4F-418D-AE19-62706E023703}">
                      <ahyp:hlinkClr xmlns:ahyp="http://schemas.microsoft.com/office/drawing/2018/hyperlinkcolor" val="tx"/>
                    </a:ext>
                  </a:extLst>
                </a:hlinkClick>
              </a:rPr>
              <a:t>law.cornell.edu/cfr/text/47/15.247</a:t>
            </a:r>
            <a:endParaRPr lang="en-US" sz="800" dirty="0"/>
          </a:p>
        </p:txBody>
      </p:sp>
      <p:sp>
        <p:nvSpPr>
          <p:cNvPr id="26" name="Text 24"/>
          <p:cNvSpPr txBox="1"/>
          <p:nvPr/>
        </p:nvSpPr>
        <p:spPr>
          <a:xfrm>
            <a:off x="6263640" y="2084832"/>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[7]</a:t>
            </a:r>
            <a:endParaRPr lang="en-US" sz="1000" dirty="0"/>
          </a:p>
        </p:txBody>
      </p:sp>
      <p:sp>
        <p:nvSpPr>
          <p:cNvPr id="27" name="Text 25"/>
          <p:cNvSpPr txBox="1"/>
          <p:nvPr/>
        </p:nvSpPr>
        <p:spPr>
          <a:xfrm>
            <a:off x="6766560" y="2084832"/>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ITU-R M.1371, Automatic Identification System. Beacon-interval precedent.</a:t>
            </a:r>
            <a:endParaRPr lang="en-US" sz="950" dirty="0"/>
          </a:p>
        </p:txBody>
      </p:sp>
      <p:sp>
        <p:nvSpPr>
          <p:cNvPr id="28" name="Text 26"/>
          <p:cNvSpPr txBox="1"/>
          <p:nvPr/>
        </p:nvSpPr>
        <p:spPr>
          <a:xfrm>
            <a:off x="6766560" y="2743200"/>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7" invalidUrl="" action="" tgtFrame="" tooltip="https://www.itu.int/rec/R-REC-M.1371/en" history="1" highlightClick="0" endSnd="0">
                  <a:extLst>
                    <a:ext uri="{A12FA001-AC4F-418D-AE19-62706E023703}">
                      <ahyp:hlinkClr xmlns:ahyp="http://schemas.microsoft.com/office/drawing/2018/hyperlinkcolor" val="tx"/>
                    </a:ext>
                  </a:extLst>
                </a:hlinkClick>
              </a:rPr>
              <a:t>itu.int/rec/R-REC-M.1371/en</a:t>
            </a:r>
            <a:endParaRPr lang="en-US" sz="800" dirty="0"/>
          </a:p>
        </p:txBody>
      </p:sp>
      <p:sp>
        <p:nvSpPr>
          <p:cNvPr id="29" name="Text 27"/>
          <p:cNvSpPr txBox="1"/>
          <p:nvPr/>
        </p:nvSpPr>
        <p:spPr>
          <a:xfrm>
            <a:off x="6263640" y="3054096"/>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[8]</a:t>
            </a:r>
            <a:endParaRPr lang="en-US" sz="1000" dirty="0"/>
          </a:p>
        </p:txBody>
      </p:sp>
      <p:sp>
        <p:nvSpPr>
          <p:cNvPr id="30" name="Text 28"/>
          <p:cNvSpPr txBox="1"/>
          <p:nvPr/>
        </p:nvSpPr>
        <p:spPr>
          <a:xfrm>
            <a:off x="6766560" y="3054096"/>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Friis/FSPL path-loss model background and haversine reference.</a:t>
            </a:r>
            <a:endParaRPr lang="en-US" sz="950" dirty="0"/>
          </a:p>
        </p:txBody>
      </p:sp>
      <p:sp>
        <p:nvSpPr>
          <p:cNvPr id="31" name="Text 29"/>
          <p:cNvSpPr txBox="1"/>
          <p:nvPr/>
        </p:nvSpPr>
        <p:spPr>
          <a:xfrm>
            <a:off x="6766560" y="3712464"/>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8" invalidUrl="" action="" tgtFrame="" tooltip="https://www.movable-type.co.uk/scripts/latlong.html" history="1" highlightClick="0" endSnd="0">
                  <a:extLst>
                    <a:ext uri="{A12FA001-AC4F-418D-AE19-62706E023703}">
                      <ahyp:hlinkClr xmlns:ahyp="http://schemas.microsoft.com/office/drawing/2018/hyperlinkcolor" val="tx"/>
                    </a:ext>
                  </a:extLst>
                </a:hlinkClick>
              </a:rPr>
              <a:t>movable-type.co.uk/scripts/latlong.html</a:t>
            </a:r>
            <a:endParaRPr lang="en-US" sz="800" dirty="0"/>
          </a:p>
        </p:txBody>
      </p:sp>
      <p:sp>
        <p:nvSpPr>
          <p:cNvPr id="32" name="Text 30"/>
          <p:cNvSpPr txBox="1"/>
          <p:nvPr/>
        </p:nvSpPr>
        <p:spPr>
          <a:xfrm>
            <a:off x="6263640" y="4023360"/>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[9]</a:t>
            </a:r>
            <a:endParaRPr lang="en-US" sz="1000" dirty="0"/>
          </a:p>
        </p:txBody>
      </p:sp>
      <p:sp>
        <p:nvSpPr>
          <p:cNvPr id="33" name="Text 31"/>
          <p:cNvSpPr txBox="1"/>
          <p:nvPr/>
        </p:nvSpPr>
        <p:spPr>
          <a:xfrm>
            <a:off x="6766560" y="4023360"/>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Bluetooth SIG, Core Specification (GATT).</a:t>
            </a:r>
            <a:endParaRPr lang="en-US" sz="950" dirty="0"/>
          </a:p>
        </p:txBody>
      </p:sp>
      <p:sp>
        <p:nvSpPr>
          <p:cNvPr id="34" name="Text 32"/>
          <p:cNvSpPr txBox="1"/>
          <p:nvPr/>
        </p:nvSpPr>
        <p:spPr>
          <a:xfrm>
            <a:off x="6766560" y="4681728"/>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9" invalidUrl="" action="" tgtFrame="" tooltip="https://www.bluetooth.com/specifications/specs/core-specification/" history="1" highlightClick="0" endSnd="0">
                  <a:extLst>
                    <a:ext uri="{A12FA001-AC4F-418D-AE19-62706E023703}">
                      <ahyp:hlinkClr xmlns:ahyp="http://schemas.microsoft.com/office/drawing/2018/hyperlinkcolor" val="tx"/>
                    </a:ext>
                  </a:extLst>
                </a:hlinkClick>
              </a:rPr>
              <a:t>bluetooth.com/specifications/specs/core-specification</a:t>
            </a:r>
            <a:endParaRPr lang="en-US" sz="800" dirty="0"/>
          </a:p>
        </p:txBody>
      </p:sp>
      <p:sp>
        <p:nvSpPr>
          <p:cNvPr id="35" name="Text 33"/>
          <p:cNvSpPr txBox="1"/>
          <p:nvPr/>
        </p:nvSpPr>
        <p:spPr>
          <a:xfrm>
            <a:off x="6263640" y="4992624"/>
            <a:ext cx="457200" cy="274320"/>
          </a:xfrm>
          <a:prstGeom prst="rect">
            <a:avLst/>
          </a:prstGeom>
          <a:noFill/>
          <a:ln/>
        </p:spPr>
        <p:txBody>
          <a:bodyPr wrap="square" lIns="0" tIns="0" rIns="0" bIns="0" rtlCol="0" anchor="ctr"/>
          <a:lstStyle/>
          <a:p>
            <a:pPr indent="0" marL="0">
              <a:buNone/>
            </a:pPr>
            <a:r>
              <a:rPr lang="en-US" sz="1000" b="1" dirty="0">
                <a:solidFill>
                  <a:srgbClr val="E58E1A"/>
                </a:solidFill>
                <a:latin typeface="Courier New" pitchFamily="34" charset="0"/>
                <a:ea typeface="Courier New" pitchFamily="34" charset="-122"/>
                <a:cs typeface="Courier New" pitchFamily="34" charset="-120"/>
              </a:rPr>
              <a:t>[10]</a:t>
            </a:r>
            <a:endParaRPr lang="en-US" sz="1000" dirty="0"/>
          </a:p>
        </p:txBody>
      </p:sp>
      <p:sp>
        <p:nvSpPr>
          <p:cNvPr id="36" name="Text 34"/>
          <p:cNvSpPr txBox="1"/>
          <p:nvPr/>
        </p:nvSpPr>
        <p:spPr>
          <a:xfrm>
            <a:off x="6766560" y="4992624"/>
            <a:ext cx="5074920" cy="658368"/>
          </a:xfrm>
          <a:prstGeom prst="rect">
            <a:avLst/>
          </a:prstGeom>
          <a:noFill/>
          <a:ln/>
        </p:spPr>
        <p:txBody>
          <a:bodyPr wrap="square" lIns="0" tIns="0" rIns="0" bIns="0" rtlCol="0" anchor="ctr"/>
          <a:lstStyle/>
          <a:p>
            <a:pPr indent="0" marL="0">
              <a:buNone/>
            </a:pPr>
            <a:r>
              <a:rPr lang="en-US" sz="950" dirty="0">
                <a:solidFill>
                  <a:srgbClr val="222A3F"/>
                </a:solidFill>
                <a:latin typeface="Arial" pitchFamily="34" charset="0"/>
                <a:ea typeface="Arial" pitchFamily="34" charset="-122"/>
                <a:cs typeface="Arial" pitchFamily="34" charset="-120"/>
              </a:rPr>
              <a:t>Group 9 repository: RADIO_PHY_DEEP_DIVE, TELECOM_ANALYSIS, hardware/README, testing/.</a:t>
            </a:r>
            <a:endParaRPr lang="en-US" sz="950" dirty="0"/>
          </a:p>
        </p:txBody>
      </p:sp>
      <p:sp>
        <p:nvSpPr>
          <p:cNvPr id="37" name="Text 35"/>
          <p:cNvSpPr txBox="1"/>
          <p:nvPr/>
        </p:nvSpPr>
        <p:spPr>
          <a:xfrm>
            <a:off x="6766560" y="5650992"/>
            <a:ext cx="5074920" cy="219456"/>
          </a:xfrm>
          <a:prstGeom prst="rect">
            <a:avLst/>
          </a:prstGeom>
          <a:noFill/>
          <a:ln/>
        </p:spPr>
        <p:txBody>
          <a:bodyPr wrap="square" lIns="0" tIns="0" rIns="0" bIns="0" rtlCol="0" anchor="ctr"/>
          <a:lstStyle/>
          <a:p>
            <a:pPr indent="0" marL="0">
              <a:buNone/>
            </a:pPr>
            <a:r>
              <a:rPr lang="en-US" sz="800" u="sng" dirty="0">
                <a:solidFill>
                  <a:srgbClr val="1199BD"/>
                </a:solidFill>
                <a:latin typeface="Courier New" pitchFamily="34" charset="0"/>
                <a:ea typeface="Courier New" pitchFamily="34" charset="-122"/>
                <a:cs typeface="Courier New" pitchFamily="34" charset="-120"/>
                <a:hlinkClick r:id="rId10" invalidUrl="" action="" tgtFrame="" tooltip="https://github.com/deosgracius/offgrid-vehicle-tracker" history="1" highlightClick="0" endSnd="0">
                  <a:extLst>
                    <a:ext uri="{A12FA001-AC4F-418D-AE19-62706E023703}">
                      <ahyp:hlinkClr xmlns:ahyp="http://schemas.microsoft.com/office/drawing/2018/hyperlinkcolor" val="tx"/>
                    </a:ext>
                  </a:extLst>
                </a:hlinkClick>
              </a:rPr>
              <a:t>github.com/deosgracius/offgrid-vehicle-tracker</a:t>
            </a:r>
            <a:endParaRPr lang="en-US" sz="800" dirty="0"/>
          </a:p>
        </p:txBody>
      </p:sp>
      <p:sp>
        <p:nvSpPr>
          <p:cNvPr id="38" name="Shape 36"/>
          <p:cNvSpPr/>
          <p:nvPr/>
        </p:nvSpPr>
        <p:spPr>
          <a:xfrm>
            <a:off x="457200" y="5989320"/>
            <a:ext cx="11292840" cy="0"/>
          </a:xfrm>
          <a:prstGeom prst="line">
            <a:avLst/>
          </a:prstGeom>
          <a:noFill/>
          <a:ln w="9525">
            <a:solidFill>
              <a:srgbClr val="9AA7BE"/>
            </a:solidFill>
            <a:prstDash val="solid"/>
          </a:ln>
        </p:spPr>
      </p:sp>
      <p:sp>
        <p:nvSpPr>
          <p:cNvPr id="39" name="Text 37"/>
          <p:cNvSpPr txBox="1"/>
          <p:nvPr/>
        </p:nvSpPr>
        <p:spPr>
          <a:xfrm>
            <a:off x="457200" y="6035040"/>
            <a:ext cx="11292840" cy="237744"/>
          </a:xfrm>
          <a:prstGeom prst="rect">
            <a:avLst/>
          </a:prstGeom>
          <a:noFill/>
          <a:ln/>
        </p:spPr>
        <p:txBody>
          <a:bodyPr wrap="square" lIns="0" tIns="0" rIns="0" bIns="0" rtlCol="0" anchor="ctr"/>
          <a:lstStyle/>
          <a:p>
            <a:pPr indent="0" marL="0">
              <a:buNone/>
            </a:pPr>
            <a:r>
              <a:rPr lang="en-US" sz="850" dirty="0">
                <a:solidFill>
                  <a:srgbClr val="5E6B85"/>
                </a:solidFill>
                <a:latin typeface="Courier New" pitchFamily="34" charset="0"/>
                <a:ea typeface="Courier New" pitchFamily="34" charset="-122"/>
                <a:cs typeface="Courier New" pitchFamily="34" charset="-120"/>
              </a:rPr>
              <a:t>All firmware, documentation, logs, and this deck's generator are version controlled at github.com/deosgracius/offgrid-vehicle-tracker</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2026-09-16T09:39:34Z</dcterms:created>
  <dcterms:modified xsi:type="dcterms:W3CDTF">2026-09-16T09:39:34Z</dcterms:modified>
</cp:coreProperties>
</file>