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Single-page system view (drawn in Eraser, kept in docs/system-diagram.png). Walk left to right: hardware per vehicle, then the firmware split with TrackerState as the contract, then the telecom-layer view at the bottom. Vehicle B is identical.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packet's journey, numbered: (1) partner GNSS computes a fix, 1 Hz NMEA over UART. (2) Meshtastic B builds a Position packet — lat/lon, speed, track, GPS time — and broadcasts over LoRa every 30-60 s (smart: 30 s / 50 m while moving). (3) Meshtastic A decrypts, files it in its node DB, queues it on FromRadio, rings the FromNum doorbell. (4) protocol/ drains the queue over BLE and nanopb-decodes each frame into node_table. (5) node_table publishes TrackerState once a second — one writer. (6) nav engine reads it — one reader — haversine distance, bearing minus own COG. (7) ui_render redraws at 2 Hz. Full narrative with code: docs/BLE_LINK_WALKTHROUGH.md.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each state works in the shipped code (docs/BLE_LINK_WALKTHROUGH.md has the full excerpts): SCANNING - direct connect to the radio address remembered in NVS first (a Meshtastic radio only general-advertises from boot until its first disconnect, so a scan alone can never reconnect); 1.5 s scan fallback handles first pairing and radio replacement, exponential backoff 1-8 s. CONNECTING - 3 attempts, 10 s each; +9 dBm TX because default power was marginal; MTU 517 so a protobuf frame fits one read. BONDING - Just Works encrypted pairing on every connect; no stored bond ON PURPOSE: a bonded Meshtastic peripheral stops advertising entirely (bench-proven trap). SUBSCRIBED - subscribe FromNum (the doorbell), then write want_config_id with a random nonce so the radio replays its whole node DB; nonce back = snapshot complete. DRAINING - read FromRadio until a zero-length read; one notify can mean many queued frames. Every failure funnels through one teardown back to SCANNING - no state can wedge. Road-proven: mid-carry disconnect on Sep 1 self-recovered with no user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280000">
            <a:off x="9902952" y="577901"/>
            <a:ext cx="1408176" cy="1728216"/>
          </a:xfrm>
          <a:prstGeom prst="triangle">
            <a:avLst/>
          </a:prstGeom>
          <a:solidFill>
            <a:srgbClr val="CADCF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6858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OFF-GRID VEHICLE TRACKER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8132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Review  ·  Weeks 1–2  ·  Group 9  ·  Sponsor: Dr. Richard Gale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2A357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860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— design, build, and field-validate a fully off-grid system that continuously shows a driver the direction and distance to a partner vehicle, across multi-km terrain, with no communications infrastructure.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2A3575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3611880"/>
            <a:ext cx="2560320" cy="91440"/>
          </a:xfrm>
          <a:prstGeom prst="roundRect">
            <a:avLst/>
          </a:prstGeom>
          <a:solidFill>
            <a:srgbClr val="1199B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7673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0873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Firmware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4074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Meshtastic BLE client · protobuf decode · TrackerState feed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01568" y="361188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2A3575"/>
          </a:solidFill>
          <a:ln/>
        </p:spPr>
      </p:sp>
      <p:sp>
        <p:nvSpPr>
          <p:cNvPr id="13" name="Shape 11"/>
          <p:cNvSpPr/>
          <p:nvPr/>
        </p:nvSpPr>
        <p:spPr>
          <a:xfrm>
            <a:off x="3401568" y="3611880"/>
            <a:ext cx="2560320" cy="91440"/>
          </a:xfrm>
          <a:prstGeom prst="roundRect">
            <a:avLst/>
          </a:prstGeom>
          <a:solidFill>
            <a:srgbClr val="6D4BD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01568" y="37673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Josiah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401568" y="40873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&amp; Navigation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538728" y="44074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RLCD rendering · arrow UI · distance/bearing math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63056" y="361188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2A3575"/>
          </a:solidFill>
          <a:ln/>
        </p:spPr>
      </p:sp>
      <p:sp>
        <p:nvSpPr>
          <p:cNvPr id="18" name="Shape 16"/>
          <p:cNvSpPr/>
          <p:nvPr/>
        </p:nvSpPr>
        <p:spPr>
          <a:xfrm>
            <a:off x="6163056" y="3611880"/>
            <a:ext cx="2560320" cy="91440"/>
          </a:xfrm>
          <a:prstGeom prst="roundRect">
            <a:avLst/>
          </a:prstGeom>
          <a:solidFill>
            <a:srgbClr val="E58E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63056" y="37673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163056" y="40873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&amp; Hardware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300216" y="44074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Meshtastic config · GNSS · antennas · range campaign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924544" y="361188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2A3575"/>
          </a:solidFill>
          <a:ln/>
        </p:spPr>
      </p:sp>
      <p:sp>
        <p:nvSpPr>
          <p:cNvPr id="23" name="Shape 21"/>
          <p:cNvSpPr/>
          <p:nvPr/>
        </p:nvSpPr>
        <p:spPr>
          <a:xfrm>
            <a:off x="8924544" y="3611880"/>
            <a:ext cx="2560320" cy="91440"/>
          </a:xfrm>
          <a:prstGeom prst="roundRect">
            <a:avLst/>
          </a:prstGeom>
          <a:solidFill>
            <a:srgbClr val="D9488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924544" y="37673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Cannon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924544" y="40873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&amp; Test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061704" y="44074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rig · logging harness · drive tests · reports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the full system architecture — context, hardware, firmware, data flow, link state machine — plus schedule and effort.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Weeks 1–2 · Shared Foundations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interface contract (agreed W1–W2)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486400" cy="2148840"/>
          </a:xfrm>
          <a:prstGeom prst="roundRect">
            <a:avLst>
              <a:gd name="adj" fmla="val 4255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TrackerState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Fix  self;     // own GPS: lat lon course speed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Fix  partner;  // via LoRa: lat lon age_s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ble_connected;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79476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writer (protocol task) · one reader (UI task) · changed only by joint commit. This is what lets all four lanes build in parallel.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Process: every interface testable in isolation</a:t>
            </a:r>
            <a:endParaRPr lang="en-US" sz="1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508760"/>
          <a:ext cx="53035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6118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test (no custom code)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GPS → radio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visible on radio OLED + phone app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 A ↔ 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phone apps see each other's position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 Client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Meshtastic Python CLI from a laptop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→ 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TrackerState scenarios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02920" y="4754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in place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2920" y="5257800"/>
            <a:ext cx="256032" cy="256032"/>
          </a:xfrm>
          <a:prstGeom prst="ellipse">
            <a:avLst/>
          </a:prstGeom>
          <a:solidFill>
            <a:srgbClr val="E58E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86968" y="521208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git repo + CI-ready layout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217920" y="5257800"/>
            <a:ext cx="256032" cy="256032"/>
          </a:xfrm>
          <a:prstGeom prst="ellipse">
            <a:avLst/>
          </a:prstGeom>
          <a:solidFill>
            <a:srgbClr val="E58E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1968" y="521208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PlatformIO toolchain (ESP32-S3)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" y="5824728"/>
            <a:ext cx="256032" cy="256032"/>
          </a:xfrm>
          <a:prstGeom prst="ellipse">
            <a:avLst/>
          </a:prstGeom>
          <a:solidFill>
            <a:srgbClr val="E58E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86968" y="577900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nanopb + Meshtastic protobuf schema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217920" y="5824728"/>
            <a:ext cx="256032" cy="256032"/>
          </a:xfrm>
          <a:prstGeom prst="ellipse">
            <a:avLst/>
          </a:prstGeom>
          <a:solidFill>
            <a:srgbClr val="E58E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1968" y="577900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received &amp; bench-verified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Complete System — One Page</a:t>
            </a:r>
            <a:endParaRPr lang="en-US" sz="3000" dirty="0"/>
          </a:p>
        </p:txBody>
      </p:sp>
      <p:pic>
        <p:nvPicPr>
          <p:cNvPr id="3" name="Image 0" descr="C:/Users/deogr/Documents/Fall Project/Off-Grid Vehicle dection project/docs/system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60120"/>
            <a:ext cx="5742432" cy="57698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92240" y="1188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it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492240" y="1645920"/>
            <a:ext cx="51663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— one vehicle's hardware: GNSS → Heltec radio (stock Meshtastic) → roof antenna, plus the Waveshare display, all on vehicle 12 V.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— inside the display firmware: Deo's protocol/ chain writes TrackerState; Josiah's nav/ + ui/ chain reads it. One writer, one reader.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— the same system seen as telecom layers: ~40 B application payload · managed-flooding MAC with AES-256 · LoRa CSS PHY decoding 15 dB below the noise floor.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B is an identical copy — the symmetry IS the design: no server, no master, no single point of failure.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6492240" y="5623560"/>
            <a:ext cx="5166360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20840" y="571500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blue/green on the right is the team's only custom code. Everything else ships tested.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Context — Nothing Is a Server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61320" y="34747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1199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61320" y="4023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300" dirty="0"/>
          </a:p>
        </p:txBody>
      </p:sp>
      <p:pic>
        <p:nvPicPr>
          <p:cNvPr id="5" name="Image 0" descr="C:/Users/deogr/AppData/Local/Temp/claude/C--Users-deogr-Documents-Fall-Project-Off-Grid-Vehicle-dection-project/e8b2e8fa-1513-4aa8-a8f6-ce4fcd20e664/scratchpad/mermaid_png/diag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17320"/>
            <a:ext cx="7863840" cy="2688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2519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broadcasts flow symmetrically — identical installs, no master. (ARCHITECTURE.md §1)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366760" y="1188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facts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366760" y="1600200"/>
            <a:ext cx="33375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Radios broadcast position every 30–60 s on a shared AES-256 channel.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flooding, hop limit 3 — a relay needs zero configuration.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display consumes its own radio's node database over BLE.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without redesign: a 3rd vehicle or base camp just joins the mesh.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914400" y="534924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188720" y="54864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consequence: the system has no single point of failure outside a vehicle's own pair — losing any node degrades only that vehicle's view, never the mesh.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 Architecture — One Vehicle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61320" y="34747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1199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61320" y="4023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2412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Radio node — Heltec WiFi LoRa 32 V4 (stock Meshtastic)</a:t>
            </a:r>
            <a:endParaRPr lang="en-US" sz="1400" dirty="0"/>
          </a:p>
        </p:txBody>
      </p:sp>
      <p:pic>
        <p:nvPicPr>
          <p:cNvPr id="6" name="Image 0" descr="C:/Users/deogr/AppData/Local/Temp/claude/C--Users-deogr-Documents-Fall-Project-Off-Grid-Vehicle-dection-project/e8b2e8fa-1513-4aa8-a8f6-ce4fcd20e664/scratchpad/mermaid_png/diag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89888"/>
            <a:ext cx="7772400" cy="15819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31272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Display node — Waveshare ESP32-S3-RLCD-4.2 (our firmware)</a:t>
            </a:r>
            <a:endParaRPr lang="en-US" sz="1400" dirty="0"/>
          </a:p>
        </p:txBody>
      </p:sp>
      <p:pic>
        <p:nvPicPr>
          <p:cNvPr id="8" name="Image 1" descr="C:/Users/deogr/AppData/Local/Temp/claude/C--Users-deogr-Documents-Fall-Project-Off-Grid-Vehicle-dection-project/e8b2e8fa-1513-4aa8-a8f6-ce4fcd20e664/scratchpad/mermaid_png/diag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493008"/>
            <a:ext cx="6400800" cy="8412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4988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In-cab interconnect &amp; power</a:t>
            </a:r>
            <a:endParaRPr lang="en-US" sz="1400" dirty="0"/>
          </a:p>
        </p:txBody>
      </p:sp>
      <p:pic>
        <p:nvPicPr>
          <p:cNvPr id="10" name="Image 2" descr="C:/Users/deogr/AppData/Local/Temp/claude/C--Users-deogr-Documents-Fall-Project-Off-Grid-Vehicle-dection-project/e8b2e8fa-1513-4aa8-a8f6-ce4fcd20e664/scratchpad/mermaid_png/diag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864608"/>
            <a:ext cx="5486400" cy="10698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5496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Notes that matter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549640" y="1463040"/>
            <a:ext cx="3154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antenna leaving the cab is the LoRa antenna — roof-mounted, the single biggest range factor.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boards are ESP32-S3 → one toolchain (PlatformIO) for the whole team.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radio's OLED shows node count, GPS lock, last RSSI — a built-in field-debug display, zero work.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antenna on the dash (sky view); BLE lives happily inside.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Firmware Architecture — Display Node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61320" y="34747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1199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61320" y="4023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300" dirty="0"/>
          </a:p>
        </p:txBody>
      </p:sp>
      <p:pic>
        <p:nvPicPr>
          <p:cNvPr id="5" name="Image 0" descr="C:/Users/deogr/AppData/Local/Temp/claude/C--Users-deogr-Documents-Fall-Project-Off-Grid-Vehicle-dection-project/e8b2e8fa-1513-4aa8-a8f6-ce4fcd20e664/scratchpad/mermaid_png/diag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80160"/>
            <a:ext cx="10881360" cy="30723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46634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writer, one reader — a single mutex, no ordering bugs, and the halves never call each other.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 feed is a first-class component: the entire UI is testable on a bench with no radios.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Pairing is configuration, not code — the same firmware runs in both vehicles.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Data Flow — Partner Fix to Arrow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61320" y="34747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1199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61320" y="4023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300" dirty="0"/>
          </a:p>
        </p:txBody>
      </p:sp>
      <p:pic>
        <p:nvPicPr>
          <p:cNvPr id="5" name="Image 0" descr="C:/Users/deogr/AppData/Local/Temp/claude/C--Users-deogr-Documents-Fall-Project-Off-Grid-Vehicle-dection-project/e8b2e8fa-1513-4aa8-a8f6-ce4fcd20e664/scratchpad/mermaid_png/diag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097280"/>
            <a:ext cx="10058400" cy="36758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4983480"/>
            <a:ext cx="11155680" cy="1417320"/>
          </a:xfrm>
          <a:prstGeom prst="roundRect">
            <a:avLst>
              <a:gd name="adj" fmla="val 6452"/>
            </a:avLst>
          </a:prstGeom>
          <a:solidFill>
            <a:srgbClr val="F2F6FC"/>
          </a:solidFill>
          <a:ln w="12700">
            <a:solidFill>
              <a:srgbClr val="C9D9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12064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position rides the SAME pipeline minus steps 2–3 — the local radio streams its own GPS over BLE too, so ME and PARTNER stay symmetric.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ACKs anywhere: a newer position supersedes an older one; the reliability metric is data age, shown to the driver.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latency ≈ airtime (~0.5 s) — negligible next to the 30–60 s broadcast cadence.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 Link State Machine — The Risky Component, Made Explicit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61320" y="34747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1199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61320" y="4023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300" dirty="0"/>
          </a:p>
        </p:txBody>
      </p:sp>
      <p:pic>
        <p:nvPicPr>
          <p:cNvPr id="5" name="Image 0" descr="C:/Users/deogr/AppData/Local/Temp/claude/C--Users-deogr-Documents-Fall-Project-Off-Grid-Vehicle-dection-project/e8b2e8fa-1513-4aa8-a8f6-ce4fcd20e664/scratchpad/mermaid_png/diag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25880"/>
            <a:ext cx="3520440" cy="5120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709160" y="1600200"/>
            <a:ext cx="6858000" cy="1737360"/>
          </a:xfrm>
          <a:prstGeom prst="roundRect">
            <a:avLst>
              <a:gd name="adj" fmla="val 5263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937760" y="17556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 rule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4937760" y="210312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UI always renders — last known data plus an honest age and link flag — no matter what state the BLE link is in. Link loss degrades the display; it never blanks it.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709160" y="3611880"/>
            <a:ext cx="6858000" cy="1737360"/>
          </a:xfrm>
          <a:prstGeom prst="roundRect">
            <a:avLst>
              <a:gd name="adj" fmla="val 5263"/>
            </a:avLst>
          </a:prstGeom>
          <a:solidFill>
            <a:srgbClr val="F2F6FC"/>
          </a:solidFill>
          <a:ln w="15875">
            <a:solidFill>
              <a:srgbClr val="E58E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376732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0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(was the Week-5 risk gate — now retired: link is road-proven)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411480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BLE ever becomes hostile, the transport swaps to Meshtastic's identical protobuf API over WiFi/TCP :4403 — decoder, node table, and UI untouched.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557784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Bench-derived design choices: direct connect by remembered address (the radio only advertises briefly at boot) · no stored bond on purpose (a bonded Meshtastic radio stops advertising) · every failure funnels through one teardown back to SCANNING, so no state can wedge.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Semester Timeline, Effort &amp; Budget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1325880"/>
            <a:ext cx="0" cy="3063240"/>
          </a:xfrm>
          <a:prstGeom prst="line">
            <a:avLst/>
          </a:prstGeom>
          <a:noFill/>
          <a:ln w="12700">
            <a:solidFill>
              <a:srgbClr val="E3EA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371600" y="10789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86150" y="1325880"/>
            <a:ext cx="0" cy="3063240"/>
          </a:xfrm>
          <a:prstGeom prst="line">
            <a:avLst/>
          </a:prstGeom>
          <a:noFill/>
          <a:ln w="12700">
            <a:solidFill>
              <a:srgbClr val="E3EA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57550" y="10789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000750" y="1325880"/>
            <a:ext cx="0" cy="3063240"/>
          </a:xfrm>
          <a:prstGeom prst="line">
            <a:avLst/>
          </a:prstGeom>
          <a:noFill/>
          <a:ln w="12700">
            <a:solidFill>
              <a:srgbClr val="E3EA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72150" y="10789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515350" y="1325880"/>
            <a:ext cx="0" cy="3063240"/>
          </a:xfrm>
          <a:prstGeom prst="line">
            <a:avLst/>
          </a:prstGeom>
          <a:noFill/>
          <a:ln w="12700">
            <a:solidFill>
              <a:srgbClr val="E3EA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86750" y="10789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029950" y="1325880"/>
            <a:ext cx="0" cy="3063240"/>
          </a:xfrm>
          <a:prstGeom prst="line">
            <a:avLst/>
          </a:prstGeom>
          <a:noFill/>
          <a:ln w="12700">
            <a:solidFill>
              <a:srgbClr val="E3EA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801350" y="10789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W16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15819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9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228850" y="1554480"/>
            <a:ext cx="3735324" cy="310896"/>
          </a:xfrm>
          <a:prstGeom prst="roundRect">
            <a:avLst>
              <a:gd name="adj" fmla="val 17647"/>
            </a:avLst>
          </a:prstGeom>
          <a:solidFill>
            <a:srgbClr val="1199B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83714" y="1591056"/>
            <a:ext cx="36438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core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00750" y="1554480"/>
            <a:ext cx="1849374" cy="310896"/>
          </a:xfrm>
          <a:prstGeom prst="roundRect">
            <a:avLst>
              <a:gd name="adj" fmla="val 17647"/>
            </a:avLst>
          </a:prstGeom>
          <a:solidFill>
            <a:srgbClr val="1199B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55614" y="1591056"/>
            <a:ext cx="17579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2148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600200" y="2121408"/>
            <a:ext cx="3106674" cy="310896"/>
          </a:xfrm>
          <a:prstGeom prst="roundRect">
            <a:avLst>
              <a:gd name="adj" fmla="val 17647"/>
            </a:avLst>
          </a:prstGeom>
          <a:solidFill>
            <a:srgbClr val="E58E1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655064" y="2157984"/>
            <a:ext cx="3015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bring-up + antennas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00750" y="2121408"/>
            <a:ext cx="1220724" cy="310896"/>
          </a:xfrm>
          <a:prstGeom prst="roundRect">
            <a:avLst>
              <a:gd name="adj" fmla="val 17647"/>
            </a:avLst>
          </a:prstGeom>
          <a:solidFill>
            <a:srgbClr val="E58E1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055614" y="2157984"/>
            <a:ext cx="11292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tests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515350" y="2121408"/>
            <a:ext cx="1220724" cy="310896"/>
          </a:xfrm>
          <a:prstGeom prst="roundRect">
            <a:avLst>
              <a:gd name="adj" fmla="val 17647"/>
            </a:avLst>
          </a:prstGeom>
          <a:solidFill>
            <a:srgbClr val="E58E1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70214" y="2157984"/>
            <a:ext cx="11292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char.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27157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4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Josiah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600200" y="2688336"/>
            <a:ext cx="4363974" cy="310896"/>
          </a:xfrm>
          <a:prstGeom prst="roundRect">
            <a:avLst>
              <a:gd name="adj" fmla="val 17647"/>
            </a:avLst>
          </a:prstGeom>
          <a:solidFill>
            <a:srgbClr val="6D4BD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655064" y="2724912"/>
            <a:ext cx="42725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+ nav + arrow UI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258050" y="2688336"/>
            <a:ext cx="1220724" cy="310896"/>
          </a:xfrm>
          <a:prstGeom prst="roundRect">
            <a:avLst>
              <a:gd name="adj" fmla="val 17647"/>
            </a:avLst>
          </a:prstGeom>
          <a:solidFill>
            <a:srgbClr val="6D4BD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2914" y="2724912"/>
            <a:ext cx="11292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328269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8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600200" y="3255264"/>
            <a:ext cx="3106674" cy="310896"/>
          </a:xfrm>
          <a:prstGeom prst="roundRect">
            <a:avLst>
              <a:gd name="adj" fmla="val 17647"/>
            </a:avLst>
          </a:prstGeom>
          <a:solidFill>
            <a:srgbClr val="D9488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655064" y="3291840"/>
            <a:ext cx="3015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743450" y="3255264"/>
            <a:ext cx="2478024" cy="310896"/>
          </a:xfrm>
          <a:prstGeom prst="roundRect">
            <a:avLst>
              <a:gd name="adj" fmla="val 17647"/>
            </a:avLst>
          </a:prstGeom>
          <a:solidFill>
            <a:srgbClr val="D9488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98314" y="329184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+ drives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258050" y="3255264"/>
            <a:ext cx="1849374" cy="310896"/>
          </a:xfrm>
          <a:prstGeom prst="roundRect">
            <a:avLst>
              <a:gd name="adj" fmla="val 17647"/>
            </a:avLst>
          </a:prstGeom>
          <a:solidFill>
            <a:srgbClr val="D9488C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2914" y="3291840"/>
            <a:ext cx="17579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9772650" y="3255264"/>
            <a:ext cx="1849374" cy="310896"/>
          </a:xfrm>
          <a:prstGeom prst="roundRect">
            <a:avLst>
              <a:gd name="adj" fmla="val 17647"/>
            </a:avLst>
          </a:prstGeom>
          <a:solidFill>
            <a:srgbClr val="D9488C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827514" y="3291840"/>
            <a:ext cx="17579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328541" y="3895344"/>
            <a:ext cx="201168" cy="201168"/>
          </a:xfrm>
          <a:prstGeom prst="diamond">
            <a:avLst/>
          </a:prstGeom>
          <a:solidFill>
            <a:srgbClr val="E58E1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789045" y="413308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gate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585841" y="3895344"/>
            <a:ext cx="201168" cy="201168"/>
          </a:xfrm>
          <a:prstGeom prst="diamond">
            <a:avLst/>
          </a:prstGeom>
          <a:solidFill>
            <a:srgbClr val="E58E1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046345" y="413308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demo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1243691" y="3895344"/>
            <a:ext cx="201168" cy="201168"/>
          </a:xfrm>
          <a:prstGeom prst="diamond">
            <a:avLst/>
          </a:prstGeom>
          <a:solidFill>
            <a:srgbClr val="E58E1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0704195" y="413308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Day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02920" y="5120640"/>
            <a:ext cx="2670048" cy="1325880"/>
          </a:xfrm>
          <a:prstGeom prst="roundRect">
            <a:avLst>
              <a:gd name="adj" fmla="val 6897"/>
            </a:avLst>
          </a:prstGeom>
          <a:solidFill>
            <a:srgbClr val="F2F6F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85800" y="52303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h</a:t>
            </a:r>
            <a:endParaRPr lang="en-US" sz="3000" dirty="0"/>
          </a:p>
        </p:txBody>
      </p:sp>
      <p:sp>
        <p:nvSpPr>
          <p:cNvPr id="47" name="Text 45"/>
          <p:cNvSpPr txBox="1"/>
          <p:nvPr/>
        </p:nvSpPr>
        <p:spPr>
          <a:xfrm>
            <a:off x="685800" y="5806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 weeks 1–2 (7 h × 4 members)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3355848" y="5120640"/>
            <a:ext cx="2670048" cy="1325880"/>
          </a:xfrm>
          <a:prstGeom prst="roundRect">
            <a:avLst>
              <a:gd name="adj" fmla="val 6897"/>
            </a:avLst>
          </a:prstGeom>
          <a:solidFill>
            <a:srgbClr val="F2F6FC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538728" y="52303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$37.4k</a:t>
            </a:r>
            <a:endParaRPr lang="en-US" sz="3000" dirty="0"/>
          </a:p>
        </p:txBody>
      </p:sp>
      <p:sp>
        <p:nvSpPr>
          <p:cNvPr id="50" name="Text 48"/>
          <p:cNvSpPr txBox="1"/>
          <p:nvPr/>
        </p:nvSpPr>
        <p:spPr>
          <a:xfrm>
            <a:off x="3538728" y="5806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estimate (labor + materials + rental)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208776" y="5120640"/>
            <a:ext cx="2670048" cy="1325880"/>
          </a:xfrm>
          <a:prstGeom prst="roundRect">
            <a:avLst>
              <a:gd name="adj" fmla="val 6897"/>
            </a:avLst>
          </a:prstGeom>
          <a:solidFill>
            <a:srgbClr val="F2F6F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391656" y="52303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$9.5k</a:t>
            </a:r>
            <a:endParaRPr lang="en-US" sz="3000" dirty="0"/>
          </a:p>
        </p:txBody>
      </p:sp>
      <p:sp>
        <p:nvSpPr>
          <p:cNvPr id="53" name="Text 51"/>
          <p:cNvSpPr txBox="1"/>
          <p:nvPr/>
        </p:nvSpPr>
        <p:spPr>
          <a:xfrm>
            <a:off x="6391656" y="5806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computing — direct materials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9061704" y="5120640"/>
            <a:ext cx="2670048" cy="1325880"/>
          </a:xfrm>
          <a:prstGeom prst="roundRect">
            <a:avLst>
              <a:gd name="adj" fmla="val 6897"/>
            </a:avLst>
          </a:prstGeom>
          <a:solidFill>
            <a:srgbClr val="F2F6F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9244584" y="52303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3000" dirty="0"/>
          </a:p>
        </p:txBody>
      </p:sp>
      <p:sp>
        <p:nvSpPr>
          <p:cNvPr id="56" name="Text 54"/>
          <p:cNvSpPr txBox="1"/>
          <p:nvPr/>
        </p:nvSpPr>
        <p:spPr>
          <a:xfrm>
            <a:off x="9244584" y="5806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on the live Gantt tracker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2026-09-01T17:45:03Z</dcterms:created>
  <dcterms:modified xsi:type="dcterms:W3CDTF">2026-09-01T17:45:03Z</dcterms:modified>
</cp:coreProperties>
</file>