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Single-page system view (drawn in Eraser, kept in docs/system-diagram.png). Walk left to right: hardware per vehicle, then the firmware split with TrackerState as the contract, then the telecom-layer view at the bottom. Vehicle B is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packet's journey, numbered: (1) partner GNSS computes a fix, 1 Hz NMEA over UART. (2) Meshtastic B builds a Position packet — lat/lon, speed, track, GPS time — and broadcasts over LoRa every 30-60 s (smart: 30 s / 50 m while moving). (3) Meshtastic A decrypts, files it in its node DB, queues it on FromRadio, rings the FromNum doorbell. (4) protocol/ drains the queue over BLE and nanopb-decodes each frame into node_table. (5) node_table publishes TrackerState once a second — one writer. (6) nav engine reads it — one reader — haversine distance, bearing minus own COG. (7) ui_render redraws at 2 Hz. Full narrative with code: docs/BLE_LINK_WALKTHROUGH.md.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each state works in the shipped code (docs/BLE_LINK_WALKTHROUGH.md has the full excerpts): SCANNING - direct connect to the radio address remembered in NVS first (a Meshtastic radio only general-advertises from boot until its first disconnect, so a scan alone can never reconnect); 1.5 s scan fallback handles first pairing and radio replacement, exponential backoff 1-8 s. CONNECTING - 3 attempts, 10 s each; +9 dBm TX because default power was marginal; MTU 517 so a protobuf frame fits one read. BONDING - Just Works encrypted pairing on every connect; no stored bond ON PURPOSE: a bonded Meshtastic peripheral stops advertising entirely (bench-proven trap). SUBSCRIBED - subscribe FromNum (the doorbell), then write want_config_id with a random nonce so the radio replays its whole node DB; nonce back = snapshot complete. DRAINING - read FromRadio until a zero-length read; one notify can mean many queued frames. Every failure funnels through one teardown back to SCANNING - no state can wedge. Road-proven: mid-carry disconnect on Sep 1 self-recovered with no user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280000">
            <a:off x="9902952" y="577901"/>
            <a:ext cx="1408176" cy="1728216"/>
          </a:xfrm>
          <a:prstGeom prst="triangle">
            <a:avLst/>
          </a:prstGeom>
          <a:solidFill>
            <a:srgbClr val="CADCF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85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OFF-GRID VEHICLE TRACKER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48132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Review  ·  Weeks 1–2  ·  Group 9  ·  Sponsor: Dr. Richard Gale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2A357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860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— design, build, and field-validate a fully off-grid system that continuously shows a driver the direction and distance to a partner vehicle, across multi-km terrain, with no communications infrastructure.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3611880"/>
            <a:ext cx="2560320" cy="91440"/>
          </a:xfrm>
          <a:prstGeom prst="roundRect">
            <a:avLst/>
          </a:prstGeom>
          <a:solidFill>
            <a:srgbClr val="1199B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Firmware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BLE client · protobuf decode · TrackerState feed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01568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1568" y="3611880"/>
            <a:ext cx="2560320" cy="91440"/>
          </a:xfrm>
          <a:prstGeom prst="roundRect">
            <a:avLst/>
          </a:prstGeom>
          <a:solidFill>
            <a:srgbClr val="6D4BD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01568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&amp; Navigation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38728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RLCD rendering · arrow UI · distance/bearing math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63056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18" name="Shape 16"/>
          <p:cNvSpPr/>
          <p:nvPr/>
        </p:nvSpPr>
        <p:spPr>
          <a:xfrm>
            <a:off x="6163056" y="3611880"/>
            <a:ext cx="2560320" cy="91440"/>
          </a:xfrm>
          <a:prstGeom prst="roundRect">
            <a:avLst/>
          </a:prstGeom>
          <a:solidFill>
            <a:srgbClr val="E58E1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63056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63056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&amp; Hardware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config · GNSS · antennas · range campaign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24544" y="3611880"/>
            <a:ext cx="2560320" cy="1463040"/>
          </a:xfrm>
          <a:prstGeom prst="roundRect">
            <a:avLst>
              <a:gd name="adj" fmla="val 5625"/>
            </a:avLst>
          </a:prstGeom>
          <a:solidFill>
            <a:srgbClr val="2A3575"/>
          </a:solidFill>
          <a:ln/>
        </p:spPr>
      </p:sp>
      <p:sp>
        <p:nvSpPr>
          <p:cNvPr id="23" name="Shape 21"/>
          <p:cNvSpPr/>
          <p:nvPr/>
        </p:nvSpPr>
        <p:spPr>
          <a:xfrm>
            <a:off x="8924544" y="3611880"/>
            <a:ext cx="2560320" cy="91440"/>
          </a:xfrm>
          <a:prstGeom prst="roundRect">
            <a:avLst/>
          </a:prstGeom>
          <a:solidFill>
            <a:srgbClr val="D9488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924544" y="37673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924544" y="40873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&amp; Test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61704" y="4407408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rig · logging harness · drive tests · reports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full system architecture — context, hardware, firmware, data flow, link state machine — plus schedule and effort.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Weeks 1–2 · Shared Foundations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contract (agreed W1–W2)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486400" cy="2148840"/>
          </a:xfrm>
          <a:prstGeom prst="roundRect">
            <a:avLst>
              <a:gd name="adj" fmla="val 4255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TrackerState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self;     // own GPS: lat lon course 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Fix  partner;  // via LoRa: lat lon age_s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ble_connected;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79476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 (protocol task) · one reader (UI task) · changed only by joint commit. This is what lets all four lanes build in parallel.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0972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Process: every interface testable in isolation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611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test (no custom code)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GPS → radio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visible on radio OLED + phone app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A ↔ 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phone apps see each other's position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 Client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Meshtastic Python CLI from a laptop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→ UI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A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Simulated TrackerState scenarios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in place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6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git repo + CI-ready layout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17920" y="5257800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1968" y="521208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PlatformIO toolchain (ESP32-S3)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6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nanopb + Meshtastic protobuf schema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217920" y="5824728"/>
            <a:ext cx="256032" cy="256032"/>
          </a:xfrm>
          <a:prstGeom prst="ellipse">
            <a:avLst/>
          </a:prstGeom>
          <a:solidFill>
            <a:srgbClr val="E58E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1968" y="577900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received &amp; bench-verified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System — One Page</a:t>
            </a:r>
            <a:endParaRPr lang="en-US" sz="3000" dirty="0"/>
          </a:p>
        </p:txBody>
      </p:sp>
      <p:pic>
        <p:nvPicPr>
          <p:cNvPr id="3" name="Image 0" descr="C:/Users/deogr/Documents/Fall Project/Off-Grid Vehicle dection project/docs/system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60120"/>
            <a:ext cx="5742432" cy="576986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9224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it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492240" y="1645920"/>
            <a:ext cx="51663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— one vehicle's hardware: GNSS → Heltec radio (stock Meshtastic) → roof antenna, plus the Waveshare display, all on vehicle 12 V.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inside the display firmware: Deo's protocol/ chain writes TrackerState; Josiah's nav/ + ui/ chain reads it. One writer, one reader.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— the same system seen as telecom layers: ~40 B application payload · managed-flooding MAC with AES-256 · LoRa CSS PHY decoding 15 dB below the noise floor.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 is an identical copy — the symmetry IS the design: no server, no master, no single point of failure.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492240" y="5623560"/>
            <a:ext cx="5166360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20840" y="57150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blue/green on the right is the team's only custom code. Everything else ships tested.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Context — Nothing Is a Server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2926080" cy="2468880"/>
          </a:xfrm>
          <a:prstGeom prst="roundRect">
            <a:avLst>
              <a:gd name="adj" fmla="val 3704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194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43000" y="2560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· GNSS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77440" y="3246120"/>
            <a:ext cx="0" cy="45720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450592" y="33467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143000" y="3703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firmware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103120"/>
            <a:ext cx="2926080" cy="2468880"/>
          </a:xfrm>
          <a:prstGeom prst="roundRect">
            <a:avLst>
              <a:gd name="adj" fmla="val 3704"/>
            </a:avLst>
          </a:prstGeom>
          <a:solidFill>
            <a:srgbClr val="F2F6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09160" y="21945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B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2560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0" y="2560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Meshtastic · GNSS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3246120"/>
            <a:ext cx="0" cy="45720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245352" y="33467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37760" y="3703320"/>
            <a:ext cx="24688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firmware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840480" y="2926080"/>
            <a:ext cx="868680" cy="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3520440" y="261518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915 MHz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548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broadcasts flow symmetrically — identical installs, no master.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063240" y="1051560"/>
            <a:ext cx="2377440" cy="731520"/>
          </a:xfrm>
          <a:prstGeom prst="roundRect">
            <a:avLst>
              <a:gd name="adj" fmla="val 43750"/>
            </a:avLst>
          </a:prstGeom>
          <a:solidFill>
            <a:srgbClr val="FFFFFF"/>
          </a:solidFill>
          <a:ln w="19050">
            <a:solidFill>
              <a:srgbClr val="1F9D68"/>
            </a:solidFill>
            <a:prstDash val="dash"/>
          </a:ln>
        </p:spPr>
      </p:sp>
      <p:sp>
        <p:nvSpPr>
          <p:cNvPr id="25" name="Text 23"/>
          <p:cNvSpPr txBox="1"/>
          <p:nvPr/>
        </p:nvSpPr>
        <p:spPr>
          <a:xfrm>
            <a:off x="3154680" y="1051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relay node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Meshtastic device on high ground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 flipH="1">
            <a:off x="2377440" y="1783080"/>
            <a:ext cx="731520" cy="777240"/>
          </a:xfrm>
          <a:prstGeom prst="line">
            <a:avLst/>
          </a:prstGeom>
          <a:noFill/>
          <a:ln w="19050">
            <a:solidFill>
              <a:srgbClr val="1F9D6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394960" y="1783080"/>
            <a:ext cx="777240" cy="777240"/>
          </a:xfrm>
          <a:prstGeom prst="line">
            <a:avLst/>
          </a:prstGeom>
          <a:noFill/>
          <a:ln w="19050">
            <a:solidFill>
              <a:srgbClr val="1F9D68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8366760" y="1188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facts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1600200"/>
            <a:ext cx="3337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Radios broadcast position every 30–60 s on a shared AES-256 channel.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flooding, hop limit 3 — a relay needs zero configuration.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display consumes its own radio's node database over BLE.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redesign: a 3rd vehicle or base camp just joins the mesh.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914400" y="534924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188720" y="54864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consequence: the system has no single point of failure outside a vehicle's own pair — losing any node degrades only that vehicle's view, never the mesh.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Architecture — One Vehicle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51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 node — Heltec WiFi LoRa 32 V4 (stock Meshtastic)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7772400" cy="1600200"/>
          </a:xfrm>
          <a:prstGeom prst="roundRect">
            <a:avLst>
              <a:gd name="adj" fmla="val 5714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64592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645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module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 mm 8-pin conn.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331720" y="1965960"/>
            <a:ext cx="6858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011680" y="1655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 (NMEA)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017520" y="164592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108960" y="16459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Meshtastic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0" y="1965960"/>
            <a:ext cx="6858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251960" y="16550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257800" y="1645920"/>
            <a:ext cx="14173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49240" y="164592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SX1262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transceiver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675120" y="1965960"/>
            <a:ext cx="45720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132320" y="1645920"/>
            <a:ext cx="96012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58E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23760" y="164592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915 MHz roof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94760" y="2286000"/>
            <a:ext cx="0" cy="4114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867912" y="23637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I2C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17520" y="2697480"/>
            <a:ext cx="1554480" cy="256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108960" y="26974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0.96″ OLED — field debug for free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246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 node — Waveshare ESP32-S3-RLCD-4.2 (our firmware)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611880"/>
            <a:ext cx="7772400" cy="1051560"/>
          </a:xfrm>
          <a:prstGeom prst="roundRect">
            <a:avLst>
              <a:gd name="adj" fmla="val 869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3794760"/>
            <a:ext cx="210312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680" y="37947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ESP32-S3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MB flash · 8 MB PSRAM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2880360" y="4133088"/>
            <a:ext cx="1188720" cy="0"/>
          </a:xfrm>
          <a:prstGeom prst="line">
            <a:avLst/>
          </a:prstGeom>
          <a:noFill/>
          <a:ln w="25400">
            <a:solidFill>
              <a:srgbClr val="6D4BDB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560320" y="382219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 · framebuffer in PSRAM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069080" y="3794760"/>
            <a:ext cx="228600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60520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4.2″ reflective LCD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400×300 · 1 bpp · sunlight-readable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4892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In-cab interconnect &amp; power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02920" y="5257800"/>
            <a:ext cx="7772400" cy="1051560"/>
          </a:xfrm>
          <a:prstGeom prst="roundRect">
            <a:avLst>
              <a:gd name="adj" fmla="val 8696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5440680"/>
            <a:ext cx="173736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" y="54406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12 V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USB-C 5 V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2514600" y="5669280"/>
            <a:ext cx="6400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154680" y="544068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246120" y="5440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node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709160" y="5779008"/>
            <a:ext cx="1051560" cy="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headEnd type="triangle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4389120" y="546811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2.4 GHz (~1 m)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60720" y="544068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852160" y="5440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node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514600" y="5943600"/>
            <a:ext cx="3246120" cy="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8549640" y="1051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Notes that matter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549640" y="1463040"/>
            <a:ext cx="3154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antenna leaving the cab is the LoRa antenna — roof-mounted, the single biggest range factor.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boards are ESP32-S3 → one toolchain (PlatformIO) for the whole team.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radio's OLED shows node count, GPS lock, last RSSI — a built-in field-debug display, zero work.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antenna on the dash (sky view); BLE lives happily inside.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Architecture — Display Node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6FC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protocol/  (Deo)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" y="1691640"/>
            <a:ext cx="30175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ble_link task — NimBLE central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→ connect → bond → subscribe → drain FromRadio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6000" y="2606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7240" y="2971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971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proto_decode (nanopb)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FromRadio → Position · NodeInfo · MyNodeInfo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286000" y="3749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7240" y="4114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114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node_table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+ partner fix · age tracking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2926080"/>
            <a:ext cx="2606040" cy="13716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292608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TrackerState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mutex-protected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· partner · ble_connected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069080" y="3611880"/>
            <a:ext cx="502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178040" y="3611880"/>
            <a:ext cx="502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931920" y="3794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794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reader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092440" y="1188720"/>
            <a:ext cx="3566160" cy="3977640"/>
          </a:xfrm>
          <a:prstGeom prst="roundRect">
            <a:avLst>
              <a:gd name="adj" fmla="val 2564"/>
            </a:avLst>
          </a:prstGeom>
          <a:solidFill>
            <a:srgbClr val="F2F6FC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75320" y="12984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 + nav/  (Josiah)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366760" y="1691640"/>
            <a:ext cx="30175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58200" y="16916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engine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· bearing · COG heading + stationary fallback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875520" y="2606040"/>
            <a:ext cx="0" cy="36576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366760" y="2971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58200" y="2971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ui_render task (2 Hz)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· distance · data age · link status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366760" y="411480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dash"/>
          </a:ln>
        </p:spPr>
      </p:sp>
      <p:sp>
        <p:nvSpPr>
          <p:cNvPr id="29" name="Text 27"/>
          <p:cNvSpPr txBox="1"/>
          <p:nvPr/>
        </p:nvSpPr>
        <p:spPr>
          <a:xfrm>
            <a:off x="8458200" y="41148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feed (dev only)</a:t>
            </a:r>
            <a:endParaRPr lang="en-US" sz="115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fake-data scenarios — UI runs with zero radios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 flipH="1" flipV="1">
            <a:off x="7178040" y="4069080"/>
            <a:ext cx="1188720" cy="411480"/>
          </a:xfrm>
          <a:prstGeom prst="line">
            <a:avLst/>
          </a:prstGeom>
          <a:noFill/>
          <a:ln w="19050">
            <a:solidFill>
              <a:srgbClr val="6D4BDB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572000" y="489204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32" name="Text 30"/>
          <p:cNvSpPr txBox="1"/>
          <p:nvPr/>
        </p:nvSpPr>
        <p:spPr>
          <a:xfrm>
            <a:off x="4663440" y="48920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 config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BLE addr · units · partner ID (planned)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02920" y="56235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writer, one reader — a single mutex, no ordering bugs, and the halves never call each other.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 feed is a first-class component: the entire UI is testable on a bench with no radios.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Pairing is configuration, not code — the same firmware runs in both vehicles.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 — Partner Fix to Arrow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43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vehicles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6459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554480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GPS fix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vehicle · 1 Hz NMEA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148840" y="1984248"/>
            <a:ext cx="5029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1828800" y="1673352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UART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51760" y="1554480"/>
            <a:ext cx="18288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155448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Meshtastic B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Position packet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80560" y="1984248"/>
            <a:ext cx="1417320" cy="0"/>
          </a:xfrm>
          <a:prstGeom prst="line">
            <a:avLst/>
          </a:prstGeom>
          <a:noFill/>
          <a:ln w="31750">
            <a:solidFill>
              <a:srgbClr val="B06207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160520" y="1673352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· every 30–60 s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22402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~0.5 s airtime · AES-256 · mesh relay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97880" y="15544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55448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Meshtastic A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· node DB · queues FromRadio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680960" y="1984248"/>
            <a:ext cx="1188720" cy="0"/>
          </a:xfrm>
          <a:prstGeom prst="line">
            <a:avLst/>
          </a:prstGeom>
          <a:noFill/>
          <a:ln w="25400">
            <a:solidFill>
              <a:srgbClr val="E58E1A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7360920" y="16733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 notify → drain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69680" y="15544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1199B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0" y="155448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protocol/ (Deo)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FromRadio until empty · nanopb decode → node_table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59568" y="2423160"/>
            <a:ext cx="0" cy="64008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37360" y="3063240"/>
            <a:ext cx="852220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37360" y="3063240"/>
            <a:ext cx="0" cy="45720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920240" y="3145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display node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520440"/>
            <a:ext cx="24688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5204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TrackerState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· partner · ages · clock (mutex · 1 Hz publish)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2971800" y="3950208"/>
            <a:ext cx="5486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520440" y="3520440"/>
            <a:ext cx="2834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35204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nav engine (Josiah)</a:t>
            </a:r>
            <a:endParaRPr lang="en-US" sz="11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haversine · arrow = θ − COG · rose fallback when stopped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355080" y="3950208"/>
            <a:ext cx="5486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903720" y="3520440"/>
            <a:ext cx="30175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6D4BD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95160" y="3520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RLCD redraw @ 2 Hz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· miles · age · link · local clock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00600"/>
            <a:ext cx="11155680" cy="1463040"/>
          </a:xfrm>
          <a:prstGeom prst="roundRect">
            <a:avLst>
              <a:gd name="adj" fmla="val 6250"/>
            </a:avLst>
          </a:prstGeom>
          <a:solidFill>
            <a:srgbClr val="F2F6FC"/>
          </a:solidFill>
          <a:ln w="12700">
            <a:solidFill>
              <a:srgbClr val="C9D9E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4956048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position rides the SAME pipeline minus steps 2–3 — the local radio streams its own GPS over BLE too, so ME and PARTNER stay symmetric.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ACKs anywhere: a newer position supersedes an older one; the reliability metric is data age, shown to the driver.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 ≈ airtime (~0.5 s) — negligible next to the 30–60 s broadcast cadence.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 Link State Machine — The Risky Component, Made Explicit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61320" y="34747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199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61320" y="40233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by NVS addr · scan fallback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8036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2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180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tries · 10 s timeout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12064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FDF1E2"/>
          </a:solidFill>
          <a:ln w="19050">
            <a:solidFill>
              <a:srgbClr val="B062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pairing (Just Works, NO_PIN)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6092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E7F5EE"/>
          </a:solidFill>
          <a:ln w="19050">
            <a:solidFill>
              <a:srgbClr val="1F9D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5236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SUBSCRIBED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fromNum notify + want_config handshake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601200" y="2011680"/>
            <a:ext cx="1965960" cy="914400"/>
          </a:xfrm>
          <a:prstGeom prst="roundRect">
            <a:avLst>
              <a:gd name="adj" fmla="val 7000"/>
            </a:avLst>
          </a:prstGeom>
          <a:solidFill>
            <a:srgbClr val="E7F5EE"/>
          </a:solidFill>
          <a:ln w="19050">
            <a:solidFill>
              <a:srgbClr val="1F9D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92640" y="20116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DRAINING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FromRadio → empty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60604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84632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086600" y="2468880"/>
            <a:ext cx="2743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326880" y="2286000"/>
            <a:ext cx="274320" cy="0"/>
          </a:xfrm>
          <a:prstGeom prst="line">
            <a:avLst/>
          </a:prstGeom>
          <a:noFill/>
          <a:ln w="25400">
            <a:solidFill>
              <a:srgbClr val="1F9D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 flipH="1">
            <a:off x="9326880" y="2697480"/>
            <a:ext cx="274320" cy="0"/>
          </a:xfrm>
          <a:prstGeom prst="line">
            <a:avLst/>
          </a:prstGeom>
          <a:noFill/>
          <a:ln w="25400">
            <a:solidFill>
              <a:srgbClr val="1F9D6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9098280" y="297180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9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/ empty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84048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2648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2104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3749040"/>
            <a:ext cx="6720840" cy="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600200" y="2926080"/>
            <a:ext cx="0" cy="822960"/>
          </a:xfrm>
          <a:prstGeom prst="line">
            <a:avLst/>
          </a:prstGeom>
          <a:noFill/>
          <a:ln w="22225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03120" y="38221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fail (backoff) · bond fail · disconnect → back to SCANNING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57200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6868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rule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0292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always renders — last known data plus an honest age and link flag — no matter what state the BLE link is in. Link loss degrades the display; it never blanks it.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572000"/>
            <a:ext cx="5394960" cy="1645920"/>
          </a:xfrm>
          <a:prstGeom prst="roundRect">
            <a:avLst>
              <a:gd name="adj" fmla="val 5556"/>
            </a:avLst>
          </a:prstGeom>
          <a:solidFill>
            <a:srgbClr val="F2F6FC"/>
          </a:solidFill>
          <a:ln w="15875">
            <a:solidFill>
              <a:srgbClr val="E58E1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62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 — Week 5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37960" y="50292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 is the highest-uncertainty transition. If pairing is still blocked after two weeks, the transport swaps to Meshtastic's identical API over WiFi/TCP :4403 — decoder, state, and UI untouched.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5603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Timeline, Effort &amp; Budget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60020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37160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861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575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0007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721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5153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867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1029950" y="1325880"/>
            <a:ext cx="0" cy="3063240"/>
          </a:xfrm>
          <a:prstGeom prst="line">
            <a:avLst/>
          </a:prstGeom>
          <a:noFill/>
          <a:ln w="12700">
            <a:solidFill>
              <a:srgbClr val="E3EA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801350" y="10789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581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9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228850" y="1554480"/>
            <a:ext cx="373532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83714" y="1591056"/>
            <a:ext cx="36438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core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00750" y="1554480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1199B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055614" y="1591056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hardening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2148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00200" y="2121408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655064" y="2157984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bring-up + antennas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007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556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tests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515350" y="2121408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E58E1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70214" y="2157984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char.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27157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4B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Josiah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600200" y="2688336"/>
            <a:ext cx="436397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655064" y="2724912"/>
            <a:ext cx="42725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+ nav + arrow UI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58050" y="2688336"/>
            <a:ext cx="1220724" cy="310896"/>
          </a:xfrm>
          <a:prstGeom prst="roundRect">
            <a:avLst>
              <a:gd name="adj" fmla="val 17647"/>
            </a:avLst>
          </a:prstGeom>
          <a:solidFill>
            <a:srgbClr val="6D4B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2914" y="2724912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32826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8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600200" y="3255264"/>
            <a:ext cx="31066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655064" y="3291840"/>
            <a:ext cx="30152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43450" y="3255264"/>
            <a:ext cx="247802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98314" y="3291840"/>
            <a:ext cx="2386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drives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2580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3129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9772650" y="3255264"/>
            <a:ext cx="1849374" cy="310896"/>
          </a:xfrm>
          <a:prstGeom prst="roundRect">
            <a:avLst>
              <a:gd name="adj" fmla="val 17647"/>
            </a:avLst>
          </a:prstGeom>
          <a:solidFill>
            <a:srgbClr val="D9488C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827514" y="3291840"/>
            <a:ext cx="175793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3285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7890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gate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8584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4634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demo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1243691" y="3895344"/>
            <a:ext cx="201168" cy="201168"/>
          </a:xfrm>
          <a:prstGeom prst="diamond">
            <a:avLst/>
          </a:prstGeom>
          <a:solidFill>
            <a:srgbClr val="E58E1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0704195" y="413308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8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02920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85800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h</a:t>
            </a:r>
            <a:endParaRPr lang="en-US" sz="3000" dirty="0"/>
          </a:p>
        </p:txBody>
      </p:sp>
      <p:sp>
        <p:nvSpPr>
          <p:cNvPr id="47" name="Text 45"/>
          <p:cNvSpPr txBox="1"/>
          <p:nvPr/>
        </p:nvSpPr>
        <p:spPr>
          <a:xfrm>
            <a:off x="685800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weeks 1–2 (7 h × 4 members)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355848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38728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$37.4k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3538728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estimate (labor + materials + rental)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208776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391656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$9.5k</a:t>
            </a:r>
            <a:endParaRPr lang="en-US" sz="3000" dirty="0"/>
          </a:p>
        </p:txBody>
      </p:sp>
      <p:sp>
        <p:nvSpPr>
          <p:cNvPr id="53" name="Text 51"/>
          <p:cNvSpPr txBox="1"/>
          <p:nvPr/>
        </p:nvSpPr>
        <p:spPr>
          <a:xfrm>
            <a:off x="6391656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— direct materials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9061704" y="5120640"/>
            <a:ext cx="2670048" cy="1325880"/>
          </a:xfrm>
          <a:prstGeom prst="roundRect">
            <a:avLst>
              <a:gd name="adj" fmla="val 6897"/>
            </a:avLst>
          </a:prstGeom>
          <a:solidFill>
            <a:srgbClr val="F2F6F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244584" y="5230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000" dirty="0"/>
          </a:p>
        </p:txBody>
      </p:sp>
      <p:sp>
        <p:nvSpPr>
          <p:cNvPr id="56" name="Text 54"/>
          <p:cNvSpPr txBox="1"/>
          <p:nvPr/>
        </p:nvSpPr>
        <p:spPr>
          <a:xfrm>
            <a:off x="9244584" y="5806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on the live Gantt tracker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2026-09-01T17:18:13Z</dcterms:created>
  <dcterms:modified xsi:type="dcterms:W3CDTF">2026-09-01T17:18:13Z</dcterms:modified>
</cp:coreProperties>
</file>