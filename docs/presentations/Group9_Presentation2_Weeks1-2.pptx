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280000">
            <a:off x="9902952" y="577901"/>
            <a:ext cx="1408176" cy="1728216"/>
          </a:xfrm>
          <a:prstGeom prst="triangle">
            <a:avLst/>
          </a:prstGeom>
          <a:solidFill>
            <a:srgbClr val="CADCF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858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OFF-GRID VEHICLE TRACKER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Review  ·  Weeks 1–2  ·  Group 9  ·  Sponsor: Dr. Richard Gale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2A357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— design, build, and field-validate a fully off-grid system that continuously shows a driver the direction and distance to a partner vehicle, across multi-km terrain, with no communications infrastructure.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3611880"/>
            <a:ext cx="2560320" cy="91440"/>
          </a:xfrm>
          <a:prstGeom prst="roundRect">
            <a:avLst/>
          </a:prstGeom>
          <a:solidFill>
            <a:srgbClr val="1199B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Firmware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BLE client · protobuf decode · TrackerState feed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01568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1568" y="3611880"/>
            <a:ext cx="2560320" cy="91440"/>
          </a:xfrm>
          <a:prstGeom prst="roundRect">
            <a:avLst/>
          </a:prstGeom>
          <a:solidFill>
            <a:srgbClr val="6D4BD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01568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01568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&amp; Navigation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38728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RLCD rendering · arrow UI · distance/bearing math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63056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18" name="Shape 16"/>
          <p:cNvSpPr/>
          <p:nvPr/>
        </p:nvSpPr>
        <p:spPr>
          <a:xfrm>
            <a:off x="6163056" y="3611880"/>
            <a:ext cx="2560320" cy="91440"/>
          </a:xfrm>
          <a:prstGeom prst="roundRect">
            <a:avLst/>
          </a:prstGeom>
          <a:solidFill>
            <a:srgbClr val="E58E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63056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&amp; Hardware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config · GNSS · antennas · range campaign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23" name="Shape 21"/>
          <p:cNvSpPr/>
          <p:nvPr/>
        </p:nvSpPr>
        <p:spPr>
          <a:xfrm>
            <a:off x="8924544" y="3611880"/>
            <a:ext cx="2560320" cy="91440"/>
          </a:xfrm>
          <a:prstGeom prst="roundRect">
            <a:avLst/>
          </a:prstGeom>
          <a:solidFill>
            <a:srgbClr val="D9488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24544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924544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Test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061704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rig · logging harness · drive tests · reports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full system architecture — context, hardware, firmware, data flow, link state machine — plus schedule and effort.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— Overview &amp; Rationale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2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8346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Heltec V4 — radio node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· SX1262 LoRa · GNSS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Meshtastic firmware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97480"/>
            <a:ext cx="0" cy="54864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221992" y="28437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28346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346704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Waveshare 4.2″ RLCD — display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only custom firmware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0" y="123444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2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B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1737360"/>
            <a:ext cx="28346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Heltec V4 — radio node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· SX1262 LoRa · GNSS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Meshtastic firmware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2697480"/>
            <a:ext cx="0" cy="54864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291072" y="28437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3246120"/>
            <a:ext cx="28346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3346704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Waveshare 4.2″ RLCD — display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only custom firmware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794760" y="2212848"/>
            <a:ext cx="777240" cy="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3063240" y="1847088"/>
            <a:ext cx="22860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915 MHz · AES · mesh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architecture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45920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Client API: documented protobuf stream over BLE — the same interface its phone apps use. No firmware fork.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custom-firmware surface (the display). GPS, encryption, radio timing, mesh relay all ship pre-tested.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third node (ridge relay, hiker) extends range automatically — mesh for free.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Reflective LCD: sunlight-readable on a dash where TFTs wash out; fast enough for a live arrow.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stack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02920" y="5074920"/>
            <a:ext cx="269748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0936" y="51480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" y="5413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payload (protobuf, ~40 B)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55848" y="5074920"/>
            <a:ext cx="269748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83864" y="51480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483864" y="5413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flooding · hop limit 3 · AES-256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08776" y="5074920"/>
            <a:ext cx="269748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36792" y="51480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336792" y="5413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CSMA, SNR-weighted backoff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61704" y="5074920"/>
            <a:ext cx="2697480" cy="9144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89720" y="51480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189720" y="5413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chirp spread spectrum · 915 MHz ISM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1–2 · Shared Foundations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interface contract (agreed W1–W2)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486400" cy="214884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TrackerState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Fix  self;     // own GPS: lat lon course 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Fix  partner;  // via LoRa: lat lon age_s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ble_connected;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7947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 (protocol task) · one reader (UI task) · changed only by joint commit. This is what lets all four lanes build in parallel.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Process: every interface testable in isolation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6118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test (no custom code)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 → radio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visible on radio OLED + phone app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A ↔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phone apps see each other's 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 Client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Meshtastic Python CLI from a laptop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→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TrackerState scenarios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0292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in place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5257800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6968" y="521208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git repo + CI-ready layout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17920" y="5257800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1968" y="521208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PlatformIO toolchain (ESP32-S3)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5824728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6968" y="57790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nanopb + Meshtastic protobuf schema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217920" y="5824728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1968" y="57790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received &amp; bench-verified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 — Nothing Is a Server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2926080" cy="2468880"/>
          </a:xfrm>
          <a:prstGeom prst="roundRect">
            <a:avLst>
              <a:gd name="adj" fmla="val 3704"/>
            </a:avLst>
          </a:prstGeom>
          <a:solidFill>
            <a:srgbClr val="F2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43000" y="2560320"/>
            <a:ext cx="24688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node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· GNSS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77440" y="3246120"/>
            <a:ext cx="0" cy="45720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450592" y="33467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143000" y="3703320"/>
            <a:ext cx="24688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node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firmware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103120"/>
            <a:ext cx="2926080" cy="2468880"/>
          </a:xfrm>
          <a:prstGeom prst="roundRect">
            <a:avLst>
              <a:gd name="adj" fmla="val 3704"/>
            </a:avLst>
          </a:prstGeom>
          <a:solidFill>
            <a:srgbClr val="F2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2194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B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2560320"/>
            <a:ext cx="24688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node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· GNSS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72200" y="3246120"/>
            <a:ext cx="0" cy="45720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245352" y="33467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37760" y="3703320"/>
            <a:ext cx="24688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node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firmware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840480" y="2926080"/>
            <a:ext cx="868680" cy="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3520440" y="26151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915 MHz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7548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broadcasts flow symmetrically — identical installs, no master.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063240" y="1051560"/>
            <a:ext cx="2377440" cy="731520"/>
          </a:xfrm>
          <a:prstGeom prst="roundRect">
            <a:avLst>
              <a:gd name="adj" fmla="val 43750"/>
            </a:avLst>
          </a:prstGeom>
          <a:solidFill>
            <a:srgbClr val="FFFFFF"/>
          </a:solidFill>
          <a:ln w="19050">
            <a:solidFill>
              <a:srgbClr val="1F9D68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3154680" y="1051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relay node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Meshtastic device on high ground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flipH="1">
            <a:off x="2377440" y="1783080"/>
            <a:ext cx="731520" cy="777240"/>
          </a:xfrm>
          <a:prstGeom prst="line">
            <a:avLst/>
          </a:prstGeom>
          <a:noFill/>
          <a:ln w="19050">
            <a:solidFill>
              <a:srgbClr val="1F9D6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394960" y="1783080"/>
            <a:ext cx="777240" cy="777240"/>
          </a:xfrm>
          <a:prstGeom prst="line">
            <a:avLst/>
          </a:prstGeom>
          <a:noFill/>
          <a:ln w="19050">
            <a:solidFill>
              <a:srgbClr val="1F9D68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836676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facts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1600200"/>
            <a:ext cx="3337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Radios broadcast position every 30–60 s on a shared AES-256 channel.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flooding, hop limit 3 — a relay needs zero configuration.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display consumes its own radio's node database over BLE.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redesign: a 3rd vehicle or base camp just joins the mesh.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4400" y="534924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188720" y="54864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consequence: the system has no single point of failure outside a vehicle's own pair — losing any node degrades only that vehicle's view, never the mesh.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Architecture — One Vehicle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 node — Heltec WiFi LoRa 32 V4 (stock Meshtastic)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7772400" cy="1600200"/>
          </a:xfrm>
          <a:prstGeom prst="roundRect">
            <a:avLst>
              <a:gd name="adj" fmla="val 5714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4592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645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module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 mm 8-pin conn.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31720" y="1965960"/>
            <a:ext cx="68580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011680" y="16550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(NMEA)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017520" y="164592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08960" y="1645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Meshtastic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1965960"/>
            <a:ext cx="68580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251960" y="16550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257800" y="1645920"/>
            <a:ext cx="14173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164592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SX1262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transceiver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75120" y="1965960"/>
            <a:ext cx="45720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132320" y="1645920"/>
            <a:ext cx="9601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58E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23760" y="1645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915 MHz roof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94760" y="2286000"/>
            <a:ext cx="0" cy="41148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867912" y="23637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I2C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17520" y="2697480"/>
            <a:ext cx="155448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08960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0.96″ OLED — field debug for free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246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node — Waveshare ESP32-S3-RLCD-4.2 (our firmware)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3611880"/>
            <a:ext cx="7772400" cy="1051560"/>
          </a:xfrm>
          <a:prstGeom prst="roundRect">
            <a:avLst>
              <a:gd name="adj" fmla="val 8696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3794760"/>
            <a:ext cx="21031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8680" y="37947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MB flash · 8 MB PSRAM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880360" y="4133088"/>
            <a:ext cx="1188720" cy="0"/>
          </a:xfrm>
          <a:prstGeom prst="line">
            <a:avLst/>
          </a:prstGeom>
          <a:noFill/>
          <a:ln w="25400">
            <a:solidFill>
              <a:srgbClr val="6D4BD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560320" y="38221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· framebuffer in PSRAM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069080" y="3794760"/>
            <a:ext cx="228600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0520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4.2″ reflective LCD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400×300 · 1 bpp · sunlight-readable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892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In-cab interconnect &amp; power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2920" y="5257800"/>
            <a:ext cx="7772400" cy="1051560"/>
          </a:xfrm>
          <a:prstGeom prst="roundRect">
            <a:avLst>
              <a:gd name="adj" fmla="val 8696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5440680"/>
            <a:ext cx="173736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" y="5440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12 V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USB-C 5 V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514600" y="5669280"/>
            <a:ext cx="6400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154680" y="544068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246120" y="5440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node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709160" y="5779008"/>
            <a:ext cx="1051560" cy="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headEnd type="triangle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389120" y="54681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2.4 GHz (~1 m)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60720" y="544068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852160" y="5440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node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514600" y="5943600"/>
            <a:ext cx="324612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85496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 that matter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549640" y="1463040"/>
            <a:ext cx="3154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antenna leaving the cab is the LoRa antenna — roof-mounted, the single biggest range factor.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boards are ESP32-S3 → one toolchain (PlatformIO) for the whole team.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radio's OLED shows node count, GPS lock, last RSSI — a built-in field-debug display, zero work.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antenna on the dash (sky view); BLE lives happily inside.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Firmware Architecture — Display Node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566160" cy="3977640"/>
          </a:xfrm>
          <a:prstGeom prst="roundRect">
            <a:avLst>
              <a:gd name="adj" fmla="val 2564"/>
            </a:avLst>
          </a:prstGeom>
          <a:solidFill>
            <a:srgbClr val="F2F6FC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protocol/  (Deo)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1691640"/>
            <a:ext cx="30175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6916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ble_link task — NimBLE central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connect → bond → subscribe → drain FromRadio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6000" y="2606040"/>
            <a:ext cx="0" cy="3657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7240" y="297180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971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proto_decode (nanopb)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FromRadio → Position · NodeInfo · MyNodeInfo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86000" y="3749040"/>
            <a:ext cx="0" cy="3657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7240" y="411480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114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node_table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+ partner fix · age tracking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2926080"/>
            <a:ext cx="2606040" cy="13716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29260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TrackerState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mutex-protected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· partner · ble_connected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069080" y="3611880"/>
            <a:ext cx="5029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178040" y="3611880"/>
            <a:ext cx="5029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931920" y="3794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794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reader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092440" y="1188720"/>
            <a:ext cx="3566160" cy="3977640"/>
          </a:xfrm>
          <a:prstGeom prst="roundRect">
            <a:avLst>
              <a:gd name="adj" fmla="val 2564"/>
            </a:avLst>
          </a:prstGeom>
          <a:solidFill>
            <a:srgbClr val="F2F6FC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75320" y="1298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 + nav/  (Josiah)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366760" y="1691640"/>
            <a:ext cx="30175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58200" y="16916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engine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· bearing · COG heading + stationary fallback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875520" y="2606040"/>
            <a:ext cx="0" cy="3657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366760" y="297180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2971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ui_render task (1 Hz)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· distance · data age · link status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366760" y="411480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8458200" y="4114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feed (dev only)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fake-data scenarios — UI runs with zero radios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 flipH="1" flipV="1">
            <a:off x="7178040" y="4069080"/>
            <a:ext cx="1188720" cy="411480"/>
          </a:xfrm>
          <a:prstGeom prst="line">
            <a:avLst/>
          </a:prstGeom>
          <a:noFill/>
          <a:ln w="19050">
            <a:solidFill>
              <a:srgbClr val="6D4BDB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572000" y="489204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4663440" y="4892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NVS config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ID · units · BLE bond keys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56235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writer, one reader — a single mutex, no ordering bugs, and the halves never call each other.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feed is a first-class component: the entire UI is testable on a bench with no radios.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Pairing is configuration, not code — the same firmware runs in both vehicles.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Data Flow — Partner Fix to Arrow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vehicles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16916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fix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vehicle · 1 Hz NMEA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5943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1874520" y="170078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88920" y="1600200"/>
            <a:ext cx="19202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80360" y="16002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B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Position packet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09160" y="2011680"/>
            <a:ext cx="1371600" cy="0"/>
          </a:xfrm>
          <a:prstGeom prst="line">
            <a:avLst/>
          </a:prstGeom>
          <a:noFill/>
          <a:ln w="31750">
            <a:solidFill>
              <a:srgbClr val="B06207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389120" y="17007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· every 30–60 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~0.5 s airtime · AES-256 · mesh relay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600200"/>
            <a:ext cx="19202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16002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A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radio · node DB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01000" y="2011680"/>
            <a:ext cx="1188720" cy="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7680960" y="17007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notify → read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89720" y="1600200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81160" y="1600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protocol/ (Deo)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FromRadio drain · nanopb decode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332720" y="2423160"/>
            <a:ext cx="0" cy="68580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0" y="3108960"/>
            <a:ext cx="42976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3108960"/>
            <a:ext cx="0" cy="45720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display node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92040" y="3611880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83480" y="3611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TrackerState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+ partner + link (mutex)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977640" y="4023360"/>
            <a:ext cx="8686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508760" y="3611880"/>
            <a:ext cx="246888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0020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engine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haversine · arrow = θ − COG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 flipH="1">
            <a:off x="1005840" y="4023360"/>
            <a:ext cx="502920" cy="0"/>
          </a:xfrm>
          <a:prstGeom prst="line">
            <a:avLst/>
          </a:prstGeom>
          <a:noFill/>
          <a:ln w="25400">
            <a:solidFill>
              <a:srgbClr val="6D4BD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02920" y="4846320"/>
            <a:ext cx="246888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RLCD redraw @ 1 Hz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· distance · age · link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005840" y="4434840"/>
            <a:ext cx="0" cy="411480"/>
          </a:xfrm>
          <a:prstGeom prst="line">
            <a:avLst/>
          </a:prstGeom>
          <a:noFill/>
          <a:ln w="25400">
            <a:solidFill>
              <a:srgbClr val="6D4BD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206240" y="4846320"/>
            <a:ext cx="7498080" cy="1417320"/>
          </a:xfrm>
          <a:prstGeom prst="roundRect">
            <a:avLst>
              <a:gd name="adj" fmla="val 6452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34840" y="4983480"/>
            <a:ext cx="7086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position takes the same path minus the LoRa hop — the local radio streams its own GPS over BLE too.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ACKs anywhere: a newer position supersedes an older one; the reliability metric is data age, shown to the driver.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 ≈ airtime (~0.5 s) — negligible next to the 30–60 s broadcast interval.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 Link State Machine — The Risky Component, Made Explicit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the radio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8036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timeout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12064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DF1E2"/>
          </a:solidFill>
          <a:ln w="19050">
            <a:solidFill>
              <a:srgbClr val="B0620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once · keys → NVS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6092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E7F5EE"/>
          </a:solidFill>
          <a:ln w="19050">
            <a:solidFill>
              <a:srgbClr val="1F9D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SUBSCRIBED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fromNum notifications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60120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E7F5EE"/>
          </a:solidFill>
          <a:ln w="19050">
            <a:solidFill>
              <a:srgbClr val="1F9D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9264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DRAINING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FromRadio → empty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606040" y="2468880"/>
            <a:ext cx="2743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846320" y="2468880"/>
            <a:ext cx="2743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086600" y="2468880"/>
            <a:ext cx="2743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26880" y="2286000"/>
            <a:ext cx="274320" cy="0"/>
          </a:xfrm>
          <a:prstGeom prst="line">
            <a:avLst/>
          </a:prstGeom>
          <a:noFill/>
          <a:ln w="25400">
            <a:solidFill>
              <a:srgbClr val="1F9D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9326880" y="2697480"/>
            <a:ext cx="274320" cy="0"/>
          </a:xfrm>
          <a:prstGeom prst="line">
            <a:avLst/>
          </a:prstGeom>
          <a:noFill/>
          <a:ln w="25400">
            <a:solidFill>
              <a:srgbClr val="1F9D6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9098280" y="29718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/ empty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0" y="2926080"/>
            <a:ext cx="0" cy="8229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2926080"/>
            <a:ext cx="0" cy="8229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21040" y="2926080"/>
            <a:ext cx="0" cy="8229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3749040"/>
            <a:ext cx="6720840" cy="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600200" y="2926080"/>
            <a:ext cx="0" cy="8229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103120" y="38221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fail (backoff) · bond fail · disconnect → back to SCANNING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572000"/>
            <a:ext cx="5394960" cy="1645920"/>
          </a:xfrm>
          <a:prstGeom prst="roundRect">
            <a:avLst>
              <a:gd name="adj" fmla="val 5556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6868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rule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0292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always renders — last known data plus an honest age and link flag — no matter what state the BLE link is in. Link loss degrades the display; it never blanks it.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572000"/>
            <a:ext cx="5394960" cy="1645920"/>
          </a:xfrm>
          <a:prstGeom prst="roundRect">
            <a:avLst>
              <a:gd name="adj" fmla="val 5556"/>
            </a:avLst>
          </a:prstGeom>
          <a:solidFill>
            <a:srgbClr val="F2F6FC"/>
          </a:solidFill>
          <a:ln w="15875">
            <a:solidFill>
              <a:srgbClr val="E58E1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 — Week 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50292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 is the highest-uncertainty transition. If pairing is still blocked after two weeks, the transport swaps to Meshtastic's identical API over WiFi/TCP :4403 — decoder, state, and UI untouched.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Timeline, Effort &amp; Budget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7160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861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575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0007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721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5153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867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0299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8013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W16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581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28850" y="1554480"/>
            <a:ext cx="3735324" cy="310896"/>
          </a:xfrm>
          <a:prstGeom prst="roundRect">
            <a:avLst>
              <a:gd name="adj" fmla="val 17647"/>
            </a:avLst>
          </a:prstGeom>
          <a:solidFill>
            <a:srgbClr val="1199B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83714" y="1591056"/>
            <a:ext cx="36438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core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00750" y="1554480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1199B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55614" y="1591056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2148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00200" y="2121408"/>
            <a:ext cx="310667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655064" y="2157984"/>
            <a:ext cx="3015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bring-up + antennas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00750" y="2121408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55614" y="2157984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tests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515350" y="2121408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70214" y="2157984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char.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2715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600200" y="2688336"/>
            <a:ext cx="4363974" cy="310896"/>
          </a:xfrm>
          <a:prstGeom prst="roundRect">
            <a:avLst>
              <a:gd name="adj" fmla="val 17647"/>
            </a:avLst>
          </a:prstGeom>
          <a:solidFill>
            <a:srgbClr val="6D4BD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655064" y="2724912"/>
            <a:ext cx="427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+ nav + arrow UI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58050" y="2688336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6D4B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2914" y="2724912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32826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600200" y="3255264"/>
            <a:ext cx="31066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655064" y="3291840"/>
            <a:ext cx="3015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43450" y="3255264"/>
            <a:ext cx="247802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98314" y="329184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+ drives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58050" y="3255264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2914" y="3291840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772650" y="3255264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827514" y="3291840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2854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78904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58584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634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demo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124369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70419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85800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h</a:t>
            </a:r>
            <a:endParaRPr lang="en-US" sz="3000" dirty="0"/>
          </a:p>
        </p:txBody>
      </p:sp>
      <p:sp>
        <p:nvSpPr>
          <p:cNvPr id="47" name="Text 45"/>
          <p:cNvSpPr txBox="1"/>
          <p:nvPr/>
        </p:nvSpPr>
        <p:spPr>
          <a:xfrm>
            <a:off x="685800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weeks 1–2 (7 h × 4 members)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355848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38728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$37.4k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3538728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estimate (labor + materials + rental)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08776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391656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$9.5k</a:t>
            </a:r>
            <a:endParaRPr lang="en-US" sz="3000" dirty="0"/>
          </a:p>
        </p:txBody>
      </p:sp>
      <p:sp>
        <p:nvSpPr>
          <p:cNvPr id="53" name="Text 51"/>
          <p:cNvSpPr txBox="1"/>
          <p:nvPr/>
        </p:nvSpPr>
        <p:spPr>
          <a:xfrm>
            <a:off x="6391656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— direct materials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9061704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244584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000" dirty="0"/>
          </a:p>
        </p:txBody>
      </p:sp>
      <p:sp>
        <p:nvSpPr>
          <p:cNvPr id="56" name="Text 54"/>
          <p:cNvSpPr txBox="1"/>
          <p:nvPr/>
        </p:nvSpPr>
        <p:spPr>
          <a:xfrm>
            <a:off x="9244584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on the live Gantt tracker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2026-08-31T17:53:19Z</dcterms:created>
  <dcterms:modified xsi:type="dcterms:W3CDTF">2026-08-31T17:53:19Z</dcterms:modified>
</cp:coreProperties>
</file>