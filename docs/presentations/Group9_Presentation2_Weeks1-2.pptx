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Calibri"/>
              </a:rPr>
              <a:t>Path loss vs distance (km) — 915 MHz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space (20 log d)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91.7</c:v>
                </c:pt>
                <c:pt idx="1">
                  <c:v>97.7</c:v>
                </c:pt>
                <c:pt idx="2">
                  <c:v>105.7</c:v>
                </c:pt>
                <c:pt idx="3">
                  <c:v>111.7</c:v>
                </c:pt>
                <c:pt idx="4">
                  <c:v>117.7</c:v>
                </c:pt>
                <c:pt idx="5">
                  <c:v>125.6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Two-ray, h=2 m (40 log d)</c:v>
                </c:pt>
              </c:strCache>
            </c:strRef>
          </c:tx>
          <c:spPr>
            <a:solidFill>
              <a:srgbClr val="E58E1A"/>
            </a:solidFill>
            <a:ln w="31750" cap="flat">
              <a:solidFill>
                <a:srgbClr val="E58E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58E1A"/>
              </a:solidFill>
              <a:ln w="9525" cap="flat">
                <a:solidFill>
                  <a:srgbClr val="E58E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108</c:v>
                </c:pt>
                <c:pt idx="1">
                  <c:v>120</c:v>
                </c:pt>
                <c:pt idx="2">
                  <c:v>136</c:v>
                </c:pt>
                <c:pt idx="3">
                  <c:v>148</c:v>
                </c:pt>
                <c:pt idx="4">
                  <c:v>160</c:v>
                </c:pt>
                <c:pt idx="5">
                  <c:v>176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Link budget ceiling (161 dB)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5</c:v>
                  </c:pt>
                  <c:pt idx="3">
                    <c:v>10</c:v>
                  </c:pt>
                  <c:pt idx="4">
                    <c:v>20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161</c:v>
                </c:pt>
                <c:pt idx="1">
                  <c:v>161</c:v>
                </c:pt>
                <c:pt idx="2">
                  <c:v>161</c:v>
                </c:pt>
                <c:pt idx="3">
                  <c:v>161</c:v>
                </c:pt>
                <c:pt idx="4">
                  <c:v>161</c:v>
                </c:pt>
                <c:pt idx="5">
                  <c:v>161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distance (km)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80"/>
        </c:scaling>
        <c:delete val="0"/>
        <c:axPos val="l"/>
        <c:majorGridlines>
          <c:spPr>
            <a:ln w="9525" cap="flat">
              <a:solidFill>
                <a:srgbClr val="E3EA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path loss (dB)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280000">
            <a:off x="8252460" y="1325880"/>
            <a:ext cx="2514600" cy="3086100"/>
          </a:xfrm>
          <a:prstGeom prst="triangle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 rot="2280000">
            <a:off x="9368028" y="2622499"/>
            <a:ext cx="1106424" cy="1357884"/>
          </a:xfrm>
          <a:prstGeom prst="triangl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OFF-GRID VEHICLE TRACKER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 Engineering Report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529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Lab  ·  Group 9  ·  Sponsor: Dr. Richard Gale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2A357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4206240"/>
            <a:ext cx="1920240" cy="82296"/>
          </a:xfrm>
          <a:prstGeom prst="roundRect">
            <a:avLst/>
          </a:prstGeom>
          <a:solidFill>
            <a:srgbClr val="1199B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00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Firmware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88920" y="420624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2A3575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4206240"/>
            <a:ext cx="1920240" cy="82296"/>
          </a:xfrm>
          <a:prstGeom prst="roundRect">
            <a:avLst/>
          </a:prstGeom>
          <a:solidFill>
            <a:srgbClr val="6D4B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4700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Navigation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420624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2A3575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4206240"/>
            <a:ext cx="1920240" cy="82296"/>
          </a:xfrm>
          <a:prstGeom prst="roundRect">
            <a:avLst/>
          </a:prstGeom>
          <a:solidFill>
            <a:srgbClr val="E58E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4700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&amp; Hardware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86600" y="4206240"/>
            <a:ext cx="1920240" cy="1051560"/>
          </a:xfrm>
          <a:prstGeom prst="roundRect">
            <a:avLst>
              <a:gd name="adj" fmla="val 7826"/>
            </a:avLst>
          </a:prstGeom>
          <a:solidFill>
            <a:srgbClr val="2A3575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4206240"/>
            <a:ext cx="1920240" cy="82296"/>
          </a:xfrm>
          <a:prstGeom prst="roundRect">
            <a:avLst/>
          </a:prstGeom>
          <a:solidFill>
            <a:srgbClr val="D948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660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7000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off-grid direction-and-distance tracking between two vehicles — no cell, no WiFi, no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 &amp; Evaluation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58521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build, and field-validate a fully off-grid system that continuously shows a driver the direction and distance to a partner vehicle, across multi-km terrain with no communications infrastructure.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697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requirements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3108960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163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31272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infrastructure: license-free 915 MHz ISM link, vehicle-to-vehicle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675888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7307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369417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Driver-glanceable: arrow + distance + data age, sunlight-readable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242816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297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26110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Wireless in-cab link between radio unit and display unit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809744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486460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48280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Multi-km range in terrain (2–8 km design target, LOS ≫)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537667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543153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53949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Vehicle-powered; graceful degradation on any failure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1097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project is evaluated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720840" y="15544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0840" y="1645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936992" y="15361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progress presentations (W1–W15) — engineering content, hours &amp; budget tracking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20840" y="2212848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20840" y="23042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~W8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21945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review: bench-integrated system demonstration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720840" y="2871216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29626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W8–W12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936992" y="28529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evidence: two-vehicle drive tests + range characterization data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720840" y="3529584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36210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10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36992" y="3511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(W16): live end-to-end demonstration for the sponsor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720840" y="418795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20840" y="42793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W15–16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936992" y="416966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report: design, analysis, measurements vs. predictions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720840" y="502920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F2F6FC"/>
          </a:solidFill>
          <a:ln w="15875">
            <a:solidFill>
              <a:srgbClr val="E58E1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949440" y="513892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(measurable)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546811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position exchange at ≥ 2 km in terrain (PDR ≥ 90%)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Vehicle-relative arrow correct vs. GPS ground truth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 ≤ 60 s in normal operation, always displayed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2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V4 — radio node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· SX1262 LoRa · GNSS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Meshtastic firmware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2697480"/>
            <a:ext cx="0" cy="548640"/>
          </a:xfrm>
          <a:prstGeom prst="line">
            <a:avLst/>
          </a:prstGeom>
          <a:noFill/>
          <a:ln w="28575">
            <a:solidFill>
              <a:srgbClr val="E58E1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28600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(in-cab)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24612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D4BD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3467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Waveshare 4.2″ RLCD — display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only custom firmware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2F6FC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73736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828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Heltec V4 — radio node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· SX1262 LoRa · GNSS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23957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Meshtastic firmware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2697480"/>
            <a:ext cx="0" cy="548640"/>
          </a:xfrm>
          <a:prstGeom prst="line">
            <a:avLst/>
          </a:prstGeom>
          <a:noFill/>
          <a:ln w="28575">
            <a:solidFill>
              <a:srgbClr val="E58E1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35508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(in-cab)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246120"/>
            <a:ext cx="28346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6D4B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334670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Waveshare 4.2″ RLCD — display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only custom firmware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794760" y="2212848"/>
            <a:ext cx="77724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063240" y="1847088"/>
            <a:ext cx="22860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915 MHz · AES · mesh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16459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Meshtastic Client API: documented protobuf stream over BLE — the same interface its phone apps use. No firmware fork.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custom-firmware surface (the display). GPS, encryption, radio timing, mesh relay all ship pre-tested.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third node (ridge relay, hiker) extends range automatically — mesh for free.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LCD: sunlight-readable on a dash where TFTs wash out; fast enough for a live arrow.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stack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507492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" y="5148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30936" y="5413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payload (protobuf, ~40 B)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55848" y="507492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83864" y="5148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483864" y="5413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flooding · hop limit 3 · AES-256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08776" y="507492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F2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36792" y="5148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5413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CSMA, SNR-weighted backoff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61704" y="5074920"/>
            <a:ext cx="2697480" cy="914400"/>
          </a:xfrm>
          <a:prstGeom prst="roundRect">
            <a:avLst>
              <a:gd name="adj" fmla="val 7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89720" y="5148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189720" y="5413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chirp spread spectrum · 915 MHz ISM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Roles &amp; Semester Timeline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1199B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0972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0698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firmware: Meshtastic BLE client, protobuf decode, TrackerState feed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6D4BD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554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15270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navigation: RLCD rendering, arrow UI, distance/bearing/heading math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196596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E58E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19842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&amp; hardware: Meshtastic config, GNSS, presets, antennas, range campaign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42316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D948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468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24414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test: bench rig, logging harness, drive tests, reports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600200" y="3108960"/>
            <a:ext cx="0" cy="3063240"/>
          </a:xfrm>
          <a:prstGeom prst="line">
            <a:avLst/>
          </a:prstGeom>
          <a:noFill/>
          <a:ln w="12700">
            <a:solidFill>
              <a:srgbClr val="E3EA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71600" y="2862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86150" y="3108960"/>
            <a:ext cx="0" cy="3063240"/>
          </a:xfrm>
          <a:prstGeom prst="line">
            <a:avLst/>
          </a:prstGeom>
          <a:noFill/>
          <a:ln w="12700">
            <a:solidFill>
              <a:srgbClr val="E3EA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57550" y="2862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00750" y="3108960"/>
            <a:ext cx="0" cy="3063240"/>
          </a:xfrm>
          <a:prstGeom prst="line">
            <a:avLst/>
          </a:prstGeom>
          <a:noFill/>
          <a:ln w="12700">
            <a:solidFill>
              <a:srgbClr val="E3EA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72150" y="2862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15350" y="3108960"/>
            <a:ext cx="0" cy="3063240"/>
          </a:xfrm>
          <a:prstGeom prst="line">
            <a:avLst/>
          </a:prstGeom>
          <a:noFill/>
          <a:ln w="12700">
            <a:solidFill>
              <a:srgbClr val="E3EAF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86750" y="2862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029950" y="3108960"/>
            <a:ext cx="0" cy="3063240"/>
          </a:xfrm>
          <a:prstGeom prst="line">
            <a:avLst/>
          </a:prstGeom>
          <a:noFill/>
          <a:ln w="12700">
            <a:solidFill>
              <a:srgbClr val="E3EAF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801350" y="286207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28850" y="3337560"/>
            <a:ext cx="3735324" cy="310896"/>
          </a:xfrm>
          <a:prstGeom prst="roundRect">
            <a:avLst>
              <a:gd name="adj" fmla="val 17647"/>
            </a:avLst>
          </a:prstGeom>
          <a:solidFill>
            <a:srgbClr val="1199B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283714" y="3374136"/>
            <a:ext cx="36438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core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00750" y="3337560"/>
            <a:ext cx="1849374" cy="310896"/>
          </a:xfrm>
          <a:prstGeom prst="roundRect">
            <a:avLst>
              <a:gd name="adj" fmla="val 17647"/>
            </a:avLst>
          </a:prstGeom>
          <a:solidFill>
            <a:srgbClr val="1199B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55614" y="3374136"/>
            <a:ext cx="17579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3931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600200" y="3904488"/>
            <a:ext cx="3106674" cy="310896"/>
          </a:xfrm>
          <a:prstGeom prst="roundRect">
            <a:avLst>
              <a:gd name="adj" fmla="val 17647"/>
            </a:avLst>
          </a:prstGeom>
          <a:solidFill>
            <a:srgbClr val="E58E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655064" y="3941064"/>
            <a:ext cx="30152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bring-up + antennas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00750" y="3904488"/>
            <a:ext cx="1220724" cy="310896"/>
          </a:xfrm>
          <a:prstGeom prst="roundRect">
            <a:avLst>
              <a:gd name="adj" fmla="val 17647"/>
            </a:avLst>
          </a:prstGeom>
          <a:solidFill>
            <a:srgbClr val="E58E1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55614" y="3941064"/>
            <a:ext cx="1129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tests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515350" y="3904488"/>
            <a:ext cx="1220724" cy="310896"/>
          </a:xfrm>
          <a:prstGeom prst="roundRect">
            <a:avLst>
              <a:gd name="adj" fmla="val 17647"/>
            </a:avLst>
          </a:prstGeom>
          <a:solidFill>
            <a:srgbClr val="E58E1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570214" y="3941064"/>
            <a:ext cx="1129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char.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4988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4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600200" y="4471416"/>
            <a:ext cx="4363974" cy="310896"/>
          </a:xfrm>
          <a:prstGeom prst="roundRect">
            <a:avLst>
              <a:gd name="adj" fmla="val 17647"/>
            </a:avLst>
          </a:prstGeom>
          <a:solidFill>
            <a:srgbClr val="6D4BD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655064" y="4507992"/>
            <a:ext cx="42725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+ nav + arrow UI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58050" y="4471416"/>
            <a:ext cx="1220724" cy="310896"/>
          </a:xfrm>
          <a:prstGeom prst="roundRect">
            <a:avLst>
              <a:gd name="adj" fmla="val 17647"/>
            </a:avLst>
          </a:prstGeom>
          <a:solidFill>
            <a:srgbClr val="6D4BD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2914" y="4507992"/>
            <a:ext cx="11292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50657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600200" y="5038344"/>
            <a:ext cx="3106674" cy="310896"/>
          </a:xfrm>
          <a:prstGeom prst="roundRect">
            <a:avLst>
              <a:gd name="adj" fmla="val 17647"/>
            </a:avLst>
          </a:prstGeom>
          <a:solidFill>
            <a:srgbClr val="D9488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655064" y="5074920"/>
            <a:ext cx="30152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43450" y="5038344"/>
            <a:ext cx="2478024" cy="310896"/>
          </a:xfrm>
          <a:prstGeom prst="roundRect">
            <a:avLst>
              <a:gd name="adj" fmla="val 17647"/>
            </a:avLst>
          </a:prstGeom>
          <a:solidFill>
            <a:srgbClr val="D9488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98314" y="5074920"/>
            <a:ext cx="2386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+ drives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258050" y="5038344"/>
            <a:ext cx="1849374" cy="310896"/>
          </a:xfrm>
          <a:prstGeom prst="roundRect">
            <a:avLst>
              <a:gd name="adj" fmla="val 17647"/>
            </a:avLst>
          </a:prstGeom>
          <a:solidFill>
            <a:srgbClr val="D9488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312914" y="5074920"/>
            <a:ext cx="17579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772650" y="5038344"/>
            <a:ext cx="1849374" cy="310896"/>
          </a:xfrm>
          <a:prstGeom prst="roundRect">
            <a:avLst>
              <a:gd name="adj" fmla="val 17647"/>
            </a:avLst>
          </a:prstGeom>
          <a:solidFill>
            <a:srgbClr val="D9488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827514" y="5074920"/>
            <a:ext cx="17579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328541" y="5678424"/>
            <a:ext cx="201168" cy="201168"/>
          </a:xfrm>
          <a:prstGeom prst="diamond">
            <a:avLst/>
          </a:prstGeom>
          <a:solidFill>
            <a:srgbClr val="E58E1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789045" y="5916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585841" y="5678424"/>
            <a:ext cx="201168" cy="201168"/>
          </a:xfrm>
          <a:prstGeom prst="diamond">
            <a:avLst/>
          </a:prstGeom>
          <a:solidFill>
            <a:srgbClr val="E58E1A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046345" y="5916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demo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1243691" y="5678424"/>
            <a:ext cx="201168" cy="201168"/>
          </a:xfrm>
          <a:prstGeom prst="diamond">
            <a:avLst/>
          </a:prstGeom>
          <a:solidFill>
            <a:srgbClr val="E58E1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10704195" y="5916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02920" y="6355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 by design: the TrackerState contract decouples all four lanes from week 2 — no lane waits on another until bench integration (W7).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 · Shared Foundations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contract (agreed W1–W2)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TrackerState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Fix  self;     // own GPS: lat lon course speed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Fix  partner;  // via LoRa: lat lon age_s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ble_connected;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94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(protocol task) · one reader (UI task) · changed only by joint commit. This is what lets all four lanes build in parallel.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Process: every interface testable in isolation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08760"/>
          <a:ext cx="530352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6118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test (no custom code)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→ radio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visible on radio OLED + phone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A ↔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phone apps see each other's 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 Client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Meshtastic Python CLI from a laptop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→ 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TrackerState scenarios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0292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in place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02920" y="5257800"/>
            <a:ext cx="256032" cy="256032"/>
          </a:xfrm>
          <a:prstGeom prst="ellipse">
            <a:avLst/>
          </a:prstGeom>
          <a:solidFill>
            <a:srgbClr val="E58E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86968" y="5212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git repo + CI-ready layout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17920" y="5257800"/>
            <a:ext cx="256032" cy="256032"/>
          </a:xfrm>
          <a:prstGeom prst="ellipse">
            <a:avLst/>
          </a:prstGeom>
          <a:solidFill>
            <a:srgbClr val="E58E1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01968" y="52120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toolchain (ESP32-S3)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" y="5824728"/>
            <a:ext cx="256032" cy="256032"/>
          </a:xfrm>
          <a:prstGeom prst="ellipse">
            <a:avLst/>
          </a:prstGeom>
          <a:solidFill>
            <a:srgbClr val="E58E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86968" y="57790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nanopb + Meshtastic protobuf schema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217920" y="5824728"/>
            <a:ext cx="256032" cy="256032"/>
          </a:xfrm>
          <a:prstGeom prst="ellipse">
            <a:avLst/>
          </a:prstGeom>
          <a:solidFill>
            <a:srgbClr val="E58E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601968" y="577900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received &amp; bench-verified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 · Individual Lanes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2F6FC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5331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E58E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3816" y="1389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 — Radio &amp; Hardware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983480" y="1389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 logged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47088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#1 flashed with Meshtastic (US-915) and configured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module integrated — 7-satellite fix verified, position on map via client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#2 flash &amp; mesh position exchange next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73368" y="118872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2F6FC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135331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6D4B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84264" y="138988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 — Display &amp; Navigation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853928" y="1389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 logged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1847088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4.2″ reflective LCD panel driven from vendor BSP (ST7305, SPI, 400×300)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1-bpp framebuffer in PSRAM; full-screen refresh path working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layer + nav math implementation queued for W3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2F6FC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95935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1199B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3816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— Protocol Firmware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9959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 logged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453128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nanopb toolchain built; Meshtastic protobuf schema compiled into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API mapped: GATT service + ToRadio/FromRadio/FromNum characteristics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central bring-up begins W2–W3 per plan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73368" y="379476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F2F6FC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56248" y="3959352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D948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84264" y="39959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 — Integration &amp; Test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0853928" y="39959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 logged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4453128"/>
            <a:ext cx="5257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rig assembled; both boards on instrumented USB power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&amp; documented low-load shutoff hazard in USB chargers (affects 12 V adapters)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Range-test data collection plan drafted with Victor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 Link Engineering — Can We Reach 8 km?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1120140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pic>
        <p:nvPicPr>
          <p:cNvPr id="4" name="Image 0" descr="C:\Users\deogr\AppData\Local\Temp\claude\C--Users-deogr-Documents-Fall-Project-Off-Grid-Vehicle-dection-project\e8b2e8fa-1513-4aa8-a8f6-ce4fcd20e664\scratchpad\deck\math\rf_pr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07008"/>
            <a:ext cx="3108960" cy="246126"/>
          </a:xfrm>
          <a:prstGeom prst="rect">
            <a:avLst/>
          </a:prstGeom>
        </p:spPr>
      </p:pic>
      <p:pic>
        <p:nvPicPr>
          <p:cNvPr id="5" name="Image 1" descr="C:\Users\deogr\AppData\Local\Temp\claude\C--Users-deogr-Documents-Fall-Project-Off-Grid-Vehicle-dection-project\e8b2e8fa-1513-4aa8-a8f6-ce4fcd20e664\scratchpad\deck\math\rf_2r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97864"/>
            <a:ext cx="4023360" cy="243273"/>
          </a:xfrm>
          <a:prstGeom prst="rect">
            <a:avLst/>
          </a:prstGeom>
        </p:spPr>
      </p:pic>
      <p:pic>
        <p:nvPicPr>
          <p:cNvPr id="6" name="Image 2" descr="C:\Users\deogr\AppData\Local\Temp\claude\C--Users-deogr-Documents-Fall-Project-Off-Grid-Vehicle-dection-project\e8b2e8fa-1513-4aa8-a8f6-ce4fcd20e664\scratchpad\deck\math\rf_fsp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91640"/>
            <a:ext cx="5394960" cy="22996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22960" y="22128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margin closes when path loss reaches:</a:t>
            </a:r>
            <a:endParaRPr lang="en-US" sz="1200" dirty="0"/>
          </a:p>
        </p:txBody>
      </p:sp>
      <p:pic>
        <p:nvPicPr>
          <p:cNvPr id="8" name="Image 3" descr="C:\Users\deogr\AppData\Local\Temp\claude\C--Users-deogr-Documents-Fall-Project-Off-Grid-Vehicle-dection-project\e8b2e8fa-1513-4aa8-a8f6-ce4fcd20e664\scratchpad\deck\math\rf_bud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240280"/>
            <a:ext cx="7223760" cy="24079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00400"/>
          <a:ext cx="493776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23444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 / BW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SHORT_FAST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SF7 / 250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−121 dBm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LONG_FAST (default)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SF11 / 250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~1.07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−129 dBm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LONG_SLOW (reserve)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SF12 / 125 kHz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~0.18 kbps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−137 dBm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10" name="Text 3"/>
          <p:cNvSpPr txBox="1"/>
          <p:nvPr/>
        </p:nvSpPr>
        <p:spPr>
          <a:xfrm>
            <a:off x="502920" y="48463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SF step ≈ +2.5–3 dB margin at ~½ the data rate. The payload needs only ~13 bit/s — capacity is deliberately traded for link margin (chirp spreading gain decodes up to 15 dB below the noise floor).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06440" y="3063240"/>
          <a:ext cx="58978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" name="Text 4"/>
          <p:cNvSpPr txBox="1"/>
          <p:nvPr/>
        </p:nvSpPr>
        <p:spPr>
          <a:xfrm>
            <a:off x="5806440" y="603504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LOS reaches tens of km; ground-level two-ray crosses the budget near ~20 km; terrain diffraction sets the honest 2–8 km target. Victor's W3–W5 campaign measures this curve.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Engineering — From Two Fixes to One Arrow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6309360" cy="2880360"/>
          </a:xfrm>
          <a:prstGeom prst="roundRect">
            <a:avLst>
              <a:gd name="adj" fmla="val 3175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261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Great-circle distance (haversine):</a:t>
            </a:r>
            <a:endParaRPr lang="en-US" sz="1200" dirty="0"/>
          </a:p>
        </p:txBody>
      </p:sp>
      <p:pic>
        <p:nvPicPr>
          <p:cNvPr id="5" name="Image 0" descr="C:\Users\deogr\AppData\Local\Temp\claude\C--Users-deogr-Documents-Fall-Project-Off-Grid-Vehicle-dection-project\e8b2e8fa-1513-4aa8-a8f6-ce4fcd20e664\scratchpad\deck\math\nav_hav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4480560" cy="347806"/>
          </a:xfrm>
          <a:prstGeom prst="rect">
            <a:avLst/>
          </a:prstGeom>
        </p:spPr>
      </p:pic>
      <p:pic>
        <p:nvPicPr>
          <p:cNvPr id="6" name="Image 1" descr="C:\Users\deogr\AppData\Local\Temp\claude\C--Users-deogr-Documents-Fall-Project-Off-Grid-Vehicle-dection-project\e8b2e8fa-1513-4aa8-a8f6-ce4fcd20e664\scratchpad\deck\math\nav_hav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93392"/>
            <a:ext cx="3017520" cy="2987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bearing (true-north referenced):</a:t>
            </a:r>
            <a:endParaRPr lang="en-US" sz="1200" dirty="0"/>
          </a:p>
        </p:txBody>
      </p:sp>
      <p:pic>
        <p:nvPicPr>
          <p:cNvPr id="8" name="Image 2" descr="C:\Users\deogr\AppData\Local\Temp\claude\C--Users-deogr-Documents-Fall-Project-Off-Grid-Vehicle-dection-project\e8b2e8fa-1513-4aa8-a8f6-ce4fcd20e664\scratchpad\deck\math\nav_br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788920"/>
            <a:ext cx="5669280" cy="20227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772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vehicle-relative arrow:</a:t>
            </a:r>
            <a:endParaRPr lang="en-US" sz="1200" dirty="0"/>
          </a:p>
        </p:txBody>
      </p:sp>
      <p:pic>
        <p:nvPicPr>
          <p:cNvPr id="10" name="Image 3" descr="C:\Users\deogr\AppData\Local\Temp\claude\C--Users-deogr-Documents-Fall-Project-Off-Grid-Vehicle-dection-project\e8b2e8fa-1513-4aa8-a8f6-ce4fcd20e664\scratchpad\deck\math\nav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246120"/>
            <a:ext cx="2011680" cy="22352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02920" y="425196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from GPS course-over-ground — a magnetometer inside a steel cab is unreliable; COG is accurate above ~5 mph, and a driving product is usually moving.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fallback: north-referenced compass display when v &lt; 2.2 m/s.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ACKs by design: a newer position supersedes an older one — the correct reliability metric is data age (staleness), always shown to the driver.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7726680" y="1737360"/>
            <a:ext cx="3291840" cy="3291840"/>
          </a:xfrm>
          <a:prstGeom prst="ellipse">
            <a:avLst/>
          </a:prstGeom>
          <a:solidFill>
            <a:srgbClr val="F2F6FC"/>
          </a:solidFill>
          <a:ln w="15875">
            <a:solidFill>
              <a:srgbClr val="C9D9EE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923544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9372600" y="1847088"/>
            <a:ext cx="0" cy="1536192"/>
          </a:xfrm>
          <a:prstGeom prst="line">
            <a:avLst/>
          </a:prstGeom>
          <a:noFill/>
          <a:ln w="15875">
            <a:solidFill>
              <a:srgbClr val="9FB2CC"/>
            </a:solidFill>
            <a:prstDash val="dash"/>
          </a:ln>
        </p:spPr>
      </p:sp>
      <p:sp>
        <p:nvSpPr>
          <p:cNvPr id="15" name="Shape 9"/>
          <p:cNvSpPr/>
          <p:nvPr/>
        </p:nvSpPr>
        <p:spPr>
          <a:xfrm flipV="1">
            <a:off x="9372600" y="2165299"/>
            <a:ext cx="1020470" cy="1217981"/>
          </a:xfrm>
          <a:prstGeom prst="line">
            <a:avLst/>
          </a:prstGeom>
          <a:noFill/>
          <a:ln w="31750">
            <a:solidFill>
              <a:srgbClr val="1199BD"/>
            </a:solidFill>
            <a:prstDash val="solid"/>
            <a:tailEnd type="triangle"/>
          </a:ln>
        </p:spPr>
      </p:sp>
      <p:sp>
        <p:nvSpPr>
          <p:cNvPr id="16" name="Text 10"/>
          <p:cNvSpPr txBox="1"/>
          <p:nvPr/>
        </p:nvSpPr>
        <p:spPr>
          <a:xfrm>
            <a:off x="10195560" y="1819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9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course (COG)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9372600" y="3383280"/>
            <a:ext cx="1448410" cy="658368"/>
          </a:xfrm>
          <a:prstGeom prst="line">
            <a:avLst/>
          </a:prstGeom>
          <a:noFill/>
          <a:ln w="31750">
            <a:solidFill>
              <a:srgbClr val="D9488C"/>
            </a:solidFill>
            <a:prstDash val="solid"/>
            <a:tailEnd type="triangle"/>
          </a:ln>
        </p:spPr>
      </p:sp>
      <p:sp>
        <p:nvSpPr>
          <p:cNvPr id="18" name="Text 12"/>
          <p:cNvSpPr txBox="1"/>
          <p:nvPr/>
        </p:nvSpPr>
        <p:spPr>
          <a:xfrm>
            <a:off x="9866376" y="423915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θ to partner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10360152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∠ = θ − COG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9317736" y="3328416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7040880" y="54406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Vehicle-relative by subtraction — no compass hardware needed.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 Plan &amp; Risk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199B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527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161288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central bring-up: scan, connect, bond with radio; begin FromRadio decode. THE critical-path milestone (W3–W5).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984248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58E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0939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002536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preset trade study (LONG_FAST vs LONG_SLOW) + broadcast-interval selection (30–60 s airtime analysis).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25496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6D4B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9352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Josiah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843784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+ unit-test nav math (haversine, bearing, COG heading); rendering layer setup.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66744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D948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7764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36850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 instrumentation continues; range-test logging harness design (RSSI/SNR/PDR capture).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143000"/>
            <a:ext cx="3474720" cy="3063240"/>
          </a:xfrm>
          <a:prstGeom prst="roundRect">
            <a:avLst>
              <a:gd name="adj" fmla="val 2985"/>
            </a:avLst>
          </a:prstGeom>
          <a:solidFill>
            <a:srgbClr val="2A3575"/>
          </a:solidFill>
          <a:ln w="15875">
            <a:solidFill>
              <a:srgbClr val="E58E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58200" y="13258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8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 — Week 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173736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bonding with Meshtastic is the project's highest-uncertainty item.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rule: if pairing is still blocked after 2 weeks, switch transport to Meshtastic's identical API over WiFi/TCP :4403.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transport layer swaps — decoder, state, and UI are untouched.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8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h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5623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hours logged (7 × 4)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355848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8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$37.4k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3355848" y="5623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estimate (TDL+TDM+ETRM)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8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$9.5k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5623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in direct materials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61704" y="4892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8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5623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tasks on live Gantt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2026-08-31T17:41:10Z</dcterms:created>
  <dcterms:modified xsi:type="dcterms:W3CDTF">2026-08-31T17:41:10Z</dcterms:modified>
</cp:coreProperties>
</file>