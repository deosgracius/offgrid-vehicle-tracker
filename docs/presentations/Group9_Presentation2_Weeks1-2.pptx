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Path loss vs distance (km) — 915 MHz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 space (20 log d)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5</c:v>
                  </c:pt>
                  <c:pt idx="3">
                    <c:v>10</c:v>
                  </c:pt>
                  <c:pt idx="4">
                    <c:v>20</c:v>
                  </c:pt>
                  <c:pt idx="5">
                    <c:v>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91.7</c:v>
                </c:pt>
                <c:pt idx="1">
                  <c:v>97.7</c:v>
                </c:pt>
                <c:pt idx="2">
                  <c:v>105.7</c:v>
                </c:pt>
                <c:pt idx="3">
                  <c:v>111.7</c:v>
                </c:pt>
                <c:pt idx="4">
                  <c:v>117.7</c:v>
                </c:pt>
                <c:pt idx="5">
                  <c:v>125.6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Two-ray, h=2 m (40 log d)</c:v>
                </c:pt>
              </c:strCache>
            </c:strRef>
          </c:tx>
          <c:spPr>
            <a:solidFill>
              <a:srgbClr val="E58E1A"/>
            </a:solidFill>
            <a:ln w="31750" cap="flat">
              <a:solidFill>
                <a:srgbClr val="E58E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58E1A"/>
              </a:solidFill>
              <a:ln w="9525" cap="flat">
                <a:solidFill>
                  <a:srgbClr val="E58E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5</c:v>
                  </c:pt>
                  <c:pt idx="3">
                    <c:v>10</c:v>
                  </c:pt>
                  <c:pt idx="4">
                    <c:v>20</c:v>
                  </c:pt>
                  <c:pt idx="5">
                    <c:v>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108</c:v>
                </c:pt>
                <c:pt idx="1">
                  <c:v>120</c:v>
                </c:pt>
                <c:pt idx="2">
                  <c:v>136</c:v>
                </c:pt>
                <c:pt idx="3">
                  <c:v>148</c:v>
                </c:pt>
                <c:pt idx="4">
                  <c:v>160</c:v>
                </c:pt>
                <c:pt idx="5">
                  <c:v>176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Link budget ceiling (161 dB)</c:v>
                </c:pt>
              </c:strCache>
            </c:strRef>
          </c:tx>
          <c:spPr>
            <a:solidFill>
              <a:srgbClr val="C0392B"/>
            </a:solidFill>
            <a:ln w="31750" cap="flat">
              <a:solidFill>
                <a:srgbClr val="C039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5</c:v>
                  </c:pt>
                  <c:pt idx="3">
                    <c:v>10</c:v>
                  </c:pt>
                  <c:pt idx="4">
                    <c:v>20</c:v>
                  </c:pt>
                  <c:pt idx="5">
                    <c:v>50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161</c:v>
                </c:pt>
                <c:pt idx="1">
                  <c:v>161</c:v>
                </c:pt>
                <c:pt idx="2">
                  <c:v>161</c:v>
                </c:pt>
                <c:pt idx="3">
                  <c:v>161</c:v>
                </c:pt>
                <c:pt idx="4">
                  <c:v>161</c:v>
                </c:pt>
                <c:pt idx="5">
                  <c:v>161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distance (km)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  <c:min val="80"/>
        </c:scaling>
        <c:delete val="0"/>
        <c:axPos val="l"/>
        <c:majorGridlines>
          <c:spPr>
            <a:ln w="9525" cap="flat">
              <a:solidFill>
                <a:srgbClr val="E3EA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path loss (dB)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280000">
            <a:off x="8252460" y="1325880"/>
            <a:ext cx="2514600" cy="3086100"/>
          </a:xfrm>
          <a:prstGeom prst="triangle">
            <a:avLst/>
          </a:prstGeom>
          <a:solidFill>
            <a:srgbClr val="CADCFC"/>
          </a:solidFill>
          <a:ln/>
        </p:spPr>
      </p:sp>
      <p:sp>
        <p:nvSpPr>
          <p:cNvPr id="3" name="Shape 1"/>
          <p:cNvSpPr/>
          <p:nvPr/>
        </p:nvSpPr>
        <p:spPr>
          <a:xfrm rot="2280000">
            <a:off x="9368028" y="2622499"/>
            <a:ext cx="1106424" cy="1357884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OFF-GRID VEHICLE TRACKER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8600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 Engineering Report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529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Lab  ·  Group 9  ·  Sponsor: Dr. Richard Gale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206240"/>
            <a:ext cx="1920240" cy="1051560"/>
          </a:xfrm>
          <a:prstGeom prst="roundRect">
            <a:avLst>
              <a:gd name="adj" fmla="val 7826"/>
            </a:avLst>
          </a:prstGeom>
          <a:solidFill>
            <a:srgbClr val="2A357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6817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Firmware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88920" y="4206240"/>
            <a:ext cx="1920240" cy="1051560"/>
          </a:xfrm>
          <a:prstGeom prst="roundRect">
            <a:avLst>
              <a:gd name="adj" fmla="val 7826"/>
            </a:avLst>
          </a:prstGeom>
          <a:solidFill>
            <a:srgbClr val="2A357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8892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Josiah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46817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&amp; Navigation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37760" y="4206240"/>
            <a:ext cx="1920240" cy="1051560"/>
          </a:xfrm>
          <a:prstGeom prst="roundRect">
            <a:avLst>
              <a:gd name="adj" fmla="val 7826"/>
            </a:avLst>
          </a:prstGeom>
          <a:solidFill>
            <a:srgbClr val="2A357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3776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46817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&amp; Hardware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086600" y="4206240"/>
            <a:ext cx="1920240" cy="1051560"/>
          </a:xfrm>
          <a:prstGeom prst="roundRect">
            <a:avLst>
              <a:gd name="adj" fmla="val 7826"/>
            </a:avLst>
          </a:prstGeom>
          <a:solidFill>
            <a:srgbClr val="2A357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866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46817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Test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off-grid direction-and-distance tracking between two vehicles — no cell, no WiFi, no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2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283464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Heltec V4 — radio node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 · SX1262 LoRa · GNSS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957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Meshtastic firmware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2697480"/>
            <a:ext cx="0" cy="548640"/>
          </a:xfrm>
          <a:prstGeom prst="line">
            <a:avLst/>
          </a:prstGeom>
          <a:noFill/>
          <a:ln w="28575">
            <a:solidFill>
              <a:srgbClr val="E58E1A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286000" y="28163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(in-cab)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3246120"/>
            <a:ext cx="283464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346704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Waveshare 4.2″ RLCD — display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only custom firmware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0" y="123444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2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B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00600" y="1737360"/>
            <a:ext cx="283464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92040" y="1828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Heltec V4 — radio node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 · SX1262 LoRa · GNSS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3957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Meshtastic firmware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2697480"/>
            <a:ext cx="0" cy="548640"/>
          </a:xfrm>
          <a:prstGeom prst="line">
            <a:avLst/>
          </a:prstGeom>
          <a:noFill/>
          <a:ln w="28575">
            <a:solidFill>
              <a:srgbClr val="E58E1A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355080" y="28163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(in-cab)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00600" y="3246120"/>
            <a:ext cx="283464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92040" y="3346704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Waveshare 4.2″ RLCD — display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only custom firmware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794760" y="2103120"/>
            <a:ext cx="777240" cy="0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3383280" y="1371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915 MHz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2–8+ km · AES · mesh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architecture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45920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Meshtastic Client API: documented protobuf stream over BLE — the same interface its phone apps use. No firmware fork.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custom-firmware surface (the display). GPS, encryption, radio timing, mesh relay all ship pre-tested.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third node (ridge relay, hiker) extends range automatically — mesh for free.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Reflective LCD: sunlight-readable on a dash where TFTs wash out; refreshes fast enough for a live arrow.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 stack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02920" y="5074920"/>
            <a:ext cx="2697480" cy="914400"/>
          </a:xfrm>
          <a:prstGeom prst="roundRect">
            <a:avLst>
              <a:gd name="adj" fmla="val 7000"/>
            </a:avLst>
          </a:prstGeom>
          <a:solidFill>
            <a:srgbClr val="F2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0936" y="51480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30936" y="54132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payload (protobuf, ~40 B)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55848" y="5074920"/>
            <a:ext cx="2697480" cy="914400"/>
          </a:xfrm>
          <a:prstGeom prst="roundRect">
            <a:avLst>
              <a:gd name="adj" fmla="val 7000"/>
            </a:avLst>
          </a:prstGeom>
          <a:solidFill>
            <a:srgbClr val="F2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83864" y="51480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483864" y="54132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flooding · hop limit 3 · AES-256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08776" y="5074920"/>
            <a:ext cx="2697480" cy="914400"/>
          </a:xfrm>
          <a:prstGeom prst="roundRect">
            <a:avLst>
              <a:gd name="adj" fmla="val 7000"/>
            </a:avLst>
          </a:prstGeom>
          <a:solidFill>
            <a:srgbClr val="F2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36792" y="51480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336792" y="54132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CSMA, SNR-weighted backoff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61704" y="5074920"/>
            <a:ext cx="2697480" cy="914400"/>
          </a:xfrm>
          <a:prstGeom prst="roundRect">
            <a:avLst>
              <a:gd name="adj" fmla="val 7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89720" y="51480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9189720" y="54132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chirp spread spectrum · 915 MHz ISM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Weeks 1–2 · Shared Foundations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interface contract (agreed W1–W2)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486400" cy="2468880"/>
          </a:xfrm>
          <a:prstGeom prst="roundRect">
            <a:avLst>
              <a:gd name="adj" fmla="val 3704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TrackerState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Fix  self;     // own GPS: lat lon course speed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Fix  partner;  // via LoRa: lat lon age_s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ble_connected;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40690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writer (protocol task) · one reader (UI task) · changed only by joint commit. Lets all four lanes build in parallel.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Process: every interface testable in isolation</a:t>
            </a:r>
            <a:endParaRPr lang="en-US" sz="1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08760"/>
          <a:ext cx="53035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6118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test (no custom code)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GPS → radio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visible on radio OLED + phone app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A ↔ 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phone apps see each other's 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 Client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Meshtastic Python CLI from a laptop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→ 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TrackerState scenarios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02920" y="4892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in place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2920" y="5349240"/>
            <a:ext cx="256032" cy="256032"/>
          </a:xfrm>
          <a:prstGeom prst="ellipse">
            <a:avLst/>
          </a:prstGeom>
          <a:solidFill>
            <a:srgbClr val="E58E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86968" y="53035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git repo + CI-ready layout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217920" y="5349240"/>
            <a:ext cx="256032" cy="256032"/>
          </a:xfrm>
          <a:prstGeom prst="ellipse">
            <a:avLst/>
          </a:prstGeom>
          <a:solidFill>
            <a:srgbClr val="E58E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1968" y="53035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PlatformIO toolchain (ESP32-S3)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5916168"/>
            <a:ext cx="256032" cy="256032"/>
          </a:xfrm>
          <a:prstGeom prst="ellipse">
            <a:avLst/>
          </a:prstGeom>
          <a:solidFill>
            <a:srgbClr val="E58E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86968" y="587044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nanopb + Meshtastic protobuf schema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217920" y="5916168"/>
            <a:ext cx="256032" cy="256032"/>
          </a:xfrm>
          <a:prstGeom prst="ellipse">
            <a:avLst/>
          </a:prstGeom>
          <a:solidFill>
            <a:srgbClr val="E58E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1968" y="587044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received &amp; bench-verified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Weeks 1–2 · Individual Lanes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5669280" cy="2377440"/>
          </a:xfrm>
          <a:prstGeom prst="roundRect">
            <a:avLst>
              <a:gd name="adj" fmla="val 3846"/>
            </a:avLst>
          </a:prstGeom>
          <a:solidFill>
            <a:srgbClr val="F2F6FC"/>
          </a:solidFill>
          <a:ln w="12700">
            <a:solidFill>
              <a:srgbClr val="C9D9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53312"/>
            <a:ext cx="3383280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" y="138988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 — Radio &amp; Hardware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983480" y="138988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h logged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47088"/>
            <a:ext cx="5257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#1 flashed with Meshtastic (US-915) and configured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module integrated — 7-satellite fix verified, position on map via client app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#2 flash &amp; mesh position exchange next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73368" y="1188720"/>
            <a:ext cx="5669280" cy="2377440"/>
          </a:xfrm>
          <a:prstGeom prst="roundRect">
            <a:avLst>
              <a:gd name="adj" fmla="val 3846"/>
            </a:avLst>
          </a:prstGeom>
          <a:solidFill>
            <a:srgbClr val="F2F6FC"/>
          </a:solidFill>
          <a:ln w="12700">
            <a:solidFill>
              <a:srgbClr val="C9D9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56248" y="1353312"/>
            <a:ext cx="3383280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84264" y="138988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Josiah — Display &amp; Navigation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853928" y="138988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h logged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1847088"/>
            <a:ext cx="5257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4.2″ reflective LCD panel driven from vendor BSP (ST7305, SPI, 400×300)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1-bpp framebuffer in PSRAM; full-screen refresh path working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layer + nav math implementation queued for W3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669280" cy="2377440"/>
          </a:xfrm>
          <a:prstGeom prst="roundRect">
            <a:avLst>
              <a:gd name="adj" fmla="val 3846"/>
            </a:avLst>
          </a:prstGeom>
          <a:solidFill>
            <a:srgbClr val="F2F6FC"/>
          </a:solidFill>
          <a:ln w="12700">
            <a:solidFill>
              <a:srgbClr val="C9D9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959352"/>
            <a:ext cx="3383280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3816" y="39959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 — Protocol Firmware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983480" y="399592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h logged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453128"/>
            <a:ext cx="5257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nanopb toolchain built; Meshtastic protobuf schema compiled into project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API mapped: GATT service + ToRadio/FromRadio/FromNum characteristics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central bring-up begins W2–W3 per plan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73368" y="3794760"/>
            <a:ext cx="5669280" cy="2377440"/>
          </a:xfrm>
          <a:prstGeom prst="roundRect">
            <a:avLst>
              <a:gd name="adj" fmla="val 3846"/>
            </a:avLst>
          </a:prstGeom>
          <a:solidFill>
            <a:srgbClr val="F2F6FC"/>
          </a:solidFill>
          <a:ln w="12700">
            <a:solidFill>
              <a:srgbClr val="C9D9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56248" y="3959352"/>
            <a:ext cx="3383280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84264" y="39959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Cannon — Integration &amp; Test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10853928" y="399592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h logged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601968" y="4453128"/>
            <a:ext cx="5257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rig assembled; both boards on instrumented USB power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&amp; documented low-load shutoff hazard in USB chargers (affects 12 V adapters)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Range-test data collection plan drafted with Victor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 Link Engineering — Can We Reach 8 km?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143000"/>
            <a:ext cx="4937760" cy="2148840"/>
          </a:xfrm>
          <a:prstGeom prst="roundRect">
            <a:avLst>
              <a:gd name="adj" fmla="val 425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4572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P_rx = P_tx + G_tx + G_rx − L_path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FSPL(dB) = 32.45 + 20log₁₀f(MHz) + 20log₁₀d(km)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Two-ray:  L ≈ 40log₁₀d − 20log₁₀(h₁h₂)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 allowable path loss: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dBm + 3 + 3 − 2 − (−129 dBm) = 161 dB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520440"/>
          <a:ext cx="49377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914400"/>
                <a:gridCol w="1097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 / BW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SHORT_FAST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SF7 / 250 kHz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 kbps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−121 dBm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LONG_FAST (default)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SF11 / 250 kHz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~1.07 kbps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−129 dBm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LONG_SLOW (reserve)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SF12 / 125 kHz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~0.18 kbps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−137 dBm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07492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SF step ≈ +2.5–3 dB margin at ~½ the data rate. Payload needs only ~13 bit/s — capacity is deliberately traded for link margin (decode up to 15 dB below the noise floor via chirp spreading gain).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806440" y="1143000"/>
          <a:ext cx="58978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806440" y="5440680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Prediction: line-of-sight reaches tens of km; ground-level two-ray crosses the budget near ~20 km; terrain diffraction sets the real 2–8 km expectation. Victor's W3–W5 range campaign measures this curve.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Navigation Engineering — From Two Fixes to One Arrow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143000"/>
            <a:ext cx="6035040" cy="2560320"/>
          </a:xfrm>
          <a:prstGeom prst="roundRect">
            <a:avLst>
              <a:gd name="adj" fmla="val 3571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5623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 (haversine):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= sin²(Δφ/2) + cosφ₁ cosφ₂ sin²(Δλ/2)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 = 2R · atan2(√a, √(1−a))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 bearing (true north):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θ = atan2(sinΔλ cosφ₂,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cosφ₁ sinφ₂ − sinφ₁ cosφ₂ cosΔλ)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Driver's arrow:   arrow = θ − course_over_ground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977640"/>
            <a:ext cx="6035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 from GPS course-over-ground — a magnetometer inside a steel cab is unreliable; COG is accurate above ~5 mph, and a driving product is usually moving.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Stationary fallback: north-referenced compass display when speed &lt; 2.2 m/s.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ACKs by design: a newer position supersedes an older one, so the correct reliability metric is data age (staleness) — shown to the driver, always.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452360" y="1600200"/>
            <a:ext cx="3383280" cy="3383280"/>
          </a:xfrm>
          <a:prstGeom prst="ellipse">
            <a:avLst/>
          </a:prstGeom>
          <a:solidFill>
            <a:srgbClr val="F2F6FC"/>
          </a:solidFill>
          <a:ln w="15875">
            <a:solidFill>
              <a:srgbClr val="C9D9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06840" y="1216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0" y="1709928"/>
            <a:ext cx="0" cy="1581912"/>
          </a:xfrm>
          <a:prstGeom prst="line">
            <a:avLst/>
          </a:prstGeom>
          <a:noFill/>
          <a:ln w="15875">
            <a:solidFill>
              <a:srgbClr val="9FB2CC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 flipV="1">
            <a:off x="9144000" y="2040026"/>
            <a:ext cx="1048817" cy="1251814"/>
          </a:xfrm>
          <a:prstGeom prst="line">
            <a:avLst/>
          </a:prstGeom>
          <a:noFill/>
          <a:ln w="31750">
            <a:solidFill>
              <a:srgbClr val="1199BD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10074402" y="168478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9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course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0" y="3291840"/>
            <a:ext cx="1488643" cy="676656"/>
          </a:xfrm>
          <a:prstGeom prst="line">
            <a:avLst/>
          </a:prstGeom>
          <a:noFill/>
          <a:ln w="31750">
            <a:solidFill>
              <a:srgbClr val="D9488C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9736074" y="41376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4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bearing to partner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192817" y="3127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 ∠ = difference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89136" y="3236976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0" y="54406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displayed arrow is vehicle-relative: bearing minus own course — no compass hardware needed.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3 Plan &amp; Risk Management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143000"/>
            <a:ext cx="1234440" cy="566928"/>
          </a:xfrm>
          <a:prstGeom prst="roundRect">
            <a:avLst>
              <a:gd name="adj" fmla="val 12903"/>
            </a:avLst>
          </a:prstGeom>
          <a:solidFill>
            <a:srgbClr val="E58E1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5272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161288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central bring-up: scan, connect, bond with radio; begin FromRadio decode. THE critical-path milestone (W3–W5).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984248"/>
            <a:ext cx="1234440" cy="566928"/>
          </a:xfrm>
          <a:prstGeom prst="roundRect">
            <a:avLst>
              <a:gd name="adj" fmla="val 12903"/>
            </a:avLst>
          </a:prstGeom>
          <a:solidFill>
            <a:srgbClr val="E58E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209397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002536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preset trade study (LONG_FAST vs LONG_SLOW) + broadcast-interval selection (30–60 s airtime analysis).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825496"/>
            <a:ext cx="1234440" cy="566928"/>
          </a:xfrm>
          <a:prstGeom prst="roundRect">
            <a:avLst>
              <a:gd name="adj" fmla="val 12903"/>
            </a:avLst>
          </a:prstGeom>
          <a:solidFill>
            <a:srgbClr val="E58E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" y="293522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Josiah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843784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+ unit-test nav math (haversine, bearing, COG heading); rendering layer setup.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66744"/>
            <a:ext cx="1234440" cy="566928"/>
          </a:xfrm>
          <a:prstGeom prst="roundRect">
            <a:avLst>
              <a:gd name="adj" fmla="val 12903"/>
            </a:avLst>
          </a:prstGeom>
          <a:solidFill>
            <a:srgbClr val="E58E1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77647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68503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instrumentation continues; range-test logging harness design (RSSI/SNR/PDR capture).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0" y="1143000"/>
            <a:ext cx="3474720" cy="3063240"/>
          </a:xfrm>
          <a:prstGeom prst="roundRect">
            <a:avLst>
              <a:gd name="adj" fmla="val 2985"/>
            </a:avLst>
          </a:prstGeom>
          <a:solidFill>
            <a:srgbClr val="2A3575"/>
          </a:solidFill>
          <a:ln w="15875">
            <a:solidFill>
              <a:srgbClr val="E58E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58200" y="13258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 — Week 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173736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bonding with Meshtastic is the project's highest-uncertainty item.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rule: if pairing is still blocked after 2 weeks, switch transport to Meshtastic's identical API over WiFi/TCP :4403.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transport layer swaps — decoder, state, and UI are untouched.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89204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58E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h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623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hours logged (7 × 4)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355848" y="489204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58E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$27.9k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3355848" y="5623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estimate (TDL+ETRM)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08776" y="489204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58E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$9.5k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6208776" y="5623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equipment in budget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061704" y="489204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58E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061704" y="5623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tasks on live Gantt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2026-08-31T17:26:10Z</dcterms:created>
  <dcterms:modified xsi:type="dcterms:W3CDTF">2026-08-31T17:26:10Z</dcterms:modified>
</cp:coreProperties>
</file>