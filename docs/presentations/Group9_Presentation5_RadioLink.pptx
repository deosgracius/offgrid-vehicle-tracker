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last review published the plan; this one reports the milestone. Both radios now hold a verified two-way link on our private channel. But the headline is not 'it works' - it is WHY it did not work for a day with byte-identical configurations, and what that taught us about how LoRa mesh radios actually lock onto each other. Every claim on these sheets was measured on our own hardware this week, most of it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sheet as a contract: LoRa has no negotiation, no handshake at the PHY - both sides must independently arrive at identical radio parameters from their own stored config. The table is ordered like the OSI stack: frequency first (can you even receive energy), then modulation (can you demodulate chirps), then channel crypto (can you read the payload), then per-node identity (can you address a specific radio). Our failure lived in row one - the least visible layer, because every tool reports the CONFIG, not the synthesizer frequency. Segue: so where does that frequency actually come from? Next sheet is the math.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equation left to right: start of band, plus half a bandwidth so the slot is centered, plus slot index times bandwidth. The slot index is a plain djb2 string hash of the channel name modulo the slot count - show the six-line loop, this is the entire algorithm. Verify it live if asked: LongFast hashes to 19, which is 906.875 - the published US default, so the math is calibrated against a known constant. Group9 hashes to 43 = 912.875. Point at the band figure: the two markers are 6 MHz apart. A radio on one marker receives effectively nothing from the other - at 250 kHz bandwidth, 6 MHz off-tune is total isolation. That is the trap: the name looks like a label, but it is a tuning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2x2 matrix is the whole diagnosis space. Top-left is health. Top-right - same slot, wrong key - still updates 'last heard' counters because packet headers are cleartext; only payloads drop. Bottom-left is OUR cell and the cruelest: byte-identical keys, verified configs, zero RF coupling, because the radios were 6 MHz apart. Every software check reads back the intended config while the synthesizer sits on the old slot until a clean save+reboot. Method that isolated it: A/B regression - both radios moved to the known-good default channel, link immediately proven with round-trip traceroute; both moved to Group9 with the OLED frequency verified at 912.875, link proven again. Two variables, tested one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'locking' the title promises, and the key point is what is NOT here: no connection, no association, no session like WiFi or Bluetooth. Acquisition is one-directional bookkeeping - I heard you, I filed you, I kept your public key. Steps 4 and 5 split the traffic classes: broadcasts need only the shared channel key (works from the first packet), direct messages are individually encrypted to a node's public key and fail with the exact NAKs shown until NodeInfo has crossed. Both NAKs in the code box are our real captures. The second one is a diagnostic gem: an error REPLY that arrives by radio proves the RF path while the application layer is still refusing - we used it as a link test when nothing else would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traceroute and not a text message: a text proves one direction and needs a human at the far screen; traceroute is machine-checkable, round-trip, and reports per-hop SNR from the receiving demodulator. Explain the margin bar: LoRa's spreading gain means SF11 decodes down to 17.5 dB BELOW the noise floor - that is the negative-SNR magic of chirp spread spectrum. At +6 dB measured, we hold 23.5 dB of margin; every 6 dB of margin is roughly a doubling of free-space distance, which is why the same numbers that look boring on a desk translate to kilometers outdoors. This measurement is the baseline for the W8-W9 range characterization: same command, growing distance, log SNR vs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photo is the sheet: signal GOOD and 'heard 72 days ago' in the same breath - both true, because they answer different questions. Signal quality is measured per packet; 'online' is arithmetic on a stored timestamp against the local clock. Three ways that arithmetic lied to us in one afternoon: a node with no GPS fix rebroadcast its STORED position carrying the old fix time, dragging the peer's last-heard back to July; a reboot reloaded month-old records from flash because the node DB only persists on its own schedule; and after a clock-less reboot the same stale records counted as ONLINE - the screen said 17 online from a two-month-old node list. Same inequality, three failure modes, all timestamp hygiene. None of this can occur in a vehicle with sky view - fresh fixes stamp fresh times continuously.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protocol design of the product - everything else is plumbing. Two rates matter for the demo: 10 s / 20 m while moving (the tracking experience) and the 300 s telemetry floor (the honesty guarantee). The smart broadcast is an AND gate: at highway speed the 20 m distance gate is crossed in under a second, so the 10 s timer dominates; walking pace flips it. Defend the 300 s choice with the two arguments in the bullets: it is 6x denser than the failure window it patches, and 60x cheaper than the channel budget cares about. The rule in the last bullet is worth stating out loud to the sponsor: no packet flows on this channel without a named failure it prevents.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Time-on-air is the currency of everything on this channel. Walk the equation: symbol time is two-to-the-SF over bandwidth - at SF11/250k that is 8.19 ms, so even a lean position packet spends around half a second on air. Then the observation that surprised us on the bench: channel utilization ran 9-13% with two IDLE radios, because a flood mesh relays by default and with exactly two nodes every relay is a perfect waste - there is no third radio for the echo to reach. The budget box is the punchline: at drive-test rates the default behavior lands on ~20%, brushing the 25% duty throttle that silently suppresses position broadcasts - the product's core packet - precisely when both vehicles move. CLIENT_MUTE buys the headroom back for free, with the revert condition documented.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graph left to right: received power falls 6 dB per doubling of distance; the red dashed line is the SX1262's decode floor at our modulation. The gap between the blue curve and the red line IS the link margin - at bench range it is enormous (about 100 dB), which is why nothing about a desk test predicts range. The dotted green line moves the requirement 20 dB up to absorb real-world fading and obstruction; where the blue curve meets THAT line is the honest few-kilometer design expectation, matching our 3-5 km target for the v2v use case. The free-space crossing near 100 km is a math fact, not a claim - treat it as an upper bound that terrain will spend. Range test protocol: fixed SF11, log traceroute SNR vs GPS distance, plot against this exact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PREP - Sheet 11 (Josiah, ~90 s). Open with the incident: our first display arrived cracked and dead - that is not an abstract risk, it already cost us a replacement request to the sponsor. State the requirement set as engineering constraints, not wishes: every port and button the firmware needs must stay reachable, and the case must add zero RF attenuation around the BLE antenna - plastic, not metal, which is why 3D printing fits. Explain the selection: an existing open model by the maker AWSW on Printables (model number 1610004) matches the exact panel; the license is Creative Commons Attribution-NonCommercial 4.0, which permits our academic use with credit - hence the attribution printed on this sheet. Vocabulary to be ready for: RLCD = reflective LCD, the sunlight-readable panel type; 18650 = the cylindrical lithium cell size the board's holder takes; M2.5x6 = metric screw, 2.5 mm thread diameter, 6 mm length; BLE = Bluetooth Low Energy, the radio link between display and Heltec. Question you may get: 'why not design our own?' - answer: zero schedule cost beats originality; we validate fit first, and we can remix later because the license allows derivatives.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PREP - Sheet 12 (Josiah, ~2 min). Walk the parts table first - seven pieces, and the reason the back is TWO pieces is functional: the split leaves the 18650 battery bay and speaker reachable without disassembly. Then translate every slicer term on the sheet, because the room will not all be printer people: 3MF is the modern print file format (geometry PLUS settings, unlike bare STL); layer height 0.2 mm means each deposited slice is a fifth of a millimeter; supports are sacrificial scaffolding for overhangs and 'organic' means tree-like trunks that touch less surface, so less scarring; fuzzy skin is deliberate nozzle jitter for texture; a brim is a one-layer skirt that fights warping - this model doesn't need one; sequential printing finishes each small part before starting the next so a mid-plate failure cannot wreck everything. Material call: PETG over PLA for a vehicle - a dashboard in Texas sun exceeds PLA's ~60 C glass transition; PETG holds to ~80 C. Point at the bed photo: that is the author's actual plate on a Prusa MK3 - organic supports visible inside the frame. Our plan box: one overnight run, about a dollar of filament, timed to the replacement panel's arrival.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PREP - Sheet 13 (Josiah, ~90 s). Assembly is four steps and one warning: the M2.5 holes are IN the display's own back, so screw length is a hard limit - the author flags that overlong screws press the glass; 6 mm, no substitutes. Explain what stays reachable and why it matters operationally: USB-C is how we flash and read logs, the SD slot is future data logging, the three buttons are BOOT (bootloader entry for flashing), RESET, and the user button. RF point for the sponsor: the enclosure is thermoplastic, effectively transparent at 2.4 GHz, so the BLE link to the Heltec is untouched - but we still verify by comparing RSSI (received signal strength indicator) cased vs bare, budgeting 2 dB as the pass line. Thermal point: this is a REFLECTIVE LCD - it uses ambient light, no backlight, so the panel adds almost no heat; the ESP32-S3 under load is below a watt, and the port cutouts provide the airflow. Close on the acceptance box - four measurable checks, same discipline as the radio sheets: nothing counts as done until each line is ticked on the 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PREP - Sheet 14 (Cannon, ~2 min). This is the test we could not run until this week - every prerequisite in the pink box was closed on September 25. Walk the five phases in order and give each its purpose: Static A calibrates what 'good' looks like at trivial range; Convoy is the actual product experience - the display's partner age should tick 10-15 s continuously; Split turns distance into data - we drive apart in steps and log SNR (signal-to-noise ratio) against GPS distance, which becomes the measured curve to overlay on the link-budget prediction; Rejoin measures how fast the pair re-locks after real silence - our acceptance is under a minute; Stop test exercises the canned-message chain end to end. Emphasize the discipline line: metrics are declared BEFORE the drive, so success cannot be redefined afterward - p95 means the 95th percentile, i.e., all but the worst 5% of samples must beat 15 seconds. Instrumentation point: the radios themselves are the loggers; node databases are pulled over USB between phases, no laptop rigs in cars. Hand-off: the same logs seed the Week 8-9 formal range characterization.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photos, chronological. One: the as-received node table - eighteen nodes from the sponsor's summer mesh, all months stale, the raw material of every counter lie on sheet 07. Two: a text landing during the debug session - the moment we knew the RF layer was healthy and the fault was bookkeeping. Three: the same table after the cleanup - peer heard one minute ago, and it stays that way. Four: the home screen we now read as a dashboard - uptime catches silent reboots, voltage catches the charging state, channel utilization catches airtime regressions. The discipline banner is the transferable result: one variable per trial, read-back plus OLED verification, machine-checkable probes, and treat every NAK as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as-built table - this is the contract the drive test inherits, every row verified twice (read-back plus OLED). References: [1] backs every sensitivity and SNR number quoted; [2] and [6] together explain the root-cause sheets - name-derived frequency and layered encryption; [3] and [4] back the airtime sheet; [5] the heartbeat; [7] the time-on-air equation; [8] the regulatory envelope for +30 dBm in this band. Next milestones on the board: two-vehicle drive test (in progress, 20%), then range characterization W8-W9 plotted against sheet 10's predicted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PREP - Sheet 17 (whoever fields questions; do not read aloud). This sheet exists so no acronym in the deck is unexplained - point the audience to it once, early ('everything shorthand is decoded on sheet 17'), then leave it for Q&amp;A. Highest-value entries to know cold if asked: SF (spreading factor) - 2 to the SF chips encode each symbol, which is why SF11 is slow but decodes below the noise; dB vs dBm vs dBi - a dB is always a RATIO, dBm anchors it to one milliwatt of power, dBi anchors antenna gain to a perfect point radiator; PSK vs PKC - the channel key everyone shares versus the per-node keypair used only for direct messages - our week's NAKs came from the second one; djb2 - a 1990s string hash, five lines of code, that quietly doubles as Meshtastic's frequency planner. RLCD deserves one sentence: reflective LCD uses ambient light instead of a backlight - that is why it is readable in direct sun on a dashboard and why the case has no thermal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PREP - Sheet 18 (reference; walk it only if asked). Each quadrant re-prints one of the deck's four equations and decodes it term by term. Frequency slot: read it as 'start of band, plus half a channel to sit centered, plus hash-of-the-name channels up' - the whole root cause of our silent week lives in that middle term. Liveness: the double arrow means equivalence - 'online' is nothing but this comparison; epoch means seconds counted from January 1st 1970, the universal computer clock. Time on air: the only non-obvious constant is 4.25 - a fixed fraction of the preamble the LoRa standard adds beyond the counted symbols; everything else is symbol counting times 8.19 ms. Link budget: minus 147.55 looks magic but is just the unit bookkeeping of meters and hertz in free-space path loss; the physical content is '+6 dB of loss per doubling of distance'. If someone asks why sensitivity is negative: dBm is logarithmic, so -131 dBm is a tenth of a millionth of a millionth of a milliwatt - the radio decodes signals that small because SF11 spreads each bit across 2048 chips.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semtech.my.salesforce.com/sfc/p/E0000000JelG/a/2R000000Un7F/yT.fKdAr9ZAo3cJLc4F2cBdUsMftpT2vsOICP7NmvMo" TargetMode="External"/><Relationship Id="rId2" Type="http://schemas.openxmlformats.org/officeDocument/2006/relationships/hyperlink" Target="https://meshtastic.org/docs/overview/radio-settings/" TargetMode="External"/><Relationship Id="rId3" Type="http://schemas.openxmlformats.org/officeDocument/2006/relationships/hyperlink" Target="https://meshtastic.org/docs/overview/mesh-algo/" TargetMode="External"/><Relationship Id="rId4" Type="http://schemas.openxmlformats.org/officeDocument/2006/relationships/hyperlink" Target="https://meshtastic.org/docs/configuration/radio/device/" TargetMode="External"/><Relationship Id="rId5" Type="http://schemas.openxmlformats.org/officeDocument/2006/relationships/hyperlink" Target="https://meshtastic.org/docs/configuration/module/telemetry/" TargetMode="External"/><Relationship Id="rId6" Type="http://schemas.openxmlformats.org/officeDocument/2006/relationships/hyperlink" Target="https://meshtastic.org/docs/overview/encryption/" TargetMode="External"/><Relationship Id="rId7" Type="http://schemas.openxmlformats.org/officeDocument/2006/relationships/hyperlink" Target="https://www.semtech.com/design-support/lora-calculator" TargetMode="External"/><Relationship Id="rId8" Type="http://schemas.openxmlformats.org/officeDocument/2006/relationships/hyperlink" Target="https://www.law.cornell.edu/cfr/text/47/15.247" TargetMode="External"/><Relationship Id="rId9" Type="http://schemas.openxmlformats.org/officeDocument/2006/relationships/hyperlink" Target="https://www.printables.com/model/1610004-symmetrical-case-for-waveshare-esp32-s3-42inch-rl" TargetMode="External"/><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RF LINK DEEP DIVE, WEEK 5</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01/18  REV E  2026-09-25</a:t>
            </a:r>
            <a:endParaRPr lang="en-US" sz="900" dirty="0"/>
          </a:p>
        </p:txBody>
      </p:sp>
      <p:sp>
        <p:nvSpPr>
          <p:cNvPr id="7" name="Shape 5"/>
          <p:cNvSpPr/>
          <p:nvPr/>
        </p:nvSpPr>
        <p:spPr>
          <a:xfrm>
            <a:off x="621792" y="146304"/>
            <a:ext cx="0" cy="6126480"/>
          </a:xfrm>
          <a:prstGeom prst="line">
            <a:avLst/>
          </a:prstGeom>
          <a:noFill/>
          <a:ln w="6350">
            <a:solidFill>
              <a:srgbClr val="E8EDF5"/>
            </a:solidFill>
            <a:prstDash val="solid"/>
          </a:ln>
        </p:spPr>
      </p:sp>
      <p:sp>
        <p:nvSpPr>
          <p:cNvPr id="8" name="Shape 6"/>
          <p:cNvSpPr/>
          <p:nvPr/>
        </p:nvSpPr>
        <p:spPr>
          <a:xfrm>
            <a:off x="1078992" y="146304"/>
            <a:ext cx="0" cy="6126480"/>
          </a:xfrm>
          <a:prstGeom prst="line">
            <a:avLst/>
          </a:prstGeom>
          <a:noFill/>
          <a:ln w="6350">
            <a:solidFill>
              <a:srgbClr val="E8EDF5"/>
            </a:solidFill>
            <a:prstDash val="solid"/>
          </a:ln>
        </p:spPr>
      </p:sp>
      <p:sp>
        <p:nvSpPr>
          <p:cNvPr id="9" name="Shape 7"/>
          <p:cNvSpPr/>
          <p:nvPr/>
        </p:nvSpPr>
        <p:spPr>
          <a:xfrm>
            <a:off x="1536192" y="146304"/>
            <a:ext cx="0" cy="6126480"/>
          </a:xfrm>
          <a:prstGeom prst="line">
            <a:avLst/>
          </a:prstGeom>
          <a:noFill/>
          <a:ln w="6350">
            <a:solidFill>
              <a:srgbClr val="E8EDF5"/>
            </a:solidFill>
            <a:prstDash val="solid"/>
          </a:ln>
        </p:spPr>
      </p:sp>
      <p:sp>
        <p:nvSpPr>
          <p:cNvPr id="10" name="Shape 8"/>
          <p:cNvSpPr/>
          <p:nvPr/>
        </p:nvSpPr>
        <p:spPr>
          <a:xfrm>
            <a:off x="1993392" y="146304"/>
            <a:ext cx="0" cy="6126480"/>
          </a:xfrm>
          <a:prstGeom prst="line">
            <a:avLst/>
          </a:prstGeom>
          <a:noFill/>
          <a:ln w="6350">
            <a:solidFill>
              <a:srgbClr val="E8EDF5"/>
            </a:solidFill>
            <a:prstDash val="solid"/>
          </a:ln>
        </p:spPr>
      </p:sp>
      <p:sp>
        <p:nvSpPr>
          <p:cNvPr id="11" name="Shape 9"/>
          <p:cNvSpPr/>
          <p:nvPr/>
        </p:nvSpPr>
        <p:spPr>
          <a:xfrm>
            <a:off x="2450592" y="146304"/>
            <a:ext cx="0" cy="6126480"/>
          </a:xfrm>
          <a:prstGeom prst="line">
            <a:avLst/>
          </a:prstGeom>
          <a:noFill/>
          <a:ln w="6350">
            <a:solidFill>
              <a:srgbClr val="E8EDF5"/>
            </a:solidFill>
            <a:prstDash val="solid"/>
          </a:ln>
        </p:spPr>
      </p:sp>
      <p:sp>
        <p:nvSpPr>
          <p:cNvPr id="12" name="Shape 10"/>
          <p:cNvSpPr/>
          <p:nvPr/>
        </p:nvSpPr>
        <p:spPr>
          <a:xfrm>
            <a:off x="2907792" y="146304"/>
            <a:ext cx="0" cy="6126480"/>
          </a:xfrm>
          <a:prstGeom prst="line">
            <a:avLst/>
          </a:prstGeom>
          <a:noFill/>
          <a:ln w="6350">
            <a:solidFill>
              <a:srgbClr val="E8EDF5"/>
            </a:solidFill>
            <a:prstDash val="solid"/>
          </a:ln>
        </p:spPr>
      </p:sp>
      <p:sp>
        <p:nvSpPr>
          <p:cNvPr id="13" name="Shape 11"/>
          <p:cNvSpPr/>
          <p:nvPr/>
        </p:nvSpPr>
        <p:spPr>
          <a:xfrm>
            <a:off x="3364992" y="146304"/>
            <a:ext cx="0" cy="6126480"/>
          </a:xfrm>
          <a:prstGeom prst="line">
            <a:avLst/>
          </a:prstGeom>
          <a:noFill/>
          <a:ln w="6350">
            <a:solidFill>
              <a:srgbClr val="E8EDF5"/>
            </a:solidFill>
            <a:prstDash val="solid"/>
          </a:ln>
        </p:spPr>
      </p:sp>
      <p:sp>
        <p:nvSpPr>
          <p:cNvPr id="14" name="Shape 12"/>
          <p:cNvSpPr/>
          <p:nvPr/>
        </p:nvSpPr>
        <p:spPr>
          <a:xfrm>
            <a:off x="3822192" y="146304"/>
            <a:ext cx="0" cy="6126480"/>
          </a:xfrm>
          <a:prstGeom prst="line">
            <a:avLst/>
          </a:prstGeom>
          <a:noFill/>
          <a:ln w="6350">
            <a:solidFill>
              <a:srgbClr val="E8EDF5"/>
            </a:solidFill>
            <a:prstDash val="solid"/>
          </a:ln>
        </p:spPr>
      </p:sp>
      <p:sp>
        <p:nvSpPr>
          <p:cNvPr id="15" name="Shape 13"/>
          <p:cNvSpPr/>
          <p:nvPr/>
        </p:nvSpPr>
        <p:spPr>
          <a:xfrm>
            <a:off x="4279392" y="146304"/>
            <a:ext cx="0" cy="6126480"/>
          </a:xfrm>
          <a:prstGeom prst="line">
            <a:avLst/>
          </a:prstGeom>
          <a:noFill/>
          <a:ln w="6350">
            <a:solidFill>
              <a:srgbClr val="E8EDF5"/>
            </a:solidFill>
            <a:prstDash val="solid"/>
          </a:ln>
        </p:spPr>
      </p:sp>
      <p:sp>
        <p:nvSpPr>
          <p:cNvPr id="16" name="Shape 14"/>
          <p:cNvSpPr/>
          <p:nvPr/>
        </p:nvSpPr>
        <p:spPr>
          <a:xfrm>
            <a:off x="4736592" y="146304"/>
            <a:ext cx="0" cy="6126480"/>
          </a:xfrm>
          <a:prstGeom prst="line">
            <a:avLst/>
          </a:prstGeom>
          <a:noFill/>
          <a:ln w="6350">
            <a:solidFill>
              <a:srgbClr val="E8EDF5"/>
            </a:solidFill>
            <a:prstDash val="solid"/>
          </a:ln>
        </p:spPr>
      </p:sp>
      <p:sp>
        <p:nvSpPr>
          <p:cNvPr id="17" name="Shape 15"/>
          <p:cNvSpPr/>
          <p:nvPr/>
        </p:nvSpPr>
        <p:spPr>
          <a:xfrm>
            <a:off x="5193792" y="146304"/>
            <a:ext cx="0" cy="6126480"/>
          </a:xfrm>
          <a:prstGeom prst="line">
            <a:avLst/>
          </a:prstGeom>
          <a:noFill/>
          <a:ln w="6350">
            <a:solidFill>
              <a:srgbClr val="E8EDF5"/>
            </a:solidFill>
            <a:prstDash val="solid"/>
          </a:ln>
        </p:spPr>
      </p:sp>
      <p:sp>
        <p:nvSpPr>
          <p:cNvPr id="18" name="Shape 16"/>
          <p:cNvSpPr/>
          <p:nvPr/>
        </p:nvSpPr>
        <p:spPr>
          <a:xfrm>
            <a:off x="5650992" y="146304"/>
            <a:ext cx="0" cy="6126480"/>
          </a:xfrm>
          <a:prstGeom prst="line">
            <a:avLst/>
          </a:prstGeom>
          <a:noFill/>
          <a:ln w="6350">
            <a:solidFill>
              <a:srgbClr val="E8EDF5"/>
            </a:solidFill>
            <a:prstDash val="solid"/>
          </a:ln>
        </p:spPr>
      </p:sp>
      <p:sp>
        <p:nvSpPr>
          <p:cNvPr id="19" name="Shape 17"/>
          <p:cNvSpPr/>
          <p:nvPr/>
        </p:nvSpPr>
        <p:spPr>
          <a:xfrm>
            <a:off x="6108192" y="146304"/>
            <a:ext cx="0" cy="6126480"/>
          </a:xfrm>
          <a:prstGeom prst="line">
            <a:avLst/>
          </a:prstGeom>
          <a:noFill/>
          <a:ln w="6350">
            <a:solidFill>
              <a:srgbClr val="E8EDF5"/>
            </a:solidFill>
            <a:prstDash val="solid"/>
          </a:ln>
        </p:spPr>
      </p:sp>
      <p:sp>
        <p:nvSpPr>
          <p:cNvPr id="20" name="Shape 18"/>
          <p:cNvSpPr/>
          <p:nvPr/>
        </p:nvSpPr>
        <p:spPr>
          <a:xfrm>
            <a:off x="6565392" y="146304"/>
            <a:ext cx="0" cy="6126480"/>
          </a:xfrm>
          <a:prstGeom prst="line">
            <a:avLst/>
          </a:prstGeom>
          <a:noFill/>
          <a:ln w="6350">
            <a:solidFill>
              <a:srgbClr val="E8EDF5"/>
            </a:solidFill>
            <a:prstDash val="solid"/>
          </a:ln>
        </p:spPr>
      </p:sp>
      <p:sp>
        <p:nvSpPr>
          <p:cNvPr id="21" name="Shape 19"/>
          <p:cNvSpPr/>
          <p:nvPr/>
        </p:nvSpPr>
        <p:spPr>
          <a:xfrm>
            <a:off x="7022592" y="146304"/>
            <a:ext cx="0" cy="6126480"/>
          </a:xfrm>
          <a:prstGeom prst="line">
            <a:avLst/>
          </a:prstGeom>
          <a:noFill/>
          <a:ln w="6350">
            <a:solidFill>
              <a:srgbClr val="E8EDF5"/>
            </a:solidFill>
            <a:prstDash val="solid"/>
          </a:ln>
        </p:spPr>
      </p:sp>
      <p:sp>
        <p:nvSpPr>
          <p:cNvPr id="22" name="Shape 20"/>
          <p:cNvSpPr/>
          <p:nvPr/>
        </p:nvSpPr>
        <p:spPr>
          <a:xfrm>
            <a:off x="7479792" y="146304"/>
            <a:ext cx="0" cy="6126480"/>
          </a:xfrm>
          <a:prstGeom prst="line">
            <a:avLst/>
          </a:prstGeom>
          <a:noFill/>
          <a:ln w="6350">
            <a:solidFill>
              <a:srgbClr val="E8EDF5"/>
            </a:solidFill>
            <a:prstDash val="solid"/>
          </a:ln>
        </p:spPr>
      </p:sp>
      <p:sp>
        <p:nvSpPr>
          <p:cNvPr id="23" name="Shape 21"/>
          <p:cNvSpPr/>
          <p:nvPr/>
        </p:nvSpPr>
        <p:spPr>
          <a:xfrm>
            <a:off x="7936992" y="146304"/>
            <a:ext cx="0" cy="6126480"/>
          </a:xfrm>
          <a:prstGeom prst="line">
            <a:avLst/>
          </a:prstGeom>
          <a:noFill/>
          <a:ln w="6350">
            <a:solidFill>
              <a:srgbClr val="E8EDF5"/>
            </a:solidFill>
            <a:prstDash val="solid"/>
          </a:ln>
        </p:spPr>
      </p:sp>
      <p:sp>
        <p:nvSpPr>
          <p:cNvPr id="24" name="Shape 22"/>
          <p:cNvSpPr/>
          <p:nvPr/>
        </p:nvSpPr>
        <p:spPr>
          <a:xfrm>
            <a:off x="8394192" y="146304"/>
            <a:ext cx="0" cy="6126480"/>
          </a:xfrm>
          <a:prstGeom prst="line">
            <a:avLst/>
          </a:prstGeom>
          <a:noFill/>
          <a:ln w="6350">
            <a:solidFill>
              <a:srgbClr val="E8EDF5"/>
            </a:solidFill>
            <a:prstDash val="solid"/>
          </a:ln>
        </p:spPr>
      </p:sp>
      <p:sp>
        <p:nvSpPr>
          <p:cNvPr id="25" name="Shape 23"/>
          <p:cNvSpPr/>
          <p:nvPr/>
        </p:nvSpPr>
        <p:spPr>
          <a:xfrm>
            <a:off x="8851392" y="146304"/>
            <a:ext cx="0" cy="6126480"/>
          </a:xfrm>
          <a:prstGeom prst="line">
            <a:avLst/>
          </a:prstGeom>
          <a:noFill/>
          <a:ln w="6350">
            <a:solidFill>
              <a:srgbClr val="E8EDF5"/>
            </a:solidFill>
            <a:prstDash val="solid"/>
          </a:ln>
        </p:spPr>
      </p:sp>
      <p:sp>
        <p:nvSpPr>
          <p:cNvPr id="26" name="Shape 24"/>
          <p:cNvSpPr/>
          <p:nvPr/>
        </p:nvSpPr>
        <p:spPr>
          <a:xfrm>
            <a:off x="9308592" y="146304"/>
            <a:ext cx="0" cy="6126480"/>
          </a:xfrm>
          <a:prstGeom prst="line">
            <a:avLst/>
          </a:prstGeom>
          <a:noFill/>
          <a:ln w="6350">
            <a:solidFill>
              <a:srgbClr val="E8EDF5"/>
            </a:solidFill>
            <a:prstDash val="solid"/>
          </a:ln>
        </p:spPr>
      </p:sp>
      <p:sp>
        <p:nvSpPr>
          <p:cNvPr id="27" name="Shape 25"/>
          <p:cNvSpPr/>
          <p:nvPr/>
        </p:nvSpPr>
        <p:spPr>
          <a:xfrm>
            <a:off x="9765792" y="146304"/>
            <a:ext cx="0" cy="6126480"/>
          </a:xfrm>
          <a:prstGeom prst="line">
            <a:avLst/>
          </a:prstGeom>
          <a:noFill/>
          <a:ln w="6350">
            <a:solidFill>
              <a:srgbClr val="E8EDF5"/>
            </a:solidFill>
            <a:prstDash val="solid"/>
          </a:ln>
        </p:spPr>
      </p:sp>
      <p:sp>
        <p:nvSpPr>
          <p:cNvPr id="28" name="Shape 26"/>
          <p:cNvSpPr/>
          <p:nvPr/>
        </p:nvSpPr>
        <p:spPr>
          <a:xfrm>
            <a:off x="10222992" y="146304"/>
            <a:ext cx="0" cy="6126480"/>
          </a:xfrm>
          <a:prstGeom prst="line">
            <a:avLst/>
          </a:prstGeom>
          <a:noFill/>
          <a:ln w="6350">
            <a:solidFill>
              <a:srgbClr val="E8EDF5"/>
            </a:solidFill>
            <a:prstDash val="solid"/>
          </a:ln>
        </p:spPr>
      </p:sp>
      <p:sp>
        <p:nvSpPr>
          <p:cNvPr id="29" name="Shape 27"/>
          <p:cNvSpPr/>
          <p:nvPr/>
        </p:nvSpPr>
        <p:spPr>
          <a:xfrm>
            <a:off x="10680192" y="146304"/>
            <a:ext cx="0" cy="6126480"/>
          </a:xfrm>
          <a:prstGeom prst="line">
            <a:avLst/>
          </a:prstGeom>
          <a:noFill/>
          <a:ln w="6350">
            <a:solidFill>
              <a:srgbClr val="E8EDF5"/>
            </a:solidFill>
            <a:prstDash val="solid"/>
          </a:ln>
        </p:spPr>
      </p:sp>
      <p:sp>
        <p:nvSpPr>
          <p:cNvPr id="30" name="Shape 28"/>
          <p:cNvSpPr/>
          <p:nvPr/>
        </p:nvSpPr>
        <p:spPr>
          <a:xfrm>
            <a:off x="11137392" y="146304"/>
            <a:ext cx="0" cy="6126480"/>
          </a:xfrm>
          <a:prstGeom prst="line">
            <a:avLst/>
          </a:prstGeom>
          <a:noFill/>
          <a:ln w="6350">
            <a:solidFill>
              <a:srgbClr val="E8EDF5"/>
            </a:solidFill>
            <a:prstDash val="solid"/>
          </a:ln>
        </p:spPr>
      </p:sp>
      <p:sp>
        <p:nvSpPr>
          <p:cNvPr id="31" name="Shape 29"/>
          <p:cNvSpPr/>
          <p:nvPr/>
        </p:nvSpPr>
        <p:spPr>
          <a:xfrm>
            <a:off x="11594592" y="146304"/>
            <a:ext cx="0" cy="6126480"/>
          </a:xfrm>
          <a:prstGeom prst="line">
            <a:avLst/>
          </a:prstGeom>
          <a:noFill/>
          <a:ln w="6350">
            <a:solidFill>
              <a:srgbClr val="E8EDF5"/>
            </a:solidFill>
            <a:prstDash val="solid"/>
          </a:ln>
        </p:spPr>
      </p:sp>
      <p:sp>
        <p:nvSpPr>
          <p:cNvPr id="32" name="Shape 30"/>
          <p:cNvSpPr/>
          <p:nvPr/>
        </p:nvSpPr>
        <p:spPr>
          <a:xfrm>
            <a:off x="164592" y="603504"/>
            <a:ext cx="11859768" cy="0"/>
          </a:xfrm>
          <a:prstGeom prst="line">
            <a:avLst/>
          </a:prstGeom>
          <a:noFill/>
          <a:ln w="6350">
            <a:solidFill>
              <a:srgbClr val="E8EDF5"/>
            </a:solidFill>
            <a:prstDash val="solid"/>
          </a:ln>
        </p:spPr>
      </p:sp>
      <p:sp>
        <p:nvSpPr>
          <p:cNvPr id="33" name="Shape 31"/>
          <p:cNvSpPr/>
          <p:nvPr/>
        </p:nvSpPr>
        <p:spPr>
          <a:xfrm>
            <a:off x="164592" y="1060704"/>
            <a:ext cx="11859768" cy="0"/>
          </a:xfrm>
          <a:prstGeom prst="line">
            <a:avLst/>
          </a:prstGeom>
          <a:noFill/>
          <a:ln w="6350">
            <a:solidFill>
              <a:srgbClr val="E8EDF5"/>
            </a:solidFill>
            <a:prstDash val="solid"/>
          </a:ln>
        </p:spPr>
      </p:sp>
      <p:sp>
        <p:nvSpPr>
          <p:cNvPr id="34" name="Shape 32"/>
          <p:cNvSpPr/>
          <p:nvPr/>
        </p:nvSpPr>
        <p:spPr>
          <a:xfrm>
            <a:off x="164592" y="1517904"/>
            <a:ext cx="11859768" cy="0"/>
          </a:xfrm>
          <a:prstGeom prst="line">
            <a:avLst/>
          </a:prstGeom>
          <a:noFill/>
          <a:ln w="6350">
            <a:solidFill>
              <a:srgbClr val="E8EDF5"/>
            </a:solidFill>
            <a:prstDash val="solid"/>
          </a:ln>
        </p:spPr>
      </p:sp>
      <p:sp>
        <p:nvSpPr>
          <p:cNvPr id="35" name="Shape 33"/>
          <p:cNvSpPr/>
          <p:nvPr/>
        </p:nvSpPr>
        <p:spPr>
          <a:xfrm>
            <a:off x="164592" y="1975104"/>
            <a:ext cx="11859768" cy="0"/>
          </a:xfrm>
          <a:prstGeom prst="line">
            <a:avLst/>
          </a:prstGeom>
          <a:noFill/>
          <a:ln w="6350">
            <a:solidFill>
              <a:srgbClr val="E8EDF5"/>
            </a:solidFill>
            <a:prstDash val="solid"/>
          </a:ln>
        </p:spPr>
      </p:sp>
      <p:sp>
        <p:nvSpPr>
          <p:cNvPr id="36" name="Shape 34"/>
          <p:cNvSpPr/>
          <p:nvPr/>
        </p:nvSpPr>
        <p:spPr>
          <a:xfrm>
            <a:off x="164592" y="2432304"/>
            <a:ext cx="11859768" cy="0"/>
          </a:xfrm>
          <a:prstGeom prst="line">
            <a:avLst/>
          </a:prstGeom>
          <a:noFill/>
          <a:ln w="6350">
            <a:solidFill>
              <a:srgbClr val="E8EDF5"/>
            </a:solidFill>
            <a:prstDash val="solid"/>
          </a:ln>
        </p:spPr>
      </p:sp>
      <p:sp>
        <p:nvSpPr>
          <p:cNvPr id="37" name="Shape 35"/>
          <p:cNvSpPr/>
          <p:nvPr/>
        </p:nvSpPr>
        <p:spPr>
          <a:xfrm>
            <a:off x="164592" y="2889504"/>
            <a:ext cx="11859768" cy="0"/>
          </a:xfrm>
          <a:prstGeom prst="line">
            <a:avLst/>
          </a:prstGeom>
          <a:noFill/>
          <a:ln w="6350">
            <a:solidFill>
              <a:srgbClr val="E8EDF5"/>
            </a:solidFill>
            <a:prstDash val="solid"/>
          </a:ln>
        </p:spPr>
      </p:sp>
      <p:sp>
        <p:nvSpPr>
          <p:cNvPr id="38" name="Shape 36"/>
          <p:cNvSpPr/>
          <p:nvPr/>
        </p:nvSpPr>
        <p:spPr>
          <a:xfrm>
            <a:off x="164592" y="3346704"/>
            <a:ext cx="11859768" cy="0"/>
          </a:xfrm>
          <a:prstGeom prst="line">
            <a:avLst/>
          </a:prstGeom>
          <a:noFill/>
          <a:ln w="6350">
            <a:solidFill>
              <a:srgbClr val="E8EDF5"/>
            </a:solidFill>
            <a:prstDash val="solid"/>
          </a:ln>
        </p:spPr>
      </p:sp>
      <p:sp>
        <p:nvSpPr>
          <p:cNvPr id="39" name="Shape 37"/>
          <p:cNvSpPr/>
          <p:nvPr/>
        </p:nvSpPr>
        <p:spPr>
          <a:xfrm>
            <a:off x="164592" y="3803904"/>
            <a:ext cx="11859768" cy="0"/>
          </a:xfrm>
          <a:prstGeom prst="line">
            <a:avLst/>
          </a:prstGeom>
          <a:noFill/>
          <a:ln w="6350">
            <a:solidFill>
              <a:srgbClr val="E8EDF5"/>
            </a:solidFill>
            <a:prstDash val="solid"/>
          </a:ln>
        </p:spPr>
      </p:sp>
      <p:sp>
        <p:nvSpPr>
          <p:cNvPr id="40" name="Shape 38"/>
          <p:cNvSpPr/>
          <p:nvPr/>
        </p:nvSpPr>
        <p:spPr>
          <a:xfrm>
            <a:off x="164592" y="4261104"/>
            <a:ext cx="11859768" cy="0"/>
          </a:xfrm>
          <a:prstGeom prst="line">
            <a:avLst/>
          </a:prstGeom>
          <a:noFill/>
          <a:ln w="6350">
            <a:solidFill>
              <a:srgbClr val="E8EDF5"/>
            </a:solidFill>
            <a:prstDash val="solid"/>
          </a:ln>
        </p:spPr>
      </p:sp>
      <p:sp>
        <p:nvSpPr>
          <p:cNvPr id="41" name="Shape 39"/>
          <p:cNvSpPr/>
          <p:nvPr/>
        </p:nvSpPr>
        <p:spPr>
          <a:xfrm>
            <a:off x="164592" y="4718304"/>
            <a:ext cx="11859768" cy="0"/>
          </a:xfrm>
          <a:prstGeom prst="line">
            <a:avLst/>
          </a:prstGeom>
          <a:noFill/>
          <a:ln w="6350">
            <a:solidFill>
              <a:srgbClr val="E8EDF5"/>
            </a:solidFill>
            <a:prstDash val="solid"/>
          </a:ln>
        </p:spPr>
      </p:sp>
      <p:sp>
        <p:nvSpPr>
          <p:cNvPr id="42" name="Shape 40"/>
          <p:cNvSpPr/>
          <p:nvPr/>
        </p:nvSpPr>
        <p:spPr>
          <a:xfrm>
            <a:off x="164592" y="5175504"/>
            <a:ext cx="11859768" cy="0"/>
          </a:xfrm>
          <a:prstGeom prst="line">
            <a:avLst/>
          </a:prstGeom>
          <a:noFill/>
          <a:ln w="6350">
            <a:solidFill>
              <a:srgbClr val="E8EDF5"/>
            </a:solidFill>
            <a:prstDash val="solid"/>
          </a:ln>
        </p:spPr>
      </p:sp>
      <p:sp>
        <p:nvSpPr>
          <p:cNvPr id="43" name="Shape 41"/>
          <p:cNvSpPr/>
          <p:nvPr/>
        </p:nvSpPr>
        <p:spPr>
          <a:xfrm>
            <a:off x="164592" y="5632704"/>
            <a:ext cx="11859768" cy="0"/>
          </a:xfrm>
          <a:prstGeom prst="line">
            <a:avLst/>
          </a:prstGeom>
          <a:noFill/>
          <a:ln w="6350">
            <a:solidFill>
              <a:srgbClr val="E8EDF5"/>
            </a:solidFill>
            <a:prstDash val="solid"/>
          </a:ln>
        </p:spPr>
      </p:sp>
      <p:sp>
        <p:nvSpPr>
          <p:cNvPr id="44" name="Shape 42"/>
          <p:cNvSpPr/>
          <p:nvPr/>
        </p:nvSpPr>
        <p:spPr>
          <a:xfrm>
            <a:off x="164592" y="6089904"/>
            <a:ext cx="11859768" cy="0"/>
          </a:xfrm>
          <a:prstGeom prst="line">
            <a:avLst/>
          </a:prstGeom>
          <a:noFill/>
          <a:ln w="6350">
            <a:solidFill>
              <a:srgbClr val="E8EDF5"/>
            </a:solidFill>
            <a:prstDash val="solid"/>
          </a:ln>
        </p:spPr>
      </p:sp>
      <p:sp>
        <p:nvSpPr>
          <p:cNvPr id="45" name="Text 43"/>
          <p:cNvSpPr txBox="1"/>
          <p:nvPr/>
        </p:nvSpPr>
        <p:spPr>
          <a:xfrm>
            <a:off x="640080" y="1005840"/>
            <a:ext cx="10881360" cy="822960"/>
          </a:xfrm>
          <a:prstGeom prst="rect">
            <a:avLst/>
          </a:prstGeom>
          <a:noFill/>
          <a:ln/>
        </p:spPr>
        <p:txBody>
          <a:bodyPr wrap="square" lIns="0" tIns="0" rIns="0" bIns="0" rtlCol="0" anchor="ctr"/>
          <a:lstStyle/>
          <a:p>
            <a:pPr indent="0" marL="0">
              <a:buNone/>
            </a:pPr>
            <a:r>
              <a:rPr lang="en-US" sz="4400" b="1" spc="300" kern="0" dirty="0">
                <a:solidFill>
                  <a:srgbClr val="16213D"/>
                </a:solidFill>
                <a:latin typeface="Arial" pitchFamily="34" charset="0"/>
                <a:ea typeface="Arial" pitchFamily="34" charset="-122"/>
                <a:cs typeface="Arial" pitchFamily="34" charset="-120"/>
              </a:rPr>
              <a:t>LOCKING THE LINK</a:t>
            </a:r>
            <a:endParaRPr lang="en-US" sz="4400" dirty="0"/>
          </a:p>
        </p:txBody>
      </p:sp>
      <p:sp>
        <p:nvSpPr>
          <p:cNvPr id="46" name="Text 44"/>
          <p:cNvSpPr txBox="1"/>
          <p:nvPr/>
        </p:nvSpPr>
        <p:spPr>
          <a:xfrm>
            <a:off x="658368" y="1828800"/>
            <a:ext cx="10881360" cy="411480"/>
          </a:xfrm>
          <a:prstGeom prst="rect">
            <a:avLst/>
          </a:prstGeom>
          <a:noFill/>
          <a:ln/>
        </p:spPr>
        <p:txBody>
          <a:bodyPr wrap="square" lIns="0" tIns="0" rIns="0" bIns="0" rtlCol="0" anchor="ctr"/>
          <a:lstStyle/>
          <a:p>
            <a:pPr indent="0" marL="0">
              <a:buNone/>
            </a:pPr>
            <a:r>
              <a:rPr lang="en-US" sz="1700" b="1" spc="100" kern="0" dirty="0">
                <a:solidFill>
                  <a:srgbClr val="E58E1A"/>
                </a:solidFill>
                <a:latin typeface="Arial" pitchFamily="34" charset="0"/>
                <a:ea typeface="Arial" pitchFamily="34" charset="-122"/>
                <a:cs typeface="Arial" pitchFamily="34" charset="-120"/>
              </a:rPr>
              <a:t>HOW TWO RADIOS FIND, VERIFY, AND KEEP EACH OTHER</a:t>
            </a:r>
            <a:endParaRPr lang="en-US" sz="1700" dirty="0"/>
          </a:p>
        </p:txBody>
      </p:sp>
      <p:sp>
        <p:nvSpPr>
          <p:cNvPr id="47" name="Text 45"/>
          <p:cNvSpPr txBox="1"/>
          <p:nvPr/>
        </p:nvSpPr>
        <p:spPr>
          <a:xfrm>
            <a:off x="658368" y="2377440"/>
            <a:ext cx="7589520" cy="141732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On 2026-09-25 the two Heltec V4 radios completed round-trip traceroutes on the private Group9 channel. This review is the engineering record of the acquisition process: the frequency mathematics that decides whether two radios can hear each other at all, the cryptographic and node-discovery handshakes that turn hearing into a link, the timestamp bookkeeping that decides what “online” means, and the airtime budget that keeps the channel usable at vehicle rates.</a:t>
            </a:r>
            <a:endParaRPr lang="en-US" sz="125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658368" y="3913632"/>
          <a:ext cx="7589520" cy="914400"/>
        </p:xfrm>
        <a:graphic>
          <a:graphicData uri="http://schemas.openxmlformats.org/drawingml/2006/table">
            <a:tbl>
              <a:tblPr/>
              <a:tblGrid>
                <a:gridCol w="1234440"/>
                <a:gridCol w="6355080"/>
              </a:tblGrid>
              <a:tr h="283464">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SHEETS</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QUESTION ANSWERED</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r>
              <a:tr h="283464">
                <a:tc>
                  <a:txBody>
                    <a:bodyPr/>
                    <a:lstStyle/>
                    <a:p>
                      <a:pPr indent="0" marL="0">
                        <a:buNone/>
                      </a:pPr>
                      <a:r>
                        <a:rPr lang="en-US" sz="1050" b="1" dirty="0">
                          <a:solidFill>
                            <a:srgbClr val="E58E1A"/>
                          </a:solidFill>
                          <a:latin typeface="Courier New" pitchFamily="34" charset="0"/>
                          <a:ea typeface="Courier New" pitchFamily="34" charset="-122"/>
                          <a:cs typeface="Courier New" pitchFamily="34" charset="-120"/>
                        </a:rPr>
                        <a:t>02-04</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which frequency, which key: why matched configs can still be deaf</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283464">
                <a:tc>
                  <a:txBody>
                    <a:bodyPr/>
                    <a:lstStyle/>
                    <a:p>
                      <a:pPr indent="0" marL="0">
                        <a:buNone/>
                      </a:pPr>
                      <a:r>
                        <a:rPr lang="en-US" sz="1050" b="1" dirty="0">
                          <a:solidFill>
                            <a:srgbClr val="E58E1A"/>
                          </a:solidFill>
                          <a:latin typeface="Courier New" pitchFamily="34" charset="0"/>
                          <a:ea typeface="Courier New" pitchFamily="34" charset="-122"/>
                          <a:cs typeface="Courier New" pitchFamily="34" charset="-120"/>
                        </a:rPr>
                        <a:t>05-06</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acquisition: NodeInfo, public keys, and two-way proof by traceroute</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283464">
                <a:tc>
                  <a:txBody>
                    <a:bodyPr/>
                    <a:lstStyle/>
                    <a:p>
                      <a:pPr indent="0" marL="0">
                        <a:buNone/>
                      </a:pPr>
                      <a:r>
                        <a:rPr lang="en-US" sz="1050" b="1" dirty="0">
                          <a:solidFill>
                            <a:srgbClr val="E58E1A"/>
                          </a:solidFill>
                          <a:latin typeface="Courier New" pitchFamily="34" charset="0"/>
                          <a:ea typeface="Courier New" pitchFamily="34" charset="-122"/>
                          <a:cs typeface="Courier New" pitchFamily="34" charset="-120"/>
                        </a:rPr>
                        <a:t>07-08</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liveness: what “1 online” actually computes, and its heartbeat</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283464">
                <a:tc>
                  <a:txBody>
                    <a:bodyPr/>
                    <a:lstStyle/>
                    <a:p>
                      <a:pPr indent="0" marL="0">
                        <a:buNone/>
                      </a:pPr>
                      <a:r>
                        <a:rPr lang="en-US" sz="1050" b="1" dirty="0">
                          <a:solidFill>
                            <a:srgbClr val="E58E1A"/>
                          </a:solidFill>
                          <a:latin typeface="Courier New" pitchFamily="34" charset="0"/>
                          <a:ea typeface="Courier New" pitchFamily="34" charset="-122"/>
                          <a:cs typeface="Courier New" pitchFamily="34" charset="-120"/>
                        </a:rPr>
                        <a:t>09-10</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airtime and link budget: SF11 time-on-air, CLIENT_MUTE, range margin</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283464">
                <a:tc>
                  <a:txBody>
                    <a:bodyPr/>
                    <a:lstStyle/>
                    <a:p>
                      <a:pPr indent="0" marL="0">
                        <a:buNone/>
                      </a:pPr>
                      <a:r>
                        <a:rPr lang="en-US" sz="1050" b="1" dirty="0">
                          <a:solidFill>
                            <a:srgbClr val="E58E1A"/>
                          </a:solidFill>
                          <a:latin typeface="Courier New" pitchFamily="34" charset="0"/>
                          <a:ea typeface="Courier New" pitchFamily="34" charset="-122"/>
                          <a:cs typeface="Courier New" pitchFamily="34" charset="-120"/>
                        </a:rPr>
                        <a:t>11-13</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JOSIAH · 3D-printed armor for the RLCD display: model, print, assembly</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283464">
                <a:tc>
                  <a:txBody>
                    <a:bodyPr/>
                    <a:lstStyle/>
                    <a:p>
                      <a:pPr indent="0" marL="0">
                        <a:buNone/>
                      </a:pPr>
                      <a:r>
                        <a:rPr lang="en-US" sz="1050" b="1" dirty="0">
                          <a:solidFill>
                            <a:srgbClr val="E58E1A"/>
                          </a:solidFill>
                          <a:latin typeface="Courier New" pitchFamily="34" charset="0"/>
                          <a:ea typeface="Courier New" pitchFamily="34" charset="-122"/>
                          <a:cs typeface="Courier New" pitchFamily="34" charset="-120"/>
                        </a:rPr>
                        <a:t>14-16</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CANNON · drive-test protocol, bench evidence, as-built configuration</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283464">
                <a:tc>
                  <a:txBody>
                    <a:bodyPr/>
                    <a:lstStyle/>
                    <a:p>
                      <a:pPr indent="0" marL="0">
                        <a:buNone/>
                      </a:pPr>
                      <a:r>
                        <a:rPr lang="en-US" sz="1050" b="1" dirty="0">
                          <a:solidFill>
                            <a:srgbClr val="E58E1A"/>
                          </a:solidFill>
                          <a:latin typeface="Courier New" pitchFamily="34" charset="0"/>
                          <a:ea typeface="Courier New" pitchFamily="34" charset="-122"/>
                          <a:cs typeface="Courier New" pitchFamily="34" charset="-120"/>
                        </a:rPr>
                        <a:t>17-18</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nomenclature: every acronym, formula, and symbol, explained</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bl>
          </a:graphicData>
        </a:graphic>
      </p:graphicFrame>
      <p:sp>
        <p:nvSpPr>
          <p:cNvPr id="49" name="Shape 46"/>
          <p:cNvSpPr/>
          <p:nvPr/>
        </p:nvSpPr>
        <p:spPr>
          <a:xfrm>
            <a:off x="8732520" y="2377440"/>
            <a:ext cx="3017520" cy="3246120"/>
          </a:xfrm>
          <a:prstGeom prst="rect">
            <a:avLst/>
          </a:prstGeom>
          <a:solidFill>
            <a:srgbClr val="FFFFFF"/>
          </a:solidFill>
          <a:ln w="15875">
            <a:solidFill>
              <a:srgbClr val="16213D"/>
            </a:solidFill>
            <a:prstDash val="solid"/>
          </a:ln>
        </p:spPr>
      </p:sp>
      <p:sp>
        <p:nvSpPr>
          <p:cNvPr id="50" name="Text 47"/>
          <p:cNvSpPr txBox="1"/>
          <p:nvPr/>
        </p:nvSpPr>
        <p:spPr>
          <a:xfrm>
            <a:off x="8869680" y="2441448"/>
            <a:ext cx="128016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PROJECT</a:t>
            </a:r>
            <a:endParaRPr lang="en-US" sz="900" dirty="0"/>
          </a:p>
        </p:txBody>
      </p:sp>
      <p:sp>
        <p:nvSpPr>
          <p:cNvPr id="51" name="Text 48"/>
          <p:cNvSpPr txBox="1"/>
          <p:nvPr/>
        </p:nvSpPr>
        <p:spPr>
          <a:xfrm>
            <a:off x="8869680" y="266090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Off-Grid Vehicle Tracker</a:t>
            </a:r>
            <a:endParaRPr lang="en-US" sz="1050" dirty="0"/>
          </a:p>
        </p:txBody>
      </p:sp>
      <p:sp>
        <p:nvSpPr>
          <p:cNvPr id="52" name="Shape 49"/>
          <p:cNvSpPr/>
          <p:nvPr/>
        </p:nvSpPr>
        <p:spPr>
          <a:xfrm>
            <a:off x="8732520" y="2935224"/>
            <a:ext cx="3017520" cy="0"/>
          </a:xfrm>
          <a:prstGeom prst="line">
            <a:avLst/>
          </a:prstGeom>
          <a:noFill/>
          <a:ln w="9525">
            <a:solidFill>
              <a:srgbClr val="9AA7BE"/>
            </a:solidFill>
            <a:prstDash val="solid"/>
          </a:ln>
        </p:spPr>
      </p:sp>
      <p:sp>
        <p:nvSpPr>
          <p:cNvPr id="53" name="Text 50"/>
          <p:cNvSpPr txBox="1"/>
          <p:nvPr/>
        </p:nvSpPr>
        <p:spPr>
          <a:xfrm>
            <a:off x="8869680" y="2967228"/>
            <a:ext cx="128016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SPONSOR</a:t>
            </a:r>
            <a:endParaRPr lang="en-US" sz="900" dirty="0"/>
          </a:p>
        </p:txBody>
      </p:sp>
      <p:sp>
        <p:nvSpPr>
          <p:cNvPr id="54" name="Text 51"/>
          <p:cNvSpPr txBox="1"/>
          <p:nvPr/>
        </p:nvSpPr>
        <p:spPr>
          <a:xfrm>
            <a:off x="8869680" y="318668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Dr. Richard Gale</a:t>
            </a:r>
            <a:endParaRPr lang="en-US" sz="1050" dirty="0"/>
          </a:p>
        </p:txBody>
      </p:sp>
      <p:sp>
        <p:nvSpPr>
          <p:cNvPr id="55" name="Shape 52"/>
          <p:cNvSpPr/>
          <p:nvPr/>
        </p:nvSpPr>
        <p:spPr>
          <a:xfrm>
            <a:off x="8732520" y="3461004"/>
            <a:ext cx="3017520" cy="0"/>
          </a:xfrm>
          <a:prstGeom prst="line">
            <a:avLst/>
          </a:prstGeom>
          <a:noFill/>
          <a:ln w="9525">
            <a:solidFill>
              <a:srgbClr val="9AA7BE"/>
            </a:solidFill>
            <a:prstDash val="solid"/>
          </a:ln>
        </p:spPr>
      </p:sp>
      <p:sp>
        <p:nvSpPr>
          <p:cNvPr id="56" name="Text 53"/>
          <p:cNvSpPr txBox="1"/>
          <p:nvPr/>
        </p:nvSpPr>
        <p:spPr>
          <a:xfrm>
            <a:off x="8869680" y="3493008"/>
            <a:ext cx="128016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COURSE</a:t>
            </a:r>
            <a:endParaRPr lang="en-US" sz="900" dirty="0"/>
          </a:p>
        </p:txBody>
      </p:sp>
      <p:sp>
        <p:nvSpPr>
          <p:cNvPr id="57" name="Text 54"/>
          <p:cNvSpPr txBox="1"/>
          <p:nvPr/>
        </p:nvSpPr>
        <p:spPr>
          <a:xfrm>
            <a:off x="8869680" y="371246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Capstone Project Lab</a:t>
            </a:r>
            <a:endParaRPr lang="en-US" sz="1050" dirty="0"/>
          </a:p>
        </p:txBody>
      </p:sp>
      <p:sp>
        <p:nvSpPr>
          <p:cNvPr id="58" name="Shape 55"/>
          <p:cNvSpPr/>
          <p:nvPr/>
        </p:nvSpPr>
        <p:spPr>
          <a:xfrm>
            <a:off x="8732520" y="3986784"/>
            <a:ext cx="3017520" cy="0"/>
          </a:xfrm>
          <a:prstGeom prst="line">
            <a:avLst/>
          </a:prstGeom>
          <a:noFill/>
          <a:ln w="9525">
            <a:solidFill>
              <a:srgbClr val="9AA7BE"/>
            </a:solidFill>
            <a:prstDash val="solid"/>
          </a:ln>
        </p:spPr>
      </p:sp>
      <p:sp>
        <p:nvSpPr>
          <p:cNvPr id="59" name="Text 56"/>
          <p:cNvSpPr txBox="1"/>
          <p:nvPr/>
        </p:nvSpPr>
        <p:spPr>
          <a:xfrm>
            <a:off x="8869680" y="4018788"/>
            <a:ext cx="128016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MILESTONE</a:t>
            </a:r>
            <a:endParaRPr lang="en-US" sz="900" dirty="0"/>
          </a:p>
        </p:txBody>
      </p:sp>
      <p:sp>
        <p:nvSpPr>
          <p:cNvPr id="60" name="Text 57"/>
          <p:cNvSpPr txBox="1"/>
          <p:nvPr/>
        </p:nvSpPr>
        <p:spPr>
          <a:xfrm>
            <a:off x="8869680" y="4238244"/>
            <a:ext cx="2788920" cy="274320"/>
          </a:xfrm>
          <a:prstGeom prst="rect">
            <a:avLst/>
          </a:prstGeom>
          <a:noFill/>
          <a:ln/>
        </p:spPr>
        <p:txBody>
          <a:bodyPr wrap="square" lIns="0" tIns="0" rIns="0" bIns="0" rtlCol="0" anchor="ctr"/>
          <a:lstStyle/>
          <a:p>
            <a:pPr indent="0" marL="0">
              <a:buNone/>
            </a:pPr>
            <a:r>
              <a:rPr lang="en-US" sz="1050" b="1" dirty="0">
                <a:solidFill>
                  <a:srgbClr val="1F9D68"/>
                </a:solidFill>
                <a:latin typeface="Arial" pitchFamily="34" charset="0"/>
                <a:ea typeface="Arial" pitchFamily="34" charset="-122"/>
                <a:cs typeface="Arial" pitchFamily="34" charset="-120"/>
              </a:rPr>
              <a:t>Radio link ESTABLISHED</a:t>
            </a:r>
            <a:endParaRPr lang="en-US" sz="1050" dirty="0"/>
          </a:p>
        </p:txBody>
      </p:sp>
      <p:sp>
        <p:nvSpPr>
          <p:cNvPr id="61" name="Shape 58"/>
          <p:cNvSpPr/>
          <p:nvPr/>
        </p:nvSpPr>
        <p:spPr>
          <a:xfrm>
            <a:off x="8732520" y="4512564"/>
            <a:ext cx="3017520" cy="0"/>
          </a:xfrm>
          <a:prstGeom prst="line">
            <a:avLst/>
          </a:prstGeom>
          <a:noFill/>
          <a:ln w="9525">
            <a:solidFill>
              <a:srgbClr val="9AA7BE"/>
            </a:solidFill>
            <a:prstDash val="solid"/>
          </a:ln>
        </p:spPr>
      </p:sp>
      <p:sp>
        <p:nvSpPr>
          <p:cNvPr id="62" name="Text 59"/>
          <p:cNvSpPr txBox="1"/>
          <p:nvPr/>
        </p:nvSpPr>
        <p:spPr>
          <a:xfrm>
            <a:off x="8869680" y="4544568"/>
            <a:ext cx="128016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HOURS</a:t>
            </a:r>
            <a:endParaRPr lang="en-US" sz="900" dirty="0"/>
          </a:p>
        </p:txBody>
      </p:sp>
      <p:sp>
        <p:nvSpPr>
          <p:cNvPr id="63" name="Text 60"/>
          <p:cNvSpPr txBox="1"/>
          <p:nvPr/>
        </p:nvSpPr>
        <p:spPr>
          <a:xfrm>
            <a:off x="8869680" y="476402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186 of 768 logged</a:t>
            </a:r>
            <a:endParaRPr lang="en-US" sz="1050" dirty="0"/>
          </a:p>
        </p:txBody>
      </p:sp>
      <p:sp>
        <p:nvSpPr>
          <p:cNvPr id="64" name="Shape 61"/>
          <p:cNvSpPr/>
          <p:nvPr/>
        </p:nvSpPr>
        <p:spPr>
          <a:xfrm>
            <a:off x="8732520" y="5038344"/>
            <a:ext cx="3017520" cy="0"/>
          </a:xfrm>
          <a:prstGeom prst="line">
            <a:avLst/>
          </a:prstGeom>
          <a:noFill/>
          <a:ln w="9525">
            <a:solidFill>
              <a:srgbClr val="9AA7BE"/>
            </a:solidFill>
            <a:prstDash val="solid"/>
          </a:ln>
        </p:spPr>
      </p:sp>
      <p:sp>
        <p:nvSpPr>
          <p:cNvPr id="65" name="Text 62"/>
          <p:cNvSpPr txBox="1"/>
          <p:nvPr/>
        </p:nvSpPr>
        <p:spPr>
          <a:xfrm>
            <a:off x="8869680" y="5070348"/>
            <a:ext cx="128016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DATE</a:t>
            </a:r>
            <a:endParaRPr lang="en-US" sz="900" dirty="0"/>
          </a:p>
        </p:txBody>
      </p:sp>
      <p:sp>
        <p:nvSpPr>
          <p:cNvPr id="66" name="Text 63"/>
          <p:cNvSpPr txBox="1"/>
          <p:nvPr/>
        </p:nvSpPr>
        <p:spPr>
          <a:xfrm>
            <a:off x="8869680" y="528980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2026-09-25</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THE RF CONTRACT</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02/18  REV E  2026-09-25</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TWO RADIOS, ONE CONTRACT: WHAT MUST MATCH</a:t>
            </a:r>
            <a:endParaRPr lang="en-US" sz="2300" dirty="0"/>
          </a:p>
        </p:txBody>
      </p:sp>
      <p:sp>
        <p:nvSpPr>
          <p:cNvPr id="10" name="Shape 8"/>
          <p:cNvSpPr/>
          <p:nvPr/>
        </p:nvSpPr>
        <p:spPr>
          <a:xfrm>
            <a:off x="548640" y="1234440"/>
            <a:ext cx="3383280" cy="2286000"/>
          </a:xfrm>
          <a:prstGeom prst="rect">
            <a:avLst/>
          </a:prstGeom>
          <a:solidFill>
            <a:srgbClr val="F2F5FA"/>
          </a:solidFill>
          <a:ln w="19050">
            <a:solidFill>
              <a:srgbClr val="16213D"/>
            </a:solidFill>
            <a:prstDash val="solid"/>
          </a:ln>
        </p:spPr>
      </p:sp>
      <p:sp>
        <p:nvSpPr>
          <p:cNvPr id="11" name="Text 9"/>
          <p:cNvSpPr txBox="1"/>
          <p:nvPr/>
        </p:nvSpPr>
        <p:spPr>
          <a:xfrm>
            <a:off x="685800" y="1325880"/>
            <a:ext cx="3108960" cy="274320"/>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RADIO 1  “SF”  !49b5ead4</a:t>
            </a:r>
            <a:endParaRPr lang="en-US" sz="1100" dirty="0"/>
          </a:p>
        </p:txBody>
      </p:sp>
      <p:sp>
        <p:nvSpPr>
          <p:cNvPr id="12" name="Shape 10"/>
          <p:cNvSpPr/>
          <p:nvPr/>
        </p:nvSpPr>
        <p:spPr>
          <a:xfrm>
            <a:off x="685800" y="1691640"/>
            <a:ext cx="3108960" cy="475488"/>
          </a:xfrm>
          <a:prstGeom prst="rect">
            <a:avLst/>
          </a:prstGeom>
          <a:solidFill>
            <a:srgbClr val="FFFFFF"/>
          </a:solidFill>
          <a:ln w="9525">
            <a:solidFill>
              <a:srgbClr val="9AA7BE"/>
            </a:solidFill>
            <a:prstDash val="solid"/>
          </a:ln>
        </p:spPr>
      </p:sp>
      <p:sp>
        <p:nvSpPr>
          <p:cNvPr id="13" name="Text 11"/>
          <p:cNvSpPr txBox="1"/>
          <p:nvPr/>
        </p:nvSpPr>
        <p:spPr>
          <a:xfrm>
            <a:off x="804672" y="1719072"/>
            <a:ext cx="2926080" cy="420624"/>
          </a:xfrm>
          <a:prstGeom prst="rect">
            <a:avLst/>
          </a:prstGeom>
          <a:noFill/>
          <a:ln/>
        </p:spPr>
        <p:txBody>
          <a:bodyPr wrap="square" lIns="0" tIns="0" rIns="0" bIns="0" rtlCol="0" anchor="ctr"/>
          <a:lstStyle/>
          <a:p>
            <a:pPr indent="0" marL="0">
              <a:buNone/>
            </a:pPr>
            <a:r>
              <a:rPr lang="en-US" sz="1050" b="1" dirty="0">
                <a:solidFill>
                  <a:srgbClr val="E58E1A"/>
                </a:solidFill>
                <a:latin typeface="Courier New" pitchFamily="34" charset="0"/>
                <a:ea typeface="Courier New" pitchFamily="34" charset="-122"/>
                <a:cs typeface="Courier New" pitchFamily="34" charset="-120"/>
              </a:rPr>
              <a:t>GNSS  </a:t>
            </a:r>
            <a:pPr indent="0" marL="0">
              <a:buNone/>
            </a:pPr>
            <a:r>
              <a:rPr lang="en-US" sz="1050" dirty="0">
                <a:solidFill>
                  <a:srgbClr val="222A3F"/>
                </a:solidFill>
                <a:latin typeface="Arial" pitchFamily="34" charset="0"/>
                <a:ea typeface="Arial" pitchFamily="34" charset="-122"/>
                <a:cs typeface="Arial" pitchFamily="34" charset="-120"/>
              </a:rPr>
              <a:t>u-blox, 10 s fix rate</a:t>
            </a:r>
            <a:endParaRPr lang="en-US" sz="1050" dirty="0"/>
          </a:p>
        </p:txBody>
      </p:sp>
      <p:sp>
        <p:nvSpPr>
          <p:cNvPr id="14" name="Shape 12"/>
          <p:cNvSpPr/>
          <p:nvPr/>
        </p:nvSpPr>
        <p:spPr>
          <a:xfrm>
            <a:off x="685800" y="2258568"/>
            <a:ext cx="3108960" cy="475488"/>
          </a:xfrm>
          <a:prstGeom prst="rect">
            <a:avLst/>
          </a:prstGeom>
          <a:solidFill>
            <a:srgbClr val="FFFFFF"/>
          </a:solidFill>
          <a:ln w="9525">
            <a:solidFill>
              <a:srgbClr val="9AA7BE"/>
            </a:solidFill>
            <a:prstDash val="solid"/>
          </a:ln>
        </p:spPr>
      </p:sp>
      <p:sp>
        <p:nvSpPr>
          <p:cNvPr id="15" name="Text 13"/>
          <p:cNvSpPr txBox="1"/>
          <p:nvPr/>
        </p:nvSpPr>
        <p:spPr>
          <a:xfrm>
            <a:off x="804672" y="2286000"/>
            <a:ext cx="2926080" cy="420624"/>
          </a:xfrm>
          <a:prstGeom prst="rect">
            <a:avLst/>
          </a:prstGeom>
          <a:noFill/>
          <a:ln/>
        </p:spPr>
        <p:txBody>
          <a:bodyPr wrap="square" lIns="0" tIns="0" rIns="0" bIns="0" rtlCol="0" anchor="ctr"/>
          <a:lstStyle/>
          <a:p>
            <a:pPr indent="0" marL="0">
              <a:buNone/>
            </a:pPr>
            <a:r>
              <a:rPr lang="en-US" sz="1050" b="1" dirty="0">
                <a:solidFill>
                  <a:srgbClr val="E58E1A"/>
                </a:solidFill>
                <a:latin typeface="Courier New" pitchFamily="34" charset="0"/>
                <a:ea typeface="Courier New" pitchFamily="34" charset="-122"/>
                <a:cs typeface="Courier New" pitchFamily="34" charset="-120"/>
              </a:rPr>
              <a:t>MCU  </a:t>
            </a:r>
            <a:pPr indent="0" marL="0">
              <a:buNone/>
            </a:pPr>
            <a:r>
              <a:rPr lang="en-US" sz="1050" dirty="0">
                <a:solidFill>
                  <a:srgbClr val="222A3F"/>
                </a:solidFill>
                <a:latin typeface="Arial" pitchFamily="34" charset="0"/>
                <a:ea typeface="Arial" pitchFamily="34" charset="-122"/>
                <a:cs typeface="Arial" pitchFamily="34" charset="-120"/>
              </a:rPr>
              <a:t>ESP32-S3, Meshtastic 2.7.26</a:t>
            </a:r>
            <a:endParaRPr lang="en-US" sz="1050" dirty="0"/>
          </a:p>
        </p:txBody>
      </p:sp>
      <p:sp>
        <p:nvSpPr>
          <p:cNvPr id="16" name="Shape 14"/>
          <p:cNvSpPr/>
          <p:nvPr/>
        </p:nvSpPr>
        <p:spPr>
          <a:xfrm>
            <a:off x="685800" y="2825496"/>
            <a:ext cx="3108960" cy="475488"/>
          </a:xfrm>
          <a:prstGeom prst="rect">
            <a:avLst/>
          </a:prstGeom>
          <a:solidFill>
            <a:srgbClr val="FFFFFF"/>
          </a:solidFill>
          <a:ln w="9525">
            <a:solidFill>
              <a:srgbClr val="9AA7BE"/>
            </a:solidFill>
            <a:prstDash val="solid"/>
          </a:ln>
        </p:spPr>
      </p:sp>
      <p:sp>
        <p:nvSpPr>
          <p:cNvPr id="17" name="Text 15"/>
          <p:cNvSpPr txBox="1"/>
          <p:nvPr/>
        </p:nvSpPr>
        <p:spPr>
          <a:xfrm>
            <a:off x="804672" y="2852928"/>
            <a:ext cx="2926080" cy="420624"/>
          </a:xfrm>
          <a:prstGeom prst="rect">
            <a:avLst/>
          </a:prstGeom>
          <a:noFill/>
          <a:ln/>
        </p:spPr>
        <p:txBody>
          <a:bodyPr wrap="square" lIns="0" tIns="0" rIns="0" bIns="0" rtlCol="0" anchor="ctr"/>
          <a:lstStyle/>
          <a:p>
            <a:pPr indent="0" marL="0">
              <a:buNone/>
            </a:pPr>
            <a:r>
              <a:rPr lang="en-US" sz="1050" b="1" dirty="0">
                <a:solidFill>
                  <a:srgbClr val="E58E1A"/>
                </a:solidFill>
                <a:latin typeface="Courier New" pitchFamily="34" charset="0"/>
                <a:ea typeface="Courier New" pitchFamily="34" charset="-122"/>
                <a:cs typeface="Courier New" pitchFamily="34" charset="-120"/>
              </a:rPr>
              <a:t>PHY  </a:t>
            </a:r>
            <a:pPr indent="0" marL="0">
              <a:buNone/>
            </a:pPr>
            <a:r>
              <a:rPr lang="en-US" sz="1050" dirty="0">
                <a:solidFill>
                  <a:srgbClr val="222A3F"/>
                </a:solidFill>
                <a:latin typeface="Arial" pitchFamily="34" charset="0"/>
                <a:ea typeface="Arial" pitchFamily="34" charset="-122"/>
                <a:cs typeface="Arial" pitchFamily="34" charset="-120"/>
              </a:rPr>
              <a:t>SX1262, +30 dBm, SMA whip</a:t>
            </a:r>
            <a:endParaRPr lang="en-US" sz="1050" dirty="0"/>
          </a:p>
        </p:txBody>
      </p:sp>
      <p:sp>
        <p:nvSpPr>
          <p:cNvPr id="18" name="Shape 16"/>
          <p:cNvSpPr/>
          <p:nvPr/>
        </p:nvSpPr>
        <p:spPr>
          <a:xfrm>
            <a:off x="8229600" y="1234440"/>
            <a:ext cx="3383280" cy="2286000"/>
          </a:xfrm>
          <a:prstGeom prst="rect">
            <a:avLst/>
          </a:prstGeom>
          <a:solidFill>
            <a:srgbClr val="F2F5FA"/>
          </a:solidFill>
          <a:ln w="19050">
            <a:solidFill>
              <a:srgbClr val="16213D"/>
            </a:solidFill>
            <a:prstDash val="solid"/>
          </a:ln>
        </p:spPr>
      </p:sp>
      <p:sp>
        <p:nvSpPr>
          <p:cNvPr id="19" name="Text 17"/>
          <p:cNvSpPr txBox="1"/>
          <p:nvPr/>
        </p:nvSpPr>
        <p:spPr>
          <a:xfrm>
            <a:off x="8366760" y="1325880"/>
            <a:ext cx="3108960" cy="274320"/>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RADIO 2  “RG”  !49b5bb5c</a:t>
            </a:r>
            <a:endParaRPr lang="en-US" sz="1100" dirty="0"/>
          </a:p>
        </p:txBody>
      </p:sp>
      <p:sp>
        <p:nvSpPr>
          <p:cNvPr id="20" name="Shape 18"/>
          <p:cNvSpPr/>
          <p:nvPr/>
        </p:nvSpPr>
        <p:spPr>
          <a:xfrm>
            <a:off x="8366760" y="1691640"/>
            <a:ext cx="3108960" cy="475488"/>
          </a:xfrm>
          <a:prstGeom prst="rect">
            <a:avLst/>
          </a:prstGeom>
          <a:solidFill>
            <a:srgbClr val="FFFFFF"/>
          </a:solidFill>
          <a:ln w="9525">
            <a:solidFill>
              <a:srgbClr val="9AA7BE"/>
            </a:solidFill>
            <a:prstDash val="solid"/>
          </a:ln>
        </p:spPr>
      </p:sp>
      <p:sp>
        <p:nvSpPr>
          <p:cNvPr id="21" name="Text 19"/>
          <p:cNvSpPr txBox="1"/>
          <p:nvPr/>
        </p:nvSpPr>
        <p:spPr>
          <a:xfrm>
            <a:off x="8485632" y="1719072"/>
            <a:ext cx="2926080" cy="420624"/>
          </a:xfrm>
          <a:prstGeom prst="rect">
            <a:avLst/>
          </a:prstGeom>
          <a:noFill/>
          <a:ln/>
        </p:spPr>
        <p:txBody>
          <a:bodyPr wrap="square" lIns="0" tIns="0" rIns="0" bIns="0" rtlCol="0" anchor="ctr"/>
          <a:lstStyle/>
          <a:p>
            <a:pPr indent="0" marL="0">
              <a:buNone/>
            </a:pPr>
            <a:r>
              <a:rPr lang="en-US" sz="1050" b="1" dirty="0">
                <a:solidFill>
                  <a:srgbClr val="E58E1A"/>
                </a:solidFill>
                <a:latin typeface="Courier New" pitchFamily="34" charset="0"/>
                <a:ea typeface="Courier New" pitchFamily="34" charset="-122"/>
                <a:cs typeface="Courier New" pitchFamily="34" charset="-120"/>
              </a:rPr>
              <a:t>GNSS  </a:t>
            </a:r>
            <a:pPr indent="0" marL="0">
              <a:buNone/>
            </a:pPr>
            <a:r>
              <a:rPr lang="en-US" sz="1050" dirty="0">
                <a:solidFill>
                  <a:srgbClr val="222A3F"/>
                </a:solidFill>
                <a:latin typeface="Arial" pitchFamily="34" charset="0"/>
                <a:ea typeface="Arial" pitchFamily="34" charset="-122"/>
                <a:cs typeface="Arial" pitchFamily="34" charset="-120"/>
              </a:rPr>
              <a:t>u-blox, 10 s fix rate</a:t>
            </a:r>
            <a:endParaRPr lang="en-US" sz="1050" dirty="0"/>
          </a:p>
        </p:txBody>
      </p:sp>
      <p:sp>
        <p:nvSpPr>
          <p:cNvPr id="22" name="Shape 20"/>
          <p:cNvSpPr/>
          <p:nvPr/>
        </p:nvSpPr>
        <p:spPr>
          <a:xfrm>
            <a:off x="8366760" y="2258568"/>
            <a:ext cx="3108960" cy="475488"/>
          </a:xfrm>
          <a:prstGeom prst="rect">
            <a:avLst/>
          </a:prstGeom>
          <a:solidFill>
            <a:srgbClr val="FFFFFF"/>
          </a:solidFill>
          <a:ln w="9525">
            <a:solidFill>
              <a:srgbClr val="9AA7BE"/>
            </a:solidFill>
            <a:prstDash val="solid"/>
          </a:ln>
        </p:spPr>
      </p:sp>
      <p:sp>
        <p:nvSpPr>
          <p:cNvPr id="23" name="Text 21"/>
          <p:cNvSpPr txBox="1"/>
          <p:nvPr/>
        </p:nvSpPr>
        <p:spPr>
          <a:xfrm>
            <a:off x="8485632" y="2286000"/>
            <a:ext cx="2926080" cy="420624"/>
          </a:xfrm>
          <a:prstGeom prst="rect">
            <a:avLst/>
          </a:prstGeom>
          <a:noFill/>
          <a:ln/>
        </p:spPr>
        <p:txBody>
          <a:bodyPr wrap="square" lIns="0" tIns="0" rIns="0" bIns="0" rtlCol="0" anchor="ctr"/>
          <a:lstStyle/>
          <a:p>
            <a:pPr indent="0" marL="0">
              <a:buNone/>
            </a:pPr>
            <a:r>
              <a:rPr lang="en-US" sz="1050" b="1" dirty="0">
                <a:solidFill>
                  <a:srgbClr val="E58E1A"/>
                </a:solidFill>
                <a:latin typeface="Courier New" pitchFamily="34" charset="0"/>
                <a:ea typeface="Courier New" pitchFamily="34" charset="-122"/>
                <a:cs typeface="Courier New" pitchFamily="34" charset="-120"/>
              </a:rPr>
              <a:t>MCU  </a:t>
            </a:r>
            <a:pPr indent="0" marL="0">
              <a:buNone/>
            </a:pPr>
            <a:r>
              <a:rPr lang="en-US" sz="1050" dirty="0">
                <a:solidFill>
                  <a:srgbClr val="222A3F"/>
                </a:solidFill>
                <a:latin typeface="Arial" pitchFamily="34" charset="0"/>
                <a:ea typeface="Arial" pitchFamily="34" charset="-122"/>
                <a:cs typeface="Arial" pitchFamily="34" charset="-120"/>
              </a:rPr>
              <a:t>ESP32-S3, Meshtastic 2.7.26</a:t>
            </a:r>
            <a:endParaRPr lang="en-US" sz="1050" dirty="0"/>
          </a:p>
        </p:txBody>
      </p:sp>
      <p:sp>
        <p:nvSpPr>
          <p:cNvPr id="24" name="Shape 22"/>
          <p:cNvSpPr/>
          <p:nvPr/>
        </p:nvSpPr>
        <p:spPr>
          <a:xfrm>
            <a:off x="8366760" y="2825496"/>
            <a:ext cx="3108960" cy="475488"/>
          </a:xfrm>
          <a:prstGeom prst="rect">
            <a:avLst/>
          </a:prstGeom>
          <a:solidFill>
            <a:srgbClr val="FFFFFF"/>
          </a:solidFill>
          <a:ln w="9525">
            <a:solidFill>
              <a:srgbClr val="9AA7BE"/>
            </a:solidFill>
            <a:prstDash val="solid"/>
          </a:ln>
        </p:spPr>
      </p:sp>
      <p:sp>
        <p:nvSpPr>
          <p:cNvPr id="25" name="Text 23"/>
          <p:cNvSpPr txBox="1"/>
          <p:nvPr/>
        </p:nvSpPr>
        <p:spPr>
          <a:xfrm>
            <a:off x="8485632" y="2852928"/>
            <a:ext cx="2926080" cy="420624"/>
          </a:xfrm>
          <a:prstGeom prst="rect">
            <a:avLst/>
          </a:prstGeom>
          <a:noFill/>
          <a:ln/>
        </p:spPr>
        <p:txBody>
          <a:bodyPr wrap="square" lIns="0" tIns="0" rIns="0" bIns="0" rtlCol="0" anchor="ctr"/>
          <a:lstStyle/>
          <a:p>
            <a:pPr indent="0" marL="0">
              <a:buNone/>
            </a:pPr>
            <a:r>
              <a:rPr lang="en-US" sz="1050" b="1" dirty="0">
                <a:solidFill>
                  <a:srgbClr val="E58E1A"/>
                </a:solidFill>
                <a:latin typeface="Courier New" pitchFamily="34" charset="0"/>
                <a:ea typeface="Courier New" pitchFamily="34" charset="-122"/>
                <a:cs typeface="Courier New" pitchFamily="34" charset="-120"/>
              </a:rPr>
              <a:t>PHY  </a:t>
            </a:r>
            <a:pPr indent="0" marL="0">
              <a:buNone/>
            </a:pPr>
            <a:r>
              <a:rPr lang="en-US" sz="1050" dirty="0">
                <a:solidFill>
                  <a:srgbClr val="222A3F"/>
                </a:solidFill>
                <a:latin typeface="Arial" pitchFamily="34" charset="0"/>
                <a:ea typeface="Arial" pitchFamily="34" charset="-122"/>
                <a:cs typeface="Arial" pitchFamily="34" charset="-120"/>
              </a:rPr>
              <a:t>SX1262, +30 dBm, SMA whip</a:t>
            </a:r>
            <a:endParaRPr lang="en-US" sz="1050" dirty="0"/>
          </a:p>
        </p:txBody>
      </p:sp>
      <p:sp>
        <p:nvSpPr>
          <p:cNvPr id="26" name="Shape 24"/>
          <p:cNvSpPr/>
          <p:nvPr/>
        </p:nvSpPr>
        <p:spPr>
          <a:xfrm>
            <a:off x="4343400" y="1554480"/>
            <a:ext cx="3474720" cy="1691640"/>
          </a:xfrm>
          <a:prstGeom prst="rect">
            <a:avLst/>
          </a:prstGeom>
          <a:solidFill>
            <a:srgbClr val="FFFFFF"/>
          </a:solidFill>
          <a:ln w="19050">
            <a:solidFill>
              <a:srgbClr val="E58E1A"/>
            </a:solidFill>
            <a:prstDash val="dash"/>
          </a:ln>
        </p:spPr>
      </p:sp>
      <p:sp>
        <p:nvSpPr>
          <p:cNvPr id="27" name="Text 25"/>
          <p:cNvSpPr txBox="1"/>
          <p:nvPr/>
        </p:nvSpPr>
        <p:spPr>
          <a:xfrm>
            <a:off x="4480560" y="1627632"/>
            <a:ext cx="3200400" cy="256032"/>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THE AIR INTERFACE</a:t>
            </a:r>
            <a:endParaRPr lang="en-US" sz="1000" dirty="0"/>
          </a:p>
        </p:txBody>
      </p:sp>
      <p:sp>
        <p:nvSpPr>
          <p:cNvPr id="28" name="Text 26"/>
          <p:cNvSpPr txBox="1"/>
          <p:nvPr/>
        </p:nvSpPr>
        <p:spPr>
          <a:xfrm>
            <a:off x="4480560" y="1920240"/>
            <a:ext cx="3200400" cy="1234440"/>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912.875 MHz  (slot 43)</a:t>
            </a:r>
            <a:endParaRPr lang="en-US" sz="1100" dirty="0"/>
          </a:p>
          <a:p>
            <a:pPr indent="0" marL="0">
              <a:buNone/>
            </a:pPr>
            <a:r>
              <a:rPr lang="en-US" sz="1100" dirty="0">
                <a:solidFill>
                  <a:srgbClr val="16213D"/>
                </a:solidFill>
                <a:latin typeface="Courier New" pitchFamily="34" charset="0"/>
                <a:ea typeface="Courier New" pitchFamily="34" charset="-122"/>
                <a:cs typeface="Courier New" pitchFamily="34" charset="-120"/>
              </a:rPr>
              <a:t>LoRa SF11 / 250 kHz / CR 4:5</a:t>
            </a:r>
            <a:endParaRPr lang="en-US" sz="1100" dirty="0"/>
          </a:p>
          <a:p>
            <a:pPr indent="0" marL="0">
              <a:buNone/>
            </a:pPr>
            <a:r>
              <a:rPr lang="en-US" sz="1100" dirty="0">
                <a:solidFill>
                  <a:srgbClr val="16213D"/>
                </a:solidFill>
                <a:latin typeface="Courier New" pitchFamily="34" charset="0"/>
                <a:ea typeface="Courier New" pitchFamily="34" charset="-122"/>
                <a:cs typeface="Courier New" pitchFamily="34" charset="-120"/>
              </a:rPr>
              <a:t>AES-256, Group9 pre-shared key</a:t>
            </a:r>
            <a:endParaRPr lang="en-US" sz="1100" dirty="0"/>
          </a:p>
          <a:p>
            <a:pPr indent="0" marL="0">
              <a:buNone/>
            </a:pPr>
            <a:r>
              <a:rPr lang="en-US" sz="1100" dirty="0">
                <a:solidFill>
                  <a:srgbClr val="16213D"/>
                </a:solidFill>
                <a:latin typeface="Courier New" pitchFamily="34" charset="0"/>
                <a:ea typeface="Courier New" pitchFamily="34" charset="-122"/>
                <a:cs typeface="Courier New" pitchFamily="34" charset="-120"/>
              </a:rPr>
              <a:t>8.19 ms symbol · ~0.5 s per packet</a:t>
            </a:r>
            <a:endParaRPr lang="en-US" sz="1100" dirty="0"/>
          </a:p>
        </p:txBody>
      </p:sp>
      <p:sp>
        <p:nvSpPr>
          <p:cNvPr id="29" name="Shape 27"/>
          <p:cNvSpPr/>
          <p:nvPr/>
        </p:nvSpPr>
        <p:spPr>
          <a:xfrm>
            <a:off x="3931920" y="2377440"/>
            <a:ext cx="411480" cy="0"/>
          </a:xfrm>
          <a:prstGeom prst="line">
            <a:avLst/>
          </a:prstGeom>
          <a:noFill/>
          <a:ln w="28575">
            <a:solidFill>
              <a:srgbClr val="E58E1A"/>
            </a:solidFill>
            <a:prstDash val="solid"/>
            <a:tailEnd type="triangle"/>
          </a:ln>
        </p:spPr>
      </p:sp>
      <p:sp>
        <p:nvSpPr>
          <p:cNvPr id="30" name="Shape 28"/>
          <p:cNvSpPr/>
          <p:nvPr/>
        </p:nvSpPr>
        <p:spPr>
          <a:xfrm>
            <a:off x="7818120" y="2377440"/>
            <a:ext cx="411480" cy="0"/>
          </a:xfrm>
          <a:prstGeom prst="line">
            <a:avLst/>
          </a:prstGeom>
          <a:noFill/>
          <a:ln w="28575">
            <a:solidFill>
              <a:srgbClr val="E58E1A"/>
            </a:solidFill>
            <a:prstDash val="solid"/>
            <a:headEnd type="triangle"/>
          </a:ln>
        </p:spPr>
      </p:sp>
      <p:sp>
        <p:nvSpPr>
          <p:cNvPr id="31" name="Text 29"/>
          <p:cNvSpPr txBox="1"/>
          <p:nvPr/>
        </p:nvSpPr>
        <p:spPr>
          <a:xfrm>
            <a:off x="548640" y="3794760"/>
            <a:ext cx="11155680" cy="274320"/>
          </a:xfrm>
          <a:prstGeom prst="rect">
            <a:avLst/>
          </a:prstGeom>
          <a:noFill/>
          <a:ln/>
        </p:spPr>
        <p:txBody>
          <a:bodyPr wrap="square" lIns="0" tIns="0" rIns="0" bIns="0" rtlCol="0" anchor="ctr"/>
          <a:lstStyle/>
          <a:p>
            <a:pPr indent="0" marL="0">
              <a:buNone/>
            </a:pPr>
            <a:r>
              <a:rPr lang="en-US" sz="1150" b="1" dirty="0">
                <a:solidFill>
                  <a:srgbClr val="C43A4B"/>
                </a:solidFill>
                <a:latin typeface="Courier New" pitchFamily="34" charset="0"/>
                <a:ea typeface="Courier New" pitchFamily="34" charset="-122"/>
                <a:cs typeface="Courier New" pitchFamily="34" charset="-120"/>
              </a:rPr>
              <a:t>EVERY ROW MUST MATCH ON BOTH RADIOS — ONE MISMATCH = TOTAL SILENCE</a:t>
            </a:r>
            <a:endParaRPr lang="en-US" sz="11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4114800"/>
          <a:ext cx="11155680" cy="914400"/>
        </p:xfrm>
        <a:graphic>
          <a:graphicData uri="http://schemas.openxmlformats.org/drawingml/2006/table">
            <a:tbl>
              <a:tblPr/>
              <a:tblGrid>
                <a:gridCol w="1371600"/>
                <a:gridCol w="3657600"/>
                <a:gridCol w="3200400"/>
                <a:gridCol w="2926080"/>
              </a:tblGrid>
              <a:tr h="384048">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LAYER</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PARAMETER</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OUR VALUE</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IF MISMATCHED</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r>
              <a:tr h="384048">
                <a:tc>
                  <a:txBody>
                    <a:bodyPr/>
                    <a:lstStyle/>
                    <a:p>
                      <a:pPr indent="0" marL="0">
                        <a:buNone/>
                      </a:pPr>
                      <a:r>
                        <a:rPr lang="en-US" sz="1050" b="1" dirty="0">
                          <a:solidFill>
                            <a:srgbClr val="222A3F"/>
                          </a:solidFill>
                          <a:latin typeface="Arial" pitchFamily="34" charset="0"/>
                          <a:ea typeface="Arial" pitchFamily="34" charset="-122"/>
                          <a:cs typeface="Arial" pitchFamily="34" charset="-120"/>
                        </a:rPr>
                        <a:t>Frequency</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region + slot (from channel name hash)</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222A3F"/>
                          </a:solidFill>
                          <a:latin typeface="Courier New" pitchFamily="34" charset="0"/>
                          <a:ea typeface="Courier New" pitchFamily="34" charset="-122"/>
                          <a:cs typeface="Courier New" pitchFamily="34" charset="-120"/>
                        </a:rPr>
                        <a:t>US, slot 43 = 912.875 MHz</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C43A4B"/>
                          </a:solidFill>
                          <a:latin typeface="Arial" pitchFamily="34" charset="0"/>
                          <a:ea typeface="Arial" pitchFamily="34" charset="-122"/>
                          <a:cs typeface="Arial" pitchFamily="34" charset="-120"/>
                        </a:rPr>
                        <a:t>radios literally tuned apart</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050" b="1" dirty="0">
                          <a:solidFill>
                            <a:srgbClr val="222A3F"/>
                          </a:solidFill>
                          <a:latin typeface="Arial" pitchFamily="34" charset="0"/>
                          <a:ea typeface="Arial" pitchFamily="34" charset="-122"/>
                          <a:cs typeface="Arial" pitchFamily="34" charset="-120"/>
                        </a:rPr>
                        <a:t>Modulation</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preset: SF / bandwidth / coding rate</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222A3F"/>
                          </a:solidFill>
                          <a:latin typeface="Courier New" pitchFamily="34" charset="0"/>
                          <a:ea typeface="Courier New" pitchFamily="34" charset="-122"/>
                          <a:cs typeface="Courier New" pitchFamily="34" charset="-120"/>
                        </a:rPr>
                        <a:t>LONG_FAST: SF11 / 250 kHz / 4:5</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C43A4B"/>
                          </a:solidFill>
                          <a:latin typeface="Arial" pitchFamily="34" charset="0"/>
                          <a:ea typeface="Arial" pitchFamily="34" charset="-122"/>
                          <a:cs typeface="Arial" pitchFamily="34" charset="-120"/>
                        </a:rPr>
                        <a:t>chirps undecodable</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222A3F"/>
                          </a:solidFill>
                          <a:latin typeface="Arial" pitchFamily="34" charset="0"/>
                          <a:ea typeface="Arial" pitchFamily="34" charset="-122"/>
                          <a:cs typeface="Arial" pitchFamily="34" charset="-120"/>
                        </a:rPr>
                        <a:t>Encryption</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channel name + AES-256 PSK</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222A3F"/>
                          </a:solidFill>
                          <a:latin typeface="Courier New" pitchFamily="34" charset="0"/>
                          <a:ea typeface="Courier New" pitchFamily="34" charset="-122"/>
                          <a:cs typeface="Courier New" pitchFamily="34" charset="-120"/>
                        </a:rPr>
                        <a:t>Group9, 256-bit key</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C43A4B"/>
                          </a:solidFill>
                          <a:latin typeface="Arial" pitchFamily="34" charset="0"/>
                          <a:ea typeface="Arial" pitchFamily="34" charset="-122"/>
                          <a:cs typeface="Arial" pitchFamily="34" charset="-120"/>
                        </a:rPr>
                        <a:t>packets heard, dropped on decrypt</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050" b="1" dirty="0">
                          <a:solidFill>
                            <a:srgbClr val="222A3F"/>
                          </a:solidFill>
                          <a:latin typeface="Arial" pitchFamily="34" charset="0"/>
                          <a:ea typeface="Arial" pitchFamily="34" charset="-122"/>
                          <a:cs typeface="Arial" pitchFamily="34" charset="-120"/>
                        </a:rPr>
                        <a:t>Identity</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per-node public key (fw 2.5+)</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222A3F"/>
                          </a:solidFill>
                          <a:latin typeface="Courier New" pitchFamily="34" charset="0"/>
                          <a:ea typeface="Courier New" pitchFamily="34" charset="-122"/>
                          <a:cs typeface="Courier New" pitchFamily="34" charset="-120"/>
                        </a:rPr>
                        <a:t>exchanged via NodeInfo</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C43A4B"/>
                          </a:solidFill>
                          <a:latin typeface="Arial" pitchFamily="34" charset="0"/>
                          <a:ea typeface="Arial" pitchFamily="34" charset="-122"/>
                          <a:cs typeface="Arial" pitchFamily="34" charset="-120"/>
                        </a:rPr>
                        <a:t>direct messages NAK</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FREQUENCY SLOT DERIVATION</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03/18  REV E  2026-09-25</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CHANNEL NAME IS THE FREQUENCY</a:t>
            </a:r>
            <a:endParaRPr lang="en-US" sz="2300" dirty="0"/>
          </a:p>
        </p:txBody>
      </p:sp>
      <p:sp>
        <p:nvSpPr>
          <p:cNvPr id="10" name="Text 8"/>
          <p:cNvSpPr txBox="1"/>
          <p:nvPr/>
        </p:nvSpPr>
        <p:spPr>
          <a:xfrm>
            <a:off x="548640" y="1051560"/>
            <a:ext cx="6949440" cy="86868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Meshtastic never stores a frequency. Each radio derives its slot from a hash of the primary channel NAME.</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US-915 band, LONG_FAST bandwidth 250 kHz → 104 slots. The name picks one deterministically.</a:t>
            </a:r>
            <a:endParaRPr lang="en-US" sz="1250" dirty="0"/>
          </a:p>
        </p:txBody>
      </p:sp>
      <p:pic>
        <p:nvPicPr>
          <p:cNvPr id="11" name="Image 0" descr="C:/Users/deogr/AppData/Local/Temp/claude/C--Users-deogr-Documents-Fall-Project-Off-Grid-Vehicle-dection-project/e8b2e8fa-1513-4aa8-a8f6-ce4fcd20e664/scratchpad/deck5/eq_slot.png">    </p:cNvPr>
          <p:cNvPicPr>
            <a:picLocks noChangeAspect="1"/>
          </p:cNvPicPr>
          <p:nvPr/>
        </p:nvPicPr>
        <p:blipFill>
          <a:blip r:embed="rId1"/>
          <a:stretch>
            <a:fillRect/>
          </a:stretch>
        </p:blipFill>
        <p:spPr>
          <a:xfrm>
            <a:off x="640080" y="1965960"/>
            <a:ext cx="6675120" cy="713232"/>
          </a:xfrm>
          <a:prstGeom prst="rect">
            <a:avLst/>
          </a:prstGeom>
        </p:spPr>
      </p:pic>
      <p:sp>
        <p:nvSpPr>
          <p:cNvPr id="12" name="Shape 9"/>
          <p:cNvSpPr/>
          <p:nvPr/>
        </p:nvSpPr>
        <p:spPr>
          <a:xfrm>
            <a:off x="7818120" y="1051560"/>
            <a:ext cx="3886200" cy="2103120"/>
          </a:xfrm>
          <a:prstGeom prst="rect">
            <a:avLst/>
          </a:prstGeom>
          <a:solidFill>
            <a:srgbClr val="1B2440"/>
          </a:solidFill>
          <a:ln/>
        </p:spPr>
      </p:sp>
      <p:sp>
        <p:nvSpPr>
          <p:cNvPr id="13" name="Text 10"/>
          <p:cNvSpPr txBox="1"/>
          <p:nvPr/>
        </p:nvSpPr>
        <p:spPr>
          <a:xfrm>
            <a:off x="7955280" y="1115568"/>
            <a:ext cx="3611880" cy="237744"/>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 djb2 — the exact hash</a:t>
            </a:r>
            <a:endParaRPr lang="en-US" sz="1000" dirty="0"/>
          </a:p>
        </p:txBody>
      </p:sp>
      <p:sp>
        <p:nvSpPr>
          <p:cNvPr id="14" name="Text 11"/>
          <p:cNvSpPr txBox="1"/>
          <p:nvPr/>
        </p:nvSpPr>
        <p:spPr>
          <a:xfrm>
            <a:off x="7955280" y="1371600"/>
            <a:ext cx="3611880" cy="169164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unsigned h = 5381;</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for (char c : name)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h = h * 33 + c;</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slot = h % 104;</a:t>
            </a:r>
            <a:endParaRPr lang="en-US" sz="1000" dirty="0"/>
          </a:p>
          <a:p>
            <a:pPr indent="0" marL="0">
              <a:buNone/>
            </a:pP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djb2("LongFast") % 104 = 19</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djb2("Group9")   % 104 = 43</a:t>
            </a:r>
            <a:endParaRPr lang="en-US" sz="1000" dirty="0"/>
          </a:p>
        </p:txBody>
      </p:sp>
      <p:pic>
        <p:nvPicPr>
          <p:cNvPr id="15" name="Image 1" descr="C:/Users/deogr/AppData/Local/Temp/claude/C--Users-deogr-Documents-Fall-Project-Off-Grid-Vehicle-dection-project/e8b2e8fa-1513-4aa8-a8f6-ce4fcd20e664/scratchpad/deck5/fig_slots.png">    </p:cNvPr>
          <p:cNvPicPr>
            <a:picLocks noChangeAspect="1"/>
          </p:cNvPicPr>
          <p:nvPr/>
        </p:nvPicPr>
        <p:blipFill>
          <a:blip r:embed="rId2"/>
          <a:stretch>
            <a:fillRect/>
          </a:stretch>
        </p:blipFill>
        <p:spPr>
          <a:xfrm>
            <a:off x="640080" y="3017520"/>
            <a:ext cx="8229600" cy="2606040"/>
          </a:xfrm>
          <a:prstGeom prst="rect">
            <a:avLst/>
          </a:prstGeom>
        </p:spPr>
      </p:pic>
      <p:sp>
        <p:nvSpPr>
          <p:cNvPr id="16" name="Shape 12"/>
          <p:cNvSpPr/>
          <p:nvPr/>
        </p:nvSpPr>
        <p:spPr>
          <a:xfrm>
            <a:off x="9098280" y="3154680"/>
            <a:ext cx="2606040" cy="2331720"/>
          </a:xfrm>
          <a:prstGeom prst="rect">
            <a:avLst/>
          </a:prstGeom>
          <a:solidFill>
            <a:srgbClr val="16213D"/>
          </a:solidFill>
          <a:ln/>
        </p:spPr>
      </p:sp>
      <p:sp>
        <p:nvSpPr>
          <p:cNvPr id="17" name="Text 13"/>
          <p:cNvSpPr txBox="1"/>
          <p:nvPr/>
        </p:nvSpPr>
        <p:spPr>
          <a:xfrm>
            <a:off x="9253728" y="3291840"/>
            <a:ext cx="2331720" cy="2103120"/>
          </a:xfrm>
          <a:prstGeom prst="rect">
            <a:avLst/>
          </a:prstGeom>
          <a:noFill/>
          <a:ln/>
        </p:spPr>
        <p:txBody>
          <a:bodyPr wrap="square" lIns="0" tIns="0" rIns="0" bIns="0" rtlCol="0" anchor="ctr"/>
          <a:lstStyle/>
          <a:p>
            <a:pPr indent="0" marL="0">
              <a:spcAft>
                <a:spcPts val="500"/>
              </a:spcAft>
              <a:buNone/>
            </a:pPr>
            <a:r>
              <a:rPr lang="en-US" sz="1050" b="1" dirty="0">
                <a:solidFill>
                  <a:srgbClr val="E58E1A"/>
                </a:solidFill>
                <a:latin typeface="Courier New" pitchFamily="34" charset="0"/>
                <a:ea typeface="Courier New" pitchFamily="34" charset="-122"/>
                <a:cs typeface="Courier New" pitchFamily="34" charset="-120"/>
              </a:rPr>
              <a:t>CONSEQUENCE</a:t>
            </a:r>
            <a:endParaRPr lang="en-US" sz="1100" dirty="0"/>
          </a:p>
          <a:p>
            <a:pPr indent="0" marL="0">
              <a:buNone/>
            </a:pPr>
            <a:r>
              <a:rPr lang="en-US" sz="1100" dirty="0">
                <a:solidFill>
                  <a:srgbClr val="FFFFFF"/>
                </a:solidFill>
                <a:latin typeface="Arial" pitchFamily="34" charset="0"/>
                <a:ea typeface="Arial" pitchFamily="34" charset="-122"/>
                <a:cs typeface="Arial" pitchFamily="34" charset="-120"/>
              </a:rPr>
              <a:t>Rename the channel and the radio RETUNES. Two radios can share every key byte and still sit 6 MHz apart — the name hash is part of the RF contract.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ROOT CAUSE ANALYSIS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04/18  REV E  2026-09-25</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ROOT CAUSE: SAME KEY, DIFFERENT SLOT</a:t>
            </a:r>
            <a:endParaRPr lang="en-US" sz="2300" dirty="0"/>
          </a:p>
        </p:txBody>
      </p:sp>
      <p:sp>
        <p:nvSpPr>
          <p:cNvPr id="10" name="Text 8"/>
          <p:cNvSpPr txBox="1"/>
          <p:nvPr/>
        </p:nvSpPr>
        <p:spPr>
          <a:xfrm>
            <a:off x="1965960" y="1078992"/>
            <a:ext cx="4242816" cy="256032"/>
          </a:xfrm>
          <a:prstGeom prst="rect">
            <a:avLst/>
          </a:prstGeom>
          <a:noFill/>
          <a:ln/>
        </p:spPr>
        <p:txBody>
          <a:bodyPr wrap="square" lIns="0" tIns="0" rIns="0" bIns="0" rtlCol="0" anchor="ctr"/>
          <a:lstStyle/>
          <a:p>
            <a:pPr indent="0" marL="0">
              <a:buNone/>
            </a:pPr>
            <a:r>
              <a:rPr lang="en-US" sz="1000" b="1" dirty="0">
                <a:solidFill>
                  <a:srgbClr val="5E6B85"/>
                </a:solidFill>
                <a:latin typeface="Courier New" pitchFamily="34" charset="0"/>
                <a:ea typeface="Courier New" pitchFamily="34" charset="-122"/>
                <a:cs typeface="Courier New" pitchFamily="34" charset="-120"/>
              </a:rPr>
              <a:t>KEY MATCHES →</a:t>
            </a:r>
            <a:endParaRPr lang="en-US" sz="1000" dirty="0"/>
          </a:p>
        </p:txBody>
      </p:sp>
      <p:sp>
        <p:nvSpPr>
          <p:cNvPr id="11" name="Shape 9"/>
          <p:cNvSpPr/>
          <p:nvPr/>
        </p:nvSpPr>
        <p:spPr>
          <a:xfrm>
            <a:off x="640080" y="1371600"/>
            <a:ext cx="2651760" cy="1143000"/>
          </a:xfrm>
          <a:prstGeom prst="rect">
            <a:avLst/>
          </a:prstGeom>
          <a:solidFill>
            <a:srgbClr val="EDF7F1"/>
          </a:solidFill>
          <a:ln w="15875">
            <a:solidFill>
              <a:srgbClr val="1F9D68"/>
            </a:solidFill>
            <a:prstDash val="solid"/>
          </a:ln>
        </p:spPr>
      </p:sp>
      <p:sp>
        <p:nvSpPr>
          <p:cNvPr id="12" name="Text 10"/>
          <p:cNvSpPr txBox="1"/>
          <p:nvPr/>
        </p:nvSpPr>
        <p:spPr>
          <a:xfrm>
            <a:off x="768096" y="1463040"/>
            <a:ext cx="2395728" cy="960120"/>
          </a:xfrm>
          <a:prstGeom prst="rect">
            <a:avLst/>
          </a:prstGeom>
          <a:noFill/>
          <a:ln/>
        </p:spPr>
        <p:txBody>
          <a:bodyPr wrap="square" lIns="0" tIns="0" rIns="0" bIns="0" rtlCol="0" anchor="ctr"/>
          <a:lstStyle/>
          <a:p>
            <a:pPr indent="0" marL="0">
              <a:buNone/>
            </a:pPr>
            <a:r>
              <a:rPr lang="en-US" sz="950" dirty="0">
                <a:solidFill>
                  <a:srgbClr val="5E6B85"/>
                </a:solidFill>
                <a:latin typeface="Courier New" pitchFamily="34" charset="0"/>
                <a:ea typeface="Courier New" pitchFamily="34" charset="-122"/>
                <a:cs typeface="Courier New" pitchFamily="34" charset="-120"/>
              </a:rPr>
              <a:t>slot =, key =</a:t>
            </a:r>
            <a:endParaRPr lang="en-US" sz="1100" dirty="0"/>
          </a:p>
          <a:p>
            <a:pPr indent="0" marL="0">
              <a:buNone/>
            </a:pPr>
            <a:r>
              <a:rPr lang="en-US" sz="1300" b="1" dirty="0">
                <a:solidFill>
                  <a:srgbClr val="1F9D68"/>
                </a:solidFill>
                <a:latin typeface="Arial" pitchFamily="34" charset="0"/>
                <a:ea typeface="Arial" pitchFamily="34" charset="-122"/>
                <a:cs typeface="Arial" pitchFamily="34" charset="-120"/>
              </a:rPr>
              <a:t>LINK WORKS</a:t>
            </a:r>
            <a:endParaRPr lang="en-US" sz="1100" dirty="0"/>
          </a:p>
          <a:p>
            <a:pPr indent="0" marL="0">
              <a:buNone/>
            </a:pPr>
            <a:r>
              <a:rPr lang="en-US" sz="950" dirty="0">
                <a:solidFill>
                  <a:srgbClr val="222A3F"/>
                </a:solidFill>
                <a:latin typeface="Arial" pitchFamily="34" charset="0"/>
                <a:ea typeface="Arial" pitchFamily="34" charset="-122"/>
                <a:cs typeface="Arial" pitchFamily="34" charset="-120"/>
              </a:rPr>
              <a:t>traceroute 6 dB both ways</a:t>
            </a:r>
            <a:endParaRPr lang="en-US" sz="1100" dirty="0"/>
          </a:p>
        </p:txBody>
      </p:sp>
      <p:sp>
        <p:nvSpPr>
          <p:cNvPr id="13" name="Shape 11"/>
          <p:cNvSpPr/>
          <p:nvPr/>
        </p:nvSpPr>
        <p:spPr>
          <a:xfrm>
            <a:off x="3401568" y="1371600"/>
            <a:ext cx="2651760" cy="1143000"/>
          </a:xfrm>
          <a:prstGeom prst="rect">
            <a:avLst/>
          </a:prstGeom>
          <a:solidFill>
            <a:srgbClr val="F2F5FA"/>
          </a:solidFill>
          <a:ln w="15875">
            <a:solidFill>
              <a:srgbClr val="E58E1A"/>
            </a:solidFill>
            <a:prstDash val="solid"/>
          </a:ln>
        </p:spPr>
      </p:sp>
      <p:sp>
        <p:nvSpPr>
          <p:cNvPr id="14" name="Text 12"/>
          <p:cNvSpPr txBox="1"/>
          <p:nvPr/>
        </p:nvSpPr>
        <p:spPr>
          <a:xfrm>
            <a:off x="3529584" y="1463040"/>
            <a:ext cx="2395728" cy="960120"/>
          </a:xfrm>
          <a:prstGeom prst="rect">
            <a:avLst/>
          </a:prstGeom>
          <a:noFill/>
          <a:ln/>
        </p:spPr>
        <p:txBody>
          <a:bodyPr wrap="square" lIns="0" tIns="0" rIns="0" bIns="0" rtlCol="0" anchor="ctr"/>
          <a:lstStyle/>
          <a:p>
            <a:pPr indent="0" marL="0">
              <a:buNone/>
            </a:pPr>
            <a:r>
              <a:rPr lang="en-US" sz="950" dirty="0">
                <a:solidFill>
                  <a:srgbClr val="5E6B85"/>
                </a:solidFill>
                <a:latin typeface="Courier New" pitchFamily="34" charset="0"/>
                <a:ea typeface="Courier New" pitchFamily="34" charset="-122"/>
                <a:cs typeface="Courier New" pitchFamily="34" charset="-120"/>
              </a:rPr>
              <a:t>slot =, key ≠</a:t>
            </a:r>
            <a:endParaRPr lang="en-US" sz="1100" dirty="0"/>
          </a:p>
          <a:p>
            <a:pPr indent="0" marL="0">
              <a:buNone/>
            </a:pPr>
            <a:r>
              <a:rPr lang="en-US" sz="1300" b="1" dirty="0">
                <a:solidFill>
                  <a:srgbClr val="E58E1A"/>
                </a:solidFill>
                <a:latin typeface="Arial" pitchFamily="34" charset="0"/>
                <a:ea typeface="Arial" pitchFamily="34" charset="-122"/>
                <a:cs typeface="Arial" pitchFamily="34" charset="-120"/>
              </a:rPr>
              <a:t>heard, not read</a:t>
            </a:r>
            <a:endParaRPr lang="en-US" sz="1100" dirty="0"/>
          </a:p>
          <a:p>
            <a:pPr indent="0" marL="0">
              <a:buNone/>
            </a:pPr>
            <a:r>
              <a:rPr lang="en-US" sz="950" dirty="0">
                <a:solidFill>
                  <a:srgbClr val="222A3F"/>
                </a:solidFill>
                <a:latin typeface="Arial" pitchFamily="34" charset="0"/>
                <a:ea typeface="Arial" pitchFamily="34" charset="-122"/>
                <a:cs typeface="Arial" pitchFamily="34" charset="-120"/>
              </a:rPr>
              <a:t>counters tick, payloads drop</a:t>
            </a:r>
            <a:endParaRPr lang="en-US" sz="1100" dirty="0"/>
          </a:p>
        </p:txBody>
      </p:sp>
      <p:sp>
        <p:nvSpPr>
          <p:cNvPr id="15" name="Shape 13"/>
          <p:cNvSpPr/>
          <p:nvPr/>
        </p:nvSpPr>
        <p:spPr>
          <a:xfrm>
            <a:off x="640080" y="2624328"/>
            <a:ext cx="2651760" cy="1143000"/>
          </a:xfrm>
          <a:prstGeom prst="rect">
            <a:avLst/>
          </a:prstGeom>
          <a:solidFill>
            <a:srgbClr val="FBEEEF"/>
          </a:solidFill>
          <a:ln w="28575">
            <a:solidFill>
              <a:srgbClr val="C43A4B"/>
            </a:solidFill>
            <a:prstDash val="solid"/>
          </a:ln>
        </p:spPr>
      </p:sp>
      <p:sp>
        <p:nvSpPr>
          <p:cNvPr id="16" name="Text 14"/>
          <p:cNvSpPr txBox="1"/>
          <p:nvPr/>
        </p:nvSpPr>
        <p:spPr>
          <a:xfrm>
            <a:off x="768096" y="2715768"/>
            <a:ext cx="2395728" cy="960120"/>
          </a:xfrm>
          <a:prstGeom prst="rect">
            <a:avLst/>
          </a:prstGeom>
          <a:noFill/>
          <a:ln/>
        </p:spPr>
        <p:txBody>
          <a:bodyPr wrap="square" lIns="0" tIns="0" rIns="0" bIns="0" rtlCol="0" anchor="ctr"/>
          <a:lstStyle/>
          <a:p>
            <a:pPr indent="0" marL="0">
              <a:buNone/>
            </a:pPr>
            <a:r>
              <a:rPr lang="en-US" sz="950" dirty="0">
                <a:solidFill>
                  <a:srgbClr val="5E6B85"/>
                </a:solidFill>
                <a:latin typeface="Courier New" pitchFamily="34" charset="0"/>
                <a:ea typeface="Courier New" pitchFamily="34" charset="-122"/>
                <a:cs typeface="Courier New" pitchFamily="34" charset="-120"/>
              </a:rPr>
              <a:t>slot ≠, key =</a:t>
            </a:r>
            <a:endParaRPr lang="en-US" sz="1100" dirty="0"/>
          </a:p>
          <a:p>
            <a:pPr indent="0" marL="0">
              <a:buNone/>
            </a:pPr>
            <a:r>
              <a:rPr lang="en-US" sz="1300" b="1" dirty="0">
                <a:solidFill>
                  <a:srgbClr val="C43A4B"/>
                </a:solidFill>
                <a:latin typeface="Arial" pitchFamily="34" charset="0"/>
                <a:ea typeface="Arial" pitchFamily="34" charset="-122"/>
                <a:cs typeface="Arial" pitchFamily="34" charset="-120"/>
              </a:rPr>
              <a:t>TOTAL SILENCE</a:t>
            </a:r>
            <a:endParaRPr lang="en-US" sz="1100" dirty="0"/>
          </a:p>
          <a:p>
            <a:pPr indent="0" marL="0">
              <a:buNone/>
            </a:pPr>
            <a:r>
              <a:rPr lang="en-US" sz="950" dirty="0">
                <a:solidFill>
                  <a:srgbClr val="222A3F"/>
                </a:solidFill>
                <a:latin typeface="Arial" pitchFamily="34" charset="0"/>
                <a:ea typeface="Arial" pitchFamily="34" charset="-122"/>
                <a:cs typeface="Arial" pitchFamily="34" charset="-120"/>
              </a:rPr>
              <a:t>our bug: 0 online, 0% ChUtil</a:t>
            </a:r>
            <a:endParaRPr lang="en-US" sz="1100" dirty="0"/>
          </a:p>
        </p:txBody>
      </p:sp>
      <p:sp>
        <p:nvSpPr>
          <p:cNvPr id="17" name="Shape 15"/>
          <p:cNvSpPr/>
          <p:nvPr/>
        </p:nvSpPr>
        <p:spPr>
          <a:xfrm>
            <a:off x="3401568" y="2624328"/>
            <a:ext cx="2651760" cy="1143000"/>
          </a:xfrm>
          <a:prstGeom prst="rect">
            <a:avLst/>
          </a:prstGeom>
          <a:solidFill>
            <a:srgbClr val="F2F5FA"/>
          </a:solidFill>
          <a:ln w="15875">
            <a:solidFill>
              <a:srgbClr val="5E6B85"/>
            </a:solidFill>
            <a:prstDash val="solid"/>
          </a:ln>
        </p:spPr>
      </p:sp>
      <p:sp>
        <p:nvSpPr>
          <p:cNvPr id="18" name="Text 16"/>
          <p:cNvSpPr txBox="1"/>
          <p:nvPr/>
        </p:nvSpPr>
        <p:spPr>
          <a:xfrm>
            <a:off x="3529584" y="2715768"/>
            <a:ext cx="2395728" cy="960120"/>
          </a:xfrm>
          <a:prstGeom prst="rect">
            <a:avLst/>
          </a:prstGeom>
          <a:noFill/>
          <a:ln/>
        </p:spPr>
        <p:txBody>
          <a:bodyPr wrap="square" lIns="0" tIns="0" rIns="0" bIns="0" rtlCol="0" anchor="ctr"/>
          <a:lstStyle/>
          <a:p>
            <a:pPr indent="0" marL="0">
              <a:buNone/>
            </a:pPr>
            <a:r>
              <a:rPr lang="en-US" sz="950" dirty="0">
                <a:solidFill>
                  <a:srgbClr val="5E6B85"/>
                </a:solidFill>
                <a:latin typeface="Courier New" pitchFamily="34" charset="0"/>
                <a:ea typeface="Courier New" pitchFamily="34" charset="-122"/>
                <a:cs typeface="Courier New" pitchFamily="34" charset="-120"/>
              </a:rPr>
              <a:t>slot ≠, key ≠</a:t>
            </a:r>
            <a:endParaRPr lang="en-US" sz="1100" dirty="0"/>
          </a:p>
          <a:p>
            <a:pPr indent="0" marL="0">
              <a:buNone/>
            </a:pPr>
            <a:r>
              <a:rPr lang="en-US" sz="1300" b="1" dirty="0">
                <a:solidFill>
                  <a:srgbClr val="5E6B85"/>
                </a:solidFill>
                <a:latin typeface="Arial" pitchFamily="34" charset="0"/>
                <a:ea typeface="Arial" pitchFamily="34" charset="-122"/>
                <a:cs typeface="Arial" pitchFamily="34" charset="-120"/>
              </a:rPr>
              <a:t>strangers</a:t>
            </a:r>
            <a:endParaRPr lang="en-US" sz="1100" dirty="0"/>
          </a:p>
          <a:p>
            <a:pPr indent="0" marL="0">
              <a:buNone/>
            </a:pPr>
            <a:r>
              <a:rPr lang="en-US" sz="950" dirty="0">
                <a:solidFill>
                  <a:srgbClr val="222A3F"/>
                </a:solidFill>
                <a:latin typeface="Arial" pitchFamily="34" charset="0"/>
                <a:ea typeface="Arial" pitchFamily="34" charset="-122"/>
                <a:cs typeface="Arial" pitchFamily="34" charset="-120"/>
              </a:rPr>
              <a:t>different networks entirely</a:t>
            </a:r>
            <a:endParaRPr lang="en-US" sz="1100" dirty="0"/>
          </a:p>
        </p:txBody>
      </p:sp>
      <p:sp>
        <p:nvSpPr>
          <p:cNvPr id="19" name="Text 17"/>
          <p:cNvSpPr txBox="1"/>
          <p:nvPr/>
        </p:nvSpPr>
        <p:spPr>
          <a:xfrm>
            <a:off x="640080" y="3977640"/>
            <a:ext cx="5486400" cy="914400"/>
          </a:xfrm>
          <a:prstGeom prst="rect">
            <a:avLst/>
          </a:prstGeom>
          <a:noFill/>
          <a:ln/>
        </p:spPr>
        <p:txBody>
          <a:bodyPr wrap="square" lIns="0" tIns="0" rIns="0" bIns="0" rtlCol="0" anchor="ctr"/>
          <a:lstStyle/>
          <a:p>
            <a:pPr indent="0" marL="0">
              <a:buNone/>
            </a:pPr>
            <a:r>
              <a:rPr lang="en-US" sz="1150" dirty="0">
                <a:solidFill>
                  <a:srgbClr val="222A3F"/>
                </a:solidFill>
                <a:latin typeface="Arial" pitchFamily="34" charset="0"/>
                <a:ea typeface="Arial" pitchFamily="34" charset="-122"/>
                <a:cs typeface="Arial" pitchFamily="34" charset="-120"/>
              </a:rPr>
              <a:t>what happened on the bench: a channel write silently reverted (serial port-close resets the MCU mid-save), leaving one radio’s primary on the default slot while its saved URL read back “Group9”.</a:t>
            </a:r>
            <a:endParaRPr lang="en-US" sz="1150" dirty="0"/>
          </a:p>
        </p:txBody>
      </p:sp>
      <p:sp>
        <p:nvSpPr>
          <p:cNvPr id="20" name="Shape 18"/>
          <p:cNvSpPr/>
          <p:nvPr/>
        </p:nvSpPr>
        <p:spPr>
          <a:xfrm>
            <a:off x="640080" y="5029200"/>
            <a:ext cx="5486400" cy="1005840"/>
          </a:xfrm>
          <a:prstGeom prst="rect">
            <a:avLst/>
          </a:prstGeom>
          <a:solidFill>
            <a:srgbClr val="F2F5FA"/>
          </a:solidFill>
          <a:ln w="19050">
            <a:solidFill>
              <a:srgbClr val="1F9D68"/>
            </a:solidFill>
            <a:prstDash val="solid"/>
          </a:ln>
        </p:spPr>
      </p:sp>
      <p:sp>
        <p:nvSpPr>
          <p:cNvPr id="21" name="Text 19"/>
          <p:cNvSpPr txBox="1"/>
          <p:nvPr/>
        </p:nvSpPr>
        <p:spPr>
          <a:xfrm>
            <a:off x="804672" y="5120640"/>
            <a:ext cx="5166360" cy="841248"/>
          </a:xfrm>
          <a:prstGeom prst="rect">
            <a:avLst/>
          </a:prstGeom>
          <a:noFill/>
          <a:ln/>
        </p:spPr>
        <p:txBody>
          <a:bodyPr wrap="square" lIns="0" tIns="0" rIns="0" bIns="0" rtlCol="0" anchor="ctr"/>
          <a:lstStyle/>
          <a:p>
            <a:pPr indent="0" marL="0">
              <a:buNone/>
            </a:pPr>
            <a:r>
              <a:rPr lang="en-US" sz="1100" b="1" dirty="0">
                <a:solidFill>
                  <a:srgbClr val="1F9D68"/>
                </a:solidFill>
                <a:latin typeface="Courier New" pitchFamily="34" charset="0"/>
                <a:ea typeface="Courier New" pitchFamily="34" charset="-122"/>
                <a:cs typeface="Courier New" pitchFamily="34" charset="-120"/>
              </a:rPr>
              <a:t>THE TRUTH-TELLER  </a:t>
            </a:r>
            <a:pPr indent="0" marL="0">
              <a:buNone/>
            </a:pPr>
            <a:r>
              <a:rPr lang="en-US" sz="1100" dirty="0">
                <a:solidFill>
                  <a:srgbClr val="222A3F"/>
                </a:solidFill>
                <a:latin typeface="Arial" pitchFamily="34" charset="0"/>
                <a:ea typeface="Arial" pitchFamily="34" charset="-122"/>
                <a:cs typeface="Arial" pitchFamily="34" charset="-120"/>
              </a:rPr>
              <a:t>the OLED LoRa screen prints the synthesizer frequency. Config tools report intent; the screen reports reality. Group9 must read 912.875.</a:t>
            </a:r>
            <a:endParaRPr lang="en-US" sz="1100" dirty="0"/>
          </a:p>
        </p:txBody>
      </p:sp>
      <p:pic>
        <p:nvPicPr>
          <p:cNvPr id="22" name="Image 0" descr="C:/Users/deogr/AppData/Local/Temp/claude/C--Users-deogr-Documents-Fall-Project-Off-Grid-Vehicle-dection-project/e8b2e8fa-1513-4aa8-a8f6-ce4fcd20e664/images/15.jpg">    </p:cNvPr>
          <p:cNvPicPr>
            <a:picLocks noChangeAspect="1"/>
          </p:cNvPicPr>
          <p:nvPr/>
        </p:nvPicPr>
        <p:blipFill>
          <a:blip r:embed="rId1"/>
          <a:stretch>
            <a:fillRect/>
          </a:stretch>
        </p:blipFill>
        <p:spPr>
          <a:xfrm>
            <a:off x="6675120" y="1371600"/>
            <a:ext cx="2377440" cy="3108960"/>
          </a:xfrm>
          <a:prstGeom prst="rect">
            <a:avLst/>
          </a:prstGeom>
        </p:spPr>
      </p:pic>
      <p:sp>
        <p:nvSpPr>
          <p:cNvPr id="23" name="Shape 20"/>
          <p:cNvSpPr/>
          <p:nvPr/>
        </p:nvSpPr>
        <p:spPr>
          <a:xfrm>
            <a:off x="6675120" y="1371600"/>
            <a:ext cx="2377440" cy="3108960"/>
          </a:xfrm>
          <a:prstGeom prst="rect">
            <a:avLst/>
          </a:prstGeom>
          <a:ln w="12700">
            <a:solidFill>
              <a:srgbClr val="9AA7BE"/>
            </a:solidFill>
            <a:prstDash val="solid"/>
          </a:ln>
        </p:spPr>
      </p:sp>
      <p:sp>
        <p:nvSpPr>
          <p:cNvPr id="24" name="Text 21"/>
          <p:cNvSpPr txBox="1"/>
          <p:nvPr/>
        </p:nvSpPr>
        <p:spPr>
          <a:xfrm>
            <a:off x="6400800" y="4507992"/>
            <a:ext cx="2926080" cy="274320"/>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mid-debug: radio believed “Group9”,</a:t>
            </a:r>
            <a:endParaRPr lang="en-US" sz="900" dirty="0"/>
          </a:p>
          <a:p>
            <a:pPr algn="ctr" indent="0" marL="0">
              <a:buNone/>
            </a:pPr>
            <a:r>
              <a:rPr lang="en-US" sz="900" dirty="0">
                <a:solidFill>
                  <a:srgbClr val="5E6B85"/>
                </a:solidFill>
                <a:latin typeface="Courier New" pitchFamily="34" charset="0"/>
                <a:ea typeface="Courier New" pitchFamily="34" charset="-122"/>
                <a:cs typeface="Courier New" pitchFamily="34" charset="-120"/>
              </a:rPr>
              <a:t>radiated on 906.875 (default slot)</a:t>
            </a:r>
            <a:endParaRPr lang="en-US" sz="900" dirty="0"/>
          </a:p>
        </p:txBody>
      </p:sp>
      <p:sp>
        <p:nvSpPr>
          <p:cNvPr id="25" name="Shape 22"/>
          <p:cNvSpPr/>
          <p:nvPr/>
        </p:nvSpPr>
        <p:spPr>
          <a:xfrm>
            <a:off x="9281160" y="1371600"/>
            <a:ext cx="2423160" cy="3108960"/>
          </a:xfrm>
          <a:prstGeom prst="rect">
            <a:avLst/>
          </a:prstGeom>
          <a:solidFill>
            <a:srgbClr val="1B2440"/>
          </a:solidFill>
          <a:ln/>
        </p:spPr>
      </p:sp>
      <p:sp>
        <p:nvSpPr>
          <p:cNvPr id="26" name="Text 23"/>
          <p:cNvSpPr txBox="1"/>
          <p:nvPr/>
        </p:nvSpPr>
        <p:spPr>
          <a:xfrm>
            <a:off x="9418320" y="1435608"/>
            <a:ext cx="2148840" cy="237744"/>
          </a:xfrm>
          <a:prstGeom prst="rect">
            <a:avLst/>
          </a:prstGeom>
          <a:noFill/>
          <a:ln/>
        </p:spPr>
        <p:txBody>
          <a:bodyPr wrap="square" lIns="0" tIns="0" rIns="0" bIns="0" rtlCol="0" anchor="ctr"/>
          <a:lstStyle/>
          <a:p>
            <a:pPr indent="0" marL="0">
              <a:buNone/>
            </a:pPr>
            <a:r>
              <a:rPr lang="en-US" sz="1000" b="1" dirty="0">
                <a:solidFill>
                  <a:srgbClr val="C9D8F0"/>
                </a:solidFill>
                <a:latin typeface="Courier New" pitchFamily="34" charset="0"/>
                <a:ea typeface="Courier New" pitchFamily="34" charset="-122"/>
                <a:cs typeface="Courier New" pitchFamily="34" charset="-120"/>
              </a:rPr>
              <a:t>// the proof, both ways</a:t>
            </a:r>
            <a:endParaRPr lang="en-US" sz="1000" dirty="0"/>
          </a:p>
        </p:txBody>
      </p:sp>
      <p:sp>
        <p:nvSpPr>
          <p:cNvPr id="27" name="Text 24"/>
          <p:cNvSpPr txBox="1"/>
          <p:nvPr/>
        </p:nvSpPr>
        <p:spPr>
          <a:xfrm>
            <a:off x="9418320" y="1691640"/>
            <a:ext cx="2148840" cy="269748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Group9 (pre-fix):</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traceroute →</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MAX_RETRANSMIT</a:t>
            </a:r>
            <a:endParaRPr lang="en-US" sz="1000" dirty="0"/>
          </a:p>
          <a:p>
            <a:pPr indent="0" marL="0">
              <a:buNone/>
            </a:pP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default channel:</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ead4→bb5c  7.25 dB</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bb5c→ead4  6.0  dB</a:t>
            </a:r>
            <a:endParaRPr lang="en-US" sz="1000" dirty="0"/>
          </a:p>
          <a:p>
            <a:pPr indent="0" marL="0">
              <a:buNone/>
            </a:pP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Group9 (post-fix):</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bb5c→ead4  5.75 dB</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ead4→bb5c  6.25 dB</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NODE ACQUISITION SEQUENCE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05/18  REV E  2026-09-25</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LOCKING ON: FROM FIRST PACKET TO ADDRESSABLE PEER</a:t>
            </a:r>
            <a:endParaRPr lang="en-US" sz="2300" dirty="0"/>
          </a:p>
        </p:txBody>
      </p:sp>
      <p:sp>
        <p:nvSpPr>
          <p:cNvPr id="10" name="Shape 8"/>
          <p:cNvSpPr/>
          <p:nvPr/>
        </p:nvSpPr>
        <p:spPr>
          <a:xfrm>
            <a:off x="548640" y="1143000"/>
            <a:ext cx="566928" cy="713232"/>
          </a:xfrm>
          <a:prstGeom prst="rect">
            <a:avLst/>
          </a:prstGeom>
          <a:solidFill>
            <a:srgbClr val="16213D"/>
          </a:solidFill>
          <a:ln/>
        </p:spPr>
      </p:sp>
      <p:sp>
        <p:nvSpPr>
          <p:cNvPr id="11" name="Text 9"/>
          <p:cNvSpPr txBox="1"/>
          <p:nvPr/>
        </p:nvSpPr>
        <p:spPr>
          <a:xfrm>
            <a:off x="548640" y="1216152"/>
            <a:ext cx="566928"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a:t>
            </a:r>
            <a:endParaRPr lang="en-US" sz="2000" dirty="0"/>
          </a:p>
        </p:txBody>
      </p:sp>
      <p:sp>
        <p:nvSpPr>
          <p:cNvPr id="12" name="Shape 10"/>
          <p:cNvSpPr/>
          <p:nvPr/>
        </p:nvSpPr>
        <p:spPr>
          <a:xfrm>
            <a:off x="1115568" y="1143000"/>
            <a:ext cx="5989320" cy="713232"/>
          </a:xfrm>
          <a:prstGeom prst="rect">
            <a:avLst/>
          </a:prstGeom>
          <a:solidFill>
            <a:srgbClr val="FFFFFF"/>
          </a:solidFill>
          <a:ln w="9525">
            <a:solidFill>
              <a:srgbClr val="9AA7BE"/>
            </a:solidFill>
            <a:prstDash val="solid"/>
          </a:ln>
        </p:spPr>
      </p:sp>
      <p:sp>
        <p:nvSpPr>
          <p:cNvPr id="13" name="Text 11"/>
          <p:cNvSpPr txBox="1"/>
          <p:nvPr/>
        </p:nvSpPr>
        <p:spPr>
          <a:xfrm>
            <a:off x="1280160" y="1188720"/>
            <a:ext cx="5715000" cy="621792"/>
          </a:xfrm>
          <a:prstGeom prst="rect">
            <a:avLst/>
          </a:prstGeom>
          <a:noFill/>
          <a:ln/>
        </p:spPr>
        <p:txBody>
          <a:bodyPr wrap="square" lIns="0" tIns="0" rIns="0" bIns="0" rtlCol="0" anchor="ctr"/>
          <a:lstStyle/>
          <a:p>
            <a:pPr indent="0" marL="0">
              <a:buNone/>
            </a:pPr>
            <a:r>
              <a:rPr lang="en-US" sz="1050" b="1" dirty="0">
                <a:solidFill>
                  <a:srgbClr val="16213D"/>
                </a:solidFill>
                <a:latin typeface="Courier New" pitchFamily="34" charset="0"/>
                <a:ea typeface="Courier New" pitchFamily="34" charset="-122"/>
                <a:cs typeface="Courier New" pitchFamily="34" charset="-120"/>
              </a:rPr>
              <a:t>BOOT → ANNOUNCE   </a:t>
            </a:r>
            <a:pPr indent="0" marL="0">
              <a:buNone/>
            </a:pPr>
            <a:r>
              <a:rPr lang="en-US" sz="1100" dirty="0">
                <a:solidFill>
                  <a:srgbClr val="222A3F"/>
                </a:solidFill>
                <a:latin typeface="Arial" pitchFamily="34" charset="0"/>
                <a:ea typeface="Arial" pitchFamily="34" charset="-122"/>
                <a:cs typeface="Arial" pitchFamily="34" charset="-120"/>
              </a:rPr>
              <a:t>each radio broadcasts NodeInfo: long/short name, hardware, PUBLIC KEY</a:t>
            </a:r>
            <a:endParaRPr lang="en-US" sz="1050" dirty="0"/>
          </a:p>
        </p:txBody>
      </p:sp>
      <p:sp>
        <p:nvSpPr>
          <p:cNvPr id="14" name="Shape 12"/>
          <p:cNvSpPr/>
          <p:nvPr/>
        </p:nvSpPr>
        <p:spPr>
          <a:xfrm>
            <a:off x="832104" y="1856232"/>
            <a:ext cx="0" cy="182880"/>
          </a:xfrm>
          <a:prstGeom prst="line">
            <a:avLst/>
          </a:prstGeom>
          <a:noFill/>
          <a:ln w="28575">
            <a:solidFill>
              <a:srgbClr val="5E6B85"/>
            </a:solidFill>
            <a:prstDash val="solid"/>
            <a:tailEnd type="triangle"/>
          </a:ln>
        </p:spPr>
      </p:sp>
      <p:sp>
        <p:nvSpPr>
          <p:cNvPr id="15" name="Shape 13"/>
          <p:cNvSpPr/>
          <p:nvPr/>
        </p:nvSpPr>
        <p:spPr>
          <a:xfrm>
            <a:off x="548640" y="2039112"/>
            <a:ext cx="566928" cy="713232"/>
          </a:xfrm>
          <a:prstGeom prst="rect">
            <a:avLst/>
          </a:prstGeom>
          <a:solidFill>
            <a:srgbClr val="16213D"/>
          </a:solidFill>
          <a:ln/>
        </p:spPr>
      </p:sp>
      <p:sp>
        <p:nvSpPr>
          <p:cNvPr id="16" name="Text 14"/>
          <p:cNvSpPr txBox="1"/>
          <p:nvPr/>
        </p:nvSpPr>
        <p:spPr>
          <a:xfrm>
            <a:off x="548640" y="2112264"/>
            <a:ext cx="566928"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2</a:t>
            </a:r>
            <a:endParaRPr lang="en-US" sz="2000" dirty="0"/>
          </a:p>
        </p:txBody>
      </p:sp>
      <p:sp>
        <p:nvSpPr>
          <p:cNvPr id="17" name="Shape 15"/>
          <p:cNvSpPr/>
          <p:nvPr/>
        </p:nvSpPr>
        <p:spPr>
          <a:xfrm>
            <a:off x="1115568" y="2039112"/>
            <a:ext cx="5989320" cy="713232"/>
          </a:xfrm>
          <a:prstGeom prst="rect">
            <a:avLst/>
          </a:prstGeom>
          <a:solidFill>
            <a:srgbClr val="F2F5FA"/>
          </a:solidFill>
          <a:ln w="9525">
            <a:solidFill>
              <a:srgbClr val="9AA7BE"/>
            </a:solidFill>
            <a:prstDash val="solid"/>
          </a:ln>
        </p:spPr>
      </p:sp>
      <p:sp>
        <p:nvSpPr>
          <p:cNvPr id="18" name="Text 16"/>
          <p:cNvSpPr txBox="1"/>
          <p:nvPr/>
        </p:nvSpPr>
        <p:spPr>
          <a:xfrm>
            <a:off x="1280160" y="2084832"/>
            <a:ext cx="5715000" cy="621792"/>
          </a:xfrm>
          <a:prstGeom prst="rect">
            <a:avLst/>
          </a:prstGeom>
          <a:noFill/>
          <a:ln/>
        </p:spPr>
        <p:txBody>
          <a:bodyPr wrap="square" lIns="0" tIns="0" rIns="0" bIns="0" rtlCol="0" anchor="ctr"/>
          <a:lstStyle/>
          <a:p>
            <a:pPr indent="0" marL="0">
              <a:buNone/>
            </a:pPr>
            <a:r>
              <a:rPr lang="en-US" sz="1050" b="1" dirty="0">
                <a:solidFill>
                  <a:srgbClr val="16213D"/>
                </a:solidFill>
                <a:latin typeface="Courier New" pitchFamily="34" charset="0"/>
                <a:ea typeface="Courier New" pitchFamily="34" charset="-122"/>
                <a:cs typeface="Courier New" pitchFamily="34" charset="-120"/>
              </a:rPr>
              <a:t>STAMP   </a:t>
            </a:r>
            <a:pPr indent="0" marL="0">
              <a:buNone/>
            </a:pPr>
            <a:r>
              <a:rPr lang="en-US" sz="1100" dirty="0">
                <a:solidFill>
                  <a:srgbClr val="222A3F"/>
                </a:solidFill>
                <a:latin typeface="Arial" pitchFamily="34" charset="0"/>
                <a:ea typeface="Arial" pitchFamily="34" charset="-122"/>
                <a:cs typeface="Arial" pitchFamily="34" charset="-120"/>
              </a:rPr>
              <a:t>receiver files the node: last_heard = rx_time, SNR recorded, “online” begins</a:t>
            </a:r>
            <a:endParaRPr lang="en-US" sz="1050" dirty="0"/>
          </a:p>
        </p:txBody>
      </p:sp>
      <p:sp>
        <p:nvSpPr>
          <p:cNvPr id="19" name="Shape 17"/>
          <p:cNvSpPr/>
          <p:nvPr/>
        </p:nvSpPr>
        <p:spPr>
          <a:xfrm>
            <a:off x="832104" y="2752344"/>
            <a:ext cx="0" cy="182880"/>
          </a:xfrm>
          <a:prstGeom prst="line">
            <a:avLst/>
          </a:prstGeom>
          <a:noFill/>
          <a:ln w="28575">
            <a:solidFill>
              <a:srgbClr val="5E6B85"/>
            </a:solidFill>
            <a:prstDash val="solid"/>
            <a:tailEnd type="triangle"/>
          </a:ln>
        </p:spPr>
      </p:sp>
      <p:sp>
        <p:nvSpPr>
          <p:cNvPr id="20" name="Shape 18"/>
          <p:cNvSpPr/>
          <p:nvPr/>
        </p:nvSpPr>
        <p:spPr>
          <a:xfrm>
            <a:off x="548640" y="2935224"/>
            <a:ext cx="566928" cy="713232"/>
          </a:xfrm>
          <a:prstGeom prst="rect">
            <a:avLst/>
          </a:prstGeom>
          <a:solidFill>
            <a:srgbClr val="16213D"/>
          </a:solidFill>
          <a:ln/>
        </p:spPr>
      </p:sp>
      <p:sp>
        <p:nvSpPr>
          <p:cNvPr id="21" name="Text 19"/>
          <p:cNvSpPr txBox="1"/>
          <p:nvPr/>
        </p:nvSpPr>
        <p:spPr>
          <a:xfrm>
            <a:off x="548640" y="3008376"/>
            <a:ext cx="566928"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3</a:t>
            </a:r>
            <a:endParaRPr lang="en-US" sz="2000" dirty="0"/>
          </a:p>
        </p:txBody>
      </p:sp>
      <p:sp>
        <p:nvSpPr>
          <p:cNvPr id="22" name="Shape 20"/>
          <p:cNvSpPr/>
          <p:nvPr/>
        </p:nvSpPr>
        <p:spPr>
          <a:xfrm>
            <a:off x="1115568" y="2935224"/>
            <a:ext cx="5989320" cy="713232"/>
          </a:xfrm>
          <a:prstGeom prst="rect">
            <a:avLst/>
          </a:prstGeom>
          <a:solidFill>
            <a:srgbClr val="FFFFFF"/>
          </a:solidFill>
          <a:ln w="9525">
            <a:solidFill>
              <a:srgbClr val="9AA7BE"/>
            </a:solidFill>
            <a:prstDash val="solid"/>
          </a:ln>
        </p:spPr>
      </p:sp>
      <p:sp>
        <p:nvSpPr>
          <p:cNvPr id="23" name="Text 21"/>
          <p:cNvSpPr txBox="1"/>
          <p:nvPr/>
        </p:nvSpPr>
        <p:spPr>
          <a:xfrm>
            <a:off x="1280160" y="2980944"/>
            <a:ext cx="5715000" cy="621792"/>
          </a:xfrm>
          <a:prstGeom prst="rect">
            <a:avLst/>
          </a:prstGeom>
          <a:noFill/>
          <a:ln/>
        </p:spPr>
        <p:txBody>
          <a:bodyPr wrap="square" lIns="0" tIns="0" rIns="0" bIns="0" rtlCol="0" anchor="ctr"/>
          <a:lstStyle/>
          <a:p>
            <a:pPr indent="0" marL="0">
              <a:buNone/>
            </a:pPr>
            <a:r>
              <a:rPr lang="en-US" sz="1050" b="1" dirty="0">
                <a:solidFill>
                  <a:srgbClr val="16213D"/>
                </a:solidFill>
                <a:latin typeface="Courier New" pitchFamily="34" charset="0"/>
                <a:ea typeface="Courier New" pitchFamily="34" charset="-122"/>
                <a:cs typeface="Courier New" pitchFamily="34" charset="-120"/>
              </a:rPr>
              <a:t>KEY EXCHANGE   </a:t>
            </a:r>
            <a:pPr indent="0" marL="0">
              <a:buNone/>
            </a:pPr>
            <a:r>
              <a:rPr lang="en-US" sz="1100" dirty="0">
                <a:solidFill>
                  <a:srgbClr val="222A3F"/>
                </a:solidFill>
                <a:latin typeface="Arial" pitchFamily="34" charset="0"/>
                <a:ea typeface="Arial" pitchFamily="34" charset="-122"/>
                <a:cs typeface="Arial" pitchFamily="34" charset="-120"/>
              </a:rPr>
              <a:t>NodeInfo carries the Curve25519 public key — stored in the peer’s node DB</a:t>
            </a:r>
            <a:endParaRPr lang="en-US" sz="1050" dirty="0"/>
          </a:p>
        </p:txBody>
      </p:sp>
      <p:sp>
        <p:nvSpPr>
          <p:cNvPr id="24" name="Shape 22"/>
          <p:cNvSpPr/>
          <p:nvPr/>
        </p:nvSpPr>
        <p:spPr>
          <a:xfrm>
            <a:off x="832104" y="3648456"/>
            <a:ext cx="0" cy="182880"/>
          </a:xfrm>
          <a:prstGeom prst="line">
            <a:avLst/>
          </a:prstGeom>
          <a:noFill/>
          <a:ln w="28575">
            <a:solidFill>
              <a:srgbClr val="5E6B85"/>
            </a:solidFill>
            <a:prstDash val="solid"/>
            <a:tailEnd type="triangle"/>
          </a:ln>
        </p:spPr>
      </p:sp>
      <p:sp>
        <p:nvSpPr>
          <p:cNvPr id="25" name="Shape 23"/>
          <p:cNvSpPr/>
          <p:nvPr/>
        </p:nvSpPr>
        <p:spPr>
          <a:xfrm>
            <a:off x="548640" y="3831336"/>
            <a:ext cx="566928" cy="713232"/>
          </a:xfrm>
          <a:prstGeom prst="rect">
            <a:avLst/>
          </a:prstGeom>
          <a:solidFill>
            <a:srgbClr val="1F9D68"/>
          </a:solidFill>
          <a:ln/>
        </p:spPr>
      </p:sp>
      <p:sp>
        <p:nvSpPr>
          <p:cNvPr id="26" name="Text 24"/>
          <p:cNvSpPr txBox="1"/>
          <p:nvPr/>
        </p:nvSpPr>
        <p:spPr>
          <a:xfrm>
            <a:off x="548640" y="3904488"/>
            <a:ext cx="566928"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4</a:t>
            </a:r>
            <a:endParaRPr lang="en-US" sz="2000" dirty="0"/>
          </a:p>
        </p:txBody>
      </p:sp>
      <p:sp>
        <p:nvSpPr>
          <p:cNvPr id="27" name="Shape 25"/>
          <p:cNvSpPr/>
          <p:nvPr/>
        </p:nvSpPr>
        <p:spPr>
          <a:xfrm>
            <a:off x="1115568" y="3831336"/>
            <a:ext cx="5989320" cy="713232"/>
          </a:xfrm>
          <a:prstGeom prst="rect">
            <a:avLst/>
          </a:prstGeom>
          <a:solidFill>
            <a:srgbClr val="F2F5FA"/>
          </a:solidFill>
          <a:ln w="9525">
            <a:solidFill>
              <a:srgbClr val="9AA7BE"/>
            </a:solidFill>
            <a:prstDash val="solid"/>
          </a:ln>
        </p:spPr>
      </p:sp>
      <p:sp>
        <p:nvSpPr>
          <p:cNvPr id="28" name="Text 26"/>
          <p:cNvSpPr txBox="1"/>
          <p:nvPr/>
        </p:nvSpPr>
        <p:spPr>
          <a:xfrm>
            <a:off x="1280160" y="3877056"/>
            <a:ext cx="5715000" cy="621792"/>
          </a:xfrm>
          <a:prstGeom prst="rect">
            <a:avLst/>
          </a:prstGeom>
          <a:noFill/>
          <a:ln/>
        </p:spPr>
        <p:txBody>
          <a:bodyPr wrap="square" lIns="0" tIns="0" rIns="0" bIns="0" rtlCol="0" anchor="ctr"/>
          <a:lstStyle/>
          <a:p>
            <a:pPr indent="0" marL="0">
              <a:buNone/>
            </a:pPr>
            <a:r>
              <a:rPr lang="en-US" sz="1050" b="1" dirty="0">
                <a:solidFill>
                  <a:srgbClr val="1F9D68"/>
                </a:solidFill>
                <a:latin typeface="Courier New" pitchFamily="34" charset="0"/>
                <a:ea typeface="Courier New" pitchFamily="34" charset="-122"/>
                <a:cs typeface="Courier New" pitchFamily="34" charset="-120"/>
              </a:rPr>
              <a:t>CHANNEL TRAFFIC   </a:t>
            </a:r>
            <a:pPr indent="0" marL="0">
              <a:buNone/>
            </a:pPr>
            <a:r>
              <a:rPr lang="en-US" sz="1100" dirty="0">
                <a:solidFill>
                  <a:srgbClr val="222A3F"/>
                </a:solidFill>
                <a:latin typeface="Arial" pitchFamily="34" charset="0"/>
                <a:ea typeface="Arial" pitchFamily="34" charset="-122"/>
                <a:cs typeface="Arial" pitchFamily="34" charset="-120"/>
              </a:rPr>
              <a:t>broadcasts (positions, texts, telemetry) need only the shared AES channel key</a:t>
            </a:r>
            <a:endParaRPr lang="en-US" sz="1050" dirty="0"/>
          </a:p>
        </p:txBody>
      </p:sp>
      <p:sp>
        <p:nvSpPr>
          <p:cNvPr id="29" name="Shape 27"/>
          <p:cNvSpPr/>
          <p:nvPr/>
        </p:nvSpPr>
        <p:spPr>
          <a:xfrm>
            <a:off x="832104" y="4544568"/>
            <a:ext cx="0" cy="182880"/>
          </a:xfrm>
          <a:prstGeom prst="line">
            <a:avLst/>
          </a:prstGeom>
          <a:noFill/>
          <a:ln w="28575">
            <a:solidFill>
              <a:srgbClr val="5E6B85"/>
            </a:solidFill>
            <a:prstDash val="solid"/>
            <a:tailEnd type="triangle"/>
          </a:ln>
        </p:spPr>
      </p:sp>
      <p:sp>
        <p:nvSpPr>
          <p:cNvPr id="30" name="Shape 28"/>
          <p:cNvSpPr/>
          <p:nvPr/>
        </p:nvSpPr>
        <p:spPr>
          <a:xfrm>
            <a:off x="548640" y="4727448"/>
            <a:ext cx="566928" cy="713232"/>
          </a:xfrm>
          <a:prstGeom prst="rect">
            <a:avLst/>
          </a:prstGeom>
          <a:solidFill>
            <a:srgbClr val="E58E1A"/>
          </a:solidFill>
          <a:ln/>
        </p:spPr>
      </p:sp>
      <p:sp>
        <p:nvSpPr>
          <p:cNvPr id="31" name="Text 29"/>
          <p:cNvSpPr txBox="1"/>
          <p:nvPr/>
        </p:nvSpPr>
        <p:spPr>
          <a:xfrm>
            <a:off x="548640" y="4800600"/>
            <a:ext cx="566928"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5</a:t>
            </a:r>
            <a:endParaRPr lang="en-US" sz="2000" dirty="0"/>
          </a:p>
        </p:txBody>
      </p:sp>
      <p:sp>
        <p:nvSpPr>
          <p:cNvPr id="32" name="Shape 30"/>
          <p:cNvSpPr/>
          <p:nvPr/>
        </p:nvSpPr>
        <p:spPr>
          <a:xfrm>
            <a:off x="1115568" y="4727448"/>
            <a:ext cx="5989320" cy="713232"/>
          </a:xfrm>
          <a:prstGeom prst="rect">
            <a:avLst/>
          </a:prstGeom>
          <a:solidFill>
            <a:srgbClr val="FFFFFF"/>
          </a:solidFill>
          <a:ln w="9525">
            <a:solidFill>
              <a:srgbClr val="9AA7BE"/>
            </a:solidFill>
            <a:prstDash val="solid"/>
          </a:ln>
        </p:spPr>
      </p:sp>
      <p:sp>
        <p:nvSpPr>
          <p:cNvPr id="33" name="Text 31"/>
          <p:cNvSpPr txBox="1"/>
          <p:nvPr/>
        </p:nvSpPr>
        <p:spPr>
          <a:xfrm>
            <a:off x="1280160" y="4773168"/>
            <a:ext cx="5715000" cy="621792"/>
          </a:xfrm>
          <a:prstGeom prst="rect">
            <a:avLst/>
          </a:prstGeom>
          <a:noFill/>
          <a:ln/>
        </p:spPr>
        <p:txBody>
          <a:bodyPr wrap="square" lIns="0" tIns="0" rIns="0" bIns="0" rtlCol="0" anchor="ctr"/>
          <a:lstStyle/>
          <a:p>
            <a:pPr indent="0" marL="0">
              <a:buNone/>
            </a:pPr>
            <a:r>
              <a:rPr lang="en-US" sz="1050" b="1" dirty="0">
                <a:solidFill>
                  <a:srgbClr val="E58E1A"/>
                </a:solidFill>
                <a:latin typeface="Courier New" pitchFamily="34" charset="0"/>
                <a:ea typeface="Courier New" pitchFamily="34" charset="-122"/>
                <a:cs typeface="Courier New" pitchFamily="34" charset="-120"/>
              </a:rPr>
              <a:t>DIRECT MESSAGES   </a:t>
            </a:r>
            <a:pPr indent="0" marL="0">
              <a:buNone/>
            </a:pPr>
            <a:r>
              <a:rPr lang="en-US" sz="1100" dirty="0">
                <a:solidFill>
                  <a:srgbClr val="222A3F"/>
                </a:solidFill>
                <a:latin typeface="Arial" pitchFamily="34" charset="0"/>
                <a:ea typeface="Arial" pitchFamily="34" charset="-122"/>
                <a:cs typeface="Arial" pitchFamily="34" charset="-120"/>
              </a:rPr>
              <a:t>PKC-encrypted per node (fw 2.5+): impossible until step 3 has happened</a:t>
            </a:r>
            <a:endParaRPr lang="en-US" sz="1050" dirty="0"/>
          </a:p>
        </p:txBody>
      </p:sp>
      <p:sp>
        <p:nvSpPr>
          <p:cNvPr id="34" name="Shape 32"/>
          <p:cNvSpPr/>
          <p:nvPr/>
        </p:nvSpPr>
        <p:spPr>
          <a:xfrm>
            <a:off x="7360920" y="1143000"/>
            <a:ext cx="4343400" cy="2651760"/>
          </a:xfrm>
          <a:prstGeom prst="rect">
            <a:avLst/>
          </a:prstGeom>
          <a:solidFill>
            <a:srgbClr val="1B2440"/>
          </a:solidFill>
          <a:ln/>
        </p:spPr>
      </p:sp>
      <p:sp>
        <p:nvSpPr>
          <p:cNvPr id="35" name="Text 33"/>
          <p:cNvSpPr txBox="1"/>
          <p:nvPr/>
        </p:nvSpPr>
        <p:spPr>
          <a:xfrm>
            <a:off x="7498080" y="1207008"/>
            <a:ext cx="4069080" cy="237744"/>
          </a:xfrm>
          <a:prstGeom prst="rect">
            <a:avLst/>
          </a:prstGeom>
          <a:noFill/>
          <a:ln/>
        </p:spPr>
        <p:txBody>
          <a:bodyPr wrap="square" lIns="0" tIns="0" rIns="0" bIns="0" rtlCol="0" anchor="ctr"/>
          <a:lstStyle/>
          <a:p>
            <a:pPr indent="0" marL="0">
              <a:buNone/>
            </a:pPr>
            <a:r>
              <a:rPr lang="en-US" sz="1000" b="1" dirty="0">
                <a:solidFill>
                  <a:srgbClr val="C9D8F0"/>
                </a:solidFill>
                <a:latin typeface="Courier New" pitchFamily="34" charset="0"/>
                <a:ea typeface="Courier New" pitchFamily="34" charset="-122"/>
                <a:cs typeface="Courier New" pitchFamily="34" charset="-120"/>
              </a:rPr>
              <a:t>// captured this week — the NAKs teach the protocol</a:t>
            </a:r>
            <a:endParaRPr lang="en-US" sz="1000" dirty="0"/>
          </a:p>
        </p:txBody>
      </p:sp>
      <p:sp>
        <p:nvSpPr>
          <p:cNvPr id="36" name="Text 34"/>
          <p:cNvSpPr txBox="1"/>
          <p:nvPr/>
        </p:nvSpPr>
        <p:spPr>
          <a:xfrm>
            <a:off x="7498080" y="1463040"/>
            <a:ext cx="4069080" cy="224028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DM before key exchange: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 NAK PKI_SEND_FAIL_PUBLIC_KEY</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(sender has no pubkey for peer)</a:t>
            </a:r>
            <a:endParaRPr lang="en-US" sz="1000" dirty="0"/>
          </a:p>
          <a:p>
            <a:pPr indent="0" marL="0">
              <a:buNone/>
            </a:pP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DM after peer’s node DB reset:</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 NAK NO_CHANNEL</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(peer cannot decrypt PKC — but the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NAK itself ARRIVED OVER RF: the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link is proven even as the app fails)</a:t>
            </a:r>
            <a:endParaRPr lang="en-US" sz="1000" dirty="0"/>
          </a:p>
        </p:txBody>
      </p:sp>
      <p:sp>
        <p:nvSpPr>
          <p:cNvPr id="37" name="Shape 35"/>
          <p:cNvSpPr/>
          <p:nvPr/>
        </p:nvSpPr>
        <p:spPr>
          <a:xfrm>
            <a:off x="7360920" y="4023360"/>
            <a:ext cx="4343400" cy="1600200"/>
          </a:xfrm>
          <a:prstGeom prst="rect">
            <a:avLst/>
          </a:prstGeom>
          <a:solidFill>
            <a:srgbClr val="16213D"/>
          </a:solidFill>
          <a:ln/>
        </p:spPr>
      </p:sp>
      <p:sp>
        <p:nvSpPr>
          <p:cNvPr id="38" name="Text 36"/>
          <p:cNvSpPr txBox="1"/>
          <p:nvPr/>
        </p:nvSpPr>
        <p:spPr>
          <a:xfrm>
            <a:off x="7543800" y="4160520"/>
            <a:ext cx="3977640" cy="1371600"/>
          </a:xfrm>
          <a:prstGeom prst="rect">
            <a:avLst/>
          </a:prstGeom>
          <a:noFill/>
          <a:ln/>
        </p:spPr>
        <p:txBody>
          <a:bodyPr wrap="square" lIns="0" tIns="0" rIns="0" bIns="0" rtlCol="0" anchor="ctr"/>
          <a:lstStyle/>
          <a:p>
            <a:pPr indent="0" marL="0">
              <a:spcAft>
                <a:spcPts val="500"/>
              </a:spcAft>
              <a:buNone/>
            </a:pPr>
            <a:r>
              <a:rPr lang="en-US" sz="1050" b="1" dirty="0">
                <a:solidFill>
                  <a:srgbClr val="E58E1A"/>
                </a:solidFill>
                <a:latin typeface="Courier New" pitchFamily="34" charset="0"/>
                <a:ea typeface="Courier New" pitchFamily="34" charset="-122"/>
                <a:cs typeface="Courier New" pitchFamily="34" charset="-120"/>
              </a:rPr>
              <a:t>DESIGN INSIGHT</a:t>
            </a:r>
            <a:endParaRPr lang="en-US" sz="1150" dirty="0"/>
          </a:p>
          <a:p>
            <a:pPr indent="0" marL="0">
              <a:buNone/>
            </a:pPr>
            <a:r>
              <a:rPr lang="en-US" sz="1150" dirty="0">
                <a:solidFill>
                  <a:srgbClr val="FFFFFF"/>
                </a:solidFill>
                <a:latin typeface="Arial" pitchFamily="34" charset="0"/>
                <a:ea typeface="Arial" pitchFamily="34" charset="-122"/>
                <a:cs typeface="Arial" pitchFamily="34" charset="-120"/>
              </a:rPr>
              <a:t>Our tracker rides on step 4 only: position broadcasts under the channel key. The v2v link needs no pairing, no session, no per-node state — a radio that hears one broadcast is fully in the system.</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VERIFICATION BY TRACEROUTE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06/18  REV E  2026-09-25</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PROOF OF LOCK: ROUND-TRIP TRACEROUTE</a:t>
            </a:r>
            <a:endParaRPr lang="en-US" sz="2300" dirty="0"/>
          </a:p>
        </p:txBody>
      </p:sp>
      <p:sp>
        <p:nvSpPr>
          <p:cNvPr id="10" name="Shape 8"/>
          <p:cNvSpPr/>
          <p:nvPr/>
        </p:nvSpPr>
        <p:spPr>
          <a:xfrm>
            <a:off x="640080" y="1325880"/>
            <a:ext cx="2103120" cy="777240"/>
          </a:xfrm>
          <a:prstGeom prst="rect">
            <a:avLst/>
          </a:prstGeom>
          <a:solidFill>
            <a:srgbClr val="F2F5FA"/>
          </a:solidFill>
          <a:ln w="19050">
            <a:solidFill>
              <a:srgbClr val="16213D"/>
            </a:solidFill>
            <a:prstDash val="solid"/>
          </a:ln>
        </p:spPr>
      </p:sp>
      <p:sp>
        <p:nvSpPr>
          <p:cNvPr id="11" name="Text 9"/>
          <p:cNvSpPr txBox="1"/>
          <p:nvPr/>
        </p:nvSpPr>
        <p:spPr>
          <a:xfrm>
            <a:off x="640080" y="1380744"/>
            <a:ext cx="2103120" cy="640080"/>
          </a:xfrm>
          <a:prstGeom prst="rect">
            <a:avLst/>
          </a:prstGeom>
          <a:noFill/>
          <a:ln/>
        </p:spPr>
        <p:txBody>
          <a:bodyPr wrap="square" lIns="0" tIns="0" rIns="0" bIns="0" rtlCol="0" anchor="ctr"/>
          <a:lstStyle/>
          <a:p>
            <a:pPr algn="ctr" indent="0" marL="0">
              <a:buNone/>
            </a:pPr>
            <a:r>
              <a:rPr lang="en-US" sz="1200" b="1" dirty="0">
                <a:solidFill>
                  <a:srgbClr val="16213D"/>
                </a:solidFill>
                <a:latin typeface="Courier New" pitchFamily="34" charset="0"/>
                <a:ea typeface="Courier New" pitchFamily="34" charset="-122"/>
                <a:cs typeface="Courier New" pitchFamily="34" charset="-120"/>
              </a:rPr>
              <a:t>SF  !49b5ead4</a:t>
            </a:r>
            <a:endParaRPr lang="en-US" sz="1200" dirty="0"/>
          </a:p>
        </p:txBody>
      </p:sp>
      <p:sp>
        <p:nvSpPr>
          <p:cNvPr id="12" name="Shape 10"/>
          <p:cNvSpPr/>
          <p:nvPr/>
        </p:nvSpPr>
        <p:spPr>
          <a:xfrm>
            <a:off x="7040880" y="1325880"/>
            <a:ext cx="2103120" cy="777240"/>
          </a:xfrm>
          <a:prstGeom prst="rect">
            <a:avLst/>
          </a:prstGeom>
          <a:solidFill>
            <a:srgbClr val="F2F5FA"/>
          </a:solidFill>
          <a:ln w="19050">
            <a:solidFill>
              <a:srgbClr val="16213D"/>
            </a:solidFill>
            <a:prstDash val="solid"/>
          </a:ln>
        </p:spPr>
      </p:sp>
      <p:sp>
        <p:nvSpPr>
          <p:cNvPr id="13" name="Text 11"/>
          <p:cNvSpPr txBox="1"/>
          <p:nvPr/>
        </p:nvSpPr>
        <p:spPr>
          <a:xfrm>
            <a:off x="7040880" y="1380744"/>
            <a:ext cx="2103120" cy="640080"/>
          </a:xfrm>
          <a:prstGeom prst="rect">
            <a:avLst/>
          </a:prstGeom>
          <a:noFill/>
          <a:ln/>
        </p:spPr>
        <p:txBody>
          <a:bodyPr wrap="square" lIns="0" tIns="0" rIns="0" bIns="0" rtlCol="0" anchor="ctr"/>
          <a:lstStyle/>
          <a:p>
            <a:pPr algn="ctr" indent="0" marL="0">
              <a:buNone/>
            </a:pPr>
            <a:r>
              <a:rPr lang="en-US" sz="1200" b="1" dirty="0">
                <a:solidFill>
                  <a:srgbClr val="16213D"/>
                </a:solidFill>
                <a:latin typeface="Courier New" pitchFamily="34" charset="0"/>
                <a:ea typeface="Courier New" pitchFamily="34" charset="-122"/>
                <a:cs typeface="Courier New" pitchFamily="34" charset="-120"/>
              </a:rPr>
              <a:t>RG  !49b5bb5c</a:t>
            </a:r>
            <a:endParaRPr lang="en-US" sz="1200" dirty="0"/>
          </a:p>
        </p:txBody>
      </p:sp>
      <p:sp>
        <p:nvSpPr>
          <p:cNvPr id="14" name="Shape 12"/>
          <p:cNvSpPr/>
          <p:nvPr/>
        </p:nvSpPr>
        <p:spPr>
          <a:xfrm>
            <a:off x="2743200" y="1527048"/>
            <a:ext cx="4297680" cy="0"/>
          </a:xfrm>
          <a:prstGeom prst="line">
            <a:avLst/>
          </a:prstGeom>
          <a:noFill/>
          <a:ln w="28575">
            <a:solidFill>
              <a:srgbClr val="1199BD"/>
            </a:solidFill>
            <a:prstDash val="solid"/>
            <a:tailEnd type="triangle"/>
          </a:ln>
        </p:spPr>
      </p:sp>
      <p:sp>
        <p:nvSpPr>
          <p:cNvPr id="15" name="Text 13"/>
          <p:cNvSpPr txBox="1"/>
          <p:nvPr/>
        </p:nvSpPr>
        <p:spPr>
          <a:xfrm>
            <a:off x="2926080" y="1197864"/>
            <a:ext cx="4023360" cy="256032"/>
          </a:xfrm>
          <a:prstGeom prst="rect">
            <a:avLst/>
          </a:prstGeom>
          <a:noFill/>
          <a:ln/>
        </p:spPr>
        <p:txBody>
          <a:bodyPr wrap="square" lIns="0" tIns="0" rIns="0" bIns="0" rtlCol="0" anchor="ctr"/>
          <a:lstStyle/>
          <a:p>
            <a:pPr indent="0" marL="0">
              <a:buNone/>
            </a:pPr>
            <a:r>
              <a:rPr lang="en-US" sz="1000" dirty="0">
                <a:solidFill>
                  <a:srgbClr val="1199BD"/>
                </a:solidFill>
                <a:latin typeface="Courier New" pitchFamily="34" charset="0"/>
                <a:ea typeface="Courier New" pitchFamily="34" charset="-122"/>
                <a:cs typeface="Courier New" pitchFamily="34" charset="-120"/>
              </a:rPr>
              <a:t>traceroute request · heard at RG with SNR 5.75 dB</a:t>
            </a:r>
            <a:endParaRPr lang="en-US" sz="1000" dirty="0"/>
          </a:p>
        </p:txBody>
      </p:sp>
      <p:sp>
        <p:nvSpPr>
          <p:cNvPr id="16" name="Shape 14"/>
          <p:cNvSpPr/>
          <p:nvPr/>
        </p:nvSpPr>
        <p:spPr>
          <a:xfrm>
            <a:off x="2743200" y="1892808"/>
            <a:ext cx="4297680" cy="0"/>
          </a:xfrm>
          <a:prstGeom prst="line">
            <a:avLst/>
          </a:prstGeom>
          <a:noFill/>
          <a:ln w="28575">
            <a:solidFill>
              <a:srgbClr val="1F9D68"/>
            </a:solidFill>
            <a:prstDash val="solid"/>
            <a:headEnd type="triangle"/>
          </a:ln>
        </p:spPr>
      </p:sp>
      <p:sp>
        <p:nvSpPr>
          <p:cNvPr id="17" name="Text 15"/>
          <p:cNvSpPr txBox="1"/>
          <p:nvPr/>
        </p:nvSpPr>
        <p:spPr>
          <a:xfrm>
            <a:off x="2926080" y="1984248"/>
            <a:ext cx="4023360" cy="256032"/>
          </a:xfrm>
          <a:prstGeom prst="rect">
            <a:avLst/>
          </a:prstGeom>
          <a:noFill/>
          <a:ln/>
        </p:spPr>
        <p:txBody>
          <a:bodyPr wrap="square" lIns="0" tIns="0" rIns="0" bIns="0" rtlCol="0" anchor="ctr"/>
          <a:lstStyle/>
          <a:p>
            <a:pPr indent="0" marL="0">
              <a:buNone/>
            </a:pPr>
            <a:r>
              <a:rPr lang="en-US" sz="1000" dirty="0">
                <a:solidFill>
                  <a:srgbClr val="1F9D68"/>
                </a:solidFill>
                <a:latin typeface="Courier New" pitchFamily="34" charset="0"/>
                <a:ea typeface="Courier New" pitchFamily="34" charset="-122"/>
                <a:cs typeface="Courier New" pitchFamily="34" charset="-120"/>
              </a:rPr>
              <a:t>reply · heard back at SF with SNR 6.25 dB</a:t>
            </a:r>
            <a:endParaRPr lang="en-US" sz="1000" dirty="0"/>
          </a:p>
        </p:txBody>
      </p:sp>
      <p:sp>
        <p:nvSpPr>
          <p:cNvPr id="18" name="Shape 16"/>
          <p:cNvSpPr/>
          <p:nvPr/>
        </p:nvSpPr>
        <p:spPr>
          <a:xfrm>
            <a:off x="640080" y="2651760"/>
            <a:ext cx="5394960" cy="1691640"/>
          </a:xfrm>
          <a:prstGeom prst="rect">
            <a:avLst/>
          </a:prstGeom>
          <a:solidFill>
            <a:srgbClr val="1B2440"/>
          </a:solidFill>
          <a:ln/>
        </p:spPr>
      </p:sp>
      <p:sp>
        <p:nvSpPr>
          <p:cNvPr id="19" name="Text 17"/>
          <p:cNvSpPr txBox="1"/>
          <p:nvPr/>
        </p:nvSpPr>
        <p:spPr>
          <a:xfrm>
            <a:off x="777240" y="2715768"/>
            <a:ext cx="5120640" cy="237744"/>
          </a:xfrm>
          <a:prstGeom prst="rect">
            <a:avLst/>
          </a:prstGeom>
          <a:noFill/>
          <a:ln/>
        </p:spPr>
        <p:txBody>
          <a:bodyPr wrap="square" lIns="0" tIns="0" rIns="0" bIns="0" rtlCol="0" anchor="ctr"/>
          <a:lstStyle/>
          <a:p>
            <a:pPr indent="0" marL="0">
              <a:buNone/>
            </a:pPr>
            <a:r>
              <a:rPr lang="en-US" sz="1000" b="1" dirty="0">
                <a:solidFill>
                  <a:srgbClr val="1F9D68"/>
                </a:solidFill>
                <a:latin typeface="Courier New" pitchFamily="34" charset="0"/>
                <a:ea typeface="Courier New" pitchFamily="34" charset="-122"/>
                <a:cs typeface="Courier New" pitchFamily="34" charset="-120"/>
              </a:rPr>
              <a:t>$ meshtastic --traceroute ‘!49b5ead4’</a:t>
            </a:r>
            <a:endParaRPr lang="en-US" sz="1000" dirty="0"/>
          </a:p>
        </p:txBody>
      </p:sp>
      <p:sp>
        <p:nvSpPr>
          <p:cNvPr id="20" name="Text 18"/>
          <p:cNvSpPr txBox="1"/>
          <p:nvPr/>
        </p:nvSpPr>
        <p:spPr>
          <a:xfrm>
            <a:off x="777240" y="2971800"/>
            <a:ext cx="5120640" cy="128016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Route traced towards destination:</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!49b5bb5c --&gt; !49b5ead4 (5.75dB)</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Route traced back to us:</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!49b5ead4 --&gt; !49b5bb5c (6.25dB)</a:t>
            </a:r>
            <a:endParaRPr lang="en-US" sz="1000" dirty="0"/>
          </a:p>
        </p:txBody>
      </p:sp>
      <p:sp>
        <p:nvSpPr>
          <p:cNvPr id="21" name="Text 19"/>
          <p:cNvSpPr txBox="1"/>
          <p:nvPr/>
        </p:nvSpPr>
        <p:spPr>
          <a:xfrm>
            <a:off x="640080" y="4572000"/>
            <a:ext cx="5394960" cy="146304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222A3F"/>
                </a:solidFill>
                <a:latin typeface="Arial" pitchFamily="34" charset="0"/>
                <a:ea typeface="Arial" pitchFamily="34" charset="-122"/>
                <a:cs typeface="Arial" pitchFamily="34" charset="-120"/>
              </a:rPr>
              <a:t>One command certifies BOTH directions: the request must decode at the peer, the reply must decode back.</a:t>
            </a:r>
            <a:endParaRPr lang="en-US" sz="1150" dirty="0"/>
          </a:p>
          <a:p>
            <a:pPr marL="342900" indent="-342900">
              <a:spcAft>
                <a:spcPts val="600"/>
              </a:spcAft>
              <a:buSzPct val="100000"/>
              <a:buChar char="▪"/>
            </a:pPr>
            <a:r>
              <a:rPr lang="en-US" sz="1150" dirty="0">
                <a:solidFill>
                  <a:srgbClr val="222A3F"/>
                </a:solidFill>
                <a:latin typeface="Arial" pitchFamily="34" charset="0"/>
                <a:ea typeface="Arial" pitchFamily="34" charset="-122"/>
                <a:cs typeface="Arial" pitchFamily="34" charset="-120"/>
              </a:rPr>
              <a:t>Runs on the routing layer under the channel key — works before public keys exchange, unlike a DM.</a:t>
            </a:r>
            <a:endParaRPr lang="en-US" sz="1150" dirty="0"/>
          </a:p>
          <a:p>
            <a:pPr marL="342900" indent="-342900">
              <a:buSzPct val="100000"/>
              <a:buChar char="▪"/>
            </a:pPr>
            <a:r>
              <a:rPr lang="en-US" sz="1150" dirty="0">
                <a:solidFill>
                  <a:srgbClr val="222A3F"/>
                </a:solidFill>
                <a:latin typeface="Arial" pitchFamily="34" charset="0"/>
                <a:ea typeface="Arial" pitchFamily="34" charset="-122"/>
                <a:cs typeface="Arial" pitchFamily="34" charset="-120"/>
              </a:rPr>
              <a:t>SNR is reported per hop by the receiver’s demodulator: our link’s health number, logged from day one.</a:t>
            </a:r>
            <a:endParaRPr lang="en-US" sz="1150" dirty="0"/>
          </a:p>
        </p:txBody>
      </p:sp>
      <p:sp>
        <p:nvSpPr>
          <p:cNvPr id="22" name="Text 20"/>
          <p:cNvSpPr txBox="1"/>
          <p:nvPr/>
        </p:nvSpPr>
        <p:spPr>
          <a:xfrm>
            <a:off x="6492240" y="2304288"/>
            <a:ext cx="5120640" cy="274320"/>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WHAT 6 dB MEANS AT SF11</a:t>
            </a:r>
            <a:endParaRPr lang="en-US" sz="1100" dirty="0"/>
          </a:p>
        </p:txBody>
      </p:sp>
      <p:sp>
        <p:nvSpPr>
          <p:cNvPr id="23" name="Shape 21"/>
          <p:cNvSpPr/>
          <p:nvPr/>
        </p:nvSpPr>
        <p:spPr>
          <a:xfrm>
            <a:off x="6492240" y="2651760"/>
            <a:ext cx="5120640" cy="502920"/>
          </a:xfrm>
          <a:prstGeom prst="rect">
            <a:avLst/>
          </a:prstGeom>
          <a:solidFill>
            <a:srgbClr val="F2F5FA"/>
          </a:solidFill>
          <a:ln w="9525">
            <a:solidFill>
              <a:srgbClr val="9AA7BE"/>
            </a:solidFill>
            <a:prstDash val="solid"/>
          </a:ln>
        </p:spPr>
      </p:sp>
      <p:sp>
        <p:nvSpPr>
          <p:cNvPr id="24" name="Shape 22"/>
          <p:cNvSpPr/>
          <p:nvPr/>
        </p:nvSpPr>
        <p:spPr>
          <a:xfrm>
            <a:off x="6492240" y="2651760"/>
            <a:ext cx="720090" cy="502920"/>
          </a:xfrm>
          <a:prstGeom prst="rect">
            <a:avLst/>
          </a:prstGeom>
          <a:solidFill>
            <a:srgbClr val="FBEEEF"/>
          </a:solidFill>
          <a:ln/>
        </p:spPr>
      </p:sp>
      <p:sp>
        <p:nvSpPr>
          <p:cNvPr id="25" name="Shape 23"/>
          <p:cNvSpPr/>
          <p:nvPr/>
        </p:nvSpPr>
        <p:spPr>
          <a:xfrm>
            <a:off x="7212330" y="2542032"/>
            <a:ext cx="0" cy="731520"/>
          </a:xfrm>
          <a:prstGeom prst="line">
            <a:avLst/>
          </a:prstGeom>
          <a:noFill/>
          <a:ln w="25400">
            <a:solidFill>
              <a:srgbClr val="C43A4B"/>
            </a:solidFill>
            <a:prstDash val="solid"/>
          </a:ln>
        </p:spPr>
      </p:sp>
      <p:sp>
        <p:nvSpPr>
          <p:cNvPr id="26" name="Text 24"/>
          <p:cNvSpPr txBox="1"/>
          <p:nvPr/>
        </p:nvSpPr>
        <p:spPr>
          <a:xfrm>
            <a:off x="6023610" y="3310128"/>
            <a:ext cx="2377440" cy="237744"/>
          </a:xfrm>
          <a:prstGeom prst="rect">
            <a:avLst/>
          </a:prstGeom>
          <a:noFill/>
          <a:ln/>
        </p:spPr>
        <p:txBody>
          <a:bodyPr wrap="square" lIns="0" tIns="0" rIns="0" bIns="0" rtlCol="0" anchor="ctr"/>
          <a:lstStyle/>
          <a:p>
            <a:pPr algn="ctr" indent="0" marL="0">
              <a:buNone/>
            </a:pPr>
            <a:r>
              <a:rPr lang="en-US" sz="900" dirty="0">
                <a:solidFill>
                  <a:srgbClr val="C43A4B"/>
                </a:solidFill>
                <a:latin typeface="Courier New" pitchFamily="34" charset="0"/>
                <a:ea typeface="Courier New" pitchFamily="34" charset="-122"/>
                <a:cs typeface="Courier New" pitchFamily="34" charset="-120"/>
              </a:rPr>
              <a:t>-17.5 dB demod floor (SF11)</a:t>
            </a:r>
            <a:endParaRPr lang="en-US" sz="900" dirty="0"/>
          </a:p>
        </p:txBody>
      </p:sp>
      <p:sp>
        <p:nvSpPr>
          <p:cNvPr id="27" name="Shape 25"/>
          <p:cNvSpPr/>
          <p:nvPr/>
        </p:nvSpPr>
        <p:spPr>
          <a:xfrm>
            <a:off x="10972800" y="2542032"/>
            <a:ext cx="0" cy="731520"/>
          </a:xfrm>
          <a:prstGeom prst="line">
            <a:avLst/>
          </a:prstGeom>
          <a:noFill/>
          <a:ln w="31750">
            <a:solidFill>
              <a:srgbClr val="1F9D68"/>
            </a:solidFill>
            <a:prstDash val="solid"/>
          </a:ln>
        </p:spPr>
      </p:sp>
      <p:sp>
        <p:nvSpPr>
          <p:cNvPr id="28" name="Text 26"/>
          <p:cNvSpPr txBox="1"/>
          <p:nvPr/>
        </p:nvSpPr>
        <p:spPr>
          <a:xfrm>
            <a:off x="10058400" y="2267712"/>
            <a:ext cx="1828800" cy="237744"/>
          </a:xfrm>
          <a:prstGeom prst="rect">
            <a:avLst/>
          </a:prstGeom>
          <a:noFill/>
          <a:ln/>
        </p:spPr>
        <p:txBody>
          <a:bodyPr wrap="square" lIns="0" tIns="0" rIns="0" bIns="0" rtlCol="0" anchor="ctr"/>
          <a:lstStyle/>
          <a:p>
            <a:pPr algn="ctr" indent="0" marL="0">
              <a:buNone/>
            </a:pPr>
            <a:r>
              <a:rPr lang="en-US" sz="950" b="1" dirty="0">
                <a:solidFill>
                  <a:srgbClr val="1F9D68"/>
                </a:solidFill>
                <a:latin typeface="Courier New" pitchFamily="34" charset="0"/>
                <a:ea typeface="Courier New" pitchFamily="34" charset="-122"/>
                <a:cs typeface="Courier New" pitchFamily="34" charset="-120"/>
              </a:rPr>
              <a:t>measured ~6 dB</a:t>
            </a:r>
            <a:endParaRPr lang="en-US" sz="950" dirty="0"/>
          </a:p>
        </p:txBody>
      </p:sp>
      <p:sp>
        <p:nvSpPr>
          <p:cNvPr id="29" name="Shape 27"/>
          <p:cNvSpPr/>
          <p:nvPr/>
        </p:nvSpPr>
        <p:spPr>
          <a:xfrm>
            <a:off x="7212330" y="3794760"/>
            <a:ext cx="3760470" cy="0"/>
          </a:xfrm>
          <a:prstGeom prst="line">
            <a:avLst/>
          </a:prstGeom>
          <a:noFill/>
          <a:ln w="22225">
            <a:solidFill>
              <a:srgbClr val="16213D"/>
            </a:solidFill>
            <a:prstDash val="solid"/>
            <a:headEnd type="triangle"/>
            <a:tailEnd type="triangle"/>
          </a:ln>
        </p:spPr>
      </p:sp>
      <p:sp>
        <p:nvSpPr>
          <p:cNvPr id="30" name="Text 28"/>
          <p:cNvSpPr txBox="1"/>
          <p:nvPr/>
        </p:nvSpPr>
        <p:spPr>
          <a:xfrm>
            <a:off x="6492240" y="3931920"/>
            <a:ext cx="5120640" cy="502920"/>
          </a:xfrm>
          <a:prstGeom prst="rect">
            <a:avLst/>
          </a:prstGeom>
          <a:noFill/>
          <a:ln/>
        </p:spPr>
        <p:txBody>
          <a:bodyPr wrap="square" lIns="0" tIns="0" rIns="0" bIns="0" rtlCol="0" anchor="ctr"/>
          <a:lstStyle/>
          <a:p>
            <a:pPr indent="0" marL="0">
              <a:buNone/>
            </a:pPr>
            <a:r>
              <a:rPr lang="en-US" sz="1050" dirty="0">
                <a:solidFill>
                  <a:srgbClr val="222A3F"/>
                </a:solidFill>
                <a:latin typeface="Arial" pitchFamily="34" charset="0"/>
                <a:ea typeface="Arial" pitchFamily="34" charset="-122"/>
                <a:cs typeface="Arial" pitchFamily="34" charset="-120"/>
              </a:rPr>
              <a:t>23.5 dB of margin before decode fails — SF11 keeps decoding 17.5 dB BELOW the noise floor</a:t>
            </a:r>
            <a:endParaRPr lang="en-US" sz="1050" dirty="0"/>
          </a:p>
        </p:txBody>
      </p:sp>
      <p:sp>
        <p:nvSpPr>
          <p:cNvPr id="31" name="Shape 29"/>
          <p:cNvSpPr/>
          <p:nvPr/>
        </p:nvSpPr>
        <p:spPr>
          <a:xfrm>
            <a:off x="6492240" y="4892040"/>
            <a:ext cx="5120640" cy="1143000"/>
          </a:xfrm>
          <a:prstGeom prst="rect">
            <a:avLst/>
          </a:prstGeom>
          <a:solidFill>
            <a:srgbClr val="16213D"/>
          </a:solidFill>
          <a:ln/>
        </p:spPr>
      </p:sp>
      <p:sp>
        <p:nvSpPr>
          <p:cNvPr id="32" name="Text 30"/>
          <p:cNvSpPr txBox="1"/>
          <p:nvPr/>
        </p:nvSpPr>
        <p:spPr>
          <a:xfrm>
            <a:off x="6675120" y="5029200"/>
            <a:ext cx="4754880" cy="914400"/>
          </a:xfrm>
          <a:prstGeom prst="rect">
            <a:avLst/>
          </a:prstGeom>
          <a:noFill/>
          <a:ln/>
        </p:spPr>
        <p:txBody>
          <a:bodyPr wrap="square" lIns="0" tIns="0" rIns="0" bIns="0" rtlCol="0" anchor="ctr"/>
          <a:lstStyle/>
          <a:p>
            <a:pPr indent="0" marL="0">
              <a:spcAft>
                <a:spcPts val="400"/>
              </a:spcAft>
              <a:buNone/>
            </a:pPr>
            <a:r>
              <a:rPr lang="en-US" sz="1100" b="1" dirty="0">
                <a:solidFill>
                  <a:srgbClr val="1F9D68"/>
                </a:solidFill>
                <a:latin typeface="Courier New" pitchFamily="34" charset="0"/>
                <a:ea typeface="Courier New" pitchFamily="34" charset="-122"/>
                <a:cs typeface="Courier New" pitchFamily="34" charset="-120"/>
              </a:rPr>
              <a:t>ACCEPTANCE CRITERION 2 — MET</a:t>
            </a:r>
            <a:endParaRPr lang="en-US" sz="1100" dirty="0"/>
          </a:p>
          <a:p>
            <a:pPr indent="0" marL="0">
              <a:buNone/>
            </a:pPr>
            <a:r>
              <a:rPr lang="en-US" sz="1100" dirty="0">
                <a:solidFill>
                  <a:srgbClr val="FFFFFF"/>
                </a:solidFill>
                <a:latin typeface="Arial" pitchFamily="34" charset="0"/>
                <a:ea typeface="Arial" pitchFamily="34" charset="-122"/>
                <a:cs typeface="Arial" pitchFamily="34" charset="-120"/>
              </a:rPr>
              <a:t>“Both radios see each other”: round-trip proof on the private channel, repeated after every config change.</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LIVENESS BOOKKEEPING</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07/18  REV E  2026-09-25</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“ONLINE” IS AN EQUATION, NOT A CONNECTION</a:t>
            </a:r>
            <a:endParaRPr lang="en-US" sz="2300" dirty="0"/>
          </a:p>
        </p:txBody>
      </p:sp>
      <p:pic>
        <p:nvPicPr>
          <p:cNvPr id="10" name="Image 0" descr="C:/Users/deogr/AppData/Local/Temp/claude/C--Users-deogr-Documents-Fall-Project-Off-Grid-Vehicle-dection-project/e8b2e8fa-1513-4aa8-a8f6-ce4fcd20e664/scratchpad/deck5/eq_online.png">    </p:cNvPr>
          <p:cNvPicPr>
            <a:picLocks noChangeAspect="1"/>
          </p:cNvPicPr>
          <p:nvPr/>
        </p:nvPicPr>
        <p:blipFill>
          <a:blip r:embed="rId1"/>
          <a:stretch>
            <a:fillRect/>
          </a:stretch>
        </p:blipFill>
        <p:spPr>
          <a:xfrm>
            <a:off x="640080" y="1097280"/>
            <a:ext cx="5120640" cy="566928"/>
          </a:xfrm>
          <a:prstGeom prst="rect">
            <a:avLst/>
          </a:prstGeom>
        </p:spPr>
      </p:pic>
      <p:sp>
        <p:nvSpPr>
          <p:cNvPr id="11" name="Text 8"/>
          <p:cNvSpPr txBox="1"/>
          <p:nvPr/>
        </p:nvSpPr>
        <p:spPr>
          <a:xfrm>
            <a:off x="640080" y="1828800"/>
            <a:ext cx="6309360" cy="164592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No link-state exists to display — the counter recomputes this inequality per node, per redraw.</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A radio gone silent stays “online” for up to 2 h; a radio with a STALE STAMP looks dead while talking.</a:t>
            </a:r>
            <a:endParaRPr lang="en-US" sz="1200" dirty="0"/>
          </a:p>
          <a:p>
            <a:pPr marL="342900" indent="-342900">
              <a:buSzPct val="100000"/>
              <a:buChar char="▪"/>
            </a:pPr>
            <a:r>
              <a:rPr lang="en-US" sz="1200" dirty="0">
                <a:solidFill>
                  <a:srgbClr val="222A3F"/>
                </a:solidFill>
                <a:latin typeface="Arial" pitchFamily="34" charset="0"/>
                <a:ea typeface="Arial" pitchFamily="34" charset="-122"/>
                <a:cs typeface="Arial" pitchFamily="34" charset="-120"/>
              </a:rPr>
              <a:t>Bench ghost: a stored July 14 record kept resurfacing from flash after reboots → “72 d ago”, 0 online — while texts flowed both ways.</a:t>
            </a:r>
            <a:endParaRPr lang="en-US" sz="1200" dirty="0"/>
          </a:p>
        </p:txBody>
      </p:sp>
      <p:pic>
        <p:nvPicPr>
          <p:cNvPr id="12" name="Image 1" descr="C:/Users/deogr/AppData/Local/Temp/claude/C--Users-deogr-Documents-Fall-Project-Off-Grid-Vehicle-dection-project/e8b2e8fa-1513-4aa8-a8f6-ce4fcd20e664/scratchpad/deck5/fig_timeline.png">    </p:cNvPr>
          <p:cNvPicPr>
            <a:picLocks noChangeAspect="1"/>
          </p:cNvPicPr>
          <p:nvPr/>
        </p:nvPicPr>
        <p:blipFill>
          <a:blip r:embed="rId2"/>
          <a:stretch>
            <a:fillRect/>
          </a:stretch>
        </p:blipFill>
        <p:spPr>
          <a:xfrm>
            <a:off x="640080" y="3566160"/>
            <a:ext cx="8412480" cy="2514600"/>
          </a:xfrm>
          <a:prstGeom prst="rect">
            <a:avLst/>
          </a:prstGeom>
        </p:spPr>
      </p:pic>
      <p:pic>
        <p:nvPicPr>
          <p:cNvPr id="13" name="Image 2" descr="C:/Users/deogr/AppData/Local/Temp/claude/C--Users-deogr-Documents-Fall-Project-Off-Grid-Vehicle-dection-project/e8b2e8fa-1513-4aa8-a8f6-ce4fcd20e664/images/10.jpg">    </p:cNvPr>
          <p:cNvPicPr>
            <a:picLocks noChangeAspect="1"/>
          </p:cNvPicPr>
          <p:nvPr/>
        </p:nvPicPr>
        <p:blipFill>
          <a:blip r:embed="rId3"/>
          <a:stretch>
            <a:fillRect/>
          </a:stretch>
        </p:blipFill>
        <p:spPr>
          <a:xfrm>
            <a:off x="9326880" y="1097280"/>
            <a:ext cx="2377440" cy="3108960"/>
          </a:xfrm>
          <a:prstGeom prst="rect">
            <a:avLst/>
          </a:prstGeom>
        </p:spPr>
      </p:pic>
      <p:sp>
        <p:nvSpPr>
          <p:cNvPr id="14" name="Shape 9"/>
          <p:cNvSpPr/>
          <p:nvPr/>
        </p:nvSpPr>
        <p:spPr>
          <a:xfrm>
            <a:off x="9326880" y="1097280"/>
            <a:ext cx="2377440" cy="3108960"/>
          </a:xfrm>
          <a:prstGeom prst="rect">
            <a:avLst/>
          </a:prstGeom>
          <a:ln w="12700">
            <a:solidFill>
              <a:srgbClr val="9AA7BE"/>
            </a:solidFill>
            <a:prstDash val="solid"/>
          </a:ln>
        </p:spPr>
      </p:sp>
      <p:sp>
        <p:nvSpPr>
          <p:cNvPr id="15" name="Text 10"/>
          <p:cNvSpPr txBox="1"/>
          <p:nvPr/>
        </p:nvSpPr>
        <p:spPr>
          <a:xfrm>
            <a:off x="9052560" y="4233672"/>
            <a:ext cx="2926080" cy="274320"/>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the ghost on glass: Sig GOOD,</a:t>
            </a:r>
            <a:endParaRPr lang="en-US" sz="900" dirty="0"/>
          </a:p>
          <a:p>
            <a:pPr algn="ctr" indent="0" marL="0">
              <a:buNone/>
            </a:pPr>
            <a:r>
              <a:rPr lang="en-US" sz="900" dirty="0">
                <a:solidFill>
                  <a:srgbClr val="5E6B85"/>
                </a:solidFill>
                <a:latin typeface="Courier New" pitchFamily="34" charset="0"/>
                <a:ea typeface="Courier New" pitchFamily="34" charset="-122"/>
                <a:cs typeface="Courier New" pitchFamily="34" charset="-120"/>
              </a:rPr>
              <a:t>“Heard: 72d ago” — same minute</a:t>
            </a:r>
            <a:endParaRPr lang="en-US" sz="900" dirty="0"/>
          </a:p>
        </p:txBody>
      </p:sp>
      <p:sp>
        <p:nvSpPr>
          <p:cNvPr id="16" name="Shape 11"/>
          <p:cNvSpPr/>
          <p:nvPr/>
        </p:nvSpPr>
        <p:spPr>
          <a:xfrm>
            <a:off x="9326880" y="4526280"/>
            <a:ext cx="2377440" cy="1463040"/>
          </a:xfrm>
          <a:prstGeom prst="rect">
            <a:avLst/>
          </a:prstGeom>
          <a:solidFill>
            <a:srgbClr val="F2F5FA"/>
          </a:solidFill>
          <a:ln w="15875">
            <a:solidFill>
              <a:srgbClr val="E58E1A"/>
            </a:solidFill>
            <a:prstDash val="solid"/>
          </a:ln>
        </p:spPr>
      </p:sp>
      <p:sp>
        <p:nvSpPr>
          <p:cNvPr id="17" name="Text 12"/>
          <p:cNvSpPr txBox="1"/>
          <p:nvPr/>
        </p:nvSpPr>
        <p:spPr>
          <a:xfrm>
            <a:off x="9445752" y="4617720"/>
            <a:ext cx="2148840" cy="1298448"/>
          </a:xfrm>
          <a:prstGeom prst="rect">
            <a:avLst/>
          </a:prstGeom>
          <a:noFill/>
          <a:ln/>
        </p:spPr>
        <p:txBody>
          <a:bodyPr wrap="square" lIns="0" tIns="0" rIns="0" bIns="0" rtlCol="0" anchor="ctr"/>
          <a:lstStyle/>
          <a:p>
            <a:pPr indent="0" marL="0">
              <a:spcAft>
                <a:spcPts val="300"/>
              </a:spcAft>
              <a:buNone/>
            </a:pPr>
            <a:r>
              <a:rPr lang="en-US" sz="950" b="1" dirty="0">
                <a:solidFill>
                  <a:srgbClr val="E58E1A"/>
                </a:solidFill>
                <a:latin typeface="Courier New" pitchFamily="34" charset="0"/>
                <a:ea typeface="Courier New" pitchFamily="34" charset="-122"/>
                <a:cs typeface="Courier New" pitchFamily="34" charset="-120"/>
              </a:rPr>
              <a:t>FIXES APPLIED</a:t>
            </a:r>
            <a:endParaRPr lang="en-US" sz="1000" dirty="0"/>
          </a:p>
          <a:p>
            <a:pPr indent="0" marL="0">
              <a:buNone/>
            </a:pPr>
            <a:r>
              <a:rPr lang="en-US" sz="1000" dirty="0">
                <a:solidFill>
                  <a:srgbClr val="222A3F"/>
                </a:solidFill>
                <a:latin typeface="Arial" pitchFamily="34" charset="0"/>
                <a:ea typeface="Arial" pitchFamily="34" charset="-122"/>
                <a:cs typeface="Arial" pitchFamily="34" charset="-120"/>
              </a:rPr>
              <a:t>purge stored stale positions · sync clocks · reset node DBs · add heartbeat (sheet 08)</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TRAFFIC CADENCE DESIGN</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08/18  REV E  2026-09-25</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HEARTBEAT: DESIGNED TRAFFIC CADENCE</a:t>
            </a:r>
            <a:endParaRPr lang="en-US" sz="2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11155680" cy="914400"/>
        </p:xfrm>
        <a:graphic>
          <a:graphicData uri="http://schemas.openxmlformats.org/drawingml/2006/table">
            <a:tbl>
              <a:tblPr/>
              <a:tblGrid>
                <a:gridCol w="1920240"/>
                <a:gridCol w="3017520"/>
                <a:gridCol w="2103120"/>
                <a:gridCol w="4114800"/>
              </a:tblGrid>
              <a:tr h="420624">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PACKET</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TRIGGER</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INTERVAL</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ROLE IN THE SYSTEM</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r>
              <a:tr h="420624">
                <a:tc>
                  <a:txBody>
                    <a:bodyPr/>
                    <a:lstStyle/>
                    <a:p>
                      <a:pPr indent="0" marL="0">
                        <a:buNone/>
                      </a:pPr>
                      <a:r>
                        <a:rPr lang="en-US" sz="1100" dirty="0">
                          <a:solidFill>
                            <a:srgbClr val="222A3F"/>
                          </a:solidFill>
                          <a:latin typeface="Arial" pitchFamily="34" charset="0"/>
                          <a:ea typeface="Arial" pitchFamily="34" charset="-122"/>
                          <a:cs typeface="Arial" pitchFamily="34" charset="-120"/>
                        </a:rPr>
                        <a:t>Position</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00" dirty="0">
                          <a:solidFill>
                            <a:srgbClr val="222A3F"/>
                          </a:solidFill>
                          <a:latin typeface="Arial" pitchFamily="34" charset="0"/>
                          <a:ea typeface="Arial" pitchFamily="34" charset="-122"/>
                          <a:cs typeface="Arial" pitchFamily="34" charset="-120"/>
                        </a:rPr>
                        <a:t>moving (smart broadcast)</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00" b="1" dirty="0">
                          <a:solidFill>
                            <a:srgbClr val="222A3F"/>
                          </a:solidFill>
                          <a:latin typeface="Courier New" pitchFamily="34" charset="0"/>
                          <a:ea typeface="Courier New" pitchFamily="34" charset="-122"/>
                          <a:cs typeface="Courier New" pitchFamily="34" charset="-120"/>
                        </a:rPr>
                        <a:t>10 s AND 20 m</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00" dirty="0">
                          <a:solidFill>
                            <a:srgbClr val="222A3F"/>
                          </a:solidFill>
                          <a:latin typeface="Arial" pitchFamily="34" charset="0"/>
                          <a:ea typeface="Arial" pitchFamily="34" charset="-122"/>
                          <a:cs typeface="Arial" pitchFamily="34" charset="-120"/>
                        </a:rPr>
                        <a:t>the product: live v2v tracking</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420624">
                <a:tc>
                  <a:txBody>
                    <a:bodyPr/>
                    <a:lstStyle/>
                    <a:p>
                      <a:pPr indent="0" marL="0">
                        <a:buNone/>
                      </a:pPr>
                      <a:r>
                        <a:rPr lang="en-US" sz="1100" dirty="0">
                          <a:solidFill>
                            <a:srgbClr val="222A3F"/>
                          </a:solidFill>
                          <a:latin typeface="Arial" pitchFamily="34" charset="0"/>
                          <a:ea typeface="Arial" pitchFamily="34" charset="-122"/>
                          <a:cs typeface="Arial" pitchFamily="34" charset="-120"/>
                        </a:rPr>
                        <a:t>Position</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00" dirty="0">
                          <a:solidFill>
                            <a:srgbClr val="222A3F"/>
                          </a:solidFill>
                          <a:latin typeface="Arial" pitchFamily="34" charset="0"/>
                          <a:ea typeface="Arial" pitchFamily="34" charset="-122"/>
                          <a:cs typeface="Arial" pitchFamily="34" charset="-120"/>
                        </a:rPr>
                        <a:t>stationary, with GPS fix</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00" b="1" dirty="0">
                          <a:solidFill>
                            <a:srgbClr val="222A3F"/>
                          </a:solidFill>
                          <a:latin typeface="Courier New" pitchFamily="34" charset="0"/>
                          <a:ea typeface="Courier New" pitchFamily="34" charset="-122"/>
                          <a:cs typeface="Courier New" pitchFamily="34" charset="-120"/>
                        </a:rPr>
                        <a:t>60 s</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00" dirty="0">
                          <a:solidFill>
                            <a:srgbClr val="222A3F"/>
                          </a:solidFill>
                          <a:latin typeface="Arial" pitchFamily="34" charset="0"/>
                          <a:ea typeface="Arial" pitchFamily="34" charset="-122"/>
                          <a:cs typeface="Arial" pitchFamily="34" charset="-120"/>
                        </a:rPr>
                        <a:t>parked-vehicle presence</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420624">
                <a:tc>
                  <a:txBody>
                    <a:bodyPr/>
                    <a:lstStyle/>
                    <a:p>
                      <a:pPr indent="0" marL="0">
                        <a:buNone/>
                      </a:pPr>
                      <a:r>
                        <a:rPr lang="en-US" sz="1100" dirty="0">
                          <a:solidFill>
                            <a:srgbClr val="222A3F"/>
                          </a:solidFill>
                          <a:latin typeface="Arial" pitchFamily="34" charset="0"/>
                          <a:ea typeface="Arial" pitchFamily="34" charset="-122"/>
                          <a:cs typeface="Arial" pitchFamily="34" charset="-120"/>
                        </a:rPr>
                        <a:t>Device telemetry</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00" dirty="0">
                          <a:solidFill>
                            <a:srgbClr val="222A3F"/>
                          </a:solidFill>
                          <a:latin typeface="Arial" pitchFamily="34" charset="0"/>
                          <a:ea typeface="Arial" pitchFamily="34" charset="-122"/>
                          <a:cs typeface="Arial" pitchFamily="34" charset="-120"/>
                        </a:rPr>
                        <a:t>always</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00" b="1" dirty="0">
                          <a:solidFill>
                            <a:srgbClr val="1F9D68"/>
                          </a:solidFill>
                          <a:latin typeface="Courier New" pitchFamily="34" charset="0"/>
                          <a:ea typeface="Courier New" pitchFamily="34" charset="-122"/>
                          <a:cs typeface="Courier New" pitchFamily="34" charset="-120"/>
                        </a:rPr>
                        <a:t>300 s (was 1800)</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00" dirty="0">
                          <a:solidFill>
                            <a:srgbClr val="222A3F"/>
                          </a:solidFill>
                          <a:latin typeface="Arial" pitchFamily="34" charset="0"/>
                          <a:ea typeface="Arial" pitchFamily="34" charset="-122"/>
                          <a:cs typeface="Arial" pitchFamily="34" charset="-120"/>
                        </a:rPr>
                        <a:t>liveness floor — keeps counters honest</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420624">
                <a:tc>
                  <a:txBody>
                    <a:bodyPr/>
                    <a:lstStyle/>
                    <a:p>
                      <a:pPr indent="0" marL="0">
                        <a:buNone/>
                      </a:pPr>
                      <a:r>
                        <a:rPr lang="en-US" sz="1100" dirty="0">
                          <a:solidFill>
                            <a:srgbClr val="222A3F"/>
                          </a:solidFill>
                          <a:latin typeface="Arial" pitchFamily="34" charset="0"/>
                          <a:ea typeface="Arial" pitchFamily="34" charset="-122"/>
                          <a:cs typeface="Arial" pitchFamily="34" charset="-120"/>
                        </a:rPr>
                        <a:t>NodeInfo</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00" dirty="0">
                          <a:solidFill>
                            <a:srgbClr val="222A3F"/>
                          </a:solidFill>
                          <a:latin typeface="Arial" pitchFamily="34" charset="0"/>
                          <a:ea typeface="Arial" pitchFamily="34" charset="-122"/>
                          <a:cs typeface="Arial" pitchFamily="34" charset="-120"/>
                        </a:rPr>
                        <a:t>boot + periodic</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00" b="1" dirty="0">
                          <a:solidFill>
                            <a:srgbClr val="222A3F"/>
                          </a:solidFill>
                          <a:latin typeface="Courier New" pitchFamily="34" charset="0"/>
                          <a:ea typeface="Courier New" pitchFamily="34" charset="-122"/>
                          <a:cs typeface="Courier New" pitchFamily="34" charset="-120"/>
                        </a:rPr>
                        <a:t>~3 h</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00" dirty="0">
                          <a:solidFill>
                            <a:srgbClr val="222A3F"/>
                          </a:solidFill>
                          <a:latin typeface="Arial" pitchFamily="34" charset="0"/>
                          <a:ea typeface="Arial" pitchFamily="34" charset="-122"/>
                          <a:cs typeface="Arial" pitchFamily="34" charset="-120"/>
                        </a:rPr>
                        <a:t>names + public keys</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420624">
                <a:tc>
                  <a:txBody>
                    <a:bodyPr/>
                    <a:lstStyle/>
                    <a:p>
                      <a:pPr indent="0" marL="0">
                        <a:buNone/>
                      </a:pPr>
                      <a:r>
                        <a:rPr lang="en-US" sz="1100" dirty="0">
                          <a:solidFill>
                            <a:srgbClr val="222A3F"/>
                          </a:solidFill>
                          <a:latin typeface="Arial" pitchFamily="34" charset="0"/>
                          <a:ea typeface="Arial" pitchFamily="34" charset="-122"/>
                          <a:cs typeface="Arial" pitchFamily="34" charset="-120"/>
                        </a:rPr>
                        <a:t>Text / canned</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00" dirty="0">
                          <a:solidFill>
                            <a:srgbClr val="222A3F"/>
                          </a:solidFill>
                          <a:latin typeface="Arial" pitchFamily="34" charset="0"/>
                          <a:ea typeface="Arial" pitchFamily="34" charset="-122"/>
                          <a:cs typeface="Arial" pitchFamily="34" charset="-120"/>
                        </a:rPr>
                        <a:t>operator</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00" b="1" dirty="0">
                          <a:solidFill>
                            <a:srgbClr val="222A3F"/>
                          </a:solidFill>
                          <a:latin typeface="Courier New" pitchFamily="34" charset="0"/>
                          <a:ea typeface="Courier New" pitchFamily="34" charset="-122"/>
                          <a:cs typeface="Courier New" pitchFamily="34" charset="-120"/>
                        </a:rPr>
                        <a:t>on demand</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00" dirty="0">
                          <a:solidFill>
                            <a:srgbClr val="222A3F"/>
                          </a:solidFill>
                          <a:latin typeface="Arial" pitchFamily="34" charset="0"/>
                          <a:ea typeface="Arial" pitchFamily="34" charset="-122"/>
                          <a:cs typeface="Arial" pitchFamily="34" charset="-120"/>
                        </a:rPr>
                        <a:t>15-preset chain, both radios</a:t>
                      </a:r>
                      <a:endParaRPr lang="en-US" sz="110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bl>
          </a:graphicData>
        </a:graphic>
      </p:graphicFrame>
      <p:sp>
        <p:nvSpPr>
          <p:cNvPr id="11" name="Text 8"/>
          <p:cNvSpPr txBox="1"/>
          <p:nvPr/>
        </p:nvSpPr>
        <p:spPr>
          <a:xfrm>
            <a:off x="548640" y="3977640"/>
            <a:ext cx="7863840" cy="210312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Why 300 s: worst-case bench radio (parked, indoors, no fix) says nothing else — 30 min gaps let stale flash records flap the counters. A 5-min floor re-stamps peers 24× inside the 2 h window.</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Why not faster: liveness costs airtime like everything else — one ~0.5 s packet per 300 s is 0.17% of the channel; the same packet at 30 s would burn 10× that for no product value.</a:t>
            </a:r>
            <a:endParaRPr lang="en-US" sz="1200" dirty="0"/>
          </a:p>
          <a:p>
            <a:pPr marL="342900" indent="-342900">
              <a:buSzPct val="100000"/>
              <a:buChar char="▪"/>
            </a:pPr>
            <a:r>
              <a:rPr lang="en-US" sz="1200" dirty="0">
                <a:solidFill>
                  <a:srgbClr val="222A3F"/>
                </a:solidFill>
                <a:latin typeface="Arial" pitchFamily="34" charset="0"/>
                <a:ea typeface="Arial" pitchFamily="34" charset="-122"/>
                <a:cs typeface="Arial" pitchFamily="34" charset="-120"/>
              </a:rPr>
              <a:t>The design rule: every periodic packet must name the failure it prevents. Position → tracking staleness. Telemetry → counter lies. NodeInfo → unaddressable peers.</a:t>
            </a:r>
            <a:endParaRPr lang="en-US" sz="1200" dirty="0"/>
          </a:p>
        </p:txBody>
      </p:sp>
      <p:sp>
        <p:nvSpPr>
          <p:cNvPr id="12" name="Shape 9"/>
          <p:cNvSpPr/>
          <p:nvPr/>
        </p:nvSpPr>
        <p:spPr>
          <a:xfrm>
            <a:off x="8732520" y="3977640"/>
            <a:ext cx="2971800" cy="2057400"/>
          </a:xfrm>
          <a:prstGeom prst="rect">
            <a:avLst/>
          </a:prstGeom>
          <a:solidFill>
            <a:srgbClr val="16213D"/>
          </a:solidFill>
          <a:ln/>
        </p:spPr>
      </p:sp>
      <p:sp>
        <p:nvSpPr>
          <p:cNvPr id="13" name="Text 10"/>
          <p:cNvSpPr txBox="1"/>
          <p:nvPr/>
        </p:nvSpPr>
        <p:spPr>
          <a:xfrm>
            <a:off x="8915400" y="4114800"/>
            <a:ext cx="2651760" cy="1828800"/>
          </a:xfrm>
          <a:prstGeom prst="rect">
            <a:avLst/>
          </a:prstGeom>
          <a:noFill/>
          <a:ln/>
        </p:spPr>
        <p:txBody>
          <a:bodyPr wrap="square" lIns="0" tIns="0" rIns="0" bIns="0" rtlCol="0" anchor="ctr"/>
          <a:lstStyle/>
          <a:p>
            <a:pPr indent="0" marL="0">
              <a:spcAft>
                <a:spcPts val="500"/>
              </a:spcAft>
              <a:buNone/>
            </a:pPr>
            <a:r>
              <a:rPr lang="en-US" sz="1050" b="1" dirty="0">
                <a:solidFill>
                  <a:srgbClr val="E58E1A"/>
                </a:solidFill>
                <a:latin typeface="Courier New" pitchFamily="34" charset="0"/>
                <a:ea typeface="Courier New" pitchFamily="34" charset="-122"/>
                <a:cs typeface="Courier New" pitchFamily="34" charset="-120"/>
              </a:rPr>
              <a:t>MEASURED RESULT</a:t>
            </a:r>
            <a:endParaRPr lang="en-US" sz="1150" dirty="0"/>
          </a:p>
          <a:p>
            <a:pPr indent="0" marL="0">
              <a:buNone/>
            </a:pPr>
            <a:r>
              <a:rPr lang="en-US" sz="1150" dirty="0">
                <a:solidFill>
                  <a:srgbClr val="FFFFFF"/>
                </a:solidFill>
                <a:latin typeface="Arial" pitchFamily="34" charset="0"/>
                <a:ea typeface="Arial" pitchFamily="34" charset="-122"/>
                <a:cs typeface="Arial" pitchFamily="34" charset="-120"/>
              </a:rPr>
              <a:t>With the 5-min heartbeat both OLEDs hold “1 online” steadily on the bench — first time all week. Verified over 20+ min unplugged.</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AIRTIME ECONOMICS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09/18  REV E  2026-09-25</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AIRTIME: EVERY PACKET COSTS HALF A SECOND</a:t>
            </a:r>
            <a:endParaRPr lang="en-US" sz="2300" dirty="0"/>
          </a:p>
        </p:txBody>
      </p:sp>
      <p:pic>
        <p:nvPicPr>
          <p:cNvPr id="10" name="Image 0" descr="C:/Users/deogr/AppData/Local/Temp/claude/C--Users-deogr-Documents-Fall-Project-Off-Grid-Vehicle-dection-project/e8b2e8fa-1513-4aa8-a8f6-ce4fcd20e664/scratchpad/deck5/eq_toa.png">    </p:cNvPr>
          <p:cNvPicPr>
            <a:picLocks noChangeAspect="1"/>
          </p:cNvPicPr>
          <p:nvPr/>
        </p:nvPicPr>
        <p:blipFill>
          <a:blip r:embed="rId1"/>
          <a:stretch>
            <a:fillRect/>
          </a:stretch>
        </p:blipFill>
        <p:spPr>
          <a:xfrm>
            <a:off x="594360" y="1078992"/>
            <a:ext cx="6949440" cy="658368"/>
          </a:xfrm>
          <a:prstGeom prst="rect">
            <a:avLst/>
          </a:prstGeom>
        </p:spPr>
      </p:pic>
      <p:sp>
        <p:nvSpPr>
          <p:cNvPr id="11" name="Text 8"/>
          <p:cNvSpPr txBox="1"/>
          <p:nvPr/>
        </p:nvSpPr>
        <p:spPr>
          <a:xfrm>
            <a:off x="594360" y="1920240"/>
            <a:ext cx="6903720" cy="214884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SF11 trades speed for sensitivity: 2¹¹ = 2048 chips/symbol → 8.19 ms/symbol → ~0.5 s per position packet.</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Flood mesh default: every node REBROADCASTS what it hears (hop limit 3) — with 2 nodes, each packet flies twice for zero coverage gain.</a:t>
            </a:r>
            <a:endParaRPr lang="en-US" sz="1200" dirty="0"/>
          </a:p>
          <a:p>
            <a:pPr marL="342900" indent="-342900">
              <a:buSzPct val="100000"/>
              <a:buChar char="▪"/>
            </a:pPr>
            <a:r>
              <a:rPr lang="en-US" sz="1200" dirty="0">
                <a:solidFill>
                  <a:srgbClr val="222A3F"/>
                </a:solidFill>
                <a:latin typeface="Arial" pitchFamily="34" charset="0"/>
                <a:ea typeface="Arial" pitchFamily="34" charset="-122"/>
                <a:cs typeface="Arial" pitchFamily="34" charset="-120"/>
              </a:rPr>
              <a:t>Fix: role CLIENT_MUTE on both — send + receive everything, relay nothing. Utilization halved on the spot: 9–13% → ~5–6%.</a:t>
            </a:r>
            <a:endParaRPr lang="en-US" sz="1200" dirty="0"/>
          </a:p>
        </p:txBody>
      </p:sp>
      <p:sp>
        <p:nvSpPr>
          <p:cNvPr id="12" name="Shape 9"/>
          <p:cNvSpPr/>
          <p:nvPr/>
        </p:nvSpPr>
        <p:spPr>
          <a:xfrm>
            <a:off x="594360" y="4206240"/>
            <a:ext cx="6903720" cy="1783080"/>
          </a:xfrm>
          <a:prstGeom prst="rect">
            <a:avLst/>
          </a:prstGeom>
          <a:solidFill>
            <a:srgbClr val="F2F5FA"/>
          </a:solidFill>
          <a:ln w="12700">
            <a:solidFill>
              <a:srgbClr val="9AA7BE"/>
            </a:solidFill>
            <a:prstDash val="solid"/>
          </a:ln>
        </p:spPr>
      </p:sp>
      <p:sp>
        <p:nvSpPr>
          <p:cNvPr id="13" name="Text 10"/>
          <p:cNvSpPr txBox="1"/>
          <p:nvPr/>
        </p:nvSpPr>
        <p:spPr>
          <a:xfrm>
            <a:off x="777240" y="4297680"/>
            <a:ext cx="6583680" cy="256032"/>
          </a:xfrm>
          <a:prstGeom prst="rect">
            <a:avLst/>
          </a:prstGeom>
          <a:noFill/>
          <a:ln/>
        </p:spPr>
        <p:txBody>
          <a:bodyPr wrap="square" lIns="0" tIns="0" rIns="0" bIns="0" rtlCol="0" anchor="ctr"/>
          <a:lstStyle/>
          <a:p>
            <a:pPr indent="0" marL="0">
              <a:buNone/>
            </a:pPr>
            <a:r>
              <a:rPr lang="en-US" sz="1050" b="1" dirty="0">
                <a:solidFill>
                  <a:srgbClr val="16213D"/>
                </a:solidFill>
                <a:latin typeface="Courier New" pitchFamily="34" charset="0"/>
                <a:ea typeface="Courier New" pitchFamily="34" charset="-122"/>
                <a:cs typeface="Courier New" pitchFamily="34" charset="-120"/>
              </a:rPr>
              <a:t>VEHICLE-RATE BUDGET (both moving, 10 s cadence)</a:t>
            </a:r>
            <a:endParaRPr lang="en-US" sz="1050" dirty="0"/>
          </a:p>
        </p:txBody>
      </p:sp>
      <p:sp>
        <p:nvSpPr>
          <p:cNvPr id="14" name="Text 11"/>
          <p:cNvSpPr txBox="1"/>
          <p:nvPr/>
        </p:nvSpPr>
        <p:spPr>
          <a:xfrm>
            <a:off x="777240" y="4590288"/>
            <a:ext cx="6583680" cy="1325880"/>
          </a:xfrm>
          <a:prstGeom prst="rect">
            <a:avLst/>
          </a:prstGeom>
          <a:noFill/>
          <a:ln/>
        </p:spPr>
        <p:txBody>
          <a:bodyPr wrap="square" lIns="0" tIns="0" rIns="0" bIns="0" rtlCol="0" anchor="ctr"/>
          <a:lstStyle/>
          <a:p>
            <a:pPr indent="0" marL="0">
              <a:spcAft>
                <a:spcPts val="400"/>
              </a:spcAft>
              <a:buNone/>
            </a:pPr>
            <a:r>
              <a:rPr lang="en-US" sz="1050" dirty="0">
                <a:solidFill>
                  <a:srgbClr val="C43A4B"/>
                </a:solidFill>
                <a:latin typeface="Courier New" pitchFamily="34" charset="0"/>
                <a:ea typeface="Courier New" pitchFamily="34" charset="-122"/>
                <a:cs typeface="Courier New" pitchFamily="34" charset="-120"/>
              </a:rPr>
              <a:t>2 × (0.5 s / 10 s) = 10%   with relay:   ~20%  — brushes the throttle</a:t>
            </a:r>
            <a:endParaRPr lang="en-US" sz="1050" dirty="0"/>
          </a:p>
          <a:p>
            <a:pPr indent="0" marL="0">
              <a:spcAft>
                <a:spcPts val="600"/>
              </a:spcAft>
              <a:buNone/>
            </a:pPr>
            <a:r>
              <a:rPr lang="en-US" sz="1050" dirty="0">
                <a:solidFill>
                  <a:srgbClr val="1F9D68"/>
                </a:solidFill>
                <a:latin typeface="Courier New" pitchFamily="34" charset="0"/>
                <a:ea typeface="Courier New" pitchFamily="34" charset="-122"/>
                <a:cs typeface="Courier New" pitchFamily="34" charset="-120"/>
              </a:rPr>
              <a:t>2 × (0.5 s / 10 s) = 10%   CLIENT_MUTE:  ~10%  — 2.5× headroom held</a:t>
            </a:r>
            <a:endParaRPr lang="en-US" sz="1050" dirty="0"/>
          </a:p>
          <a:p>
            <a:pPr indent="0" marL="0">
              <a:buNone/>
            </a:pPr>
            <a:r>
              <a:rPr lang="en-US" sz="1050" dirty="0">
                <a:solidFill>
                  <a:srgbClr val="222A3F"/>
                </a:solidFill>
                <a:latin typeface="Arial" pitchFamily="34" charset="0"/>
                <a:ea typeface="Arial" pitchFamily="34" charset="-122"/>
                <a:cs typeface="Arial" pitchFamily="34" charset="-120"/>
              </a:rPr>
              <a:t>Meshtastic suppresses position broadcasts above ~25% utilization — the throttle would have eaten our 10 s cadence exactly when both vehicles moved.</a:t>
            </a:r>
            <a:endParaRPr lang="en-US" sz="1050" dirty="0"/>
          </a:p>
        </p:txBody>
      </p:sp>
      <p:pic>
        <p:nvPicPr>
          <p:cNvPr id="15" name="Image 1" descr="C:/Users/deogr/AppData/Local/Temp/claude/C--Users-deogr-Documents-Fall-Project-Off-Grid-Vehicle-dection-project/e8b2e8fa-1513-4aa8-a8f6-ce4fcd20e664/scratchpad/deck5/fig_chutil.png">    </p:cNvPr>
          <p:cNvPicPr>
            <a:picLocks noChangeAspect="1"/>
          </p:cNvPicPr>
          <p:nvPr/>
        </p:nvPicPr>
        <p:blipFill>
          <a:blip r:embed="rId2"/>
          <a:stretch>
            <a:fillRect/>
          </a:stretch>
        </p:blipFill>
        <p:spPr>
          <a:xfrm>
            <a:off x="7772400" y="1188720"/>
            <a:ext cx="3977640" cy="2606040"/>
          </a:xfrm>
          <a:prstGeom prst="rect">
            <a:avLst/>
          </a:prstGeom>
        </p:spPr>
      </p:pic>
      <p:sp>
        <p:nvSpPr>
          <p:cNvPr id="16" name="Shape 12"/>
          <p:cNvSpPr/>
          <p:nvPr/>
        </p:nvSpPr>
        <p:spPr>
          <a:xfrm>
            <a:off x="7772400" y="4023360"/>
            <a:ext cx="3977640" cy="1965960"/>
          </a:xfrm>
          <a:prstGeom prst="rect">
            <a:avLst/>
          </a:prstGeom>
          <a:solidFill>
            <a:srgbClr val="16213D"/>
          </a:solidFill>
          <a:ln/>
        </p:spPr>
      </p:sp>
      <p:sp>
        <p:nvSpPr>
          <p:cNvPr id="17" name="Text 13"/>
          <p:cNvSpPr txBox="1"/>
          <p:nvPr/>
        </p:nvSpPr>
        <p:spPr>
          <a:xfrm>
            <a:off x="7955280" y="4160520"/>
            <a:ext cx="3611880" cy="1737360"/>
          </a:xfrm>
          <a:prstGeom prst="rect">
            <a:avLst/>
          </a:prstGeom>
          <a:noFill/>
          <a:ln/>
        </p:spPr>
        <p:txBody>
          <a:bodyPr wrap="square" lIns="0" tIns="0" rIns="0" bIns="0" rtlCol="0" anchor="ctr"/>
          <a:lstStyle/>
          <a:p>
            <a:pPr indent="0" marL="0">
              <a:spcAft>
                <a:spcPts val="500"/>
              </a:spcAft>
              <a:buNone/>
            </a:pPr>
            <a:r>
              <a:rPr lang="en-US" sz="1050" b="1" dirty="0">
                <a:solidFill>
                  <a:srgbClr val="E58E1A"/>
                </a:solidFill>
                <a:latin typeface="Courier New" pitchFamily="34" charset="0"/>
                <a:ea typeface="Courier New" pitchFamily="34" charset="-122"/>
                <a:cs typeface="Courier New" pitchFamily="34" charset="-120"/>
              </a:rPr>
              <a:t>REVERT CONDITION</a:t>
            </a:r>
            <a:endParaRPr lang="en-US" sz="1150" dirty="0"/>
          </a:p>
          <a:p>
            <a:pPr indent="0" marL="0">
              <a:buNone/>
            </a:pPr>
            <a:r>
              <a:rPr lang="en-US" sz="1150" dirty="0">
                <a:solidFill>
                  <a:srgbClr val="FFFFFF"/>
                </a:solidFill>
                <a:latin typeface="Arial" pitchFamily="34" charset="0"/>
                <a:ea typeface="Arial" pitchFamily="34" charset="-122"/>
                <a:cs typeface="Arial" pitchFamily="34" charset="-120"/>
              </a:rPr>
              <a:t>CLIENT_MUTE is correct only while the mesh has exactly two nodes. Add a third radio or a relay and both must return to CLIENT — written into the provisioning recipe.</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LINK BUDGET</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10/18  REV E  2026-09-25</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LINK BUDGET: FROM BENCH METERS TO FIELD KILOMETERS</a:t>
            </a:r>
            <a:endParaRPr lang="en-US" sz="2300" dirty="0"/>
          </a:p>
        </p:txBody>
      </p:sp>
      <p:pic>
        <p:nvPicPr>
          <p:cNvPr id="10" name="Image 0" descr="C:/Users/deogr/AppData/Local/Temp/claude/C--Users-deogr-Documents-Fall-Project-Off-Grid-Vehicle-dection-project/e8b2e8fa-1513-4aa8-a8f6-ce4fcd20e664/scratchpad/deck5/eq_budget.png">    </p:cNvPr>
          <p:cNvPicPr>
            <a:picLocks noChangeAspect="1"/>
          </p:cNvPicPr>
          <p:nvPr/>
        </p:nvPicPr>
        <p:blipFill>
          <a:blip r:embed="rId1"/>
          <a:stretch>
            <a:fillRect/>
          </a:stretch>
        </p:blipFill>
        <p:spPr>
          <a:xfrm>
            <a:off x="594360" y="1078992"/>
            <a:ext cx="7498080" cy="603504"/>
          </a:xfrm>
          <a:prstGeom prst="rect">
            <a:avLst/>
          </a:prstGeom>
        </p:spPr>
      </p:pic>
      <p:pic>
        <p:nvPicPr>
          <p:cNvPr id="11" name="Image 1" descr="C:/Users/deogr/AppData/Local/Temp/claude/C--Users-deogr-Documents-Fall-Project-Off-Grid-Vehicle-dection-project/e8b2e8fa-1513-4aa8-a8f6-ce4fcd20e664/scratchpad/deck5/fig_linkbudget.png">    </p:cNvPr>
          <p:cNvPicPr>
            <a:picLocks noChangeAspect="1"/>
          </p:cNvPicPr>
          <p:nvPr/>
        </p:nvPicPr>
        <p:blipFill>
          <a:blip r:embed="rId2"/>
          <a:stretch>
            <a:fillRect/>
          </a:stretch>
        </p:blipFill>
        <p:spPr>
          <a:xfrm>
            <a:off x="594360" y="1874520"/>
            <a:ext cx="5989320" cy="4023360"/>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858000" y="1874520"/>
          <a:ext cx="4892040" cy="914400"/>
        </p:xfrm>
        <a:graphic>
          <a:graphicData uri="http://schemas.openxmlformats.org/drawingml/2006/table">
            <a:tbl>
              <a:tblPr/>
              <a:tblGrid>
                <a:gridCol w="1554480"/>
                <a:gridCol w="1325880"/>
                <a:gridCol w="2011680"/>
              </a:tblGrid>
              <a:tr h="402336">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TERM</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VALUE</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SOURCE</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r>
              <a:tr h="402336">
                <a:tc>
                  <a:txBody>
                    <a:bodyPr/>
                    <a:lstStyle/>
                    <a:p>
                      <a:pPr indent="0" marL="0">
                        <a:buNone/>
                      </a:pPr>
                      <a:r>
                        <a:rPr lang="en-US" sz="1050" dirty="0">
                          <a:solidFill>
                            <a:srgbClr val="222A3F"/>
                          </a:solidFill>
                          <a:latin typeface="Arial" pitchFamily="34" charset="0"/>
                          <a:ea typeface="Arial" pitchFamily="34" charset="-122"/>
                          <a:cs typeface="Arial" pitchFamily="34" charset="-120"/>
                        </a:rPr>
                        <a:t>TX power</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+30 dBm</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config, verified both radios</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402336">
                <a:tc>
                  <a:txBody>
                    <a:bodyPr/>
                    <a:lstStyle/>
                    <a:p>
                      <a:pPr indent="0" marL="0">
                        <a:buNone/>
                      </a:pPr>
                      <a:r>
                        <a:rPr lang="en-US" sz="1050" dirty="0">
                          <a:solidFill>
                            <a:srgbClr val="222A3F"/>
                          </a:solidFill>
                          <a:latin typeface="Arial" pitchFamily="34" charset="0"/>
                          <a:ea typeface="Arial" pitchFamily="34" charset="-122"/>
                          <a:cs typeface="Arial" pitchFamily="34" charset="-120"/>
                        </a:rPr>
                        <a:t>Antenna gains</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~0 dBi × 2</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stock SMA whips</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402336">
                <a:tc>
                  <a:txBody>
                    <a:bodyPr/>
                    <a:lstStyle/>
                    <a:p>
                      <a:pPr indent="0" marL="0">
                        <a:buNone/>
                      </a:pPr>
                      <a:r>
                        <a:rPr lang="en-US" sz="1050" dirty="0">
                          <a:solidFill>
                            <a:srgbClr val="222A3F"/>
                          </a:solidFill>
                          <a:latin typeface="Arial" pitchFamily="34" charset="0"/>
                          <a:ea typeface="Arial" pitchFamily="34" charset="-122"/>
                          <a:cs typeface="Arial" pitchFamily="34" charset="-120"/>
                        </a:rPr>
                        <a:t>Sensitivity S</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−131 dBm</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SX1262 DS, SF11/250 kHz</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402336">
                <a:tc>
                  <a:txBody>
                    <a:bodyPr/>
                    <a:lstStyle/>
                    <a:p>
                      <a:pPr indent="0" marL="0">
                        <a:buNone/>
                      </a:pPr>
                      <a:r>
                        <a:rPr lang="en-US" sz="1050" dirty="0">
                          <a:solidFill>
                            <a:srgbClr val="222A3F"/>
                          </a:solidFill>
                          <a:latin typeface="Arial" pitchFamily="34" charset="0"/>
                          <a:ea typeface="Arial" pitchFamily="34" charset="-122"/>
                          <a:cs typeface="Arial" pitchFamily="34" charset="-120"/>
                        </a:rPr>
                        <a:t>Total budget</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161 dB</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P_tx − S</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402336">
                <a:tc>
                  <a:txBody>
                    <a:bodyPr/>
                    <a:lstStyle/>
                    <a:p>
                      <a:pPr indent="0" marL="0">
                        <a:buNone/>
                      </a:pPr>
                      <a:r>
                        <a:rPr lang="en-US" sz="1050" dirty="0">
                          <a:solidFill>
                            <a:srgbClr val="E58E1A"/>
                          </a:solidFill>
                          <a:latin typeface="Arial" pitchFamily="34" charset="0"/>
                          <a:ea typeface="Arial" pitchFamily="34" charset="-122"/>
                          <a:cs typeface="Arial" pitchFamily="34" charset="-120"/>
                        </a:rPr>
                        <a:t>Free-space limit</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b="1" dirty="0">
                          <a:solidFill>
                            <a:srgbClr val="E58E1A"/>
                          </a:solidFill>
                          <a:latin typeface="Courier New" pitchFamily="34" charset="0"/>
                          <a:ea typeface="Courier New" pitchFamily="34" charset="-122"/>
                          <a:cs typeface="Courier New" pitchFamily="34" charset="-120"/>
                        </a:rPr>
                        <a:t>~10² km</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E58E1A"/>
                          </a:solidFill>
                          <a:latin typeface="Arial" pitchFamily="34" charset="0"/>
                          <a:ea typeface="Arial" pitchFamily="34" charset="-122"/>
                          <a:cs typeface="Arial" pitchFamily="34" charset="-120"/>
                        </a:rPr>
                        <a:t>where the curve crosses S</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402336">
                <a:tc>
                  <a:txBody>
                    <a:bodyPr/>
                    <a:lstStyle/>
                    <a:p>
                      <a:pPr indent="0" marL="0">
                        <a:buNone/>
                      </a:pPr>
                      <a:r>
                        <a:rPr lang="en-US" sz="1050" dirty="0">
                          <a:solidFill>
                            <a:srgbClr val="E58E1A"/>
                          </a:solidFill>
                          <a:latin typeface="Arial" pitchFamily="34" charset="0"/>
                          <a:ea typeface="Arial" pitchFamily="34" charset="-122"/>
                          <a:cs typeface="Arial" pitchFamily="34" charset="-120"/>
                        </a:rPr>
                        <a:t>Design target</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b="1" dirty="0">
                          <a:solidFill>
                            <a:srgbClr val="E58E1A"/>
                          </a:solidFill>
                          <a:latin typeface="Courier New" pitchFamily="34" charset="0"/>
                          <a:ea typeface="Courier New" pitchFamily="34" charset="-122"/>
                          <a:cs typeface="Courier New" pitchFamily="34" charset="-120"/>
                        </a:rPr>
                        <a:t>3–5 km</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E58E1A"/>
                          </a:solidFill>
                          <a:latin typeface="Arial" pitchFamily="34" charset="0"/>
                          <a:ea typeface="Arial" pitchFamily="34" charset="-122"/>
                          <a:cs typeface="Arial" pitchFamily="34" charset="-120"/>
                        </a:rPr>
                        <a:t>with 20 dB terrain margin</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bl>
          </a:graphicData>
        </a:graphic>
      </p:graphicFrame>
      <p:sp>
        <p:nvSpPr>
          <p:cNvPr id="13" name="Text 8"/>
          <p:cNvSpPr txBox="1"/>
          <p:nvPr/>
        </p:nvSpPr>
        <p:spPr>
          <a:xfrm>
            <a:off x="6858000" y="4892040"/>
            <a:ext cx="4892040" cy="1097280"/>
          </a:xfrm>
          <a:prstGeom prst="rect">
            <a:avLst/>
          </a:prstGeom>
          <a:noFill/>
          <a:ln/>
        </p:spPr>
        <p:txBody>
          <a:bodyPr wrap="square" lIns="0" tIns="0" rIns="0" bIns="0" rtlCol="0" anchor="ctr"/>
          <a:lstStyle/>
          <a:p>
            <a:pPr indent="0" marL="0">
              <a:buNone/>
            </a:pPr>
            <a:r>
              <a:rPr lang="en-US" sz="1100" dirty="0">
                <a:solidFill>
                  <a:srgbClr val="222A3F"/>
                </a:solidFill>
                <a:latin typeface="Arial" pitchFamily="34" charset="0"/>
                <a:ea typeface="Arial" pitchFamily="34" charset="-122"/>
                <a:cs typeface="Arial" pitchFamily="34" charset="-120"/>
              </a:rPr>
              <a:t>Free space flatters: real streets add clutter, Fresnel blockage, and fading. The 20 dB margin line is the honest design curve — the W8–W9 range test measures where reality sits between the two.</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DISPLAY ENCLOSURE: REQUIREMENT</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11/18  REV E  2026-09-25</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6D4BDB"/>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6D4BDB"/>
                </a:solidFill>
                <a:latin typeface="Courier New" pitchFamily="34" charset="0"/>
                <a:ea typeface="Courier New" pitchFamily="34" charset="-122"/>
                <a:cs typeface="Courier New" pitchFamily="34" charset="-120"/>
              </a:rPr>
              <a:t>OWNER: JOSIAH</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DISPLAY NEEDS ARMOR: CASE SELECTION</a:t>
            </a:r>
            <a:endParaRPr lang="en-US" sz="2300" dirty="0"/>
          </a:p>
        </p:txBody>
      </p:sp>
      <p:sp>
        <p:nvSpPr>
          <p:cNvPr id="10" name="Shape 8"/>
          <p:cNvSpPr/>
          <p:nvPr/>
        </p:nvSpPr>
        <p:spPr>
          <a:xfrm>
            <a:off x="548640" y="1097280"/>
            <a:ext cx="6035040" cy="1051560"/>
          </a:xfrm>
          <a:prstGeom prst="rect">
            <a:avLst/>
          </a:prstGeom>
          <a:solidFill>
            <a:srgbClr val="FBEEEF"/>
          </a:solidFill>
          <a:ln w="19050">
            <a:solidFill>
              <a:srgbClr val="C43A4B"/>
            </a:solidFill>
            <a:prstDash val="solid"/>
          </a:ln>
        </p:spPr>
      </p:sp>
      <p:sp>
        <p:nvSpPr>
          <p:cNvPr id="11" name="Text 9"/>
          <p:cNvSpPr txBox="1"/>
          <p:nvPr/>
        </p:nvSpPr>
        <p:spPr>
          <a:xfrm>
            <a:off x="731520" y="1188720"/>
            <a:ext cx="5715000" cy="868680"/>
          </a:xfrm>
          <a:prstGeom prst="rect">
            <a:avLst/>
          </a:prstGeom>
          <a:noFill/>
          <a:ln/>
        </p:spPr>
        <p:txBody>
          <a:bodyPr wrap="square" lIns="0" tIns="0" rIns="0" bIns="0" rtlCol="0" anchor="ctr"/>
          <a:lstStyle/>
          <a:p>
            <a:pPr indent="0" marL="0">
              <a:buNone/>
            </a:pPr>
            <a:r>
              <a:rPr lang="en-US" sz="1050" b="1" dirty="0">
                <a:solidFill>
                  <a:srgbClr val="C43A4B"/>
                </a:solidFill>
                <a:latin typeface="Courier New" pitchFamily="34" charset="0"/>
                <a:ea typeface="Courier New" pitchFamily="34" charset="-122"/>
                <a:cs typeface="Courier New" pitchFamily="34" charset="-120"/>
              </a:rPr>
              <a:t>WHY NOW  </a:t>
            </a:r>
            <a:pPr indent="0" marL="0">
              <a:buNone/>
            </a:pPr>
            <a:r>
              <a:rPr lang="en-US" sz="1150" dirty="0">
                <a:solidFill>
                  <a:srgbClr val="222A3F"/>
                </a:solidFill>
                <a:latin typeface="Arial" pitchFamily="34" charset="0"/>
                <a:ea typeface="Arial" pitchFamily="34" charset="-122"/>
                <a:cs typeface="Arial" pitchFamily="34" charset="-120"/>
              </a:rPr>
              <a:t>our first Waveshare RLCD arrived with a cracked, non-functional panel. The replacement will NOT ride bare: a naked glass panel in a vehicle is a repeat incident waiting to happen.</a:t>
            </a:r>
            <a:endParaRPr lang="en-US" sz="1050" dirty="0"/>
          </a:p>
        </p:txBody>
      </p:sp>
      <p:sp>
        <p:nvSpPr>
          <p:cNvPr id="12" name="Text 10"/>
          <p:cNvSpPr txBox="1"/>
          <p:nvPr/>
        </p:nvSpPr>
        <p:spPr>
          <a:xfrm>
            <a:off x="548640" y="2331720"/>
            <a:ext cx="6035040" cy="146304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REQUIREMENTS — protect the glass and edges; keep USB-C + SD card reachable (setup and logs);</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keep all 3 board buttons usable; keep 18650 battery bay, speaker and rear connector open;</a:t>
            </a:r>
            <a:endParaRPr lang="en-US" sz="1200" dirty="0"/>
          </a:p>
          <a:p>
            <a:pPr marL="342900" indent="-342900">
              <a:buSzPct val="100000"/>
              <a:buChar char="▪"/>
            </a:pPr>
            <a:r>
              <a:rPr lang="en-US" sz="1200" dirty="0">
                <a:solidFill>
                  <a:srgbClr val="222A3F"/>
                </a:solidFill>
                <a:latin typeface="Arial" pitchFamily="34" charset="0"/>
                <a:ea typeface="Arial" pitchFamily="34" charset="-122"/>
                <a:cs typeface="Arial" pitchFamily="34" charset="-120"/>
              </a:rPr>
              <a:t>plastic body only — zero RF shielding of the BLE antenna; printable overnight on a hobby printer.</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3977640"/>
          <a:ext cx="6035040" cy="914400"/>
        </p:xfrm>
        <a:graphic>
          <a:graphicData uri="http://schemas.openxmlformats.org/drawingml/2006/table">
            <a:tbl>
              <a:tblPr/>
              <a:tblGrid>
                <a:gridCol w="1600200"/>
                <a:gridCol w="4434840"/>
              </a:tblGrid>
              <a:tr h="352044">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FIELD</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SELECTED MODEL</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r>
              <a:tr h="352044">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Name</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Symmetrical case for WaveShare ESP32-S3 4.2″ RLCD</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52044">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Author / source</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AWSW · Printables model 1610004</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License</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CC BY-NC 4.0 (attribution, non-commercial) — fits a class project</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52044">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Parts</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7 printed pieces: front frame, 2-piece back, 3 button caps (+ feet)</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Fasteners</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4× M2.5×6 machine screws into the panel’s existing rear holes</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bl>
          </a:graphicData>
        </a:graphic>
      </p:graphicFrame>
      <p:pic>
        <p:nvPicPr>
          <p:cNvPr id="14" name="Image 0" descr="C:/Users/deogr/AppData/Local/Temp/claude/C--Users-deogr-Documents-Fall-Project-Off-Grid-Vehicle-dection-project/e8b2e8fa-1513-4aa8-a8f6-ce4fcd20e664/scratchpad/deck5/case_front.jpg">    </p:cNvPr>
          <p:cNvPicPr>
            <a:picLocks noChangeAspect="1"/>
          </p:cNvPicPr>
          <p:nvPr/>
        </p:nvPicPr>
        <p:blipFill>
          <a:blip r:embed="rId1"/>
          <a:stretch>
            <a:fillRect/>
          </a:stretch>
        </p:blipFill>
        <p:spPr>
          <a:xfrm>
            <a:off x="6995160" y="1234440"/>
            <a:ext cx="4663440" cy="3493008"/>
          </a:xfrm>
          <a:prstGeom prst="rect">
            <a:avLst/>
          </a:prstGeom>
        </p:spPr>
      </p:pic>
      <p:sp>
        <p:nvSpPr>
          <p:cNvPr id="15" name="Shape 11"/>
          <p:cNvSpPr/>
          <p:nvPr/>
        </p:nvSpPr>
        <p:spPr>
          <a:xfrm>
            <a:off x="6995160" y="1234440"/>
            <a:ext cx="4663440" cy="3493008"/>
          </a:xfrm>
          <a:prstGeom prst="rect">
            <a:avLst/>
          </a:prstGeom>
          <a:ln w="12700">
            <a:solidFill>
              <a:srgbClr val="9AA7BE"/>
            </a:solidFill>
            <a:prstDash val="solid"/>
          </a:ln>
        </p:spPr>
      </p:sp>
      <p:sp>
        <p:nvSpPr>
          <p:cNvPr id="16" name="Text 12"/>
          <p:cNvSpPr txBox="1"/>
          <p:nvPr/>
        </p:nvSpPr>
        <p:spPr>
          <a:xfrm>
            <a:off x="6720840" y="4754880"/>
            <a:ext cx="5212080" cy="274320"/>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the model, assembled: symmetrical bezel, glass fully framed (author’s photo, Printables 1610004)</a:t>
            </a:r>
            <a:endParaRPr lang="en-US" sz="900" dirty="0"/>
          </a:p>
        </p:txBody>
      </p:sp>
      <p:sp>
        <p:nvSpPr>
          <p:cNvPr id="17" name="Shape 13"/>
          <p:cNvSpPr/>
          <p:nvPr/>
        </p:nvSpPr>
        <p:spPr>
          <a:xfrm>
            <a:off x="6995160" y="5120640"/>
            <a:ext cx="4663440" cy="914400"/>
          </a:xfrm>
          <a:prstGeom prst="rect">
            <a:avLst/>
          </a:prstGeom>
          <a:solidFill>
            <a:srgbClr val="16213D"/>
          </a:solidFill>
          <a:ln/>
        </p:spPr>
      </p:sp>
      <p:sp>
        <p:nvSpPr>
          <p:cNvPr id="18" name="Text 14"/>
          <p:cNvSpPr txBox="1"/>
          <p:nvPr/>
        </p:nvSpPr>
        <p:spPr>
          <a:xfrm>
            <a:off x="7178040" y="5212080"/>
            <a:ext cx="4297680" cy="749808"/>
          </a:xfrm>
          <a:prstGeom prst="rect">
            <a:avLst/>
          </a:prstGeom>
          <a:noFill/>
          <a:ln/>
        </p:spPr>
        <p:txBody>
          <a:bodyPr wrap="square" lIns="0" tIns="0" rIns="0" bIns="0" rtlCol="0" anchor="ctr"/>
          <a:lstStyle/>
          <a:p>
            <a:pPr indent="0" marL="0">
              <a:buNone/>
            </a:pPr>
            <a:r>
              <a:rPr lang="en-US" sz="1000" b="1" dirty="0">
                <a:solidFill>
                  <a:srgbClr val="E58E1A"/>
                </a:solidFill>
                <a:latin typeface="Courier New" pitchFamily="34" charset="0"/>
                <a:ea typeface="Courier New" pitchFamily="34" charset="-122"/>
                <a:cs typeface="Courier New" pitchFamily="34" charset="-120"/>
              </a:rPr>
              <a:t>BUY vs PRINT  </a:t>
            </a:r>
            <a:pPr indent="0" marL="0">
              <a:buNone/>
            </a:pPr>
            <a:r>
              <a:rPr lang="en-US" sz="1100" dirty="0">
                <a:solidFill>
                  <a:srgbClr val="FFFFFF"/>
                </a:solidFill>
                <a:latin typeface="Arial" pitchFamily="34" charset="0"/>
                <a:ea typeface="Arial" pitchFamily="34" charset="-122"/>
                <a:cs typeface="Arial" pitchFamily="34" charset="-120"/>
              </a:rPr>
              <a:t>no commercial case exists for this panel. Printing one costs ~40 g of filament (~$1) and one printer-night.</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PRINT ENGINEERING</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12/18  REV E  2026-09-25</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6D4BDB"/>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6D4BDB"/>
                </a:solidFill>
                <a:latin typeface="Courier New" pitchFamily="34" charset="0"/>
                <a:ea typeface="Courier New" pitchFamily="34" charset="-122"/>
                <a:cs typeface="Courier New" pitchFamily="34" charset="-120"/>
              </a:rPr>
              <a:t>OWNER: JOSIAH</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PRINT ENGINEERING: PARTS, SETTINGS, SLICING</a:t>
            </a:r>
            <a:endParaRPr lang="en-US" sz="23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6400800" cy="914400"/>
        </p:xfrm>
        <a:graphic>
          <a:graphicData uri="http://schemas.openxmlformats.org/drawingml/2006/table">
            <a:tbl>
              <a:tblPr/>
              <a:tblGrid>
                <a:gridCol w="1965960"/>
                <a:gridCol w="2423160"/>
                <a:gridCol w="2011680"/>
              </a:tblGrid>
              <a:tr h="420624">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PART FILE</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ROLE</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PRINT NOTE</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r>
              <a:tr h="420624">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front.3mf</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display frame — the armor</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largest part; fuzzy-skin outer walls</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420624">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leftback / rightback.3mf</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two-piece rear cover</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splits to keep battery bay open</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420624">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button1/2/3.3mf</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cap extensions for the 3 board buttons</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tiny — printed sequentially</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420624">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*-with-settings.3mf</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author’s pre-sliced plates</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settings embedded, our starting point</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bl>
          </a:graphicData>
        </a:graphic>
      </p:graphicFrame>
      <p:sp>
        <p:nvSpPr>
          <p:cNvPr id="11" name="Text 8"/>
          <p:cNvSpPr txBox="1"/>
          <p:nvPr/>
        </p:nvSpPr>
        <p:spPr>
          <a:xfrm>
            <a:off x="548640" y="3429000"/>
            <a:ext cx="6400800" cy="260604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222A3F"/>
                </a:solidFill>
                <a:latin typeface="Arial" pitchFamily="34" charset="0"/>
                <a:ea typeface="Arial" pitchFamily="34" charset="-122"/>
                <a:cs typeface="Arial" pitchFamily="34" charset="-120"/>
              </a:rPr>
              <a:t>0.2 mm layers, speed profile — layer height: the vertical slice thickness; 0.2 is the strength/time workhorse.</a:t>
            </a:r>
            <a:endParaRPr lang="en-US" sz="1150" dirty="0"/>
          </a:p>
          <a:p>
            <a:pPr marL="342900" indent="-342900">
              <a:spcAft>
                <a:spcPts val="600"/>
              </a:spcAft>
              <a:buSzPct val="100000"/>
              <a:buChar char="▪"/>
            </a:pPr>
            <a:r>
              <a:rPr lang="en-US" sz="1150" dirty="0">
                <a:solidFill>
                  <a:srgbClr val="222A3F"/>
                </a:solidFill>
                <a:latin typeface="Arial" pitchFamily="34" charset="0"/>
                <a:ea typeface="Arial" pitchFamily="34" charset="-122"/>
                <a:cs typeface="Arial" pitchFamily="34" charset="-120"/>
              </a:rPr>
              <a:t>Organic supports, bed-only — supports: sacrificial scaffolding under overhangs; ‘organic’ = tree-shaped, less scar.</a:t>
            </a:r>
            <a:endParaRPr lang="en-US" sz="1150" dirty="0"/>
          </a:p>
          <a:p>
            <a:pPr marL="342900" indent="-342900">
              <a:spcAft>
                <a:spcPts val="600"/>
              </a:spcAft>
              <a:buSzPct val="100000"/>
              <a:buChar char="▪"/>
            </a:pPr>
            <a:r>
              <a:rPr lang="en-US" sz="1150" dirty="0">
                <a:solidFill>
                  <a:srgbClr val="222A3F"/>
                </a:solidFill>
                <a:latin typeface="Arial" pitchFamily="34" charset="0"/>
                <a:ea typeface="Arial" pitchFamily="34" charset="-122"/>
                <a:cs typeface="Arial" pitchFamily="34" charset="-120"/>
              </a:rPr>
              <a:t>Fuzzy skin on outer walls — the nozzle jitters to texture the surface: hides layer lines, adds grip.</a:t>
            </a:r>
            <a:endParaRPr lang="en-US" sz="1150" dirty="0"/>
          </a:p>
          <a:p>
            <a:pPr marL="342900" indent="-342900">
              <a:spcAft>
                <a:spcPts val="600"/>
              </a:spcAft>
              <a:buSzPct val="100000"/>
              <a:buChar char="▪"/>
            </a:pPr>
            <a:r>
              <a:rPr lang="en-US" sz="1150" dirty="0">
                <a:solidFill>
                  <a:srgbClr val="222A3F"/>
                </a:solidFill>
                <a:latin typeface="Arial" pitchFamily="34" charset="0"/>
                <a:ea typeface="Arial" pitchFamily="34" charset="-122"/>
                <a:cs typeface="Arial" pitchFamily="34" charset="-120"/>
              </a:rPr>
              <a:t>No brim; satin sheet — brim: a helper skirt for bed adhesion (not needed); sheet = the print-bed surface finish.</a:t>
            </a:r>
            <a:endParaRPr lang="en-US" sz="1150" dirty="0"/>
          </a:p>
          <a:p>
            <a:pPr marL="342900" indent="-342900">
              <a:buSzPct val="100000"/>
              <a:buChar char="▪"/>
            </a:pPr>
            <a:r>
              <a:rPr lang="en-US" sz="1150" dirty="0">
                <a:solidFill>
                  <a:srgbClr val="222A3F"/>
                </a:solidFill>
                <a:latin typeface="Arial" pitchFamily="34" charset="0"/>
                <a:ea typeface="Arial" pitchFamily="34" charset="-122"/>
                <a:cs typeface="Arial" pitchFamily="34" charset="-120"/>
              </a:rPr>
              <a:t>Sequential (‘separate part’) printing — each small part completes alone: one failure cannot ruin the plate.</a:t>
            </a:r>
            <a:endParaRPr lang="en-US" sz="1150" dirty="0"/>
          </a:p>
        </p:txBody>
      </p:sp>
      <p:pic>
        <p:nvPicPr>
          <p:cNvPr id="12" name="Image 0" descr="C:/Users/deogr/AppData/Local/Temp/claude/C--Users-deogr-Documents-Fall-Project-Off-Grid-Vehicle-dection-project/e8b2e8fa-1513-4aa8-a8f6-ce4fcd20e664/scratchpad/deck5/case_printbed.jpg">    </p:cNvPr>
          <p:cNvPicPr>
            <a:picLocks noChangeAspect="1"/>
          </p:cNvPicPr>
          <p:nvPr/>
        </p:nvPicPr>
        <p:blipFill>
          <a:blip r:embed="rId1"/>
          <a:stretch>
            <a:fillRect/>
          </a:stretch>
        </p:blipFill>
        <p:spPr>
          <a:xfrm>
            <a:off x="7269480" y="1097280"/>
            <a:ext cx="4389120" cy="3291840"/>
          </a:xfrm>
          <a:prstGeom prst="rect">
            <a:avLst/>
          </a:prstGeom>
        </p:spPr>
      </p:pic>
      <p:sp>
        <p:nvSpPr>
          <p:cNvPr id="13" name="Shape 9"/>
          <p:cNvSpPr/>
          <p:nvPr/>
        </p:nvSpPr>
        <p:spPr>
          <a:xfrm>
            <a:off x="7269480" y="1097280"/>
            <a:ext cx="4389120" cy="3291840"/>
          </a:xfrm>
          <a:prstGeom prst="rect">
            <a:avLst/>
          </a:prstGeom>
          <a:ln w="12700">
            <a:solidFill>
              <a:srgbClr val="9AA7BE"/>
            </a:solidFill>
            <a:prstDash val="solid"/>
          </a:ln>
        </p:spPr>
      </p:sp>
      <p:sp>
        <p:nvSpPr>
          <p:cNvPr id="14" name="Text 10"/>
          <p:cNvSpPr txBox="1"/>
          <p:nvPr/>
        </p:nvSpPr>
        <p:spPr>
          <a:xfrm>
            <a:off x="6995160" y="4416552"/>
            <a:ext cx="4937760" cy="274320"/>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author’s plate on a Prusa MK3: frame with organic supports, buttons + feet printed sequentially</a:t>
            </a:r>
            <a:endParaRPr lang="en-US" sz="900" dirty="0"/>
          </a:p>
        </p:txBody>
      </p:sp>
      <p:pic>
        <p:nvPicPr>
          <p:cNvPr id="15" name="Image 1" descr="C:/Users/deogr/AppData/Local/Temp/claude/C--Users-deogr-Documents-Fall-Project-Off-Grid-Vehicle-dection-project/e8b2e8fa-1513-4aa8-a8f6-ce4fcd20e664/scratchpad/deck5/case_buttons.jpg">    </p:cNvPr>
          <p:cNvPicPr>
            <a:picLocks noChangeAspect="1"/>
          </p:cNvPicPr>
          <p:nvPr/>
        </p:nvPicPr>
        <p:blipFill>
          <a:blip r:embed="rId2"/>
          <a:stretch>
            <a:fillRect/>
          </a:stretch>
        </p:blipFill>
        <p:spPr>
          <a:xfrm>
            <a:off x="7269480" y="4617720"/>
            <a:ext cx="1920240" cy="1280160"/>
          </a:xfrm>
          <a:prstGeom prst="rect">
            <a:avLst/>
          </a:prstGeom>
        </p:spPr>
      </p:pic>
      <p:sp>
        <p:nvSpPr>
          <p:cNvPr id="16" name="Shape 11"/>
          <p:cNvSpPr/>
          <p:nvPr/>
        </p:nvSpPr>
        <p:spPr>
          <a:xfrm>
            <a:off x="7269480" y="4617720"/>
            <a:ext cx="1920240" cy="1280160"/>
          </a:xfrm>
          <a:prstGeom prst="rect">
            <a:avLst/>
          </a:prstGeom>
          <a:ln w="12700">
            <a:solidFill>
              <a:srgbClr val="9AA7BE"/>
            </a:solidFill>
            <a:prstDash val="solid"/>
          </a:ln>
        </p:spPr>
      </p:sp>
      <p:sp>
        <p:nvSpPr>
          <p:cNvPr id="17" name="Text 12"/>
          <p:cNvSpPr txBox="1"/>
          <p:nvPr/>
        </p:nvSpPr>
        <p:spPr>
          <a:xfrm>
            <a:off x="6995160" y="5925312"/>
            <a:ext cx="2468880" cy="274320"/>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fuzzy skin + button caps</a:t>
            </a:r>
            <a:endParaRPr lang="en-US" sz="900" dirty="0"/>
          </a:p>
        </p:txBody>
      </p:sp>
      <p:sp>
        <p:nvSpPr>
          <p:cNvPr id="18" name="Shape 13"/>
          <p:cNvSpPr/>
          <p:nvPr/>
        </p:nvSpPr>
        <p:spPr>
          <a:xfrm>
            <a:off x="9555480" y="4617720"/>
            <a:ext cx="2103120" cy="1280160"/>
          </a:xfrm>
          <a:prstGeom prst="rect">
            <a:avLst/>
          </a:prstGeom>
          <a:solidFill>
            <a:srgbClr val="F2F5FA"/>
          </a:solidFill>
          <a:ln w="15875">
            <a:solidFill>
              <a:srgbClr val="6D4BDB"/>
            </a:solidFill>
            <a:prstDash val="solid"/>
          </a:ln>
        </p:spPr>
      </p:sp>
      <p:sp>
        <p:nvSpPr>
          <p:cNvPr id="19" name="Text 14"/>
          <p:cNvSpPr txBox="1"/>
          <p:nvPr/>
        </p:nvSpPr>
        <p:spPr>
          <a:xfrm>
            <a:off x="9692640" y="4709160"/>
            <a:ext cx="1874520" cy="1143000"/>
          </a:xfrm>
          <a:prstGeom prst="rect">
            <a:avLst/>
          </a:prstGeom>
          <a:noFill/>
          <a:ln/>
        </p:spPr>
        <p:txBody>
          <a:bodyPr wrap="square" lIns="0" tIns="0" rIns="0" bIns="0" rtlCol="0" anchor="ctr"/>
          <a:lstStyle/>
          <a:p>
            <a:pPr indent="0" marL="0">
              <a:spcAft>
                <a:spcPts val="300"/>
              </a:spcAft>
              <a:buNone/>
            </a:pPr>
            <a:r>
              <a:rPr lang="en-US" sz="950" b="1" dirty="0">
                <a:solidFill>
                  <a:srgbClr val="6D4BDB"/>
                </a:solidFill>
                <a:latin typeface="Courier New" pitchFamily="34" charset="0"/>
                <a:ea typeface="Courier New" pitchFamily="34" charset="-122"/>
                <a:cs typeface="Courier New" pitchFamily="34" charset="-120"/>
              </a:rPr>
              <a:t>OUR PLAN</a:t>
            </a:r>
            <a:endParaRPr lang="en-US" sz="950" dirty="0"/>
          </a:p>
          <a:p>
            <a:pPr indent="0" marL="0">
              <a:buNone/>
            </a:pPr>
            <a:r>
              <a:rPr lang="en-US" sz="1000" dirty="0">
                <a:solidFill>
                  <a:srgbClr val="222A3F"/>
                </a:solidFill>
                <a:latin typeface="Arial" pitchFamily="34" charset="0"/>
                <a:ea typeface="Arial" pitchFamily="34" charset="-122"/>
                <a:cs typeface="Arial" pitchFamily="34" charset="-120"/>
              </a:rPr>
              <a:t>PETG, black, 0.2 mm · ~40 g · one overnight run · print when replacement panel ships</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ASSEMBLY + INTEGRATION</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13/18  REV E  2026-09-25</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6D4BDB"/>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6D4BDB"/>
                </a:solidFill>
                <a:latin typeface="Courier New" pitchFamily="34" charset="0"/>
                <a:ea typeface="Courier New" pitchFamily="34" charset="-122"/>
                <a:cs typeface="Courier New" pitchFamily="34" charset="-120"/>
              </a:rPr>
              <a:t>OWNER: JOSIAH</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ASSEMBLY, ACCESS, AND VEHICLE FIT</a:t>
            </a:r>
            <a:endParaRPr lang="en-US" sz="2300" dirty="0"/>
          </a:p>
        </p:txBody>
      </p:sp>
      <p:sp>
        <p:nvSpPr>
          <p:cNvPr id="10" name="Shape 8"/>
          <p:cNvSpPr/>
          <p:nvPr/>
        </p:nvSpPr>
        <p:spPr>
          <a:xfrm>
            <a:off x="548640" y="1143000"/>
            <a:ext cx="502920" cy="640080"/>
          </a:xfrm>
          <a:prstGeom prst="rect">
            <a:avLst/>
          </a:prstGeom>
          <a:solidFill>
            <a:srgbClr val="6D4BDB"/>
          </a:solidFill>
          <a:ln/>
        </p:spPr>
      </p:sp>
      <p:sp>
        <p:nvSpPr>
          <p:cNvPr id="11" name="Text 9"/>
          <p:cNvSpPr txBox="1"/>
          <p:nvPr/>
        </p:nvSpPr>
        <p:spPr>
          <a:xfrm>
            <a:off x="548640" y="1207008"/>
            <a:ext cx="502920"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Courier New" pitchFamily="34" charset="0"/>
                <a:ea typeface="Courier New" pitchFamily="34" charset="-122"/>
                <a:cs typeface="Courier New" pitchFamily="34" charset="-120"/>
              </a:rPr>
              <a:t>1</a:t>
            </a:r>
            <a:endParaRPr lang="en-US" sz="1800" dirty="0"/>
          </a:p>
        </p:txBody>
      </p:sp>
      <p:sp>
        <p:nvSpPr>
          <p:cNvPr id="12" name="Shape 10"/>
          <p:cNvSpPr/>
          <p:nvPr/>
        </p:nvSpPr>
        <p:spPr>
          <a:xfrm>
            <a:off x="1051560" y="1143000"/>
            <a:ext cx="5532120" cy="640080"/>
          </a:xfrm>
          <a:prstGeom prst="rect">
            <a:avLst/>
          </a:prstGeom>
          <a:solidFill>
            <a:srgbClr val="FFFFFF"/>
          </a:solidFill>
          <a:ln w="9525">
            <a:solidFill>
              <a:srgbClr val="9AA7BE"/>
            </a:solidFill>
            <a:prstDash val="solid"/>
          </a:ln>
        </p:spPr>
      </p:sp>
      <p:sp>
        <p:nvSpPr>
          <p:cNvPr id="13" name="Text 11"/>
          <p:cNvSpPr txBox="1"/>
          <p:nvPr/>
        </p:nvSpPr>
        <p:spPr>
          <a:xfrm>
            <a:off x="1207008" y="1179576"/>
            <a:ext cx="5257800" cy="566928"/>
          </a:xfrm>
          <a:prstGeom prst="rect">
            <a:avLst/>
          </a:prstGeom>
          <a:noFill/>
          <a:ln/>
        </p:spPr>
        <p:txBody>
          <a:bodyPr wrap="square" lIns="0" tIns="0" rIns="0" bIns="0" rtlCol="0" anchor="ctr"/>
          <a:lstStyle/>
          <a:p>
            <a:pPr indent="0" marL="0">
              <a:buNone/>
            </a:pPr>
            <a:r>
              <a:rPr lang="en-US" sz="1100" b="1" dirty="0">
                <a:solidFill>
                  <a:srgbClr val="16213D"/>
                </a:solidFill>
                <a:latin typeface="Arial" pitchFamily="34" charset="0"/>
                <a:ea typeface="Arial" pitchFamily="34" charset="-122"/>
                <a:cs typeface="Arial" pitchFamily="34" charset="-120"/>
              </a:rPr>
              <a:t>Seat panel in front frame   </a:t>
            </a:r>
            <a:pPr indent="0" marL="0">
              <a:buNone/>
            </a:pPr>
            <a:r>
              <a:rPr lang="en-US" sz="1000" dirty="0">
                <a:solidFill>
                  <a:srgbClr val="5E6B85"/>
                </a:solidFill>
                <a:latin typeface="Arial" pitchFamily="34" charset="0"/>
                <a:ea typeface="Arial" pitchFamily="34" charset="-122"/>
                <a:cs typeface="Arial" pitchFamily="34" charset="-120"/>
              </a:rPr>
              <a:t>glass fully captured by the symmetrical bezel</a:t>
            </a:r>
            <a:endParaRPr lang="en-US" sz="1100" dirty="0"/>
          </a:p>
        </p:txBody>
      </p:sp>
      <p:sp>
        <p:nvSpPr>
          <p:cNvPr id="14" name="Shape 12"/>
          <p:cNvSpPr/>
          <p:nvPr/>
        </p:nvSpPr>
        <p:spPr>
          <a:xfrm>
            <a:off x="548640" y="1947672"/>
            <a:ext cx="502920" cy="640080"/>
          </a:xfrm>
          <a:prstGeom prst="rect">
            <a:avLst/>
          </a:prstGeom>
          <a:solidFill>
            <a:srgbClr val="6D4BDB"/>
          </a:solidFill>
          <a:ln/>
        </p:spPr>
      </p:sp>
      <p:sp>
        <p:nvSpPr>
          <p:cNvPr id="15" name="Text 13"/>
          <p:cNvSpPr txBox="1"/>
          <p:nvPr/>
        </p:nvSpPr>
        <p:spPr>
          <a:xfrm>
            <a:off x="548640" y="2011680"/>
            <a:ext cx="502920"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Courier New" pitchFamily="34" charset="0"/>
                <a:ea typeface="Courier New" pitchFamily="34" charset="-122"/>
                <a:cs typeface="Courier New" pitchFamily="34" charset="-120"/>
              </a:rPr>
              <a:t>2</a:t>
            </a:r>
            <a:endParaRPr lang="en-US" sz="1800" dirty="0"/>
          </a:p>
        </p:txBody>
      </p:sp>
      <p:sp>
        <p:nvSpPr>
          <p:cNvPr id="16" name="Shape 14"/>
          <p:cNvSpPr/>
          <p:nvPr/>
        </p:nvSpPr>
        <p:spPr>
          <a:xfrm>
            <a:off x="1051560" y="1947672"/>
            <a:ext cx="5532120" cy="640080"/>
          </a:xfrm>
          <a:prstGeom prst="rect">
            <a:avLst/>
          </a:prstGeom>
          <a:solidFill>
            <a:srgbClr val="F2F5FA"/>
          </a:solidFill>
          <a:ln w="9525">
            <a:solidFill>
              <a:srgbClr val="9AA7BE"/>
            </a:solidFill>
            <a:prstDash val="solid"/>
          </a:ln>
        </p:spPr>
      </p:sp>
      <p:sp>
        <p:nvSpPr>
          <p:cNvPr id="17" name="Text 15"/>
          <p:cNvSpPr txBox="1"/>
          <p:nvPr/>
        </p:nvSpPr>
        <p:spPr>
          <a:xfrm>
            <a:off x="1207008" y="1984248"/>
            <a:ext cx="5257800" cy="566928"/>
          </a:xfrm>
          <a:prstGeom prst="rect">
            <a:avLst/>
          </a:prstGeom>
          <a:noFill/>
          <a:ln/>
        </p:spPr>
        <p:txBody>
          <a:bodyPr wrap="square" lIns="0" tIns="0" rIns="0" bIns="0" rtlCol="0" anchor="ctr"/>
          <a:lstStyle/>
          <a:p>
            <a:pPr indent="0" marL="0">
              <a:buNone/>
            </a:pPr>
            <a:r>
              <a:rPr lang="en-US" sz="1100" b="1" dirty="0">
                <a:solidFill>
                  <a:srgbClr val="16213D"/>
                </a:solidFill>
                <a:latin typeface="Arial" pitchFamily="34" charset="0"/>
                <a:ea typeface="Arial" pitchFamily="34" charset="-122"/>
                <a:cs typeface="Arial" pitchFamily="34" charset="-120"/>
              </a:rPr>
              <a:t>Clip on left + right back halves   </a:t>
            </a:r>
            <a:pPr indent="0" marL="0">
              <a:buNone/>
            </a:pPr>
            <a:r>
              <a:rPr lang="en-US" sz="1000" dirty="0">
                <a:solidFill>
                  <a:srgbClr val="5E6B85"/>
                </a:solidFill>
                <a:latin typeface="Arial" pitchFamily="34" charset="0"/>
                <a:ea typeface="Arial" pitchFamily="34" charset="-122"/>
                <a:cs typeface="Arial" pitchFamily="34" charset="-120"/>
              </a:rPr>
              <a:t>battery bay, speaker, rear connector stay open</a:t>
            </a:r>
            <a:endParaRPr lang="en-US" sz="1100" dirty="0"/>
          </a:p>
        </p:txBody>
      </p:sp>
      <p:sp>
        <p:nvSpPr>
          <p:cNvPr id="18" name="Shape 16"/>
          <p:cNvSpPr/>
          <p:nvPr/>
        </p:nvSpPr>
        <p:spPr>
          <a:xfrm>
            <a:off x="548640" y="2752344"/>
            <a:ext cx="502920" cy="640080"/>
          </a:xfrm>
          <a:prstGeom prst="rect">
            <a:avLst/>
          </a:prstGeom>
          <a:solidFill>
            <a:srgbClr val="6D4BDB"/>
          </a:solidFill>
          <a:ln/>
        </p:spPr>
      </p:sp>
      <p:sp>
        <p:nvSpPr>
          <p:cNvPr id="19" name="Text 17"/>
          <p:cNvSpPr txBox="1"/>
          <p:nvPr/>
        </p:nvSpPr>
        <p:spPr>
          <a:xfrm>
            <a:off x="548640" y="2816352"/>
            <a:ext cx="502920"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Courier New" pitchFamily="34" charset="0"/>
                <a:ea typeface="Courier New" pitchFamily="34" charset="-122"/>
                <a:cs typeface="Courier New" pitchFamily="34" charset="-120"/>
              </a:rPr>
              <a:t>3</a:t>
            </a:r>
            <a:endParaRPr lang="en-US" sz="1800" dirty="0"/>
          </a:p>
        </p:txBody>
      </p:sp>
      <p:sp>
        <p:nvSpPr>
          <p:cNvPr id="20" name="Shape 18"/>
          <p:cNvSpPr/>
          <p:nvPr/>
        </p:nvSpPr>
        <p:spPr>
          <a:xfrm>
            <a:off x="1051560" y="2752344"/>
            <a:ext cx="5532120" cy="640080"/>
          </a:xfrm>
          <a:prstGeom prst="rect">
            <a:avLst/>
          </a:prstGeom>
          <a:solidFill>
            <a:srgbClr val="FFFFFF"/>
          </a:solidFill>
          <a:ln w="9525">
            <a:solidFill>
              <a:srgbClr val="9AA7BE"/>
            </a:solidFill>
            <a:prstDash val="solid"/>
          </a:ln>
        </p:spPr>
      </p:sp>
      <p:sp>
        <p:nvSpPr>
          <p:cNvPr id="21" name="Text 19"/>
          <p:cNvSpPr txBox="1"/>
          <p:nvPr/>
        </p:nvSpPr>
        <p:spPr>
          <a:xfrm>
            <a:off x="1207008" y="2788920"/>
            <a:ext cx="5257800" cy="566928"/>
          </a:xfrm>
          <a:prstGeom prst="rect">
            <a:avLst/>
          </a:prstGeom>
          <a:noFill/>
          <a:ln/>
        </p:spPr>
        <p:txBody>
          <a:bodyPr wrap="square" lIns="0" tIns="0" rIns="0" bIns="0" rtlCol="0" anchor="ctr"/>
          <a:lstStyle/>
          <a:p>
            <a:pPr indent="0" marL="0">
              <a:buNone/>
            </a:pPr>
            <a:r>
              <a:rPr lang="en-US" sz="1100" b="1" dirty="0">
                <a:solidFill>
                  <a:srgbClr val="16213D"/>
                </a:solidFill>
                <a:latin typeface="Arial" pitchFamily="34" charset="0"/>
                <a:ea typeface="Arial" pitchFamily="34" charset="-122"/>
                <a:cs typeface="Arial" pitchFamily="34" charset="-120"/>
              </a:rPr>
              <a:t>Drive 4× M2.5×6 into existing holes   </a:t>
            </a:r>
            <a:pPr indent="0" marL="0">
              <a:buNone/>
            </a:pPr>
            <a:r>
              <a:rPr lang="en-US" sz="1000" dirty="0">
                <a:solidFill>
                  <a:srgbClr val="C43A4B"/>
                </a:solidFill>
                <a:latin typeface="Arial" pitchFamily="34" charset="0"/>
                <a:ea typeface="Arial" pitchFamily="34" charset="-122"/>
                <a:cs typeface="Arial" pitchFamily="34" charset="-120"/>
              </a:rPr>
              <a:t>⚠ longer screws can crack the panel — 6 mm max</a:t>
            </a:r>
            <a:endParaRPr lang="en-US" sz="1100" dirty="0"/>
          </a:p>
        </p:txBody>
      </p:sp>
      <p:sp>
        <p:nvSpPr>
          <p:cNvPr id="22" name="Shape 20"/>
          <p:cNvSpPr/>
          <p:nvPr/>
        </p:nvSpPr>
        <p:spPr>
          <a:xfrm>
            <a:off x="548640" y="3557016"/>
            <a:ext cx="502920" cy="640080"/>
          </a:xfrm>
          <a:prstGeom prst="rect">
            <a:avLst/>
          </a:prstGeom>
          <a:solidFill>
            <a:srgbClr val="6D4BDB"/>
          </a:solidFill>
          <a:ln/>
        </p:spPr>
      </p:sp>
      <p:sp>
        <p:nvSpPr>
          <p:cNvPr id="23" name="Text 21"/>
          <p:cNvSpPr txBox="1"/>
          <p:nvPr/>
        </p:nvSpPr>
        <p:spPr>
          <a:xfrm>
            <a:off x="548640" y="3621024"/>
            <a:ext cx="502920"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Courier New" pitchFamily="34" charset="0"/>
                <a:ea typeface="Courier New" pitchFamily="34" charset="-122"/>
                <a:cs typeface="Courier New" pitchFamily="34" charset="-120"/>
              </a:rPr>
              <a:t>4</a:t>
            </a:r>
            <a:endParaRPr lang="en-US" sz="1800" dirty="0"/>
          </a:p>
        </p:txBody>
      </p:sp>
      <p:sp>
        <p:nvSpPr>
          <p:cNvPr id="24" name="Shape 22"/>
          <p:cNvSpPr/>
          <p:nvPr/>
        </p:nvSpPr>
        <p:spPr>
          <a:xfrm>
            <a:off x="1051560" y="3557016"/>
            <a:ext cx="5532120" cy="640080"/>
          </a:xfrm>
          <a:prstGeom prst="rect">
            <a:avLst/>
          </a:prstGeom>
          <a:solidFill>
            <a:srgbClr val="F2F5FA"/>
          </a:solidFill>
          <a:ln w="9525">
            <a:solidFill>
              <a:srgbClr val="9AA7BE"/>
            </a:solidFill>
            <a:prstDash val="solid"/>
          </a:ln>
        </p:spPr>
      </p:sp>
      <p:sp>
        <p:nvSpPr>
          <p:cNvPr id="25" name="Text 23"/>
          <p:cNvSpPr txBox="1"/>
          <p:nvPr/>
        </p:nvSpPr>
        <p:spPr>
          <a:xfrm>
            <a:off x="1207008" y="3593592"/>
            <a:ext cx="5257800" cy="566928"/>
          </a:xfrm>
          <a:prstGeom prst="rect">
            <a:avLst/>
          </a:prstGeom>
          <a:noFill/>
          <a:ln/>
        </p:spPr>
        <p:txBody>
          <a:bodyPr wrap="square" lIns="0" tIns="0" rIns="0" bIns="0" rtlCol="0" anchor="ctr"/>
          <a:lstStyle/>
          <a:p>
            <a:pPr indent="0" marL="0">
              <a:buNone/>
            </a:pPr>
            <a:r>
              <a:rPr lang="en-US" sz="1100" b="1" dirty="0">
                <a:solidFill>
                  <a:srgbClr val="16213D"/>
                </a:solidFill>
                <a:latin typeface="Arial" pitchFamily="34" charset="0"/>
                <a:ea typeface="Arial" pitchFamily="34" charset="-122"/>
                <a:cs typeface="Arial" pitchFamily="34" charset="-120"/>
              </a:rPr>
              <a:t>Press 3 button caps into top row   </a:t>
            </a:r>
            <a:pPr indent="0" marL="0">
              <a:buNone/>
            </a:pPr>
            <a:r>
              <a:rPr lang="en-US" sz="1000" dirty="0">
                <a:solidFill>
                  <a:srgbClr val="5E6B85"/>
                </a:solidFill>
                <a:latin typeface="Arial" pitchFamily="34" charset="0"/>
                <a:ea typeface="Arial" pitchFamily="34" charset="-122"/>
                <a:cs typeface="Arial" pitchFamily="34" charset="-120"/>
              </a:rPr>
              <a:t>BOOT / RESET / USER stay clickable through the case</a:t>
            </a:r>
            <a:endParaRPr lang="en-US" sz="1100" dirty="0"/>
          </a:p>
        </p:txBody>
      </p:sp>
      <p:sp>
        <p:nvSpPr>
          <p:cNvPr id="26" name="Text 24"/>
          <p:cNvSpPr txBox="1"/>
          <p:nvPr/>
        </p:nvSpPr>
        <p:spPr>
          <a:xfrm>
            <a:off x="548640" y="4617720"/>
            <a:ext cx="6035040" cy="146304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222A3F"/>
                </a:solidFill>
                <a:latin typeface="Arial" pitchFamily="34" charset="0"/>
                <a:ea typeface="Arial" pitchFamily="34" charset="-122"/>
                <a:cs typeface="Arial" pitchFamily="34" charset="-120"/>
              </a:rPr>
              <a:t>RF check: PETG/PLA are radio-transparent — BLE link budget unchanged (verified vs bare panel after build).</a:t>
            </a:r>
            <a:endParaRPr lang="en-US" sz="1150" dirty="0"/>
          </a:p>
          <a:p>
            <a:pPr marL="342900" indent="-342900">
              <a:spcAft>
                <a:spcPts val="600"/>
              </a:spcAft>
              <a:buSzPct val="100000"/>
              <a:buChar char="▪"/>
            </a:pPr>
            <a:r>
              <a:rPr lang="en-US" sz="1150" dirty="0">
                <a:solidFill>
                  <a:srgbClr val="222A3F"/>
                </a:solidFill>
                <a:latin typeface="Arial" pitchFamily="34" charset="0"/>
                <a:ea typeface="Arial" pitchFamily="34" charset="-122"/>
                <a:cs typeface="Arial" pitchFamily="34" charset="-120"/>
              </a:rPr>
              <a:t>Vehicle fit: flat base for dash mounting; optional angled feet for bench; USB-C exits sideways for strain relief.</a:t>
            </a:r>
            <a:endParaRPr lang="en-US" sz="1150" dirty="0"/>
          </a:p>
          <a:p>
            <a:pPr marL="342900" indent="-342900">
              <a:buSzPct val="100000"/>
              <a:buChar char="▪"/>
            </a:pPr>
            <a:r>
              <a:rPr lang="en-US" sz="1150" dirty="0">
                <a:solidFill>
                  <a:srgbClr val="222A3F"/>
                </a:solidFill>
                <a:latin typeface="Arial" pitchFamily="34" charset="0"/>
                <a:ea typeface="Arial" pitchFamily="34" charset="-122"/>
                <a:cs typeface="Arial" pitchFamily="34" charset="-120"/>
              </a:rPr>
              <a:t>Thermals: RLCD is reflective — no backlight heat; ESP32-S3 dissipates &lt;1 W; vented enough by port openings.</a:t>
            </a:r>
            <a:endParaRPr lang="en-US" sz="1150" dirty="0"/>
          </a:p>
        </p:txBody>
      </p:sp>
      <p:pic>
        <p:nvPicPr>
          <p:cNvPr id="27" name="Image 0" descr="C:/Users/deogr/AppData/Local/Temp/claude/C--Users-deogr-Documents-Fall-Project-Off-Grid-Vehicle-dection-project/e8b2e8fa-1513-4aa8-a8f6-ce4fcd20e664/scratchpad/deck5/case_ports.jpg">    </p:cNvPr>
          <p:cNvPicPr>
            <a:picLocks noChangeAspect="1"/>
          </p:cNvPicPr>
          <p:nvPr/>
        </p:nvPicPr>
        <p:blipFill>
          <a:blip r:embed="rId1"/>
          <a:stretch>
            <a:fillRect/>
          </a:stretch>
        </p:blipFill>
        <p:spPr>
          <a:xfrm>
            <a:off x="6995160" y="1143000"/>
            <a:ext cx="4663440" cy="3493008"/>
          </a:xfrm>
          <a:prstGeom prst="rect">
            <a:avLst/>
          </a:prstGeom>
        </p:spPr>
      </p:pic>
      <p:sp>
        <p:nvSpPr>
          <p:cNvPr id="28" name="Shape 25"/>
          <p:cNvSpPr/>
          <p:nvPr/>
        </p:nvSpPr>
        <p:spPr>
          <a:xfrm>
            <a:off x="6995160" y="1143000"/>
            <a:ext cx="4663440" cy="3493008"/>
          </a:xfrm>
          <a:prstGeom prst="rect">
            <a:avLst/>
          </a:prstGeom>
          <a:ln w="12700">
            <a:solidFill>
              <a:srgbClr val="9AA7BE"/>
            </a:solidFill>
            <a:prstDash val="solid"/>
          </a:ln>
        </p:spPr>
      </p:sp>
      <p:sp>
        <p:nvSpPr>
          <p:cNvPr id="29" name="Text 26"/>
          <p:cNvSpPr txBox="1"/>
          <p:nvPr/>
        </p:nvSpPr>
        <p:spPr>
          <a:xfrm>
            <a:off x="6720840" y="4663440"/>
            <a:ext cx="5212080" cy="274320"/>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access preserved under armor: USB-C and SD card reachable without opening the case</a:t>
            </a:r>
            <a:endParaRPr lang="en-US" sz="900" dirty="0"/>
          </a:p>
        </p:txBody>
      </p:sp>
      <p:sp>
        <p:nvSpPr>
          <p:cNvPr id="30" name="Shape 27"/>
          <p:cNvSpPr/>
          <p:nvPr/>
        </p:nvSpPr>
        <p:spPr>
          <a:xfrm>
            <a:off x="6995160" y="5029200"/>
            <a:ext cx="4663440" cy="1005840"/>
          </a:xfrm>
          <a:prstGeom prst="rect">
            <a:avLst/>
          </a:prstGeom>
          <a:solidFill>
            <a:srgbClr val="16213D"/>
          </a:solidFill>
          <a:ln/>
        </p:spPr>
      </p:sp>
      <p:sp>
        <p:nvSpPr>
          <p:cNvPr id="31" name="Text 28"/>
          <p:cNvSpPr txBox="1"/>
          <p:nvPr/>
        </p:nvSpPr>
        <p:spPr>
          <a:xfrm>
            <a:off x="7178040" y="5120640"/>
            <a:ext cx="4297680" cy="841248"/>
          </a:xfrm>
          <a:prstGeom prst="rect">
            <a:avLst/>
          </a:prstGeom>
          <a:noFill/>
          <a:ln/>
        </p:spPr>
        <p:txBody>
          <a:bodyPr wrap="square" lIns="0" tIns="0" rIns="0" bIns="0" rtlCol="0" anchor="ctr"/>
          <a:lstStyle/>
          <a:p>
            <a:pPr indent="0" marL="0">
              <a:buNone/>
            </a:pPr>
            <a:r>
              <a:rPr lang="en-US" sz="1000" b="1" dirty="0">
                <a:solidFill>
                  <a:srgbClr val="1F9D68"/>
                </a:solidFill>
                <a:latin typeface="Courier New" pitchFamily="34" charset="0"/>
                <a:ea typeface="Courier New" pitchFamily="34" charset="-122"/>
                <a:cs typeface="Courier New" pitchFamily="34" charset="-120"/>
              </a:rPr>
              <a:t>ACCEPTANCE  </a:t>
            </a:r>
            <a:pPr indent="0" marL="0">
              <a:buNone/>
            </a:pPr>
            <a:r>
              <a:rPr lang="en-US" sz="1050" dirty="0">
                <a:solidFill>
                  <a:srgbClr val="FFFFFF"/>
                </a:solidFill>
                <a:latin typeface="Arial" pitchFamily="34" charset="0"/>
                <a:ea typeface="Arial" pitchFamily="34" charset="-122"/>
                <a:cs typeface="Arial" pitchFamily="34" charset="-120"/>
              </a:rPr>
              <a:t>case closes with zero pressure on glass · all ports/buttons usable · BLE RSSI within 2 dB of bare panel · survives a 1 m drop onto carpet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TWO-VEHICLE DRIVE TEST PLAN</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14/18  REV E  2026-09-25</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NEXT MILESTONE: TWO-VEHICLE DRIVE TEST</a:t>
            </a:r>
            <a:endParaRPr lang="en-US" sz="2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6766560" cy="914400"/>
        </p:xfrm>
        <a:graphic>
          <a:graphicData uri="http://schemas.openxmlformats.org/drawingml/2006/table">
            <a:tbl>
              <a:tblPr/>
              <a:tblGrid>
                <a:gridCol w="1188720"/>
                <a:gridCol w="3017520"/>
                <a:gridCol w="2560320"/>
              </a:tblGrid>
              <a:tr h="457200">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PHASE</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PROCEDURE</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WHAT IS LOGGED</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r>
              <a:tr h="457200">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Static A</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both vehicles parked 100 m apart, engines on</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SNR baseline, 10 consecutive traceroutes</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457200">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Convoy</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follow at 2–5 car lengths, 20 min city loop</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update age on display, every position packet</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457200">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Split</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diverge to 0.5 / 1 / 2 km separations</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SNR + delivery vs GPS-measured distance</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457200">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Rejoin</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converge from max range back to convoy</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reacquisition time after silence</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457200">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Stop test</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both parked, exchange canned messages</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222A3F"/>
                          </a:solidFill>
                          <a:latin typeface="Arial" pitchFamily="34" charset="0"/>
                          <a:ea typeface="Arial" pitchFamily="34" charset="-122"/>
                          <a:cs typeface="Arial" pitchFamily="34" charset="-120"/>
                        </a:rPr>
                        <a:t>two-way texts, counter honesty check</a:t>
                      </a:r>
                      <a:endParaRPr lang="en-US" sz="10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bl>
          </a:graphicData>
        </a:graphic>
      </p:graphicFrame>
      <p:sp>
        <p:nvSpPr>
          <p:cNvPr id="11" name="Text 8"/>
          <p:cNvSpPr txBox="1"/>
          <p:nvPr/>
        </p:nvSpPr>
        <p:spPr>
          <a:xfrm>
            <a:off x="548640" y="3977640"/>
            <a:ext cx="6766560" cy="173736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222A3F"/>
                </a:solidFill>
                <a:latin typeface="Arial" pitchFamily="34" charset="0"/>
                <a:ea typeface="Arial" pitchFamily="34" charset="-122"/>
                <a:cs typeface="Arial" pitchFamily="34" charset="-120"/>
              </a:rPr>
              <a:t>Metrics declared in advance (same rule as Week 4): p95 partner-position age ≤ 15 s while moving;</a:t>
            </a:r>
            <a:endParaRPr lang="en-US" sz="1150" dirty="0"/>
          </a:p>
          <a:p>
            <a:pPr marL="342900" indent="-342900">
              <a:spcAft>
                <a:spcPts val="600"/>
              </a:spcAft>
              <a:buSzPct val="100000"/>
              <a:buChar char="▪"/>
            </a:pPr>
            <a:r>
              <a:rPr lang="en-US" sz="1150" dirty="0">
                <a:solidFill>
                  <a:srgbClr val="222A3F"/>
                </a:solidFill>
                <a:latin typeface="Arial" pitchFamily="34" charset="0"/>
                <a:ea typeface="Arial" pitchFamily="34" charset="-122"/>
                <a:cs typeface="Arial" pitchFamily="34" charset="-120"/>
              </a:rPr>
              <a:t>zero silent link drops in convoy; reacquisition after split ≤ 60 s; counters honest at every stop.</a:t>
            </a:r>
            <a:endParaRPr lang="en-US" sz="1150" dirty="0"/>
          </a:p>
          <a:p>
            <a:pPr marL="342900" indent="-342900">
              <a:buSzPct val="100000"/>
              <a:buChar char="▪"/>
            </a:pPr>
            <a:r>
              <a:rPr lang="en-US" sz="1150" dirty="0">
                <a:solidFill>
                  <a:srgbClr val="222A3F"/>
                </a:solidFill>
                <a:latin typeface="Arial" pitchFamily="34" charset="0"/>
                <a:ea typeface="Arial" pitchFamily="34" charset="-122"/>
                <a:cs typeface="Arial" pitchFamily="34" charset="-120"/>
              </a:rPr>
              <a:t>Instrumentation: one laptop per vehicle is NOT required — the radios log to their node DBs; we pull tables after each phase over USB.</a:t>
            </a:r>
            <a:endParaRPr lang="en-US" sz="1150" dirty="0"/>
          </a:p>
        </p:txBody>
      </p:sp>
      <p:sp>
        <p:nvSpPr>
          <p:cNvPr id="12" name="Shape 9"/>
          <p:cNvSpPr/>
          <p:nvPr/>
        </p:nvSpPr>
        <p:spPr>
          <a:xfrm>
            <a:off x="7635240" y="1097280"/>
            <a:ext cx="4069080" cy="2377440"/>
          </a:xfrm>
          <a:prstGeom prst="rect">
            <a:avLst/>
          </a:prstGeom>
          <a:solidFill>
            <a:srgbClr val="F2F5FA"/>
          </a:solidFill>
          <a:ln w="19050">
            <a:solidFill>
              <a:srgbClr val="D9488C"/>
            </a:solidFill>
            <a:prstDash val="solid"/>
          </a:ln>
        </p:spPr>
      </p:sp>
      <p:sp>
        <p:nvSpPr>
          <p:cNvPr id="13" name="Text 10"/>
          <p:cNvSpPr txBox="1"/>
          <p:nvPr/>
        </p:nvSpPr>
        <p:spPr>
          <a:xfrm>
            <a:off x="7818120" y="1234440"/>
            <a:ext cx="3749040" cy="2103120"/>
          </a:xfrm>
          <a:prstGeom prst="rect">
            <a:avLst/>
          </a:prstGeom>
          <a:noFill/>
          <a:ln/>
        </p:spPr>
        <p:txBody>
          <a:bodyPr wrap="square" lIns="0" tIns="0" rIns="0" bIns="0" rtlCol="0" anchor="ctr"/>
          <a:lstStyle/>
          <a:p>
            <a:pPr indent="0" marL="0">
              <a:spcAft>
                <a:spcPts val="500"/>
              </a:spcAft>
              <a:buNone/>
            </a:pPr>
            <a:r>
              <a:rPr lang="en-US" sz="1050" b="1" dirty="0">
                <a:solidFill>
                  <a:srgbClr val="D9488C"/>
                </a:solidFill>
                <a:latin typeface="Courier New" pitchFamily="34" charset="0"/>
                <a:ea typeface="Courier New" pitchFamily="34" charset="-122"/>
                <a:cs typeface="Courier New" pitchFamily="34" charset="-120"/>
              </a:rPr>
              <a:t>PREREQUISITES — ALL MET 09-25</a:t>
            </a:r>
            <a:endParaRPr lang="en-US" sz="1050" dirty="0"/>
          </a:p>
          <a:p>
            <a:pPr indent="0" marL="0">
              <a:buNone/>
            </a:pPr>
            <a:r>
              <a:rPr lang="en-US" sz="1100" dirty="0">
                <a:solidFill>
                  <a:srgbClr val="222A3F"/>
                </a:solidFill>
                <a:latin typeface="Arial" pitchFamily="34" charset="0"/>
                <a:ea typeface="Arial" pitchFamily="34" charset="-122"/>
                <a:cs typeface="Arial" pitchFamily="34" charset="-120"/>
              </a:rPr>
              <a:t>✓ two-way link on Group9 (sheet 06)</a:t>
            </a:r>
            <a:endParaRPr lang="en-US" sz="1050" dirty="0"/>
          </a:p>
          <a:p>
            <a:pPr indent="0" marL="0">
              <a:buNone/>
            </a:pPr>
            <a:r>
              <a:rPr lang="en-US" sz="1100" dirty="0">
                <a:solidFill>
                  <a:srgbClr val="222A3F"/>
                </a:solidFill>
                <a:latin typeface="Arial" pitchFamily="34" charset="0"/>
                <a:ea typeface="Arial" pitchFamily="34" charset="-122"/>
                <a:cs typeface="Arial" pitchFamily="34" charset="-120"/>
              </a:rPr>
              <a:t>✓ both radios full drive spec, verified</a:t>
            </a:r>
            <a:endParaRPr lang="en-US" sz="1050" dirty="0"/>
          </a:p>
          <a:p>
            <a:pPr indent="0" marL="0">
              <a:buNone/>
            </a:pPr>
            <a:r>
              <a:rPr lang="en-US" sz="1100" dirty="0">
                <a:solidFill>
                  <a:srgbClr val="222A3F"/>
                </a:solidFill>
                <a:latin typeface="Arial" pitchFamily="34" charset="0"/>
                <a:ea typeface="Arial" pitchFamily="34" charset="-122"/>
                <a:cs typeface="Arial" pitchFamily="34" charset="-120"/>
              </a:rPr>
              <a:t>✓ honest liveness counters (sheet 08)</a:t>
            </a:r>
            <a:endParaRPr lang="en-US" sz="1050" dirty="0"/>
          </a:p>
          <a:p>
            <a:pPr indent="0" marL="0">
              <a:buNone/>
            </a:pPr>
            <a:r>
              <a:rPr lang="en-US" sz="1100" dirty="0">
                <a:solidFill>
                  <a:srgbClr val="222A3F"/>
                </a:solidFill>
                <a:latin typeface="Arial" pitchFamily="34" charset="0"/>
                <a:ea typeface="Arial" pitchFamily="34" charset="-122"/>
                <a:cs typeface="Arial" pitchFamily="34" charset="-120"/>
              </a:rPr>
              <a:t>✓ airtime headroom held (sheet 09)</a:t>
            </a:r>
            <a:endParaRPr lang="en-US" sz="1050" dirty="0"/>
          </a:p>
          <a:p>
            <a:pPr indent="0" marL="0">
              <a:buNone/>
            </a:pPr>
            <a:r>
              <a:rPr lang="en-US" sz="1100" dirty="0">
                <a:solidFill>
                  <a:srgbClr val="222A3F"/>
                </a:solidFill>
                <a:latin typeface="Arial" pitchFamily="34" charset="0"/>
                <a:ea typeface="Arial" pitchFamily="34" charset="-122"/>
                <a:cs typeface="Arial" pitchFamily="34" charset="-120"/>
              </a:rPr>
              <a:t>✓ canned message chain for stop tests</a:t>
            </a:r>
            <a:endParaRPr lang="en-US" sz="1050" dirty="0"/>
          </a:p>
        </p:txBody>
      </p:sp>
      <p:sp>
        <p:nvSpPr>
          <p:cNvPr id="14" name="Shape 11"/>
          <p:cNvSpPr/>
          <p:nvPr/>
        </p:nvSpPr>
        <p:spPr>
          <a:xfrm>
            <a:off x="7635240" y="3703320"/>
            <a:ext cx="4069080" cy="2331720"/>
          </a:xfrm>
          <a:prstGeom prst="rect">
            <a:avLst/>
          </a:prstGeom>
          <a:solidFill>
            <a:srgbClr val="16213D"/>
          </a:solidFill>
          <a:ln/>
        </p:spPr>
      </p:sp>
      <p:sp>
        <p:nvSpPr>
          <p:cNvPr id="15" name="Text 12"/>
          <p:cNvSpPr txBox="1"/>
          <p:nvPr/>
        </p:nvSpPr>
        <p:spPr>
          <a:xfrm>
            <a:off x="7818120" y="3840480"/>
            <a:ext cx="3749040" cy="2103120"/>
          </a:xfrm>
          <a:prstGeom prst="rect">
            <a:avLst/>
          </a:prstGeom>
          <a:noFill/>
          <a:ln/>
        </p:spPr>
        <p:txBody>
          <a:bodyPr wrap="square" lIns="0" tIns="0" rIns="0" bIns="0" rtlCol="0" anchor="ctr"/>
          <a:lstStyle/>
          <a:p>
            <a:pPr indent="0" marL="0">
              <a:spcAft>
                <a:spcPts val="500"/>
              </a:spcAft>
              <a:buNone/>
            </a:pPr>
            <a:r>
              <a:rPr lang="en-US" sz="1050" b="1" dirty="0">
                <a:solidFill>
                  <a:srgbClr val="E58E1A"/>
                </a:solidFill>
                <a:latin typeface="Courier New" pitchFamily="34" charset="0"/>
                <a:ea typeface="Courier New" pitchFamily="34" charset="-122"/>
                <a:cs typeface="Courier New" pitchFamily="34" charset="-120"/>
              </a:rPr>
              <a:t>GANTT STATE</a:t>
            </a:r>
            <a:endParaRPr lang="en-US" sz="1150" dirty="0"/>
          </a:p>
          <a:p>
            <a:pPr indent="0" marL="0">
              <a:buNone/>
            </a:pPr>
            <a:r>
              <a:rPr lang="en-US" sz="1150" dirty="0">
                <a:solidFill>
                  <a:srgbClr val="FFFFFF"/>
                </a:solidFill>
                <a:latin typeface="Arial" pitchFamily="34" charset="0"/>
                <a:ea typeface="Arial" pitchFamily="34" charset="-122"/>
                <a:cs typeface="Arial" pitchFamily="34" charset="-120"/>
              </a:rPr>
              <a:t>“Two-vehicle drive tests” moved 0% → 20% (prep complete). The W8–W9 range characterization inherits the Split-phase SNR-vs-distance log and plots it against sheet 10’s predicted curve.</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BENCH EVIDENCE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15/18  REV E  2026-09-25</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BENCH RECORD: FOUR SCREENS, ONE STORY</a:t>
            </a:r>
            <a:endParaRPr lang="en-US" sz="2300" dirty="0"/>
          </a:p>
        </p:txBody>
      </p:sp>
      <p:pic>
        <p:nvPicPr>
          <p:cNvPr id="10" name="Image 0" descr="C:/Users/deogr/AppData/Local/Temp/claude/C--Users-deogr-Documents-Fall-Project-Off-Grid-Vehicle-dection-project/e8b2e8fa-1513-4aa8-a8f6-ce4fcd20e664/images/19.jpg">    </p:cNvPr>
          <p:cNvPicPr>
            <a:picLocks noChangeAspect="1"/>
          </p:cNvPicPr>
          <p:nvPr/>
        </p:nvPicPr>
        <p:blipFill>
          <a:blip r:embed="rId1"/>
          <a:stretch>
            <a:fillRect/>
          </a:stretch>
        </p:blipFill>
        <p:spPr>
          <a:xfrm>
            <a:off x="640080" y="1234440"/>
            <a:ext cx="2514600" cy="3291840"/>
          </a:xfrm>
          <a:prstGeom prst="rect">
            <a:avLst/>
          </a:prstGeom>
        </p:spPr>
      </p:pic>
      <p:sp>
        <p:nvSpPr>
          <p:cNvPr id="11" name="Shape 8"/>
          <p:cNvSpPr/>
          <p:nvPr/>
        </p:nvSpPr>
        <p:spPr>
          <a:xfrm>
            <a:off x="640080" y="1234440"/>
            <a:ext cx="2514600" cy="3291840"/>
          </a:xfrm>
          <a:prstGeom prst="rect">
            <a:avLst/>
          </a:prstGeom>
          <a:ln w="12700">
            <a:solidFill>
              <a:srgbClr val="9AA7BE"/>
            </a:solidFill>
            <a:prstDash val="solid"/>
          </a:ln>
        </p:spPr>
      </p:sp>
      <p:sp>
        <p:nvSpPr>
          <p:cNvPr id="12" name="Text 9"/>
          <p:cNvSpPr txBox="1"/>
          <p:nvPr/>
        </p:nvSpPr>
        <p:spPr>
          <a:xfrm>
            <a:off x="365760" y="4553712"/>
            <a:ext cx="3063240" cy="274320"/>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BEFORE: 18-node ghost table,</a:t>
            </a:r>
            <a:endParaRPr lang="en-US" sz="900" dirty="0"/>
          </a:p>
          <a:p>
            <a:pPr algn="ctr" indent="0" marL="0">
              <a:buNone/>
            </a:pPr>
            <a:r>
              <a:rPr lang="en-US" sz="900" dirty="0">
                <a:solidFill>
                  <a:srgbClr val="5E6B85"/>
                </a:solidFill>
                <a:latin typeface="Courier New" pitchFamily="34" charset="0"/>
                <a:ea typeface="Courier New" pitchFamily="34" charset="-122"/>
                <a:cs typeface="Courier New" pitchFamily="34" charset="-120"/>
              </a:rPr>
              <a:t>peers “52–77 d” stale</a:t>
            </a:r>
            <a:endParaRPr lang="en-US" sz="900" dirty="0"/>
          </a:p>
        </p:txBody>
      </p:sp>
      <p:pic>
        <p:nvPicPr>
          <p:cNvPr id="13" name="Image 1" descr="C:/Users/deogr/AppData/Local/Temp/claude/C--Users-deogr-Documents-Fall-Project-Off-Grid-Vehicle-dection-project/e8b2e8fa-1513-4aa8-a8f6-ce4fcd20e664/images/2.jpg">    </p:cNvPr>
          <p:cNvPicPr>
            <a:picLocks noChangeAspect="1"/>
          </p:cNvPicPr>
          <p:nvPr/>
        </p:nvPicPr>
        <p:blipFill>
          <a:blip r:embed="rId2"/>
          <a:stretch>
            <a:fillRect/>
          </a:stretch>
        </p:blipFill>
        <p:spPr>
          <a:xfrm>
            <a:off x="3520440" y="1234440"/>
            <a:ext cx="2514600" cy="3291840"/>
          </a:xfrm>
          <a:prstGeom prst="rect">
            <a:avLst/>
          </a:prstGeom>
        </p:spPr>
      </p:pic>
      <p:sp>
        <p:nvSpPr>
          <p:cNvPr id="14" name="Shape 10"/>
          <p:cNvSpPr/>
          <p:nvPr/>
        </p:nvSpPr>
        <p:spPr>
          <a:xfrm>
            <a:off x="3520440" y="1234440"/>
            <a:ext cx="2514600" cy="3291840"/>
          </a:xfrm>
          <a:prstGeom prst="rect">
            <a:avLst/>
          </a:prstGeom>
          <a:ln w="12700">
            <a:solidFill>
              <a:srgbClr val="9AA7BE"/>
            </a:solidFill>
            <a:prstDash val="solid"/>
          </a:ln>
        </p:spPr>
      </p:sp>
      <p:sp>
        <p:nvSpPr>
          <p:cNvPr id="15" name="Text 11"/>
          <p:cNvSpPr txBox="1"/>
          <p:nvPr/>
        </p:nvSpPr>
        <p:spPr>
          <a:xfrm>
            <a:off x="3246120" y="4553712"/>
            <a:ext cx="3063240" cy="274320"/>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text RX on the bench link —</a:t>
            </a:r>
            <a:endParaRPr lang="en-US" sz="900" dirty="0"/>
          </a:p>
          <a:p>
            <a:pPr algn="ctr" indent="0" marL="0">
              <a:buNone/>
            </a:pPr>
            <a:r>
              <a:rPr lang="en-US" sz="900" dirty="0">
                <a:solidFill>
                  <a:srgbClr val="5E6B85"/>
                </a:solidFill>
                <a:latin typeface="Courier New" pitchFamily="34" charset="0"/>
                <a:ea typeface="Courier New" pitchFamily="34" charset="-122"/>
                <a:cs typeface="Courier New" pitchFamily="34" charset="-120"/>
              </a:rPr>
              <a:t>messages flow both ways</a:t>
            </a:r>
            <a:endParaRPr lang="en-US" sz="900" dirty="0"/>
          </a:p>
        </p:txBody>
      </p:sp>
      <p:pic>
        <p:nvPicPr>
          <p:cNvPr id="16" name="Image 2" descr="C:/Users/deogr/AppData/Local/Temp/claude/C--Users-deogr-Documents-Fall-Project-Off-Grid-Vehicle-dection-project/e8b2e8fa-1513-4aa8-a8f6-ce4fcd20e664/images/27.jpg">    </p:cNvPr>
          <p:cNvPicPr>
            <a:picLocks noChangeAspect="1"/>
          </p:cNvPicPr>
          <p:nvPr/>
        </p:nvPicPr>
        <p:blipFill>
          <a:blip r:embed="rId3"/>
          <a:stretch>
            <a:fillRect/>
          </a:stretch>
        </p:blipFill>
        <p:spPr>
          <a:xfrm>
            <a:off x="6400800" y="1234440"/>
            <a:ext cx="2514600" cy="3291840"/>
          </a:xfrm>
          <a:prstGeom prst="rect">
            <a:avLst/>
          </a:prstGeom>
        </p:spPr>
      </p:pic>
      <p:sp>
        <p:nvSpPr>
          <p:cNvPr id="17" name="Shape 12"/>
          <p:cNvSpPr/>
          <p:nvPr/>
        </p:nvSpPr>
        <p:spPr>
          <a:xfrm>
            <a:off x="6400800" y="1234440"/>
            <a:ext cx="2514600" cy="3291840"/>
          </a:xfrm>
          <a:prstGeom prst="rect">
            <a:avLst/>
          </a:prstGeom>
          <a:ln w="12700">
            <a:solidFill>
              <a:srgbClr val="9AA7BE"/>
            </a:solidFill>
            <a:prstDash val="solid"/>
          </a:ln>
        </p:spPr>
      </p:sp>
      <p:sp>
        <p:nvSpPr>
          <p:cNvPr id="18" name="Text 13"/>
          <p:cNvSpPr txBox="1"/>
          <p:nvPr/>
        </p:nvSpPr>
        <p:spPr>
          <a:xfrm>
            <a:off x="6126480" y="4553712"/>
            <a:ext cx="3063240" cy="274320"/>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AFTER: peer heard “1m” ago —</a:t>
            </a:r>
            <a:endParaRPr lang="en-US" sz="900" dirty="0"/>
          </a:p>
          <a:p>
            <a:pPr algn="ctr" indent="0" marL="0">
              <a:buNone/>
            </a:pPr>
            <a:r>
              <a:rPr lang="en-US" sz="900" dirty="0">
                <a:solidFill>
                  <a:srgbClr val="5E6B85"/>
                </a:solidFill>
                <a:latin typeface="Courier New" pitchFamily="34" charset="0"/>
                <a:ea typeface="Courier New" pitchFamily="34" charset="-122"/>
                <a:cs typeface="Courier New" pitchFamily="34" charset="-120"/>
              </a:rPr>
              <a:t>fresh stamp, honest counter</a:t>
            </a:r>
            <a:endParaRPr lang="en-US" sz="900" dirty="0"/>
          </a:p>
        </p:txBody>
      </p:sp>
      <p:pic>
        <p:nvPicPr>
          <p:cNvPr id="19" name="Image 3" descr="C:/Users/deogr/AppData/Local/Temp/claude/C--Users-deogr-Documents-Fall-Project-Off-Grid-Vehicle-dection-project/e8b2e8fa-1513-4aa8-a8f6-ce4fcd20e664/images/23.jpg">    </p:cNvPr>
          <p:cNvPicPr>
            <a:picLocks noChangeAspect="1"/>
          </p:cNvPicPr>
          <p:nvPr/>
        </p:nvPicPr>
        <p:blipFill>
          <a:blip r:embed="rId4"/>
          <a:stretch>
            <a:fillRect/>
          </a:stretch>
        </p:blipFill>
        <p:spPr>
          <a:xfrm>
            <a:off x="9281160" y="1234440"/>
            <a:ext cx="2514600" cy="3291840"/>
          </a:xfrm>
          <a:prstGeom prst="rect">
            <a:avLst/>
          </a:prstGeom>
        </p:spPr>
      </p:pic>
      <p:sp>
        <p:nvSpPr>
          <p:cNvPr id="20" name="Shape 14"/>
          <p:cNvSpPr/>
          <p:nvPr/>
        </p:nvSpPr>
        <p:spPr>
          <a:xfrm>
            <a:off x="9281160" y="1234440"/>
            <a:ext cx="2514600" cy="3291840"/>
          </a:xfrm>
          <a:prstGeom prst="rect">
            <a:avLst/>
          </a:prstGeom>
          <a:ln w="12700">
            <a:solidFill>
              <a:srgbClr val="9AA7BE"/>
            </a:solidFill>
            <a:prstDash val="solid"/>
          </a:ln>
        </p:spPr>
      </p:sp>
      <p:sp>
        <p:nvSpPr>
          <p:cNvPr id="21" name="Text 15"/>
          <p:cNvSpPr txBox="1"/>
          <p:nvPr/>
        </p:nvSpPr>
        <p:spPr>
          <a:xfrm>
            <a:off x="9006840" y="4553712"/>
            <a:ext cx="3063240" cy="274320"/>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home screen: uptime, voltage,</a:t>
            </a:r>
            <a:endParaRPr lang="en-US" sz="900" dirty="0"/>
          </a:p>
          <a:p>
            <a:pPr algn="ctr" indent="0" marL="0">
              <a:buNone/>
            </a:pPr>
            <a:r>
              <a:rPr lang="en-US" sz="900" dirty="0">
                <a:solidFill>
                  <a:srgbClr val="5E6B85"/>
                </a:solidFill>
                <a:latin typeface="Courier New" pitchFamily="34" charset="0"/>
                <a:ea typeface="Courier New" pitchFamily="34" charset="-122"/>
                <a:cs typeface="Courier New" pitchFamily="34" charset="-120"/>
              </a:rPr>
              <a:t>ChUtil — the health dashboard</a:t>
            </a:r>
            <a:endParaRPr lang="en-US" sz="900" dirty="0"/>
          </a:p>
        </p:txBody>
      </p:sp>
      <p:sp>
        <p:nvSpPr>
          <p:cNvPr id="22" name="Shape 16"/>
          <p:cNvSpPr/>
          <p:nvPr/>
        </p:nvSpPr>
        <p:spPr>
          <a:xfrm>
            <a:off x="640080" y="4983480"/>
            <a:ext cx="11155680" cy="1051560"/>
          </a:xfrm>
          <a:prstGeom prst="rect">
            <a:avLst/>
          </a:prstGeom>
          <a:solidFill>
            <a:srgbClr val="F2F5FA"/>
          </a:solidFill>
          <a:ln w="12700">
            <a:solidFill>
              <a:srgbClr val="9AA7BE"/>
            </a:solidFill>
            <a:prstDash val="solid"/>
          </a:ln>
        </p:spPr>
      </p:sp>
      <p:sp>
        <p:nvSpPr>
          <p:cNvPr id="23" name="Text 17"/>
          <p:cNvSpPr txBox="1"/>
          <p:nvPr/>
        </p:nvSpPr>
        <p:spPr>
          <a:xfrm>
            <a:off x="868680" y="5074920"/>
            <a:ext cx="10698480" cy="868680"/>
          </a:xfrm>
          <a:prstGeom prst="rect">
            <a:avLst/>
          </a:prstGeom>
          <a:noFill/>
          <a:ln/>
        </p:spPr>
        <p:txBody>
          <a:bodyPr wrap="square" lIns="0" tIns="0" rIns="0" bIns="0" rtlCol="0" anchor="ctr"/>
          <a:lstStyle/>
          <a:p>
            <a:pPr indent="0" marL="0">
              <a:spcAft>
                <a:spcPts val="400"/>
              </a:spcAft>
              <a:buNone/>
            </a:pPr>
            <a:r>
              <a:rPr lang="en-US" sz="1050" b="1" dirty="0">
                <a:solidFill>
                  <a:srgbClr val="D9488C"/>
                </a:solidFill>
                <a:latin typeface="Courier New" pitchFamily="34" charset="0"/>
                <a:ea typeface="Courier New" pitchFamily="34" charset="-122"/>
                <a:cs typeface="Courier New" pitchFamily="34" charset="-120"/>
              </a:rPr>
              <a:t>TEST DISCIPLINE THAT FOUND EVERY BUG THIS WEEK   </a:t>
            </a:r>
            <a:endParaRPr lang="en-US" sz="1050" dirty="0"/>
          </a:p>
          <a:p>
            <a:pPr indent="0" marL="0">
              <a:buNone/>
            </a:pPr>
            <a:r>
              <a:rPr lang="en-US" sz="1150" dirty="0">
                <a:solidFill>
                  <a:srgbClr val="222A3F"/>
                </a:solidFill>
                <a:latin typeface="Arial" pitchFamily="34" charset="0"/>
                <a:ea typeface="Arial" pitchFamily="34" charset="-122"/>
                <a:cs typeface="Arial" pitchFamily="34" charset="-120"/>
              </a:rPr>
              <a:t>change one variable per trial · verify writes with a read-back, then with the OLED · prefer machine-checkable probes (traceroute, node DB dumps) over eyeballs · log every NAK — errors localize faults better than successes</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CONFIGURATION + REFERENCES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16/18  REV E  2026-09-25</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AS-BUILT CONFIGURATION AND REFERENCES</a:t>
            </a:r>
            <a:endParaRPr lang="en-US" sz="23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11155680" cy="914400"/>
        </p:xfrm>
        <a:graphic>
          <a:graphicData uri="http://schemas.openxmlformats.org/drawingml/2006/table">
            <a:tbl>
              <a:tblPr/>
              <a:tblGrid>
                <a:gridCol w="2286000"/>
                <a:gridCol w="3291840"/>
                <a:gridCol w="2560320"/>
                <a:gridCol w="3017520"/>
              </a:tblGrid>
              <a:tr h="384048">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PARAMETER</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BOTH RADIOS</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PARAMETER</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BOTH RADIOS</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r>
              <a:tr h="384048">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channel / slot</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1F9D68"/>
                          </a:solidFill>
                          <a:latin typeface="Courier New" pitchFamily="34" charset="0"/>
                          <a:ea typeface="Courier New" pitchFamily="34" charset="-122"/>
                          <a:cs typeface="Courier New" pitchFamily="34" charset="-120"/>
                        </a:rPr>
                        <a:t>Group9 · 43 · 912.875 MHz</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gps_update_interval</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1F9D68"/>
                          </a:solidFill>
                          <a:latin typeface="Courier New" pitchFamily="34" charset="0"/>
                          <a:ea typeface="Courier New" pitchFamily="34" charset="-122"/>
                          <a:cs typeface="Courier New" pitchFamily="34" charset="-120"/>
                        </a:rPr>
                        <a:t>10 s</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preset</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1F9D68"/>
                          </a:solidFill>
                          <a:latin typeface="Courier New" pitchFamily="34" charset="0"/>
                          <a:ea typeface="Courier New" pitchFamily="34" charset="-122"/>
                          <a:cs typeface="Courier New" pitchFamily="34" charset="-120"/>
                        </a:rPr>
                        <a:t>LONG_FAST (SF11/250k/4:5)</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smart broadcast</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1F9D68"/>
                          </a:solidFill>
                          <a:latin typeface="Courier New" pitchFamily="34" charset="0"/>
                          <a:ea typeface="Courier New" pitchFamily="34" charset="-122"/>
                          <a:cs typeface="Courier New" pitchFamily="34" charset="-120"/>
                        </a:rPr>
                        <a:t>10 s AND 20 m</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tx_power / region</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1F9D68"/>
                          </a:solidFill>
                          <a:latin typeface="Courier New" pitchFamily="34" charset="0"/>
                          <a:ea typeface="Courier New" pitchFamily="34" charset="-122"/>
                          <a:cs typeface="Courier New" pitchFamily="34" charset="-120"/>
                        </a:rPr>
                        <a:t>+30 dBm · US</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telemetry heartbeat</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1F9D68"/>
                          </a:solidFill>
                          <a:latin typeface="Courier New" pitchFamily="34" charset="0"/>
                          <a:ea typeface="Courier New" pitchFamily="34" charset="-122"/>
                          <a:cs typeface="Courier New" pitchFamily="34" charset="-120"/>
                        </a:rPr>
                        <a:t>300 s</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role</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1F9D68"/>
                          </a:solidFill>
                          <a:latin typeface="Courier New" pitchFamily="34" charset="0"/>
                          <a:ea typeface="Courier New" pitchFamily="34" charset="-122"/>
                          <a:cs typeface="Courier New" pitchFamily="34" charset="-120"/>
                        </a:rPr>
                        <a:t>CLIENT_MUTE (2-node)</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position precision</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050" dirty="0">
                          <a:solidFill>
                            <a:srgbClr val="1F9D68"/>
                          </a:solidFill>
                          <a:latin typeface="Courier New" pitchFamily="34" charset="0"/>
                          <a:ea typeface="Courier New" pitchFamily="34" charset="-122"/>
                          <a:cs typeface="Courier New" pitchFamily="34" charset="-120"/>
                        </a:rPr>
                        <a:t>32 bit (full)</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bluetooth (SF only)</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1F9D68"/>
                          </a:solidFill>
                          <a:latin typeface="Courier New" pitchFamily="34" charset="0"/>
                          <a:ea typeface="Courier New" pitchFamily="34" charset="-122"/>
                          <a:cs typeface="Courier New" pitchFamily="34" charset="-120"/>
                        </a:rPr>
                        <a:t>NO_PIN, for display</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b="1" dirty="0">
                          <a:solidFill>
                            <a:srgbClr val="222A3F"/>
                          </a:solidFill>
                          <a:latin typeface="Courier New" pitchFamily="34" charset="0"/>
                          <a:ea typeface="Courier New" pitchFamily="34" charset="-122"/>
                          <a:cs typeface="Courier New" pitchFamily="34" charset="-120"/>
                        </a:rPr>
                        <a:t>canned messages</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050" dirty="0">
                          <a:solidFill>
                            <a:srgbClr val="1F9D68"/>
                          </a:solidFill>
                          <a:latin typeface="Courier New" pitchFamily="34" charset="0"/>
                          <a:ea typeface="Courier New" pitchFamily="34" charset="-122"/>
                          <a:cs typeface="Courier New" pitchFamily="34" charset="-120"/>
                        </a:rPr>
                        <a:t>15-preset chain</a:t>
                      </a:r>
                      <a:endParaRPr lang="en-US" sz="10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bl>
          </a:graphicData>
        </a:graphic>
      </p:graphicFrame>
      <p:sp>
        <p:nvSpPr>
          <p:cNvPr id="11" name="Text 8"/>
          <p:cNvSpPr txBox="1"/>
          <p:nvPr/>
        </p:nvSpPr>
        <p:spPr>
          <a:xfrm>
            <a:off x="548640" y="3520440"/>
            <a:ext cx="11155680" cy="320040"/>
          </a:xfrm>
          <a:prstGeom prst="rect">
            <a:avLst/>
          </a:prstGeom>
          <a:noFill/>
          <a:ln/>
        </p:spPr>
        <p:txBody>
          <a:bodyPr wrap="square" lIns="0" tIns="0" rIns="0" bIns="0" rtlCol="0" anchor="ctr"/>
          <a:lstStyle/>
          <a:p>
            <a:pPr indent="0" marL="0">
              <a:buNone/>
            </a:pPr>
            <a:r>
              <a:rPr lang="en-US" sz="1100" dirty="0">
                <a:solidFill>
                  <a:srgbClr val="5E6B85"/>
                </a:solidFill>
                <a:latin typeface="Arial" pitchFamily="34" charset="0"/>
                <a:ea typeface="Arial" pitchFamily="34" charset="-122"/>
                <a:cs typeface="Arial" pitchFamily="34" charset="-120"/>
              </a:rPr>
              <a:t>Every value --get verified after its write AND cross-checked on the OLED. Full recipe + gotcha log: hardware/README.md (7 commits this week).</a:t>
            </a:r>
            <a:endParaRPr lang="en-US" sz="1100" dirty="0"/>
          </a:p>
        </p:txBody>
      </p:sp>
      <p:sp>
        <p:nvSpPr>
          <p:cNvPr id="12" name="Text 9">
            <a:hlinkClick r:id="rId1" tooltip=""/>
          </p:cNvPr>
          <p:cNvSpPr txBox="1"/>
          <p:nvPr/>
        </p:nvSpPr>
        <p:spPr>
          <a:xfrm>
            <a:off x="548640" y="3950208"/>
            <a:ext cx="11155680" cy="246888"/>
          </a:xfrm>
          <a:prstGeom prst="rect">
            <a:avLst/>
          </a:prstGeom>
          <a:noFill/>
          <a:ln/>
        </p:spPr>
        <p:txBody>
          <a:bodyPr wrap="square" lIns="0" tIns="0" rIns="0" bIns="0" rtlCol="0" anchor="ctr"/>
          <a:lstStyle/>
          <a:p>
            <a:pPr indent="0" marL="0">
              <a:buNone/>
            </a:pPr>
            <a:r>
              <a:rPr lang="en-US" sz="1000" u="sng" dirty="0">
                <a:solidFill>
                  <a:srgbClr val="1155CC"/>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[1] Semtech SX1262 Datasheet rev 2.2 — sensitivity, SNR floors, PA limits</a:t>
            </a:r>
            <a:endParaRPr lang="en-US" sz="1000" dirty="0"/>
          </a:p>
        </p:txBody>
      </p:sp>
      <p:sp>
        <p:nvSpPr>
          <p:cNvPr id="13" name="Text 10">
            <a:hlinkClick r:id="rId2" tooltip=""/>
          </p:cNvPr>
          <p:cNvSpPr txBox="1"/>
          <p:nvPr/>
        </p:nvSpPr>
        <p:spPr>
          <a:xfrm>
            <a:off x="548640" y="4197096"/>
            <a:ext cx="11155680" cy="246888"/>
          </a:xfrm>
          <a:prstGeom prst="rect">
            <a:avLst/>
          </a:prstGeom>
          <a:noFill/>
          <a:ln/>
        </p:spPr>
        <p:txBody>
          <a:bodyPr wrap="square" lIns="0" tIns="0" rIns="0" bIns="0" rtlCol="0" anchor="ctr"/>
          <a:lstStyle/>
          <a:p>
            <a:pPr indent="0" marL="0">
              <a:buNone/>
            </a:pPr>
            <a:r>
              <a:rPr lang="en-US" sz="1000" u="sng" dirty="0">
                <a:solidFill>
                  <a:srgbClr val="1155CC"/>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[2] Meshtastic docs — Channels &amp; frequency slot calculation</a:t>
            </a:r>
            <a:endParaRPr lang="en-US" sz="1000" dirty="0"/>
          </a:p>
        </p:txBody>
      </p:sp>
      <p:sp>
        <p:nvSpPr>
          <p:cNvPr id="14" name="Text 11">
            <a:hlinkClick r:id="rId3" tooltip=""/>
          </p:cNvPr>
          <p:cNvSpPr txBox="1"/>
          <p:nvPr/>
        </p:nvSpPr>
        <p:spPr>
          <a:xfrm>
            <a:off x="548640" y="4443984"/>
            <a:ext cx="11155680" cy="246888"/>
          </a:xfrm>
          <a:prstGeom prst="rect">
            <a:avLst/>
          </a:prstGeom>
          <a:noFill/>
          <a:ln/>
        </p:spPr>
        <p:txBody>
          <a:bodyPr wrap="square" lIns="0" tIns="0" rIns="0" bIns="0" rtlCol="0" anchor="ctr"/>
          <a:lstStyle/>
          <a:p>
            <a:pPr indent="0" marL="0">
              <a:buNone/>
            </a:pPr>
            <a:r>
              <a:rPr lang="en-US" sz="1000" u="sng" dirty="0">
                <a:solidFill>
                  <a:srgbClr val="1155CC"/>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[3] Meshtastic docs — Mesh broadcast algorithm (flood, CSMA, hop limit)</a:t>
            </a:r>
            <a:endParaRPr lang="en-US" sz="1000" dirty="0"/>
          </a:p>
        </p:txBody>
      </p:sp>
      <p:sp>
        <p:nvSpPr>
          <p:cNvPr id="15" name="Text 12">
            <a:hlinkClick r:id="rId4" tooltip=""/>
          </p:cNvPr>
          <p:cNvSpPr txBox="1"/>
          <p:nvPr/>
        </p:nvSpPr>
        <p:spPr>
          <a:xfrm>
            <a:off x="548640" y="4690872"/>
            <a:ext cx="11155680" cy="246888"/>
          </a:xfrm>
          <a:prstGeom prst="rect">
            <a:avLst/>
          </a:prstGeom>
          <a:noFill/>
          <a:ln/>
        </p:spPr>
        <p:txBody>
          <a:bodyPr wrap="square" lIns="0" tIns="0" rIns="0" bIns="0" rtlCol="0" anchor="ctr"/>
          <a:lstStyle/>
          <a:p>
            <a:pPr indent="0" marL="0">
              <a:buNone/>
            </a:pPr>
            <a:r>
              <a:rPr lang="en-US" sz="1000" u="sng" dirty="0">
                <a:solidFill>
                  <a:srgbClr val="1155CC"/>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[4] Meshtastic docs — Device roles (CLIENT / CLIENT_MUTE)</a:t>
            </a:r>
            <a:endParaRPr lang="en-US" sz="1000" dirty="0"/>
          </a:p>
        </p:txBody>
      </p:sp>
      <p:sp>
        <p:nvSpPr>
          <p:cNvPr id="16" name="Text 13">
            <a:hlinkClick r:id="rId5" tooltip=""/>
          </p:cNvPr>
          <p:cNvSpPr txBox="1"/>
          <p:nvPr/>
        </p:nvSpPr>
        <p:spPr>
          <a:xfrm>
            <a:off x="548640" y="4937760"/>
            <a:ext cx="11155680" cy="246888"/>
          </a:xfrm>
          <a:prstGeom prst="rect">
            <a:avLst/>
          </a:prstGeom>
          <a:noFill/>
          <a:ln/>
        </p:spPr>
        <p:txBody>
          <a:bodyPr wrap="square" lIns="0" tIns="0" rIns="0" bIns="0" rtlCol="0" anchor="ctr"/>
          <a:lstStyle/>
          <a:p>
            <a:pPr indent="0" marL="0">
              <a:buNone/>
            </a:pPr>
            <a:r>
              <a:rPr lang="en-US" sz="1000" u="sng" dirty="0">
                <a:solidFill>
                  <a:srgbClr val="1155CC"/>
                </a:solidFill>
                <a:latin typeface="Arial" pitchFamily="34" charset="0"/>
                <a:ea typeface="Arial" pitchFamily="34" charset="-122"/>
                <a:cs typeface="Arial" pitchFamily="34" charset="-120"/>
                <a:hlinkClick r:id="rId5" invalidUrl="" action="" tgtFrame="" tooltip="" history="1" highlightClick="0" endSnd="0">
                  <a:extLst>
                    <a:ext uri="{A12FA001-AC4F-418D-AE19-62706E023703}">
                      <ahyp:hlinkClr xmlns:ahyp="http://schemas.microsoft.com/office/drawing/2018/hyperlinkcolor" val="tx"/>
                    </a:ext>
                  </a:extLst>
                </a:hlinkClick>
              </a:rPr>
              <a:t>[5] Meshtastic docs — Telemetry module &amp; intervals</a:t>
            </a:r>
            <a:endParaRPr lang="en-US" sz="1000" dirty="0"/>
          </a:p>
        </p:txBody>
      </p:sp>
      <p:sp>
        <p:nvSpPr>
          <p:cNvPr id="17" name="Text 14">
            <a:hlinkClick r:id="rId6" tooltip=""/>
          </p:cNvPr>
          <p:cNvSpPr txBox="1"/>
          <p:nvPr/>
        </p:nvSpPr>
        <p:spPr>
          <a:xfrm>
            <a:off x="548640" y="5184648"/>
            <a:ext cx="11155680" cy="246888"/>
          </a:xfrm>
          <a:prstGeom prst="rect">
            <a:avLst/>
          </a:prstGeom>
          <a:noFill/>
          <a:ln/>
        </p:spPr>
        <p:txBody>
          <a:bodyPr wrap="square" lIns="0" tIns="0" rIns="0" bIns="0" rtlCol="0" anchor="ctr"/>
          <a:lstStyle/>
          <a:p>
            <a:pPr indent="0" marL="0">
              <a:buNone/>
            </a:pPr>
            <a:r>
              <a:rPr lang="en-US" sz="1000" u="sng" dirty="0">
                <a:solidFill>
                  <a:srgbClr val="1155CC"/>
                </a:solidFill>
                <a:latin typeface="Arial" pitchFamily="34" charset="0"/>
                <a:ea typeface="Arial" pitchFamily="34" charset="-122"/>
                <a:cs typeface="Arial" pitchFamily="34" charset="-120"/>
                <a:hlinkClick r:id="rId6" invalidUrl="" action="" tgtFrame="" tooltip="" history="1" highlightClick="0" endSnd="0">
                  <a:extLst>
                    <a:ext uri="{A12FA001-AC4F-418D-AE19-62706E023703}">
                      <ahyp:hlinkClr xmlns:ahyp="http://schemas.microsoft.com/office/drawing/2018/hyperlinkcolor" val="tx"/>
                    </a:ext>
                  </a:extLst>
                </a:hlinkClick>
              </a:rPr>
              <a:t>[6] Meshtastic docs — Encryption: AES-256 channels, PKC direct messages</a:t>
            </a:r>
            <a:endParaRPr lang="en-US" sz="1000" dirty="0"/>
          </a:p>
        </p:txBody>
      </p:sp>
      <p:sp>
        <p:nvSpPr>
          <p:cNvPr id="18" name="Text 15">
            <a:hlinkClick r:id="rId7" tooltip=""/>
          </p:cNvPr>
          <p:cNvSpPr txBox="1"/>
          <p:nvPr/>
        </p:nvSpPr>
        <p:spPr>
          <a:xfrm>
            <a:off x="548640" y="5431536"/>
            <a:ext cx="11155680" cy="246888"/>
          </a:xfrm>
          <a:prstGeom prst="rect">
            <a:avLst/>
          </a:prstGeom>
          <a:noFill/>
          <a:ln/>
        </p:spPr>
        <p:txBody>
          <a:bodyPr wrap="square" lIns="0" tIns="0" rIns="0" bIns="0" rtlCol="0" anchor="ctr"/>
          <a:lstStyle/>
          <a:p>
            <a:pPr indent="0" marL="0">
              <a:buNone/>
            </a:pPr>
            <a:r>
              <a:rPr lang="en-US" sz="1000" u="sng" dirty="0">
                <a:solidFill>
                  <a:srgbClr val="1155CC"/>
                </a:solidFill>
                <a:latin typeface="Arial" pitchFamily="34" charset="0"/>
                <a:ea typeface="Arial" pitchFamily="34" charset="-122"/>
                <a:cs typeface="Arial" pitchFamily="34" charset="-120"/>
                <a:hlinkClick r:id="rId7" invalidUrl="" action="" tgtFrame="" tooltip="" history="1" highlightClick="0" endSnd="0">
                  <a:extLst>
                    <a:ext uri="{A12FA001-AC4F-418D-AE19-62706E023703}">
                      <ahyp:hlinkClr xmlns:ahyp="http://schemas.microsoft.com/office/drawing/2018/hyperlinkcolor" val="tx"/>
                    </a:ext>
                  </a:extLst>
                </a:hlinkClick>
              </a:rPr>
              <a:t>[7] Semtech AN1200.13 — LoRa modem time-on-air calculation</a:t>
            </a:r>
            <a:endParaRPr lang="en-US" sz="1000" dirty="0"/>
          </a:p>
        </p:txBody>
      </p:sp>
      <p:sp>
        <p:nvSpPr>
          <p:cNvPr id="19" name="Text 16">
            <a:hlinkClick r:id="rId8" tooltip=""/>
          </p:cNvPr>
          <p:cNvSpPr txBox="1"/>
          <p:nvPr/>
        </p:nvSpPr>
        <p:spPr>
          <a:xfrm>
            <a:off x="548640" y="5678424"/>
            <a:ext cx="11155680" cy="246888"/>
          </a:xfrm>
          <a:prstGeom prst="rect">
            <a:avLst/>
          </a:prstGeom>
          <a:noFill/>
          <a:ln/>
        </p:spPr>
        <p:txBody>
          <a:bodyPr wrap="square" lIns="0" tIns="0" rIns="0" bIns="0" rtlCol="0" anchor="ctr"/>
          <a:lstStyle/>
          <a:p>
            <a:pPr indent="0" marL="0">
              <a:buNone/>
            </a:pPr>
            <a:r>
              <a:rPr lang="en-US" sz="1000" u="sng" dirty="0">
                <a:solidFill>
                  <a:srgbClr val="1155CC"/>
                </a:solidFill>
                <a:latin typeface="Arial" pitchFamily="34" charset="0"/>
                <a:ea typeface="Arial" pitchFamily="34" charset="-122"/>
                <a:cs typeface="Arial" pitchFamily="34" charset="-120"/>
                <a:hlinkClick r:id="rId8" invalidUrl="" action="" tgtFrame="" tooltip="" history="1" highlightClick="0" endSnd="0">
                  <a:extLst>
                    <a:ext uri="{A12FA001-AC4F-418D-AE19-62706E023703}">
                      <ahyp:hlinkClr xmlns:ahyp="http://schemas.microsoft.com/office/drawing/2018/hyperlinkcolor" val="tx"/>
                    </a:ext>
                  </a:extLst>
                </a:hlinkClick>
              </a:rPr>
              <a:t>[8] 47 CFR § 15.247 — US 902–928 MHz ISM rules (Cornell LII)</a:t>
            </a:r>
            <a:endParaRPr lang="en-US" sz="1000" dirty="0"/>
          </a:p>
        </p:txBody>
      </p:sp>
      <p:sp>
        <p:nvSpPr>
          <p:cNvPr id="20" name="Text 17">
            <a:hlinkClick r:id="rId9" tooltip=""/>
          </p:cNvPr>
          <p:cNvSpPr txBox="1"/>
          <p:nvPr/>
        </p:nvSpPr>
        <p:spPr>
          <a:xfrm>
            <a:off x="548640" y="5925312"/>
            <a:ext cx="11155680" cy="246888"/>
          </a:xfrm>
          <a:prstGeom prst="rect">
            <a:avLst/>
          </a:prstGeom>
          <a:noFill/>
          <a:ln/>
        </p:spPr>
        <p:txBody>
          <a:bodyPr wrap="square" lIns="0" tIns="0" rIns="0" bIns="0" rtlCol="0" anchor="ctr"/>
          <a:lstStyle/>
          <a:p>
            <a:pPr indent="0" marL="0">
              <a:buNone/>
            </a:pPr>
            <a:r>
              <a:rPr lang="en-US" sz="1000" u="sng" dirty="0">
                <a:solidFill>
                  <a:srgbClr val="1155CC"/>
                </a:solidFill>
                <a:latin typeface="Arial" pitchFamily="34" charset="0"/>
                <a:ea typeface="Arial" pitchFamily="34" charset="-122"/>
                <a:cs typeface="Arial" pitchFamily="34" charset="-120"/>
                <a:hlinkClick r:id="rId9" invalidUrl="" action="" tgtFrame="" tooltip="" history="1" highlightClick="0" endSnd="0">
                  <a:extLst>
                    <a:ext uri="{A12FA001-AC4F-418D-AE19-62706E023703}">
                      <ahyp:hlinkClr xmlns:ahyp="http://schemas.microsoft.com/office/drawing/2018/hyperlinkcolor" val="tx"/>
                    </a:ext>
                  </a:extLst>
                </a:hlinkClick>
              </a:rPr>
              <a:t>[9] AWSW — Symmetrical case for WaveShare ESP32-S3 4.2″ RLCD, Printables 1610004, CC BY-NC 4.0</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NOMENCLATURE I</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17/18  REV E  2026-09-25</a:t>
            </a:r>
            <a:endParaRPr lang="en-US" sz="900" dirty="0"/>
          </a:p>
        </p:txBody>
      </p:sp>
      <p:sp>
        <p:nvSpPr>
          <p:cNvPr id="7" name="Text 5"/>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NOMENCLATURE I: ACRONYMS &amp; ABBREVIATIONS</a:t>
            </a:r>
            <a:endParaRPr lang="en-US" sz="23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5486400" cy="914400"/>
        </p:xfrm>
        <a:graphic>
          <a:graphicData uri="http://schemas.openxmlformats.org/drawingml/2006/table">
            <a:tbl>
              <a:tblPr/>
              <a:tblGrid>
                <a:gridCol w="1371600"/>
                <a:gridCol w="4114800"/>
              </a:tblGrid>
              <a:tr h="379476">
                <a:tc>
                  <a:txBody>
                    <a:bodyPr/>
                    <a:lstStyle/>
                    <a:p>
                      <a:pPr indent="0" marL="0">
                        <a:buNone/>
                      </a:pPr>
                      <a:r>
                        <a:rPr lang="en-US" sz="950" b="1" dirty="0">
                          <a:solidFill>
                            <a:srgbClr val="16213D"/>
                          </a:solidFill>
                          <a:latin typeface="Courier New" pitchFamily="34" charset="0"/>
                          <a:ea typeface="Courier New" pitchFamily="34" charset="-122"/>
                          <a:cs typeface="Courier New" pitchFamily="34" charset="-120"/>
                        </a:rPr>
                        <a:t>LoRa</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950" dirty="0">
                          <a:solidFill>
                            <a:srgbClr val="222A3F"/>
                          </a:solidFill>
                          <a:latin typeface="Arial" pitchFamily="34" charset="0"/>
                          <a:ea typeface="Arial" pitchFamily="34" charset="-122"/>
                          <a:cs typeface="Arial" pitchFamily="34" charset="-120"/>
                        </a:rPr>
                        <a:t>“Long Range” — chirp spread-spectrum radio modulation</a:t>
                      </a:r>
                      <a:endParaRPr lang="en-US" sz="9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79476">
                <a:tc>
                  <a:txBody>
                    <a:bodyPr/>
                    <a:lstStyle/>
                    <a:p>
                      <a:pPr indent="0" marL="0">
                        <a:buNone/>
                      </a:pPr>
                      <a:r>
                        <a:rPr lang="en-US" sz="950" b="1" dirty="0">
                          <a:solidFill>
                            <a:srgbClr val="16213D"/>
                          </a:solidFill>
                          <a:latin typeface="Courier New" pitchFamily="34" charset="0"/>
                          <a:ea typeface="Courier New" pitchFamily="34" charset="-122"/>
                          <a:cs typeface="Courier New" pitchFamily="34" charset="-120"/>
                        </a:rPr>
                        <a:t>SF</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950" dirty="0">
                          <a:solidFill>
                            <a:srgbClr val="222A3F"/>
                          </a:solidFill>
                          <a:latin typeface="Arial" pitchFamily="34" charset="0"/>
                          <a:ea typeface="Arial" pitchFamily="34" charset="-122"/>
                          <a:cs typeface="Arial" pitchFamily="34" charset="-120"/>
                        </a:rPr>
                        <a:t>Spreading Factor — chips per symbol = 2^SF; higher = slower, more sensitive</a:t>
                      </a:r>
                      <a:endParaRPr lang="en-US" sz="9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79476">
                <a:tc>
                  <a:txBody>
                    <a:bodyPr/>
                    <a:lstStyle/>
                    <a:p>
                      <a:pPr indent="0" marL="0">
                        <a:buNone/>
                      </a:pPr>
                      <a:r>
                        <a:rPr lang="en-US" sz="950" b="1" dirty="0">
                          <a:solidFill>
                            <a:srgbClr val="16213D"/>
                          </a:solidFill>
                          <a:latin typeface="Courier New" pitchFamily="34" charset="0"/>
                          <a:ea typeface="Courier New" pitchFamily="34" charset="-122"/>
                          <a:cs typeface="Courier New" pitchFamily="34" charset="-120"/>
                        </a:rPr>
                        <a:t>BW</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950" dirty="0">
                          <a:solidFill>
                            <a:srgbClr val="222A3F"/>
                          </a:solidFill>
                          <a:latin typeface="Arial" pitchFamily="34" charset="0"/>
                          <a:ea typeface="Arial" pitchFamily="34" charset="-122"/>
                          <a:cs typeface="Arial" pitchFamily="34" charset="-120"/>
                        </a:rPr>
                        <a:t>Bandwidth — RF channel width; ours 250 kHz</a:t>
                      </a:r>
                      <a:endParaRPr lang="en-US" sz="9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79476">
                <a:tc>
                  <a:txBody>
                    <a:bodyPr/>
                    <a:lstStyle/>
                    <a:p>
                      <a:pPr indent="0" marL="0">
                        <a:buNone/>
                      </a:pPr>
                      <a:r>
                        <a:rPr lang="en-US" sz="950" b="1" dirty="0">
                          <a:solidFill>
                            <a:srgbClr val="16213D"/>
                          </a:solidFill>
                          <a:latin typeface="Courier New" pitchFamily="34" charset="0"/>
                          <a:ea typeface="Courier New" pitchFamily="34" charset="-122"/>
                          <a:cs typeface="Courier New" pitchFamily="34" charset="-120"/>
                        </a:rPr>
                        <a:t>CR</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950" dirty="0">
                          <a:solidFill>
                            <a:srgbClr val="222A3F"/>
                          </a:solidFill>
                          <a:latin typeface="Arial" pitchFamily="34" charset="0"/>
                          <a:ea typeface="Arial" pitchFamily="34" charset="-122"/>
                          <a:cs typeface="Arial" pitchFamily="34" charset="-120"/>
                        </a:rPr>
                        <a:t>Coding Rate — forward-error-correction ratio; 4:5 = 1 parity per 4 data bits</a:t>
                      </a:r>
                      <a:endParaRPr lang="en-US" sz="9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79476">
                <a:tc>
                  <a:txBody>
                    <a:bodyPr/>
                    <a:lstStyle/>
                    <a:p>
                      <a:pPr indent="0" marL="0">
                        <a:buNone/>
                      </a:pPr>
                      <a:r>
                        <a:rPr lang="en-US" sz="950" b="1" dirty="0">
                          <a:solidFill>
                            <a:srgbClr val="16213D"/>
                          </a:solidFill>
                          <a:latin typeface="Courier New" pitchFamily="34" charset="0"/>
                          <a:ea typeface="Courier New" pitchFamily="34" charset="-122"/>
                          <a:cs typeface="Courier New" pitchFamily="34" charset="-120"/>
                        </a:rPr>
                        <a:t>PHY</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950" dirty="0">
                          <a:solidFill>
                            <a:srgbClr val="222A3F"/>
                          </a:solidFill>
                          <a:latin typeface="Arial" pitchFamily="34" charset="0"/>
                          <a:ea typeface="Arial" pitchFamily="34" charset="-122"/>
                          <a:cs typeface="Arial" pitchFamily="34" charset="-120"/>
                        </a:rPr>
                        <a:t>Physical layer — the radio chip + modulation level of the stack</a:t>
                      </a:r>
                      <a:endParaRPr lang="en-US" sz="9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79476">
                <a:tc>
                  <a:txBody>
                    <a:bodyPr/>
                    <a:lstStyle/>
                    <a:p>
                      <a:pPr indent="0" marL="0">
                        <a:buNone/>
                      </a:pPr>
                      <a:r>
                        <a:rPr lang="en-US" sz="950" b="1" dirty="0">
                          <a:solidFill>
                            <a:srgbClr val="16213D"/>
                          </a:solidFill>
                          <a:latin typeface="Courier New" pitchFamily="34" charset="0"/>
                          <a:ea typeface="Courier New" pitchFamily="34" charset="-122"/>
                          <a:cs typeface="Courier New" pitchFamily="34" charset="-120"/>
                        </a:rPr>
                        <a:t>MCU</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950" dirty="0">
                          <a:solidFill>
                            <a:srgbClr val="222A3F"/>
                          </a:solidFill>
                          <a:latin typeface="Arial" pitchFamily="34" charset="0"/>
                          <a:ea typeface="Arial" pitchFamily="34" charset="-122"/>
                          <a:cs typeface="Arial" pitchFamily="34" charset="-120"/>
                        </a:rPr>
                        <a:t>Microcontroller Unit — the ESP32-S3 processor</a:t>
                      </a:r>
                      <a:endParaRPr lang="en-US" sz="9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79476">
                <a:tc>
                  <a:txBody>
                    <a:bodyPr/>
                    <a:lstStyle/>
                    <a:p>
                      <a:pPr indent="0" marL="0">
                        <a:buNone/>
                      </a:pPr>
                      <a:r>
                        <a:rPr lang="en-US" sz="950" b="1" dirty="0">
                          <a:solidFill>
                            <a:srgbClr val="16213D"/>
                          </a:solidFill>
                          <a:latin typeface="Courier New" pitchFamily="34" charset="0"/>
                          <a:ea typeface="Courier New" pitchFamily="34" charset="-122"/>
                          <a:cs typeface="Courier New" pitchFamily="34" charset="-120"/>
                        </a:rPr>
                        <a:t>GNSS / GPS</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950" dirty="0">
                          <a:solidFill>
                            <a:srgbClr val="222A3F"/>
                          </a:solidFill>
                          <a:latin typeface="Arial" pitchFamily="34" charset="0"/>
                          <a:ea typeface="Arial" pitchFamily="34" charset="-122"/>
                          <a:cs typeface="Arial" pitchFamily="34" charset="-120"/>
                        </a:rPr>
                        <a:t>Global Navigation Satellite System / the US constellation</a:t>
                      </a:r>
                      <a:endParaRPr lang="en-US" sz="9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79476">
                <a:tc>
                  <a:txBody>
                    <a:bodyPr/>
                    <a:lstStyle/>
                    <a:p>
                      <a:pPr indent="0" marL="0">
                        <a:buNone/>
                      </a:pPr>
                      <a:r>
                        <a:rPr lang="en-US" sz="950" b="1" dirty="0">
                          <a:solidFill>
                            <a:srgbClr val="16213D"/>
                          </a:solidFill>
                          <a:latin typeface="Courier New" pitchFamily="34" charset="0"/>
                          <a:ea typeface="Courier New" pitchFamily="34" charset="-122"/>
                          <a:cs typeface="Courier New" pitchFamily="34" charset="-120"/>
                        </a:rPr>
                        <a:t>BLE</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950" dirty="0">
                          <a:solidFill>
                            <a:srgbClr val="222A3F"/>
                          </a:solidFill>
                          <a:latin typeface="Arial" pitchFamily="34" charset="0"/>
                          <a:ea typeface="Arial" pitchFamily="34" charset="-122"/>
                          <a:cs typeface="Arial" pitchFamily="34" charset="-120"/>
                        </a:rPr>
                        <a:t>Bluetooth Low Energy — display↔radio link at 2.4 GHz</a:t>
                      </a:r>
                      <a:endParaRPr lang="en-US" sz="9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79476">
                <a:tc>
                  <a:txBody>
                    <a:bodyPr/>
                    <a:lstStyle/>
                    <a:p>
                      <a:pPr indent="0" marL="0">
                        <a:buNone/>
                      </a:pPr>
                      <a:r>
                        <a:rPr lang="en-US" sz="950" b="1" dirty="0">
                          <a:solidFill>
                            <a:srgbClr val="16213D"/>
                          </a:solidFill>
                          <a:latin typeface="Courier New" pitchFamily="34" charset="0"/>
                          <a:ea typeface="Courier New" pitchFamily="34" charset="-122"/>
                          <a:cs typeface="Courier New" pitchFamily="34" charset="-120"/>
                        </a:rPr>
                        <a:t>RLCD</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950" dirty="0">
                          <a:solidFill>
                            <a:srgbClr val="222A3F"/>
                          </a:solidFill>
                          <a:latin typeface="Arial" pitchFamily="34" charset="0"/>
                          <a:ea typeface="Arial" pitchFamily="34" charset="-122"/>
                          <a:cs typeface="Arial" pitchFamily="34" charset="-120"/>
                        </a:rPr>
                        <a:t>Reflective LCD — sunlight-readable, backlight-free panel</a:t>
                      </a:r>
                      <a:endParaRPr lang="en-US" sz="9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79476">
                <a:tc>
                  <a:txBody>
                    <a:bodyPr/>
                    <a:lstStyle/>
                    <a:p>
                      <a:pPr indent="0" marL="0">
                        <a:buNone/>
                      </a:pPr>
                      <a:r>
                        <a:rPr lang="en-US" sz="950" b="1" dirty="0">
                          <a:solidFill>
                            <a:srgbClr val="16213D"/>
                          </a:solidFill>
                          <a:latin typeface="Courier New" pitchFamily="34" charset="0"/>
                          <a:ea typeface="Courier New" pitchFamily="34" charset="-122"/>
                          <a:cs typeface="Courier New" pitchFamily="34" charset="-120"/>
                        </a:rPr>
                        <a:t>OLED</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950" dirty="0">
                          <a:solidFill>
                            <a:srgbClr val="222A3F"/>
                          </a:solidFill>
                          <a:latin typeface="Arial" pitchFamily="34" charset="0"/>
                          <a:ea typeface="Arial" pitchFamily="34" charset="-122"/>
                          <a:cs typeface="Arial" pitchFamily="34" charset="-120"/>
                        </a:rPr>
                        <a:t>Organic LED — the small status screen on each Heltec radio</a:t>
                      </a:r>
                      <a:endParaRPr lang="en-US" sz="9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79476">
                <a:tc>
                  <a:txBody>
                    <a:bodyPr/>
                    <a:lstStyle/>
                    <a:p>
                      <a:pPr indent="0" marL="0">
                        <a:buNone/>
                      </a:pPr>
                      <a:r>
                        <a:rPr lang="en-US" sz="950" b="1" dirty="0">
                          <a:solidFill>
                            <a:srgbClr val="16213D"/>
                          </a:solidFill>
                          <a:latin typeface="Courier New" pitchFamily="34" charset="0"/>
                          <a:ea typeface="Courier New" pitchFamily="34" charset="-122"/>
                          <a:cs typeface="Courier New" pitchFamily="34" charset="-120"/>
                        </a:rPr>
                        <a:t>ISM</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950" dirty="0">
                          <a:solidFill>
                            <a:srgbClr val="222A3F"/>
                          </a:solidFill>
                          <a:latin typeface="Arial" pitchFamily="34" charset="0"/>
                          <a:ea typeface="Arial" pitchFamily="34" charset="-122"/>
                          <a:cs typeface="Arial" pitchFamily="34" charset="-120"/>
                        </a:rPr>
                        <a:t>Industrial-Scientific-Medical — license-free band (US: 902–928 MHz)</a:t>
                      </a:r>
                      <a:endParaRPr lang="en-US" sz="9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79476">
                <a:tc>
                  <a:txBody>
                    <a:bodyPr/>
                    <a:lstStyle/>
                    <a:p>
                      <a:pPr indent="0" marL="0">
                        <a:buNone/>
                      </a:pPr>
                      <a:r>
                        <a:rPr lang="en-US" sz="950" b="1" dirty="0">
                          <a:solidFill>
                            <a:srgbClr val="16213D"/>
                          </a:solidFill>
                          <a:latin typeface="Courier New" pitchFamily="34" charset="0"/>
                          <a:ea typeface="Courier New" pitchFamily="34" charset="-122"/>
                          <a:cs typeface="Courier New" pitchFamily="34" charset="-120"/>
                        </a:rPr>
                        <a:t>FCC / CFR</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950" dirty="0">
                          <a:solidFill>
                            <a:srgbClr val="222A3F"/>
                          </a:solidFill>
                          <a:latin typeface="Arial" pitchFamily="34" charset="0"/>
                          <a:ea typeface="Arial" pitchFamily="34" charset="-122"/>
                          <a:cs typeface="Arial" pitchFamily="34" charset="-120"/>
                        </a:rPr>
                        <a:t>US radio regulator / Code of Federal Regulations (§15.247 is our rule)</a:t>
                      </a:r>
                      <a:endParaRPr lang="en-US" sz="9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79476">
                <a:tc>
                  <a:txBody>
                    <a:bodyPr/>
                    <a:lstStyle/>
                    <a:p>
                      <a:pPr indent="0" marL="0">
                        <a:buNone/>
                      </a:pPr>
                      <a:r>
                        <a:rPr lang="en-US" sz="950" b="1" dirty="0">
                          <a:solidFill>
                            <a:srgbClr val="16213D"/>
                          </a:solidFill>
                          <a:latin typeface="Courier New" pitchFamily="34" charset="0"/>
                          <a:ea typeface="Courier New" pitchFamily="34" charset="-122"/>
                          <a:cs typeface="Courier New" pitchFamily="34" charset="-120"/>
                        </a:rPr>
                        <a:t>SMA</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950" dirty="0">
                          <a:solidFill>
                            <a:srgbClr val="222A3F"/>
                          </a:solidFill>
                          <a:latin typeface="Arial" pitchFamily="34" charset="0"/>
                          <a:ea typeface="Arial" pitchFamily="34" charset="-122"/>
                          <a:cs typeface="Arial" pitchFamily="34" charset="-120"/>
                        </a:rPr>
                        <a:t>SubMiniature-A — the screw-on antenna connector</a:t>
                      </a:r>
                      <a:endParaRPr lang="en-US" sz="9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bl>
          </a:graphicData>
        </a:graphic>
      </p:graphicFrame>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6172200" y="1097280"/>
          <a:ext cx="5486400" cy="914400"/>
        </p:xfrm>
        <a:graphic>
          <a:graphicData uri="http://schemas.openxmlformats.org/drawingml/2006/table">
            <a:tbl>
              <a:tblPr/>
              <a:tblGrid>
                <a:gridCol w="1371600"/>
                <a:gridCol w="4114800"/>
              </a:tblGrid>
              <a:tr h="379476">
                <a:tc>
                  <a:txBody>
                    <a:bodyPr/>
                    <a:lstStyle/>
                    <a:p>
                      <a:pPr indent="0" marL="0">
                        <a:buNone/>
                      </a:pPr>
                      <a:r>
                        <a:rPr lang="en-US" sz="950" b="1" dirty="0">
                          <a:solidFill>
                            <a:srgbClr val="16213D"/>
                          </a:solidFill>
                          <a:latin typeface="Courier New" pitchFamily="34" charset="0"/>
                          <a:ea typeface="Courier New" pitchFamily="34" charset="-122"/>
                          <a:cs typeface="Courier New" pitchFamily="34" charset="-120"/>
                        </a:rPr>
                        <a:t>AES-256</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950" dirty="0">
                          <a:solidFill>
                            <a:srgbClr val="222A3F"/>
                          </a:solidFill>
                          <a:latin typeface="Arial" pitchFamily="34" charset="0"/>
                          <a:ea typeface="Arial" pitchFamily="34" charset="-122"/>
                          <a:cs typeface="Arial" pitchFamily="34" charset="-120"/>
                        </a:rPr>
                        <a:t>Advanced Encryption Standard, 256-bit key — channel encryption</a:t>
                      </a:r>
                      <a:endParaRPr lang="en-US" sz="9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79476">
                <a:tc>
                  <a:txBody>
                    <a:bodyPr/>
                    <a:lstStyle/>
                    <a:p>
                      <a:pPr indent="0" marL="0">
                        <a:buNone/>
                      </a:pPr>
                      <a:r>
                        <a:rPr lang="en-US" sz="950" b="1" dirty="0">
                          <a:solidFill>
                            <a:srgbClr val="16213D"/>
                          </a:solidFill>
                          <a:latin typeface="Courier New" pitchFamily="34" charset="0"/>
                          <a:ea typeface="Courier New" pitchFamily="34" charset="-122"/>
                          <a:cs typeface="Courier New" pitchFamily="34" charset="-120"/>
                        </a:rPr>
                        <a:t>PSK</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950" dirty="0">
                          <a:solidFill>
                            <a:srgbClr val="222A3F"/>
                          </a:solidFill>
                          <a:latin typeface="Arial" pitchFamily="34" charset="0"/>
                          <a:ea typeface="Arial" pitchFamily="34" charset="-122"/>
                          <a:cs typeface="Arial" pitchFamily="34" charset="-120"/>
                        </a:rPr>
                        <a:t>Pre-Shared Key — the secret both radios hold in the channel URL</a:t>
                      </a:r>
                      <a:endParaRPr lang="en-US" sz="9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79476">
                <a:tc>
                  <a:txBody>
                    <a:bodyPr/>
                    <a:lstStyle/>
                    <a:p>
                      <a:pPr indent="0" marL="0">
                        <a:buNone/>
                      </a:pPr>
                      <a:r>
                        <a:rPr lang="en-US" sz="950" b="1" dirty="0">
                          <a:solidFill>
                            <a:srgbClr val="16213D"/>
                          </a:solidFill>
                          <a:latin typeface="Courier New" pitchFamily="34" charset="0"/>
                          <a:ea typeface="Courier New" pitchFamily="34" charset="-122"/>
                          <a:cs typeface="Courier New" pitchFamily="34" charset="-120"/>
                        </a:rPr>
                        <a:t>PKC</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950" dirty="0">
                          <a:solidFill>
                            <a:srgbClr val="222A3F"/>
                          </a:solidFill>
                          <a:latin typeface="Arial" pitchFamily="34" charset="0"/>
                          <a:ea typeface="Arial" pitchFamily="34" charset="-122"/>
                          <a:cs typeface="Arial" pitchFamily="34" charset="-120"/>
                        </a:rPr>
                        <a:t>Public-Key Cryptography — per-node keys used by direct messages</a:t>
                      </a:r>
                      <a:endParaRPr lang="en-US" sz="9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79476">
                <a:tc>
                  <a:txBody>
                    <a:bodyPr/>
                    <a:lstStyle/>
                    <a:p>
                      <a:pPr indent="0" marL="0">
                        <a:buNone/>
                      </a:pPr>
                      <a:r>
                        <a:rPr lang="en-US" sz="950" b="1" dirty="0">
                          <a:solidFill>
                            <a:srgbClr val="16213D"/>
                          </a:solidFill>
                          <a:latin typeface="Courier New" pitchFamily="34" charset="0"/>
                          <a:ea typeface="Courier New" pitchFamily="34" charset="-122"/>
                          <a:cs typeface="Courier New" pitchFamily="34" charset="-120"/>
                        </a:rPr>
                        <a:t>DM</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950" dirty="0">
                          <a:solidFill>
                            <a:srgbClr val="222A3F"/>
                          </a:solidFill>
                          <a:latin typeface="Arial" pitchFamily="34" charset="0"/>
                          <a:ea typeface="Arial" pitchFamily="34" charset="-122"/>
                          <a:cs typeface="Arial" pitchFamily="34" charset="-120"/>
                        </a:rPr>
                        <a:t>Direct Message — addressed to one node (vs broadcast to all)</a:t>
                      </a:r>
                      <a:endParaRPr lang="en-US" sz="9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79476">
                <a:tc>
                  <a:txBody>
                    <a:bodyPr/>
                    <a:lstStyle/>
                    <a:p>
                      <a:pPr indent="0" marL="0">
                        <a:buNone/>
                      </a:pPr>
                      <a:r>
                        <a:rPr lang="en-US" sz="950" b="1" dirty="0">
                          <a:solidFill>
                            <a:srgbClr val="16213D"/>
                          </a:solidFill>
                          <a:latin typeface="Courier New" pitchFamily="34" charset="0"/>
                          <a:ea typeface="Courier New" pitchFamily="34" charset="-122"/>
                          <a:cs typeface="Courier New" pitchFamily="34" charset="-120"/>
                        </a:rPr>
                        <a:t>ACK / NAK</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950" dirty="0">
                          <a:solidFill>
                            <a:srgbClr val="222A3F"/>
                          </a:solidFill>
                          <a:latin typeface="Arial" pitchFamily="34" charset="0"/>
                          <a:ea typeface="Arial" pitchFamily="34" charset="-122"/>
                          <a:cs typeface="Arial" pitchFamily="34" charset="-120"/>
                        </a:rPr>
                        <a:t>ACKnowledge / Negative-AcKnowledge — delivery yes / delivery failed</a:t>
                      </a:r>
                      <a:endParaRPr lang="en-US" sz="9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79476">
                <a:tc>
                  <a:txBody>
                    <a:bodyPr/>
                    <a:lstStyle/>
                    <a:p>
                      <a:pPr indent="0" marL="0">
                        <a:buNone/>
                      </a:pPr>
                      <a:r>
                        <a:rPr lang="en-US" sz="950" b="1" dirty="0">
                          <a:solidFill>
                            <a:srgbClr val="16213D"/>
                          </a:solidFill>
                          <a:latin typeface="Courier New" pitchFamily="34" charset="0"/>
                          <a:ea typeface="Courier New" pitchFamily="34" charset="-122"/>
                          <a:cs typeface="Courier New" pitchFamily="34" charset="-120"/>
                        </a:rPr>
                        <a:t>SNR</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950" dirty="0">
                          <a:solidFill>
                            <a:srgbClr val="222A3F"/>
                          </a:solidFill>
                          <a:latin typeface="Arial" pitchFamily="34" charset="0"/>
                          <a:ea typeface="Arial" pitchFamily="34" charset="-122"/>
                          <a:cs typeface="Arial" pitchFamily="34" charset="-120"/>
                        </a:rPr>
                        <a:t>Signal-to-Noise Ratio — signal strength above the noise, in dB</a:t>
                      </a:r>
                      <a:endParaRPr lang="en-US" sz="9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79476">
                <a:tc>
                  <a:txBody>
                    <a:bodyPr/>
                    <a:lstStyle/>
                    <a:p>
                      <a:pPr indent="0" marL="0">
                        <a:buNone/>
                      </a:pPr>
                      <a:r>
                        <a:rPr lang="en-US" sz="950" b="1" dirty="0">
                          <a:solidFill>
                            <a:srgbClr val="16213D"/>
                          </a:solidFill>
                          <a:latin typeface="Courier New" pitchFamily="34" charset="0"/>
                          <a:ea typeface="Courier New" pitchFamily="34" charset="-122"/>
                          <a:cs typeface="Courier New" pitchFamily="34" charset="-120"/>
                        </a:rPr>
                        <a:t>dB / dBm / dBi</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950" dirty="0">
                          <a:solidFill>
                            <a:srgbClr val="222A3F"/>
                          </a:solidFill>
                          <a:latin typeface="Arial" pitchFamily="34" charset="0"/>
                          <a:ea typeface="Arial" pitchFamily="34" charset="-122"/>
                          <a:cs typeface="Arial" pitchFamily="34" charset="-120"/>
                        </a:rPr>
                        <a:t>ratio in decibels / power vs 1 milliwatt / antenna gain vs isotropic</a:t>
                      </a:r>
                      <a:endParaRPr lang="en-US" sz="9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79476">
                <a:tc>
                  <a:txBody>
                    <a:bodyPr/>
                    <a:lstStyle/>
                    <a:p>
                      <a:pPr indent="0" marL="0">
                        <a:buNone/>
                      </a:pPr>
                      <a:r>
                        <a:rPr lang="en-US" sz="950" b="1" dirty="0">
                          <a:solidFill>
                            <a:srgbClr val="16213D"/>
                          </a:solidFill>
                          <a:latin typeface="Courier New" pitchFamily="34" charset="0"/>
                          <a:ea typeface="Courier New" pitchFamily="34" charset="-122"/>
                          <a:cs typeface="Courier New" pitchFamily="34" charset="-120"/>
                        </a:rPr>
                        <a:t>ChUtil</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950" dirty="0">
                          <a:solidFill>
                            <a:srgbClr val="222A3F"/>
                          </a:solidFill>
                          <a:latin typeface="Arial" pitchFamily="34" charset="0"/>
                          <a:ea typeface="Arial" pitchFamily="34" charset="-122"/>
                          <a:cs typeface="Arial" pitchFamily="34" charset="-120"/>
                        </a:rPr>
                        <a:t>Channel Utilization — % of the last minute the channel carried RF</a:t>
                      </a:r>
                      <a:endParaRPr lang="en-US" sz="9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79476">
                <a:tc>
                  <a:txBody>
                    <a:bodyPr/>
                    <a:lstStyle/>
                    <a:p>
                      <a:pPr indent="0" marL="0">
                        <a:buNone/>
                      </a:pPr>
                      <a:r>
                        <a:rPr lang="en-US" sz="950" b="1" dirty="0">
                          <a:solidFill>
                            <a:srgbClr val="16213D"/>
                          </a:solidFill>
                          <a:latin typeface="Courier New" pitchFamily="34" charset="0"/>
                          <a:ea typeface="Courier New" pitchFamily="34" charset="-122"/>
                          <a:cs typeface="Courier New" pitchFamily="34" charset="-120"/>
                        </a:rPr>
                        <a:t>ToA</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950" dirty="0">
                          <a:solidFill>
                            <a:srgbClr val="222A3F"/>
                          </a:solidFill>
                          <a:latin typeface="Arial" pitchFamily="34" charset="0"/>
                          <a:ea typeface="Arial" pitchFamily="34" charset="-122"/>
                          <a:cs typeface="Arial" pitchFamily="34" charset="-120"/>
                        </a:rPr>
                        <a:t>Time on Air — how long one packet occupies the channel</a:t>
                      </a:r>
                      <a:endParaRPr lang="en-US" sz="9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79476">
                <a:tc>
                  <a:txBody>
                    <a:bodyPr/>
                    <a:lstStyle/>
                    <a:p>
                      <a:pPr indent="0" marL="0">
                        <a:buNone/>
                      </a:pPr>
                      <a:r>
                        <a:rPr lang="en-US" sz="950" b="1" dirty="0">
                          <a:solidFill>
                            <a:srgbClr val="16213D"/>
                          </a:solidFill>
                          <a:latin typeface="Courier New" pitchFamily="34" charset="0"/>
                          <a:ea typeface="Courier New" pitchFamily="34" charset="-122"/>
                          <a:cs typeface="Courier New" pitchFamily="34" charset="-120"/>
                        </a:rPr>
                        <a:t>CSMA</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950" dirty="0">
                          <a:solidFill>
                            <a:srgbClr val="222A3F"/>
                          </a:solidFill>
                          <a:latin typeface="Arial" pitchFamily="34" charset="0"/>
                          <a:ea typeface="Arial" pitchFamily="34" charset="-122"/>
                          <a:cs typeface="Arial" pitchFamily="34" charset="-120"/>
                        </a:rPr>
                        <a:t>Carrier-Sense Multiple Access — listen before transmit</a:t>
                      </a:r>
                      <a:endParaRPr lang="en-US" sz="9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79476">
                <a:tc>
                  <a:txBody>
                    <a:bodyPr/>
                    <a:lstStyle/>
                    <a:p>
                      <a:pPr indent="0" marL="0">
                        <a:buNone/>
                      </a:pPr>
                      <a:r>
                        <a:rPr lang="en-US" sz="950" b="1" dirty="0">
                          <a:solidFill>
                            <a:srgbClr val="16213D"/>
                          </a:solidFill>
                          <a:latin typeface="Courier New" pitchFamily="34" charset="0"/>
                          <a:ea typeface="Courier New" pitchFamily="34" charset="-122"/>
                          <a:cs typeface="Courier New" pitchFamily="34" charset="-120"/>
                        </a:rPr>
                        <a:t>djb2</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950" dirty="0">
                          <a:solidFill>
                            <a:srgbClr val="222A3F"/>
                          </a:solidFill>
                          <a:latin typeface="Arial" pitchFamily="34" charset="0"/>
                          <a:ea typeface="Arial" pitchFamily="34" charset="-122"/>
                          <a:cs typeface="Arial" pitchFamily="34" charset="-120"/>
                        </a:rPr>
                        <a:t>Daniel J. Bernstein’s string hash — picks our frequency slot</a:t>
                      </a:r>
                      <a:endParaRPr lang="en-US" sz="9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79476">
                <a:tc>
                  <a:txBody>
                    <a:bodyPr/>
                    <a:lstStyle/>
                    <a:p>
                      <a:pPr indent="0" marL="0">
                        <a:buNone/>
                      </a:pPr>
                      <a:r>
                        <a:rPr lang="en-US" sz="950" b="1" dirty="0">
                          <a:solidFill>
                            <a:srgbClr val="16213D"/>
                          </a:solidFill>
                          <a:latin typeface="Courier New" pitchFamily="34" charset="0"/>
                          <a:ea typeface="Courier New" pitchFamily="34" charset="-122"/>
                          <a:cs typeface="Courier New" pitchFamily="34" charset="-120"/>
                        </a:rPr>
                        <a:t>DTR</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950" dirty="0">
                          <a:solidFill>
                            <a:srgbClr val="222A3F"/>
                          </a:solidFill>
                          <a:latin typeface="Arial" pitchFamily="34" charset="0"/>
                          <a:ea typeface="Arial" pitchFamily="34" charset="-122"/>
                          <a:cs typeface="Arial" pitchFamily="34" charset="-120"/>
                        </a:rPr>
                        <a:t>Data Terminal Ready — serial pin whose toggle hard-resets the ESP32</a:t>
                      </a:r>
                      <a:endParaRPr lang="en-US" sz="9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79476">
                <a:tc>
                  <a:txBody>
                    <a:bodyPr/>
                    <a:lstStyle/>
                    <a:p>
                      <a:pPr indent="0" marL="0">
                        <a:buNone/>
                      </a:pPr>
                      <a:r>
                        <a:rPr lang="en-US" sz="950" b="1" dirty="0">
                          <a:solidFill>
                            <a:srgbClr val="16213D"/>
                          </a:solidFill>
                          <a:latin typeface="Courier New" pitchFamily="34" charset="0"/>
                          <a:ea typeface="Courier New" pitchFamily="34" charset="-122"/>
                          <a:cs typeface="Courier New" pitchFamily="34" charset="-120"/>
                        </a:rPr>
                        <a:t>3MF / PETG / PLA</a:t>
                      </a:r>
                      <a:endParaRPr lang="en-US" sz="9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950" dirty="0">
                          <a:solidFill>
                            <a:srgbClr val="222A3F"/>
                          </a:solidFill>
                          <a:latin typeface="Arial" pitchFamily="34" charset="0"/>
                          <a:ea typeface="Arial" pitchFamily="34" charset="-122"/>
                          <a:cs typeface="Arial" pitchFamily="34" charset="-120"/>
                        </a:rPr>
                        <a:t>3D print file format / two thermoplastic filament materials</a:t>
                      </a:r>
                      <a:endParaRPr lang="en-US" sz="9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NOMENCLATURE II</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18/18  REV E  2026-09-25</a:t>
            </a:r>
            <a:endParaRPr lang="en-US" sz="900" dirty="0"/>
          </a:p>
        </p:txBody>
      </p:sp>
      <p:sp>
        <p:nvSpPr>
          <p:cNvPr id="7" name="Text 5"/>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NOMENCLATURE II: EVERY FORMULA, SYMBOL BY SYMBOL</a:t>
            </a:r>
            <a:endParaRPr lang="en-US" sz="2300" dirty="0"/>
          </a:p>
        </p:txBody>
      </p:sp>
      <p:sp>
        <p:nvSpPr>
          <p:cNvPr id="8" name="Text 6"/>
          <p:cNvSpPr txBox="1"/>
          <p:nvPr/>
        </p:nvSpPr>
        <p:spPr>
          <a:xfrm>
            <a:off x="548640" y="1051560"/>
            <a:ext cx="5394960" cy="237744"/>
          </a:xfrm>
          <a:prstGeom prst="rect">
            <a:avLst/>
          </a:prstGeom>
          <a:noFill/>
          <a:ln/>
        </p:spPr>
        <p:txBody>
          <a:bodyPr wrap="square" lIns="0" tIns="0" rIns="0" bIns="0" rtlCol="0" anchor="ctr"/>
          <a:lstStyle/>
          <a:p>
            <a:pPr indent="0" marL="0">
              <a:buNone/>
            </a:pPr>
            <a:r>
              <a:rPr lang="en-US" sz="1050" b="1" dirty="0">
                <a:solidFill>
                  <a:srgbClr val="E58E1A"/>
                </a:solidFill>
                <a:latin typeface="Courier New" pitchFamily="34" charset="0"/>
                <a:ea typeface="Courier New" pitchFamily="34" charset="-122"/>
                <a:cs typeface="Courier New" pitchFamily="34" charset="-120"/>
              </a:rPr>
              <a:t>FREQUENCY SLOT  (sheet 03)</a:t>
            </a:r>
            <a:endParaRPr lang="en-US" sz="1050" dirty="0"/>
          </a:p>
        </p:txBody>
      </p:sp>
      <p:pic>
        <p:nvPicPr>
          <p:cNvPr id="9" name="Image 0" descr="C:/Users/deogr/AppData/Local/Temp/claude/C--Users-deogr-Documents-Fall-Project-Off-Grid-Vehicle-dection-project/e8b2e8fa-1513-4aa8-a8f6-ce4fcd20e664/scratchpad/deck5/eq_slot.png">    </p:cNvPr>
          <p:cNvPicPr>
            <a:picLocks noChangeAspect="1"/>
          </p:cNvPicPr>
          <p:nvPr/>
        </p:nvPicPr>
        <p:blipFill>
          <a:blip r:embed="rId1"/>
          <a:stretch>
            <a:fillRect/>
          </a:stretch>
        </p:blipFill>
        <p:spPr>
          <a:xfrm>
            <a:off x="548640" y="1307592"/>
            <a:ext cx="5394960" cy="475488"/>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856232"/>
          <a:ext cx="5394960" cy="914400"/>
        </p:xfrm>
        <a:graphic>
          <a:graphicData uri="http://schemas.openxmlformats.org/drawingml/2006/table">
            <a:tbl>
              <a:tblPr/>
              <a:tblGrid>
                <a:gridCol w="1874520"/>
                <a:gridCol w="3520440"/>
              </a:tblGrid>
              <a:tr h="306324">
                <a:tc>
                  <a:txBody>
                    <a:bodyPr/>
                    <a:lstStyle/>
                    <a:p>
                      <a:pPr indent="0" marL="0">
                        <a:buNone/>
                      </a:pPr>
                      <a:r>
                        <a:rPr lang="en-US" sz="880" b="1" dirty="0">
                          <a:solidFill>
                            <a:srgbClr val="16213D"/>
                          </a:solidFill>
                          <a:latin typeface="Courier New" pitchFamily="34" charset="0"/>
                          <a:ea typeface="Courier New" pitchFamily="34" charset="-122"/>
                          <a:cs typeface="Courier New" pitchFamily="34" charset="-120"/>
                        </a:rPr>
                        <a:t>f_slot</a:t>
                      </a:r>
                      <a:endParaRPr lang="en-US" sz="880" dirty="0">
                        <a:latin typeface="Courier New" charset="0"/>
                        <a:ea typeface="Courier New" charset="0"/>
                        <a:cs typeface="Courier New" charset="0"/>
                      </a:endParaRPr>
                    </a:p>
                  </a:txBody>
                  <a:tcPr marL="91440" marR="91440" marT="45720" marB="45720" anchor="ctr">
                    <a:lnL w="6350" cap="flat" cmpd="sng" algn="ctr">
                      <a:solidFill>
                        <a:srgbClr val="9AA7BE"/>
                      </a:solidFill>
                      <a:prstDash val="solid"/>
                      <a:round/>
                      <a:headEnd type="none" w="med" len="med"/>
                      <a:tailEnd type="none" w="med" len="med"/>
                    </a:lnL>
                    <a:lnR w="6350" cap="flat" cmpd="sng" algn="ctr">
                      <a:solidFill>
                        <a:srgbClr val="9AA7BE"/>
                      </a:solidFill>
                      <a:prstDash val="solid"/>
                      <a:round/>
                      <a:headEnd type="none" w="med" len="med"/>
                      <a:tailEnd type="none" w="med" len="med"/>
                    </a:lnR>
                    <a:lnT w="6350" cap="flat" cmpd="sng" algn="ctr">
                      <a:solidFill>
                        <a:srgbClr val="9AA7BE"/>
                      </a:solidFill>
                      <a:prstDash val="solid"/>
                      <a:round/>
                      <a:headEnd type="none" w="med" len="med"/>
                      <a:tailEnd type="none" w="med" len="med"/>
                    </a:lnT>
                    <a:lnB w="6350"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880" dirty="0">
                          <a:solidFill>
                            <a:srgbClr val="222A3F"/>
                          </a:solidFill>
                          <a:latin typeface="Arial" pitchFamily="34" charset="0"/>
                          <a:ea typeface="Arial" pitchFamily="34" charset="-122"/>
                          <a:cs typeface="Arial" pitchFamily="34" charset="-120"/>
                        </a:rPr>
                        <a:t>the RF frequency the radio tunes to</a:t>
                      </a:r>
                      <a:endParaRPr lang="en-US" sz="880" dirty="0">
                        <a:latin typeface="Arial" charset="0"/>
                        <a:ea typeface="Arial" charset="0"/>
                        <a:cs typeface="Arial" charset="0"/>
                      </a:endParaRPr>
                    </a:p>
                  </a:txBody>
                  <a:tcPr marL="91440" marR="91440" marT="45720" marB="45720" anchor="ctr">
                    <a:lnL w="6350" cap="flat" cmpd="sng" algn="ctr">
                      <a:solidFill>
                        <a:srgbClr val="9AA7BE"/>
                      </a:solidFill>
                      <a:prstDash val="solid"/>
                      <a:round/>
                      <a:headEnd type="none" w="med" len="med"/>
                      <a:tailEnd type="none" w="med" len="med"/>
                    </a:lnL>
                    <a:lnR w="6350" cap="flat" cmpd="sng" algn="ctr">
                      <a:solidFill>
                        <a:srgbClr val="9AA7BE"/>
                      </a:solidFill>
                      <a:prstDash val="solid"/>
                      <a:round/>
                      <a:headEnd type="none" w="med" len="med"/>
                      <a:tailEnd type="none" w="med" len="med"/>
                    </a:lnR>
                    <a:lnT w="6350" cap="flat" cmpd="sng" algn="ctr">
                      <a:solidFill>
                        <a:srgbClr val="9AA7BE"/>
                      </a:solidFill>
                      <a:prstDash val="solid"/>
                      <a:round/>
                      <a:headEnd type="none" w="med" len="med"/>
                      <a:tailEnd type="none" w="med" len="med"/>
                    </a:lnT>
                    <a:lnB w="6350" cap="flat" cmpd="sng" algn="ctr">
                      <a:solidFill>
                        <a:srgbClr val="9AA7BE"/>
                      </a:solidFill>
                      <a:prstDash val="solid"/>
                      <a:round/>
                      <a:headEnd type="none" w="med" len="med"/>
                      <a:tailEnd type="none" w="med" len="med"/>
                    </a:lnB>
                    <a:solidFill>
                      <a:srgbClr val="FFFFFF"/>
                    </a:solidFill>
                  </a:tcPr>
                </a:tc>
              </a:tr>
              <a:tr h="306324">
                <a:tc>
                  <a:txBody>
                    <a:bodyPr/>
                    <a:lstStyle/>
                    <a:p>
                      <a:pPr indent="0" marL="0">
                        <a:buNone/>
                      </a:pPr>
                      <a:r>
                        <a:rPr lang="en-US" sz="880" b="1" dirty="0">
                          <a:solidFill>
                            <a:srgbClr val="16213D"/>
                          </a:solidFill>
                          <a:latin typeface="Courier New" pitchFamily="34" charset="0"/>
                          <a:ea typeface="Courier New" pitchFamily="34" charset="-122"/>
                          <a:cs typeface="Courier New" pitchFamily="34" charset="-120"/>
                        </a:rPr>
                        <a:t>f_start</a:t>
                      </a:r>
                      <a:endParaRPr lang="en-US" sz="880" dirty="0">
                        <a:latin typeface="Courier New" charset="0"/>
                        <a:ea typeface="Courier New" charset="0"/>
                        <a:cs typeface="Courier New" charset="0"/>
                      </a:endParaRPr>
                    </a:p>
                  </a:txBody>
                  <a:tcPr marL="91440" marR="91440" marT="45720" marB="45720" anchor="ctr">
                    <a:lnL w="6350" cap="flat" cmpd="sng" algn="ctr">
                      <a:solidFill>
                        <a:srgbClr val="9AA7BE"/>
                      </a:solidFill>
                      <a:prstDash val="solid"/>
                      <a:round/>
                      <a:headEnd type="none" w="med" len="med"/>
                      <a:tailEnd type="none" w="med" len="med"/>
                    </a:lnL>
                    <a:lnR w="6350" cap="flat" cmpd="sng" algn="ctr">
                      <a:solidFill>
                        <a:srgbClr val="9AA7BE"/>
                      </a:solidFill>
                      <a:prstDash val="solid"/>
                      <a:round/>
                      <a:headEnd type="none" w="med" len="med"/>
                      <a:tailEnd type="none" w="med" len="med"/>
                    </a:lnR>
                    <a:lnT w="6350" cap="flat" cmpd="sng" algn="ctr">
                      <a:solidFill>
                        <a:srgbClr val="9AA7BE"/>
                      </a:solidFill>
                      <a:prstDash val="solid"/>
                      <a:round/>
                      <a:headEnd type="none" w="med" len="med"/>
                      <a:tailEnd type="none" w="med" len="med"/>
                    </a:lnT>
                    <a:lnB w="6350"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880" dirty="0">
                          <a:solidFill>
                            <a:srgbClr val="222A3F"/>
                          </a:solidFill>
                          <a:latin typeface="Arial" pitchFamily="34" charset="0"/>
                          <a:ea typeface="Arial" pitchFamily="34" charset="-122"/>
                          <a:cs typeface="Arial" pitchFamily="34" charset="-120"/>
                        </a:rPr>
                        <a:t>bottom of the US band = 902.0 MHz</a:t>
                      </a:r>
                      <a:endParaRPr lang="en-US" sz="880" dirty="0">
                        <a:latin typeface="Arial" charset="0"/>
                        <a:ea typeface="Arial" charset="0"/>
                        <a:cs typeface="Arial" charset="0"/>
                      </a:endParaRPr>
                    </a:p>
                  </a:txBody>
                  <a:tcPr marL="91440" marR="91440" marT="45720" marB="45720" anchor="ctr">
                    <a:lnL w="6350" cap="flat" cmpd="sng" algn="ctr">
                      <a:solidFill>
                        <a:srgbClr val="9AA7BE"/>
                      </a:solidFill>
                      <a:prstDash val="solid"/>
                      <a:round/>
                      <a:headEnd type="none" w="med" len="med"/>
                      <a:tailEnd type="none" w="med" len="med"/>
                    </a:lnL>
                    <a:lnR w="6350" cap="flat" cmpd="sng" algn="ctr">
                      <a:solidFill>
                        <a:srgbClr val="9AA7BE"/>
                      </a:solidFill>
                      <a:prstDash val="solid"/>
                      <a:round/>
                      <a:headEnd type="none" w="med" len="med"/>
                      <a:tailEnd type="none" w="med" len="med"/>
                    </a:lnR>
                    <a:lnT w="6350" cap="flat" cmpd="sng" algn="ctr">
                      <a:solidFill>
                        <a:srgbClr val="9AA7BE"/>
                      </a:solidFill>
                      <a:prstDash val="solid"/>
                      <a:round/>
                      <a:headEnd type="none" w="med" len="med"/>
                      <a:tailEnd type="none" w="med" len="med"/>
                    </a:lnT>
                    <a:lnB w="6350" cap="flat" cmpd="sng" algn="ctr">
                      <a:solidFill>
                        <a:srgbClr val="9AA7BE"/>
                      </a:solidFill>
                      <a:prstDash val="solid"/>
                      <a:round/>
                      <a:headEnd type="none" w="med" len="med"/>
                      <a:tailEnd type="none" w="med" len="med"/>
                    </a:lnB>
                    <a:solidFill>
                      <a:srgbClr val="F2F5FA"/>
                    </a:solidFill>
                  </a:tcPr>
                </a:tc>
              </a:tr>
              <a:tr h="306324">
                <a:tc>
                  <a:txBody>
                    <a:bodyPr/>
                    <a:lstStyle/>
                    <a:p>
                      <a:pPr indent="0" marL="0">
                        <a:buNone/>
                      </a:pPr>
                      <a:r>
                        <a:rPr lang="en-US" sz="880" b="1" dirty="0">
                          <a:solidFill>
                            <a:srgbClr val="16213D"/>
                          </a:solidFill>
                          <a:latin typeface="Courier New" pitchFamily="34" charset="0"/>
                          <a:ea typeface="Courier New" pitchFamily="34" charset="-122"/>
                          <a:cs typeface="Courier New" pitchFamily="34" charset="-120"/>
                        </a:rPr>
                        <a:t>BW/2</a:t>
                      </a:r>
                      <a:endParaRPr lang="en-US" sz="880" dirty="0">
                        <a:latin typeface="Courier New" charset="0"/>
                        <a:ea typeface="Courier New" charset="0"/>
                        <a:cs typeface="Courier New" charset="0"/>
                      </a:endParaRPr>
                    </a:p>
                  </a:txBody>
                  <a:tcPr marL="91440" marR="91440" marT="45720" marB="45720" anchor="ctr">
                    <a:lnL w="6350" cap="flat" cmpd="sng" algn="ctr">
                      <a:solidFill>
                        <a:srgbClr val="9AA7BE"/>
                      </a:solidFill>
                      <a:prstDash val="solid"/>
                      <a:round/>
                      <a:headEnd type="none" w="med" len="med"/>
                      <a:tailEnd type="none" w="med" len="med"/>
                    </a:lnL>
                    <a:lnR w="6350" cap="flat" cmpd="sng" algn="ctr">
                      <a:solidFill>
                        <a:srgbClr val="9AA7BE"/>
                      </a:solidFill>
                      <a:prstDash val="solid"/>
                      <a:round/>
                      <a:headEnd type="none" w="med" len="med"/>
                      <a:tailEnd type="none" w="med" len="med"/>
                    </a:lnR>
                    <a:lnT w="6350" cap="flat" cmpd="sng" algn="ctr">
                      <a:solidFill>
                        <a:srgbClr val="9AA7BE"/>
                      </a:solidFill>
                      <a:prstDash val="solid"/>
                      <a:round/>
                      <a:headEnd type="none" w="med" len="med"/>
                      <a:tailEnd type="none" w="med" len="med"/>
                    </a:lnT>
                    <a:lnB w="6350"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880" dirty="0">
                          <a:solidFill>
                            <a:srgbClr val="222A3F"/>
                          </a:solidFill>
                          <a:latin typeface="Arial" pitchFamily="34" charset="0"/>
                          <a:ea typeface="Arial" pitchFamily="34" charset="-122"/>
                          <a:cs typeface="Arial" pitchFamily="34" charset="-120"/>
                        </a:rPr>
                        <a:t>half a channel — centers the slot</a:t>
                      </a:r>
                      <a:endParaRPr lang="en-US" sz="880" dirty="0">
                        <a:latin typeface="Arial" charset="0"/>
                        <a:ea typeface="Arial" charset="0"/>
                        <a:cs typeface="Arial" charset="0"/>
                      </a:endParaRPr>
                    </a:p>
                  </a:txBody>
                  <a:tcPr marL="91440" marR="91440" marT="45720" marB="45720" anchor="ctr">
                    <a:lnL w="6350" cap="flat" cmpd="sng" algn="ctr">
                      <a:solidFill>
                        <a:srgbClr val="9AA7BE"/>
                      </a:solidFill>
                      <a:prstDash val="solid"/>
                      <a:round/>
                      <a:headEnd type="none" w="med" len="med"/>
                      <a:tailEnd type="none" w="med" len="med"/>
                    </a:lnL>
                    <a:lnR w="6350" cap="flat" cmpd="sng" algn="ctr">
                      <a:solidFill>
                        <a:srgbClr val="9AA7BE"/>
                      </a:solidFill>
                      <a:prstDash val="solid"/>
                      <a:round/>
                      <a:headEnd type="none" w="med" len="med"/>
                      <a:tailEnd type="none" w="med" len="med"/>
                    </a:lnR>
                    <a:lnT w="6350" cap="flat" cmpd="sng" algn="ctr">
                      <a:solidFill>
                        <a:srgbClr val="9AA7BE"/>
                      </a:solidFill>
                      <a:prstDash val="solid"/>
                      <a:round/>
                      <a:headEnd type="none" w="med" len="med"/>
                      <a:tailEnd type="none" w="med" len="med"/>
                    </a:lnT>
                    <a:lnB w="6350" cap="flat" cmpd="sng" algn="ctr">
                      <a:solidFill>
                        <a:srgbClr val="9AA7BE"/>
                      </a:solidFill>
                      <a:prstDash val="solid"/>
                      <a:round/>
                      <a:headEnd type="none" w="med" len="med"/>
                      <a:tailEnd type="none" w="med" len="med"/>
                    </a:lnB>
                    <a:solidFill>
                      <a:srgbClr val="FFFFFF"/>
                    </a:solidFill>
                  </a:tcPr>
                </a:tc>
              </a:tr>
              <a:tr h="306324">
                <a:tc>
                  <a:txBody>
                    <a:bodyPr/>
                    <a:lstStyle/>
                    <a:p>
                      <a:pPr indent="0" marL="0">
                        <a:buNone/>
                      </a:pPr>
                      <a:r>
                        <a:rPr lang="en-US" sz="880" b="1" dirty="0">
                          <a:solidFill>
                            <a:srgbClr val="16213D"/>
                          </a:solidFill>
                          <a:latin typeface="Courier New" pitchFamily="34" charset="0"/>
                          <a:ea typeface="Courier New" pitchFamily="34" charset="-122"/>
                          <a:cs typeface="Courier New" pitchFamily="34" charset="-120"/>
                        </a:rPr>
                        <a:t>djb2(name) mod N</a:t>
                      </a:r>
                      <a:endParaRPr lang="en-US" sz="880" dirty="0">
                        <a:latin typeface="Courier New" charset="0"/>
                        <a:ea typeface="Courier New" charset="0"/>
                        <a:cs typeface="Courier New" charset="0"/>
                      </a:endParaRPr>
                    </a:p>
                  </a:txBody>
                  <a:tcPr marL="91440" marR="91440" marT="45720" marB="45720" anchor="ctr">
                    <a:lnL w="6350" cap="flat" cmpd="sng" algn="ctr">
                      <a:solidFill>
                        <a:srgbClr val="9AA7BE"/>
                      </a:solidFill>
                      <a:prstDash val="solid"/>
                      <a:round/>
                      <a:headEnd type="none" w="med" len="med"/>
                      <a:tailEnd type="none" w="med" len="med"/>
                    </a:lnL>
                    <a:lnR w="6350" cap="flat" cmpd="sng" algn="ctr">
                      <a:solidFill>
                        <a:srgbClr val="9AA7BE"/>
                      </a:solidFill>
                      <a:prstDash val="solid"/>
                      <a:round/>
                      <a:headEnd type="none" w="med" len="med"/>
                      <a:tailEnd type="none" w="med" len="med"/>
                    </a:lnR>
                    <a:lnT w="6350" cap="flat" cmpd="sng" algn="ctr">
                      <a:solidFill>
                        <a:srgbClr val="9AA7BE"/>
                      </a:solidFill>
                      <a:prstDash val="solid"/>
                      <a:round/>
                      <a:headEnd type="none" w="med" len="med"/>
                      <a:tailEnd type="none" w="med" len="med"/>
                    </a:lnT>
                    <a:lnB w="6350"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880" dirty="0">
                          <a:solidFill>
                            <a:srgbClr val="222A3F"/>
                          </a:solidFill>
                          <a:latin typeface="Arial" pitchFamily="34" charset="0"/>
                          <a:ea typeface="Arial" pitchFamily="34" charset="-122"/>
                          <a:cs typeface="Arial" pitchFamily="34" charset="-120"/>
                        </a:rPr>
                        <a:t>hash of the channel name, wrapped to 0..103</a:t>
                      </a:r>
                      <a:endParaRPr lang="en-US" sz="880" dirty="0">
                        <a:latin typeface="Arial" charset="0"/>
                        <a:ea typeface="Arial" charset="0"/>
                        <a:cs typeface="Arial" charset="0"/>
                      </a:endParaRPr>
                    </a:p>
                  </a:txBody>
                  <a:tcPr marL="91440" marR="91440" marT="45720" marB="45720" anchor="ctr">
                    <a:lnL w="6350" cap="flat" cmpd="sng" algn="ctr">
                      <a:solidFill>
                        <a:srgbClr val="9AA7BE"/>
                      </a:solidFill>
                      <a:prstDash val="solid"/>
                      <a:round/>
                      <a:headEnd type="none" w="med" len="med"/>
                      <a:tailEnd type="none" w="med" len="med"/>
                    </a:lnL>
                    <a:lnR w="6350" cap="flat" cmpd="sng" algn="ctr">
                      <a:solidFill>
                        <a:srgbClr val="9AA7BE"/>
                      </a:solidFill>
                      <a:prstDash val="solid"/>
                      <a:round/>
                      <a:headEnd type="none" w="med" len="med"/>
                      <a:tailEnd type="none" w="med" len="med"/>
                    </a:lnR>
                    <a:lnT w="6350" cap="flat" cmpd="sng" algn="ctr">
                      <a:solidFill>
                        <a:srgbClr val="9AA7BE"/>
                      </a:solidFill>
                      <a:prstDash val="solid"/>
                      <a:round/>
                      <a:headEnd type="none" w="med" len="med"/>
                      <a:tailEnd type="none" w="med" len="med"/>
                    </a:lnT>
                    <a:lnB w="6350" cap="flat" cmpd="sng" algn="ctr">
                      <a:solidFill>
                        <a:srgbClr val="9AA7BE"/>
                      </a:solidFill>
                      <a:prstDash val="solid"/>
                      <a:round/>
                      <a:headEnd type="none" w="med" len="med"/>
                      <a:tailEnd type="none" w="med" len="med"/>
                    </a:lnB>
                    <a:solidFill>
                      <a:srgbClr val="F2F5FA"/>
                    </a:solidFill>
                  </a:tcPr>
                </a:tc>
              </a:tr>
              <a:tr h="306324">
                <a:tc>
                  <a:txBody>
                    <a:bodyPr/>
                    <a:lstStyle/>
                    <a:p>
                      <a:pPr indent="0" marL="0">
                        <a:buNone/>
                      </a:pPr>
                      <a:r>
                        <a:rPr lang="en-US" sz="880" b="1" dirty="0">
                          <a:solidFill>
                            <a:srgbClr val="16213D"/>
                          </a:solidFill>
                          <a:latin typeface="Courier New" pitchFamily="34" charset="0"/>
                          <a:ea typeface="Courier New" pitchFamily="34" charset="-122"/>
                          <a:cs typeface="Courier New" pitchFamily="34" charset="-120"/>
                        </a:rPr>
                        <a:t>N_slots = 104</a:t>
                      </a:r>
                      <a:endParaRPr lang="en-US" sz="880" dirty="0">
                        <a:latin typeface="Courier New" charset="0"/>
                        <a:ea typeface="Courier New" charset="0"/>
                        <a:cs typeface="Courier New" charset="0"/>
                      </a:endParaRPr>
                    </a:p>
                  </a:txBody>
                  <a:tcPr marL="91440" marR="91440" marT="45720" marB="45720" anchor="ctr">
                    <a:lnL w="6350" cap="flat" cmpd="sng" algn="ctr">
                      <a:solidFill>
                        <a:srgbClr val="9AA7BE"/>
                      </a:solidFill>
                      <a:prstDash val="solid"/>
                      <a:round/>
                      <a:headEnd type="none" w="med" len="med"/>
                      <a:tailEnd type="none" w="med" len="med"/>
                    </a:lnL>
                    <a:lnR w="6350" cap="flat" cmpd="sng" algn="ctr">
                      <a:solidFill>
                        <a:srgbClr val="9AA7BE"/>
                      </a:solidFill>
                      <a:prstDash val="solid"/>
                      <a:round/>
                      <a:headEnd type="none" w="med" len="med"/>
                      <a:tailEnd type="none" w="med" len="med"/>
                    </a:lnR>
                    <a:lnT w="6350" cap="flat" cmpd="sng" algn="ctr">
                      <a:solidFill>
                        <a:srgbClr val="9AA7BE"/>
                      </a:solidFill>
                      <a:prstDash val="solid"/>
                      <a:round/>
                      <a:headEnd type="none" w="med" len="med"/>
                      <a:tailEnd type="none" w="med" len="med"/>
                    </a:lnT>
                    <a:lnB w="6350"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880" dirty="0">
                          <a:solidFill>
                            <a:srgbClr val="222A3F"/>
                          </a:solidFill>
                          <a:latin typeface="Arial" pitchFamily="34" charset="0"/>
                          <a:ea typeface="Arial" pitchFamily="34" charset="-122"/>
                          <a:cs typeface="Arial" pitchFamily="34" charset="-120"/>
                        </a:rPr>
                        <a:t>26 MHz of band ÷ 250 kHz per channel</a:t>
                      </a:r>
                      <a:endParaRPr lang="en-US" sz="880" dirty="0">
                        <a:latin typeface="Arial" charset="0"/>
                        <a:ea typeface="Arial" charset="0"/>
                        <a:cs typeface="Arial" charset="0"/>
                      </a:endParaRPr>
                    </a:p>
                  </a:txBody>
                  <a:tcPr marL="91440" marR="91440" marT="45720" marB="45720" anchor="ctr">
                    <a:lnL w="6350" cap="flat" cmpd="sng" algn="ctr">
                      <a:solidFill>
                        <a:srgbClr val="9AA7BE"/>
                      </a:solidFill>
                      <a:prstDash val="solid"/>
                      <a:round/>
                      <a:headEnd type="none" w="med" len="med"/>
                      <a:tailEnd type="none" w="med" len="med"/>
                    </a:lnL>
                    <a:lnR w="6350" cap="flat" cmpd="sng" algn="ctr">
                      <a:solidFill>
                        <a:srgbClr val="9AA7BE"/>
                      </a:solidFill>
                      <a:prstDash val="solid"/>
                      <a:round/>
                      <a:headEnd type="none" w="med" len="med"/>
                      <a:tailEnd type="none" w="med" len="med"/>
                    </a:lnR>
                    <a:lnT w="6350" cap="flat" cmpd="sng" algn="ctr">
                      <a:solidFill>
                        <a:srgbClr val="9AA7BE"/>
                      </a:solidFill>
                      <a:prstDash val="solid"/>
                      <a:round/>
                      <a:headEnd type="none" w="med" len="med"/>
                      <a:tailEnd type="none" w="med" len="med"/>
                    </a:lnT>
                    <a:lnB w="6350" cap="flat" cmpd="sng" algn="ctr">
                      <a:solidFill>
                        <a:srgbClr val="9AA7BE"/>
                      </a:solidFill>
                      <a:prstDash val="solid"/>
                      <a:round/>
                      <a:headEnd type="none" w="med" len="med"/>
                      <a:tailEnd type="none" w="med" len="med"/>
                    </a:lnB>
                    <a:solidFill>
                      <a:srgbClr val="FFFFFF"/>
                    </a:solidFill>
                  </a:tcPr>
                </a:tc>
              </a:tr>
            </a:tbl>
          </a:graphicData>
        </a:graphic>
      </p:graphicFrame>
      <p:sp>
        <p:nvSpPr>
          <p:cNvPr id="11" name="Text 7"/>
          <p:cNvSpPr txBox="1"/>
          <p:nvPr/>
        </p:nvSpPr>
        <p:spPr>
          <a:xfrm>
            <a:off x="6309360" y="1051560"/>
            <a:ext cx="5394960" cy="237744"/>
          </a:xfrm>
          <a:prstGeom prst="rect">
            <a:avLst/>
          </a:prstGeom>
          <a:noFill/>
          <a:ln/>
        </p:spPr>
        <p:txBody>
          <a:bodyPr wrap="square" lIns="0" tIns="0" rIns="0" bIns="0" rtlCol="0" anchor="ctr"/>
          <a:lstStyle/>
          <a:p>
            <a:pPr indent="0" marL="0">
              <a:buNone/>
            </a:pPr>
            <a:r>
              <a:rPr lang="en-US" sz="1050" b="1" dirty="0">
                <a:solidFill>
                  <a:srgbClr val="E58E1A"/>
                </a:solidFill>
                <a:latin typeface="Courier New" pitchFamily="34" charset="0"/>
                <a:ea typeface="Courier New" pitchFamily="34" charset="-122"/>
                <a:cs typeface="Courier New" pitchFamily="34" charset="-120"/>
              </a:rPr>
              <a:t>LIVENESS  (sheet 07)</a:t>
            </a:r>
            <a:endParaRPr lang="en-US" sz="1050" dirty="0"/>
          </a:p>
        </p:txBody>
      </p:sp>
      <p:pic>
        <p:nvPicPr>
          <p:cNvPr id="12" name="Image 1" descr="C:/Users/deogr/AppData/Local/Temp/claude/C--Users-deogr-Documents-Fall-Project-Off-Grid-Vehicle-dection-project/e8b2e8fa-1513-4aa8-a8f6-ce4fcd20e664/scratchpad/deck5/eq_online.png">    </p:cNvPr>
          <p:cNvPicPr>
            <a:picLocks noChangeAspect="1"/>
          </p:cNvPicPr>
          <p:nvPr/>
        </p:nvPicPr>
        <p:blipFill>
          <a:blip r:embed="rId2"/>
          <a:stretch>
            <a:fillRect/>
          </a:stretch>
        </p:blipFill>
        <p:spPr>
          <a:xfrm>
            <a:off x="6309360" y="1307592"/>
            <a:ext cx="4023360" cy="457200"/>
          </a:xfrm>
          <a:prstGeom prst="rect">
            <a:avLst/>
          </a:prstGeom>
        </p:spPr>
      </p:pic>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6309360" y="1856232"/>
          <a:ext cx="5394960" cy="914400"/>
        </p:xfrm>
        <a:graphic>
          <a:graphicData uri="http://schemas.openxmlformats.org/drawingml/2006/table">
            <a:tbl>
              <a:tblPr/>
              <a:tblGrid>
                <a:gridCol w="1874520"/>
                <a:gridCol w="3520440"/>
              </a:tblGrid>
              <a:tr h="306324">
                <a:tc>
                  <a:txBody>
                    <a:bodyPr/>
                    <a:lstStyle/>
                    <a:p>
                      <a:pPr indent="0" marL="0">
                        <a:buNone/>
                      </a:pPr>
                      <a:r>
                        <a:rPr lang="en-US" sz="880" b="1" dirty="0">
                          <a:solidFill>
                            <a:srgbClr val="16213D"/>
                          </a:solidFill>
                          <a:latin typeface="Courier New" pitchFamily="34" charset="0"/>
                          <a:ea typeface="Courier New" pitchFamily="34" charset="-122"/>
                          <a:cs typeface="Courier New" pitchFamily="34" charset="-120"/>
                        </a:rPr>
                        <a:t>⇔</a:t>
                      </a:r>
                      <a:endParaRPr lang="en-US" sz="880" dirty="0">
                        <a:latin typeface="Courier New" charset="0"/>
                        <a:ea typeface="Courier New" charset="0"/>
                        <a:cs typeface="Courier New" charset="0"/>
                      </a:endParaRPr>
                    </a:p>
                  </a:txBody>
                  <a:tcPr marL="91440" marR="91440" marT="45720" marB="45720" anchor="ctr">
                    <a:lnL w="6350" cap="flat" cmpd="sng" algn="ctr">
                      <a:solidFill>
                        <a:srgbClr val="9AA7BE"/>
                      </a:solidFill>
                      <a:prstDash val="solid"/>
                      <a:round/>
                      <a:headEnd type="none" w="med" len="med"/>
                      <a:tailEnd type="none" w="med" len="med"/>
                    </a:lnL>
                    <a:lnR w="6350" cap="flat" cmpd="sng" algn="ctr">
                      <a:solidFill>
                        <a:srgbClr val="9AA7BE"/>
                      </a:solidFill>
                      <a:prstDash val="solid"/>
                      <a:round/>
                      <a:headEnd type="none" w="med" len="med"/>
                      <a:tailEnd type="none" w="med" len="med"/>
                    </a:lnR>
                    <a:lnT w="6350" cap="flat" cmpd="sng" algn="ctr">
                      <a:solidFill>
                        <a:srgbClr val="9AA7BE"/>
                      </a:solidFill>
                      <a:prstDash val="solid"/>
                      <a:round/>
                      <a:headEnd type="none" w="med" len="med"/>
                      <a:tailEnd type="none" w="med" len="med"/>
                    </a:lnT>
                    <a:lnB w="6350"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880" dirty="0">
                          <a:solidFill>
                            <a:srgbClr val="222A3F"/>
                          </a:solidFill>
                          <a:latin typeface="Arial" pitchFamily="34" charset="0"/>
                          <a:ea typeface="Arial" pitchFamily="34" charset="-122"/>
                          <a:cs typeface="Arial" pitchFamily="34" charset="-120"/>
                        </a:rPr>
                        <a:t>“if and only if” — true exactly when the right side holds</a:t>
                      </a:r>
                      <a:endParaRPr lang="en-US" sz="880" dirty="0">
                        <a:latin typeface="Arial" charset="0"/>
                        <a:ea typeface="Arial" charset="0"/>
                        <a:cs typeface="Arial" charset="0"/>
                      </a:endParaRPr>
                    </a:p>
                  </a:txBody>
                  <a:tcPr marL="91440" marR="91440" marT="45720" marB="45720" anchor="ctr">
                    <a:lnL w="6350" cap="flat" cmpd="sng" algn="ctr">
                      <a:solidFill>
                        <a:srgbClr val="9AA7BE"/>
                      </a:solidFill>
                      <a:prstDash val="solid"/>
                      <a:round/>
                      <a:headEnd type="none" w="med" len="med"/>
                      <a:tailEnd type="none" w="med" len="med"/>
                    </a:lnL>
                    <a:lnR w="6350" cap="flat" cmpd="sng" algn="ctr">
                      <a:solidFill>
                        <a:srgbClr val="9AA7BE"/>
                      </a:solidFill>
                      <a:prstDash val="solid"/>
                      <a:round/>
                      <a:headEnd type="none" w="med" len="med"/>
                      <a:tailEnd type="none" w="med" len="med"/>
                    </a:lnR>
                    <a:lnT w="6350" cap="flat" cmpd="sng" algn="ctr">
                      <a:solidFill>
                        <a:srgbClr val="9AA7BE"/>
                      </a:solidFill>
                      <a:prstDash val="solid"/>
                      <a:round/>
                      <a:headEnd type="none" w="med" len="med"/>
                      <a:tailEnd type="none" w="med" len="med"/>
                    </a:lnT>
                    <a:lnB w="6350" cap="flat" cmpd="sng" algn="ctr">
                      <a:solidFill>
                        <a:srgbClr val="9AA7BE"/>
                      </a:solidFill>
                      <a:prstDash val="solid"/>
                      <a:round/>
                      <a:headEnd type="none" w="med" len="med"/>
                      <a:tailEnd type="none" w="med" len="med"/>
                    </a:lnB>
                    <a:solidFill>
                      <a:srgbClr val="FFFFFF"/>
                    </a:solidFill>
                  </a:tcPr>
                </a:tc>
              </a:tr>
              <a:tr h="306324">
                <a:tc>
                  <a:txBody>
                    <a:bodyPr/>
                    <a:lstStyle/>
                    <a:p>
                      <a:pPr indent="0" marL="0">
                        <a:buNone/>
                      </a:pPr>
                      <a:r>
                        <a:rPr lang="en-US" sz="880" b="1" dirty="0">
                          <a:solidFill>
                            <a:srgbClr val="16213D"/>
                          </a:solidFill>
                          <a:latin typeface="Courier New" pitchFamily="34" charset="0"/>
                          <a:ea typeface="Courier New" pitchFamily="34" charset="-122"/>
                          <a:cs typeface="Courier New" pitchFamily="34" charset="-120"/>
                        </a:rPr>
                        <a:t>t_now</a:t>
                      </a:r>
                      <a:endParaRPr lang="en-US" sz="880" dirty="0">
                        <a:latin typeface="Courier New" charset="0"/>
                        <a:ea typeface="Courier New" charset="0"/>
                        <a:cs typeface="Courier New" charset="0"/>
                      </a:endParaRPr>
                    </a:p>
                  </a:txBody>
                  <a:tcPr marL="91440" marR="91440" marT="45720" marB="45720" anchor="ctr">
                    <a:lnL w="6350" cap="flat" cmpd="sng" algn="ctr">
                      <a:solidFill>
                        <a:srgbClr val="9AA7BE"/>
                      </a:solidFill>
                      <a:prstDash val="solid"/>
                      <a:round/>
                      <a:headEnd type="none" w="med" len="med"/>
                      <a:tailEnd type="none" w="med" len="med"/>
                    </a:lnL>
                    <a:lnR w="6350" cap="flat" cmpd="sng" algn="ctr">
                      <a:solidFill>
                        <a:srgbClr val="9AA7BE"/>
                      </a:solidFill>
                      <a:prstDash val="solid"/>
                      <a:round/>
                      <a:headEnd type="none" w="med" len="med"/>
                      <a:tailEnd type="none" w="med" len="med"/>
                    </a:lnR>
                    <a:lnT w="6350" cap="flat" cmpd="sng" algn="ctr">
                      <a:solidFill>
                        <a:srgbClr val="9AA7BE"/>
                      </a:solidFill>
                      <a:prstDash val="solid"/>
                      <a:round/>
                      <a:headEnd type="none" w="med" len="med"/>
                      <a:tailEnd type="none" w="med" len="med"/>
                    </a:lnT>
                    <a:lnB w="6350"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880" dirty="0">
                          <a:solidFill>
                            <a:srgbClr val="222A3F"/>
                          </a:solidFill>
                          <a:latin typeface="Arial" pitchFamily="34" charset="0"/>
                          <a:ea typeface="Arial" pitchFamily="34" charset="-122"/>
                          <a:cs typeface="Arial" pitchFamily="34" charset="-120"/>
                        </a:rPr>
                        <a:t>the radio’s own clock, seconds since 1970 (epoch)</a:t>
                      </a:r>
                      <a:endParaRPr lang="en-US" sz="880" dirty="0">
                        <a:latin typeface="Arial" charset="0"/>
                        <a:ea typeface="Arial" charset="0"/>
                        <a:cs typeface="Arial" charset="0"/>
                      </a:endParaRPr>
                    </a:p>
                  </a:txBody>
                  <a:tcPr marL="91440" marR="91440" marT="45720" marB="45720" anchor="ctr">
                    <a:lnL w="6350" cap="flat" cmpd="sng" algn="ctr">
                      <a:solidFill>
                        <a:srgbClr val="9AA7BE"/>
                      </a:solidFill>
                      <a:prstDash val="solid"/>
                      <a:round/>
                      <a:headEnd type="none" w="med" len="med"/>
                      <a:tailEnd type="none" w="med" len="med"/>
                    </a:lnL>
                    <a:lnR w="6350" cap="flat" cmpd="sng" algn="ctr">
                      <a:solidFill>
                        <a:srgbClr val="9AA7BE"/>
                      </a:solidFill>
                      <a:prstDash val="solid"/>
                      <a:round/>
                      <a:headEnd type="none" w="med" len="med"/>
                      <a:tailEnd type="none" w="med" len="med"/>
                    </a:lnR>
                    <a:lnT w="6350" cap="flat" cmpd="sng" algn="ctr">
                      <a:solidFill>
                        <a:srgbClr val="9AA7BE"/>
                      </a:solidFill>
                      <a:prstDash val="solid"/>
                      <a:round/>
                      <a:headEnd type="none" w="med" len="med"/>
                      <a:tailEnd type="none" w="med" len="med"/>
                    </a:lnT>
                    <a:lnB w="6350" cap="flat" cmpd="sng" algn="ctr">
                      <a:solidFill>
                        <a:srgbClr val="9AA7BE"/>
                      </a:solidFill>
                      <a:prstDash val="solid"/>
                      <a:round/>
                      <a:headEnd type="none" w="med" len="med"/>
                      <a:tailEnd type="none" w="med" len="med"/>
                    </a:lnB>
                    <a:solidFill>
                      <a:srgbClr val="F2F5FA"/>
                    </a:solidFill>
                  </a:tcPr>
                </a:tc>
              </a:tr>
              <a:tr h="306324">
                <a:tc>
                  <a:txBody>
                    <a:bodyPr/>
                    <a:lstStyle/>
                    <a:p>
                      <a:pPr indent="0" marL="0">
                        <a:buNone/>
                      </a:pPr>
                      <a:r>
                        <a:rPr lang="en-US" sz="880" b="1" dirty="0">
                          <a:solidFill>
                            <a:srgbClr val="16213D"/>
                          </a:solidFill>
                          <a:latin typeface="Courier New" pitchFamily="34" charset="0"/>
                          <a:ea typeface="Courier New" pitchFamily="34" charset="-122"/>
                          <a:cs typeface="Courier New" pitchFamily="34" charset="-120"/>
                        </a:rPr>
                        <a:t>t_last_heard(n)</a:t>
                      </a:r>
                      <a:endParaRPr lang="en-US" sz="880" dirty="0">
                        <a:latin typeface="Courier New" charset="0"/>
                        <a:ea typeface="Courier New" charset="0"/>
                        <a:cs typeface="Courier New" charset="0"/>
                      </a:endParaRPr>
                    </a:p>
                  </a:txBody>
                  <a:tcPr marL="91440" marR="91440" marT="45720" marB="45720" anchor="ctr">
                    <a:lnL w="6350" cap="flat" cmpd="sng" algn="ctr">
                      <a:solidFill>
                        <a:srgbClr val="9AA7BE"/>
                      </a:solidFill>
                      <a:prstDash val="solid"/>
                      <a:round/>
                      <a:headEnd type="none" w="med" len="med"/>
                      <a:tailEnd type="none" w="med" len="med"/>
                    </a:lnL>
                    <a:lnR w="6350" cap="flat" cmpd="sng" algn="ctr">
                      <a:solidFill>
                        <a:srgbClr val="9AA7BE"/>
                      </a:solidFill>
                      <a:prstDash val="solid"/>
                      <a:round/>
                      <a:headEnd type="none" w="med" len="med"/>
                      <a:tailEnd type="none" w="med" len="med"/>
                    </a:lnR>
                    <a:lnT w="6350" cap="flat" cmpd="sng" algn="ctr">
                      <a:solidFill>
                        <a:srgbClr val="9AA7BE"/>
                      </a:solidFill>
                      <a:prstDash val="solid"/>
                      <a:round/>
                      <a:headEnd type="none" w="med" len="med"/>
                      <a:tailEnd type="none" w="med" len="med"/>
                    </a:lnT>
                    <a:lnB w="6350"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880" dirty="0">
                          <a:solidFill>
                            <a:srgbClr val="222A3F"/>
                          </a:solidFill>
                          <a:latin typeface="Arial" pitchFamily="34" charset="0"/>
                          <a:ea typeface="Arial" pitchFamily="34" charset="-122"/>
                          <a:cs typeface="Arial" pitchFamily="34" charset="-120"/>
                        </a:rPr>
                        <a:t>stored timestamp of the last packet from node n</a:t>
                      </a:r>
                      <a:endParaRPr lang="en-US" sz="880" dirty="0">
                        <a:latin typeface="Arial" charset="0"/>
                        <a:ea typeface="Arial" charset="0"/>
                        <a:cs typeface="Arial" charset="0"/>
                      </a:endParaRPr>
                    </a:p>
                  </a:txBody>
                  <a:tcPr marL="91440" marR="91440" marT="45720" marB="45720" anchor="ctr">
                    <a:lnL w="6350" cap="flat" cmpd="sng" algn="ctr">
                      <a:solidFill>
                        <a:srgbClr val="9AA7BE"/>
                      </a:solidFill>
                      <a:prstDash val="solid"/>
                      <a:round/>
                      <a:headEnd type="none" w="med" len="med"/>
                      <a:tailEnd type="none" w="med" len="med"/>
                    </a:lnL>
                    <a:lnR w="6350" cap="flat" cmpd="sng" algn="ctr">
                      <a:solidFill>
                        <a:srgbClr val="9AA7BE"/>
                      </a:solidFill>
                      <a:prstDash val="solid"/>
                      <a:round/>
                      <a:headEnd type="none" w="med" len="med"/>
                      <a:tailEnd type="none" w="med" len="med"/>
                    </a:lnR>
                    <a:lnT w="6350" cap="flat" cmpd="sng" algn="ctr">
                      <a:solidFill>
                        <a:srgbClr val="9AA7BE"/>
                      </a:solidFill>
                      <a:prstDash val="solid"/>
                      <a:round/>
                      <a:headEnd type="none" w="med" len="med"/>
                      <a:tailEnd type="none" w="med" len="med"/>
                    </a:lnT>
                    <a:lnB w="6350" cap="flat" cmpd="sng" algn="ctr">
                      <a:solidFill>
                        <a:srgbClr val="9AA7BE"/>
                      </a:solidFill>
                      <a:prstDash val="solid"/>
                      <a:round/>
                      <a:headEnd type="none" w="med" len="med"/>
                      <a:tailEnd type="none" w="med" len="med"/>
                    </a:lnB>
                    <a:solidFill>
                      <a:srgbClr val="FFFFFF"/>
                    </a:solidFill>
                  </a:tcPr>
                </a:tc>
              </a:tr>
              <a:tr h="306324">
                <a:tc>
                  <a:txBody>
                    <a:bodyPr/>
                    <a:lstStyle/>
                    <a:p>
                      <a:pPr indent="0" marL="0">
                        <a:buNone/>
                      </a:pPr>
                      <a:r>
                        <a:rPr lang="en-US" sz="880" b="1" dirty="0">
                          <a:solidFill>
                            <a:srgbClr val="16213D"/>
                          </a:solidFill>
                          <a:latin typeface="Courier New" pitchFamily="34" charset="0"/>
                          <a:ea typeface="Courier New" pitchFamily="34" charset="-122"/>
                          <a:cs typeface="Courier New" pitchFamily="34" charset="-120"/>
                        </a:rPr>
                        <a:t>7200 s</a:t>
                      </a:r>
                      <a:endParaRPr lang="en-US" sz="880" dirty="0">
                        <a:latin typeface="Courier New" charset="0"/>
                        <a:ea typeface="Courier New" charset="0"/>
                        <a:cs typeface="Courier New" charset="0"/>
                      </a:endParaRPr>
                    </a:p>
                  </a:txBody>
                  <a:tcPr marL="91440" marR="91440" marT="45720" marB="45720" anchor="ctr">
                    <a:lnL w="6350" cap="flat" cmpd="sng" algn="ctr">
                      <a:solidFill>
                        <a:srgbClr val="9AA7BE"/>
                      </a:solidFill>
                      <a:prstDash val="solid"/>
                      <a:round/>
                      <a:headEnd type="none" w="med" len="med"/>
                      <a:tailEnd type="none" w="med" len="med"/>
                    </a:lnL>
                    <a:lnR w="6350" cap="flat" cmpd="sng" algn="ctr">
                      <a:solidFill>
                        <a:srgbClr val="9AA7BE"/>
                      </a:solidFill>
                      <a:prstDash val="solid"/>
                      <a:round/>
                      <a:headEnd type="none" w="med" len="med"/>
                      <a:tailEnd type="none" w="med" len="med"/>
                    </a:lnR>
                    <a:lnT w="6350" cap="flat" cmpd="sng" algn="ctr">
                      <a:solidFill>
                        <a:srgbClr val="9AA7BE"/>
                      </a:solidFill>
                      <a:prstDash val="solid"/>
                      <a:round/>
                      <a:headEnd type="none" w="med" len="med"/>
                      <a:tailEnd type="none" w="med" len="med"/>
                    </a:lnT>
                    <a:lnB w="6350"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880" dirty="0">
                          <a:solidFill>
                            <a:srgbClr val="222A3F"/>
                          </a:solidFill>
                          <a:latin typeface="Arial" pitchFamily="34" charset="0"/>
                          <a:ea typeface="Arial" pitchFamily="34" charset="-122"/>
                          <a:cs typeface="Arial" pitchFamily="34" charset="-120"/>
                        </a:rPr>
                        <a:t>the 2-hour “online” window</a:t>
                      </a:r>
                      <a:endParaRPr lang="en-US" sz="880" dirty="0">
                        <a:latin typeface="Arial" charset="0"/>
                        <a:ea typeface="Arial" charset="0"/>
                        <a:cs typeface="Arial" charset="0"/>
                      </a:endParaRPr>
                    </a:p>
                  </a:txBody>
                  <a:tcPr marL="91440" marR="91440" marT="45720" marB="45720" anchor="ctr">
                    <a:lnL w="6350" cap="flat" cmpd="sng" algn="ctr">
                      <a:solidFill>
                        <a:srgbClr val="9AA7BE"/>
                      </a:solidFill>
                      <a:prstDash val="solid"/>
                      <a:round/>
                      <a:headEnd type="none" w="med" len="med"/>
                      <a:tailEnd type="none" w="med" len="med"/>
                    </a:lnL>
                    <a:lnR w="6350" cap="flat" cmpd="sng" algn="ctr">
                      <a:solidFill>
                        <a:srgbClr val="9AA7BE"/>
                      </a:solidFill>
                      <a:prstDash val="solid"/>
                      <a:round/>
                      <a:headEnd type="none" w="med" len="med"/>
                      <a:tailEnd type="none" w="med" len="med"/>
                    </a:lnR>
                    <a:lnT w="6350" cap="flat" cmpd="sng" algn="ctr">
                      <a:solidFill>
                        <a:srgbClr val="9AA7BE"/>
                      </a:solidFill>
                      <a:prstDash val="solid"/>
                      <a:round/>
                      <a:headEnd type="none" w="med" len="med"/>
                      <a:tailEnd type="none" w="med" len="med"/>
                    </a:lnT>
                    <a:lnB w="6350" cap="flat" cmpd="sng" algn="ctr">
                      <a:solidFill>
                        <a:srgbClr val="9AA7BE"/>
                      </a:solidFill>
                      <a:prstDash val="solid"/>
                      <a:round/>
                      <a:headEnd type="none" w="med" len="med"/>
                      <a:tailEnd type="none" w="med" len="med"/>
                    </a:lnB>
                    <a:solidFill>
                      <a:srgbClr val="F2F5FA"/>
                    </a:solidFill>
                  </a:tcPr>
                </a:tc>
              </a:tr>
            </a:tbl>
          </a:graphicData>
        </a:graphic>
      </p:graphicFrame>
      <p:sp>
        <p:nvSpPr>
          <p:cNvPr id="14" name="Text 8"/>
          <p:cNvSpPr txBox="1"/>
          <p:nvPr/>
        </p:nvSpPr>
        <p:spPr>
          <a:xfrm>
            <a:off x="548640" y="3657600"/>
            <a:ext cx="5394960" cy="237744"/>
          </a:xfrm>
          <a:prstGeom prst="rect">
            <a:avLst/>
          </a:prstGeom>
          <a:noFill/>
          <a:ln/>
        </p:spPr>
        <p:txBody>
          <a:bodyPr wrap="square" lIns="0" tIns="0" rIns="0" bIns="0" rtlCol="0" anchor="ctr"/>
          <a:lstStyle/>
          <a:p>
            <a:pPr indent="0" marL="0">
              <a:buNone/>
            </a:pPr>
            <a:r>
              <a:rPr lang="en-US" sz="1050" b="1" dirty="0">
                <a:solidFill>
                  <a:srgbClr val="E58E1A"/>
                </a:solidFill>
                <a:latin typeface="Courier New" pitchFamily="34" charset="0"/>
                <a:ea typeface="Courier New" pitchFamily="34" charset="-122"/>
                <a:cs typeface="Courier New" pitchFamily="34" charset="-120"/>
              </a:rPr>
              <a:t>TIME ON AIR  (sheet 09)</a:t>
            </a:r>
            <a:endParaRPr lang="en-US" sz="1050" dirty="0"/>
          </a:p>
        </p:txBody>
      </p:sp>
      <p:pic>
        <p:nvPicPr>
          <p:cNvPr id="15" name="Image 2" descr="C:/Users/deogr/AppData/Local/Temp/claude/C--Users-deogr-Documents-Fall-Project-Off-Grid-Vehicle-dection-project/e8b2e8fa-1513-4aa8-a8f6-ce4fcd20e664/scratchpad/deck5/eq_toa.png">    </p:cNvPr>
          <p:cNvPicPr>
            <a:picLocks noChangeAspect="1"/>
          </p:cNvPicPr>
          <p:nvPr/>
        </p:nvPicPr>
        <p:blipFill>
          <a:blip r:embed="rId3"/>
          <a:stretch>
            <a:fillRect/>
          </a:stretch>
        </p:blipFill>
        <p:spPr>
          <a:xfrm>
            <a:off x="548640" y="3913632"/>
            <a:ext cx="5394960" cy="475488"/>
          </a:xfrm>
          <a:prstGeom prst="rect">
            <a:avLst/>
          </a:prstGeom>
        </p:spPr>
      </p:pic>
      <p:graphicFrame>
        <p:nvGraphicFramePr>
          <p:cNvPr id="55" name="Table 2"/>
          <p:cNvGraphicFramePr>
            <a:graphicFrameLocks noGrp="1"/>
          </p:cNvGraphicFramePr>
          <p:nvPr>
            <p:extLst>
              <p:ext uri="{D42A27DB-BD31-4B8C-83A1-F6EECF244321}">
                <p14:modId xmlns:p14="http://schemas.microsoft.com/office/powerpoint/2010/main" val="1579011935"/>
              </p:ext>
            </p:extLst>
          </p:nvPr>
        </p:nvGraphicFramePr>
        <p:xfrm>
          <a:off x="548640" y="4462272"/>
          <a:ext cx="5394960" cy="914400"/>
        </p:xfrm>
        <a:graphic>
          <a:graphicData uri="http://schemas.openxmlformats.org/drawingml/2006/table">
            <a:tbl>
              <a:tblPr/>
              <a:tblGrid>
                <a:gridCol w="1874520"/>
                <a:gridCol w="3520440"/>
              </a:tblGrid>
              <a:tr h="306324">
                <a:tc>
                  <a:txBody>
                    <a:bodyPr/>
                    <a:lstStyle/>
                    <a:p>
                      <a:pPr indent="0" marL="0">
                        <a:buNone/>
                      </a:pPr>
                      <a:r>
                        <a:rPr lang="en-US" sz="880" b="1" dirty="0">
                          <a:solidFill>
                            <a:srgbClr val="16213D"/>
                          </a:solidFill>
                          <a:latin typeface="Courier New" pitchFamily="34" charset="0"/>
                          <a:ea typeface="Courier New" pitchFamily="34" charset="-122"/>
                          <a:cs typeface="Courier New" pitchFamily="34" charset="-120"/>
                        </a:rPr>
                        <a:t>T_sym = 2^SF/BW</a:t>
                      </a:r>
                      <a:endParaRPr lang="en-US" sz="880" dirty="0">
                        <a:latin typeface="Courier New" charset="0"/>
                        <a:ea typeface="Courier New" charset="0"/>
                        <a:cs typeface="Courier New" charset="0"/>
                      </a:endParaRPr>
                    </a:p>
                  </a:txBody>
                  <a:tcPr marL="91440" marR="91440" marT="45720" marB="45720" anchor="ctr">
                    <a:lnL w="6350" cap="flat" cmpd="sng" algn="ctr">
                      <a:solidFill>
                        <a:srgbClr val="9AA7BE"/>
                      </a:solidFill>
                      <a:prstDash val="solid"/>
                      <a:round/>
                      <a:headEnd type="none" w="med" len="med"/>
                      <a:tailEnd type="none" w="med" len="med"/>
                    </a:lnL>
                    <a:lnR w="6350" cap="flat" cmpd="sng" algn="ctr">
                      <a:solidFill>
                        <a:srgbClr val="9AA7BE"/>
                      </a:solidFill>
                      <a:prstDash val="solid"/>
                      <a:round/>
                      <a:headEnd type="none" w="med" len="med"/>
                      <a:tailEnd type="none" w="med" len="med"/>
                    </a:lnR>
                    <a:lnT w="6350" cap="flat" cmpd="sng" algn="ctr">
                      <a:solidFill>
                        <a:srgbClr val="9AA7BE"/>
                      </a:solidFill>
                      <a:prstDash val="solid"/>
                      <a:round/>
                      <a:headEnd type="none" w="med" len="med"/>
                      <a:tailEnd type="none" w="med" len="med"/>
                    </a:lnT>
                    <a:lnB w="6350"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880" dirty="0">
                          <a:solidFill>
                            <a:srgbClr val="222A3F"/>
                          </a:solidFill>
                          <a:latin typeface="Arial" pitchFamily="34" charset="0"/>
                          <a:ea typeface="Arial" pitchFamily="34" charset="-122"/>
                          <a:cs typeface="Arial" pitchFamily="34" charset="-120"/>
                        </a:rPr>
                        <a:t>seconds per symbol: 2048 chips ÷ 250,000 chips/s = 8.19 ms</a:t>
                      </a:r>
                      <a:endParaRPr lang="en-US" sz="880" dirty="0">
                        <a:latin typeface="Arial" charset="0"/>
                        <a:ea typeface="Arial" charset="0"/>
                        <a:cs typeface="Arial" charset="0"/>
                      </a:endParaRPr>
                    </a:p>
                  </a:txBody>
                  <a:tcPr marL="91440" marR="91440" marT="45720" marB="45720" anchor="ctr">
                    <a:lnL w="6350" cap="flat" cmpd="sng" algn="ctr">
                      <a:solidFill>
                        <a:srgbClr val="9AA7BE"/>
                      </a:solidFill>
                      <a:prstDash val="solid"/>
                      <a:round/>
                      <a:headEnd type="none" w="med" len="med"/>
                      <a:tailEnd type="none" w="med" len="med"/>
                    </a:lnL>
                    <a:lnR w="6350" cap="flat" cmpd="sng" algn="ctr">
                      <a:solidFill>
                        <a:srgbClr val="9AA7BE"/>
                      </a:solidFill>
                      <a:prstDash val="solid"/>
                      <a:round/>
                      <a:headEnd type="none" w="med" len="med"/>
                      <a:tailEnd type="none" w="med" len="med"/>
                    </a:lnR>
                    <a:lnT w="6350" cap="flat" cmpd="sng" algn="ctr">
                      <a:solidFill>
                        <a:srgbClr val="9AA7BE"/>
                      </a:solidFill>
                      <a:prstDash val="solid"/>
                      <a:round/>
                      <a:headEnd type="none" w="med" len="med"/>
                      <a:tailEnd type="none" w="med" len="med"/>
                    </a:lnT>
                    <a:lnB w="6350" cap="flat" cmpd="sng" algn="ctr">
                      <a:solidFill>
                        <a:srgbClr val="9AA7BE"/>
                      </a:solidFill>
                      <a:prstDash val="solid"/>
                      <a:round/>
                      <a:headEnd type="none" w="med" len="med"/>
                      <a:tailEnd type="none" w="med" len="med"/>
                    </a:lnB>
                    <a:solidFill>
                      <a:srgbClr val="FFFFFF"/>
                    </a:solidFill>
                  </a:tcPr>
                </a:tc>
              </a:tr>
              <a:tr h="306324">
                <a:tc>
                  <a:txBody>
                    <a:bodyPr/>
                    <a:lstStyle/>
                    <a:p>
                      <a:pPr indent="0" marL="0">
                        <a:buNone/>
                      </a:pPr>
                      <a:r>
                        <a:rPr lang="en-US" sz="880" b="1" dirty="0">
                          <a:solidFill>
                            <a:srgbClr val="16213D"/>
                          </a:solidFill>
                          <a:latin typeface="Courier New" pitchFamily="34" charset="0"/>
                          <a:ea typeface="Courier New" pitchFamily="34" charset="-122"/>
                          <a:cs typeface="Courier New" pitchFamily="34" charset="-120"/>
                        </a:rPr>
                        <a:t>N_pre + 4.25</a:t>
                      </a:r>
                      <a:endParaRPr lang="en-US" sz="880" dirty="0">
                        <a:latin typeface="Courier New" charset="0"/>
                        <a:ea typeface="Courier New" charset="0"/>
                        <a:cs typeface="Courier New" charset="0"/>
                      </a:endParaRPr>
                    </a:p>
                  </a:txBody>
                  <a:tcPr marL="91440" marR="91440" marT="45720" marB="45720" anchor="ctr">
                    <a:lnL w="6350" cap="flat" cmpd="sng" algn="ctr">
                      <a:solidFill>
                        <a:srgbClr val="9AA7BE"/>
                      </a:solidFill>
                      <a:prstDash val="solid"/>
                      <a:round/>
                      <a:headEnd type="none" w="med" len="med"/>
                      <a:tailEnd type="none" w="med" len="med"/>
                    </a:lnL>
                    <a:lnR w="6350" cap="flat" cmpd="sng" algn="ctr">
                      <a:solidFill>
                        <a:srgbClr val="9AA7BE"/>
                      </a:solidFill>
                      <a:prstDash val="solid"/>
                      <a:round/>
                      <a:headEnd type="none" w="med" len="med"/>
                      <a:tailEnd type="none" w="med" len="med"/>
                    </a:lnR>
                    <a:lnT w="6350" cap="flat" cmpd="sng" algn="ctr">
                      <a:solidFill>
                        <a:srgbClr val="9AA7BE"/>
                      </a:solidFill>
                      <a:prstDash val="solid"/>
                      <a:round/>
                      <a:headEnd type="none" w="med" len="med"/>
                      <a:tailEnd type="none" w="med" len="med"/>
                    </a:lnT>
                    <a:lnB w="6350"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880" dirty="0">
                          <a:solidFill>
                            <a:srgbClr val="222A3F"/>
                          </a:solidFill>
                          <a:latin typeface="Arial" pitchFamily="34" charset="0"/>
                          <a:ea typeface="Arial" pitchFamily="34" charset="-122"/>
                          <a:cs typeface="Arial" pitchFamily="34" charset="-120"/>
                        </a:rPr>
                        <a:t>preamble symbols the receiver locks onto</a:t>
                      </a:r>
                      <a:endParaRPr lang="en-US" sz="880" dirty="0">
                        <a:latin typeface="Arial" charset="0"/>
                        <a:ea typeface="Arial" charset="0"/>
                        <a:cs typeface="Arial" charset="0"/>
                      </a:endParaRPr>
                    </a:p>
                  </a:txBody>
                  <a:tcPr marL="91440" marR="91440" marT="45720" marB="45720" anchor="ctr">
                    <a:lnL w="6350" cap="flat" cmpd="sng" algn="ctr">
                      <a:solidFill>
                        <a:srgbClr val="9AA7BE"/>
                      </a:solidFill>
                      <a:prstDash val="solid"/>
                      <a:round/>
                      <a:headEnd type="none" w="med" len="med"/>
                      <a:tailEnd type="none" w="med" len="med"/>
                    </a:lnL>
                    <a:lnR w="6350" cap="flat" cmpd="sng" algn="ctr">
                      <a:solidFill>
                        <a:srgbClr val="9AA7BE"/>
                      </a:solidFill>
                      <a:prstDash val="solid"/>
                      <a:round/>
                      <a:headEnd type="none" w="med" len="med"/>
                      <a:tailEnd type="none" w="med" len="med"/>
                    </a:lnR>
                    <a:lnT w="6350" cap="flat" cmpd="sng" algn="ctr">
                      <a:solidFill>
                        <a:srgbClr val="9AA7BE"/>
                      </a:solidFill>
                      <a:prstDash val="solid"/>
                      <a:round/>
                      <a:headEnd type="none" w="med" len="med"/>
                      <a:tailEnd type="none" w="med" len="med"/>
                    </a:lnT>
                    <a:lnB w="6350" cap="flat" cmpd="sng" algn="ctr">
                      <a:solidFill>
                        <a:srgbClr val="9AA7BE"/>
                      </a:solidFill>
                      <a:prstDash val="solid"/>
                      <a:round/>
                      <a:headEnd type="none" w="med" len="med"/>
                      <a:tailEnd type="none" w="med" len="med"/>
                    </a:lnB>
                    <a:solidFill>
                      <a:srgbClr val="F2F5FA"/>
                    </a:solidFill>
                  </a:tcPr>
                </a:tc>
              </a:tr>
              <a:tr h="306324">
                <a:tc>
                  <a:txBody>
                    <a:bodyPr/>
                    <a:lstStyle/>
                    <a:p>
                      <a:pPr indent="0" marL="0">
                        <a:buNone/>
                      </a:pPr>
                      <a:r>
                        <a:rPr lang="en-US" sz="880" b="1" dirty="0">
                          <a:solidFill>
                            <a:srgbClr val="16213D"/>
                          </a:solidFill>
                          <a:latin typeface="Courier New" pitchFamily="34" charset="0"/>
                          <a:ea typeface="Courier New" pitchFamily="34" charset="-122"/>
                          <a:cs typeface="Courier New" pitchFamily="34" charset="-120"/>
                        </a:rPr>
                        <a:t>8 + N_payload</a:t>
                      </a:r>
                      <a:endParaRPr lang="en-US" sz="880" dirty="0">
                        <a:latin typeface="Courier New" charset="0"/>
                        <a:ea typeface="Courier New" charset="0"/>
                        <a:cs typeface="Courier New" charset="0"/>
                      </a:endParaRPr>
                    </a:p>
                  </a:txBody>
                  <a:tcPr marL="91440" marR="91440" marT="45720" marB="45720" anchor="ctr">
                    <a:lnL w="6350" cap="flat" cmpd="sng" algn="ctr">
                      <a:solidFill>
                        <a:srgbClr val="9AA7BE"/>
                      </a:solidFill>
                      <a:prstDash val="solid"/>
                      <a:round/>
                      <a:headEnd type="none" w="med" len="med"/>
                      <a:tailEnd type="none" w="med" len="med"/>
                    </a:lnL>
                    <a:lnR w="6350" cap="flat" cmpd="sng" algn="ctr">
                      <a:solidFill>
                        <a:srgbClr val="9AA7BE"/>
                      </a:solidFill>
                      <a:prstDash val="solid"/>
                      <a:round/>
                      <a:headEnd type="none" w="med" len="med"/>
                      <a:tailEnd type="none" w="med" len="med"/>
                    </a:lnR>
                    <a:lnT w="6350" cap="flat" cmpd="sng" algn="ctr">
                      <a:solidFill>
                        <a:srgbClr val="9AA7BE"/>
                      </a:solidFill>
                      <a:prstDash val="solid"/>
                      <a:round/>
                      <a:headEnd type="none" w="med" len="med"/>
                      <a:tailEnd type="none" w="med" len="med"/>
                    </a:lnT>
                    <a:lnB w="6350"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880" dirty="0">
                          <a:solidFill>
                            <a:srgbClr val="222A3F"/>
                          </a:solidFill>
                          <a:latin typeface="Arial" pitchFamily="34" charset="0"/>
                          <a:ea typeface="Arial" pitchFamily="34" charset="-122"/>
                          <a:cs typeface="Arial" pitchFamily="34" charset="-120"/>
                        </a:rPr>
                        <a:t>fixed header + payload symbol count</a:t>
                      </a:r>
                      <a:endParaRPr lang="en-US" sz="880" dirty="0">
                        <a:latin typeface="Arial" charset="0"/>
                        <a:ea typeface="Arial" charset="0"/>
                        <a:cs typeface="Arial" charset="0"/>
                      </a:endParaRPr>
                    </a:p>
                  </a:txBody>
                  <a:tcPr marL="91440" marR="91440" marT="45720" marB="45720" anchor="ctr">
                    <a:lnL w="6350" cap="flat" cmpd="sng" algn="ctr">
                      <a:solidFill>
                        <a:srgbClr val="9AA7BE"/>
                      </a:solidFill>
                      <a:prstDash val="solid"/>
                      <a:round/>
                      <a:headEnd type="none" w="med" len="med"/>
                      <a:tailEnd type="none" w="med" len="med"/>
                    </a:lnL>
                    <a:lnR w="6350" cap="flat" cmpd="sng" algn="ctr">
                      <a:solidFill>
                        <a:srgbClr val="9AA7BE"/>
                      </a:solidFill>
                      <a:prstDash val="solid"/>
                      <a:round/>
                      <a:headEnd type="none" w="med" len="med"/>
                      <a:tailEnd type="none" w="med" len="med"/>
                    </a:lnR>
                    <a:lnT w="6350" cap="flat" cmpd="sng" algn="ctr">
                      <a:solidFill>
                        <a:srgbClr val="9AA7BE"/>
                      </a:solidFill>
                      <a:prstDash val="solid"/>
                      <a:round/>
                      <a:headEnd type="none" w="med" len="med"/>
                      <a:tailEnd type="none" w="med" len="med"/>
                    </a:lnT>
                    <a:lnB w="6350" cap="flat" cmpd="sng" algn="ctr">
                      <a:solidFill>
                        <a:srgbClr val="9AA7BE"/>
                      </a:solidFill>
                      <a:prstDash val="solid"/>
                      <a:round/>
                      <a:headEnd type="none" w="med" len="med"/>
                      <a:tailEnd type="none" w="med" len="med"/>
                    </a:lnB>
                    <a:solidFill>
                      <a:srgbClr val="FFFFFF"/>
                    </a:solidFill>
                  </a:tcPr>
                </a:tc>
              </a:tr>
              <a:tr h="306324">
                <a:tc>
                  <a:txBody>
                    <a:bodyPr/>
                    <a:lstStyle/>
                    <a:p>
                      <a:pPr indent="0" marL="0">
                        <a:buNone/>
                      </a:pPr>
                      <a:r>
                        <a:rPr lang="en-US" sz="880" b="1" dirty="0">
                          <a:solidFill>
                            <a:srgbClr val="16213D"/>
                          </a:solidFill>
                          <a:latin typeface="Courier New" pitchFamily="34" charset="0"/>
                          <a:ea typeface="Courier New" pitchFamily="34" charset="-122"/>
                          <a:cs typeface="Courier New" pitchFamily="34" charset="-120"/>
                        </a:rPr>
                        <a:t>T_pkt</a:t>
                      </a:r>
                      <a:endParaRPr lang="en-US" sz="880" dirty="0">
                        <a:latin typeface="Courier New" charset="0"/>
                        <a:ea typeface="Courier New" charset="0"/>
                        <a:cs typeface="Courier New" charset="0"/>
                      </a:endParaRPr>
                    </a:p>
                  </a:txBody>
                  <a:tcPr marL="91440" marR="91440" marT="45720" marB="45720" anchor="ctr">
                    <a:lnL w="6350" cap="flat" cmpd="sng" algn="ctr">
                      <a:solidFill>
                        <a:srgbClr val="9AA7BE"/>
                      </a:solidFill>
                      <a:prstDash val="solid"/>
                      <a:round/>
                      <a:headEnd type="none" w="med" len="med"/>
                      <a:tailEnd type="none" w="med" len="med"/>
                    </a:lnL>
                    <a:lnR w="6350" cap="flat" cmpd="sng" algn="ctr">
                      <a:solidFill>
                        <a:srgbClr val="9AA7BE"/>
                      </a:solidFill>
                      <a:prstDash val="solid"/>
                      <a:round/>
                      <a:headEnd type="none" w="med" len="med"/>
                      <a:tailEnd type="none" w="med" len="med"/>
                    </a:lnR>
                    <a:lnT w="6350" cap="flat" cmpd="sng" algn="ctr">
                      <a:solidFill>
                        <a:srgbClr val="9AA7BE"/>
                      </a:solidFill>
                      <a:prstDash val="solid"/>
                      <a:round/>
                      <a:headEnd type="none" w="med" len="med"/>
                      <a:tailEnd type="none" w="med" len="med"/>
                    </a:lnT>
                    <a:lnB w="6350"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880" dirty="0">
                          <a:solidFill>
                            <a:srgbClr val="222A3F"/>
                          </a:solidFill>
                          <a:latin typeface="Arial" pitchFamily="34" charset="0"/>
                          <a:ea typeface="Arial" pitchFamily="34" charset="-122"/>
                          <a:cs typeface="Arial" pitchFamily="34" charset="-120"/>
                        </a:rPr>
                        <a:t>total channel time one packet costs (~0.5 s)</a:t>
                      </a:r>
                      <a:endParaRPr lang="en-US" sz="880" dirty="0">
                        <a:latin typeface="Arial" charset="0"/>
                        <a:ea typeface="Arial" charset="0"/>
                        <a:cs typeface="Arial" charset="0"/>
                      </a:endParaRPr>
                    </a:p>
                  </a:txBody>
                  <a:tcPr marL="91440" marR="91440" marT="45720" marB="45720" anchor="ctr">
                    <a:lnL w="6350" cap="flat" cmpd="sng" algn="ctr">
                      <a:solidFill>
                        <a:srgbClr val="9AA7BE"/>
                      </a:solidFill>
                      <a:prstDash val="solid"/>
                      <a:round/>
                      <a:headEnd type="none" w="med" len="med"/>
                      <a:tailEnd type="none" w="med" len="med"/>
                    </a:lnL>
                    <a:lnR w="6350" cap="flat" cmpd="sng" algn="ctr">
                      <a:solidFill>
                        <a:srgbClr val="9AA7BE"/>
                      </a:solidFill>
                      <a:prstDash val="solid"/>
                      <a:round/>
                      <a:headEnd type="none" w="med" len="med"/>
                      <a:tailEnd type="none" w="med" len="med"/>
                    </a:lnR>
                    <a:lnT w="6350" cap="flat" cmpd="sng" algn="ctr">
                      <a:solidFill>
                        <a:srgbClr val="9AA7BE"/>
                      </a:solidFill>
                      <a:prstDash val="solid"/>
                      <a:round/>
                      <a:headEnd type="none" w="med" len="med"/>
                      <a:tailEnd type="none" w="med" len="med"/>
                    </a:lnT>
                    <a:lnB w="6350" cap="flat" cmpd="sng" algn="ctr">
                      <a:solidFill>
                        <a:srgbClr val="9AA7BE"/>
                      </a:solidFill>
                      <a:prstDash val="solid"/>
                      <a:round/>
                      <a:headEnd type="none" w="med" len="med"/>
                      <a:tailEnd type="none" w="med" len="med"/>
                    </a:lnB>
                    <a:solidFill>
                      <a:srgbClr val="F2F5FA"/>
                    </a:solidFill>
                  </a:tcPr>
                </a:tc>
              </a:tr>
            </a:tbl>
          </a:graphicData>
        </a:graphic>
      </p:graphicFrame>
      <p:sp>
        <p:nvSpPr>
          <p:cNvPr id="17" name="Text 9"/>
          <p:cNvSpPr txBox="1"/>
          <p:nvPr/>
        </p:nvSpPr>
        <p:spPr>
          <a:xfrm>
            <a:off x="6309360" y="3657600"/>
            <a:ext cx="5394960" cy="237744"/>
          </a:xfrm>
          <a:prstGeom prst="rect">
            <a:avLst/>
          </a:prstGeom>
          <a:noFill/>
          <a:ln/>
        </p:spPr>
        <p:txBody>
          <a:bodyPr wrap="square" lIns="0" tIns="0" rIns="0" bIns="0" rtlCol="0" anchor="ctr"/>
          <a:lstStyle/>
          <a:p>
            <a:pPr indent="0" marL="0">
              <a:buNone/>
            </a:pPr>
            <a:r>
              <a:rPr lang="en-US" sz="1050" b="1" dirty="0">
                <a:solidFill>
                  <a:srgbClr val="E58E1A"/>
                </a:solidFill>
                <a:latin typeface="Courier New" pitchFamily="34" charset="0"/>
                <a:ea typeface="Courier New" pitchFamily="34" charset="-122"/>
                <a:cs typeface="Courier New" pitchFamily="34" charset="-120"/>
              </a:rPr>
              <a:t>LINK BUDGET  (sheet 10)</a:t>
            </a:r>
            <a:endParaRPr lang="en-US" sz="1050" dirty="0"/>
          </a:p>
        </p:txBody>
      </p:sp>
      <p:pic>
        <p:nvPicPr>
          <p:cNvPr id="18" name="Image 3" descr="C:/Users/deogr/AppData/Local/Temp/claude/C--Users-deogr-Documents-Fall-Project-Off-Grid-Vehicle-dection-project/e8b2e8fa-1513-4aa8-a8f6-ce4fcd20e664/scratchpad/deck5/eq_budget.png">    </p:cNvPr>
          <p:cNvPicPr>
            <a:picLocks noChangeAspect="1"/>
          </p:cNvPicPr>
          <p:nvPr/>
        </p:nvPicPr>
        <p:blipFill>
          <a:blip r:embed="rId4"/>
          <a:stretch>
            <a:fillRect/>
          </a:stretch>
        </p:blipFill>
        <p:spPr>
          <a:xfrm>
            <a:off x="6309360" y="3913632"/>
            <a:ext cx="5394960" cy="475488"/>
          </a:xfrm>
          <a:prstGeom prst="rect">
            <a:avLst/>
          </a:prstGeom>
        </p:spPr>
      </p:pic>
      <p:graphicFrame>
        <p:nvGraphicFramePr>
          <p:cNvPr id="73" name="Table 3"/>
          <p:cNvGraphicFramePr>
            <a:graphicFrameLocks noGrp="1"/>
          </p:cNvGraphicFramePr>
          <p:nvPr>
            <p:extLst>
              <p:ext uri="{D42A27DB-BD31-4B8C-83A1-F6EECF244321}">
                <p14:modId xmlns:p14="http://schemas.microsoft.com/office/powerpoint/2010/main" val="1579011935"/>
              </p:ext>
            </p:extLst>
          </p:nvPr>
        </p:nvGraphicFramePr>
        <p:xfrm>
          <a:off x="6309360" y="4462272"/>
          <a:ext cx="5394960" cy="914400"/>
        </p:xfrm>
        <a:graphic>
          <a:graphicData uri="http://schemas.openxmlformats.org/drawingml/2006/table">
            <a:tbl>
              <a:tblPr/>
              <a:tblGrid>
                <a:gridCol w="1874520"/>
                <a:gridCol w="3520440"/>
              </a:tblGrid>
              <a:tr h="306324">
                <a:tc>
                  <a:txBody>
                    <a:bodyPr/>
                    <a:lstStyle/>
                    <a:p>
                      <a:pPr indent="0" marL="0">
                        <a:buNone/>
                      </a:pPr>
                      <a:r>
                        <a:rPr lang="en-US" sz="880" b="1" dirty="0">
                          <a:solidFill>
                            <a:srgbClr val="16213D"/>
                          </a:solidFill>
                          <a:latin typeface="Courier New" pitchFamily="34" charset="0"/>
                          <a:ea typeface="Courier New" pitchFamily="34" charset="-122"/>
                          <a:cs typeface="Courier New" pitchFamily="34" charset="-120"/>
                        </a:rPr>
                        <a:t>P_rx / P_tx</a:t>
                      </a:r>
                      <a:endParaRPr lang="en-US" sz="880" dirty="0">
                        <a:latin typeface="Courier New" charset="0"/>
                        <a:ea typeface="Courier New" charset="0"/>
                        <a:cs typeface="Courier New" charset="0"/>
                      </a:endParaRPr>
                    </a:p>
                  </a:txBody>
                  <a:tcPr marL="91440" marR="91440" marT="45720" marB="45720" anchor="ctr">
                    <a:lnL w="6350" cap="flat" cmpd="sng" algn="ctr">
                      <a:solidFill>
                        <a:srgbClr val="9AA7BE"/>
                      </a:solidFill>
                      <a:prstDash val="solid"/>
                      <a:round/>
                      <a:headEnd type="none" w="med" len="med"/>
                      <a:tailEnd type="none" w="med" len="med"/>
                    </a:lnL>
                    <a:lnR w="6350" cap="flat" cmpd="sng" algn="ctr">
                      <a:solidFill>
                        <a:srgbClr val="9AA7BE"/>
                      </a:solidFill>
                      <a:prstDash val="solid"/>
                      <a:round/>
                      <a:headEnd type="none" w="med" len="med"/>
                      <a:tailEnd type="none" w="med" len="med"/>
                    </a:lnR>
                    <a:lnT w="6350" cap="flat" cmpd="sng" algn="ctr">
                      <a:solidFill>
                        <a:srgbClr val="9AA7BE"/>
                      </a:solidFill>
                      <a:prstDash val="solid"/>
                      <a:round/>
                      <a:headEnd type="none" w="med" len="med"/>
                      <a:tailEnd type="none" w="med" len="med"/>
                    </a:lnT>
                    <a:lnB w="6350"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880" dirty="0">
                          <a:solidFill>
                            <a:srgbClr val="222A3F"/>
                          </a:solidFill>
                          <a:latin typeface="Arial" pitchFamily="34" charset="0"/>
                          <a:ea typeface="Arial" pitchFamily="34" charset="-122"/>
                          <a:cs typeface="Arial" pitchFamily="34" charset="-120"/>
                        </a:rPr>
                        <a:t>received / transmitted power, in dBm</a:t>
                      </a:r>
                      <a:endParaRPr lang="en-US" sz="880" dirty="0">
                        <a:latin typeface="Arial" charset="0"/>
                        <a:ea typeface="Arial" charset="0"/>
                        <a:cs typeface="Arial" charset="0"/>
                      </a:endParaRPr>
                    </a:p>
                  </a:txBody>
                  <a:tcPr marL="91440" marR="91440" marT="45720" marB="45720" anchor="ctr">
                    <a:lnL w="6350" cap="flat" cmpd="sng" algn="ctr">
                      <a:solidFill>
                        <a:srgbClr val="9AA7BE"/>
                      </a:solidFill>
                      <a:prstDash val="solid"/>
                      <a:round/>
                      <a:headEnd type="none" w="med" len="med"/>
                      <a:tailEnd type="none" w="med" len="med"/>
                    </a:lnL>
                    <a:lnR w="6350" cap="flat" cmpd="sng" algn="ctr">
                      <a:solidFill>
                        <a:srgbClr val="9AA7BE"/>
                      </a:solidFill>
                      <a:prstDash val="solid"/>
                      <a:round/>
                      <a:headEnd type="none" w="med" len="med"/>
                      <a:tailEnd type="none" w="med" len="med"/>
                    </a:lnR>
                    <a:lnT w="6350" cap="flat" cmpd="sng" algn="ctr">
                      <a:solidFill>
                        <a:srgbClr val="9AA7BE"/>
                      </a:solidFill>
                      <a:prstDash val="solid"/>
                      <a:round/>
                      <a:headEnd type="none" w="med" len="med"/>
                      <a:tailEnd type="none" w="med" len="med"/>
                    </a:lnT>
                    <a:lnB w="6350" cap="flat" cmpd="sng" algn="ctr">
                      <a:solidFill>
                        <a:srgbClr val="9AA7BE"/>
                      </a:solidFill>
                      <a:prstDash val="solid"/>
                      <a:round/>
                      <a:headEnd type="none" w="med" len="med"/>
                      <a:tailEnd type="none" w="med" len="med"/>
                    </a:lnB>
                    <a:solidFill>
                      <a:srgbClr val="FFFFFF"/>
                    </a:solidFill>
                  </a:tcPr>
                </a:tc>
              </a:tr>
              <a:tr h="306324">
                <a:tc>
                  <a:txBody>
                    <a:bodyPr/>
                    <a:lstStyle/>
                    <a:p>
                      <a:pPr indent="0" marL="0">
                        <a:buNone/>
                      </a:pPr>
                      <a:r>
                        <a:rPr lang="en-US" sz="880" b="1" dirty="0">
                          <a:solidFill>
                            <a:srgbClr val="16213D"/>
                          </a:solidFill>
                          <a:latin typeface="Courier New" pitchFamily="34" charset="0"/>
                          <a:ea typeface="Courier New" pitchFamily="34" charset="-122"/>
                          <a:cs typeface="Courier New" pitchFamily="34" charset="-120"/>
                        </a:rPr>
                        <a:t>G_tx, G_rx</a:t>
                      </a:r>
                      <a:endParaRPr lang="en-US" sz="880" dirty="0">
                        <a:latin typeface="Courier New" charset="0"/>
                        <a:ea typeface="Courier New" charset="0"/>
                        <a:cs typeface="Courier New" charset="0"/>
                      </a:endParaRPr>
                    </a:p>
                  </a:txBody>
                  <a:tcPr marL="91440" marR="91440" marT="45720" marB="45720" anchor="ctr">
                    <a:lnL w="6350" cap="flat" cmpd="sng" algn="ctr">
                      <a:solidFill>
                        <a:srgbClr val="9AA7BE"/>
                      </a:solidFill>
                      <a:prstDash val="solid"/>
                      <a:round/>
                      <a:headEnd type="none" w="med" len="med"/>
                      <a:tailEnd type="none" w="med" len="med"/>
                    </a:lnL>
                    <a:lnR w="6350" cap="flat" cmpd="sng" algn="ctr">
                      <a:solidFill>
                        <a:srgbClr val="9AA7BE"/>
                      </a:solidFill>
                      <a:prstDash val="solid"/>
                      <a:round/>
                      <a:headEnd type="none" w="med" len="med"/>
                      <a:tailEnd type="none" w="med" len="med"/>
                    </a:lnR>
                    <a:lnT w="6350" cap="flat" cmpd="sng" algn="ctr">
                      <a:solidFill>
                        <a:srgbClr val="9AA7BE"/>
                      </a:solidFill>
                      <a:prstDash val="solid"/>
                      <a:round/>
                      <a:headEnd type="none" w="med" len="med"/>
                      <a:tailEnd type="none" w="med" len="med"/>
                    </a:lnT>
                    <a:lnB w="6350"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880" dirty="0">
                          <a:solidFill>
                            <a:srgbClr val="222A3F"/>
                          </a:solidFill>
                          <a:latin typeface="Arial" pitchFamily="34" charset="0"/>
                          <a:ea typeface="Arial" pitchFamily="34" charset="-122"/>
                          <a:cs typeface="Arial" pitchFamily="34" charset="-120"/>
                        </a:rPr>
                        <a:t>antenna gains in dBi (~0 for our whips)</a:t>
                      </a:r>
                      <a:endParaRPr lang="en-US" sz="880" dirty="0">
                        <a:latin typeface="Arial" charset="0"/>
                        <a:ea typeface="Arial" charset="0"/>
                        <a:cs typeface="Arial" charset="0"/>
                      </a:endParaRPr>
                    </a:p>
                  </a:txBody>
                  <a:tcPr marL="91440" marR="91440" marT="45720" marB="45720" anchor="ctr">
                    <a:lnL w="6350" cap="flat" cmpd="sng" algn="ctr">
                      <a:solidFill>
                        <a:srgbClr val="9AA7BE"/>
                      </a:solidFill>
                      <a:prstDash val="solid"/>
                      <a:round/>
                      <a:headEnd type="none" w="med" len="med"/>
                      <a:tailEnd type="none" w="med" len="med"/>
                    </a:lnL>
                    <a:lnR w="6350" cap="flat" cmpd="sng" algn="ctr">
                      <a:solidFill>
                        <a:srgbClr val="9AA7BE"/>
                      </a:solidFill>
                      <a:prstDash val="solid"/>
                      <a:round/>
                      <a:headEnd type="none" w="med" len="med"/>
                      <a:tailEnd type="none" w="med" len="med"/>
                    </a:lnR>
                    <a:lnT w="6350" cap="flat" cmpd="sng" algn="ctr">
                      <a:solidFill>
                        <a:srgbClr val="9AA7BE"/>
                      </a:solidFill>
                      <a:prstDash val="solid"/>
                      <a:round/>
                      <a:headEnd type="none" w="med" len="med"/>
                      <a:tailEnd type="none" w="med" len="med"/>
                    </a:lnT>
                    <a:lnB w="6350" cap="flat" cmpd="sng" algn="ctr">
                      <a:solidFill>
                        <a:srgbClr val="9AA7BE"/>
                      </a:solidFill>
                      <a:prstDash val="solid"/>
                      <a:round/>
                      <a:headEnd type="none" w="med" len="med"/>
                      <a:tailEnd type="none" w="med" len="med"/>
                    </a:lnB>
                    <a:solidFill>
                      <a:srgbClr val="F2F5FA"/>
                    </a:solidFill>
                  </a:tcPr>
                </a:tc>
              </a:tr>
              <a:tr h="306324">
                <a:tc>
                  <a:txBody>
                    <a:bodyPr/>
                    <a:lstStyle/>
                    <a:p>
                      <a:pPr indent="0" marL="0">
                        <a:buNone/>
                      </a:pPr>
                      <a:r>
                        <a:rPr lang="en-US" sz="880" b="1" dirty="0">
                          <a:solidFill>
                            <a:srgbClr val="16213D"/>
                          </a:solidFill>
                          <a:latin typeface="Courier New" pitchFamily="34" charset="0"/>
                          <a:ea typeface="Courier New" pitchFamily="34" charset="-122"/>
                          <a:cs typeface="Courier New" pitchFamily="34" charset="-120"/>
                        </a:rPr>
                        <a:t>20log₁₀d + 20log₁₀f − 147.55</a:t>
                      </a:r>
                      <a:endParaRPr lang="en-US" sz="880" dirty="0">
                        <a:latin typeface="Courier New" charset="0"/>
                        <a:ea typeface="Courier New" charset="0"/>
                        <a:cs typeface="Courier New" charset="0"/>
                      </a:endParaRPr>
                    </a:p>
                  </a:txBody>
                  <a:tcPr marL="91440" marR="91440" marT="45720" marB="45720" anchor="ctr">
                    <a:lnL w="6350" cap="flat" cmpd="sng" algn="ctr">
                      <a:solidFill>
                        <a:srgbClr val="9AA7BE"/>
                      </a:solidFill>
                      <a:prstDash val="solid"/>
                      <a:round/>
                      <a:headEnd type="none" w="med" len="med"/>
                      <a:tailEnd type="none" w="med" len="med"/>
                    </a:lnL>
                    <a:lnR w="6350" cap="flat" cmpd="sng" algn="ctr">
                      <a:solidFill>
                        <a:srgbClr val="9AA7BE"/>
                      </a:solidFill>
                      <a:prstDash val="solid"/>
                      <a:round/>
                      <a:headEnd type="none" w="med" len="med"/>
                      <a:tailEnd type="none" w="med" len="med"/>
                    </a:lnR>
                    <a:lnT w="6350" cap="flat" cmpd="sng" algn="ctr">
                      <a:solidFill>
                        <a:srgbClr val="9AA7BE"/>
                      </a:solidFill>
                      <a:prstDash val="solid"/>
                      <a:round/>
                      <a:headEnd type="none" w="med" len="med"/>
                      <a:tailEnd type="none" w="med" len="med"/>
                    </a:lnT>
                    <a:lnB w="6350"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880" dirty="0">
                          <a:solidFill>
                            <a:srgbClr val="222A3F"/>
                          </a:solidFill>
                          <a:latin typeface="Arial" pitchFamily="34" charset="0"/>
                          <a:ea typeface="Arial" pitchFamily="34" charset="-122"/>
                          <a:cs typeface="Arial" pitchFamily="34" charset="-120"/>
                        </a:rPr>
                        <a:t>free-space path loss: +6 dB per doubled distance</a:t>
                      </a:r>
                      <a:endParaRPr lang="en-US" sz="880" dirty="0">
                        <a:latin typeface="Arial" charset="0"/>
                        <a:ea typeface="Arial" charset="0"/>
                        <a:cs typeface="Arial" charset="0"/>
                      </a:endParaRPr>
                    </a:p>
                  </a:txBody>
                  <a:tcPr marL="91440" marR="91440" marT="45720" marB="45720" anchor="ctr">
                    <a:lnL w="6350" cap="flat" cmpd="sng" algn="ctr">
                      <a:solidFill>
                        <a:srgbClr val="9AA7BE"/>
                      </a:solidFill>
                      <a:prstDash val="solid"/>
                      <a:round/>
                      <a:headEnd type="none" w="med" len="med"/>
                      <a:tailEnd type="none" w="med" len="med"/>
                    </a:lnL>
                    <a:lnR w="6350" cap="flat" cmpd="sng" algn="ctr">
                      <a:solidFill>
                        <a:srgbClr val="9AA7BE"/>
                      </a:solidFill>
                      <a:prstDash val="solid"/>
                      <a:round/>
                      <a:headEnd type="none" w="med" len="med"/>
                      <a:tailEnd type="none" w="med" len="med"/>
                    </a:lnR>
                    <a:lnT w="6350" cap="flat" cmpd="sng" algn="ctr">
                      <a:solidFill>
                        <a:srgbClr val="9AA7BE"/>
                      </a:solidFill>
                      <a:prstDash val="solid"/>
                      <a:round/>
                      <a:headEnd type="none" w="med" len="med"/>
                      <a:tailEnd type="none" w="med" len="med"/>
                    </a:lnT>
                    <a:lnB w="6350" cap="flat" cmpd="sng" algn="ctr">
                      <a:solidFill>
                        <a:srgbClr val="9AA7BE"/>
                      </a:solidFill>
                      <a:prstDash val="solid"/>
                      <a:round/>
                      <a:headEnd type="none" w="med" len="med"/>
                      <a:tailEnd type="none" w="med" len="med"/>
                    </a:lnB>
                    <a:solidFill>
                      <a:srgbClr val="FFFFFF"/>
                    </a:solidFill>
                  </a:tcPr>
                </a:tc>
              </a:tr>
              <a:tr h="306324">
                <a:tc>
                  <a:txBody>
                    <a:bodyPr/>
                    <a:lstStyle/>
                    <a:p>
                      <a:pPr indent="0" marL="0">
                        <a:buNone/>
                      </a:pPr>
                      <a:r>
                        <a:rPr lang="en-US" sz="880" b="1" dirty="0">
                          <a:solidFill>
                            <a:srgbClr val="16213D"/>
                          </a:solidFill>
                          <a:latin typeface="Courier New" pitchFamily="34" charset="0"/>
                          <a:ea typeface="Courier New" pitchFamily="34" charset="-122"/>
                          <a:cs typeface="Courier New" pitchFamily="34" charset="-120"/>
                        </a:rPr>
                        <a:t>S = −131 dBm</a:t>
                      </a:r>
                      <a:endParaRPr lang="en-US" sz="880" dirty="0">
                        <a:latin typeface="Courier New" charset="0"/>
                        <a:ea typeface="Courier New" charset="0"/>
                        <a:cs typeface="Courier New" charset="0"/>
                      </a:endParaRPr>
                    </a:p>
                  </a:txBody>
                  <a:tcPr marL="91440" marR="91440" marT="45720" marB="45720" anchor="ctr">
                    <a:lnL w="6350" cap="flat" cmpd="sng" algn="ctr">
                      <a:solidFill>
                        <a:srgbClr val="9AA7BE"/>
                      </a:solidFill>
                      <a:prstDash val="solid"/>
                      <a:round/>
                      <a:headEnd type="none" w="med" len="med"/>
                      <a:tailEnd type="none" w="med" len="med"/>
                    </a:lnL>
                    <a:lnR w="6350" cap="flat" cmpd="sng" algn="ctr">
                      <a:solidFill>
                        <a:srgbClr val="9AA7BE"/>
                      </a:solidFill>
                      <a:prstDash val="solid"/>
                      <a:round/>
                      <a:headEnd type="none" w="med" len="med"/>
                      <a:tailEnd type="none" w="med" len="med"/>
                    </a:lnR>
                    <a:lnT w="6350" cap="flat" cmpd="sng" algn="ctr">
                      <a:solidFill>
                        <a:srgbClr val="9AA7BE"/>
                      </a:solidFill>
                      <a:prstDash val="solid"/>
                      <a:round/>
                      <a:headEnd type="none" w="med" len="med"/>
                      <a:tailEnd type="none" w="med" len="med"/>
                    </a:lnT>
                    <a:lnB w="6350"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880" dirty="0">
                          <a:solidFill>
                            <a:srgbClr val="222A3F"/>
                          </a:solidFill>
                          <a:latin typeface="Arial" pitchFamily="34" charset="0"/>
                          <a:ea typeface="Arial" pitchFamily="34" charset="-122"/>
                          <a:cs typeface="Arial" pitchFamily="34" charset="-120"/>
                        </a:rPr>
                        <a:t>SX1262 sensitivity: weakest decodable signal at SF11/250k</a:t>
                      </a:r>
                      <a:endParaRPr lang="en-US" sz="880" dirty="0">
                        <a:latin typeface="Arial" charset="0"/>
                        <a:ea typeface="Arial" charset="0"/>
                        <a:cs typeface="Arial" charset="0"/>
                      </a:endParaRPr>
                    </a:p>
                  </a:txBody>
                  <a:tcPr marL="91440" marR="91440" marT="45720" marB="45720" anchor="ctr">
                    <a:lnL w="6350" cap="flat" cmpd="sng" algn="ctr">
                      <a:solidFill>
                        <a:srgbClr val="9AA7BE"/>
                      </a:solidFill>
                      <a:prstDash val="solid"/>
                      <a:round/>
                      <a:headEnd type="none" w="med" len="med"/>
                      <a:tailEnd type="none" w="med" len="med"/>
                    </a:lnL>
                    <a:lnR w="6350" cap="flat" cmpd="sng" algn="ctr">
                      <a:solidFill>
                        <a:srgbClr val="9AA7BE"/>
                      </a:solidFill>
                      <a:prstDash val="solid"/>
                      <a:round/>
                      <a:headEnd type="none" w="med" len="med"/>
                      <a:tailEnd type="none" w="med" len="med"/>
                    </a:lnR>
                    <a:lnT w="6350" cap="flat" cmpd="sng" algn="ctr">
                      <a:solidFill>
                        <a:srgbClr val="9AA7BE"/>
                      </a:solidFill>
                      <a:prstDash val="solid"/>
                      <a:round/>
                      <a:headEnd type="none" w="med" len="med"/>
                      <a:tailEnd type="none" w="med" len="med"/>
                    </a:lnT>
                    <a:lnB w="6350" cap="flat" cmpd="sng" algn="ctr">
                      <a:solidFill>
                        <a:srgbClr val="9AA7BE"/>
                      </a:solidFill>
                      <a:prstDash val="solid"/>
                      <a:round/>
                      <a:headEnd type="none" w="med" len="med"/>
                      <a:tailEnd type="none" w="med" len="med"/>
                    </a:lnB>
                    <a:solidFill>
                      <a:srgbClr val="F2F5FA"/>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2026-09-27T03:01:15Z</dcterms:created>
  <dcterms:modified xsi:type="dcterms:W3CDTF">2026-09-27T03:01:15Z</dcterms:modified>
</cp:coreProperties>
</file>