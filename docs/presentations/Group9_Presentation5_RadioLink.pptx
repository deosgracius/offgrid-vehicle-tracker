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last review published the plan; this one reports the milestone. Both radios now hold a verified two-way link on our private channel. But the headline is not 'it works' - it is WHY it did not work for a day with byte-identical configurations, and what that taught us about how LoRa mesh radios actually lock onto each other. Every claim on these sheets was measured on our own hardware this week, most of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sheet as a contract: LoRa has no negotiation, no handshake at the PHY - both sides must independently arrive at identical radio parameters from their own stored config. The table is ordered like the OSI stack: frequency first (can you even receive energy), then modulation (can you demodulate chirps), then channel crypto (can you read the payload), then per-node identity (can you address a specific radio). Our failure lived in row one - the least visible layer, because every tool reports the CONFIG, not the synthesizer frequency. Segue: so where does that frequency actually come from? Next sheet is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equation left to right: start of band, plus half a bandwidth so the slot is centered, plus slot index times bandwidth. The slot index is a plain djb2 string hash of the channel name modulo the slot count - show the six-line loop, this is the entire algorithm. Verify it live if asked: LongFast hashes to 19, which is 906.875 - the published US default, so the math is calibrated against a known constant. Group9 hashes to 43 = 912.875. Point at the band figure: the two markers are 6 MHz apart. A radio on one marker receives effectively nothing from the other - at 250 kHz bandwidth, 6 MHz off-tune is total isolation. That is the trap: the name looks like a label, but it is a tuning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2x2 matrix is the whole diagnosis space. Top-left is health. Top-right - same slot, wrong key - still updates 'last heard' counters because packet headers are cleartext; only payloads drop. Bottom-left is OUR cell and the cruelest: byte-identical keys, verified configs, zero RF coupling, because the radios were 6 MHz apart. Every software check reads back the intended config while the synthesizer sits on the old slot until a clean save+reboot. Method that isolated it: A/B regression - both radios moved to the known-good default channel, link immediately proven with round-trip traceroute; both moved to Group9 with the OLED frequency verified at 912.875, link proven again. Two variables, tested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'locking' the title promises, and the key point is what is NOT here: no connection, no association, no session like WiFi or Bluetooth. Acquisition is one-directional bookkeeping - I heard you, I filed you, I kept your public key. Steps 4 and 5 split the traffic classes: broadcasts need only the shared channel key (works from the first packet), direct messages are individually encrypted to a node's public key and fail with the exact NAKs shown until NodeInfo has crossed. Both NAKs in the code box are our real captures. The second one is a diagnostic gem: an error REPLY that arrives by radio proves the RF path while the application layer is still refusing - we used it as a link test when nothing else would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traceroute and not a text message: a text proves one direction and needs a human at the far screen; traceroute is machine-checkable, round-trip, and reports per-hop SNR from the receiving demodulator. Explain the margin bar: LoRa's spreading gain means SF11 decodes down to 17.5 dB BELOW the noise floor - that is the negative-SNR magic of chirp spread spectrum. At +6 dB measured, we hold 23.5 dB of margin; every 6 dB of margin is roughly a doubling of free-space distance, which is why the same numbers that look boring on a desk translate to kilometers outdoors. This measurement is the baseline for the W8-W9 range characterization: same command, growing distance, log SNR vs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 is the sheet: signal GOOD and 'heard 72 days ago' in the same breath - both true, because they answer different questions. Signal quality is measured per packet; 'online' is arithmetic on a stored timestamp against the local clock. Three ways that arithmetic lied to us in one afternoon: a node with no GPS fix rebroadcast its STORED position carrying the old fix time, dragging the peer's last-heard back to July; a reboot reloaded month-old records from flash because the node DB only persists on its own schedule; and after a clock-less reboot the same stale records counted as ONLINE - the screen said 17 online from a two-month-old node list. Same inequality, three failure modes, all timestamp hygiene. None of this can occur in a vehicle with sky view - fresh fixes stamp fresh times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protocol design of the product - everything else is plumbing. Two rates matter for the demo: 10 s / 20 m while moving (the tracking experience) and the 300 s telemetry floor (the honesty guarantee). The smart broadcast is an AND gate: at highway speed the 20 m distance gate is crossed in under a second, so the 10 s timer dominates; walking pace flips it. Defend the 300 s choice with the two arguments in the bullets: it is 6x denser than the failure window it patches, and 60x cheaper than the channel budget cares about. The rule in the last bullet is worth stating out loud to the sponsor: no packet flows on this channel without a named failure it prevents.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Time-on-air is the currency of everything on this channel. Walk the equation: symbol time is two-to-the-SF over bandwidth - at SF11/250k that is 8.19 ms, so even a lean position packet spends around half a second on air. Then the observation that surprised us on the bench: channel utilization ran 9-13% with two IDLE radios, because a flood mesh relays by default and with exactly two nodes every relay is a perfect waste - there is no third radio for the echo to reach. The budget box is the punchline: at drive-test rates the default behavior lands on ~20%, brushing the 25% duty throttle that silently suppresses position broadcasts - the product's core packet - precisely when both vehicles move. CLIENT_MUTE buys the headroom back for free, with the revert condition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graph left to right: received power falls 6 dB per doubling of distance; the red dashed line is the SX1262's decode floor at our modulation. The gap between the blue curve and the red line IS the link margin - at bench range it is enormous (about 100 dB), which is why nothing about a desk test predicts range. The dotted green line moves the requirement 20 dB up to absorb real-world fading and obstruction; where the blue curve meets THAT line is the honest few-kilometer design expectation, matching our 3-5 km target for the v2v use case. The free-space crossing near 100 km is a math fact, not a claim - treat it as an upper bound that terrain will spend. Range test protocol: fixed SF11, log traceroute SNR vs GPS distance, plot against this exact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photos, chronological. One: the as-received node table - eighteen nodes from the sponsor's summer mesh, all months stale, the raw material of every counter lie on sheet 07. Two: a text landing during the debug session - the moment we knew the RF layer was healthy and the fault was bookkeeping. Three: the same table after the cleanup - peer heard one minute ago, and it stays that way. Four: the home screen we now read as a dashboard - uptime catches silent reboots, voltage catches the charging state, channel utilization catches airtime regressions. The discipline banner is the transferable result: one variable per trial, read-back plus OLED verification, machine-checkable probes, and treat every NAK as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as-built table - this is the contract the drive test inherits, every row verified twice (read-back plus OLED). References: [1] backs every sensitivity and SNR number quoted; [2] and [6] together explain the root-cause sheets - name-derived frequency and layered encryption; [3] and [4] back the airtime sheet; [5] the heartbeat; [7] the time-on-air equation; [8] the regulatory envelope for +30 dBm in this band. Next milestones on the board: two-vehicle drive test (in progress, 20%), then range characterization W8-W9 plotted against sheet 10's predicted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semtech.my.salesforce.com/sfc/p/E0000000JelG/a/2R000000Un7F/yT.fKdAr9ZAo3cJLc4F2cBdUsMftpT2vsOICP7NmvMo" TargetMode="External"/><Relationship Id="rId2" Type="http://schemas.openxmlformats.org/officeDocument/2006/relationships/hyperlink" Target="https://meshtastic.org/docs/overview/radio-settings/" TargetMode="External"/><Relationship Id="rId3" Type="http://schemas.openxmlformats.org/officeDocument/2006/relationships/hyperlink" Target="https://meshtastic.org/docs/overview/mesh-algo/" TargetMode="External"/><Relationship Id="rId4" Type="http://schemas.openxmlformats.org/officeDocument/2006/relationships/hyperlink" Target="https://meshtastic.org/docs/configuration/radio/device/" TargetMode="External"/><Relationship Id="rId5" Type="http://schemas.openxmlformats.org/officeDocument/2006/relationships/hyperlink" Target="https://meshtastic.org/docs/configuration/module/telemetry/" TargetMode="External"/><Relationship Id="rId6" Type="http://schemas.openxmlformats.org/officeDocument/2006/relationships/hyperlink" Target="https://meshtastic.org/docs/overview/encryption/" TargetMode="External"/><Relationship Id="rId7" Type="http://schemas.openxmlformats.org/officeDocument/2006/relationships/hyperlink" Target="https://www.semtech.com/design-support/lora-calculator" TargetMode="External"/><Relationship Id="rId8" Type="http://schemas.openxmlformats.org/officeDocument/2006/relationships/hyperlink" Target="https://www.law.cornell.edu/cfr/text/47/15.247" TargetMode="External"/><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RF LINK DEEP DIVE, WEEK 5</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01/12  REV E  2026-09-25</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0584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LOCKING THE LINK</a:t>
            </a:r>
            <a:endParaRPr lang="en-US" sz="4400" dirty="0"/>
          </a:p>
        </p:txBody>
      </p:sp>
      <p:sp>
        <p:nvSpPr>
          <p:cNvPr id="46" name="Text 44"/>
          <p:cNvSpPr txBox="1"/>
          <p:nvPr/>
        </p:nvSpPr>
        <p:spPr>
          <a:xfrm>
            <a:off x="658368" y="182880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HOW TWO RADIOS FIND, VERIFY, AND KEEP EACH OTHER</a:t>
            </a:r>
            <a:endParaRPr lang="en-US" sz="1700" dirty="0"/>
          </a:p>
        </p:txBody>
      </p:sp>
      <p:sp>
        <p:nvSpPr>
          <p:cNvPr id="47" name="Text 45"/>
          <p:cNvSpPr txBox="1"/>
          <p:nvPr/>
        </p:nvSpPr>
        <p:spPr>
          <a:xfrm>
            <a:off x="658368" y="2377440"/>
            <a:ext cx="7589520" cy="14173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On 2026-09-25 the two Heltec V4 radios completed round-trip traceroutes on the private Group9 channel. This review is the engineering record of the acquisition process: the frequency mathematics that decides whether two radios can hear each other at all, the cryptographic and node-discovery handshakes that turn hearing into a link, the timestamp bookkeeping that decides what “online” means, and the airtime budget that keeps the channel usable at vehicle rates.</a:t>
            </a:r>
            <a:endParaRPr lang="en-US" sz="12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977640"/>
          <a:ext cx="7589520" cy="914400"/>
        </p:xfrm>
        <a:graphic>
          <a:graphicData uri="http://schemas.openxmlformats.org/drawingml/2006/table">
            <a:tbl>
              <a:tblPr/>
              <a:tblGrid>
                <a:gridCol w="1234440"/>
                <a:gridCol w="6355080"/>
              </a:tblGrid>
              <a:tr h="365760">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SHEETS</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QUESTION ANSWERED</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65760">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02-04</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which frequency, which key: why matched configs can still be deaf</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65760">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05-06</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acquisition: NodeInfo, public keys, and two-way proof by traceroute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07-08</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liveness: what “1 online” actually computes, and its heartbeat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65760">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09-10</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airtime and link budget: SF11 time-on-air, CLIENT_MUTE, range margin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11-12</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bench evidence, final configuration, references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49" name="Shape 46"/>
          <p:cNvSpPr/>
          <p:nvPr/>
        </p:nvSpPr>
        <p:spPr>
          <a:xfrm>
            <a:off x="8732520" y="237744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4144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6609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35224"/>
            <a:ext cx="3017520" cy="0"/>
          </a:xfrm>
          <a:prstGeom prst="line">
            <a:avLst/>
          </a:prstGeom>
          <a:noFill/>
          <a:ln w="9525">
            <a:solidFill>
              <a:srgbClr val="9AA7BE"/>
            </a:solidFill>
            <a:prstDash val="solid"/>
          </a:ln>
        </p:spPr>
      </p:sp>
      <p:sp>
        <p:nvSpPr>
          <p:cNvPr id="53" name="Text 50"/>
          <p:cNvSpPr txBox="1"/>
          <p:nvPr/>
        </p:nvSpPr>
        <p:spPr>
          <a:xfrm>
            <a:off x="8869680" y="296722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1866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461004"/>
            <a:ext cx="3017520" cy="0"/>
          </a:xfrm>
          <a:prstGeom prst="line">
            <a:avLst/>
          </a:prstGeom>
          <a:noFill/>
          <a:ln w="9525">
            <a:solidFill>
              <a:srgbClr val="9AA7BE"/>
            </a:solidFill>
            <a:prstDash val="solid"/>
          </a:ln>
        </p:spPr>
      </p:sp>
      <p:sp>
        <p:nvSpPr>
          <p:cNvPr id="56" name="Text 53"/>
          <p:cNvSpPr txBox="1"/>
          <p:nvPr/>
        </p:nvSpPr>
        <p:spPr>
          <a:xfrm>
            <a:off x="8869680" y="349300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124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3986784"/>
            <a:ext cx="3017520" cy="0"/>
          </a:xfrm>
          <a:prstGeom prst="line">
            <a:avLst/>
          </a:prstGeom>
          <a:noFill/>
          <a:ln w="9525">
            <a:solidFill>
              <a:srgbClr val="9AA7BE"/>
            </a:solidFill>
            <a:prstDash val="solid"/>
          </a:ln>
        </p:spPr>
      </p:sp>
      <p:sp>
        <p:nvSpPr>
          <p:cNvPr id="59" name="Text 56"/>
          <p:cNvSpPr txBox="1"/>
          <p:nvPr/>
        </p:nvSpPr>
        <p:spPr>
          <a:xfrm>
            <a:off x="8869680" y="401878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MILESTONE</a:t>
            </a:r>
            <a:endParaRPr lang="en-US" sz="900" dirty="0"/>
          </a:p>
        </p:txBody>
      </p:sp>
      <p:sp>
        <p:nvSpPr>
          <p:cNvPr id="60" name="Text 57"/>
          <p:cNvSpPr txBox="1"/>
          <p:nvPr/>
        </p:nvSpPr>
        <p:spPr>
          <a:xfrm>
            <a:off x="8869680" y="4238244"/>
            <a:ext cx="2788920" cy="274320"/>
          </a:xfrm>
          <a:prstGeom prst="rect">
            <a:avLst/>
          </a:prstGeom>
          <a:noFill/>
          <a:ln/>
        </p:spPr>
        <p:txBody>
          <a:bodyPr wrap="square" lIns="0" tIns="0" rIns="0" bIns="0" rtlCol="0" anchor="ctr"/>
          <a:lstStyle/>
          <a:p>
            <a:pPr indent="0" marL="0">
              <a:buNone/>
            </a:pPr>
            <a:r>
              <a:rPr lang="en-US" sz="1050" b="1" dirty="0">
                <a:solidFill>
                  <a:srgbClr val="1F9D68"/>
                </a:solidFill>
                <a:latin typeface="Arial" pitchFamily="34" charset="0"/>
                <a:ea typeface="Arial" pitchFamily="34" charset="-122"/>
                <a:cs typeface="Arial" pitchFamily="34" charset="-120"/>
              </a:rPr>
              <a:t>Radio link ESTABLISHED</a:t>
            </a:r>
            <a:endParaRPr lang="en-US" sz="1050" dirty="0"/>
          </a:p>
        </p:txBody>
      </p:sp>
      <p:sp>
        <p:nvSpPr>
          <p:cNvPr id="61" name="Shape 58"/>
          <p:cNvSpPr/>
          <p:nvPr/>
        </p:nvSpPr>
        <p:spPr>
          <a:xfrm>
            <a:off x="8732520" y="4512564"/>
            <a:ext cx="3017520" cy="0"/>
          </a:xfrm>
          <a:prstGeom prst="line">
            <a:avLst/>
          </a:prstGeom>
          <a:noFill/>
          <a:ln w="9525">
            <a:solidFill>
              <a:srgbClr val="9AA7BE"/>
            </a:solidFill>
            <a:prstDash val="solid"/>
          </a:ln>
        </p:spPr>
      </p:sp>
      <p:sp>
        <p:nvSpPr>
          <p:cNvPr id="62" name="Text 59"/>
          <p:cNvSpPr txBox="1"/>
          <p:nvPr/>
        </p:nvSpPr>
        <p:spPr>
          <a:xfrm>
            <a:off x="8869680" y="454456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7640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186 of 768 logged</a:t>
            </a:r>
            <a:endParaRPr lang="en-US" sz="1050" dirty="0"/>
          </a:p>
        </p:txBody>
      </p:sp>
      <p:sp>
        <p:nvSpPr>
          <p:cNvPr id="64" name="Shape 61"/>
          <p:cNvSpPr/>
          <p:nvPr/>
        </p:nvSpPr>
        <p:spPr>
          <a:xfrm>
            <a:off x="8732520" y="5038344"/>
            <a:ext cx="3017520" cy="0"/>
          </a:xfrm>
          <a:prstGeom prst="line">
            <a:avLst/>
          </a:prstGeom>
          <a:noFill/>
          <a:ln w="9525">
            <a:solidFill>
              <a:srgbClr val="9AA7BE"/>
            </a:solidFill>
            <a:prstDash val="solid"/>
          </a:ln>
        </p:spPr>
      </p:sp>
      <p:sp>
        <p:nvSpPr>
          <p:cNvPr id="65" name="Text 62"/>
          <p:cNvSpPr txBox="1"/>
          <p:nvPr/>
        </p:nvSpPr>
        <p:spPr>
          <a:xfrm>
            <a:off x="8869680" y="507034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2898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2026-09-25</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RF CONTRACT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TWO RADIOS, ONE CONTRACT: WHAT MUST MATCH</a:t>
            </a:r>
            <a:endParaRPr lang="en-US" sz="2300" dirty="0"/>
          </a:p>
        </p:txBody>
      </p:sp>
      <p:sp>
        <p:nvSpPr>
          <p:cNvPr id="10" name="Shape 8"/>
          <p:cNvSpPr/>
          <p:nvPr/>
        </p:nvSpPr>
        <p:spPr>
          <a:xfrm>
            <a:off x="548640" y="1234440"/>
            <a:ext cx="3383280" cy="2286000"/>
          </a:xfrm>
          <a:prstGeom prst="rect">
            <a:avLst/>
          </a:prstGeom>
          <a:solidFill>
            <a:srgbClr val="F2F5FA"/>
          </a:solidFill>
          <a:ln w="19050">
            <a:solidFill>
              <a:srgbClr val="16213D"/>
            </a:solidFill>
            <a:prstDash val="solid"/>
          </a:ln>
        </p:spPr>
      </p:sp>
      <p:sp>
        <p:nvSpPr>
          <p:cNvPr id="11" name="Text 9"/>
          <p:cNvSpPr txBox="1"/>
          <p:nvPr/>
        </p:nvSpPr>
        <p:spPr>
          <a:xfrm>
            <a:off x="685800" y="1325880"/>
            <a:ext cx="310896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RADIO 1  “SF”  !49b5ead4</a:t>
            </a:r>
            <a:endParaRPr lang="en-US" sz="1100" dirty="0"/>
          </a:p>
        </p:txBody>
      </p:sp>
      <p:sp>
        <p:nvSpPr>
          <p:cNvPr id="12" name="Shape 10"/>
          <p:cNvSpPr/>
          <p:nvPr/>
        </p:nvSpPr>
        <p:spPr>
          <a:xfrm>
            <a:off x="685800" y="1691640"/>
            <a:ext cx="3108960" cy="475488"/>
          </a:xfrm>
          <a:prstGeom prst="rect">
            <a:avLst/>
          </a:prstGeom>
          <a:solidFill>
            <a:srgbClr val="FFFFFF"/>
          </a:solidFill>
          <a:ln w="9525">
            <a:solidFill>
              <a:srgbClr val="9AA7BE"/>
            </a:solidFill>
            <a:prstDash val="solid"/>
          </a:ln>
        </p:spPr>
      </p:sp>
      <p:sp>
        <p:nvSpPr>
          <p:cNvPr id="13" name="Text 11"/>
          <p:cNvSpPr txBox="1"/>
          <p:nvPr/>
        </p:nvSpPr>
        <p:spPr>
          <a:xfrm>
            <a:off x="804672" y="1719072"/>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GNSS  </a:t>
            </a:r>
            <a:pPr indent="0" marL="0">
              <a:buNone/>
            </a:pPr>
            <a:r>
              <a:rPr lang="en-US" sz="1050" dirty="0">
                <a:solidFill>
                  <a:srgbClr val="222A3F"/>
                </a:solidFill>
                <a:latin typeface="Arial" pitchFamily="34" charset="0"/>
                <a:ea typeface="Arial" pitchFamily="34" charset="-122"/>
                <a:cs typeface="Arial" pitchFamily="34" charset="-120"/>
              </a:rPr>
              <a:t>u-blox, 10 s fix rate</a:t>
            </a:r>
            <a:endParaRPr lang="en-US" sz="1050" dirty="0"/>
          </a:p>
        </p:txBody>
      </p:sp>
      <p:sp>
        <p:nvSpPr>
          <p:cNvPr id="14" name="Shape 12"/>
          <p:cNvSpPr/>
          <p:nvPr/>
        </p:nvSpPr>
        <p:spPr>
          <a:xfrm>
            <a:off x="685800" y="2258568"/>
            <a:ext cx="3108960" cy="475488"/>
          </a:xfrm>
          <a:prstGeom prst="rect">
            <a:avLst/>
          </a:prstGeom>
          <a:solidFill>
            <a:srgbClr val="FFFFFF"/>
          </a:solidFill>
          <a:ln w="9525">
            <a:solidFill>
              <a:srgbClr val="9AA7BE"/>
            </a:solidFill>
            <a:prstDash val="solid"/>
          </a:ln>
        </p:spPr>
      </p:sp>
      <p:sp>
        <p:nvSpPr>
          <p:cNvPr id="15" name="Text 13"/>
          <p:cNvSpPr txBox="1"/>
          <p:nvPr/>
        </p:nvSpPr>
        <p:spPr>
          <a:xfrm>
            <a:off x="804672" y="2286000"/>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MCU  </a:t>
            </a:r>
            <a:pPr indent="0" marL="0">
              <a:buNone/>
            </a:pPr>
            <a:r>
              <a:rPr lang="en-US" sz="1050" dirty="0">
                <a:solidFill>
                  <a:srgbClr val="222A3F"/>
                </a:solidFill>
                <a:latin typeface="Arial" pitchFamily="34" charset="0"/>
                <a:ea typeface="Arial" pitchFamily="34" charset="-122"/>
                <a:cs typeface="Arial" pitchFamily="34" charset="-120"/>
              </a:rPr>
              <a:t>ESP32-S3, Meshtastic 2.7.26</a:t>
            </a:r>
            <a:endParaRPr lang="en-US" sz="1050" dirty="0"/>
          </a:p>
        </p:txBody>
      </p:sp>
      <p:sp>
        <p:nvSpPr>
          <p:cNvPr id="16" name="Shape 14"/>
          <p:cNvSpPr/>
          <p:nvPr/>
        </p:nvSpPr>
        <p:spPr>
          <a:xfrm>
            <a:off x="685800" y="2825496"/>
            <a:ext cx="3108960" cy="475488"/>
          </a:xfrm>
          <a:prstGeom prst="rect">
            <a:avLst/>
          </a:prstGeom>
          <a:solidFill>
            <a:srgbClr val="FFFFFF"/>
          </a:solidFill>
          <a:ln w="9525">
            <a:solidFill>
              <a:srgbClr val="9AA7BE"/>
            </a:solidFill>
            <a:prstDash val="solid"/>
          </a:ln>
        </p:spPr>
      </p:sp>
      <p:sp>
        <p:nvSpPr>
          <p:cNvPr id="17" name="Text 15"/>
          <p:cNvSpPr txBox="1"/>
          <p:nvPr/>
        </p:nvSpPr>
        <p:spPr>
          <a:xfrm>
            <a:off x="804672" y="2852928"/>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PHY  </a:t>
            </a:r>
            <a:pPr indent="0" marL="0">
              <a:buNone/>
            </a:pPr>
            <a:r>
              <a:rPr lang="en-US" sz="1050" dirty="0">
                <a:solidFill>
                  <a:srgbClr val="222A3F"/>
                </a:solidFill>
                <a:latin typeface="Arial" pitchFamily="34" charset="0"/>
                <a:ea typeface="Arial" pitchFamily="34" charset="-122"/>
                <a:cs typeface="Arial" pitchFamily="34" charset="-120"/>
              </a:rPr>
              <a:t>SX1262, +30 dBm, SMA whip</a:t>
            </a:r>
            <a:endParaRPr lang="en-US" sz="1050" dirty="0"/>
          </a:p>
        </p:txBody>
      </p:sp>
      <p:sp>
        <p:nvSpPr>
          <p:cNvPr id="18" name="Shape 16"/>
          <p:cNvSpPr/>
          <p:nvPr/>
        </p:nvSpPr>
        <p:spPr>
          <a:xfrm>
            <a:off x="8229600" y="1234440"/>
            <a:ext cx="3383280" cy="2286000"/>
          </a:xfrm>
          <a:prstGeom prst="rect">
            <a:avLst/>
          </a:prstGeom>
          <a:solidFill>
            <a:srgbClr val="F2F5FA"/>
          </a:solidFill>
          <a:ln w="19050">
            <a:solidFill>
              <a:srgbClr val="16213D"/>
            </a:solidFill>
            <a:prstDash val="solid"/>
          </a:ln>
        </p:spPr>
      </p:sp>
      <p:sp>
        <p:nvSpPr>
          <p:cNvPr id="19" name="Text 17"/>
          <p:cNvSpPr txBox="1"/>
          <p:nvPr/>
        </p:nvSpPr>
        <p:spPr>
          <a:xfrm>
            <a:off x="8366760" y="1325880"/>
            <a:ext cx="310896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RADIO 2  “RG”  !49b5bb5c</a:t>
            </a:r>
            <a:endParaRPr lang="en-US" sz="1100" dirty="0"/>
          </a:p>
        </p:txBody>
      </p:sp>
      <p:sp>
        <p:nvSpPr>
          <p:cNvPr id="20" name="Shape 18"/>
          <p:cNvSpPr/>
          <p:nvPr/>
        </p:nvSpPr>
        <p:spPr>
          <a:xfrm>
            <a:off x="8366760" y="1691640"/>
            <a:ext cx="3108960" cy="475488"/>
          </a:xfrm>
          <a:prstGeom prst="rect">
            <a:avLst/>
          </a:prstGeom>
          <a:solidFill>
            <a:srgbClr val="FFFFFF"/>
          </a:solidFill>
          <a:ln w="9525">
            <a:solidFill>
              <a:srgbClr val="9AA7BE"/>
            </a:solidFill>
            <a:prstDash val="solid"/>
          </a:ln>
        </p:spPr>
      </p:sp>
      <p:sp>
        <p:nvSpPr>
          <p:cNvPr id="21" name="Text 19"/>
          <p:cNvSpPr txBox="1"/>
          <p:nvPr/>
        </p:nvSpPr>
        <p:spPr>
          <a:xfrm>
            <a:off x="8485632" y="1719072"/>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GNSS  </a:t>
            </a:r>
            <a:pPr indent="0" marL="0">
              <a:buNone/>
            </a:pPr>
            <a:r>
              <a:rPr lang="en-US" sz="1050" dirty="0">
                <a:solidFill>
                  <a:srgbClr val="222A3F"/>
                </a:solidFill>
                <a:latin typeface="Arial" pitchFamily="34" charset="0"/>
                <a:ea typeface="Arial" pitchFamily="34" charset="-122"/>
                <a:cs typeface="Arial" pitchFamily="34" charset="-120"/>
              </a:rPr>
              <a:t>u-blox, 10 s fix rate</a:t>
            </a:r>
            <a:endParaRPr lang="en-US" sz="1050" dirty="0"/>
          </a:p>
        </p:txBody>
      </p:sp>
      <p:sp>
        <p:nvSpPr>
          <p:cNvPr id="22" name="Shape 20"/>
          <p:cNvSpPr/>
          <p:nvPr/>
        </p:nvSpPr>
        <p:spPr>
          <a:xfrm>
            <a:off x="8366760" y="2258568"/>
            <a:ext cx="3108960" cy="475488"/>
          </a:xfrm>
          <a:prstGeom prst="rect">
            <a:avLst/>
          </a:prstGeom>
          <a:solidFill>
            <a:srgbClr val="FFFFFF"/>
          </a:solidFill>
          <a:ln w="9525">
            <a:solidFill>
              <a:srgbClr val="9AA7BE"/>
            </a:solidFill>
            <a:prstDash val="solid"/>
          </a:ln>
        </p:spPr>
      </p:sp>
      <p:sp>
        <p:nvSpPr>
          <p:cNvPr id="23" name="Text 21"/>
          <p:cNvSpPr txBox="1"/>
          <p:nvPr/>
        </p:nvSpPr>
        <p:spPr>
          <a:xfrm>
            <a:off x="8485632" y="2286000"/>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MCU  </a:t>
            </a:r>
            <a:pPr indent="0" marL="0">
              <a:buNone/>
            </a:pPr>
            <a:r>
              <a:rPr lang="en-US" sz="1050" dirty="0">
                <a:solidFill>
                  <a:srgbClr val="222A3F"/>
                </a:solidFill>
                <a:latin typeface="Arial" pitchFamily="34" charset="0"/>
                <a:ea typeface="Arial" pitchFamily="34" charset="-122"/>
                <a:cs typeface="Arial" pitchFamily="34" charset="-120"/>
              </a:rPr>
              <a:t>ESP32-S3, Meshtastic 2.7.26</a:t>
            </a:r>
            <a:endParaRPr lang="en-US" sz="1050" dirty="0"/>
          </a:p>
        </p:txBody>
      </p:sp>
      <p:sp>
        <p:nvSpPr>
          <p:cNvPr id="24" name="Shape 22"/>
          <p:cNvSpPr/>
          <p:nvPr/>
        </p:nvSpPr>
        <p:spPr>
          <a:xfrm>
            <a:off x="8366760" y="2825496"/>
            <a:ext cx="3108960" cy="475488"/>
          </a:xfrm>
          <a:prstGeom prst="rect">
            <a:avLst/>
          </a:prstGeom>
          <a:solidFill>
            <a:srgbClr val="FFFFFF"/>
          </a:solidFill>
          <a:ln w="9525">
            <a:solidFill>
              <a:srgbClr val="9AA7BE"/>
            </a:solidFill>
            <a:prstDash val="solid"/>
          </a:ln>
        </p:spPr>
      </p:sp>
      <p:sp>
        <p:nvSpPr>
          <p:cNvPr id="25" name="Text 23"/>
          <p:cNvSpPr txBox="1"/>
          <p:nvPr/>
        </p:nvSpPr>
        <p:spPr>
          <a:xfrm>
            <a:off x="8485632" y="2852928"/>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PHY  </a:t>
            </a:r>
            <a:pPr indent="0" marL="0">
              <a:buNone/>
            </a:pPr>
            <a:r>
              <a:rPr lang="en-US" sz="1050" dirty="0">
                <a:solidFill>
                  <a:srgbClr val="222A3F"/>
                </a:solidFill>
                <a:latin typeface="Arial" pitchFamily="34" charset="0"/>
                <a:ea typeface="Arial" pitchFamily="34" charset="-122"/>
                <a:cs typeface="Arial" pitchFamily="34" charset="-120"/>
              </a:rPr>
              <a:t>SX1262, +30 dBm, SMA whip</a:t>
            </a:r>
            <a:endParaRPr lang="en-US" sz="1050" dirty="0"/>
          </a:p>
        </p:txBody>
      </p:sp>
      <p:sp>
        <p:nvSpPr>
          <p:cNvPr id="26" name="Shape 24"/>
          <p:cNvSpPr/>
          <p:nvPr/>
        </p:nvSpPr>
        <p:spPr>
          <a:xfrm>
            <a:off x="4343400" y="1554480"/>
            <a:ext cx="3474720" cy="1691640"/>
          </a:xfrm>
          <a:prstGeom prst="rect">
            <a:avLst/>
          </a:prstGeom>
          <a:solidFill>
            <a:srgbClr val="FFFFFF"/>
          </a:solidFill>
          <a:ln w="19050">
            <a:solidFill>
              <a:srgbClr val="E58E1A"/>
            </a:solidFill>
            <a:prstDash val="dash"/>
          </a:ln>
        </p:spPr>
      </p:sp>
      <p:sp>
        <p:nvSpPr>
          <p:cNvPr id="27" name="Text 25"/>
          <p:cNvSpPr txBox="1"/>
          <p:nvPr/>
        </p:nvSpPr>
        <p:spPr>
          <a:xfrm>
            <a:off x="4480560" y="1627632"/>
            <a:ext cx="3200400" cy="256032"/>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THE AIR INTERFACE</a:t>
            </a:r>
            <a:endParaRPr lang="en-US" sz="1000" dirty="0"/>
          </a:p>
        </p:txBody>
      </p:sp>
      <p:sp>
        <p:nvSpPr>
          <p:cNvPr id="28" name="Text 26"/>
          <p:cNvSpPr txBox="1"/>
          <p:nvPr/>
        </p:nvSpPr>
        <p:spPr>
          <a:xfrm>
            <a:off x="4480560" y="1920240"/>
            <a:ext cx="3200400" cy="123444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912.875 MHz  (slot 43)</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LoRa SF11 / 250 kHz / CR 4:5</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AES-256, Group9 pre-shared key</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8.19 ms symbol · ~0.5 s per packet</a:t>
            </a:r>
            <a:endParaRPr lang="en-US" sz="1100" dirty="0"/>
          </a:p>
        </p:txBody>
      </p:sp>
      <p:sp>
        <p:nvSpPr>
          <p:cNvPr id="29" name="Shape 27"/>
          <p:cNvSpPr/>
          <p:nvPr/>
        </p:nvSpPr>
        <p:spPr>
          <a:xfrm>
            <a:off x="3931920" y="2377440"/>
            <a:ext cx="411480" cy="0"/>
          </a:xfrm>
          <a:prstGeom prst="line">
            <a:avLst/>
          </a:prstGeom>
          <a:noFill/>
          <a:ln w="28575">
            <a:solidFill>
              <a:srgbClr val="E58E1A"/>
            </a:solidFill>
            <a:prstDash val="solid"/>
            <a:tailEnd type="triangle"/>
          </a:ln>
        </p:spPr>
      </p:sp>
      <p:sp>
        <p:nvSpPr>
          <p:cNvPr id="30" name="Shape 28"/>
          <p:cNvSpPr/>
          <p:nvPr/>
        </p:nvSpPr>
        <p:spPr>
          <a:xfrm>
            <a:off x="7818120" y="2377440"/>
            <a:ext cx="411480" cy="0"/>
          </a:xfrm>
          <a:prstGeom prst="line">
            <a:avLst/>
          </a:prstGeom>
          <a:noFill/>
          <a:ln w="28575">
            <a:solidFill>
              <a:srgbClr val="E58E1A"/>
            </a:solidFill>
            <a:prstDash val="solid"/>
            <a:headEnd type="triangle"/>
          </a:ln>
        </p:spPr>
      </p:sp>
      <p:sp>
        <p:nvSpPr>
          <p:cNvPr id="31" name="Text 29"/>
          <p:cNvSpPr txBox="1"/>
          <p:nvPr/>
        </p:nvSpPr>
        <p:spPr>
          <a:xfrm>
            <a:off x="548640" y="3794760"/>
            <a:ext cx="11155680" cy="274320"/>
          </a:xfrm>
          <a:prstGeom prst="rect">
            <a:avLst/>
          </a:prstGeom>
          <a:noFill/>
          <a:ln/>
        </p:spPr>
        <p:txBody>
          <a:bodyPr wrap="square" lIns="0" tIns="0" rIns="0" bIns="0" rtlCol="0" anchor="ctr"/>
          <a:lstStyle/>
          <a:p>
            <a:pPr indent="0" marL="0">
              <a:buNone/>
            </a:pPr>
            <a:r>
              <a:rPr lang="en-US" sz="1150" b="1" dirty="0">
                <a:solidFill>
                  <a:srgbClr val="C43A4B"/>
                </a:solidFill>
                <a:latin typeface="Courier New" pitchFamily="34" charset="0"/>
                <a:ea typeface="Courier New" pitchFamily="34" charset="-122"/>
                <a:cs typeface="Courier New" pitchFamily="34" charset="-120"/>
              </a:rPr>
              <a:t>EVERY ROW MUST MATCH ON BOTH RADIOS — ONE MISMATCH = TOTAL SILENCE</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11155680" cy="914400"/>
        </p:xfrm>
        <a:graphic>
          <a:graphicData uri="http://schemas.openxmlformats.org/drawingml/2006/table">
            <a:tbl>
              <a:tblPr/>
              <a:tblGrid>
                <a:gridCol w="1371600"/>
                <a:gridCol w="3657600"/>
                <a:gridCol w="3200400"/>
                <a:gridCol w="2926080"/>
              </a:tblGrid>
              <a:tr h="384048">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LAYER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OUR VALUE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IF MISMATCHED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Frequency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region + slot (from channel name hash)</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US, slot 43 = 912.875 MHz</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radios literally tuned apart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Modulation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preset: SF / bandwidth / coding rate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LONG_FAST: SF11 / 250 kHz / 4:5</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chirps undecodable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Encryption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channel name + AES-256 PSK</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Group9, 256-bit key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packets heard, dropped on decrypt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Identity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per-node public key (fw 2.5+)</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exchanged via NodeInfo</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direct messages NAK</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FREQUENCY SLOT DERIVATION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CHANNEL NAME IS THE FREQUENCY</a:t>
            </a:r>
            <a:endParaRPr lang="en-US" sz="2300" dirty="0"/>
          </a:p>
        </p:txBody>
      </p:sp>
      <p:sp>
        <p:nvSpPr>
          <p:cNvPr id="10" name="Text 8"/>
          <p:cNvSpPr txBox="1"/>
          <p:nvPr/>
        </p:nvSpPr>
        <p:spPr>
          <a:xfrm>
            <a:off x="548640" y="1051560"/>
            <a:ext cx="6949440" cy="86868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Meshtastic never stores a frequency. Each radio derives its slot from a hash of the primary channel NAME.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US-915 band, LONG_FAST bandwidth 250 kHz → 104 slots. The name picks one deterministically.</a:t>
            </a:r>
            <a:endParaRPr lang="en-US" sz="1250" dirty="0"/>
          </a:p>
        </p:txBody>
      </p:sp>
      <p:pic>
        <p:nvPicPr>
          <p:cNvPr id="11" name="Image 0" descr="C:/Users/deogr/AppData/Local/Temp/claude/C--Users-deogr-Documents-Fall-Project-Off-Grid-Vehicle-dection-project/e8b2e8fa-1513-4aa8-a8f6-ce4fcd20e664/scratchpad/deck5/eq_slot.png">    </p:cNvPr>
          <p:cNvPicPr>
            <a:picLocks noChangeAspect="1"/>
          </p:cNvPicPr>
          <p:nvPr/>
        </p:nvPicPr>
        <p:blipFill>
          <a:blip r:embed="rId1"/>
          <a:stretch>
            <a:fillRect/>
          </a:stretch>
        </p:blipFill>
        <p:spPr>
          <a:xfrm>
            <a:off x="640080" y="1965960"/>
            <a:ext cx="6675120" cy="713232"/>
          </a:xfrm>
          <a:prstGeom prst="rect">
            <a:avLst/>
          </a:prstGeom>
        </p:spPr>
      </p:pic>
      <p:sp>
        <p:nvSpPr>
          <p:cNvPr id="12" name="Shape 9"/>
          <p:cNvSpPr/>
          <p:nvPr/>
        </p:nvSpPr>
        <p:spPr>
          <a:xfrm>
            <a:off x="7818120" y="1051560"/>
            <a:ext cx="3886200" cy="2103120"/>
          </a:xfrm>
          <a:prstGeom prst="rect">
            <a:avLst/>
          </a:prstGeom>
          <a:solidFill>
            <a:srgbClr val="1B2440"/>
          </a:solidFill>
          <a:ln/>
        </p:spPr>
      </p:sp>
      <p:sp>
        <p:nvSpPr>
          <p:cNvPr id="13" name="Text 10"/>
          <p:cNvSpPr txBox="1"/>
          <p:nvPr/>
        </p:nvSpPr>
        <p:spPr>
          <a:xfrm>
            <a:off x="7955280" y="1115568"/>
            <a:ext cx="3611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 djb2 — the exact hash</a:t>
            </a:r>
            <a:endParaRPr lang="en-US" sz="1000" dirty="0"/>
          </a:p>
        </p:txBody>
      </p:sp>
      <p:sp>
        <p:nvSpPr>
          <p:cNvPr id="14" name="Text 11"/>
          <p:cNvSpPr txBox="1"/>
          <p:nvPr/>
        </p:nvSpPr>
        <p:spPr>
          <a:xfrm>
            <a:off x="7955280" y="1371600"/>
            <a:ext cx="3611880" cy="16916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unsigned h = 5381;</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for (char c : name)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h = h * 33 + c;</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slot = h % 104;</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djb2("LongFast") % 104 = 19</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djb2("Group9")   % 104 = 43</a:t>
            </a:r>
            <a:endParaRPr lang="en-US" sz="1000" dirty="0"/>
          </a:p>
        </p:txBody>
      </p:sp>
      <p:pic>
        <p:nvPicPr>
          <p:cNvPr id="15" name="Image 1" descr="C:/Users/deogr/AppData/Local/Temp/claude/C--Users-deogr-Documents-Fall-Project-Off-Grid-Vehicle-dection-project/e8b2e8fa-1513-4aa8-a8f6-ce4fcd20e664/scratchpad/deck5/fig_slots.png">    </p:cNvPr>
          <p:cNvPicPr>
            <a:picLocks noChangeAspect="1"/>
          </p:cNvPicPr>
          <p:nvPr/>
        </p:nvPicPr>
        <p:blipFill>
          <a:blip r:embed="rId2"/>
          <a:stretch>
            <a:fillRect/>
          </a:stretch>
        </p:blipFill>
        <p:spPr>
          <a:xfrm>
            <a:off x="640080" y="3017520"/>
            <a:ext cx="8229600" cy="2606040"/>
          </a:xfrm>
          <a:prstGeom prst="rect">
            <a:avLst/>
          </a:prstGeom>
        </p:spPr>
      </p:pic>
      <p:sp>
        <p:nvSpPr>
          <p:cNvPr id="16" name="Shape 12"/>
          <p:cNvSpPr/>
          <p:nvPr/>
        </p:nvSpPr>
        <p:spPr>
          <a:xfrm>
            <a:off x="9098280" y="3154680"/>
            <a:ext cx="2606040" cy="2331720"/>
          </a:xfrm>
          <a:prstGeom prst="rect">
            <a:avLst/>
          </a:prstGeom>
          <a:solidFill>
            <a:srgbClr val="16213D"/>
          </a:solidFill>
          <a:ln/>
        </p:spPr>
      </p:sp>
      <p:sp>
        <p:nvSpPr>
          <p:cNvPr id="17" name="Text 13"/>
          <p:cNvSpPr txBox="1"/>
          <p:nvPr/>
        </p:nvSpPr>
        <p:spPr>
          <a:xfrm>
            <a:off x="9253728" y="3291840"/>
            <a:ext cx="2331720" cy="210312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CONSEQUENCE</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Rename the channel and the radio RETUNES. Two radios can share every key byte and still sit 6 MHz apart — the name hash is part of the RF contract.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ROOT CAUSE ANALYSIS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ROOT CAUSE: SAME KEY, DIFFERENT SLOT</a:t>
            </a:r>
            <a:endParaRPr lang="en-US" sz="2300" dirty="0"/>
          </a:p>
        </p:txBody>
      </p:sp>
      <p:sp>
        <p:nvSpPr>
          <p:cNvPr id="10" name="Text 8"/>
          <p:cNvSpPr txBox="1"/>
          <p:nvPr/>
        </p:nvSpPr>
        <p:spPr>
          <a:xfrm>
            <a:off x="1965960" y="1078992"/>
            <a:ext cx="4242816" cy="256032"/>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KEY MATCHES →</a:t>
            </a:r>
            <a:endParaRPr lang="en-US" sz="1000" dirty="0"/>
          </a:p>
        </p:txBody>
      </p:sp>
      <p:sp>
        <p:nvSpPr>
          <p:cNvPr id="11" name="Shape 9"/>
          <p:cNvSpPr/>
          <p:nvPr/>
        </p:nvSpPr>
        <p:spPr>
          <a:xfrm>
            <a:off x="640080" y="1371600"/>
            <a:ext cx="2651760" cy="1143000"/>
          </a:xfrm>
          <a:prstGeom prst="rect">
            <a:avLst/>
          </a:prstGeom>
          <a:solidFill>
            <a:srgbClr val="EDF7F1"/>
          </a:solidFill>
          <a:ln w="15875">
            <a:solidFill>
              <a:srgbClr val="1F9D68"/>
            </a:solidFill>
            <a:prstDash val="solid"/>
          </a:ln>
        </p:spPr>
      </p:sp>
      <p:sp>
        <p:nvSpPr>
          <p:cNvPr id="12" name="Text 10"/>
          <p:cNvSpPr txBox="1"/>
          <p:nvPr/>
        </p:nvSpPr>
        <p:spPr>
          <a:xfrm>
            <a:off x="768096" y="1463040"/>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1F9D68"/>
                </a:solidFill>
                <a:latin typeface="Arial" pitchFamily="34" charset="0"/>
                <a:ea typeface="Arial" pitchFamily="34" charset="-122"/>
                <a:cs typeface="Arial" pitchFamily="34" charset="-120"/>
              </a:rPr>
              <a:t>LINK WORKS</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traceroute 6 dB both ways</a:t>
            </a:r>
            <a:endParaRPr lang="en-US" sz="1100" dirty="0"/>
          </a:p>
        </p:txBody>
      </p:sp>
      <p:sp>
        <p:nvSpPr>
          <p:cNvPr id="13" name="Shape 11"/>
          <p:cNvSpPr/>
          <p:nvPr/>
        </p:nvSpPr>
        <p:spPr>
          <a:xfrm>
            <a:off x="3401568" y="1371600"/>
            <a:ext cx="2651760" cy="1143000"/>
          </a:xfrm>
          <a:prstGeom prst="rect">
            <a:avLst/>
          </a:prstGeom>
          <a:solidFill>
            <a:srgbClr val="F2F5FA"/>
          </a:solidFill>
          <a:ln w="15875">
            <a:solidFill>
              <a:srgbClr val="E58E1A"/>
            </a:solidFill>
            <a:prstDash val="solid"/>
          </a:ln>
        </p:spPr>
      </p:sp>
      <p:sp>
        <p:nvSpPr>
          <p:cNvPr id="14" name="Text 12"/>
          <p:cNvSpPr txBox="1"/>
          <p:nvPr/>
        </p:nvSpPr>
        <p:spPr>
          <a:xfrm>
            <a:off x="3529584" y="1463040"/>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E58E1A"/>
                </a:solidFill>
                <a:latin typeface="Arial" pitchFamily="34" charset="0"/>
                <a:ea typeface="Arial" pitchFamily="34" charset="-122"/>
                <a:cs typeface="Arial" pitchFamily="34" charset="-120"/>
              </a:rPr>
              <a:t>heard, not read</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counters tick, payloads drop</a:t>
            </a:r>
            <a:endParaRPr lang="en-US" sz="1100" dirty="0"/>
          </a:p>
        </p:txBody>
      </p:sp>
      <p:sp>
        <p:nvSpPr>
          <p:cNvPr id="15" name="Shape 13"/>
          <p:cNvSpPr/>
          <p:nvPr/>
        </p:nvSpPr>
        <p:spPr>
          <a:xfrm>
            <a:off x="640080" y="2624328"/>
            <a:ext cx="2651760" cy="1143000"/>
          </a:xfrm>
          <a:prstGeom prst="rect">
            <a:avLst/>
          </a:prstGeom>
          <a:solidFill>
            <a:srgbClr val="FBEEEF"/>
          </a:solidFill>
          <a:ln w="28575">
            <a:solidFill>
              <a:srgbClr val="C43A4B"/>
            </a:solidFill>
            <a:prstDash val="solid"/>
          </a:ln>
        </p:spPr>
      </p:sp>
      <p:sp>
        <p:nvSpPr>
          <p:cNvPr id="16" name="Text 14"/>
          <p:cNvSpPr txBox="1"/>
          <p:nvPr/>
        </p:nvSpPr>
        <p:spPr>
          <a:xfrm>
            <a:off x="768096" y="2715768"/>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C43A4B"/>
                </a:solidFill>
                <a:latin typeface="Arial" pitchFamily="34" charset="0"/>
                <a:ea typeface="Arial" pitchFamily="34" charset="-122"/>
                <a:cs typeface="Arial" pitchFamily="34" charset="-120"/>
              </a:rPr>
              <a:t>TOTAL SILENCE</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our bug: 0 online, 0% ChUtil</a:t>
            </a:r>
            <a:endParaRPr lang="en-US" sz="1100" dirty="0"/>
          </a:p>
        </p:txBody>
      </p:sp>
      <p:sp>
        <p:nvSpPr>
          <p:cNvPr id="17" name="Shape 15"/>
          <p:cNvSpPr/>
          <p:nvPr/>
        </p:nvSpPr>
        <p:spPr>
          <a:xfrm>
            <a:off x="3401568" y="2624328"/>
            <a:ext cx="2651760" cy="1143000"/>
          </a:xfrm>
          <a:prstGeom prst="rect">
            <a:avLst/>
          </a:prstGeom>
          <a:solidFill>
            <a:srgbClr val="F2F5FA"/>
          </a:solidFill>
          <a:ln w="15875">
            <a:solidFill>
              <a:srgbClr val="5E6B85"/>
            </a:solidFill>
            <a:prstDash val="solid"/>
          </a:ln>
        </p:spPr>
      </p:sp>
      <p:sp>
        <p:nvSpPr>
          <p:cNvPr id="18" name="Text 16"/>
          <p:cNvSpPr txBox="1"/>
          <p:nvPr/>
        </p:nvSpPr>
        <p:spPr>
          <a:xfrm>
            <a:off x="3529584" y="2715768"/>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5E6B85"/>
                </a:solidFill>
                <a:latin typeface="Arial" pitchFamily="34" charset="0"/>
                <a:ea typeface="Arial" pitchFamily="34" charset="-122"/>
                <a:cs typeface="Arial" pitchFamily="34" charset="-120"/>
              </a:rPr>
              <a:t>strangers</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different networks entirely</a:t>
            </a:r>
            <a:endParaRPr lang="en-US" sz="1100" dirty="0"/>
          </a:p>
        </p:txBody>
      </p:sp>
      <p:sp>
        <p:nvSpPr>
          <p:cNvPr id="19" name="Text 17"/>
          <p:cNvSpPr txBox="1"/>
          <p:nvPr/>
        </p:nvSpPr>
        <p:spPr>
          <a:xfrm>
            <a:off x="640080" y="3977640"/>
            <a:ext cx="5486400" cy="914400"/>
          </a:xfrm>
          <a:prstGeom prst="rect">
            <a:avLst/>
          </a:prstGeom>
          <a:noFill/>
          <a:ln/>
        </p:spPr>
        <p:txBody>
          <a:bodyPr wrap="square" lIns="0" tIns="0" rIns="0" bIns="0" rtlCol="0" anchor="ctr"/>
          <a:lstStyle/>
          <a:p>
            <a:pPr indent="0" marL="0">
              <a:buNone/>
            </a:pPr>
            <a:r>
              <a:rPr lang="en-US" sz="1150" dirty="0">
                <a:solidFill>
                  <a:srgbClr val="222A3F"/>
                </a:solidFill>
                <a:latin typeface="Arial" pitchFamily="34" charset="0"/>
                <a:ea typeface="Arial" pitchFamily="34" charset="-122"/>
                <a:cs typeface="Arial" pitchFamily="34" charset="-120"/>
              </a:rPr>
              <a:t>what happened on the bench: a channel write silently reverted (serial port-close resets the MCU mid-save), leaving one radio’s primary on the default slot while its saved URL read back “Group9”.</a:t>
            </a:r>
            <a:endParaRPr lang="en-US" sz="1150" dirty="0"/>
          </a:p>
        </p:txBody>
      </p:sp>
      <p:sp>
        <p:nvSpPr>
          <p:cNvPr id="20" name="Shape 18"/>
          <p:cNvSpPr/>
          <p:nvPr/>
        </p:nvSpPr>
        <p:spPr>
          <a:xfrm>
            <a:off x="640080" y="5029200"/>
            <a:ext cx="5486400" cy="1005840"/>
          </a:xfrm>
          <a:prstGeom prst="rect">
            <a:avLst/>
          </a:prstGeom>
          <a:solidFill>
            <a:srgbClr val="F2F5FA"/>
          </a:solidFill>
          <a:ln w="19050">
            <a:solidFill>
              <a:srgbClr val="1F9D68"/>
            </a:solidFill>
            <a:prstDash val="solid"/>
          </a:ln>
        </p:spPr>
      </p:sp>
      <p:sp>
        <p:nvSpPr>
          <p:cNvPr id="21" name="Text 19"/>
          <p:cNvSpPr txBox="1"/>
          <p:nvPr/>
        </p:nvSpPr>
        <p:spPr>
          <a:xfrm>
            <a:off x="804672" y="5120640"/>
            <a:ext cx="5166360" cy="841248"/>
          </a:xfrm>
          <a:prstGeom prst="rect">
            <a:avLst/>
          </a:prstGeom>
          <a:noFill/>
          <a:ln/>
        </p:spPr>
        <p:txBody>
          <a:bodyPr wrap="square" lIns="0" tIns="0" rIns="0" bIns="0" rtlCol="0" anchor="ctr"/>
          <a:lstStyle/>
          <a:p>
            <a:pPr indent="0" marL="0">
              <a:buNone/>
            </a:pPr>
            <a:r>
              <a:rPr lang="en-US" sz="1100" b="1" dirty="0">
                <a:solidFill>
                  <a:srgbClr val="1F9D68"/>
                </a:solidFill>
                <a:latin typeface="Courier New" pitchFamily="34" charset="0"/>
                <a:ea typeface="Courier New" pitchFamily="34" charset="-122"/>
                <a:cs typeface="Courier New" pitchFamily="34" charset="-120"/>
              </a:rPr>
              <a:t>THE TRUTH-TELLER  </a:t>
            </a:r>
            <a:pPr indent="0" marL="0">
              <a:buNone/>
            </a:pPr>
            <a:r>
              <a:rPr lang="en-US" sz="1100" dirty="0">
                <a:solidFill>
                  <a:srgbClr val="222A3F"/>
                </a:solidFill>
                <a:latin typeface="Arial" pitchFamily="34" charset="0"/>
                <a:ea typeface="Arial" pitchFamily="34" charset="-122"/>
                <a:cs typeface="Arial" pitchFamily="34" charset="-120"/>
              </a:rPr>
              <a:t>the OLED LoRa screen prints the synthesizer frequency. Config tools report intent; the screen reports reality. Group9 must read 912.875.</a:t>
            </a:r>
            <a:endParaRPr lang="en-US" sz="1100" dirty="0"/>
          </a:p>
        </p:txBody>
      </p:sp>
      <p:pic>
        <p:nvPicPr>
          <p:cNvPr id="22" name="Image 0" descr="C:/Users/deogr/AppData/Local/Temp/claude/C--Users-deogr-Documents-Fall-Project-Off-Grid-Vehicle-dection-project/e8b2e8fa-1513-4aa8-a8f6-ce4fcd20e664/images/15.jpg">    </p:cNvPr>
          <p:cNvPicPr>
            <a:picLocks noChangeAspect="1"/>
          </p:cNvPicPr>
          <p:nvPr/>
        </p:nvPicPr>
        <p:blipFill>
          <a:blip r:embed="rId1"/>
          <a:stretch>
            <a:fillRect/>
          </a:stretch>
        </p:blipFill>
        <p:spPr>
          <a:xfrm>
            <a:off x="6675120" y="1371600"/>
            <a:ext cx="2377440" cy="3108960"/>
          </a:xfrm>
          <a:prstGeom prst="rect">
            <a:avLst/>
          </a:prstGeom>
        </p:spPr>
      </p:pic>
      <p:sp>
        <p:nvSpPr>
          <p:cNvPr id="23" name="Shape 20"/>
          <p:cNvSpPr/>
          <p:nvPr/>
        </p:nvSpPr>
        <p:spPr>
          <a:xfrm>
            <a:off x="6675120" y="1371600"/>
            <a:ext cx="2377440" cy="3108960"/>
          </a:xfrm>
          <a:prstGeom prst="rect">
            <a:avLst/>
          </a:prstGeom>
          <a:ln w="12700">
            <a:solidFill>
              <a:srgbClr val="9AA7BE"/>
            </a:solidFill>
            <a:prstDash val="solid"/>
          </a:ln>
        </p:spPr>
      </p:sp>
      <p:sp>
        <p:nvSpPr>
          <p:cNvPr id="24" name="Text 21"/>
          <p:cNvSpPr txBox="1"/>
          <p:nvPr/>
        </p:nvSpPr>
        <p:spPr>
          <a:xfrm>
            <a:off x="6400800" y="4507992"/>
            <a:ext cx="2926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mid-debug: radio believed “Group9”,</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radiated on 906.875 (default slot)</a:t>
            </a:r>
            <a:endParaRPr lang="en-US" sz="900" dirty="0"/>
          </a:p>
        </p:txBody>
      </p:sp>
      <p:sp>
        <p:nvSpPr>
          <p:cNvPr id="25" name="Shape 22"/>
          <p:cNvSpPr/>
          <p:nvPr/>
        </p:nvSpPr>
        <p:spPr>
          <a:xfrm>
            <a:off x="9281160" y="1371600"/>
            <a:ext cx="2423160" cy="3108960"/>
          </a:xfrm>
          <a:prstGeom prst="rect">
            <a:avLst/>
          </a:prstGeom>
          <a:solidFill>
            <a:srgbClr val="1B2440"/>
          </a:solidFill>
          <a:ln/>
        </p:spPr>
      </p:sp>
      <p:sp>
        <p:nvSpPr>
          <p:cNvPr id="26" name="Text 23"/>
          <p:cNvSpPr txBox="1"/>
          <p:nvPr/>
        </p:nvSpPr>
        <p:spPr>
          <a:xfrm>
            <a:off x="9418320" y="1435608"/>
            <a:ext cx="2148840" cy="237744"/>
          </a:xfrm>
          <a:prstGeom prst="rect">
            <a:avLst/>
          </a:prstGeom>
          <a:noFill/>
          <a:ln/>
        </p:spPr>
        <p:txBody>
          <a:bodyPr wrap="square" lIns="0" tIns="0" rIns="0" bIns="0" rtlCol="0" anchor="ctr"/>
          <a:lstStyle/>
          <a:p>
            <a:pPr indent="0" marL="0">
              <a:buNone/>
            </a:pPr>
            <a:r>
              <a:rPr lang="en-US" sz="1000" b="1" dirty="0">
                <a:solidFill>
                  <a:srgbClr val="C9D8F0"/>
                </a:solidFill>
                <a:latin typeface="Courier New" pitchFamily="34" charset="0"/>
                <a:ea typeface="Courier New" pitchFamily="34" charset="-122"/>
                <a:cs typeface="Courier New" pitchFamily="34" charset="-120"/>
              </a:rPr>
              <a:t>// the proof, both ways</a:t>
            </a:r>
            <a:endParaRPr lang="en-US" sz="1000" dirty="0"/>
          </a:p>
        </p:txBody>
      </p:sp>
      <p:sp>
        <p:nvSpPr>
          <p:cNvPr id="27" name="Text 24"/>
          <p:cNvSpPr txBox="1"/>
          <p:nvPr/>
        </p:nvSpPr>
        <p:spPr>
          <a:xfrm>
            <a:off x="9418320" y="1691640"/>
            <a:ext cx="2148840" cy="269748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Group9 (pre-fix):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traceroute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MAX_RETRANSMIT</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default channel:</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ead4→bb5c  7.25 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bb5c→ead4  6.0  dB</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Group9 (post-fix):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bb5c→ead4  5.75 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ead4→bb5c  6.25 dB</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NODE ACQUISITION SEQUENCE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LOCKING ON: FROM FIRST PACKET TO ADDRESSABLE PEER</a:t>
            </a:r>
            <a:endParaRPr lang="en-US" sz="2300" dirty="0"/>
          </a:p>
        </p:txBody>
      </p:sp>
      <p:sp>
        <p:nvSpPr>
          <p:cNvPr id="10" name="Shape 8"/>
          <p:cNvSpPr/>
          <p:nvPr/>
        </p:nvSpPr>
        <p:spPr>
          <a:xfrm>
            <a:off x="548640" y="1143000"/>
            <a:ext cx="566928" cy="713232"/>
          </a:xfrm>
          <a:prstGeom prst="rect">
            <a:avLst/>
          </a:prstGeom>
          <a:solidFill>
            <a:srgbClr val="16213D"/>
          </a:solidFill>
          <a:ln/>
        </p:spPr>
      </p:sp>
      <p:sp>
        <p:nvSpPr>
          <p:cNvPr id="11" name="Text 9"/>
          <p:cNvSpPr txBox="1"/>
          <p:nvPr/>
        </p:nvSpPr>
        <p:spPr>
          <a:xfrm>
            <a:off x="548640" y="1216152"/>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a:t>
            </a:r>
            <a:endParaRPr lang="en-US" sz="2000" dirty="0"/>
          </a:p>
        </p:txBody>
      </p:sp>
      <p:sp>
        <p:nvSpPr>
          <p:cNvPr id="12" name="Shape 10"/>
          <p:cNvSpPr/>
          <p:nvPr/>
        </p:nvSpPr>
        <p:spPr>
          <a:xfrm>
            <a:off x="1115568" y="1143000"/>
            <a:ext cx="5989320" cy="713232"/>
          </a:xfrm>
          <a:prstGeom prst="rect">
            <a:avLst/>
          </a:prstGeom>
          <a:solidFill>
            <a:srgbClr val="FFFFFF"/>
          </a:solidFill>
          <a:ln w="9525">
            <a:solidFill>
              <a:srgbClr val="9AA7BE"/>
            </a:solidFill>
            <a:prstDash val="solid"/>
          </a:ln>
        </p:spPr>
      </p:sp>
      <p:sp>
        <p:nvSpPr>
          <p:cNvPr id="13" name="Text 11"/>
          <p:cNvSpPr txBox="1"/>
          <p:nvPr/>
        </p:nvSpPr>
        <p:spPr>
          <a:xfrm>
            <a:off x="1280160" y="1188720"/>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BOOT → ANNOUNCE   </a:t>
            </a:r>
            <a:pPr indent="0" marL="0">
              <a:buNone/>
            </a:pPr>
            <a:r>
              <a:rPr lang="en-US" sz="1100" dirty="0">
                <a:solidFill>
                  <a:srgbClr val="222A3F"/>
                </a:solidFill>
                <a:latin typeface="Arial" pitchFamily="34" charset="0"/>
                <a:ea typeface="Arial" pitchFamily="34" charset="-122"/>
                <a:cs typeface="Arial" pitchFamily="34" charset="-120"/>
              </a:rPr>
              <a:t>each radio broadcasts NodeInfo: long/short name, hardware, PUBLIC KEY</a:t>
            </a:r>
            <a:endParaRPr lang="en-US" sz="1050" dirty="0"/>
          </a:p>
        </p:txBody>
      </p:sp>
      <p:sp>
        <p:nvSpPr>
          <p:cNvPr id="14" name="Shape 12"/>
          <p:cNvSpPr/>
          <p:nvPr/>
        </p:nvSpPr>
        <p:spPr>
          <a:xfrm>
            <a:off x="832104" y="1856232"/>
            <a:ext cx="0" cy="182880"/>
          </a:xfrm>
          <a:prstGeom prst="line">
            <a:avLst/>
          </a:prstGeom>
          <a:noFill/>
          <a:ln w="28575">
            <a:solidFill>
              <a:srgbClr val="5E6B85"/>
            </a:solidFill>
            <a:prstDash val="solid"/>
            <a:tailEnd type="triangle"/>
          </a:ln>
        </p:spPr>
      </p:sp>
      <p:sp>
        <p:nvSpPr>
          <p:cNvPr id="15" name="Shape 13"/>
          <p:cNvSpPr/>
          <p:nvPr/>
        </p:nvSpPr>
        <p:spPr>
          <a:xfrm>
            <a:off x="548640" y="2039112"/>
            <a:ext cx="566928" cy="713232"/>
          </a:xfrm>
          <a:prstGeom prst="rect">
            <a:avLst/>
          </a:prstGeom>
          <a:solidFill>
            <a:srgbClr val="16213D"/>
          </a:solidFill>
          <a:ln/>
        </p:spPr>
      </p:sp>
      <p:sp>
        <p:nvSpPr>
          <p:cNvPr id="16" name="Text 14"/>
          <p:cNvSpPr txBox="1"/>
          <p:nvPr/>
        </p:nvSpPr>
        <p:spPr>
          <a:xfrm>
            <a:off x="548640" y="2112264"/>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17" name="Shape 15"/>
          <p:cNvSpPr/>
          <p:nvPr/>
        </p:nvSpPr>
        <p:spPr>
          <a:xfrm>
            <a:off x="1115568" y="2039112"/>
            <a:ext cx="5989320" cy="713232"/>
          </a:xfrm>
          <a:prstGeom prst="rect">
            <a:avLst/>
          </a:prstGeom>
          <a:solidFill>
            <a:srgbClr val="F2F5FA"/>
          </a:solidFill>
          <a:ln w="9525">
            <a:solidFill>
              <a:srgbClr val="9AA7BE"/>
            </a:solidFill>
            <a:prstDash val="solid"/>
          </a:ln>
        </p:spPr>
      </p:sp>
      <p:sp>
        <p:nvSpPr>
          <p:cNvPr id="18" name="Text 16"/>
          <p:cNvSpPr txBox="1"/>
          <p:nvPr/>
        </p:nvSpPr>
        <p:spPr>
          <a:xfrm>
            <a:off x="1280160" y="2084832"/>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STAMP   </a:t>
            </a:r>
            <a:pPr indent="0" marL="0">
              <a:buNone/>
            </a:pPr>
            <a:r>
              <a:rPr lang="en-US" sz="1100" dirty="0">
                <a:solidFill>
                  <a:srgbClr val="222A3F"/>
                </a:solidFill>
                <a:latin typeface="Arial" pitchFamily="34" charset="0"/>
                <a:ea typeface="Arial" pitchFamily="34" charset="-122"/>
                <a:cs typeface="Arial" pitchFamily="34" charset="-120"/>
              </a:rPr>
              <a:t>receiver files the node: last_heard = rx_time, SNR recorded, “online” begins</a:t>
            </a:r>
            <a:endParaRPr lang="en-US" sz="1050" dirty="0"/>
          </a:p>
        </p:txBody>
      </p:sp>
      <p:sp>
        <p:nvSpPr>
          <p:cNvPr id="19" name="Shape 17"/>
          <p:cNvSpPr/>
          <p:nvPr/>
        </p:nvSpPr>
        <p:spPr>
          <a:xfrm>
            <a:off x="832104" y="2752344"/>
            <a:ext cx="0" cy="182880"/>
          </a:xfrm>
          <a:prstGeom prst="line">
            <a:avLst/>
          </a:prstGeom>
          <a:noFill/>
          <a:ln w="28575">
            <a:solidFill>
              <a:srgbClr val="5E6B85"/>
            </a:solidFill>
            <a:prstDash val="solid"/>
            <a:tailEnd type="triangle"/>
          </a:ln>
        </p:spPr>
      </p:sp>
      <p:sp>
        <p:nvSpPr>
          <p:cNvPr id="20" name="Shape 18"/>
          <p:cNvSpPr/>
          <p:nvPr/>
        </p:nvSpPr>
        <p:spPr>
          <a:xfrm>
            <a:off x="548640" y="2935224"/>
            <a:ext cx="566928" cy="713232"/>
          </a:xfrm>
          <a:prstGeom prst="rect">
            <a:avLst/>
          </a:prstGeom>
          <a:solidFill>
            <a:srgbClr val="16213D"/>
          </a:solidFill>
          <a:ln/>
        </p:spPr>
      </p:sp>
      <p:sp>
        <p:nvSpPr>
          <p:cNvPr id="21" name="Text 19"/>
          <p:cNvSpPr txBox="1"/>
          <p:nvPr/>
        </p:nvSpPr>
        <p:spPr>
          <a:xfrm>
            <a:off x="548640" y="3008376"/>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22" name="Shape 20"/>
          <p:cNvSpPr/>
          <p:nvPr/>
        </p:nvSpPr>
        <p:spPr>
          <a:xfrm>
            <a:off x="1115568" y="2935224"/>
            <a:ext cx="5989320" cy="713232"/>
          </a:xfrm>
          <a:prstGeom prst="rect">
            <a:avLst/>
          </a:prstGeom>
          <a:solidFill>
            <a:srgbClr val="FFFFFF"/>
          </a:solidFill>
          <a:ln w="9525">
            <a:solidFill>
              <a:srgbClr val="9AA7BE"/>
            </a:solidFill>
            <a:prstDash val="solid"/>
          </a:ln>
        </p:spPr>
      </p:sp>
      <p:sp>
        <p:nvSpPr>
          <p:cNvPr id="23" name="Text 21"/>
          <p:cNvSpPr txBox="1"/>
          <p:nvPr/>
        </p:nvSpPr>
        <p:spPr>
          <a:xfrm>
            <a:off x="1280160" y="2980944"/>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KEY EXCHANGE   </a:t>
            </a:r>
            <a:pPr indent="0" marL="0">
              <a:buNone/>
            </a:pPr>
            <a:r>
              <a:rPr lang="en-US" sz="1100" dirty="0">
                <a:solidFill>
                  <a:srgbClr val="222A3F"/>
                </a:solidFill>
                <a:latin typeface="Arial" pitchFamily="34" charset="0"/>
                <a:ea typeface="Arial" pitchFamily="34" charset="-122"/>
                <a:cs typeface="Arial" pitchFamily="34" charset="-120"/>
              </a:rPr>
              <a:t>NodeInfo carries the Curve25519 public key — stored in the peer’s node DB</a:t>
            </a:r>
            <a:endParaRPr lang="en-US" sz="1050" dirty="0"/>
          </a:p>
        </p:txBody>
      </p:sp>
      <p:sp>
        <p:nvSpPr>
          <p:cNvPr id="24" name="Shape 22"/>
          <p:cNvSpPr/>
          <p:nvPr/>
        </p:nvSpPr>
        <p:spPr>
          <a:xfrm>
            <a:off x="832104" y="3648456"/>
            <a:ext cx="0" cy="182880"/>
          </a:xfrm>
          <a:prstGeom prst="line">
            <a:avLst/>
          </a:prstGeom>
          <a:noFill/>
          <a:ln w="28575">
            <a:solidFill>
              <a:srgbClr val="5E6B85"/>
            </a:solidFill>
            <a:prstDash val="solid"/>
            <a:tailEnd type="triangle"/>
          </a:ln>
        </p:spPr>
      </p:sp>
      <p:sp>
        <p:nvSpPr>
          <p:cNvPr id="25" name="Shape 23"/>
          <p:cNvSpPr/>
          <p:nvPr/>
        </p:nvSpPr>
        <p:spPr>
          <a:xfrm>
            <a:off x="548640" y="3831336"/>
            <a:ext cx="566928" cy="713232"/>
          </a:xfrm>
          <a:prstGeom prst="rect">
            <a:avLst/>
          </a:prstGeom>
          <a:solidFill>
            <a:srgbClr val="1F9D68"/>
          </a:solidFill>
          <a:ln/>
        </p:spPr>
      </p:sp>
      <p:sp>
        <p:nvSpPr>
          <p:cNvPr id="26" name="Text 24"/>
          <p:cNvSpPr txBox="1"/>
          <p:nvPr/>
        </p:nvSpPr>
        <p:spPr>
          <a:xfrm>
            <a:off x="548640" y="3904488"/>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4</a:t>
            </a:r>
            <a:endParaRPr lang="en-US" sz="2000" dirty="0"/>
          </a:p>
        </p:txBody>
      </p:sp>
      <p:sp>
        <p:nvSpPr>
          <p:cNvPr id="27" name="Shape 25"/>
          <p:cNvSpPr/>
          <p:nvPr/>
        </p:nvSpPr>
        <p:spPr>
          <a:xfrm>
            <a:off x="1115568" y="3831336"/>
            <a:ext cx="5989320" cy="713232"/>
          </a:xfrm>
          <a:prstGeom prst="rect">
            <a:avLst/>
          </a:prstGeom>
          <a:solidFill>
            <a:srgbClr val="F2F5FA"/>
          </a:solidFill>
          <a:ln w="9525">
            <a:solidFill>
              <a:srgbClr val="9AA7BE"/>
            </a:solidFill>
            <a:prstDash val="solid"/>
          </a:ln>
        </p:spPr>
      </p:sp>
      <p:sp>
        <p:nvSpPr>
          <p:cNvPr id="28" name="Text 26"/>
          <p:cNvSpPr txBox="1"/>
          <p:nvPr/>
        </p:nvSpPr>
        <p:spPr>
          <a:xfrm>
            <a:off x="1280160" y="3877056"/>
            <a:ext cx="5715000" cy="621792"/>
          </a:xfrm>
          <a:prstGeom prst="rect">
            <a:avLst/>
          </a:prstGeom>
          <a:noFill/>
          <a:ln/>
        </p:spPr>
        <p:txBody>
          <a:bodyPr wrap="square" lIns="0" tIns="0" rIns="0" bIns="0" rtlCol="0" anchor="ctr"/>
          <a:lstStyle/>
          <a:p>
            <a:pPr indent="0" marL="0">
              <a:buNone/>
            </a:pPr>
            <a:r>
              <a:rPr lang="en-US" sz="1050" b="1" dirty="0">
                <a:solidFill>
                  <a:srgbClr val="1F9D68"/>
                </a:solidFill>
                <a:latin typeface="Courier New" pitchFamily="34" charset="0"/>
                <a:ea typeface="Courier New" pitchFamily="34" charset="-122"/>
                <a:cs typeface="Courier New" pitchFamily="34" charset="-120"/>
              </a:rPr>
              <a:t>CHANNEL TRAFFIC   </a:t>
            </a:r>
            <a:pPr indent="0" marL="0">
              <a:buNone/>
            </a:pPr>
            <a:r>
              <a:rPr lang="en-US" sz="1100" dirty="0">
                <a:solidFill>
                  <a:srgbClr val="222A3F"/>
                </a:solidFill>
                <a:latin typeface="Arial" pitchFamily="34" charset="0"/>
                <a:ea typeface="Arial" pitchFamily="34" charset="-122"/>
                <a:cs typeface="Arial" pitchFamily="34" charset="-120"/>
              </a:rPr>
              <a:t>broadcasts (positions, texts, telemetry) need only the shared AES channel key</a:t>
            </a:r>
            <a:endParaRPr lang="en-US" sz="1050" dirty="0"/>
          </a:p>
        </p:txBody>
      </p:sp>
      <p:sp>
        <p:nvSpPr>
          <p:cNvPr id="29" name="Shape 27"/>
          <p:cNvSpPr/>
          <p:nvPr/>
        </p:nvSpPr>
        <p:spPr>
          <a:xfrm>
            <a:off x="832104" y="4544568"/>
            <a:ext cx="0" cy="182880"/>
          </a:xfrm>
          <a:prstGeom prst="line">
            <a:avLst/>
          </a:prstGeom>
          <a:noFill/>
          <a:ln w="28575">
            <a:solidFill>
              <a:srgbClr val="5E6B85"/>
            </a:solidFill>
            <a:prstDash val="solid"/>
            <a:tailEnd type="triangle"/>
          </a:ln>
        </p:spPr>
      </p:sp>
      <p:sp>
        <p:nvSpPr>
          <p:cNvPr id="30" name="Shape 28"/>
          <p:cNvSpPr/>
          <p:nvPr/>
        </p:nvSpPr>
        <p:spPr>
          <a:xfrm>
            <a:off x="548640" y="4727448"/>
            <a:ext cx="566928" cy="713232"/>
          </a:xfrm>
          <a:prstGeom prst="rect">
            <a:avLst/>
          </a:prstGeom>
          <a:solidFill>
            <a:srgbClr val="E58E1A"/>
          </a:solidFill>
          <a:ln/>
        </p:spPr>
      </p:sp>
      <p:sp>
        <p:nvSpPr>
          <p:cNvPr id="31" name="Text 29"/>
          <p:cNvSpPr txBox="1"/>
          <p:nvPr/>
        </p:nvSpPr>
        <p:spPr>
          <a:xfrm>
            <a:off x="548640" y="4800600"/>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5</a:t>
            </a:r>
            <a:endParaRPr lang="en-US" sz="2000" dirty="0"/>
          </a:p>
        </p:txBody>
      </p:sp>
      <p:sp>
        <p:nvSpPr>
          <p:cNvPr id="32" name="Shape 30"/>
          <p:cNvSpPr/>
          <p:nvPr/>
        </p:nvSpPr>
        <p:spPr>
          <a:xfrm>
            <a:off x="1115568" y="4727448"/>
            <a:ext cx="5989320" cy="713232"/>
          </a:xfrm>
          <a:prstGeom prst="rect">
            <a:avLst/>
          </a:prstGeom>
          <a:solidFill>
            <a:srgbClr val="FFFFFF"/>
          </a:solidFill>
          <a:ln w="9525">
            <a:solidFill>
              <a:srgbClr val="9AA7BE"/>
            </a:solidFill>
            <a:prstDash val="solid"/>
          </a:ln>
        </p:spPr>
      </p:sp>
      <p:sp>
        <p:nvSpPr>
          <p:cNvPr id="33" name="Text 31"/>
          <p:cNvSpPr txBox="1"/>
          <p:nvPr/>
        </p:nvSpPr>
        <p:spPr>
          <a:xfrm>
            <a:off x="1280160" y="4773168"/>
            <a:ext cx="5715000" cy="621792"/>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DIRECT MESSAGES   </a:t>
            </a:r>
            <a:pPr indent="0" marL="0">
              <a:buNone/>
            </a:pPr>
            <a:r>
              <a:rPr lang="en-US" sz="1100" dirty="0">
                <a:solidFill>
                  <a:srgbClr val="222A3F"/>
                </a:solidFill>
                <a:latin typeface="Arial" pitchFamily="34" charset="0"/>
                <a:ea typeface="Arial" pitchFamily="34" charset="-122"/>
                <a:cs typeface="Arial" pitchFamily="34" charset="-120"/>
              </a:rPr>
              <a:t>PKC-encrypted per node (fw 2.5+): impossible until step 3 has happened</a:t>
            </a:r>
            <a:endParaRPr lang="en-US" sz="1050" dirty="0"/>
          </a:p>
        </p:txBody>
      </p:sp>
      <p:sp>
        <p:nvSpPr>
          <p:cNvPr id="34" name="Shape 32"/>
          <p:cNvSpPr/>
          <p:nvPr/>
        </p:nvSpPr>
        <p:spPr>
          <a:xfrm>
            <a:off x="7360920" y="1143000"/>
            <a:ext cx="4343400" cy="2651760"/>
          </a:xfrm>
          <a:prstGeom prst="rect">
            <a:avLst/>
          </a:prstGeom>
          <a:solidFill>
            <a:srgbClr val="1B2440"/>
          </a:solidFill>
          <a:ln/>
        </p:spPr>
      </p:sp>
      <p:sp>
        <p:nvSpPr>
          <p:cNvPr id="35" name="Text 33"/>
          <p:cNvSpPr txBox="1"/>
          <p:nvPr/>
        </p:nvSpPr>
        <p:spPr>
          <a:xfrm>
            <a:off x="7498080" y="1207008"/>
            <a:ext cx="4069080" cy="237744"/>
          </a:xfrm>
          <a:prstGeom prst="rect">
            <a:avLst/>
          </a:prstGeom>
          <a:noFill/>
          <a:ln/>
        </p:spPr>
        <p:txBody>
          <a:bodyPr wrap="square" lIns="0" tIns="0" rIns="0" bIns="0" rtlCol="0" anchor="ctr"/>
          <a:lstStyle/>
          <a:p>
            <a:pPr indent="0" marL="0">
              <a:buNone/>
            </a:pPr>
            <a:r>
              <a:rPr lang="en-US" sz="1000" b="1" dirty="0">
                <a:solidFill>
                  <a:srgbClr val="C9D8F0"/>
                </a:solidFill>
                <a:latin typeface="Courier New" pitchFamily="34" charset="0"/>
                <a:ea typeface="Courier New" pitchFamily="34" charset="-122"/>
                <a:cs typeface="Courier New" pitchFamily="34" charset="-120"/>
              </a:rPr>
              <a:t>// captured this week — the NAKs teach the protocol</a:t>
            </a:r>
            <a:endParaRPr lang="en-US" sz="1000" dirty="0"/>
          </a:p>
        </p:txBody>
      </p:sp>
      <p:sp>
        <p:nvSpPr>
          <p:cNvPr id="36" name="Text 34"/>
          <p:cNvSpPr txBox="1"/>
          <p:nvPr/>
        </p:nvSpPr>
        <p:spPr>
          <a:xfrm>
            <a:off x="7498080" y="1463040"/>
            <a:ext cx="4069080" cy="224028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DM before key exchange: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NAK PKI_SEND_FAIL_PUBLIC_KEY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(sender has no pubkey for peer)</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DM after peer’s node DB reset: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NAK NO_CHANNEL</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(peer cannot decrypt PKC — but the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NAK itself ARRIVED OVER RF: the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link is proven even as the app fails)</a:t>
            </a:r>
            <a:endParaRPr lang="en-US" sz="1000" dirty="0"/>
          </a:p>
        </p:txBody>
      </p:sp>
      <p:sp>
        <p:nvSpPr>
          <p:cNvPr id="37" name="Shape 35"/>
          <p:cNvSpPr/>
          <p:nvPr/>
        </p:nvSpPr>
        <p:spPr>
          <a:xfrm>
            <a:off x="7360920" y="4023360"/>
            <a:ext cx="4343400" cy="1600200"/>
          </a:xfrm>
          <a:prstGeom prst="rect">
            <a:avLst/>
          </a:prstGeom>
          <a:solidFill>
            <a:srgbClr val="16213D"/>
          </a:solidFill>
          <a:ln/>
        </p:spPr>
      </p:sp>
      <p:sp>
        <p:nvSpPr>
          <p:cNvPr id="38" name="Text 36"/>
          <p:cNvSpPr txBox="1"/>
          <p:nvPr/>
        </p:nvSpPr>
        <p:spPr>
          <a:xfrm>
            <a:off x="7543800" y="4160520"/>
            <a:ext cx="3977640" cy="137160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DESIGN INSIGHT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Our tracker rides on step 4 only: position broadcasts under the channel key. The v2v link needs no pairing, no session, no per-node state — a radio that hears one broadcast is fully in the system.</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VERIFICATION BY TRACEROUTE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PROOF OF LOCK: ROUND-TRIP TRACEROUTE</a:t>
            </a:r>
            <a:endParaRPr lang="en-US" sz="2300" dirty="0"/>
          </a:p>
        </p:txBody>
      </p:sp>
      <p:sp>
        <p:nvSpPr>
          <p:cNvPr id="10" name="Shape 8"/>
          <p:cNvSpPr/>
          <p:nvPr/>
        </p:nvSpPr>
        <p:spPr>
          <a:xfrm>
            <a:off x="640080" y="1325880"/>
            <a:ext cx="2103120" cy="777240"/>
          </a:xfrm>
          <a:prstGeom prst="rect">
            <a:avLst/>
          </a:prstGeom>
          <a:solidFill>
            <a:srgbClr val="F2F5FA"/>
          </a:solidFill>
          <a:ln w="19050">
            <a:solidFill>
              <a:srgbClr val="16213D"/>
            </a:solidFill>
            <a:prstDash val="solid"/>
          </a:ln>
        </p:spPr>
      </p:sp>
      <p:sp>
        <p:nvSpPr>
          <p:cNvPr id="11" name="Text 9"/>
          <p:cNvSpPr txBox="1"/>
          <p:nvPr/>
        </p:nvSpPr>
        <p:spPr>
          <a:xfrm>
            <a:off x="640080" y="1380744"/>
            <a:ext cx="2103120" cy="640080"/>
          </a:xfrm>
          <a:prstGeom prst="rect">
            <a:avLst/>
          </a:prstGeom>
          <a:noFill/>
          <a:ln/>
        </p:spPr>
        <p:txBody>
          <a:bodyPr wrap="square" lIns="0" tIns="0" rIns="0" bIns="0" rtlCol="0" anchor="ctr"/>
          <a:lstStyle/>
          <a:p>
            <a:pPr algn="ctr" indent="0" marL="0">
              <a:buNone/>
            </a:pPr>
            <a:r>
              <a:rPr lang="en-US" sz="1200" b="1" dirty="0">
                <a:solidFill>
                  <a:srgbClr val="16213D"/>
                </a:solidFill>
                <a:latin typeface="Courier New" pitchFamily="34" charset="0"/>
                <a:ea typeface="Courier New" pitchFamily="34" charset="-122"/>
                <a:cs typeface="Courier New" pitchFamily="34" charset="-120"/>
              </a:rPr>
              <a:t>SF  !49b5ead4</a:t>
            </a:r>
            <a:endParaRPr lang="en-US" sz="1200" dirty="0"/>
          </a:p>
        </p:txBody>
      </p:sp>
      <p:sp>
        <p:nvSpPr>
          <p:cNvPr id="12" name="Shape 10"/>
          <p:cNvSpPr/>
          <p:nvPr/>
        </p:nvSpPr>
        <p:spPr>
          <a:xfrm>
            <a:off x="7040880" y="1325880"/>
            <a:ext cx="2103120" cy="777240"/>
          </a:xfrm>
          <a:prstGeom prst="rect">
            <a:avLst/>
          </a:prstGeom>
          <a:solidFill>
            <a:srgbClr val="F2F5FA"/>
          </a:solidFill>
          <a:ln w="19050">
            <a:solidFill>
              <a:srgbClr val="16213D"/>
            </a:solidFill>
            <a:prstDash val="solid"/>
          </a:ln>
        </p:spPr>
      </p:sp>
      <p:sp>
        <p:nvSpPr>
          <p:cNvPr id="13" name="Text 11"/>
          <p:cNvSpPr txBox="1"/>
          <p:nvPr/>
        </p:nvSpPr>
        <p:spPr>
          <a:xfrm>
            <a:off x="7040880" y="1380744"/>
            <a:ext cx="2103120" cy="640080"/>
          </a:xfrm>
          <a:prstGeom prst="rect">
            <a:avLst/>
          </a:prstGeom>
          <a:noFill/>
          <a:ln/>
        </p:spPr>
        <p:txBody>
          <a:bodyPr wrap="square" lIns="0" tIns="0" rIns="0" bIns="0" rtlCol="0" anchor="ctr"/>
          <a:lstStyle/>
          <a:p>
            <a:pPr algn="ctr" indent="0" marL="0">
              <a:buNone/>
            </a:pPr>
            <a:r>
              <a:rPr lang="en-US" sz="1200" b="1" dirty="0">
                <a:solidFill>
                  <a:srgbClr val="16213D"/>
                </a:solidFill>
                <a:latin typeface="Courier New" pitchFamily="34" charset="0"/>
                <a:ea typeface="Courier New" pitchFamily="34" charset="-122"/>
                <a:cs typeface="Courier New" pitchFamily="34" charset="-120"/>
              </a:rPr>
              <a:t>RG  !49b5bb5c</a:t>
            </a:r>
            <a:endParaRPr lang="en-US" sz="1200" dirty="0"/>
          </a:p>
        </p:txBody>
      </p:sp>
      <p:sp>
        <p:nvSpPr>
          <p:cNvPr id="14" name="Shape 12"/>
          <p:cNvSpPr/>
          <p:nvPr/>
        </p:nvSpPr>
        <p:spPr>
          <a:xfrm>
            <a:off x="2743200" y="1527048"/>
            <a:ext cx="4297680" cy="0"/>
          </a:xfrm>
          <a:prstGeom prst="line">
            <a:avLst/>
          </a:prstGeom>
          <a:noFill/>
          <a:ln w="28575">
            <a:solidFill>
              <a:srgbClr val="1199BD"/>
            </a:solidFill>
            <a:prstDash val="solid"/>
            <a:tailEnd type="triangle"/>
          </a:ln>
        </p:spPr>
      </p:sp>
      <p:sp>
        <p:nvSpPr>
          <p:cNvPr id="15" name="Text 13"/>
          <p:cNvSpPr txBox="1"/>
          <p:nvPr/>
        </p:nvSpPr>
        <p:spPr>
          <a:xfrm>
            <a:off x="2926080" y="1197864"/>
            <a:ext cx="4023360" cy="256032"/>
          </a:xfrm>
          <a:prstGeom prst="rect">
            <a:avLst/>
          </a:prstGeom>
          <a:noFill/>
          <a:ln/>
        </p:spPr>
        <p:txBody>
          <a:bodyPr wrap="square" lIns="0" tIns="0" rIns="0" bIns="0" rtlCol="0" anchor="ctr"/>
          <a:lstStyle/>
          <a:p>
            <a:pPr indent="0" marL="0">
              <a:buNone/>
            </a:pPr>
            <a:r>
              <a:rPr lang="en-US" sz="1000" dirty="0">
                <a:solidFill>
                  <a:srgbClr val="1199BD"/>
                </a:solidFill>
                <a:latin typeface="Courier New" pitchFamily="34" charset="0"/>
                <a:ea typeface="Courier New" pitchFamily="34" charset="-122"/>
                <a:cs typeface="Courier New" pitchFamily="34" charset="-120"/>
              </a:rPr>
              <a:t>traceroute request · heard at RG with SNR 5.75 dB</a:t>
            </a:r>
            <a:endParaRPr lang="en-US" sz="1000" dirty="0"/>
          </a:p>
        </p:txBody>
      </p:sp>
      <p:sp>
        <p:nvSpPr>
          <p:cNvPr id="16" name="Shape 14"/>
          <p:cNvSpPr/>
          <p:nvPr/>
        </p:nvSpPr>
        <p:spPr>
          <a:xfrm>
            <a:off x="2743200" y="1892808"/>
            <a:ext cx="4297680" cy="0"/>
          </a:xfrm>
          <a:prstGeom prst="line">
            <a:avLst/>
          </a:prstGeom>
          <a:noFill/>
          <a:ln w="28575">
            <a:solidFill>
              <a:srgbClr val="1F9D68"/>
            </a:solidFill>
            <a:prstDash val="solid"/>
            <a:headEnd type="triangle"/>
          </a:ln>
        </p:spPr>
      </p:sp>
      <p:sp>
        <p:nvSpPr>
          <p:cNvPr id="17" name="Text 15"/>
          <p:cNvSpPr txBox="1"/>
          <p:nvPr/>
        </p:nvSpPr>
        <p:spPr>
          <a:xfrm>
            <a:off x="2926080" y="1984248"/>
            <a:ext cx="4023360" cy="256032"/>
          </a:xfrm>
          <a:prstGeom prst="rect">
            <a:avLst/>
          </a:prstGeom>
          <a:noFill/>
          <a:ln/>
        </p:spPr>
        <p:txBody>
          <a:bodyPr wrap="square" lIns="0" tIns="0" rIns="0" bIns="0" rtlCol="0" anchor="ctr"/>
          <a:lstStyle/>
          <a:p>
            <a:pPr indent="0" marL="0">
              <a:buNone/>
            </a:pPr>
            <a:r>
              <a:rPr lang="en-US" sz="1000" dirty="0">
                <a:solidFill>
                  <a:srgbClr val="1F9D68"/>
                </a:solidFill>
                <a:latin typeface="Courier New" pitchFamily="34" charset="0"/>
                <a:ea typeface="Courier New" pitchFamily="34" charset="-122"/>
                <a:cs typeface="Courier New" pitchFamily="34" charset="-120"/>
              </a:rPr>
              <a:t>reply · heard back at SF with SNR 6.25 dB</a:t>
            </a:r>
            <a:endParaRPr lang="en-US" sz="1000" dirty="0"/>
          </a:p>
        </p:txBody>
      </p:sp>
      <p:sp>
        <p:nvSpPr>
          <p:cNvPr id="18" name="Shape 16"/>
          <p:cNvSpPr/>
          <p:nvPr/>
        </p:nvSpPr>
        <p:spPr>
          <a:xfrm>
            <a:off x="640080" y="2651760"/>
            <a:ext cx="5394960" cy="1691640"/>
          </a:xfrm>
          <a:prstGeom prst="rect">
            <a:avLst/>
          </a:prstGeom>
          <a:solidFill>
            <a:srgbClr val="1B2440"/>
          </a:solidFill>
          <a:ln/>
        </p:spPr>
      </p:sp>
      <p:sp>
        <p:nvSpPr>
          <p:cNvPr id="19" name="Text 17"/>
          <p:cNvSpPr txBox="1"/>
          <p:nvPr/>
        </p:nvSpPr>
        <p:spPr>
          <a:xfrm>
            <a:off x="777240" y="2715768"/>
            <a:ext cx="5120640" cy="237744"/>
          </a:xfrm>
          <a:prstGeom prst="rect">
            <a:avLst/>
          </a:prstGeom>
          <a:noFill/>
          <a:ln/>
        </p:spPr>
        <p:txBody>
          <a:bodyPr wrap="square" lIns="0" tIns="0" rIns="0" bIns="0" rtlCol="0" anchor="ctr"/>
          <a:lstStyle/>
          <a:p>
            <a:pPr indent="0" marL="0">
              <a:buNone/>
            </a:pPr>
            <a:r>
              <a:rPr lang="en-US" sz="1000" b="1" dirty="0">
                <a:solidFill>
                  <a:srgbClr val="1F9D68"/>
                </a:solidFill>
                <a:latin typeface="Courier New" pitchFamily="34" charset="0"/>
                <a:ea typeface="Courier New" pitchFamily="34" charset="-122"/>
                <a:cs typeface="Courier New" pitchFamily="34" charset="-120"/>
              </a:rPr>
              <a:t>$ meshtastic --traceroute ‘!49b5ead4’</a:t>
            </a:r>
            <a:endParaRPr lang="en-US" sz="1000" dirty="0"/>
          </a:p>
        </p:txBody>
      </p:sp>
      <p:sp>
        <p:nvSpPr>
          <p:cNvPr id="20" name="Text 18"/>
          <p:cNvSpPr txBox="1"/>
          <p:nvPr/>
        </p:nvSpPr>
        <p:spPr>
          <a:xfrm>
            <a:off x="777240" y="2971800"/>
            <a:ext cx="5120640" cy="12801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Route traced towards destination:</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!49b5bb5c --&gt; !49b5ead4 (5.75dB)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Route traced back to us: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!49b5ead4 --&gt; !49b5bb5c (6.25dB)</a:t>
            </a:r>
            <a:endParaRPr lang="en-US" sz="1000" dirty="0"/>
          </a:p>
        </p:txBody>
      </p:sp>
      <p:sp>
        <p:nvSpPr>
          <p:cNvPr id="21" name="Text 19"/>
          <p:cNvSpPr txBox="1"/>
          <p:nvPr/>
        </p:nvSpPr>
        <p:spPr>
          <a:xfrm>
            <a:off x="640080" y="4572000"/>
            <a:ext cx="539496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One command certifies BOTH directions: the request must decode at the peer, the reply must decode back.</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Runs on the routing layer under the channel key — works before public keys exchange, unlike a DM.</a:t>
            </a:r>
            <a:endParaRPr lang="en-US" sz="1150" dirty="0"/>
          </a:p>
          <a:p>
            <a:pPr marL="342900" indent="-342900">
              <a:buSzPct val="100000"/>
              <a:buChar char="▪"/>
            </a:pPr>
            <a:r>
              <a:rPr lang="en-US" sz="1150" dirty="0">
                <a:solidFill>
                  <a:srgbClr val="222A3F"/>
                </a:solidFill>
                <a:latin typeface="Arial" pitchFamily="34" charset="0"/>
                <a:ea typeface="Arial" pitchFamily="34" charset="-122"/>
                <a:cs typeface="Arial" pitchFamily="34" charset="-120"/>
              </a:rPr>
              <a:t>SNR is reported per hop by the receiver’s demodulator: our link’s health number, logged from day one.</a:t>
            </a:r>
            <a:endParaRPr lang="en-US" sz="1150" dirty="0"/>
          </a:p>
        </p:txBody>
      </p:sp>
      <p:sp>
        <p:nvSpPr>
          <p:cNvPr id="22" name="Text 20"/>
          <p:cNvSpPr txBox="1"/>
          <p:nvPr/>
        </p:nvSpPr>
        <p:spPr>
          <a:xfrm>
            <a:off x="6492240" y="2304288"/>
            <a:ext cx="512064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WHAT 6 dB MEANS AT SF11</a:t>
            </a:r>
            <a:endParaRPr lang="en-US" sz="1100" dirty="0"/>
          </a:p>
        </p:txBody>
      </p:sp>
      <p:sp>
        <p:nvSpPr>
          <p:cNvPr id="23" name="Shape 21"/>
          <p:cNvSpPr/>
          <p:nvPr/>
        </p:nvSpPr>
        <p:spPr>
          <a:xfrm>
            <a:off x="6492240" y="2651760"/>
            <a:ext cx="5120640" cy="502920"/>
          </a:xfrm>
          <a:prstGeom prst="rect">
            <a:avLst/>
          </a:prstGeom>
          <a:solidFill>
            <a:srgbClr val="F2F5FA"/>
          </a:solidFill>
          <a:ln w="9525">
            <a:solidFill>
              <a:srgbClr val="9AA7BE"/>
            </a:solidFill>
            <a:prstDash val="solid"/>
          </a:ln>
        </p:spPr>
      </p:sp>
      <p:sp>
        <p:nvSpPr>
          <p:cNvPr id="24" name="Shape 22"/>
          <p:cNvSpPr/>
          <p:nvPr/>
        </p:nvSpPr>
        <p:spPr>
          <a:xfrm>
            <a:off x="6492240" y="2651760"/>
            <a:ext cx="720090" cy="502920"/>
          </a:xfrm>
          <a:prstGeom prst="rect">
            <a:avLst/>
          </a:prstGeom>
          <a:solidFill>
            <a:srgbClr val="FBEEEF"/>
          </a:solidFill>
          <a:ln/>
        </p:spPr>
      </p:sp>
      <p:sp>
        <p:nvSpPr>
          <p:cNvPr id="25" name="Shape 23"/>
          <p:cNvSpPr/>
          <p:nvPr/>
        </p:nvSpPr>
        <p:spPr>
          <a:xfrm>
            <a:off x="7212330" y="2542032"/>
            <a:ext cx="0" cy="731520"/>
          </a:xfrm>
          <a:prstGeom prst="line">
            <a:avLst/>
          </a:prstGeom>
          <a:noFill/>
          <a:ln w="25400">
            <a:solidFill>
              <a:srgbClr val="C43A4B"/>
            </a:solidFill>
            <a:prstDash val="solid"/>
          </a:ln>
        </p:spPr>
      </p:sp>
      <p:sp>
        <p:nvSpPr>
          <p:cNvPr id="26" name="Text 24"/>
          <p:cNvSpPr txBox="1"/>
          <p:nvPr/>
        </p:nvSpPr>
        <p:spPr>
          <a:xfrm>
            <a:off x="6023610" y="3310128"/>
            <a:ext cx="2377440" cy="237744"/>
          </a:xfrm>
          <a:prstGeom prst="rect">
            <a:avLst/>
          </a:prstGeom>
          <a:noFill/>
          <a:ln/>
        </p:spPr>
        <p:txBody>
          <a:bodyPr wrap="square" lIns="0" tIns="0" rIns="0" bIns="0" rtlCol="0" anchor="ctr"/>
          <a:lstStyle/>
          <a:p>
            <a:pPr algn="ctr" indent="0" marL="0">
              <a:buNone/>
            </a:pPr>
            <a:r>
              <a:rPr lang="en-US" sz="900" dirty="0">
                <a:solidFill>
                  <a:srgbClr val="C43A4B"/>
                </a:solidFill>
                <a:latin typeface="Courier New" pitchFamily="34" charset="0"/>
                <a:ea typeface="Courier New" pitchFamily="34" charset="-122"/>
                <a:cs typeface="Courier New" pitchFamily="34" charset="-120"/>
              </a:rPr>
              <a:t>-17.5 dB demod floor (SF11)</a:t>
            </a:r>
            <a:endParaRPr lang="en-US" sz="900" dirty="0"/>
          </a:p>
        </p:txBody>
      </p:sp>
      <p:sp>
        <p:nvSpPr>
          <p:cNvPr id="27" name="Shape 25"/>
          <p:cNvSpPr/>
          <p:nvPr/>
        </p:nvSpPr>
        <p:spPr>
          <a:xfrm>
            <a:off x="10972800" y="2542032"/>
            <a:ext cx="0" cy="731520"/>
          </a:xfrm>
          <a:prstGeom prst="line">
            <a:avLst/>
          </a:prstGeom>
          <a:noFill/>
          <a:ln w="31750">
            <a:solidFill>
              <a:srgbClr val="1F9D68"/>
            </a:solidFill>
            <a:prstDash val="solid"/>
          </a:ln>
        </p:spPr>
      </p:sp>
      <p:sp>
        <p:nvSpPr>
          <p:cNvPr id="28" name="Text 26"/>
          <p:cNvSpPr txBox="1"/>
          <p:nvPr/>
        </p:nvSpPr>
        <p:spPr>
          <a:xfrm>
            <a:off x="10058400" y="2267712"/>
            <a:ext cx="1828800" cy="237744"/>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measured ~6 dB</a:t>
            </a:r>
            <a:endParaRPr lang="en-US" sz="950" dirty="0"/>
          </a:p>
        </p:txBody>
      </p:sp>
      <p:sp>
        <p:nvSpPr>
          <p:cNvPr id="29" name="Shape 27"/>
          <p:cNvSpPr/>
          <p:nvPr/>
        </p:nvSpPr>
        <p:spPr>
          <a:xfrm>
            <a:off x="7212330" y="3794760"/>
            <a:ext cx="3760470" cy="0"/>
          </a:xfrm>
          <a:prstGeom prst="line">
            <a:avLst/>
          </a:prstGeom>
          <a:noFill/>
          <a:ln w="22225">
            <a:solidFill>
              <a:srgbClr val="16213D"/>
            </a:solidFill>
            <a:prstDash val="solid"/>
            <a:headEnd type="triangle"/>
            <a:tailEnd type="triangle"/>
          </a:ln>
        </p:spPr>
      </p:sp>
      <p:sp>
        <p:nvSpPr>
          <p:cNvPr id="30" name="Text 28"/>
          <p:cNvSpPr txBox="1"/>
          <p:nvPr/>
        </p:nvSpPr>
        <p:spPr>
          <a:xfrm>
            <a:off x="6492240" y="3931920"/>
            <a:ext cx="5120640" cy="5029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23.5 dB of margin before decode fails — SF11 keeps decoding 17.5 dB BELOW the noise floor</a:t>
            </a:r>
            <a:endParaRPr lang="en-US" sz="1050" dirty="0"/>
          </a:p>
        </p:txBody>
      </p:sp>
      <p:sp>
        <p:nvSpPr>
          <p:cNvPr id="31" name="Shape 29"/>
          <p:cNvSpPr/>
          <p:nvPr/>
        </p:nvSpPr>
        <p:spPr>
          <a:xfrm>
            <a:off x="6492240" y="4892040"/>
            <a:ext cx="5120640" cy="1143000"/>
          </a:xfrm>
          <a:prstGeom prst="rect">
            <a:avLst/>
          </a:prstGeom>
          <a:solidFill>
            <a:srgbClr val="16213D"/>
          </a:solidFill>
          <a:ln/>
        </p:spPr>
      </p:sp>
      <p:sp>
        <p:nvSpPr>
          <p:cNvPr id="32" name="Text 30"/>
          <p:cNvSpPr txBox="1"/>
          <p:nvPr/>
        </p:nvSpPr>
        <p:spPr>
          <a:xfrm>
            <a:off x="6675120" y="5029200"/>
            <a:ext cx="4754880" cy="914400"/>
          </a:xfrm>
          <a:prstGeom prst="rect">
            <a:avLst/>
          </a:prstGeom>
          <a:noFill/>
          <a:ln/>
        </p:spPr>
        <p:txBody>
          <a:bodyPr wrap="square" lIns="0" tIns="0" rIns="0" bIns="0" rtlCol="0" anchor="ctr"/>
          <a:lstStyle/>
          <a:p>
            <a:pPr indent="0" marL="0">
              <a:spcAft>
                <a:spcPts val="400"/>
              </a:spcAft>
              <a:buNone/>
            </a:pPr>
            <a:r>
              <a:rPr lang="en-US" sz="1100" b="1" dirty="0">
                <a:solidFill>
                  <a:srgbClr val="1F9D68"/>
                </a:solidFill>
                <a:latin typeface="Courier New" pitchFamily="34" charset="0"/>
                <a:ea typeface="Courier New" pitchFamily="34" charset="-122"/>
                <a:cs typeface="Courier New" pitchFamily="34" charset="-120"/>
              </a:rPr>
              <a:t>ACCEPTANCE CRITERION 2 — MET</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“Both radios see each other”: round-trip proof on the private channel, repeated after every config change.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LIVENESS BOOKKEEPING</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“ONLINE” IS AN EQUATION, NOT A CONNECTION</a:t>
            </a:r>
            <a:endParaRPr lang="en-US" sz="2300" dirty="0"/>
          </a:p>
        </p:txBody>
      </p:sp>
      <p:pic>
        <p:nvPicPr>
          <p:cNvPr id="10" name="Image 0" descr="C:/Users/deogr/AppData/Local/Temp/claude/C--Users-deogr-Documents-Fall-Project-Off-Grid-Vehicle-dection-project/e8b2e8fa-1513-4aa8-a8f6-ce4fcd20e664/scratchpad/deck5/eq_online.png">    </p:cNvPr>
          <p:cNvPicPr>
            <a:picLocks noChangeAspect="1"/>
          </p:cNvPicPr>
          <p:nvPr/>
        </p:nvPicPr>
        <p:blipFill>
          <a:blip r:embed="rId1"/>
          <a:stretch>
            <a:fillRect/>
          </a:stretch>
        </p:blipFill>
        <p:spPr>
          <a:xfrm>
            <a:off x="640080" y="1097280"/>
            <a:ext cx="5120640" cy="566928"/>
          </a:xfrm>
          <a:prstGeom prst="rect">
            <a:avLst/>
          </a:prstGeom>
        </p:spPr>
      </p:pic>
      <p:sp>
        <p:nvSpPr>
          <p:cNvPr id="11" name="Text 8"/>
          <p:cNvSpPr txBox="1"/>
          <p:nvPr/>
        </p:nvSpPr>
        <p:spPr>
          <a:xfrm>
            <a:off x="640080" y="1828800"/>
            <a:ext cx="630936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No link-state exists to display — the counter recomputes this inequality per node, per redraw.</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radio gone silent stays “online” for up to 2 h; a radio with a STALE STAMP looks dead while talking.</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Bench ghost: a stored July 14 record kept resurfacing from flash after reboots → “72 d ago”, 0 online — while texts flowed both ways.</a:t>
            </a:r>
            <a:endParaRPr lang="en-US" sz="1200" dirty="0"/>
          </a:p>
        </p:txBody>
      </p:sp>
      <p:pic>
        <p:nvPicPr>
          <p:cNvPr id="12" name="Image 1" descr="C:/Users/deogr/AppData/Local/Temp/claude/C--Users-deogr-Documents-Fall-Project-Off-Grid-Vehicle-dection-project/e8b2e8fa-1513-4aa8-a8f6-ce4fcd20e664/scratchpad/deck5/fig_timeline.png">    </p:cNvPr>
          <p:cNvPicPr>
            <a:picLocks noChangeAspect="1"/>
          </p:cNvPicPr>
          <p:nvPr/>
        </p:nvPicPr>
        <p:blipFill>
          <a:blip r:embed="rId2"/>
          <a:stretch>
            <a:fillRect/>
          </a:stretch>
        </p:blipFill>
        <p:spPr>
          <a:xfrm>
            <a:off x="640080" y="3566160"/>
            <a:ext cx="8412480" cy="2514600"/>
          </a:xfrm>
          <a:prstGeom prst="rect">
            <a:avLst/>
          </a:prstGeom>
        </p:spPr>
      </p:pic>
      <p:pic>
        <p:nvPicPr>
          <p:cNvPr id="13" name="Image 2" descr="C:/Users/deogr/AppData/Local/Temp/claude/C--Users-deogr-Documents-Fall-Project-Off-Grid-Vehicle-dection-project/e8b2e8fa-1513-4aa8-a8f6-ce4fcd20e664/images/10.jpg">    </p:cNvPr>
          <p:cNvPicPr>
            <a:picLocks noChangeAspect="1"/>
          </p:cNvPicPr>
          <p:nvPr/>
        </p:nvPicPr>
        <p:blipFill>
          <a:blip r:embed="rId3"/>
          <a:stretch>
            <a:fillRect/>
          </a:stretch>
        </p:blipFill>
        <p:spPr>
          <a:xfrm>
            <a:off x="9326880" y="1097280"/>
            <a:ext cx="2377440" cy="3108960"/>
          </a:xfrm>
          <a:prstGeom prst="rect">
            <a:avLst/>
          </a:prstGeom>
        </p:spPr>
      </p:pic>
      <p:sp>
        <p:nvSpPr>
          <p:cNvPr id="14" name="Shape 9"/>
          <p:cNvSpPr/>
          <p:nvPr/>
        </p:nvSpPr>
        <p:spPr>
          <a:xfrm>
            <a:off x="9326880" y="1097280"/>
            <a:ext cx="2377440" cy="3108960"/>
          </a:xfrm>
          <a:prstGeom prst="rect">
            <a:avLst/>
          </a:prstGeom>
          <a:ln w="12700">
            <a:solidFill>
              <a:srgbClr val="9AA7BE"/>
            </a:solidFill>
            <a:prstDash val="solid"/>
          </a:ln>
        </p:spPr>
      </p:sp>
      <p:sp>
        <p:nvSpPr>
          <p:cNvPr id="15" name="Text 10"/>
          <p:cNvSpPr txBox="1"/>
          <p:nvPr/>
        </p:nvSpPr>
        <p:spPr>
          <a:xfrm>
            <a:off x="9052560" y="4233672"/>
            <a:ext cx="2926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ghost on glass: Sig GOOD,</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“Heard: 72d ago” — same minute</a:t>
            </a:r>
            <a:endParaRPr lang="en-US" sz="900" dirty="0"/>
          </a:p>
        </p:txBody>
      </p:sp>
      <p:sp>
        <p:nvSpPr>
          <p:cNvPr id="16" name="Shape 11"/>
          <p:cNvSpPr/>
          <p:nvPr/>
        </p:nvSpPr>
        <p:spPr>
          <a:xfrm>
            <a:off x="9326880" y="4526280"/>
            <a:ext cx="2377440" cy="1463040"/>
          </a:xfrm>
          <a:prstGeom prst="rect">
            <a:avLst/>
          </a:prstGeom>
          <a:solidFill>
            <a:srgbClr val="F2F5FA"/>
          </a:solidFill>
          <a:ln w="15875">
            <a:solidFill>
              <a:srgbClr val="E58E1A"/>
            </a:solidFill>
            <a:prstDash val="solid"/>
          </a:ln>
        </p:spPr>
      </p:sp>
      <p:sp>
        <p:nvSpPr>
          <p:cNvPr id="17" name="Text 12"/>
          <p:cNvSpPr txBox="1"/>
          <p:nvPr/>
        </p:nvSpPr>
        <p:spPr>
          <a:xfrm>
            <a:off x="9445752" y="4617720"/>
            <a:ext cx="2148840" cy="1298448"/>
          </a:xfrm>
          <a:prstGeom prst="rect">
            <a:avLst/>
          </a:prstGeom>
          <a:noFill/>
          <a:ln/>
        </p:spPr>
        <p:txBody>
          <a:bodyPr wrap="square" lIns="0" tIns="0" rIns="0" bIns="0" rtlCol="0" anchor="ctr"/>
          <a:lstStyle/>
          <a:p>
            <a:pPr indent="0" marL="0">
              <a:spcAft>
                <a:spcPts val="300"/>
              </a:spcAft>
              <a:buNone/>
            </a:pPr>
            <a:r>
              <a:rPr lang="en-US" sz="950" b="1" dirty="0">
                <a:solidFill>
                  <a:srgbClr val="E58E1A"/>
                </a:solidFill>
                <a:latin typeface="Courier New" pitchFamily="34" charset="0"/>
                <a:ea typeface="Courier New" pitchFamily="34" charset="-122"/>
                <a:cs typeface="Courier New" pitchFamily="34" charset="-120"/>
              </a:rPr>
              <a:t>FIXES APPLIED</a:t>
            </a:r>
            <a:endParaRPr lang="en-US" sz="1000" dirty="0"/>
          </a:p>
          <a:p>
            <a:pPr indent="0" marL="0">
              <a:buNone/>
            </a:pPr>
            <a:r>
              <a:rPr lang="en-US" sz="1000" dirty="0">
                <a:solidFill>
                  <a:srgbClr val="222A3F"/>
                </a:solidFill>
                <a:latin typeface="Arial" pitchFamily="34" charset="0"/>
                <a:ea typeface="Arial" pitchFamily="34" charset="-122"/>
                <a:cs typeface="Arial" pitchFamily="34" charset="-120"/>
              </a:rPr>
              <a:t>purge stored stale positions · sync clocks · reset node DBs · add heartbeat (sheet 08)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TRAFFIC CADENCE DESIGN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HEARTBEAT: DESIGNED TRAFFIC CADENCE</a:t>
            </a:r>
            <a:endParaRPr lang="en-US" sz="2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155680" cy="914400"/>
        </p:xfrm>
        <a:graphic>
          <a:graphicData uri="http://schemas.openxmlformats.org/drawingml/2006/table">
            <a:tbl>
              <a:tblPr/>
              <a:tblGrid>
                <a:gridCol w="1920240"/>
                <a:gridCol w="3017520"/>
                <a:gridCol w="2103120"/>
                <a:gridCol w="4114800"/>
              </a:tblGrid>
              <a:tr h="420624">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PACKET</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TRIGGER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INTERVAL</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ROLE IN THE SYSTEM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Position</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moving (smart broadcast)</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10 s AND 20 m</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the product: live v2v tracking</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Position</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stationary, with GPS fix</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60 s</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parked-vehicle presence</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Device telemetry</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always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1F9D68"/>
                          </a:solidFill>
                          <a:latin typeface="Courier New" pitchFamily="34" charset="0"/>
                          <a:ea typeface="Courier New" pitchFamily="34" charset="-122"/>
                          <a:cs typeface="Courier New" pitchFamily="34" charset="-120"/>
                        </a:rPr>
                        <a:t>300 s (was 1800)</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liveness floor — keeps counters honest</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NodeInfo</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boot + periodic</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~3 h</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names + public keys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Text / canned</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operator</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on demand</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15-preset chain, both radios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548640" y="3977640"/>
            <a:ext cx="78638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Why 300 s: worst-case bench radio (parked, indoors, no fix) says nothing else — 30 min gaps let stale flash records flap the counters. A 5-min floor re-stamps peers 24× inside the 2 h window.</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Why not faster: liveness costs airtime like everything else — one ~0.5 s packet per 300 s is 0.17% of the channel; the same packet at 30 s would burn 10× that for no product value.</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 design rule: every periodic packet must name the failure it prevents. Position → tracking staleness. Telemetry → counter lies. NodeInfo → unaddressable peers.</a:t>
            </a:r>
            <a:endParaRPr lang="en-US" sz="1200" dirty="0"/>
          </a:p>
        </p:txBody>
      </p:sp>
      <p:sp>
        <p:nvSpPr>
          <p:cNvPr id="12" name="Shape 9"/>
          <p:cNvSpPr/>
          <p:nvPr/>
        </p:nvSpPr>
        <p:spPr>
          <a:xfrm>
            <a:off x="8732520" y="3977640"/>
            <a:ext cx="2971800" cy="2057400"/>
          </a:xfrm>
          <a:prstGeom prst="rect">
            <a:avLst/>
          </a:prstGeom>
          <a:solidFill>
            <a:srgbClr val="16213D"/>
          </a:solidFill>
          <a:ln/>
        </p:spPr>
      </p:sp>
      <p:sp>
        <p:nvSpPr>
          <p:cNvPr id="13" name="Text 10"/>
          <p:cNvSpPr txBox="1"/>
          <p:nvPr/>
        </p:nvSpPr>
        <p:spPr>
          <a:xfrm>
            <a:off x="8915400" y="4114800"/>
            <a:ext cx="2651760" cy="182880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MEASURED RESULT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With the 5-min heartbeat both OLEDs hold “1 online” steadily on the bench — first time all week. Verified over 20+ min unplugged.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AIRTIME ECONOMICS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AIRTIME: EVERY PACKET COSTS HALF A SECOND</a:t>
            </a:r>
            <a:endParaRPr lang="en-US" sz="2300" dirty="0"/>
          </a:p>
        </p:txBody>
      </p:sp>
      <p:pic>
        <p:nvPicPr>
          <p:cNvPr id="10" name="Image 0" descr="C:/Users/deogr/AppData/Local/Temp/claude/C--Users-deogr-Documents-Fall-Project-Off-Grid-Vehicle-dection-project/e8b2e8fa-1513-4aa8-a8f6-ce4fcd20e664/scratchpad/deck5/eq_toa.png">    </p:cNvPr>
          <p:cNvPicPr>
            <a:picLocks noChangeAspect="1"/>
          </p:cNvPicPr>
          <p:nvPr/>
        </p:nvPicPr>
        <p:blipFill>
          <a:blip r:embed="rId1"/>
          <a:stretch>
            <a:fillRect/>
          </a:stretch>
        </p:blipFill>
        <p:spPr>
          <a:xfrm>
            <a:off x="594360" y="1078992"/>
            <a:ext cx="6949440" cy="658368"/>
          </a:xfrm>
          <a:prstGeom prst="rect">
            <a:avLst/>
          </a:prstGeom>
        </p:spPr>
      </p:pic>
      <p:sp>
        <p:nvSpPr>
          <p:cNvPr id="11" name="Text 8"/>
          <p:cNvSpPr txBox="1"/>
          <p:nvPr/>
        </p:nvSpPr>
        <p:spPr>
          <a:xfrm>
            <a:off x="594360" y="1920240"/>
            <a:ext cx="6903720" cy="2148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SF11 trades speed for sensitivity: 2¹¹ = 2048 chips/symbol → 8.19 ms/symbol → ~0.5 s per position packet.</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Flood mesh default: every node REBROADCASTS what it hears (hop limit 3) — with 2 nodes, each packet flies twice for zero coverage gain.</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Fix: role CLIENT_MUTE on both — send + receive everything, relay nothing. Utilization halved on the spot: 9–13% → ~5–6%.</a:t>
            </a:r>
            <a:endParaRPr lang="en-US" sz="1200" dirty="0"/>
          </a:p>
        </p:txBody>
      </p:sp>
      <p:sp>
        <p:nvSpPr>
          <p:cNvPr id="12" name="Shape 9"/>
          <p:cNvSpPr/>
          <p:nvPr/>
        </p:nvSpPr>
        <p:spPr>
          <a:xfrm>
            <a:off x="594360" y="4206240"/>
            <a:ext cx="6903720" cy="1783080"/>
          </a:xfrm>
          <a:prstGeom prst="rect">
            <a:avLst/>
          </a:prstGeom>
          <a:solidFill>
            <a:srgbClr val="F2F5FA"/>
          </a:solidFill>
          <a:ln w="12700">
            <a:solidFill>
              <a:srgbClr val="9AA7BE"/>
            </a:solidFill>
            <a:prstDash val="solid"/>
          </a:ln>
        </p:spPr>
      </p:sp>
      <p:sp>
        <p:nvSpPr>
          <p:cNvPr id="13" name="Text 10"/>
          <p:cNvSpPr txBox="1"/>
          <p:nvPr/>
        </p:nvSpPr>
        <p:spPr>
          <a:xfrm>
            <a:off x="777240" y="4297680"/>
            <a:ext cx="6583680" cy="25603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VEHICLE-RATE BUDGET (both moving, 10 s cadence)</a:t>
            </a:r>
            <a:endParaRPr lang="en-US" sz="1050" dirty="0"/>
          </a:p>
        </p:txBody>
      </p:sp>
      <p:sp>
        <p:nvSpPr>
          <p:cNvPr id="14" name="Text 11"/>
          <p:cNvSpPr txBox="1"/>
          <p:nvPr/>
        </p:nvSpPr>
        <p:spPr>
          <a:xfrm>
            <a:off x="777240" y="4590288"/>
            <a:ext cx="6583680" cy="1325880"/>
          </a:xfrm>
          <a:prstGeom prst="rect">
            <a:avLst/>
          </a:prstGeom>
          <a:noFill/>
          <a:ln/>
        </p:spPr>
        <p:txBody>
          <a:bodyPr wrap="square" lIns="0" tIns="0" rIns="0" bIns="0" rtlCol="0" anchor="ctr"/>
          <a:lstStyle/>
          <a:p>
            <a:pPr indent="0" marL="0">
              <a:spcAft>
                <a:spcPts val="400"/>
              </a:spcAft>
              <a:buNone/>
            </a:pPr>
            <a:r>
              <a:rPr lang="en-US" sz="1050" dirty="0">
                <a:solidFill>
                  <a:srgbClr val="C43A4B"/>
                </a:solidFill>
                <a:latin typeface="Courier New" pitchFamily="34" charset="0"/>
                <a:ea typeface="Courier New" pitchFamily="34" charset="-122"/>
                <a:cs typeface="Courier New" pitchFamily="34" charset="-120"/>
              </a:rPr>
              <a:t>2 × (0.5 s / 10 s) = 10%   with relay:   ~20%  — brushes the throttle</a:t>
            </a:r>
            <a:endParaRPr lang="en-US" sz="1050" dirty="0"/>
          </a:p>
          <a:p>
            <a:pPr indent="0" marL="0">
              <a:spcAft>
                <a:spcPts val="600"/>
              </a:spcAft>
              <a:buNone/>
            </a:pPr>
            <a:r>
              <a:rPr lang="en-US" sz="1050" dirty="0">
                <a:solidFill>
                  <a:srgbClr val="1F9D68"/>
                </a:solidFill>
                <a:latin typeface="Courier New" pitchFamily="34" charset="0"/>
                <a:ea typeface="Courier New" pitchFamily="34" charset="-122"/>
                <a:cs typeface="Courier New" pitchFamily="34" charset="-120"/>
              </a:rPr>
              <a:t>2 × (0.5 s / 10 s) = 10%   CLIENT_MUTE:  ~10%  — 2.5× headroom held</a:t>
            </a:r>
            <a:endParaRPr lang="en-US" sz="1050" dirty="0"/>
          </a:p>
          <a:p>
            <a:pPr indent="0" marL="0">
              <a:buNone/>
            </a:pPr>
            <a:r>
              <a:rPr lang="en-US" sz="1050" dirty="0">
                <a:solidFill>
                  <a:srgbClr val="222A3F"/>
                </a:solidFill>
                <a:latin typeface="Arial" pitchFamily="34" charset="0"/>
                <a:ea typeface="Arial" pitchFamily="34" charset="-122"/>
                <a:cs typeface="Arial" pitchFamily="34" charset="-120"/>
              </a:rPr>
              <a:t>Meshtastic suppresses position broadcasts above ~25% utilization — the throttle would have eaten our 10 s cadence exactly when both vehicles moved.</a:t>
            </a:r>
            <a:endParaRPr lang="en-US" sz="1050" dirty="0"/>
          </a:p>
        </p:txBody>
      </p:sp>
      <p:pic>
        <p:nvPicPr>
          <p:cNvPr id="15" name="Image 1" descr="C:/Users/deogr/AppData/Local/Temp/claude/C--Users-deogr-Documents-Fall-Project-Off-Grid-Vehicle-dection-project/e8b2e8fa-1513-4aa8-a8f6-ce4fcd20e664/scratchpad/deck5/fig_chutil.png">    </p:cNvPr>
          <p:cNvPicPr>
            <a:picLocks noChangeAspect="1"/>
          </p:cNvPicPr>
          <p:nvPr/>
        </p:nvPicPr>
        <p:blipFill>
          <a:blip r:embed="rId2"/>
          <a:stretch>
            <a:fillRect/>
          </a:stretch>
        </p:blipFill>
        <p:spPr>
          <a:xfrm>
            <a:off x="7772400" y="1188720"/>
            <a:ext cx="3977640" cy="2606040"/>
          </a:xfrm>
          <a:prstGeom prst="rect">
            <a:avLst/>
          </a:prstGeom>
        </p:spPr>
      </p:pic>
      <p:sp>
        <p:nvSpPr>
          <p:cNvPr id="16" name="Shape 12"/>
          <p:cNvSpPr/>
          <p:nvPr/>
        </p:nvSpPr>
        <p:spPr>
          <a:xfrm>
            <a:off x="7772400" y="4023360"/>
            <a:ext cx="3977640" cy="1965960"/>
          </a:xfrm>
          <a:prstGeom prst="rect">
            <a:avLst/>
          </a:prstGeom>
          <a:solidFill>
            <a:srgbClr val="16213D"/>
          </a:solidFill>
          <a:ln/>
        </p:spPr>
      </p:sp>
      <p:sp>
        <p:nvSpPr>
          <p:cNvPr id="17" name="Text 13"/>
          <p:cNvSpPr txBox="1"/>
          <p:nvPr/>
        </p:nvSpPr>
        <p:spPr>
          <a:xfrm>
            <a:off x="7955280" y="4160520"/>
            <a:ext cx="3611880" cy="173736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REVERT CONDITION</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CLIENT_MUTE is correct only while the mesh has exactly two nodes. Add a third radio or a relay and both must return to CLIENT — written into the provisioning recipe.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BUDGET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LINK BUDGET: FROM BENCH METERS TO FIELD KILOMETERS</a:t>
            </a:r>
            <a:endParaRPr lang="en-US" sz="2300" dirty="0"/>
          </a:p>
        </p:txBody>
      </p:sp>
      <p:pic>
        <p:nvPicPr>
          <p:cNvPr id="10" name="Image 0" descr="C:/Users/deogr/AppData/Local/Temp/claude/C--Users-deogr-Documents-Fall-Project-Off-Grid-Vehicle-dection-project/e8b2e8fa-1513-4aa8-a8f6-ce4fcd20e664/scratchpad/deck5/eq_budget.png">    </p:cNvPr>
          <p:cNvPicPr>
            <a:picLocks noChangeAspect="1"/>
          </p:cNvPicPr>
          <p:nvPr/>
        </p:nvPicPr>
        <p:blipFill>
          <a:blip r:embed="rId1"/>
          <a:stretch>
            <a:fillRect/>
          </a:stretch>
        </p:blipFill>
        <p:spPr>
          <a:xfrm>
            <a:off x="594360" y="1078992"/>
            <a:ext cx="7498080" cy="603504"/>
          </a:xfrm>
          <a:prstGeom prst="rect">
            <a:avLst/>
          </a:prstGeom>
        </p:spPr>
      </p:pic>
      <p:pic>
        <p:nvPicPr>
          <p:cNvPr id="11" name="Image 1" descr="C:/Users/deogr/AppData/Local/Temp/claude/C--Users-deogr-Documents-Fall-Project-Off-Grid-Vehicle-dection-project/e8b2e8fa-1513-4aa8-a8f6-ce4fcd20e664/scratchpad/deck5/fig_linkbudget.png">    </p:cNvPr>
          <p:cNvPicPr>
            <a:picLocks noChangeAspect="1"/>
          </p:cNvPicPr>
          <p:nvPr/>
        </p:nvPicPr>
        <p:blipFill>
          <a:blip r:embed="rId2"/>
          <a:stretch>
            <a:fillRect/>
          </a:stretch>
        </p:blipFill>
        <p:spPr>
          <a:xfrm>
            <a:off x="594360" y="1874520"/>
            <a:ext cx="5989320" cy="402336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0" y="1874520"/>
          <a:ext cx="4892040" cy="914400"/>
        </p:xfrm>
        <a:graphic>
          <a:graphicData uri="http://schemas.openxmlformats.org/drawingml/2006/table">
            <a:tbl>
              <a:tblPr/>
              <a:tblGrid>
                <a:gridCol w="1554480"/>
                <a:gridCol w="1325880"/>
                <a:gridCol w="2011680"/>
              </a:tblGrid>
              <a:tr h="402336">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TERM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VALUE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SOURCE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TX power</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+30 dBm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config, verified both radios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Antenna gains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~0 dBi × 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stock SMA whips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Sensitivity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−131 dBm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SX1262 DS, SF11/250 kHz</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Total budget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161 dB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P_tx −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02336">
                <a:tc>
                  <a:txBody>
                    <a:bodyPr/>
                    <a:lstStyle/>
                    <a:p>
                      <a:pPr indent="0" marL="0">
                        <a:buNone/>
                      </a:pPr>
                      <a:r>
                        <a:rPr lang="en-US" sz="1050" dirty="0">
                          <a:solidFill>
                            <a:srgbClr val="E58E1A"/>
                          </a:solidFill>
                          <a:latin typeface="Arial" pitchFamily="34" charset="0"/>
                          <a:ea typeface="Arial" pitchFamily="34" charset="-122"/>
                          <a:cs typeface="Arial" pitchFamily="34" charset="-120"/>
                        </a:rPr>
                        <a:t>Free-space limit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~10² km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E58E1A"/>
                          </a:solidFill>
                          <a:latin typeface="Arial" pitchFamily="34" charset="0"/>
                          <a:ea typeface="Arial" pitchFamily="34" charset="-122"/>
                          <a:cs typeface="Arial" pitchFamily="34" charset="-120"/>
                        </a:rPr>
                        <a:t>where the curve crosses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E58E1A"/>
                          </a:solidFill>
                          <a:latin typeface="Arial" pitchFamily="34" charset="0"/>
                          <a:ea typeface="Arial" pitchFamily="34" charset="-122"/>
                          <a:cs typeface="Arial" pitchFamily="34" charset="-120"/>
                        </a:rPr>
                        <a:t>Design target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3–5 km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E58E1A"/>
                          </a:solidFill>
                          <a:latin typeface="Arial" pitchFamily="34" charset="0"/>
                          <a:ea typeface="Arial" pitchFamily="34" charset="-122"/>
                          <a:cs typeface="Arial" pitchFamily="34" charset="-120"/>
                        </a:rPr>
                        <a:t>with 20 dB terrain margin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6858000" y="4892040"/>
            <a:ext cx="4892040" cy="109728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Free space flatters: real streets add clutter, Fresnel blockage, and fading. The 20 dB margin line is the honest design curve — the W8–W9 range test measures where reality sits between the two.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BENCH EVIDENCE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BENCH RECORD: FOUR SCREENS, ONE STORY</a:t>
            </a:r>
            <a:endParaRPr lang="en-US" sz="2300" dirty="0"/>
          </a:p>
        </p:txBody>
      </p:sp>
      <p:pic>
        <p:nvPicPr>
          <p:cNvPr id="10" name="Image 0" descr="C:/Users/deogr/AppData/Local/Temp/claude/C--Users-deogr-Documents-Fall-Project-Off-Grid-Vehicle-dection-project/e8b2e8fa-1513-4aa8-a8f6-ce4fcd20e664/images/19.jpg">    </p:cNvPr>
          <p:cNvPicPr>
            <a:picLocks noChangeAspect="1"/>
          </p:cNvPicPr>
          <p:nvPr/>
        </p:nvPicPr>
        <p:blipFill>
          <a:blip r:embed="rId1"/>
          <a:stretch>
            <a:fillRect/>
          </a:stretch>
        </p:blipFill>
        <p:spPr>
          <a:xfrm>
            <a:off x="640080" y="1234440"/>
            <a:ext cx="2514600" cy="3291840"/>
          </a:xfrm>
          <a:prstGeom prst="rect">
            <a:avLst/>
          </a:prstGeom>
        </p:spPr>
      </p:pic>
      <p:sp>
        <p:nvSpPr>
          <p:cNvPr id="11" name="Shape 8"/>
          <p:cNvSpPr/>
          <p:nvPr/>
        </p:nvSpPr>
        <p:spPr>
          <a:xfrm>
            <a:off x="640080" y="1234440"/>
            <a:ext cx="2514600" cy="3291840"/>
          </a:xfrm>
          <a:prstGeom prst="rect">
            <a:avLst/>
          </a:prstGeom>
          <a:ln w="12700">
            <a:solidFill>
              <a:srgbClr val="9AA7BE"/>
            </a:solidFill>
            <a:prstDash val="solid"/>
          </a:ln>
        </p:spPr>
      </p:sp>
      <p:sp>
        <p:nvSpPr>
          <p:cNvPr id="12" name="Text 9"/>
          <p:cNvSpPr txBox="1"/>
          <p:nvPr/>
        </p:nvSpPr>
        <p:spPr>
          <a:xfrm>
            <a:off x="36576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BEFORE: 18-node ghost table,</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peers “52–77 d” stale</a:t>
            </a:r>
            <a:endParaRPr lang="en-US" sz="900" dirty="0"/>
          </a:p>
        </p:txBody>
      </p:sp>
      <p:pic>
        <p:nvPicPr>
          <p:cNvPr id="13" name="Image 1" descr="C:/Users/deogr/AppData/Local/Temp/claude/C--Users-deogr-Documents-Fall-Project-Off-Grid-Vehicle-dection-project/e8b2e8fa-1513-4aa8-a8f6-ce4fcd20e664/images/2.jpg">    </p:cNvPr>
          <p:cNvPicPr>
            <a:picLocks noChangeAspect="1"/>
          </p:cNvPicPr>
          <p:nvPr/>
        </p:nvPicPr>
        <p:blipFill>
          <a:blip r:embed="rId2"/>
          <a:stretch>
            <a:fillRect/>
          </a:stretch>
        </p:blipFill>
        <p:spPr>
          <a:xfrm>
            <a:off x="3520440" y="1234440"/>
            <a:ext cx="2514600" cy="3291840"/>
          </a:xfrm>
          <a:prstGeom prst="rect">
            <a:avLst/>
          </a:prstGeom>
        </p:spPr>
      </p:pic>
      <p:sp>
        <p:nvSpPr>
          <p:cNvPr id="14" name="Shape 10"/>
          <p:cNvSpPr/>
          <p:nvPr/>
        </p:nvSpPr>
        <p:spPr>
          <a:xfrm>
            <a:off x="3520440" y="1234440"/>
            <a:ext cx="2514600" cy="3291840"/>
          </a:xfrm>
          <a:prstGeom prst="rect">
            <a:avLst/>
          </a:prstGeom>
          <a:ln w="12700">
            <a:solidFill>
              <a:srgbClr val="9AA7BE"/>
            </a:solidFill>
            <a:prstDash val="solid"/>
          </a:ln>
        </p:spPr>
      </p:sp>
      <p:sp>
        <p:nvSpPr>
          <p:cNvPr id="15" name="Text 11"/>
          <p:cNvSpPr txBox="1"/>
          <p:nvPr/>
        </p:nvSpPr>
        <p:spPr>
          <a:xfrm>
            <a:off x="324612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text RX on the bench link —</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messages flow both ways</a:t>
            </a:r>
            <a:endParaRPr lang="en-US" sz="900" dirty="0"/>
          </a:p>
        </p:txBody>
      </p:sp>
      <p:pic>
        <p:nvPicPr>
          <p:cNvPr id="16" name="Image 2" descr="C:/Users/deogr/AppData/Local/Temp/claude/C--Users-deogr-Documents-Fall-Project-Off-Grid-Vehicle-dection-project/e8b2e8fa-1513-4aa8-a8f6-ce4fcd20e664/images/27.jpg">    </p:cNvPr>
          <p:cNvPicPr>
            <a:picLocks noChangeAspect="1"/>
          </p:cNvPicPr>
          <p:nvPr/>
        </p:nvPicPr>
        <p:blipFill>
          <a:blip r:embed="rId3"/>
          <a:stretch>
            <a:fillRect/>
          </a:stretch>
        </p:blipFill>
        <p:spPr>
          <a:xfrm>
            <a:off x="6400800" y="1234440"/>
            <a:ext cx="2514600" cy="3291840"/>
          </a:xfrm>
          <a:prstGeom prst="rect">
            <a:avLst/>
          </a:prstGeom>
        </p:spPr>
      </p:pic>
      <p:sp>
        <p:nvSpPr>
          <p:cNvPr id="17" name="Shape 12"/>
          <p:cNvSpPr/>
          <p:nvPr/>
        </p:nvSpPr>
        <p:spPr>
          <a:xfrm>
            <a:off x="6400800" y="1234440"/>
            <a:ext cx="2514600" cy="3291840"/>
          </a:xfrm>
          <a:prstGeom prst="rect">
            <a:avLst/>
          </a:prstGeom>
          <a:ln w="12700">
            <a:solidFill>
              <a:srgbClr val="9AA7BE"/>
            </a:solidFill>
            <a:prstDash val="solid"/>
          </a:ln>
        </p:spPr>
      </p:sp>
      <p:sp>
        <p:nvSpPr>
          <p:cNvPr id="18" name="Text 13"/>
          <p:cNvSpPr txBox="1"/>
          <p:nvPr/>
        </p:nvSpPr>
        <p:spPr>
          <a:xfrm>
            <a:off x="612648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AFTER: peer heard “1m” ago —</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fresh stamp, honest counter</a:t>
            </a:r>
            <a:endParaRPr lang="en-US" sz="900" dirty="0"/>
          </a:p>
        </p:txBody>
      </p:sp>
      <p:pic>
        <p:nvPicPr>
          <p:cNvPr id="19" name="Image 3" descr="C:/Users/deogr/AppData/Local/Temp/claude/C--Users-deogr-Documents-Fall-Project-Off-Grid-Vehicle-dection-project/e8b2e8fa-1513-4aa8-a8f6-ce4fcd20e664/images/23.jpg">    </p:cNvPr>
          <p:cNvPicPr>
            <a:picLocks noChangeAspect="1"/>
          </p:cNvPicPr>
          <p:nvPr/>
        </p:nvPicPr>
        <p:blipFill>
          <a:blip r:embed="rId4"/>
          <a:stretch>
            <a:fillRect/>
          </a:stretch>
        </p:blipFill>
        <p:spPr>
          <a:xfrm>
            <a:off x="9281160" y="1234440"/>
            <a:ext cx="2514600" cy="3291840"/>
          </a:xfrm>
          <a:prstGeom prst="rect">
            <a:avLst/>
          </a:prstGeom>
        </p:spPr>
      </p:pic>
      <p:sp>
        <p:nvSpPr>
          <p:cNvPr id="20" name="Shape 14"/>
          <p:cNvSpPr/>
          <p:nvPr/>
        </p:nvSpPr>
        <p:spPr>
          <a:xfrm>
            <a:off x="9281160" y="1234440"/>
            <a:ext cx="2514600" cy="3291840"/>
          </a:xfrm>
          <a:prstGeom prst="rect">
            <a:avLst/>
          </a:prstGeom>
          <a:ln w="12700">
            <a:solidFill>
              <a:srgbClr val="9AA7BE"/>
            </a:solidFill>
            <a:prstDash val="solid"/>
          </a:ln>
        </p:spPr>
      </p:sp>
      <p:sp>
        <p:nvSpPr>
          <p:cNvPr id="21" name="Text 15"/>
          <p:cNvSpPr txBox="1"/>
          <p:nvPr/>
        </p:nvSpPr>
        <p:spPr>
          <a:xfrm>
            <a:off x="900684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home screen: uptime, voltage,</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ChUtil — the health dashboard</a:t>
            </a:r>
            <a:endParaRPr lang="en-US" sz="900" dirty="0"/>
          </a:p>
        </p:txBody>
      </p:sp>
      <p:sp>
        <p:nvSpPr>
          <p:cNvPr id="22" name="Shape 16"/>
          <p:cNvSpPr/>
          <p:nvPr/>
        </p:nvSpPr>
        <p:spPr>
          <a:xfrm>
            <a:off x="640080" y="4983480"/>
            <a:ext cx="11155680" cy="1051560"/>
          </a:xfrm>
          <a:prstGeom prst="rect">
            <a:avLst/>
          </a:prstGeom>
          <a:solidFill>
            <a:srgbClr val="F2F5FA"/>
          </a:solidFill>
          <a:ln w="12700">
            <a:solidFill>
              <a:srgbClr val="9AA7BE"/>
            </a:solidFill>
            <a:prstDash val="solid"/>
          </a:ln>
        </p:spPr>
      </p:sp>
      <p:sp>
        <p:nvSpPr>
          <p:cNvPr id="23" name="Text 17"/>
          <p:cNvSpPr txBox="1"/>
          <p:nvPr/>
        </p:nvSpPr>
        <p:spPr>
          <a:xfrm>
            <a:off x="868680" y="5074920"/>
            <a:ext cx="10698480" cy="868680"/>
          </a:xfrm>
          <a:prstGeom prst="rect">
            <a:avLst/>
          </a:prstGeom>
          <a:noFill/>
          <a:ln/>
        </p:spPr>
        <p:txBody>
          <a:bodyPr wrap="square" lIns="0" tIns="0" rIns="0" bIns="0" rtlCol="0" anchor="ctr"/>
          <a:lstStyle/>
          <a:p>
            <a:pPr indent="0" marL="0">
              <a:spcAft>
                <a:spcPts val="400"/>
              </a:spcAft>
              <a:buNone/>
            </a:pPr>
            <a:r>
              <a:rPr lang="en-US" sz="1050" b="1" dirty="0">
                <a:solidFill>
                  <a:srgbClr val="D9488C"/>
                </a:solidFill>
                <a:latin typeface="Courier New" pitchFamily="34" charset="0"/>
                <a:ea typeface="Courier New" pitchFamily="34" charset="-122"/>
                <a:cs typeface="Courier New" pitchFamily="34" charset="-120"/>
              </a:rPr>
              <a:t>TEST DISCIPLINE THAT FOUND EVERY BUG THIS WEEK   </a:t>
            </a:r>
            <a:endParaRPr lang="en-US" sz="1050" dirty="0"/>
          </a:p>
          <a:p>
            <a:pPr indent="0" marL="0">
              <a:buNone/>
            </a:pPr>
            <a:r>
              <a:rPr lang="en-US" sz="1150" dirty="0">
                <a:solidFill>
                  <a:srgbClr val="222A3F"/>
                </a:solidFill>
                <a:latin typeface="Arial" pitchFamily="34" charset="0"/>
                <a:ea typeface="Arial" pitchFamily="34" charset="-122"/>
                <a:cs typeface="Arial" pitchFamily="34" charset="-120"/>
              </a:rPr>
              <a:t>change one variable per trial · verify writes with a read-back, then with the OLED · prefer machine-checkable probes (traceroute, node DB dumps) over eyeballs · log every NAK — errors localize faults better than successes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CONFIGURATION + 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12/12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AS-BUILT CONFIGURATION AND REFERENCES</a:t>
            </a:r>
            <a:endParaRPr lang="en-US" sz="2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155680" cy="914400"/>
        </p:xfrm>
        <a:graphic>
          <a:graphicData uri="http://schemas.openxmlformats.org/drawingml/2006/table">
            <a:tbl>
              <a:tblPr/>
              <a:tblGrid>
                <a:gridCol w="2286000"/>
                <a:gridCol w="3291840"/>
                <a:gridCol w="2560320"/>
                <a:gridCol w="3017520"/>
              </a:tblGrid>
              <a:tr h="384048">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BOTH RADIOS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BOTH RADIOS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channel / slot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Group9 · 43 · 912.875 MHz</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gps_update_interval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10 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preset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LONG_FAST (SF11/250k/4:5)</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smart broadcast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10 s AND 20 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tx_power / region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+30 dBm · US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telemetry heartbeat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300 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role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CLIENT_MUTE (2-node)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position precision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32 bit (full)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bluetooth (SF only)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NO_PIN, for display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canned messages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15-preset chain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548640" y="3520440"/>
            <a:ext cx="11155680" cy="320040"/>
          </a:xfrm>
          <a:prstGeom prst="rect">
            <a:avLst/>
          </a:prstGeom>
          <a:noFill/>
          <a:ln/>
        </p:spPr>
        <p:txBody>
          <a:bodyPr wrap="square" lIns="0" tIns="0" rIns="0" bIns="0" rtlCol="0" anchor="ctr"/>
          <a:lstStyle/>
          <a:p>
            <a:pPr indent="0" marL="0">
              <a:buNone/>
            </a:pPr>
            <a:r>
              <a:rPr lang="en-US" sz="1100" dirty="0">
                <a:solidFill>
                  <a:srgbClr val="5E6B85"/>
                </a:solidFill>
                <a:latin typeface="Arial" pitchFamily="34" charset="0"/>
                <a:ea typeface="Arial" pitchFamily="34" charset="-122"/>
                <a:cs typeface="Arial" pitchFamily="34" charset="-120"/>
              </a:rPr>
              <a:t>Every value --get verified after its write AND cross-checked on the OLED. Full recipe + gotcha log: hardware/README.md (7 commits this week).</a:t>
            </a:r>
            <a:endParaRPr lang="en-US" sz="1100" dirty="0"/>
          </a:p>
        </p:txBody>
      </p:sp>
      <p:sp>
        <p:nvSpPr>
          <p:cNvPr id="12" name="Text 9">
            <a:hlinkClick r:id="rId1" tooltip=""/>
          </p:cNvPr>
          <p:cNvSpPr txBox="1"/>
          <p:nvPr/>
        </p:nvSpPr>
        <p:spPr>
          <a:xfrm>
            <a:off x="548640" y="3977640"/>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[1] Semtech SX1262 Datasheet rev 2.2 — sensitivity, SNR floors, PA limits</a:t>
            </a:r>
            <a:endParaRPr lang="en-US" sz="1000" dirty="0"/>
          </a:p>
        </p:txBody>
      </p:sp>
      <p:sp>
        <p:nvSpPr>
          <p:cNvPr id="13" name="Text 10">
            <a:hlinkClick r:id="rId2" tooltip=""/>
          </p:cNvPr>
          <p:cNvSpPr txBox="1"/>
          <p:nvPr/>
        </p:nvSpPr>
        <p:spPr>
          <a:xfrm>
            <a:off x="548640" y="4242816"/>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[2] Meshtastic docs — Channels &amp; frequency slot calculation</a:t>
            </a:r>
            <a:endParaRPr lang="en-US" sz="1000" dirty="0"/>
          </a:p>
        </p:txBody>
      </p:sp>
      <p:sp>
        <p:nvSpPr>
          <p:cNvPr id="14" name="Text 11">
            <a:hlinkClick r:id="rId3" tooltip=""/>
          </p:cNvPr>
          <p:cNvSpPr txBox="1"/>
          <p:nvPr/>
        </p:nvSpPr>
        <p:spPr>
          <a:xfrm>
            <a:off x="548640" y="4507992"/>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[3] Meshtastic docs — Mesh broadcast algorithm (flood, CSMA, hop limit)</a:t>
            </a:r>
            <a:endParaRPr lang="en-US" sz="1000" dirty="0"/>
          </a:p>
        </p:txBody>
      </p:sp>
      <p:sp>
        <p:nvSpPr>
          <p:cNvPr id="15" name="Text 12">
            <a:hlinkClick r:id="rId4" tooltip=""/>
          </p:cNvPr>
          <p:cNvSpPr txBox="1"/>
          <p:nvPr/>
        </p:nvSpPr>
        <p:spPr>
          <a:xfrm>
            <a:off x="548640" y="4773168"/>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[4] Meshtastic docs — Device roles (CLIENT / CLIENT_MUTE)</a:t>
            </a:r>
            <a:endParaRPr lang="en-US" sz="1000" dirty="0"/>
          </a:p>
        </p:txBody>
      </p:sp>
      <p:sp>
        <p:nvSpPr>
          <p:cNvPr id="16" name="Text 13">
            <a:hlinkClick r:id="rId5" tooltip=""/>
          </p:cNvPr>
          <p:cNvSpPr txBox="1"/>
          <p:nvPr/>
        </p:nvSpPr>
        <p:spPr>
          <a:xfrm>
            <a:off x="548640" y="5038344"/>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[5] Meshtastic docs — Telemetry module &amp; intervals</a:t>
            </a:r>
            <a:endParaRPr lang="en-US" sz="1000" dirty="0"/>
          </a:p>
        </p:txBody>
      </p:sp>
      <p:sp>
        <p:nvSpPr>
          <p:cNvPr id="17" name="Text 14">
            <a:hlinkClick r:id="rId6" tooltip=""/>
          </p:cNvPr>
          <p:cNvSpPr txBox="1"/>
          <p:nvPr/>
        </p:nvSpPr>
        <p:spPr>
          <a:xfrm>
            <a:off x="548640" y="5303520"/>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[6] Meshtastic docs — Encryption: AES-256 channels, PKC direct messages</a:t>
            </a:r>
            <a:endParaRPr lang="en-US" sz="1000" dirty="0"/>
          </a:p>
        </p:txBody>
      </p:sp>
      <p:sp>
        <p:nvSpPr>
          <p:cNvPr id="18" name="Text 15">
            <a:hlinkClick r:id="rId7" tooltip=""/>
          </p:cNvPr>
          <p:cNvSpPr txBox="1"/>
          <p:nvPr/>
        </p:nvSpPr>
        <p:spPr>
          <a:xfrm>
            <a:off x="548640" y="5568696"/>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[7] Semtech AN1200.13 — LoRa modem time-on-air calculation</a:t>
            </a:r>
            <a:endParaRPr lang="en-US" sz="1000" dirty="0"/>
          </a:p>
        </p:txBody>
      </p:sp>
      <p:sp>
        <p:nvSpPr>
          <p:cNvPr id="19" name="Text 16">
            <a:hlinkClick r:id="rId8" tooltip=""/>
          </p:cNvPr>
          <p:cNvSpPr txBox="1"/>
          <p:nvPr/>
        </p:nvSpPr>
        <p:spPr>
          <a:xfrm>
            <a:off x="548640" y="5833872"/>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[8] 47 CFR § 15.247 — US 902–928 MHz ISM rules (Cornell LII)</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2026-09-25T19:40:34Z</dcterms:created>
  <dcterms:modified xsi:type="dcterms:W3CDTF">2026-09-25T19:40:34Z</dcterms:modified>
</cp:coreProperties>
</file>