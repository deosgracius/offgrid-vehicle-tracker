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01 (~45 s, whoever opens). One headline, deliver it standing still: on September 25 the two radios completed round-trip verification on our own private channel - the tracker's radio backbone exists. Then hand out the map: Deo explains what makes two radios able to talk at all and how the link forms; Victor shows the math that decides the frequency, the signal margin, and the airtime; Cannon runs the LIVE demo on the actual radios and explains how the testing was done; Josiah closes with the 3D-printed protection for the display. Do not preview details - every claim gets its own sheet. Total run target: 15 minutes plus demo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02 (Deo, ~2 min). Core idea to land: LoRa has no connection in the WiFi/Bluetooth sense - no pairing, no session, no negotiation. Two radios can talk exactly when they independently agree on three things: where to listen (frequency), how symbols are shaped (modulation), and how bytes are scrambled (encryption key). Say it as the slide does: agreement IS the connection. Walk the three rows and their proof column - each one was verified this week on our hardware, not assumed. Vocabulary to have ready: LoRa = long-range chirp modulation; SF11 = spreading factor 11, each bit spread over 2048 chips which buys sensitivity at the cost of speed; AES-256 = the standard symmetric cipher, the same key on both radios; SX1262 = the radio chip; +30 dBm = one full watt of transmit power. If asked how the radios got the same settings: both were provisioned from the same channel URL - a QR-style string that carries the channel name and key. Segue to sheet 03: matching settings make talking POSSIBLE - here is how the link actually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03 (Deo, ~2 min). The ladder is the whole acquisition story: announce, file, track, address. Emphasize there is no handshake - each radio just OVERHEARS the other's boot announcement (called NodeInfo) and starts bookkeeping: when it last heard the peer, and how strong. That bookkeeping is what the OLED's '1 online' counter reads. Step 4 nuance if asked: broadcasts (positions, channel texts) only need the shared channel key and work from the first packet; PRIVATE direct messages are encrypted per node with the public keys exchanged in step 1 - until that exchange happens a DM is refused with an error code, which we actually observed and used as a diagnostic. The code box is the milestone proof, real output: traceroute sends a request and requires the reply, so one command certifies both directions with signal-to-noise numbers per hop - 5.75 and 6.25 dB. Hand to Victor with: 'those dB numbers, the frequency, and what they buy us - that is Victor's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04 (Deo, ~90 s). Read the equation once in words: a node counts as online exactly when now minus its last-heard time is under 7200 seconds, two hours. That's it - no link state exists. Consequence one: a switched-off radio stays 'online' on the other screen for up to two hours, by design; in a broadcast mesh nothing distinguishes off from out-of-range except silence. Consequence two, the photo: if a STORED timestamp is stale, the counter lies the other way - our bench radio showed signal GOOD and 'heard 72 days ago' in the same breath, because a July record kept resurfacing. The cadence table is the cure and the design: positions every 10 seconds or 20 meters while driving - that IS the tracker experience - a gentler 60 seconds parked, and a 5-minute telemetry heartbeat always, added specifically so bench-idle radios keep re-stamping each other. Cost of the heartbeat if asked: one half-second packet per 5 minutes, about 0.17% of the channel. Timestamp vocabulary: epoch = seconds counted since Jan 1 1970.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05 (Victor, ~2 min). Read the equation left to right: start of the US band (902 MHz), plus half a channel width so the slot sits centered, plus the hash of the channel NAME times the channel width. 104 slots because the band is 26 MHz wide and each LONG_FAST channel takes 250 kHz. The hash is djb2 - the five lines in the code box are the complete algorithm. WHO IS BERNSTEIN (know this cold): Daniel J. Bernstein is a famous living cryptographer - a math professor in Chicago, known online as 'djb'. He is not part of our project or of Meshtastic; he published this tiny text-to-number recipe on Usenet in the 1990s and programmers named it djb2 after his initials. The same way engineers use Ohm's law without Ohm, software uses Bernstein's hash without Bernstein. Bonus tie-in: his OTHER famous invention, the Curve25519 encryption curve - used by WhatsApp and Signal - is what Meshtastic uses for private direct messages. Two parts of our stack, one mathematician, zero involvement. Calibration proof if challenged: the default channel name hashes to slot 19 = 906.875 MHz, the published US default - so the formula checks out against a known constant before we trust it for Group9 = 43 = 912.875. Close with the banner: this math is why a NAME mismatch is a FREQUENCY mismatch, which is exactly the failure we diagnosed and fixed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06 (Victor, ~2 min). Start with the bar: the red line is where SF11 stops decoding - minus 17.5 dB, meaning the signal can be 17.5 dB WEAKER than the noise and still come through. That is the superpower of chirp spread spectrum: each bit is spread over 2048 chips, and the receiver adds them back up coherently. Our measured 6 dB positive leaves 23.5 dB of headroom. Give the audience the conversion rule slowly: 6 dB of margin doubles free-space range - so 23.5 dB is roughly 2 to 4 doublings, which is how a boring desk measurement promises kilometers outside. The dB decoder box is for the room: dB is always a ratio (log scale, +3 is double, +10 is ten times), dBm pins that ratio to one milliwatt, SNR is how far the signal stands above the static. Right graph: transmit power +30 dBm (one watt) minus the -131 dBm sensitivity gives a 161 dB total budget; free-space alone would reach absurd distances, so we reserve 20 dB for buildings, terrain, and fading, landing on the honest 3-5 km design range. The W8-W9 drive data gets plotted onto this exact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07 (Victor, ~90 s). The equation first: symbol time is 2-to-the-SF divided by bandwidth - 8.19 milliseconds at our settings - and a packet is just a count of symbols times that, roughly half a second for a position. That makes airtime the scarce resource, and Meshtastic enforces it: above about 25% channel utilization it starts suppressing position broadcasts. Now the discovery from our own bench: two IDLE radios were burning 9-13% - because a flood mesh relays by default, and with exactly two nodes every relay is pure waste, there is no third radio to reach. Project the vehicle case: 10% of legitimate traffic becomes 20% with relaying - brushing the throttle right when both vehicles move. The fix costs nothing: CLIENT_MUTE role, radios still hear and send everything but repeat nothing; measured utilization halved same day. The revert condition is documented: a third node or relay joins, both radios go back to CLIENT. Hand off to Cannon: 'that is the theory and the numbers - Cannon shows you the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08 (Cannon, demo ~3 min). Bring both radios charged and already on. Choreography: hold SF up, press the user button to open the canned-message menu, scroll to 'Hi', send - then walk to RG (or have a teammate hold it) and show the message popping up, then flip RG to the Last-Heard screen and show SF's entry reading seconds ago. Narrate what is NOT there: no phone, no SIM, no tower, no internet - the text crossed on our private 912.875 MHz channel, encrypted with our key. If the room is RF-noisy or a send is missed, the slide's bench captures are the backstop - same screens, captured during the week's testing. Mention why canned messages exist: while driving nobody types; every question in the preset chain has its answer preset too (How are you? -&gt; All good / Need help; Are you injured? -&gt; Yes / No). Timing note: leave the radios visible for sheet 09, where we walk the rest of the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09 (Cannon, ~2-3 min with radios in hand). Walk the OLED screens in this order on a live radio - short-press the user button cycles pages: DISTANCE and BEARING - the tracker's core outputs, straight-line meters and compass direction to the partner; they show '?' indoors because geometry needs BOTH positions - say that plainly, it is honesty, not failure. POSITION - satellites, fix state, altitude. LAST HEARD - the liveness list Deo explained, now live. LORA - the contract sheet in hardware: preset, the actual synthesizer frequency (912.875 = our private slot; this screen is the truth-teller from Victor's math), and channel utilization. SYSTEM - firmware 2.7.26, identical on both radios, deliberately. TIME - GPS-disciplined; mention it also drives the timestamps behind 'online'. NODE PAGE - per-peer signal bars: RG's view of SF. If a screen looks different live than on the slide, better: the captures are from mid-debug week; the live radios are the fixed, final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10 (Cannon, ~2 min). This sheet is the credibility of everything before it: the link works because the testing was disciplined, not lucky. Walk the five techniques with their catches: changing ONE variable per trial is what finally isolated the frequency mismatch after config comparisons showed nothing; the A/B regression - dropping both radios to the known-good default channel - split the world in half in one test (hardware fine, our channel config guilty); machine-checkable probes (traceroute, node database dumps over USB) replaced squinting at screens and produced numbers we could commit; every configuration write got verified twice - read back over serial AND cross-checked on the OLED - because we caught writes silently reverting; and error codes were treated as evidence - a refusal that arrives BY RADIO proves the radio path even while the app layer says no. p95 explainer for the metrics box: the 95th percentile - all but the worst 5% of samples must beat the bar - so one bad sample cannot fake a pass, and one lucky one cannot hide a problem. Close: every gotcha is committed to the repo README, so none of them can bite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11 (Josiah, ~90 s). Open with the incident, one sentence: the first display arrived cracked and non-functional - that is why this exists, not cosmetics. Then the four rows: everything the firmware needs stays reachable (USB-C for flashing and logs, SD for future logging, the three board buttons via printed caps, battery bay and speaker open at the rear); the body is thermoplastic so it is invisible to the 2.4 GHz BLE link between display and radio; the model is an existing open design - 'Symmetrical case for the WaveShare ESP32-S3 4.2 inch RLCD' by the maker AWSW on Printables, model 1610004, licensed Creative Commons Attribution-NonCommercial, which our class use satisfies with exactly this credit; and the whole thing costs about a dollar of filament and one overnight print. Anticipate 'why not design our own?': validating a proven fit costs zero schedule; the license allows remixing later if the vehicle mount needs changes. RLCD if asked: reflective LCD - reads by ambient light, no backlight, hence sunlight-readable on a dash.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PREP - Sheet 12 (Josiah, ~90 s). Keep it brisk - five rows, one warning, one photo. Seven printed parts; the back is deliberately TWO pieces so the battery bay and speaker stay reachable without disassembly. Settings vocabulary, one breath each: 0.2 mm layers - each deposited slice a fifth of a millimeter, the strength/speed workhorse; organic supports - tree-shaped sacrificial scaffolding under overhangs, snapped off after; fuzzy skin - the nozzle deliberately jitters to texture the outer walls, hiding layer lines and adding grip; no brim - the helper skirt for bed adhesion isn't needed here. Material: PETG over PLA because a Texas dashboard exceeds PLA's roughly 60-degree softening point; PETG holds to about 80. Assembly is four moves ending in the ONE RULE row - the screw holes are in the display's own back, so 6 mm maximum length or the screws press the glass; this is the model author's own warning. Acceptance is measurable, same discipline as the radio sheets: no pressure on glass, everything usable, BLE within 2 dB of the bare panel, survives a 1-meter drop. Plan: the print runs the night the replacement panel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image" Target="../media/image-9-8.jp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WEEK 5 REVIEW</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01/12  REV F  2026-09-26</a:t>
            </a:r>
            <a:endParaRPr lang="en-US" sz="900" dirty="0"/>
          </a:p>
        </p:txBody>
      </p:sp>
      <p:sp>
        <p:nvSpPr>
          <p:cNvPr id="7" name="Shape 5"/>
          <p:cNvSpPr/>
          <p:nvPr/>
        </p:nvSpPr>
        <p:spPr>
          <a:xfrm>
            <a:off x="621792" y="146304"/>
            <a:ext cx="0" cy="6126480"/>
          </a:xfrm>
          <a:prstGeom prst="line">
            <a:avLst/>
          </a:prstGeom>
          <a:noFill/>
          <a:ln w="6350">
            <a:solidFill>
              <a:srgbClr val="E8EDF5"/>
            </a:solidFill>
            <a:prstDash val="solid"/>
          </a:ln>
        </p:spPr>
      </p:sp>
      <p:sp>
        <p:nvSpPr>
          <p:cNvPr id="8" name="Shape 6"/>
          <p:cNvSpPr/>
          <p:nvPr/>
        </p:nvSpPr>
        <p:spPr>
          <a:xfrm>
            <a:off x="1078992" y="146304"/>
            <a:ext cx="0" cy="6126480"/>
          </a:xfrm>
          <a:prstGeom prst="line">
            <a:avLst/>
          </a:prstGeom>
          <a:noFill/>
          <a:ln w="6350">
            <a:solidFill>
              <a:srgbClr val="E8EDF5"/>
            </a:solidFill>
            <a:prstDash val="solid"/>
          </a:ln>
        </p:spPr>
      </p:sp>
      <p:sp>
        <p:nvSpPr>
          <p:cNvPr id="9" name="Shape 7"/>
          <p:cNvSpPr/>
          <p:nvPr/>
        </p:nvSpPr>
        <p:spPr>
          <a:xfrm>
            <a:off x="1536192" y="146304"/>
            <a:ext cx="0" cy="6126480"/>
          </a:xfrm>
          <a:prstGeom prst="line">
            <a:avLst/>
          </a:prstGeom>
          <a:noFill/>
          <a:ln w="6350">
            <a:solidFill>
              <a:srgbClr val="E8EDF5"/>
            </a:solidFill>
            <a:prstDash val="solid"/>
          </a:ln>
        </p:spPr>
      </p:sp>
      <p:sp>
        <p:nvSpPr>
          <p:cNvPr id="10" name="Shape 8"/>
          <p:cNvSpPr/>
          <p:nvPr/>
        </p:nvSpPr>
        <p:spPr>
          <a:xfrm>
            <a:off x="1993392" y="146304"/>
            <a:ext cx="0" cy="6126480"/>
          </a:xfrm>
          <a:prstGeom prst="line">
            <a:avLst/>
          </a:prstGeom>
          <a:noFill/>
          <a:ln w="6350">
            <a:solidFill>
              <a:srgbClr val="E8EDF5"/>
            </a:solidFill>
            <a:prstDash val="solid"/>
          </a:ln>
        </p:spPr>
      </p:sp>
      <p:sp>
        <p:nvSpPr>
          <p:cNvPr id="11" name="Shape 9"/>
          <p:cNvSpPr/>
          <p:nvPr/>
        </p:nvSpPr>
        <p:spPr>
          <a:xfrm>
            <a:off x="2450592" y="146304"/>
            <a:ext cx="0" cy="6126480"/>
          </a:xfrm>
          <a:prstGeom prst="line">
            <a:avLst/>
          </a:prstGeom>
          <a:noFill/>
          <a:ln w="6350">
            <a:solidFill>
              <a:srgbClr val="E8EDF5"/>
            </a:solidFill>
            <a:prstDash val="solid"/>
          </a:ln>
        </p:spPr>
      </p:sp>
      <p:sp>
        <p:nvSpPr>
          <p:cNvPr id="12" name="Shape 10"/>
          <p:cNvSpPr/>
          <p:nvPr/>
        </p:nvSpPr>
        <p:spPr>
          <a:xfrm>
            <a:off x="2907792" y="146304"/>
            <a:ext cx="0" cy="6126480"/>
          </a:xfrm>
          <a:prstGeom prst="line">
            <a:avLst/>
          </a:prstGeom>
          <a:noFill/>
          <a:ln w="6350">
            <a:solidFill>
              <a:srgbClr val="E8EDF5"/>
            </a:solidFill>
            <a:prstDash val="solid"/>
          </a:ln>
        </p:spPr>
      </p:sp>
      <p:sp>
        <p:nvSpPr>
          <p:cNvPr id="13" name="Shape 11"/>
          <p:cNvSpPr/>
          <p:nvPr/>
        </p:nvSpPr>
        <p:spPr>
          <a:xfrm>
            <a:off x="3364992" y="146304"/>
            <a:ext cx="0" cy="6126480"/>
          </a:xfrm>
          <a:prstGeom prst="line">
            <a:avLst/>
          </a:prstGeom>
          <a:noFill/>
          <a:ln w="6350">
            <a:solidFill>
              <a:srgbClr val="E8EDF5"/>
            </a:solidFill>
            <a:prstDash val="solid"/>
          </a:ln>
        </p:spPr>
      </p:sp>
      <p:sp>
        <p:nvSpPr>
          <p:cNvPr id="14" name="Shape 12"/>
          <p:cNvSpPr/>
          <p:nvPr/>
        </p:nvSpPr>
        <p:spPr>
          <a:xfrm>
            <a:off x="3822192" y="146304"/>
            <a:ext cx="0" cy="6126480"/>
          </a:xfrm>
          <a:prstGeom prst="line">
            <a:avLst/>
          </a:prstGeom>
          <a:noFill/>
          <a:ln w="6350">
            <a:solidFill>
              <a:srgbClr val="E8EDF5"/>
            </a:solidFill>
            <a:prstDash val="solid"/>
          </a:ln>
        </p:spPr>
      </p:sp>
      <p:sp>
        <p:nvSpPr>
          <p:cNvPr id="15" name="Shape 13"/>
          <p:cNvSpPr/>
          <p:nvPr/>
        </p:nvSpPr>
        <p:spPr>
          <a:xfrm>
            <a:off x="4279392" y="146304"/>
            <a:ext cx="0" cy="6126480"/>
          </a:xfrm>
          <a:prstGeom prst="line">
            <a:avLst/>
          </a:prstGeom>
          <a:noFill/>
          <a:ln w="6350">
            <a:solidFill>
              <a:srgbClr val="E8EDF5"/>
            </a:solidFill>
            <a:prstDash val="solid"/>
          </a:ln>
        </p:spPr>
      </p:sp>
      <p:sp>
        <p:nvSpPr>
          <p:cNvPr id="16" name="Shape 14"/>
          <p:cNvSpPr/>
          <p:nvPr/>
        </p:nvSpPr>
        <p:spPr>
          <a:xfrm>
            <a:off x="4736592" y="146304"/>
            <a:ext cx="0" cy="6126480"/>
          </a:xfrm>
          <a:prstGeom prst="line">
            <a:avLst/>
          </a:prstGeom>
          <a:noFill/>
          <a:ln w="6350">
            <a:solidFill>
              <a:srgbClr val="E8EDF5"/>
            </a:solidFill>
            <a:prstDash val="solid"/>
          </a:ln>
        </p:spPr>
      </p:sp>
      <p:sp>
        <p:nvSpPr>
          <p:cNvPr id="17" name="Shape 15"/>
          <p:cNvSpPr/>
          <p:nvPr/>
        </p:nvSpPr>
        <p:spPr>
          <a:xfrm>
            <a:off x="5193792" y="146304"/>
            <a:ext cx="0" cy="6126480"/>
          </a:xfrm>
          <a:prstGeom prst="line">
            <a:avLst/>
          </a:prstGeom>
          <a:noFill/>
          <a:ln w="6350">
            <a:solidFill>
              <a:srgbClr val="E8EDF5"/>
            </a:solidFill>
            <a:prstDash val="solid"/>
          </a:ln>
        </p:spPr>
      </p:sp>
      <p:sp>
        <p:nvSpPr>
          <p:cNvPr id="18" name="Shape 16"/>
          <p:cNvSpPr/>
          <p:nvPr/>
        </p:nvSpPr>
        <p:spPr>
          <a:xfrm>
            <a:off x="5650992" y="146304"/>
            <a:ext cx="0" cy="6126480"/>
          </a:xfrm>
          <a:prstGeom prst="line">
            <a:avLst/>
          </a:prstGeom>
          <a:noFill/>
          <a:ln w="6350">
            <a:solidFill>
              <a:srgbClr val="E8EDF5"/>
            </a:solidFill>
            <a:prstDash val="solid"/>
          </a:ln>
        </p:spPr>
      </p:sp>
      <p:sp>
        <p:nvSpPr>
          <p:cNvPr id="19" name="Shape 17"/>
          <p:cNvSpPr/>
          <p:nvPr/>
        </p:nvSpPr>
        <p:spPr>
          <a:xfrm>
            <a:off x="6108192" y="146304"/>
            <a:ext cx="0" cy="6126480"/>
          </a:xfrm>
          <a:prstGeom prst="line">
            <a:avLst/>
          </a:prstGeom>
          <a:noFill/>
          <a:ln w="6350">
            <a:solidFill>
              <a:srgbClr val="E8EDF5"/>
            </a:solidFill>
            <a:prstDash val="solid"/>
          </a:ln>
        </p:spPr>
      </p:sp>
      <p:sp>
        <p:nvSpPr>
          <p:cNvPr id="20" name="Shape 18"/>
          <p:cNvSpPr/>
          <p:nvPr/>
        </p:nvSpPr>
        <p:spPr>
          <a:xfrm>
            <a:off x="6565392" y="146304"/>
            <a:ext cx="0" cy="6126480"/>
          </a:xfrm>
          <a:prstGeom prst="line">
            <a:avLst/>
          </a:prstGeom>
          <a:noFill/>
          <a:ln w="6350">
            <a:solidFill>
              <a:srgbClr val="E8EDF5"/>
            </a:solidFill>
            <a:prstDash val="solid"/>
          </a:ln>
        </p:spPr>
      </p:sp>
      <p:sp>
        <p:nvSpPr>
          <p:cNvPr id="21" name="Shape 19"/>
          <p:cNvSpPr/>
          <p:nvPr/>
        </p:nvSpPr>
        <p:spPr>
          <a:xfrm>
            <a:off x="7022592" y="146304"/>
            <a:ext cx="0" cy="6126480"/>
          </a:xfrm>
          <a:prstGeom prst="line">
            <a:avLst/>
          </a:prstGeom>
          <a:noFill/>
          <a:ln w="6350">
            <a:solidFill>
              <a:srgbClr val="E8EDF5"/>
            </a:solidFill>
            <a:prstDash val="solid"/>
          </a:ln>
        </p:spPr>
      </p:sp>
      <p:sp>
        <p:nvSpPr>
          <p:cNvPr id="22" name="Shape 20"/>
          <p:cNvSpPr/>
          <p:nvPr/>
        </p:nvSpPr>
        <p:spPr>
          <a:xfrm>
            <a:off x="7479792" y="146304"/>
            <a:ext cx="0" cy="6126480"/>
          </a:xfrm>
          <a:prstGeom prst="line">
            <a:avLst/>
          </a:prstGeom>
          <a:noFill/>
          <a:ln w="6350">
            <a:solidFill>
              <a:srgbClr val="E8EDF5"/>
            </a:solidFill>
            <a:prstDash val="solid"/>
          </a:ln>
        </p:spPr>
      </p:sp>
      <p:sp>
        <p:nvSpPr>
          <p:cNvPr id="23" name="Shape 21"/>
          <p:cNvSpPr/>
          <p:nvPr/>
        </p:nvSpPr>
        <p:spPr>
          <a:xfrm>
            <a:off x="7936992" y="146304"/>
            <a:ext cx="0" cy="6126480"/>
          </a:xfrm>
          <a:prstGeom prst="line">
            <a:avLst/>
          </a:prstGeom>
          <a:noFill/>
          <a:ln w="6350">
            <a:solidFill>
              <a:srgbClr val="E8EDF5"/>
            </a:solidFill>
            <a:prstDash val="solid"/>
          </a:ln>
        </p:spPr>
      </p:sp>
      <p:sp>
        <p:nvSpPr>
          <p:cNvPr id="24" name="Shape 22"/>
          <p:cNvSpPr/>
          <p:nvPr/>
        </p:nvSpPr>
        <p:spPr>
          <a:xfrm>
            <a:off x="8394192" y="146304"/>
            <a:ext cx="0" cy="6126480"/>
          </a:xfrm>
          <a:prstGeom prst="line">
            <a:avLst/>
          </a:prstGeom>
          <a:noFill/>
          <a:ln w="6350">
            <a:solidFill>
              <a:srgbClr val="E8EDF5"/>
            </a:solidFill>
            <a:prstDash val="solid"/>
          </a:ln>
        </p:spPr>
      </p:sp>
      <p:sp>
        <p:nvSpPr>
          <p:cNvPr id="25" name="Shape 23"/>
          <p:cNvSpPr/>
          <p:nvPr/>
        </p:nvSpPr>
        <p:spPr>
          <a:xfrm>
            <a:off x="8851392" y="146304"/>
            <a:ext cx="0" cy="6126480"/>
          </a:xfrm>
          <a:prstGeom prst="line">
            <a:avLst/>
          </a:prstGeom>
          <a:noFill/>
          <a:ln w="6350">
            <a:solidFill>
              <a:srgbClr val="E8EDF5"/>
            </a:solidFill>
            <a:prstDash val="solid"/>
          </a:ln>
        </p:spPr>
      </p:sp>
      <p:sp>
        <p:nvSpPr>
          <p:cNvPr id="26" name="Shape 24"/>
          <p:cNvSpPr/>
          <p:nvPr/>
        </p:nvSpPr>
        <p:spPr>
          <a:xfrm>
            <a:off x="9308592" y="146304"/>
            <a:ext cx="0" cy="6126480"/>
          </a:xfrm>
          <a:prstGeom prst="line">
            <a:avLst/>
          </a:prstGeom>
          <a:noFill/>
          <a:ln w="6350">
            <a:solidFill>
              <a:srgbClr val="E8EDF5"/>
            </a:solidFill>
            <a:prstDash val="solid"/>
          </a:ln>
        </p:spPr>
      </p:sp>
      <p:sp>
        <p:nvSpPr>
          <p:cNvPr id="27" name="Shape 25"/>
          <p:cNvSpPr/>
          <p:nvPr/>
        </p:nvSpPr>
        <p:spPr>
          <a:xfrm>
            <a:off x="9765792" y="146304"/>
            <a:ext cx="0" cy="6126480"/>
          </a:xfrm>
          <a:prstGeom prst="line">
            <a:avLst/>
          </a:prstGeom>
          <a:noFill/>
          <a:ln w="6350">
            <a:solidFill>
              <a:srgbClr val="E8EDF5"/>
            </a:solidFill>
            <a:prstDash val="solid"/>
          </a:ln>
        </p:spPr>
      </p:sp>
      <p:sp>
        <p:nvSpPr>
          <p:cNvPr id="28" name="Shape 26"/>
          <p:cNvSpPr/>
          <p:nvPr/>
        </p:nvSpPr>
        <p:spPr>
          <a:xfrm>
            <a:off x="10222992" y="146304"/>
            <a:ext cx="0" cy="6126480"/>
          </a:xfrm>
          <a:prstGeom prst="line">
            <a:avLst/>
          </a:prstGeom>
          <a:noFill/>
          <a:ln w="6350">
            <a:solidFill>
              <a:srgbClr val="E8EDF5"/>
            </a:solidFill>
            <a:prstDash val="solid"/>
          </a:ln>
        </p:spPr>
      </p:sp>
      <p:sp>
        <p:nvSpPr>
          <p:cNvPr id="29" name="Shape 27"/>
          <p:cNvSpPr/>
          <p:nvPr/>
        </p:nvSpPr>
        <p:spPr>
          <a:xfrm>
            <a:off x="10680192" y="146304"/>
            <a:ext cx="0" cy="6126480"/>
          </a:xfrm>
          <a:prstGeom prst="line">
            <a:avLst/>
          </a:prstGeom>
          <a:noFill/>
          <a:ln w="6350">
            <a:solidFill>
              <a:srgbClr val="E8EDF5"/>
            </a:solidFill>
            <a:prstDash val="solid"/>
          </a:ln>
        </p:spPr>
      </p:sp>
      <p:sp>
        <p:nvSpPr>
          <p:cNvPr id="30" name="Shape 28"/>
          <p:cNvSpPr/>
          <p:nvPr/>
        </p:nvSpPr>
        <p:spPr>
          <a:xfrm>
            <a:off x="11137392" y="146304"/>
            <a:ext cx="0" cy="6126480"/>
          </a:xfrm>
          <a:prstGeom prst="line">
            <a:avLst/>
          </a:prstGeom>
          <a:noFill/>
          <a:ln w="6350">
            <a:solidFill>
              <a:srgbClr val="E8EDF5"/>
            </a:solidFill>
            <a:prstDash val="solid"/>
          </a:ln>
        </p:spPr>
      </p:sp>
      <p:sp>
        <p:nvSpPr>
          <p:cNvPr id="31" name="Shape 29"/>
          <p:cNvSpPr/>
          <p:nvPr/>
        </p:nvSpPr>
        <p:spPr>
          <a:xfrm>
            <a:off x="11594592" y="146304"/>
            <a:ext cx="0" cy="6126480"/>
          </a:xfrm>
          <a:prstGeom prst="line">
            <a:avLst/>
          </a:prstGeom>
          <a:noFill/>
          <a:ln w="6350">
            <a:solidFill>
              <a:srgbClr val="E8EDF5"/>
            </a:solidFill>
            <a:prstDash val="solid"/>
          </a:ln>
        </p:spPr>
      </p:sp>
      <p:sp>
        <p:nvSpPr>
          <p:cNvPr id="32" name="Shape 30"/>
          <p:cNvSpPr/>
          <p:nvPr/>
        </p:nvSpPr>
        <p:spPr>
          <a:xfrm>
            <a:off x="164592" y="603504"/>
            <a:ext cx="11859768" cy="0"/>
          </a:xfrm>
          <a:prstGeom prst="line">
            <a:avLst/>
          </a:prstGeom>
          <a:noFill/>
          <a:ln w="6350">
            <a:solidFill>
              <a:srgbClr val="E8EDF5"/>
            </a:solidFill>
            <a:prstDash val="solid"/>
          </a:ln>
        </p:spPr>
      </p:sp>
      <p:sp>
        <p:nvSpPr>
          <p:cNvPr id="33" name="Shape 31"/>
          <p:cNvSpPr/>
          <p:nvPr/>
        </p:nvSpPr>
        <p:spPr>
          <a:xfrm>
            <a:off x="164592" y="1060704"/>
            <a:ext cx="11859768" cy="0"/>
          </a:xfrm>
          <a:prstGeom prst="line">
            <a:avLst/>
          </a:prstGeom>
          <a:noFill/>
          <a:ln w="6350">
            <a:solidFill>
              <a:srgbClr val="E8EDF5"/>
            </a:solidFill>
            <a:prstDash val="solid"/>
          </a:ln>
        </p:spPr>
      </p:sp>
      <p:sp>
        <p:nvSpPr>
          <p:cNvPr id="34" name="Shape 32"/>
          <p:cNvSpPr/>
          <p:nvPr/>
        </p:nvSpPr>
        <p:spPr>
          <a:xfrm>
            <a:off x="164592" y="1517904"/>
            <a:ext cx="11859768" cy="0"/>
          </a:xfrm>
          <a:prstGeom prst="line">
            <a:avLst/>
          </a:prstGeom>
          <a:noFill/>
          <a:ln w="6350">
            <a:solidFill>
              <a:srgbClr val="E8EDF5"/>
            </a:solidFill>
            <a:prstDash val="solid"/>
          </a:ln>
        </p:spPr>
      </p:sp>
      <p:sp>
        <p:nvSpPr>
          <p:cNvPr id="35" name="Shape 33"/>
          <p:cNvSpPr/>
          <p:nvPr/>
        </p:nvSpPr>
        <p:spPr>
          <a:xfrm>
            <a:off x="164592" y="1975104"/>
            <a:ext cx="11859768" cy="0"/>
          </a:xfrm>
          <a:prstGeom prst="line">
            <a:avLst/>
          </a:prstGeom>
          <a:noFill/>
          <a:ln w="6350">
            <a:solidFill>
              <a:srgbClr val="E8EDF5"/>
            </a:solidFill>
            <a:prstDash val="solid"/>
          </a:ln>
        </p:spPr>
      </p:sp>
      <p:sp>
        <p:nvSpPr>
          <p:cNvPr id="36" name="Shape 34"/>
          <p:cNvSpPr/>
          <p:nvPr/>
        </p:nvSpPr>
        <p:spPr>
          <a:xfrm>
            <a:off x="164592" y="2432304"/>
            <a:ext cx="11859768" cy="0"/>
          </a:xfrm>
          <a:prstGeom prst="line">
            <a:avLst/>
          </a:prstGeom>
          <a:noFill/>
          <a:ln w="6350">
            <a:solidFill>
              <a:srgbClr val="E8EDF5"/>
            </a:solidFill>
            <a:prstDash val="solid"/>
          </a:ln>
        </p:spPr>
      </p:sp>
      <p:sp>
        <p:nvSpPr>
          <p:cNvPr id="37" name="Shape 35"/>
          <p:cNvSpPr/>
          <p:nvPr/>
        </p:nvSpPr>
        <p:spPr>
          <a:xfrm>
            <a:off x="164592" y="2889504"/>
            <a:ext cx="11859768" cy="0"/>
          </a:xfrm>
          <a:prstGeom prst="line">
            <a:avLst/>
          </a:prstGeom>
          <a:noFill/>
          <a:ln w="6350">
            <a:solidFill>
              <a:srgbClr val="E8EDF5"/>
            </a:solidFill>
            <a:prstDash val="solid"/>
          </a:ln>
        </p:spPr>
      </p:sp>
      <p:sp>
        <p:nvSpPr>
          <p:cNvPr id="38" name="Shape 36"/>
          <p:cNvSpPr/>
          <p:nvPr/>
        </p:nvSpPr>
        <p:spPr>
          <a:xfrm>
            <a:off x="164592" y="3346704"/>
            <a:ext cx="11859768" cy="0"/>
          </a:xfrm>
          <a:prstGeom prst="line">
            <a:avLst/>
          </a:prstGeom>
          <a:noFill/>
          <a:ln w="6350">
            <a:solidFill>
              <a:srgbClr val="E8EDF5"/>
            </a:solidFill>
            <a:prstDash val="solid"/>
          </a:ln>
        </p:spPr>
      </p:sp>
      <p:sp>
        <p:nvSpPr>
          <p:cNvPr id="39" name="Shape 37"/>
          <p:cNvSpPr/>
          <p:nvPr/>
        </p:nvSpPr>
        <p:spPr>
          <a:xfrm>
            <a:off x="164592" y="3803904"/>
            <a:ext cx="11859768" cy="0"/>
          </a:xfrm>
          <a:prstGeom prst="line">
            <a:avLst/>
          </a:prstGeom>
          <a:noFill/>
          <a:ln w="6350">
            <a:solidFill>
              <a:srgbClr val="E8EDF5"/>
            </a:solidFill>
            <a:prstDash val="solid"/>
          </a:ln>
        </p:spPr>
      </p:sp>
      <p:sp>
        <p:nvSpPr>
          <p:cNvPr id="40" name="Shape 38"/>
          <p:cNvSpPr/>
          <p:nvPr/>
        </p:nvSpPr>
        <p:spPr>
          <a:xfrm>
            <a:off x="164592" y="4261104"/>
            <a:ext cx="11859768" cy="0"/>
          </a:xfrm>
          <a:prstGeom prst="line">
            <a:avLst/>
          </a:prstGeom>
          <a:noFill/>
          <a:ln w="6350">
            <a:solidFill>
              <a:srgbClr val="E8EDF5"/>
            </a:solidFill>
            <a:prstDash val="solid"/>
          </a:ln>
        </p:spPr>
      </p:sp>
      <p:sp>
        <p:nvSpPr>
          <p:cNvPr id="41" name="Shape 39"/>
          <p:cNvSpPr/>
          <p:nvPr/>
        </p:nvSpPr>
        <p:spPr>
          <a:xfrm>
            <a:off x="164592" y="4718304"/>
            <a:ext cx="11859768" cy="0"/>
          </a:xfrm>
          <a:prstGeom prst="line">
            <a:avLst/>
          </a:prstGeom>
          <a:noFill/>
          <a:ln w="6350">
            <a:solidFill>
              <a:srgbClr val="E8EDF5"/>
            </a:solidFill>
            <a:prstDash val="solid"/>
          </a:ln>
        </p:spPr>
      </p:sp>
      <p:sp>
        <p:nvSpPr>
          <p:cNvPr id="42" name="Shape 40"/>
          <p:cNvSpPr/>
          <p:nvPr/>
        </p:nvSpPr>
        <p:spPr>
          <a:xfrm>
            <a:off x="164592" y="5175504"/>
            <a:ext cx="11859768" cy="0"/>
          </a:xfrm>
          <a:prstGeom prst="line">
            <a:avLst/>
          </a:prstGeom>
          <a:noFill/>
          <a:ln w="6350">
            <a:solidFill>
              <a:srgbClr val="E8EDF5"/>
            </a:solidFill>
            <a:prstDash val="solid"/>
          </a:ln>
        </p:spPr>
      </p:sp>
      <p:sp>
        <p:nvSpPr>
          <p:cNvPr id="43" name="Shape 41"/>
          <p:cNvSpPr/>
          <p:nvPr/>
        </p:nvSpPr>
        <p:spPr>
          <a:xfrm>
            <a:off x="164592" y="5632704"/>
            <a:ext cx="11859768" cy="0"/>
          </a:xfrm>
          <a:prstGeom prst="line">
            <a:avLst/>
          </a:prstGeom>
          <a:noFill/>
          <a:ln w="6350">
            <a:solidFill>
              <a:srgbClr val="E8EDF5"/>
            </a:solidFill>
            <a:prstDash val="solid"/>
          </a:ln>
        </p:spPr>
      </p:sp>
      <p:sp>
        <p:nvSpPr>
          <p:cNvPr id="44" name="Shape 42"/>
          <p:cNvSpPr/>
          <p:nvPr/>
        </p:nvSpPr>
        <p:spPr>
          <a:xfrm>
            <a:off x="164592" y="6089904"/>
            <a:ext cx="11859768" cy="0"/>
          </a:xfrm>
          <a:prstGeom prst="line">
            <a:avLst/>
          </a:prstGeom>
          <a:noFill/>
          <a:ln w="6350">
            <a:solidFill>
              <a:srgbClr val="E8EDF5"/>
            </a:solidFill>
            <a:prstDash val="solid"/>
          </a:ln>
        </p:spPr>
      </p:sp>
      <p:sp>
        <p:nvSpPr>
          <p:cNvPr id="45" name="Text 43"/>
          <p:cNvSpPr txBox="1"/>
          <p:nvPr/>
        </p:nvSpPr>
        <p:spPr>
          <a:xfrm>
            <a:off x="640080" y="1234440"/>
            <a:ext cx="10881360" cy="822960"/>
          </a:xfrm>
          <a:prstGeom prst="rect">
            <a:avLst/>
          </a:prstGeom>
          <a:noFill/>
          <a:ln/>
        </p:spPr>
        <p:txBody>
          <a:bodyPr wrap="square" lIns="0" tIns="0" rIns="0" bIns="0" rtlCol="0" anchor="ctr"/>
          <a:lstStyle/>
          <a:p>
            <a:pPr indent="0" marL="0">
              <a:buNone/>
            </a:pPr>
            <a:r>
              <a:rPr lang="en-US" sz="4600" b="1" spc="300" kern="0" dirty="0">
                <a:solidFill>
                  <a:srgbClr val="16213D"/>
                </a:solidFill>
                <a:latin typeface="Arial" pitchFamily="34" charset="0"/>
                <a:ea typeface="Arial" pitchFamily="34" charset="-122"/>
                <a:cs typeface="Arial" pitchFamily="34" charset="-120"/>
              </a:rPr>
              <a:t>LOCKING THE LINK</a:t>
            </a:r>
            <a:endParaRPr lang="en-US" sz="4600" dirty="0"/>
          </a:p>
        </p:txBody>
      </p:sp>
      <p:sp>
        <p:nvSpPr>
          <p:cNvPr id="46" name="Text 44"/>
          <p:cNvSpPr txBox="1"/>
          <p:nvPr/>
        </p:nvSpPr>
        <p:spPr>
          <a:xfrm>
            <a:off x="658368" y="2103120"/>
            <a:ext cx="10881360" cy="411480"/>
          </a:xfrm>
          <a:prstGeom prst="rect">
            <a:avLst/>
          </a:prstGeom>
          <a:noFill/>
          <a:ln/>
        </p:spPr>
        <p:txBody>
          <a:bodyPr wrap="square" lIns="0" tIns="0" rIns="0" bIns="0" rtlCol="0" anchor="ctr"/>
          <a:lstStyle/>
          <a:p>
            <a:pPr indent="0" marL="0">
              <a:buNone/>
            </a:pPr>
            <a:r>
              <a:rPr lang="en-US" sz="1800" b="1" spc="100" kern="0" dirty="0">
                <a:solidFill>
                  <a:srgbClr val="E58E1A"/>
                </a:solidFill>
                <a:latin typeface="Arial" pitchFamily="34" charset="0"/>
                <a:ea typeface="Arial" pitchFamily="34" charset="-122"/>
                <a:cs typeface="Arial" pitchFamily="34" charset="-120"/>
              </a:rPr>
              <a:t>HOW OUR TWO RADIOS TALK TO EACH OTHER</a:t>
            </a:r>
            <a:endParaRPr lang="en-US" sz="1800" dirty="0"/>
          </a:p>
        </p:txBody>
      </p:sp>
      <p:sp>
        <p:nvSpPr>
          <p:cNvPr id="47" name="Text 45"/>
          <p:cNvSpPr txBox="1"/>
          <p:nvPr/>
        </p:nvSpPr>
        <p:spPr>
          <a:xfrm>
            <a:off x="658368" y="2697480"/>
            <a:ext cx="7589520" cy="365760"/>
          </a:xfrm>
          <a:prstGeom prst="rect">
            <a:avLst/>
          </a:prstGeom>
          <a:noFill/>
          <a:ln/>
        </p:spPr>
        <p:txBody>
          <a:bodyPr wrap="square" lIns="0" tIns="0" rIns="0" bIns="0" rtlCol="0" anchor="ctr"/>
          <a:lstStyle/>
          <a:p>
            <a:pPr indent="0" marL="0">
              <a:buNone/>
            </a:pPr>
            <a:r>
              <a:rPr lang="en-US" sz="1350" dirty="0">
                <a:solidFill>
                  <a:srgbClr val="222A3F"/>
                </a:solidFill>
                <a:latin typeface="Arial" pitchFamily="34" charset="0"/>
                <a:ea typeface="Arial" pitchFamily="34" charset="-122"/>
                <a:cs typeface="Arial" pitchFamily="34" charset="-120"/>
              </a:rPr>
              <a:t>2026-09-25: round-trip radio link established and verified on the private Group9 channel.</a:t>
            </a:r>
            <a:endParaRPr lang="en-US" sz="1350" dirty="0"/>
          </a:p>
        </p:txBody>
      </p:sp>
      <p:sp>
        <p:nvSpPr>
          <p:cNvPr id="48" name="Shape 46"/>
          <p:cNvSpPr/>
          <p:nvPr/>
        </p:nvSpPr>
        <p:spPr>
          <a:xfrm>
            <a:off x="658368" y="3429000"/>
            <a:ext cx="7589520" cy="475488"/>
          </a:xfrm>
          <a:prstGeom prst="rect">
            <a:avLst/>
          </a:prstGeom>
          <a:solidFill>
            <a:srgbClr val="FFFFFF"/>
          </a:solidFill>
          <a:ln w="9525">
            <a:solidFill>
              <a:srgbClr val="9AA7BE"/>
            </a:solidFill>
            <a:prstDash val="solid"/>
          </a:ln>
        </p:spPr>
      </p:sp>
      <p:sp>
        <p:nvSpPr>
          <p:cNvPr id="49" name="Text 47"/>
          <p:cNvSpPr txBox="1"/>
          <p:nvPr/>
        </p:nvSpPr>
        <p:spPr>
          <a:xfrm>
            <a:off x="868680" y="3474720"/>
            <a:ext cx="7223760" cy="384048"/>
          </a:xfrm>
          <a:prstGeom prst="rect">
            <a:avLst/>
          </a:prstGeom>
          <a:noFill/>
          <a:ln/>
        </p:spPr>
        <p:txBody>
          <a:bodyPr wrap="square" lIns="0" tIns="0" rIns="0" bIns="0" rtlCol="0" anchor="ctr"/>
          <a:lstStyle/>
          <a:p>
            <a:pPr indent="0" marL="0">
              <a:buNone/>
            </a:pPr>
            <a:r>
              <a:rPr lang="en-US" sz="1250" b="1" dirty="0">
                <a:solidFill>
                  <a:srgbClr val="E58E1A"/>
                </a:solidFill>
                <a:latin typeface="Courier New" pitchFamily="34" charset="0"/>
                <a:ea typeface="Courier New" pitchFamily="34" charset="-122"/>
                <a:cs typeface="Courier New" pitchFamily="34" charset="-120"/>
              </a:rPr>
              <a:t>02–04  </a:t>
            </a:r>
            <a:pPr indent="0" marL="0">
              <a:buNone/>
            </a:pPr>
            <a:r>
              <a:rPr lang="en-US" sz="1250" b="1" dirty="0">
                <a:solidFill>
                  <a:srgbClr val="1199BD"/>
                </a:solidFill>
                <a:latin typeface="Courier New" pitchFamily="34" charset="0"/>
                <a:ea typeface="Courier New" pitchFamily="34" charset="-122"/>
                <a:cs typeface="Courier New" pitchFamily="34" charset="-120"/>
              </a:rPr>
              <a:t>DEO  </a:t>
            </a:r>
            <a:pPr indent="0" marL="0">
              <a:buNone/>
            </a:pPr>
            <a:r>
              <a:rPr lang="en-US" sz="1250" dirty="0">
                <a:solidFill>
                  <a:srgbClr val="222A3F"/>
                </a:solidFill>
                <a:latin typeface="Arial" pitchFamily="34" charset="0"/>
                <a:ea typeface="Arial" pitchFamily="34" charset="-122"/>
                <a:cs typeface="Arial" pitchFamily="34" charset="-120"/>
              </a:rPr>
              <a:t>what makes it possible, and how the link happens</a:t>
            </a:r>
            <a:endParaRPr lang="en-US" sz="1250" dirty="0"/>
          </a:p>
        </p:txBody>
      </p:sp>
      <p:sp>
        <p:nvSpPr>
          <p:cNvPr id="50" name="Shape 48"/>
          <p:cNvSpPr/>
          <p:nvPr/>
        </p:nvSpPr>
        <p:spPr>
          <a:xfrm>
            <a:off x="658368" y="3995928"/>
            <a:ext cx="7589520" cy="475488"/>
          </a:xfrm>
          <a:prstGeom prst="rect">
            <a:avLst/>
          </a:prstGeom>
          <a:solidFill>
            <a:srgbClr val="F2F5FA"/>
          </a:solidFill>
          <a:ln w="9525">
            <a:solidFill>
              <a:srgbClr val="9AA7BE"/>
            </a:solidFill>
            <a:prstDash val="solid"/>
          </a:ln>
        </p:spPr>
      </p:sp>
      <p:sp>
        <p:nvSpPr>
          <p:cNvPr id="51" name="Text 49"/>
          <p:cNvSpPr txBox="1"/>
          <p:nvPr/>
        </p:nvSpPr>
        <p:spPr>
          <a:xfrm>
            <a:off x="868680" y="4041648"/>
            <a:ext cx="7223760" cy="384048"/>
          </a:xfrm>
          <a:prstGeom prst="rect">
            <a:avLst/>
          </a:prstGeom>
          <a:noFill/>
          <a:ln/>
        </p:spPr>
        <p:txBody>
          <a:bodyPr wrap="square" lIns="0" tIns="0" rIns="0" bIns="0" rtlCol="0" anchor="ctr"/>
          <a:lstStyle/>
          <a:p>
            <a:pPr indent="0" marL="0">
              <a:buNone/>
            </a:pPr>
            <a:r>
              <a:rPr lang="en-US" sz="1250" b="1" dirty="0">
                <a:solidFill>
                  <a:srgbClr val="E58E1A"/>
                </a:solidFill>
                <a:latin typeface="Courier New" pitchFamily="34" charset="0"/>
                <a:ea typeface="Courier New" pitchFamily="34" charset="-122"/>
                <a:cs typeface="Courier New" pitchFamily="34" charset="-120"/>
              </a:rPr>
              <a:t>05–07  </a:t>
            </a:r>
            <a:pPr indent="0" marL="0">
              <a:buNone/>
            </a:pPr>
            <a:r>
              <a:rPr lang="en-US" sz="1250" b="1" dirty="0">
                <a:solidFill>
                  <a:srgbClr val="E58E1A"/>
                </a:solidFill>
                <a:latin typeface="Courier New" pitchFamily="34" charset="0"/>
                <a:ea typeface="Courier New" pitchFamily="34" charset="-122"/>
                <a:cs typeface="Courier New" pitchFamily="34" charset="-120"/>
              </a:rPr>
              <a:t>VICTOR  </a:t>
            </a:r>
            <a:pPr indent="0" marL="0">
              <a:buNone/>
            </a:pPr>
            <a:r>
              <a:rPr lang="en-US" sz="1250" dirty="0">
                <a:solidFill>
                  <a:srgbClr val="222A3F"/>
                </a:solidFill>
                <a:latin typeface="Arial" pitchFamily="34" charset="0"/>
                <a:ea typeface="Arial" pitchFamily="34" charset="-122"/>
                <a:cs typeface="Arial" pitchFamily="34" charset="-120"/>
              </a:rPr>
              <a:t>the math: frequency, signal margin, airtime</a:t>
            </a:r>
            <a:endParaRPr lang="en-US" sz="1250" dirty="0"/>
          </a:p>
        </p:txBody>
      </p:sp>
      <p:sp>
        <p:nvSpPr>
          <p:cNvPr id="52" name="Shape 50"/>
          <p:cNvSpPr/>
          <p:nvPr/>
        </p:nvSpPr>
        <p:spPr>
          <a:xfrm>
            <a:off x="658368" y="4562856"/>
            <a:ext cx="7589520" cy="475488"/>
          </a:xfrm>
          <a:prstGeom prst="rect">
            <a:avLst/>
          </a:prstGeom>
          <a:solidFill>
            <a:srgbClr val="FFFFFF"/>
          </a:solidFill>
          <a:ln w="9525">
            <a:solidFill>
              <a:srgbClr val="9AA7BE"/>
            </a:solidFill>
            <a:prstDash val="solid"/>
          </a:ln>
        </p:spPr>
      </p:sp>
      <p:sp>
        <p:nvSpPr>
          <p:cNvPr id="53" name="Text 51"/>
          <p:cNvSpPr txBox="1"/>
          <p:nvPr/>
        </p:nvSpPr>
        <p:spPr>
          <a:xfrm>
            <a:off x="868680" y="4608576"/>
            <a:ext cx="7223760" cy="384048"/>
          </a:xfrm>
          <a:prstGeom prst="rect">
            <a:avLst/>
          </a:prstGeom>
          <a:noFill/>
          <a:ln/>
        </p:spPr>
        <p:txBody>
          <a:bodyPr wrap="square" lIns="0" tIns="0" rIns="0" bIns="0" rtlCol="0" anchor="ctr"/>
          <a:lstStyle/>
          <a:p>
            <a:pPr indent="0" marL="0">
              <a:buNone/>
            </a:pPr>
            <a:r>
              <a:rPr lang="en-US" sz="1250" b="1" dirty="0">
                <a:solidFill>
                  <a:srgbClr val="E58E1A"/>
                </a:solidFill>
                <a:latin typeface="Courier New" pitchFamily="34" charset="0"/>
                <a:ea typeface="Courier New" pitchFamily="34" charset="-122"/>
                <a:cs typeface="Courier New" pitchFamily="34" charset="-120"/>
              </a:rPr>
              <a:t>08–10  </a:t>
            </a:r>
            <a:pPr indent="0" marL="0">
              <a:buNone/>
            </a:pPr>
            <a:r>
              <a:rPr lang="en-US" sz="1250" b="1" dirty="0">
                <a:solidFill>
                  <a:srgbClr val="D9488C"/>
                </a:solidFill>
                <a:latin typeface="Courier New" pitchFamily="34" charset="0"/>
                <a:ea typeface="Courier New" pitchFamily="34" charset="-122"/>
                <a:cs typeface="Courier New" pitchFamily="34" charset="-120"/>
              </a:rPr>
              <a:t>CANNON  </a:t>
            </a:r>
            <a:pPr indent="0" marL="0">
              <a:buNone/>
            </a:pPr>
            <a:r>
              <a:rPr lang="en-US" sz="1250" dirty="0">
                <a:solidFill>
                  <a:srgbClr val="222A3F"/>
                </a:solidFill>
                <a:latin typeface="Arial" pitchFamily="34" charset="0"/>
                <a:ea typeface="Arial" pitchFamily="34" charset="-122"/>
                <a:cs typeface="Arial" pitchFamily="34" charset="-120"/>
              </a:rPr>
              <a:t>live demo on the radios + how we tested</a:t>
            </a:r>
            <a:endParaRPr lang="en-US" sz="1250" dirty="0"/>
          </a:p>
        </p:txBody>
      </p:sp>
      <p:sp>
        <p:nvSpPr>
          <p:cNvPr id="54" name="Shape 52"/>
          <p:cNvSpPr/>
          <p:nvPr/>
        </p:nvSpPr>
        <p:spPr>
          <a:xfrm>
            <a:off x="658368" y="5129784"/>
            <a:ext cx="7589520" cy="475488"/>
          </a:xfrm>
          <a:prstGeom prst="rect">
            <a:avLst/>
          </a:prstGeom>
          <a:solidFill>
            <a:srgbClr val="F2F5FA"/>
          </a:solidFill>
          <a:ln w="9525">
            <a:solidFill>
              <a:srgbClr val="9AA7BE"/>
            </a:solidFill>
            <a:prstDash val="solid"/>
          </a:ln>
        </p:spPr>
      </p:sp>
      <p:sp>
        <p:nvSpPr>
          <p:cNvPr id="55" name="Text 53"/>
          <p:cNvSpPr txBox="1"/>
          <p:nvPr/>
        </p:nvSpPr>
        <p:spPr>
          <a:xfrm>
            <a:off x="868680" y="5175504"/>
            <a:ext cx="7223760" cy="384048"/>
          </a:xfrm>
          <a:prstGeom prst="rect">
            <a:avLst/>
          </a:prstGeom>
          <a:noFill/>
          <a:ln/>
        </p:spPr>
        <p:txBody>
          <a:bodyPr wrap="square" lIns="0" tIns="0" rIns="0" bIns="0" rtlCol="0" anchor="ctr"/>
          <a:lstStyle/>
          <a:p>
            <a:pPr indent="0" marL="0">
              <a:buNone/>
            </a:pPr>
            <a:r>
              <a:rPr lang="en-US" sz="1250" b="1" dirty="0">
                <a:solidFill>
                  <a:srgbClr val="E58E1A"/>
                </a:solidFill>
                <a:latin typeface="Courier New" pitchFamily="34" charset="0"/>
                <a:ea typeface="Courier New" pitchFamily="34" charset="-122"/>
                <a:cs typeface="Courier New" pitchFamily="34" charset="-120"/>
              </a:rPr>
              <a:t>11–12  </a:t>
            </a:r>
            <a:pPr indent="0" marL="0">
              <a:buNone/>
            </a:pPr>
            <a:r>
              <a:rPr lang="en-US" sz="1250" b="1" dirty="0">
                <a:solidFill>
                  <a:srgbClr val="6D4BDB"/>
                </a:solidFill>
                <a:latin typeface="Courier New" pitchFamily="34" charset="0"/>
                <a:ea typeface="Courier New" pitchFamily="34" charset="-122"/>
                <a:cs typeface="Courier New" pitchFamily="34" charset="-120"/>
              </a:rPr>
              <a:t>JOSIAH  </a:t>
            </a:r>
            <a:pPr indent="0" marL="0">
              <a:buNone/>
            </a:pPr>
            <a:r>
              <a:rPr lang="en-US" sz="1250" dirty="0">
                <a:solidFill>
                  <a:srgbClr val="222A3F"/>
                </a:solidFill>
                <a:latin typeface="Arial" pitchFamily="34" charset="0"/>
                <a:ea typeface="Arial" pitchFamily="34" charset="-122"/>
                <a:cs typeface="Arial" pitchFamily="34" charset="-120"/>
              </a:rPr>
              <a:t>3D-printed armor for the display</a:t>
            </a:r>
            <a:endParaRPr lang="en-US" sz="1250" dirty="0"/>
          </a:p>
        </p:txBody>
      </p:sp>
      <p:sp>
        <p:nvSpPr>
          <p:cNvPr id="56" name="Shape 54"/>
          <p:cNvSpPr/>
          <p:nvPr/>
        </p:nvSpPr>
        <p:spPr>
          <a:xfrm>
            <a:off x="8732520" y="3017520"/>
            <a:ext cx="3017520" cy="2743200"/>
          </a:xfrm>
          <a:prstGeom prst="rect">
            <a:avLst/>
          </a:prstGeom>
          <a:solidFill>
            <a:srgbClr val="FFFFFF"/>
          </a:solidFill>
          <a:ln w="15875">
            <a:solidFill>
              <a:srgbClr val="16213D"/>
            </a:solidFill>
            <a:prstDash val="solid"/>
          </a:ln>
        </p:spPr>
      </p:sp>
      <p:sp>
        <p:nvSpPr>
          <p:cNvPr id="57" name="Text 55"/>
          <p:cNvSpPr txBox="1"/>
          <p:nvPr/>
        </p:nvSpPr>
        <p:spPr>
          <a:xfrm>
            <a:off x="8869680" y="3081528"/>
            <a:ext cx="146304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PROJECT</a:t>
            </a:r>
            <a:endParaRPr lang="en-US" sz="900" dirty="0"/>
          </a:p>
        </p:txBody>
      </p:sp>
      <p:sp>
        <p:nvSpPr>
          <p:cNvPr id="58" name="Text 56"/>
          <p:cNvSpPr txBox="1"/>
          <p:nvPr/>
        </p:nvSpPr>
        <p:spPr>
          <a:xfrm>
            <a:off x="8869680" y="330098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Off-Grid Vehicle Tracker</a:t>
            </a:r>
            <a:endParaRPr lang="en-US" sz="1050" dirty="0"/>
          </a:p>
        </p:txBody>
      </p:sp>
      <p:sp>
        <p:nvSpPr>
          <p:cNvPr id="59" name="Shape 57"/>
          <p:cNvSpPr/>
          <p:nvPr/>
        </p:nvSpPr>
        <p:spPr>
          <a:xfrm>
            <a:off x="8732520" y="3575304"/>
            <a:ext cx="3017520" cy="0"/>
          </a:xfrm>
          <a:prstGeom prst="line">
            <a:avLst/>
          </a:prstGeom>
          <a:noFill/>
          <a:ln w="9525">
            <a:solidFill>
              <a:srgbClr val="9AA7BE"/>
            </a:solidFill>
            <a:prstDash val="solid"/>
          </a:ln>
        </p:spPr>
      </p:sp>
      <p:sp>
        <p:nvSpPr>
          <p:cNvPr id="60" name="Text 58"/>
          <p:cNvSpPr txBox="1"/>
          <p:nvPr/>
        </p:nvSpPr>
        <p:spPr>
          <a:xfrm>
            <a:off x="8869680" y="3607308"/>
            <a:ext cx="146304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SPONSOR</a:t>
            </a:r>
            <a:endParaRPr lang="en-US" sz="900" dirty="0"/>
          </a:p>
        </p:txBody>
      </p:sp>
      <p:sp>
        <p:nvSpPr>
          <p:cNvPr id="61" name="Text 59"/>
          <p:cNvSpPr txBox="1"/>
          <p:nvPr/>
        </p:nvSpPr>
        <p:spPr>
          <a:xfrm>
            <a:off x="8869680" y="382676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Dr. Richard Gale</a:t>
            </a:r>
            <a:endParaRPr lang="en-US" sz="1050" dirty="0"/>
          </a:p>
        </p:txBody>
      </p:sp>
      <p:sp>
        <p:nvSpPr>
          <p:cNvPr id="62" name="Shape 60"/>
          <p:cNvSpPr/>
          <p:nvPr/>
        </p:nvSpPr>
        <p:spPr>
          <a:xfrm>
            <a:off x="8732520" y="4101084"/>
            <a:ext cx="3017520" cy="0"/>
          </a:xfrm>
          <a:prstGeom prst="line">
            <a:avLst/>
          </a:prstGeom>
          <a:noFill/>
          <a:ln w="9525">
            <a:solidFill>
              <a:srgbClr val="9AA7BE"/>
            </a:solidFill>
            <a:prstDash val="solid"/>
          </a:ln>
        </p:spPr>
      </p:sp>
      <p:sp>
        <p:nvSpPr>
          <p:cNvPr id="63" name="Text 61"/>
          <p:cNvSpPr txBox="1"/>
          <p:nvPr/>
        </p:nvSpPr>
        <p:spPr>
          <a:xfrm>
            <a:off x="8869680" y="4133088"/>
            <a:ext cx="146304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MILESTONE</a:t>
            </a:r>
            <a:endParaRPr lang="en-US" sz="900" dirty="0"/>
          </a:p>
        </p:txBody>
      </p:sp>
      <p:sp>
        <p:nvSpPr>
          <p:cNvPr id="64" name="Text 62"/>
          <p:cNvSpPr txBox="1"/>
          <p:nvPr/>
        </p:nvSpPr>
        <p:spPr>
          <a:xfrm>
            <a:off x="8869680" y="4352544"/>
            <a:ext cx="2788920" cy="274320"/>
          </a:xfrm>
          <a:prstGeom prst="rect">
            <a:avLst/>
          </a:prstGeom>
          <a:noFill/>
          <a:ln/>
        </p:spPr>
        <p:txBody>
          <a:bodyPr wrap="square" lIns="0" tIns="0" rIns="0" bIns="0" rtlCol="0" anchor="ctr"/>
          <a:lstStyle/>
          <a:p>
            <a:pPr indent="0" marL="0">
              <a:buNone/>
            </a:pPr>
            <a:r>
              <a:rPr lang="en-US" sz="1050" b="1" dirty="0">
                <a:solidFill>
                  <a:srgbClr val="1F9D68"/>
                </a:solidFill>
                <a:latin typeface="Arial" pitchFamily="34" charset="0"/>
                <a:ea typeface="Arial" pitchFamily="34" charset="-122"/>
                <a:cs typeface="Arial" pitchFamily="34" charset="-120"/>
              </a:rPr>
              <a:t>Radio link ESTABLISHED</a:t>
            </a:r>
            <a:endParaRPr lang="en-US" sz="1050" dirty="0"/>
          </a:p>
        </p:txBody>
      </p:sp>
      <p:sp>
        <p:nvSpPr>
          <p:cNvPr id="65" name="Shape 63"/>
          <p:cNvSpPr/>
          <p:nvPr/>
        </p:nvSpPr>
        <p:spPr>
          <a:xfrm>
            <a:off x="8732520" y="4626864"/>
            <a:ext cx="3017520" cy="0"/>
          </a:xfrm>
          <a:prstGeom prst="line">
            <a:avLst/>
          </a:prstGeom>
          <a:noFill/>
          <a:ln w="9525">
            <a:solidFill>
              <a:srgbClr val="9AA7BE"/>
            </a:solidFill>
            <a:prstDash val="solid"/>
          </a:ln>
        </p:spPr>
      </p:sp>
      <p:sp>
        <p:nvSpPr>
          <p:cNvPr id="66" name="Text 64"/>
          <p:cNvSpPr txBox="1"/>
          <p:nvPr/>
        </p:nvSpPr>
        <p:spPr>
          <a:xfrm>
            <a:off x="8869680" y="4658868"/>
            <a:ext cx="146304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HOURS</a:t>
            </a:r>
            <a:endParaRPr lang="en-US" sz="900" dirty="0"/>
          </a:p>
        </p:txBody>
      </p:sp>
      <p:sp>
        <p:nvSpPr>
          <p:cNvPr id="67" name="Text 65"/>
          <p:cNvSpPr txBox="1"/>
          <p:nvPr/>
        </p:nvSpPr>
        <p:spPr>
          <a:xfrm>
            <a:off x="8869680" y="487832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218 of 768 logged</a:t>
            </a:r>
            <a:endParaRPr lang="en-US" sz="1050" dirty="0"/>
          </a:p>
        </p:txBody>
      </p:sp>
      <p:sp>
        <p:nvSpPr>
          <p:cNvPr id="68" name="Shape 66"/>
          <p:cNvSpPr/>
          <p:nvPr/>
        </p:nvSpPr>
        <p:spPr>
          <a:xfrm>
            <a:off x="8732520" y="5152644"/>
            <a:ext cx="3017520" cy="0"/>
          </a:xfrm>
          <a:prstGeom prst="line">
            <a:avLst/>
          </a:prstGeom>
          <a:noFill/>
          <a:ln w="9525">
            <a:solidFill>
              <a:srgbClr val="9AA7BE"/>
            </a:solidFill>
            <a:prstDash val="solid"/>
          </a:ln>
        </p:spPr>
      </p:sp>
      <p:sp>
        <p:nvSpPr>
          <p:cNvPr id="69" name="Text 67"/>
          <p:cNvSpPr txBox="1"/>
          <p:nvPr/>
        </p:nvSpPr>
        <p:spPr>
          <a:xfrm>
            <a:off x="8869680" y="5184648"/>
            <a:ext cx="146304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DATE</a:t>
            </a:r>
            <a:endParaRPr lang="en-US" sz="900" dirty="0"/>
          </a:p>
        </p:txBody>
      </p:sp>
      <p:sp>
        <p:nvSpPr>
          <p:cNvPr id="70" name="Text 68"/>
          <p:cNvSpPr txBox="1"/>
          <p:nvPr/>
        </p:nvSpPr>
        <p:spPr>
          <a:xfrm>
            <a:off x="8869680" y="540410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2026-09-26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WHAT MAKES IT POSSIBLE</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02/12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WHAT MAKES TWO RADIOS ABLE TO TALK</a:t>
            </a:r>
            <a:endParaRPr lang="en-US" sz="2300" dirty="0"/>
          </a:p>
        </p:txBody>
      </p:sp>
      <p:sp>
        <p:nvSpPr>
          <p:cNvPr id="10" name="Shape 8"/>
          <p:cNvSpPr/>
          <p:nvPr/>
        </p:nvSpPr>
        <p:spPr>
          <a:xfrm>
            <a:off x="640080" y="1325880"/>
            <a:ext cx="3017520" cy="1920240"/>
          </a:xfrm>
          <a:prstGeom prst="rect">
            <a:avLst/>
          </a:prstGeom>
          <a:solidFill>
            <a:srgbClr val="F2F5FA"/>
          </a:solidFill>
          <a:ln w="19050">
            <a:solidFill>
              <a:srgbClr val="16213D"/>
            </a:solidFill>
            <a:prstDash val="solid"/>
          </a:ln>
        </p:spPr>
      </p:sp>
      <p:sp>
        <p:nvSpPr>
          <p:cNvPr id="11" name="Text 9"/>
          <p:cNvSpPr txBox="1"/>
          <p:nvPr/>
        </p:nvSpPr>
        <p:spPr>
          <a:xfrm>
            <a:off x="640080" y="1417320"/>
            <a:ext cx="3017520" cy="292608"/>
          </a:xfrm>
          <a:prstGeom prst="rect">
            <a:avLst/>
          </a:prstGeom>
          <a:noFill/>
          <a:ln/>
        </p:spPr>
        <p:txBody>
          <a:bodyPr wrap="square" lIns="0" tIns="0" rIns="0" bIns="0" rtlCol="0" anchor="ctr"/>
          <a:lstStyle/>
          <a:p>
            <a:pPr algn="ctr" indent="0" marL="0">
              <a:buNone/>
            </a:pPr>
            <a:r>
              <a:rPr lang="en-US" sz="1300" b="1" dirty="0">
                <a:solidFill>
                  <a:srgbClr val="16213D"/>
                </a:solidFill>
                <a:latin typeface="Courier New" pitchFamily="34" charset="0"/>
                <a:ea typeface="Courier New" pitchFamily="34" charset="-122"/>
                <a:cs typeface="Courier New" pitchFamily="34" charset="-120"/>
              </a:rPr>
              <a:t>RADIO “SF”</a:t>
            </a:r>
            <a:endParaRPr lang="en-US" sz="1300" dirty="0"/>
          </a:p>
        </p:txBody>
      </p:sp>
      <p:sp>
        <p:nvSpPr>
          <p:cNvPr id="12" name="Text 10"/>
          <p:cNvSpPr txBox="1"/>
          <p:nvPr/>
        </p:nvSpPr>
        <p:spPr>
          <a:xfrm>
            <a:off x="868680" y="1783080"/>
            <a:ext cx="2651760" cy="365760"/>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GPS  </a:t>
            </a:r>
            <a:pPr indent="0" marL="0">
              <a:buNone/>
            </a:pPr>
            <a:r>
              <a:rPr lang="en-US" sz="1050" dirty="0">
                <a:solidFill>
                  <a:srgbClr val="222A3F"/>
                </a:solidFill>
                <a:latin typeface="Arial" pitchFamily="34" charset="0"/>
                <a:ea typeface="Arial" pitchFamily="34" charset="-122"/>
                <a:cs typeface="Arial" pitchFamily="34" charset="-120"/>
              </a:rPr>
              <a:t>own position, 10 s</a:t>
            </a:r>
            <a:endParaRPr lang="en-US" sz="1000" dirty="0"/>
          </a:p>
        </p:txBody>
      </p:sp>
      <p:sp>
        <p:nvSpPr>
          <p:cNvPr id="13" name="Text 11"/>
          <p:cNvSpPr txBox="1"/>
          <p:nvPr/>
        </p:nvSpPr>
        <p:spPr>
          <a:xfrm>
            <a:off x="868680" y="2240280"/>
            <a:ext cx="2651760" cy="365760"/>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Meshtastic  </a:t>
            </a:r>
            <a:pPr indent="0" marL="0">
              <a:buNone/>
            </a:pPr>
            <a:r>
              <a:rPr lang="en-US" sz="1050" dirty="0">
                <a:solidFill>
                  <a:srgbClr val="222A3F"/>
                </a:solidFill>
                <a:latin typeface="Arial" pitchFamily="34" charset="0"/>
                <a:ea typeface="Arial" pitchFamily="34" charset="-122"/>
                <a:cs typeface="Arial" pitchFamily="34" charset="-120"/>
              </a:rPr>
              <a:t>ESP32 + firmware</a:t>
            </a:r>
            <a:endParaRPr lang="en-US" sz="1000" dirty="0"/>
          </a:p>
        </p:txBody>
      </p:sp>
      <p:sp>
        <p:nvSpPr>
          <p:cNvPr id="14" name="Text 12"/>
          <p:cNvSpPr txBox="1"/>
          <p:nvPr/>
        </p:nvSpPr>
        <p:spPr>
          <a:xfrm>
            <a:off x="868680" y="2697480"/>
            <a:ext cx="2651760" cy="365760"/>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LoRa radio  </a:t>
            </a:r>
            <a:pPr indent="0" marL="0">
              <a:buNone/>
            </a:pPr>
            <a:r>
              <a:rPr lang="en-US" sz="1050" dirty="0">
                <a:solidFill>
                  <a:srgbClr val="222A3F"/>
                </a:solidFill>
                <a:latin typeface="Arial" pitchFamily="34" charset="0"/>
                <a:ea typeface="Arial" pitchFamily="34" charset="-122"/>
                <a:cs typeface="Arial" pitchFamily="34" charset="-120"/>
              </a:rPr>
              <a:t>SX1262, +30 dBm</a:t>
            </a:r>
            <a:endParaRPr lang="en-US" sz="1000" dirty="0"/>
          </a:p>
        </p:txBody>
      </p:sp>
      <p:sp>
        <p:nvSpPr>
          <p:cNvPr id="15" name="Shape 13"/>
          <p:cNvSpPr/>
          <p:nvPr/>
        </p:nvSpPr>
        <p:spPr>
          <a:xfrm>
            <a:off x="8503920" y="1325880"/>
            <a:ext cx="3017520" cy="1920240"/>
          </a:xfrm>
          <a:prstGeom prst="rect">
            <a:avLst/>
          </a:prstGeom>
          <a:solidFill>
            <a:srgbClr val="F2F5FA"/>
          </a:solidFill>
          <a:ln w="19050">
            <a:solidFill>
              <a:srgbClr val="16213D"/>
            </a:solidFill>
            <a:prstDash val="solid"/>
          </a:ln>
        </p:spPr>
      </p:sp>
      <p:sp>
        <p:nvSpPr>
          <p:cNvPr id="16" name="Text 14"/>
          <p:cNvSpPr txBox="1"/>
          <p:nvPr/>
        </p:nvSpPr>
        <p:spPr>
          <a:xfrm>
            <a:off x="8503920" y="1417320"/>
            <a:ext cx="3017520" cy="292608"/>
          </a:xfrm>
          <a:prstGeom prst="rect">
            <a:avLst/>
          </a:prstGeom>
          <a:noFill/>
          <a:ln/>
        </p:spPr>
        <p:txBody>
          <a:bodyPr wrap="square" lIns="0" tIns="0" rIns="0" bIns="0" rtlCol="0" anchor="ctr"/>
          <a:lstStyle/>
          <a:p>
            <a:pPr algn="ctr" indent="0" marL="0">
              <a:buNone/>
            </a:pPr>
            <a:r>
              <a:rPr lang="en-US" sz="1300" b="1" dirty="0">
                <a:solidFill>
                  <a:srgbClr val="16213D"/>
                </a:solidFill>
                <a:latin typeface="Courier New" pitchFamily="34" charset="0"/>
                <a:ea typeface="Courier New" pitchFamily="34" charset="-122"/>
                <a:cs typeface="Courier New" pitchFamily="34" charset="-120"/>
              </a:rPr>
              <a:t>RADIO “RG”</a:t>
            </a:r>
            <a:endParaRPr lang="en-US" sz="1300" dirty="0"/>
          </a:p>
        </p:txBody>
      </p:sp>
      <p:sp>
        <p:nvSpPr>
          <p:cNvPr id="17" name="Text 15"/>
          <p:cNvSpPr txBox="1"/>
          <p:nvPr/>
        </p:nvSpPr>
        <p:spPr>
          <a:xfrm>
            <a:off x="8732520" y="1783080"/>
            <a:ext cx="2651760" cy="365760"/>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GPS  </a:t>
            </a:r>
            <a:pPr indent="0" marL="0">
              <a:buNone/>
            </a:pPr>
            <a:r>
              <a:rPr lang="en-US" sz="1050" dirty="0">
                <a:solidFill>
                  <a:srgbClr val="222A3F"/>
                </a:solidFill>
                <a:latin typeface="Arial" pitchFamily="34" charset="0"/>
                <a:ea typeface="Arial" pitchFamily="34" charset="-122"/>
                <a:cs typeface="Arial" pitchFamily="34" charset="-120"/>
              </a:rPr>
              <a:t>own position, 10 s</a:t>
            </a:r>
            <a:endParaRPr lang="en-US" sz="1000" dirty="0"/>
          </a:p>
        </p:txBody>
      </p:sp>
      <p:sp>
        <p:nvSpPr>
          <p:cNvPr id="18" name="Text 16"/>
          <p:cNvSpPr txBox="1"/>
          <p:nvPr/>
        </p:nvSpPr>
        <p:spPr>
          <a:xfrm>
            <a:off x="8732520" y="2240280"/>
            <a:ext cx="2651760" cy="365760"/>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Meshtastic  </a:t>
            </a:r>
            <a:pPr indent="0" marL="0">
              <a:buNone/>
            </a:pPr>
            <a:r>
              <a:rPr lang="en-US" sz="1050" dirty="0">
                <a:solidFill>
                  <a:srgbClr val="222A3F"/>
                </a:solidFill>
                <a:latin typeface="Arial" pitchFamily="34" charset="0"/>
                <a:ea typeface="Arial" pitchFamily="34" charset="-122"/>
                <a:cs typeface="Arial" pitchFamily="34" charset="-120"/>
              </a:rPr>
              <a:t>ESP32 + firmware</a:t>
            </a:r>
            <a:endParaRPr lang="en-US" sz="1000" dirty="0"/>
          </a:p>
        </p:txBody>
      </p:sp>
      <p:sp>
        <p:nvSpPr>
          <p:cNvPr id="19" name="Text 17"/>
          <p:cNvSpPr txBox="1"/>
          <p:nvPr/>
        </p:nvSpPr>
        <p:spPr>
          <a:xfrm>
            <a:off x="8732520" y="2697480"/>
            <a:ext cx="2651760" cy="365760"/>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LoRa radio  </a:t>
            </a:r>
            <a:pPr indent="0" marL="0">
              <a:buNone/>
            </a:pPr>
            <a:r>
              <a:rPr lang="en-US" sz="1050" dirty="0">
                <a:solidFill>
                  <a:srgbClr val="222A3F"/>
                </a:solidFill>
                <a:latin typeface="Arial" pitchFamily="34" charset="0"/>
                <a:ea typeface="Arial" pitchFamily="34" charset="-122"/>
                <a:cs typeface="Arial" pitchFamily="34" charset="-120"/>
              </a:rPr>
              <a:t>SX1262, +30 dBm</a:t>
            </a:r>
            <a:endParaRPr lang="en-US" sz="1000" dirty="0"/>
          </a:p>
        </p:txBody>
      </p:sp>
      <p:sp>
        <p:nvSpPr>
          <p:cNvPr id="20" name="Shape 18"/>
          <p:cNvSpPr/>
          <p:nvPr/>
        </p:nvSpPr>
        <p:spPr>
          <a:xfrm>
            <a:off x="4023360" y="1508760"/>
            <a:ext cx="4114800" cy="1554480"/>
          </a:xfrm>
          <a:prstGeom prst="rect">
            <a:avLst/>
          </a:prstGeom>
          <a:solidFill>
            <a:srgbClr val="FFFFFF"/>
          </a:solidFill>
          <a:ln w="19050">
            <a:solidFill>
              <a:srgbClr val="E58E1A"/>
            </a:solidFill>
            <a:prstDash val="dash"/>
          </a:ln>
        </p:spPr>
      </p:sp>
      <p:sp>
        <p:nvSpPr>
          <p:cNvPr id="21" name="Text 19"/>
          <p:cNvSpPr txBox="1"/>
          <p:nvPr/>
        </p:nvSpPr>
        <p:spPr>
          <a:xfrm>
            <a:off x="4206240" y="1645920"/>
            <a:ext cx="3749040" cy="1325880"/>
          </a:xfrm>
          <a:prstGeom prst="rect">
            <a:avLst/>
          </a:prstGeom>
          <a:noFill/>
          <a:ln/>
        </p:spPr>
        <p:txBody>
          <a:bodyPr wrap="square" lIns="0" tIns="0" rIns="0" bIns="0" rtlCol="0" anchor="ctr"/>
          <a:lstStyle/>
          <a:p>
            <a:pPr indent="0" marL="0">
              <a:spcAft>
                <a:spcPts val="400"/>
              </a:spcAft>
              <a:buNone/>
            </a:pPr>
            <a:r>
              <a:rPr lang="en-US" sz="1050" b="1" dirty="0">
                <a:solidFill>
                  <a:srgbClr val="E58E1A"/>
                </a:solidFill>
                <a:latin typeface="Courier New" pitchFamily="34" charset="0"/>
                <a:ea typeface="Courier New" pitchFamily="34" charset="-122"/>
                <a:cs typeface="Courier New" pitchFamily="34" charset="-120"/>
              </a:rPr>
              <a:t>NO WIRES. NO TOWERS. NO PAIRING.</a:t>
            </a:r>
            <a:endParaRPr lang="en-US" sz="1050" dirty="0"/>
          </a:p>
          <a:p>
            <a:pPr indent="0" marL="0">
              <a:buNone/>
            </a:pPr>
            <a:r>
              <a:rPr lang="en-US" sz="1150" dirty="0">
                <a:solidFill>
                  <a:srgbClr val="222A3F"/>
                </a:solidFill>
                <a:latin typeface="Arial" pitchFamily="34" charset="0"/>
                <a:ea typeface="Arial" pitchFamily="34" charset="-122"/>
                <a:cs typeface="Arial" pitchFamily="34" charset="-120"/>
              </a:rPr>
              <a:t>Both radios independently tune the same frequency, speak the same modulation, and hold the same key. Agreement IS the connection.</a:t>
            </a:r>
            <a:endParaRPr lang="en-US" sz="1050" dirty="0"/>
          </a:p>
        </p:txBody>
      </p:sp>
      <p:sp>
        <p:nvSpPr>
          <p:cNvPr id="22" name="Shape 20"/>
          <p:cNvSpPr/>
          <p:nvPr/>
        </p:nvSpPr>
        <p:spPr>
          <a:xfrm>
            <a:off x="3657600" y="2286000"/>
            <a:ext cx="365760" cy="0"/>
          </a:xfrm>
          <a:prstGeom prst="line">
            <a:avLst/>
          </a:prstGeom>
          <a:noFill/>
          <a:ln w="28575">
            <a:solidFill>
              <a:srgbClr val="1199BD"/>
            </a:solidFill>
            <a:prstDash val="solid"/>
            <a:tailEnd type="triangle"/>
          </a:ln>
        </p:spPr>
      </p:sp>
      <p:sp>
        <p:nvSpPr>
          <p:cNvPr id="23" name="Shape 21"/>
          <p:cNvSpPr/>
          <p:nvPr/>
        </p:nvSpPr>
        <p:spPr>
          <a:xfrm>
            <a:off x="8138160" y="2286000"/>
            <a:ext cx="365760" cy="0"/>
          </a:xfrm>
          <a:prstGeom prst="line">
            <a:avLst/>
          </a:prstGeom>
          <a:noFill/>
          <a:ln w="28575">
            <a:solidFill>
              <a:srgbClr val="1199BD"/>
            </a:solidFill>
            <a:prstDash val="solid"/>
            <a:headEnd type="triangle"/>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3657600"/>
          <a:ext cx="10881360" cy="914400"/>
        </p:xfrm>
        <a:graphic>
          <a:graphicData uri="http://schemas.openxmlformats.org/drawingml/2006/table">
            <a:tbl>
              <a:tblPr/>
              <a:tblGrid>
                <a:gridCol w="4206240"/>
                <a:gridCol w="3108960"/>
                <a:gridCol w="3566160"/>
              </a:tblGrid>
              <a:tr h="530352">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MUST MATCH</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OURS</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PROVEN BY</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r>
              <a:tr h="530352">
                <a:tc>
                  <a:txBody>
                    <a:bodyPr/>
                    <a:lstStyle/>
                    <a:p>
                      <a:pPr indent="0" marL="0">
                        <a:buNone/>
                      </a:pPr>
                      <a:r>
                        <a:rPr lang="en-US" sz="1200" b="1" dirty="0">
                          <a:solidFill>
                            <a:srgbClr val="222A3F"/>
                          </a:solidFill>
                          <a:latin typeface="Arial" pitchFamily="34" charset="0"/>
                          <a:ea typeface="Arial" pitchFamily="34" charset="-122"/>
                          <a:cs typeface="Arial" pitchFamily="34" charset="-120"/>
                        </a:rPr>
                        <a:t>Frequency — slot 43, 912.875 MHz</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200" dirty="0">
                          <a:solidFill>
                            <a:srgbClr val="222A3F"/>
                          </a:solidFill>
                          <a:latin typeface="Arial" pitchFamily="34" charset="0"/>
                          <a:ea typeface="Arial" pitchFamily="34" charset="-122"/>
                          <a:cs typeface="Arial" pitchFamily="34" charset="-120"/>
                        </a:rPr>
                        <a:t>channel name “Group9”</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200" dirty="0">
                          <a:solidFill>
                            <a:srgbClr val="1F9D68"/>
                          </a:solidFill>
                          <a:latin typeface="Arial" pitchFamily="34" charset="0"/>
                          <a:ea typeface="Arial" pitchFamily="34" charset="-122"/>
                          <a:cs typeface="Arial" pitchFamily="34" charset="-120"/>
                        </a:rPr>
                        <a:t>OLED frequency, both radios</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r h="530352">
                <a:tc>
                  <a:txBody>
                    <a:bodyPr/>
                    <a:lstStyle/>
                    <a:p>
                      <a:pPr indent="0" marL="0">
                        <a:buNone/>
                      </a:pPr>
                      <a:r>
                        <a:rPr lang="en-US" sz="1200" b="1" dirty="0">
                          <a:solidFill>
                            <a:srgbClr val="222A3F"/>
                          </a:solidFill>
                          <a:latin typeface="Arial" pitchFamily="34" charset="0"/>
                          <a:ea typeface="Arial" pitchFamily="34" charset="-122"/>
                          <a:cs typeface="Arial" pitchFamily="34" charset="-120"/>
                        </a:rPr>
                        <a:t>Modulation — SF11 / 250 kHz</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200" dirty="0">
                          <a:solidFill>
                            <a:srgbClr val="222A3F"/>
                          </a:solidFill>
                          <a:latin typeface="Arial" pitchFamily="34" charset="0"/>
                          <a:ea typeface="Arial" pitchFamily="34" charset="-122"/>
                          <a:cs typeface="Arial" pitchFamily="34" charset="-120"/>
                        </a:rPr>
                        <a:t>LONG_FAST preset</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200" dirty="0">
                          <a:solidFill>
                            <a:srgbClr val="1F9D68"/>
                          </a:solidFill>
                          <a:latin typeface="Arial" pitchFamily="34" charset="0"/>
                          <a:ea typeface="Arial" pitchFamily="34" charset="-122"/>
                          <a:cs typeface="Arial" pitchFamily="34" charset="-120"/>
                        </a:rPr>
                        <a:t>packets decode both ways</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222A3F"/>
                          </a:solidFill>
                          <a:latin typeface="Arial" pitchFamily="34" charset="0"/>
                          <a:ea typeface="Arial" pitchFamily="34" charset="-122"/>
                          <a:cs typeface="Arial" pitchFamily="34" charset="-120"/>
                        </a:rPr>
                        <a:t>Encryption — AES-256 key</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200" dirty="0">
                          <a:solidFill>
                            <a:srgbClr val="222A3F"/>
                          </a:solidFill>
                          <a:latin typeface="Arial" pitchFamily="34" charset="0"/>
                          <a:ea typeface="Arial" pitchFamily="34" charset="-122"/>
                          <a:cs typeface="Arial" pitchFamily="34" charset="-120"/>
                        </a:rPr>
                        <a:t>shared channel key</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200" dirty="0">
                          <a:solidFill>
                            <a:srgbClr val="1F9D68"/>
                          </a:solidFill>
                          <a:latin typeface="Arial" pitchFamily="34" charset="0"/>
                          <a:ea typeface="Arial" pitchFamily="34" charset="-122"/>
                          <a:cs typeface="Arial" pitchFamily="34" charset="-120"/>
                        </a:rPr>
                        <a:t>texts readable both ways</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HOW THE LINK HAPPENS</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03/12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HOW THE LINK HAPPENS: LOCKING ON</a:t>
            </a:r>
            <a:endParaRPr lang="en-US" sz="2300" dirty="0"/>
          </a:p>
        </p:txBody>
      </p:sp>
      <p:sp>
        <p:nvSpPr>
          <p:cNvPr id="10" name="Shape 8"/>
          <p:cNvSpPr/>
          <p:nvPr/>
        </p:nvSpPr>
        <p:spPr>
          <a:xfrm>
            <a:off x="640080" y="1188720"/>
            <a:ext cx="566928" cy="731520"/>
          </a:xfrm>
          <a:prstGeom prst="rect">
            <a:avLst/>
          </a:prstGeom>
          <a:solidFill>
            <a:srgbClr val="16213D"/>
          </a:solidFill>
          <a:ln/>
        </p:spPr>
      </p:sp>
      <p:sp>
        <p:nvSpPr>
          <p:cNvPr id="11" name="Text 9"/>
          <p:cNvSpPr txBox="1"/>
          <p:nvPr/>
        </p:nvSpPr>
        <p:spPr>
          <a:xfrm>
            <a:off x="640080" y="1280160"/>
            <a:ext cx="566928"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a:t>
            </a:r>
            <a:endParaRPr lang="en-US" sz="2000" dirty="0"/>
          </a:p>
        </p:txBody>
      </p:sp>
      <p:sp>
        <p:nvSpPr>
          <p:cNvPr id="12" name="Shape 10"/>
          <p:cNvSpPr/>
          <p:nvPr/>
        </p:nvSpPr>
        <p:spPr>
          <a:xfrm>
            <a:off x="1207008" y="1188720"/>
            <a:ext cx="5760720" cy="731520"/>
          </a:xfrm>
          <a:prstGeom prst="rect">
            <a:avLst/>
          </a:prstGeom>
          <a:solidFill>
            <a:srgbClr val="FFFFFF"/>
          </a:solidFill>
          <a:ln w="9525">
            <a:solidFill>
              <a:srgbClr val="9AA7BE"/>
            </a:solidFill>
            <a:prstDash val="solid"/>
          </a:ln>
        </p:spPr>
      </p:sp>
      <p:sp>
        <p:nvSpPr>
          <p:cNvPr id="13" name="Text 11"/>
          <p:cNvSpPr txBox="1"/>
          <p:nvPr/>
        </p:nvSpPr>
        <p:spPr>
          <a:xfrm>
            <a:off x="1371600" y="1243584"/>
            <a:ext cx="5486400" cy="621792"/>
          </a:xfrm>
          <a:prstGeom prst="rect">
            <a:avLst/>
          </a:prstGeom>
          <a:noFill/>
          <a:ln/>
        </p:spPr>
        <p:txBody>
          <a:bodyPr wrap="square" lIns="0" tIns="0" rIns="0" bIns="0" rtlCol="0" anchor="ctr"/>
          <a:lstStyle/>
          <a:p>
            <a:pPr indent="0" marL="0">
              <a:buNone/>
            </a:pPr>
            <a:r>
              <a:rPr lang="en-US" sz="1100" b="1" dirty="0">
                <a:solidFill>
                  <a:srgbClr val="16213D"/>
                </a:solidFill>
                <a:latin typeface="Courier New" pitchFamily="34" charset="0"/>
                <a:ea typeface="Courier New" pitchFamily="34" charset="-122"/>
                <a:cs typeface="Courier New" pitchFamily="34" charset="-120"/>
              </a:rPr>
              <a:t>ANNOUNCE   </a:t>
            </a:r>
            <a:pPr indent="0" marL="0">
              <a:buNone/>
            </a:pPr>
            <a:r>
              <a:rPr lang="en-US" sz="1150" dirty="0">
                <a:solidFill>
                  <a:srgbClr val="222A3F"/>
                </a:solidFill>
                <a:latin typeface="Arial" pitchFamily="34" charset="0"/>
                <a:ea typeface="Arial" pitchFamily="34" charset="-122"/>
                <a:cs typeface="Arial" pitchFamily="34" charset="-120"/>
              </a:rPr>
              <a:t>on boot, each radio broadcasts its name + public key (NodeInfo)</a:t>
            </a:r>
            <a:endParaRPr lang="en-US" sz="1100" dirty="0"/>
          </a:p>
        </p:txBody>
      </p:sp>
      <p:sp>
        <p:nvSpPr>
          <p:cNvPr id="14" name="Shape 12"/>
          <p:cNvSpPr/>
          <p:nvPr/>
        </p:nvSpPr>
        <p:spPr>
          <a:xfrm>
            <a:off x="923544" y="1920240"/>
            <a:ext cx="0" cy="201168"/>
          </a:xfrm>
          <a:prstGeom prst="line">
            <a:avLst/>
          </a:prstGeom>
          <a:noFill/>
          <a:ln w="28575">
            <a:solidFill>
              <a:srgbClr val="5E6B85"/>
            </a:solidFill>
            <a:prstDash val="solid"/>
            <a:tailEnd type="triangle"/>
          </a:ln>
        </p:spPr>
      </p:sp>
      <p:sp>
        <p:nvSpPr>
          <p:cNvPr id="15" name="Shape 13"/>
          <p:cNvSpPr/>
          <p:nvPr/>
        </p:nvSpPr>
        <p:spPr>
          <a:xfrm>
            <a:off x="640080" y="2121408"/>
            <a:ext cx="566928" cy="731520"/>
          </a:xfrm>
          <a:prstGeom prst="rect">
            <a:avLst/>
          </a:prstGeom>
          <a:solidFill>
            <a:srgbClr val="16213D"/>
          </a:solidFill>
          <a:ln/>
        </p:spPr>
      </p:sp>
      <p:sp>
        <p:nvSpPr>
          <p:cNvPr id="16" name="Text 14"/>
          <p:cNvSpPr txBox="1"/>
          <p:nvPr/>
        </p:nvSpPr>
        <p:spPr>
          <a:xfrm>
            <a:off x="640080" y="2212848"/>
            <a:ext cx="566928"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2</a:t>
            </a:r>
            <a:endParaRPr lang="en-US" sz="2000" dirty="0"/>
          </a:p>
        </p:txBody>
      </p:sp>
      <p:sp>
        <p:nvSpPr>
          <p:cNvPr id="17" name="Shape 15"/>
          <p:cNvSpPr/>
          <p:nvPr/>
        </p:nvSpPr>
        <p:spPr>
          <a:xfrm>
            <a:off x="1207008" y="2121408"/>
            <a:ext cx="5760720" cy="731520"/>
          </a:xfrm>
          <a:prstGeom prst="rect">
            <a:avLst/>
          </a:prstGeom>
          <a:solidFill>
            <a:srgbClr val="F2F5FA"/>
          </a:solidFill>
          <a:ln w="9525">
            <a:solidFill>
              <a:srgbClr val="9AA7BE"/>
            </a:solidFill>
            <a:prstDash val="solid"/>
          </a:ln>
        </p:spPr>
      </p:sp>
      <p:sp>
        <p:nvSpPr>
          <p:cNvPr id="18" name="Text 16"/>
          <p:cNvSpPr txBox="1"/>
          <p:nvPr/>
        </p:nvSpPr>
        <p:spPr>
          <a:xfrm>
            <a:off x="1371600" y="2176272"/>
            <a:ext cx="5486400" cy="621792"/>
          </a:xfrm>
          <a:prstGeom prst="rect">
            <a:avLst/>
          </a:prstGeom>
          <a:noFill/>
          <a:ln/>
        </p:spPr>
        <p:txBody>
          <a:bodyPr wrap="square" lIns="0" tIns="0" rIns="0" bIns="0" rtlCol="0" anchor="ctr"/>
          <a:lstStyle/>
          <a:p>
            <a:pPr indent="0" marL="0">
              <a:buNone/>
            </a:pPr>
            <a:r>
              <a:rPr lang="en-US" sz="1100" b="1" dirty="0">
                <a:solidFill>
                  <a:srgbClr val="16213D"/>
                </a:solidFill>
                <a:latin typeface="Courier New" pitchFamily="34" charset="0"/>
                <a:ea typeface="Courier New" pitchFamily="34" charset="-122"/>
                <a:cs typeface="Courier New" pitchFamily="34" charset="-120"/>
              </a:rPr>
              <a:t>FILE   </a:t>
            </a:r>
            <a:pPr indent="0" marL="0">
              <a:buNone/>
            </a:pPr>
            <a:r>
              <a:rPr lang="en-US" sz="1150" dirty="0">
                <a:solidFill>
                  <a:srgbClr val="222A3F"/>
                </a:solidFill>
                <a:latin typeface="Arial" pitchFamily="34" charset="0"/>
                <a:ea typeface="Arial" pitchFamily="34" charset="-122"/>
                <a:cs typeface="Arial" pitchFamily="34" charset="-120"/>
              </a:rPr>
              <a:t>the receiver records it: last-heard time + signal quality</a:t>
            </a:r>
            <a:endParaRPr lang="en-US" sz="1100" dirty="0"/>
          </a:p>
        </p:txBody>
      </p:sp>
      <p:sp>
        <p:nvSpPr>
          <p:cNvPr id="19" name="Shape 17"/>
          <p:cNvSpPr/>
          <p:nvPr/>
        </p:nvSpPr>
        <p:spPr>
          <a:xfrm>
            <a:off x="923544" y="2852928"/>
            <a:ext cx="0" cy="201168"/>
          </a:xfrm>
          <a:prstGeom prst="line">
            <a:avLst/>
          </a:prstGeom>
          <a:noFill/>
          <a:ln w="28575">
            <a:solidFill>
              <a:srgbClr val="5E6B85"/>
            </a:solidFill>
            <a:prstDash val="solid"/>
            <a:tailEnd type="triangle"/>
          </a:ln>
        </p:spPr>
      </p:sp>
      <p:sp>
        <p:nvSpPr>
          <p:cNvPr id="20" name="Shape 18"/>
          <p:cNvSpPr/>
          <p:nvPr/>
        </p:nvSpPr>
        <p:spPr>
          <a:xfrm>
            <a:off x="640080" y="3054096"/>
            <a:ext cx="566928" cy="731520"/>
          </a:xfrm>
          <a:prstGeom prst="rect">
            <a:avLst/>
          </a:prstGeom>
          <a:solidFill>
            <a:srgbClr val="1F9D68"/>
          </a:solidFill>
          <a:ln/>
        </p:spPr>
      </p:sp>
      <p:sp>
        <p:nvSpPr>
          <p:cNvPr id="21" name="Text 19"/>
          <p:cNvSpPr txBox="1"/>
          <p:nvPr/>
        </p:nvSpPr>
        <p:spPr>
          <a:xfrm>
            <a:off x="640080" y="3145536"/>
            <a:ext cx="566928"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3</a:t>
            </a:r>
            <a:endParaRPr lang="en-US" sz="2000" dirty="0"/>
          </a:p>
        </p:txBody>
      </p:sp>
      <p:sp>
        <p:nvSpPr>
          <p:cNvPr id="22" name="Shape 20"/>
          <p:cNvSpPr/>
          <p:nvPr/>
        </p:nvSpPr>
        <p:spPr>
          <a:xfrm>
            <a:off x="1207008" y="3054096"/>
            <a:ext cx="5760720" cy="731520"/>
          </a:xfrm>
          <a:prstGeom prst="rect">
            <a:avLst/>
          </a:prstGeom>
          <a:solidFill>
            <a:srgbClr val="FFFFFF"/>
          </a:solidFill>
          <a:ln w="9525">
            <a:solidFill>
              <a:srgbClr val="9AA7BE"/>
            </a:solidFill>
            <a:prstDash val="solid"/>
          </a:ln>
        </p:spPr>
      </p:sp>
      <p:sp>
        <p:nvSpPr>
          <p:cNvPr id="23" name="Text 21"/>
          <p:cNvSpPr txBox="1"/>
          <p:nvPr/>
        </p:nvSpPr>
        <p:spPr>
          <a:xfrm>
            <a:off x="1371600" y="3108960"/>
            <a:ext cx="5486400" cy="621792"/>
          </a:xfrm>
          <a:prstGeom prst="rect">
            <a:avLst/>
          </a:prstGeom>
          <a:noFill/>
          <a:ln/>
        </p:spPr>
        <p:txBody>
          <a:bodyPr wrap="square" lIns="0" tIns="0" rIns="0" bIns="0" rtlCol="0" anchor="ctr"/>
          <a:lstStyle/>
          <a:p>
            <a:pPr indent="0" marL="0">
              <a:buNone/>
            </a:pPr>
            <a:r>
              <a:rPr lang="en-US" sz="1100" b="1" dirty="0">
                <a:solidFill>
                  <a:srgbClr val="1F9D68"/>
                </a:solidFill>
                <a:latin typeface="Courier New" pitchFamily="34" charset="0"/>
                <a:ea typeface="Courier New" pitchFamily="34" charset="-122"/>
                <a:cs typeface="Courier New" pitchFamily="34" charset="-120"/>
              </a:rPr>
              <a:t>TRACK   </a:t>
            </a:r>
            <a:pPr indent="0" marL="0">
              <a:buNone/>
            </a:pPr>
            <a:r>
              <a:rPr lang="en-US" sz="1150" dirty="0">
                <a:solidFill>
                  <a:srgbClr val="222A3F"/>
                </a:solidFill>
                <a:latin typeface="Arial" pitchFamily="34" charset="0"/>
                <a:ea typeface="Arial" pitchFamily="34" charset="-122"/>
                <a:cs typeface="Arial" pitchFamily="34" charset="-120"/>
              </a:rPr>
              <a:t>every packet refreshes the record — “1 online” appears</a:t>
            </a:r>
            <a:endParaRPr lang="en-US" sz="1100" dirty="0"/>
          </a:p>
        </p:txBody>
      </p:sp>
      <p:sp>
        <p:nvSpPr>
          <p:cNvPr id="24" name="Shape 22"/>
          <p:cNvSpPr/>
          <p:nvPr/>
        </p:nvSpPr>
        <p:spPr>
          <a:xfrm>
            <a:off x="923544" y="3785616"/>
            <a:ext cx="0" cy="201168"/>
          </a:xfrm>
          <a:prstGeom prst="line">
            <a:avLst/>
          </a:prstGeom>
          <a:noFill/>
          <a:ln w="28575">
            <a:solidFill>
              <a:srgbClr val="5E6B85"/>
            </a:solidFill>
            <a:prstDash val="solid"/>
            <a:tailEnd type="triangle"/>
          </a:ln>
        </p:spPr>
      </p:sp>
      <p:sp>
        <p:nvSpPr>
          <p:cNvPr id="25" name="Shape 23"/>
          <p:cNvSpPr/>
          <p:nvPr/>
        </p:nvSpPr>
        <p:spPr>
          <a:xfrm>
            <a:off x="640080" y="3986784"/>
            <a:ext cx="566928" cy="731520"/>
          </a:xfrm>
          <a:prstGeom prst="rect">
            <a:avLst/>
          </a:prstGeom>
          <a:solidFill>
            <a:srgbClr val="E58E1A"/>
          </a:solidFill>
          <a:ln/>
        </p:spPr>
      </p:sp>
      <p:sp>
        <p:nvSpPr>
          <p:cNvPr id="26" name="Text 24"/>
          <p:cNvSpPr txBox="1"/>
          <p:nvPr/>
        </p:nvSpPr>
        <p:spPr>
          <a:xfrm>
            <a:off x="640080" y="4078224"/>
            <a:ext cx="566928"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4</a:t>
            </a:r>
            <a:endParaRPr lang="en-US" sz="2000" dirty="0"/>
          </a:p>
        </p:txBody>
      </p:sp>
      <p:sp>
        <p:nvSpPr>
          <p:cNvPr id="27" name="Shape 25"/>
          <p:cNvSpPr/>
          <p:nvPr/>
        </p:nvSpPr>
        <p:spPr>
          <a:xfrm>
            <a:off x="1207008" y="3986784"/>
            <a:ext cx="5760720" cy="731520"/>
          </a:xfrm>
          <a:prstGeom prst="rect">
            <a:avLst/>
          </a:prstGeom>
          <a:solidFill>
            <a:srgbClr val="F2F5FA"/>
          </a:solidFill>
          <a:ln w="9525">
            <a:solidFill>
              <a:srgbClr val="9AA7BE"/>
            </a:solidFill>
            <a:prstDash val="solid"/>
          </a:ln>
        </p:spPr>
      </p:sp>
      <p:sp>
        <p:nvSpPr>
          <p:cNvPr id="28" name="Text 26"/>
          <p:cNvSpPr txBox="1"/>
          <p:nvPr/>
        </p:nvSpPr>
        <p:spPr>
          <a:xfrm>
            <a:off x="1371600" y="4041648"/>
            <a:ext cx="5486400" cy="621792"/>
          </a:xfrm>
          <a:prstGeom prst="rect">
            <a:avLst/>
          </a:prstGeom>
          <a:noFill/>
          <a:ln/>
        </p:spPr>
        <p:txBody>
          <a:bodyPr wrap="square" lIns="0" tIns="0" rIns="0" bIns="0" rtlCol="0" anchor="ctr"/>
          <a:lstStyle/>
          <a:p>
            <a:pPr indent="0" marL="0">
              <a:buNone/>
            </a:pPr>
            <a:r>
              <a:rPr lang="en-US" sz="1100" b="1" dirty="0">
                <a:solidFill>
                  <a:srgbClr val="E58E1A"/>
                </a:solidFill>
                <a:latin typeface="Courier New" pitchFamily="34" charset="0"/>
                <a:ea typeface="Courier New" pitchFamily="34" charset="-122"/>
                <a:cs typeface="Courier New" pitchFamily="34" charset="-120"/>
              </a:rPr>
              <a:t>ADDRESS   </a:t>
            </a:r>
            <a:pPr indent="0" marL="0">
              <a:buNone/>
            </a:pPr>
            <a:r>
              <a:rPr lang="en-US" sz="1150" dirty="0">
                <a:solidFill>
                  <a:srgbClr val="222A3F"/>
                </a:solidFill>
                <a:latin typeface="Arial" pitchFamily="34" charset="0"/>
                <a:ea typeface="Arial" pitchFamily="34" charset="-122"/>
                <a:cs typeface="Arial" pitchFamily="34" charset="-120"/>
              </a:rPr>
              <a:t>with keys exchanged, private direct messages unlock</a:t>
            </a:r>
            <a:endParaRPr lang="en-US" sz="1100" dirty="0"/>
          </a:p>
        </p:txBody>
      </p:sp>
      <p:sp>
        <p:nvSpPr>
          <p:cNvPr id="29" name="Text 27"/>
          <p:cNvSpPr txBox="1"/>
          <p:nvPr/>
        </p:nvSpPr>
        <p:spPr>
          <a:xfrm>
            <a:off x="640080" y="5120640"/>
            <a:ext cx="6309360" cy="548640"/>
          </a:xfrm>
          <a:prstGeom prst="rect">
            <a:avLst/>
          </a:prstGeom>
          <a:noFill/>
          <a:ln/>
        </p:spPr>
        <p:txBody>
          <a:bodyPr wrap="square" lIns="0" tIns="0" rIns="0" bIns="0" rtlCol="0" anchor="ctr"/>
          <a:lstStyle/>
          <a:p>
            <a:pPr indent="0" marL="0">
              <a:buNone/>
            </a:pPr>
            <a:r>
              <a:rPr lang="en-US" sz="1250" b="1" dirty="0">
                <a:solidFill>
                  <a:srgbClr val="16213D"/>
                </a:solidFill>
                <a:latin typeface="Arial" pitchFamily="34" charset="0"/>
                <a:ea typeface="Arial" pitchFamily="34" charset="-122"/>
                <a:cs typeface="Arial" pitchFamily="34" charset="-120"/>
              </a:rPr>
              <a:t>No step needs a human. Power two configured radios and the lock forms by itself.</a:t>
            </a:r>
            <a:endParaRPr lang="en-US" sz="1250" dirty="0"/>
          </a:p>
        </p:txBody>
      </p:sp>
      <p:sp>
        <p:nvSpPr>
          <p:cNvPr id="30" name="Shape 28"/>
          <p:cNvSpPr/>
          <p:nvPr/>
        </p:nvSpPr>
        <p:spPr>
          <a:xfrm>
            <a:off x="7360920" y="1188720"/>
            <a:ext cx="4343400" cy="2286000"/>
          </a:xfrm>
          <a:prstGeom prst="rect">
            <a:avLst/>
          </a:prstGeom>
          <a:solidFill>
            <a:srgbClr val="1B2440"/>
          </a:solidFill>
          <a:ln/>
        </p:spPr>
      </p:sp>
      <p:sp>
        <p:nvSpPr>
          <p:cNvPr id="31" name="Text 29"/>
          <p:cNvSpPr txBox="1"/>
          <p:nvPr/>
        </p:nvSpPr>
        <p:spPr>
          <a:xfrm>
            <a:off x="7498080" y="1252728"/>
            <a:ext cx="4069080" cy="237744"/>
          </a:xfrm>
          <a:prstGeom prst="rect">
            <a:avLst/>
          </a:prstGeom>
          <a:noFill/>
          <a:ln/>
        </p:spPr>
        <p:txBody>
          <a:bodyPr wrap="square" lIns="0" tIns="0" rIns="0" bIns="0" rtlCol="0" anchor="ctr"/>
          <a:lstStyle/>
          <a:p>
            <a:pPr indent="0" marL="0">
              <a:buNone/>
            </a:pPr>
            <a:r>
              <a:rPr lang="en-US" sz="1000" b="1" dirty="0">
                <a:solidFill>
                  <a:srgbClr val="1F9D68"/>
                </a:solidFill>
                <a:latin typeface="Courier New" pitchFamily="34" charset="0"/>
                <a:ea typeface="Courier New" pitchFamily="34" charset="-122"/>
                <a:cs typeface="Courier New" pitchFamily="34" charset="-120"/>
              </a:rPr>
              <a:t>// the lock, proven on air (09-25)</a:t>
            </a:r>
            <a:endParaRPr lang="en-US" sz="1000" dirty="0"/>
          </a:p>
        </p:txBody>
      </p:sp>
      <p:sp>
        <p:nvSpPr>
          <p:cNvPr id="32" name="Text 30"/>
          <p:cNvSpPr txBox="1"/>
          <p:nvPr/>
        </p:nvSpPr>
        <p:spPr>
          <a:xfrm>
            <a:off x="7498080" y="1508760"/>
            <a:ext cx="4069080" cy="187452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 meshtastic --traceroute ‘!49b5ead4’</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Route traced towards destination:</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!49b5bb5c --&gt; !49b5ead4 (5.75dB)</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Route traced back to us:</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!49b5ead4 --&gt; !49b5bb5c (6.25dB)</a:t>
            </a:r>
            <a:endParaRPr lang="en-US" sz="1000" dirty="0"/>
          </a:p>
        </p:txBody>
      </p:sp>
      <p:sp>
        <p:nvSpPr>
          <p:cNvPr id="33" name="Shape 31"/>
          <p:cNvSpPr/>
          <p:nvPr/>
        </p:nvSpPr>
        <p:spPr>
          <a:xfrm>
            <a:off x="7360920" y="3703320"/>
            <a:ext cx="4343400" cy="1965960"/>
          </a:xfrm>
          <a:prstGeom prst="rect">
            <a:avLst/>
          </a:prstGeom>
          <a:solidFill>
            <a:srgbClr val="16213D"/>
          </a:solidFill>
          <a:ln/>
        </p:spPr>
      </p:sp>
      <p:sp>
        <p:nvSpPr>
          <p:cNvPr id="34" name="Text 32"/>
          <p:cNvSpPr txBox="1"/>
          <p:nvPr/>
        </p:nvSpPr>
        <p:spPr>
          <a:xfrm>
            <a:off x="7543800" y="3840480"/>
            <a:ext cx="3977640" cy="1737360"/>
          </a:xfrm>
          <a:prstGeom prst="rect">
            <a:avLst/>
          </a:prstGeom>
          <a:noFill/>
          <a:ln/>
        </p:spPr>
        <p:txBody>
          <a:bodyPr wrap="square" lIns="0" tIns="0" rIns="0" bIns="0" rtlCol="0" anchor="ctr"/>
          <a:lstStyle/>
          <a:p>
            <a:pPr indent="0" marL="0">
              <a:spcAft>
                <a:spcPts val="500"/>
              </a:spcAft>
              <a:buNone/>
            </a:pPr>
            <a:r>
              <a:rPr lang="en-US" sz="1050" b="1" dirty="0">
                <a:solidFill>
                  <a:srgbClr val="E58E1A"/>
                </a:solidFill>
                <a:latin typeface="Courier New" pitchFamily="34" charset="0"/>
                <a:ea typeface="Courier New" pitchFamily="34" charset="-122"/>
                <a:cs typeface="Courier New" pitchFamily="34" charset="-120"/>
              </a:rPr>
              <a:t>WHY THIS COMMAND</a:t>
            </a:r>
            <a:endParaRPr lang="en-US" sz="1200" dirty="0"/>
          </a:p>
          <a:p>
            <a:pPr indent="0" marL="0">
              <a:buNone/>
            </a:pPr>
            <a:r>
              <a:rPr lang="en-US" sz="1200" dirty="0">
                <a:solidFill>
                  <a:srgbClr val="FFFFFF"/>
                </a:solidFill>
                <a:latin typeface="Arial" pitchFamily="34" charset="0"/>
                <a:ea typeface="Arial" pitchFamily="34" charset="-122"/>
                <a:cs typeface="Arial" pitchFamily="34" charset="-120"/>
              </a:rPr>
              <a:t>One traceroute proves BOTH directions: the request must decode at the far radio, and its reply must decode back. Our acceptance criterion in a single line.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STAYING LINKED</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04/12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STAYING LINKED: THE HEARTBEAT</a:t>
            </a:r>
            <a:endParaRPr lang="en-US" sz="2300" dirty="0"/>
          </a:p>
        </p:txBody>
      </p:sp>
      <p:pic>
        <p:nvPicPr>
          <p:cNvPr id="10" name="Image 0" descr="C:/Users/deogr/AppData/Local/Temp/claude/C--Users-deogr-Documents-Fall-Project-Off-Grid-Vehicle-dection-project/e8b2e8fa-1513-4aa8-a8f6-ce4fcd20e664/scratchpad/deck5/eq_online.png">    </p:cNvPr>
          <p:cNvPicPr>
            <a:picLocks noChangeAspect="1"/>
          </p:cNvPicPr>
          <p:nvPr/>
        </p:nvPicPr>
        <p:blipFill>
          <a:blip r:embed="rId1"/>
          <a:stretch>
            <a:fillRect/>
          </a:stretch>
        </p:blipFill>
        <p:spPr>
          <a:xfrm>
            <a:off x="640080" y="1143000"/>
            <a:ext cx="4846320" cy="548640"/>
          </a:xfrm>
          <a:prstGeom prst="rect">
            <a:avLst/>
          </a:prstGeom>
        </p:spPr>
      </p:pic>
      <p:sp>
        <p:nvSpPr>
          <p:cNvPr id="11" name="Text 8"/>
          <p:cNvSpPr txBox="1"/>
          <p:nvPr/>
        </p:nvSpPr>
        <p:spPr>
          <a:xfrm>
            <a:off x="640080" y="1874520"/>
            <a:ext cx="5852160" cy="640080"/>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“Online” is arithmetic: heard within 2 hours. There is no live connection to display — only timestamps.</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697480"/>
          <a:ext cx="5852160" cy="914400"/>
        </p:xfrm>
        <a:graphic>
          <a:graphicData uri="http://schemas.openxmlformats.org/drawingml/2006/table">
            <a:tbl>
              <a:tblPr/>
              <a:tblGrid>
                <a:gridCol w="1554480"/>
                <a:gridCol w="2651760"/>
                <a:gridCol w="1645920"/>
              </a:tblGrid>
              <a:tr h="475488">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WHEN</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THE RADIO SENDS</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EVERY</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r>
              <a:tr h="475488">
                <a:tc>
                  <a:txBody>
                    <a:bodyPr/>
                    <a:lstStyle/>
                    <a:p>
                      <a:pPr indent="0" marL="0">
                        <a:buNone/>
                      </a:pPr>
                      <a:r>
                        <a:rPr lang="en-US" sz="1200" dirty="0">
                          <a:solidFill>
                            <a:srgbClr val="222A3F"/>
                          </a:solidFill>
                          <a:latin typeface="Arial" pitchFamily="34" charset="0"/>
                          <a:ea typeface="Arial" pitchFamily="34" charset="-122"/>
                          <a:cs typeface="Arial" pitchFamily="34" charset="-120"/>
                        </a:rPr>
                        <a:t>Driving</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200" dirty="0">
                          <a:solidFill>
                            <a:srgbClr val="222A3F"/>
                          </a:solidFill>
                          <a:latin typeface="Arial" pitchFamily="34" charset="0"/>
                          <a:ea typeface="Arial" pitchFamily="34" charset="-122"/>
                          <a:cs typeface="Arial" pitchFamily="34" charset="-120"/>
                        </a:rPr>
                        <a:t>position (the product)</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200" b="1" dirty="0">
                          <a:solidFill>
                            <a:srgbClr val="1F9D68"/>
                          </a:solidFill>
                          <a:latin typeface="Courier New" pitchFamily="34" charset="0"/>
                          <a:ea typeface="Courier New" pitchFamily="34" charset="-122"/>
                          <a:cs typeface="Courier New" pitchFamily="34" charset="-120"/>
                        </a:rPr>
                        <a:t>10 s / 20 m</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r h="475488">
                <a:tc>
                  <a:txBody>
                    <a:bodyPr/>
                    <a:lstStyle/>
                    <a:p>
                      <a:pPr indent="0" marL="0">
                        <a:buNone/>
                      </a:pPr>
                      <a:r>
                        <a:rPr lang="en-US" sz="1200" dirty="0">
                          <a:solidFill>
                            <a:srgbClr val="222A3F"/>
                          </a:solidFill>
                          <a:latin typeface="Arial" pitchFamily="34" charset="0"/>
                          <a:ea typeface="Arial" pitchFamily="34" charset="-122"/>
                          <a:cs typeface="Arial" pitchFamily="34" charset="-120"/>
                        </a:rPr>
                        <a:t>Parked, GPS fix</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200" dirty="0">
                          <a:solidFill>
                            <a:srgbClr val="222A3F"/>
                          </a:solidFill>
                          <a:latin typeface="Arial" pitchFamily="34" charset="0"/>
                          <a:ea typeface="Arial" pitchFamily="34" charset="-122"/>
                          <a:cs typeface="Arial" pitchFamily="34" charset="-120"/>
                        </a:rPr>
                        <a:t>position</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200" b="1" dirty="0">
                          <a:solidFill>
                            <a:srgbClr val="1F9D68"/>
                          </a:solidFill>
                          <a:latin typeface="Courier New" pitchFamily="34" charset="0"/>
                          <a:ea typeface="Courier New" pitchFamily="34" charset="-122"/>
                          <a:cs typeface="Courier New" pitchFamily="34" charset="-120"/>
                        </a:rPr>
                        <a:t>60 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222A3F"/>
                          </a:solidFill>
                          <a:latin typeface="Arial" pitchFamily="34" charset="0"/>
                          <a:ea typeface="Arial" pitchFamily="34" charset="-122"/>
                          <a:cs typeface="Arial" pitchFamily="34" charset="-120"/>
                        </a:rPr>
                        <a:t>Always</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200" dirty="0">
                          <a:solidFill>
                            <a:srgbClr val="222A3F"/>
                          </a:solidFill>
                          <a:latin typeface="Arial" pitchFamily="34" charset="0"/>
                          <a:ea typeface="Arial" pitchFamily="34" charset="-122"/>
                          <a:cs typeface="Arial" pitchFamily="34" charset="-120"/>
                        </a:rPr>
                        <a:t>telemetry heartbeat</a:t>
                      </a:r>
                      <a:endParaRPr lang="en-US" sz="12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200" b="1" dirty="0">
                          <a:solidFill>
                            <a:srgbClr val="1F9D68"/>
                          </a:solidFill>
                          <a:latin typeface="Courier New" pitchFamily="34" charset="0"/>
                          <a:ea typeface="Courier New" pitchFamily="34" charset="-122"/>
                          <a:cs typeface="Courier New" pitchFamily="34" charset="-120"/>
                        </a:rPr>
                        <a:t>5 min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bl>
          </a:graphicData>
        </a:graphic>
      </p:graphicFrame>
      <p:sp>
        <p:nvSpPr>
          <p:cNvPr id="13" name="Text 9"/>
          <p:cNvSpPr txBox="1"/>
          <p:nvPr/>
        </p:nvSpPr>
        <p:spPr>
          <a:xfrm>
            <a:off x="640080" y="4892040"/>
            <a:ext cx="5852160" cy="868680"/>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The 5-minute heartbeat was added after bench testing: it keeps the counters honest even when a parked radio has nothing else to say.</a:t>
            </a:r>
            <a:endParaRPr lang="en-US" sz="1200" dirty="0"/>
          </a:p>
        </p:txBody>
      </p:sp>
      <p:pic>
        <p:nvPicPr>
          <p:cNvPr id="14" name="Image 1" descr="C:/Users/deogr/AppData/Local/Temp/claude/C--Users-deogr-Documents-Fall-Project-Off-Grid-Vehicle-dection-project/e8b2e8fa-1513-4aa8-a8f6-ce4fcd20e664/scratchpad/deck5/fig_timeline.png">    </p:cNvPr>
          <p:cNvPicPr>
            <a:picLocks noChangeAspect="1"/>
          </p:cNvPicPr>
          <p:nvPr/>
        </p:nvPicPr>
        <p:blipFill>
          <a:blip r:embed="rId2"/>
          <a:stretch>
            <a:fillRect/>
          </a:stretch>
        </p:blipFill>
        <p:spPr>
          <a:xfrm>
            <a:off x="6720840" y="1325880"/>
            <a:ext cx="5029200" cy="1554480"/>
          </a:xfrm>
          <a:prstGeom prst="rect">
            <a:avLst/>
          </a:prstGeom>
        </p:spPr>
      </p:pic>
      <p:pic>
        <p:nvPicPr>
          <p:cNvPr id="15" name="Image 2" descr="C:/Users/deogr/AppData/Local/Temp/claude/C--Users-deogr-Documents-Fall-Project-Off-Grid-Vehicle-dection-project/e8b2e8fa-1513-4aa8-a8f6-ce4fcd20e664/images/10.jpg">    </p:cNvPr>
          <p:cNvPicPr>
            <a:picLocks noChangeAspect="1"/>
          </p:cNvPicPr>
          <p:nvPr/>
        </p:nvPicPr>
        <p:blipFill>
          <a:blip r:embed="rId3"/>
          <a:stretch>
            <a:fillRect/>
          </a:stretch>
        </p:blipFill>
        <p:spPr>
          <a:xfrm>
            <a:off x="7178040" y="3154680"/>
            <a:ext cx="1920240" cy="2560320"/>
          </a:xfrm>
          <a:prstGeom prst="rect">
            <a:avLst/>
          </a:prstGeom>
        </p:spPr>
      </p:pic>
      <p:sp>
        <p:nvSpPr>
          <p:cNvPr id="16" name="Shape 10"/>
          <p:cNvSpPr/>
          <p:nvPr/>
        </p:nvSpPr>
        <p:spPr>
          <a:xfrm>
            <a:off x="7178040" y="3154680"/>
            <a:ext cx="1920240" cy="2560320"/>
          </a:xfrm>
          <a:prstGeom prst="rect">
            <a:avLst/>
          </a:prstGeom>
          <a:ln w="12700">
            <a:solidFill>
              <a:srgbClr val="9AA7BE"/>
            </a:solidFill>
            <a:prstDash val="solid"/>
          </a:ln>
        </p:spPr>
      </p:sp>
      <p:sp>
        <p:nvSpPr>
          <p:cNvPr id="17" name="Text 11"/>
          <p:cNvSpPr txBox="1"/>
          <p:nvPr/>
        </p:nvSpPr>
        <p:spPr>
          <a:xfrm>
            <a:off x="6949440" y="5733288"/>
            <a:ext cx="2377440"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the trap we found: signal GOOD,</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“heard 72 d ago” — stale timestamp</a:t>
            </a:r>
            <a:endParaRPr lang="en-US" sz="850" dirty="0"/>
          </a:p>
        </p:txBody>
      </p:sp>
      <p:sp>
        <p:nvSpPr>
          <p:cNvPr id="18" name="Shape 12"/>
          <p:cNvSpPr/>
          <p:nvPr/>
        </p:nvSpPr>
        <p:spPr>
          <a:xfrm>
            <a:off x="9372600" y="3154680"/>
            <a:ext cx="2331720" cy="2560320"/>
          </a:xfrm>
          <a:prstGeom prst="rect">
            <a:avLst/>
          </a:prstGeom>
          <a:solidFill>
            <a:srgbClr val="16213D"/>
          </a:solidFill>
          <a:ln/>
        </p:spPr>
      </p:sp>
      <p:sp>
        <p:nvSpPr>
          <p:cNvPr id="19" name="Text 13"/>
          <p:cNvSpPr txBox="1"/>
          <p:nvPr/>
        </p:nvSpPr>
        <p:spPr>
          <a:xfrm>
            <a:off x="9528048" y="3291840"/>
            <a:ext cx="2011680" cy="2286000"/>
          </a:xfrm>
          <a:prstGeom prst="rect">
            <a:avLst/>
          </a:prstGeom>
          <a:noFill/>
          <a:ln/>
        </p:spPr>
        <p:txBody>
          <a:bodyPr wrap="square" lIns="0" tIns="0" rIns="0" bIns="0" rtlCol="0" anchor="ctr"/>
          <a:lstStyle/>
          <a:p>
            <a:pPr indent="0" marL="0">
              <a:spcAft>
                <a:spcPts val="500"/>
              </a:spcAft>
              <a:buNone/>
            </a:pPr>
            <a:r>
              <a:rPr lang="en-US" sz="1000" b="1" dirty="0">
                <a:solidFill>
                  <a:srgbClr val="E58E1A"/>
                </a:solidFill>
                <a:latin typeface="Courier New" pitchFamily="34" charset="0"/>
                <a:ea typeface="Courier New" pitchFamily="34" charset="-122"/>
                <a:cs typeface="Courier New" pitchFamily="34" charset="-120"/>
              </a:rPr>
              <a:t>TESTED, NOT ASSUMED</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We chased every counter lie to a stale timestamp, purged them, added the heartbeat — then watched both radios hold “1 online” steadily.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THE FREQUENCY MATH</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05/12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E58E1A"/>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E58E1A"/>
                </a:solidFill>
                <a:latin typeface="Courier New" pitchFamily="34" charset="0"/>
                <a:ea typeface="Courier New" pitchFamily="34" charset="-122"/>
                <a:cs typeface="Courier New" pitchFamily="34" charset="-120"/>
              </a:rPr>
              <a:t>OWNER: VICTOR</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MATH I: THE NAME PICKS THE FREQUENCY</a:t>
            </a:r>
            <a:endParaRPr lang="en-US" sz="2300" dirty="0"/>
          </a:p>
        </p:txBody>
      </p:sp>
      <p:pic>
        <p:nvPicPr>
          <p:cNvPr id="10" name="Image 0" descr="C:/Users/deogr/AppData/Local/Temp/claude/C--Users-deogr-Documents-Fall-Project-Off-Grid-Vehicle-dection-project/e8b2e8fa-1513-4aa8-a8f6-ce4fcd20e664/scratchpad/deck5/eq_slot.png">    </p:cNvPr>
          <p:cNvPicPr>
            <a:picLocks noChangeAspect="1"/>
          </p:cNvPicPr>
          <p:nvPr/>
        </p:nvPicPr>
        <p:blipFill>
          <a:blip r:embed="rId1"/>
          <a:stretch>
            <a:fillRect/>
          </a:stretch>
        </p:blipFill>
        <p:spPr>
          <a:xfrm>
            <a:off x="640080" y="1188720"/>
            <a:ext cx="6675120" cy="713232"/>
          </a:xfrm>
          <a:prstGeom prst="rect">
            <a:avLst/>
          </a:prstGeom>
        </p:spPr>
      </p:pic>
      <p:sp>
        <p:nvSpPr>
          <p:cNvPr id="11" name="Shape 8"/>
          <p:cNvSpPr/>
          <p:nvPr/>
        </p:nvSpPr>
        <p:spPr>
          <a:xfrm>
            <a:off x="7818120" y="1097280"/>
            <a:ext cx="3886200" cy="1828800"/>
          </a:xfrm>
          <a:prstGeom prst="rect">
            <a:avLst/>
          </a:prstGeom>
          <a:solidFill>
            <a:srgbClr val="1B2440"/>
          </a:solidFill>
          <a:ln/>
        </p:spPr>
      </p:sp>
      <p:sp>
        <p:nvSpPr>
          <p:cNvPr id="12" name="Text 9"/>
          <p:cNvSpPr txBox="1"/>
          <p:nvPr/>
        </p:nvSpPr>
        <p:spPr>
          <a:xfrm>
            <a:off x="7955280" y="1161288"/>
            <a:ext cx="3611880" cy="237744"/>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 djb2 — the whole algorithm</a:t>
            </a:r>
            <a:endParaRPr lang="en-US" sz="1000" dirty="0"/>
          </a:p>
        </p:txBody>
      </p:sp>
      <p:sp>
        <p:nvSpPr>
          <p:cNvPr id="13" name="Text 10"/>
          <p:cNvSpPr txBox="1"/>
          <p:nvPr/>
        </p:nvSpPr>
        <p:spPr>
          <a:xfrm>
            <a:off x="7955280" y="1417320"/>
            <a:ext cx="3611880" cy="141732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h = 5381</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for each character c:</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h = h * 33 + c</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slot = h mod 104</a:t>
            </a:r>
            <a:endParaRPr lang="en-US" sz="1000" dirty="0"/>
          </a:p>
          <a:p>
            <a:pPr indent="0" marL="0">
              <a:buNone/>
            </a:pP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“Group9” → slot 43 → 912.875 MHz</a:t>
            </a:r>
            <a:endParaRPr lang="en-US" sz="1000" dirty="0"/>
          </a:p>
        </p:txBody>
      </p:sp>
      <p:pic>
        <p:nvPicPr>
          <p:cNvPr id="14" name="Image 1" descr="C:/Users/deogr/AppData/Local/Temp/claude/C--Users-deogr-Documents-Fall-Project-Off-Grid-Vehicle-dection-project/e8b2e8fa-1513-4aa8-a8f6-ce4fcd20e664/scratchpad/deck5/fig_slots.png">    </p:cNvPr>
          <p:cNvPicPr>
            <a:picLocks noChangeAspect="1"/>
          </p:cNvPicPr>
          <p:nvPr/>
        </p:nvPicPr>
        <p:blipFill>
          <a:blip r:embed="rId2"/>
          <a:stretch>
            <a:fillRect/>
          </a:stretch>
        </p:blipFill>
        <p:spPr>
          <a:xfrm>
            <a:off x="640080" y="2377440"/>
            <a:ext cx="8229600" cy="2606040"/>
          </a:xfrm>
          <a:prstGeom prst="rect">
            <a:avLst/>
          </a:prstGeom>
        </p:spPr>
      </p:pic>
      <p:sp>
        <p:nvSpPr>
          <p:cNvPr id="15" name="Shape 11"/>
          <p:cNvSpPr/>
          <p:nvPr/>
        </p:nvSpPr>
        <p:spPr>
          <a:xfrm>
            <a:off x="640080" y="5257800"/>
            <a:ext cx="11064240" cy="777240"/>
          </a:xfrm>
          <a:prstGeom prst="rect">
            <a:avLst/>
          </a:prstGeom>
          <a:solidFill>
            <a:srgbClr val="F2F5FA"/>
          </a:solidFill>
          <a:ln w="15875">
            <a:solidFill>
              <a:srgbClr val="E58E1A"/>
            </a:solidFill>
            <a:prstDash val="solid"/>
          </a:ln>
        </p:spPr>
      </p:sp>
      <p:sp>
        <p:nvSpPr>
          <p:cNvPr id="16" name="Text 12"/>
          <p:cNvSpPr txBox="1"/>
          <p:nvPr/>
        </p:nvSpPr>
        <p:spPr>
          <a:xfrm>
            <a:off x="868680" y="5349240"/>
            <a:ext cx="10607040" cy="621792"/>
          </a:xfrm>
          <a:prstGeom prst="rect">
            <a:avLst/>
          </a:prstGeom>
          <a:noFill/>
          <a:ln/>
        </p:spPr>
        <p:txBody>
          <a:bodyPr wrap="square" lIns="0" tIns="0" rIns="0" bIns="0" rtlCol="0" anchor="ctr"/>
          <a:lstStyle/>
          <a:p>
            <a:pPr indent="0" marL="0">
              <a:buNone/>
            </a:pPr>
            <a:r>
              <a:rPr lang="en-US" sz="1050" b="1" dirty="0">
                <a:solidFill>
                  <a:srgbClr val="E58E1A"/>
                </a:solidFill>
                <a:latin typeface="Courier New" pitchFamily="34" charset="0"/>
                <a:ea typeface="Courier New" pitchFamily="34" charset="-122"/>
                <a:cs typeface="Courier New" pitchFamily="34" charset="-120"/>
              </a:rPr>
              <a:t>WHY IT MATTERS  </a:t>
            </a:r>
            <a:pPr indent="0" marL="0">
              <a:buNone/>
            </a:pPr>
            <a:r>
              <a:rPr lang="en-US" sz="1150" dirty="0">
                <a:solidFill>
                  <a:srgbClr val="222A3F"/>
                </a:solidFill>
                <a:latin typeface="Arial" pitchFamily="34" charset="0"/>
                <a:ea typeface="Arial" pitchFamily="34" charset="-122"/>
                <a:cs typeface="Arial" pitchFamily="34" charset="-120"/>
              </a:rPr>
              <a:t>two radios with identical keys but different primary channel names sit MHz apart and never hear each other — we proved this the hard way, then fixed it. The OLED LoRa screen shows the live frequency: our truth-teller.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THE MARGIN MATH</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06/12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E58E1A"/>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E58E1A"/>
                </a:solidFill>
                <a:latin typeface="Courier New" pitchFamily="34" charset="0"/>
                <a:ea typeface="Courier New" pitchFamily="34" charset="-122"/>
                <a:cs typeface="Courier New" pitchFamily="34" charset="-120"/>
              </a:rPr>
              <a:t>OWNER: VICTOR</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MATH II: WHAT 6 DB OF SIGNAL BUYS</a:t>
            </a:r>
            <a:endParaRPr lang="en-US" sz="2300" dirty="0"/>
          </a:p>
        </p:txBody>
      </p:sp>
      <p:sp>
        <p:nvSpPr>
          <p:cNvPr id="10" name="Text 8"/>
          <p:cNvSpPr txBox="1"/>
          <p:nvPr/>
        </p:nvSpPr>
        <p:spPr>
          <a:xfrm>
            <a:off x="640080" y="1353312"/>
            <a:ext cx="6583680" cy="274320"/>
          </a:xfrm>
          <a:prstGeom prst="rect">
            <a:avLst/>
          </a:prstGeom>
          <a:noFill/>
          <a:ln/>
        </p:spPr>
        <p:txBody>
          <a:bodyPr wrap="square" lIns="0" tIns="0" rIns="0" bIns="0" rtlCol="0" anchor="ctr"/>
          <a:lstStyle/>
          <a:p>
            <a:pPr indent="0" marL="0">
              <a:buNone/>
            </a:pPr>
            <a:r>
              <a:rPr lang="en-US" sz="1100" b="1" dirty="0">
                <a:solidFill>
                  <a:srgbClr val="16213D"/>
                </a:solidFill>
                <a:latin typeface="Courier New" pitchFamily="34" charset="0"/>
                <a:ea typeface="Courier New" pitchFamily="34" charset="-122"/>
                <a:cs typeface="Courier New" pitchFamily="34" charset="-120"/>
              </a:rPr>
              <a:t>MEASURED SNR vs THE SF11 DECODE FLOOR</a:t>
            </a:r>
            <a:endParaRPr lang="en-US" sz="1100" dirty="0"/>
          </a:p>
        </p:txBody>
      </p:sp>
      <p:sp>
        <p:nvSpPr>
          <p:cNvPr id="11" name="Shape 9"/>
          <p:cNvSpPr/>
          <p:nvPr/>
        </p:nvSpPr>
        <p:spPr>
          <a:xfrm>
            <a:off x="640080" y="1737360"/>
            <a:ext cx="6583680" cy="548640"/>
          </a:xfrm>
          <a:prstGeom prst="rect">
            <a:avLst/>
          </a:prstGeom>
          <a:solidFill>
            <a:srgbClr val="F2F5FA"/>
          </a:solidFill>
          <a:ln w="9525">
            <a:solidFill>
              <a:srgbClr val="9AA7BE"/>
            </a:solidFill>
            <a:prstDash val="solid"/>
          </a:ln>
        </p:spPr>
      </p:sp>
      <p:sp>
        <p:nvSpPr>
          <p:cNvPr id="12" name="Shape 10"/>
          <p:cNvSpPr/>
          <p:nvPr/>
        </p:nvSpPr>
        <p:spPr>
          <a:xfrm>
            <a:off x="640080" y="1737360"/>
            <a:ext cx="925830" cy="548640"/>
          </a:xfrm>
          <a:prstGeom prst="rect">
            <a:avLst/>
          </a:prstGeom>
          <a:solidFill>
            <a:srgbClr val="FBEEEF"/>
          </a:solidFill>
          <a:ln/>
        </p:spPr>
      </p:sp>
      <p:sp>
        <p:nvSpPr>
          <p:cNvPr id="13" name="Shape 11"/>
          <p:cNvSpPr/>
          <p:nvPr/>
        </p:nvSpPr>
        <p:spPr>
          <a:xfrm>
            <a:off x="1565910" y="1627632"/>
            <a:ext cx="0" cy="777240"/>
          </a:xfrm>
          <a:prstGeom prst="line">
            <a:avLst/>
          </a:prstGeom>
          <a:noFill/>
          <a:ln w="28575">
            <a:solidFill>
              <a:srgbClr val="C43A4B"/>
            </a:solidFill>
            <a:prstDash val="solid"/>
          </a:ln>
        </p:spPr>
      </p:sp>
      <p:sp>
        <p:nvSpPr>
          <p:cNvPr id="14" name="Text 12"/>
          <p:cNvSpPr txBox="1"/>
          <p:nvPr/>
        </p:nvSpPr>
        <p:spPr>
          <a:xfrm>
            <a:off x="377190" y="2450592"/>
            <a:ext cx="2377440" cy="237744"/>
          </a:xfrm>
          <a:prstGeom prst="rect">
            <a:avLst/>
          </a:prstGeom>
          <a:noFill/>
          <a:ln/>
        </p:spPr>
        <p:txBody>
          <a:bodyPr wrap="square" lIns="0" tIns="0" rIns="0" bIns="0" rtlCol="0" anchor="ctr"/>
          <a:lstStyle/>
          <a:p>
            <a:pPr algn="ctr" indent="0" marL="0">
              <a:buNone/>
            </a:pPr>
            <a:r>
              <a:rPr lang="en-US" sz="950" dirty="0">
                <a:solidFill>
                  <a:srgbClr val="C43A4B"/>
                </a:solidFill>
                <a:latin typeface="Courier New" pitchFamily="34" charset="0"/>
                <a:ea typeface="Courier New" pitchFamily="34" charset="-122"/>
                <a:cs typeface="Courier New" pitchFamily="34" charset="-120"/>
              </a:rPr>
              <a:t>decode floor: −17.5 dB</a:t>
            </a:r>
            <a:endParaRPr lang="en-US" sz="950" dirty="0"/>
          </a:p>
        </p:txBody>
      </p:sp>
      <p:sp>
        <p:nvSpPr>
          <p:cNvPr id="15" name="Shape 13"/>
          <p:cNvSpPr/>
          <p:nvPr/>
        </p:nvSpPr>
        <p:spPr>
          <a:xfrm>
            <a:off x="6400800" y="1627632"/>
            <a:ext cx="0" cy="777240"/>
          </a:xfrm>
          <a:prstGeom prst="line">
            <a:avLst/>
          </a:prstGeom>
          <a:noFill/>
          <a:ln w="31750">
            <a:solidFill>
              <a:srgbClr val="1F9D68"/>
            </a:solidFill>
            <a:prstDash val="solid"/>
          </a:ln>
        </p:spPr>
      </p:sp>
      <p:sp>
        <p:nvSpPr>
          <p:cNvPr id="16" name="Text 14"/>
          <p:cNvSpPr txBox="1"/>
          <p:nvPr/>
        </p:nvSpPr>
        <p:spPr>
          <a:xfrm>
            <a:off x="5486400" y="1353312"/>
            <a:ext cx="1828800" cy="237744"/>
          </a:xfrm>
          <a:prstGeom prst="rect">
            <a:avLst/>
          </a:prstGeom>
          <a:noFill/>
          <a:ln/>
        </p:spPr>
        <p:txBody>
          <a:bodyPr wrap="square" lIns="0" tIns="0" rIns="0" bIns="0" rtlCol="0" anchor="ctr"/>
          <a:lstStyle/>
          <a:p>
            <a:pPr algn="ctr" indent="0" marL="0">
              <a:buNone/>
            </a:pPr>
            <a:r>
              <a:rPr lang="en-US" sz="950" b="1" dirty="0">
                <a:solidFill>
                  <a:srgbClr val="1F9D68"/>
                </a:solidFill>
                <a:latin typeface="Courier New" pitchFamily="34" charset="0"/>
                <a:ea typeface="Courier New" pitchFamily="34" charset="-122"/>
                <a:cs typeface="Courier New" pitchFamily="34" charset="-120"/>
              </a:rPr>
              <a:t>measured: ~6 dB</a:t>
            </a:r>
            <a:endParaRPr lang="en-US" sz="950" dirty="0"/>
          </a:p>
        </p:txBody>
      </p:sp>
      <p:sp>
        <p:nvSpPr>
          <p:cNvPr id="17" name="Shape 15"/>
          <p:cNvSpPr/>
          <p:nvPr/>
        </p:nvSpPr>
        <p:spPr>
          <a:xfrm>
            <a:off x="1565910" y="2926080"/>
            <a:ext cx="4834890" cy="0"/>
          </a:xfrm>
          <a:prstGeom prst="line">
            <a:avLst/>
          </a:prstGeom>
          <a:noFill/>
          <a:ln w="22225">
            <a:solidFill>
              <a:srgbClr val="16213D"/>
            </a:solidFill>
            <a:prstDash val="solid"/>
            <a:headEnd type="triangle"/>
            <a:tailEnd type="triangle"/>
          </a:ln>
        </p:spPr>
      </p:sp>
      <p:sp>
        <p:nvSpPr>
          <p:cNvPr id="18" name="Text 16"/>
          <p:cNvSpPr txBox="1"/>
          <p:nvPr/>
        </p:nvSpPr>
        <p:spPr>
          <a:xfrm>
            <a:off x="640080" y="3063240"/>
            <a:ext cx="6583680" cy="320040"/>
          </a:xfrm>
          <a:prstGeom prst="rect">
            <a:avLst/>
          </a:prstGeom>
          <a:noFill/>
          <a:ln/>
        </p:spPr>
        <p:txBody>
          <a:bodyPr wrap="square" lIns="0" tIns="0" rIns="0" bIns="0" rtlCol="0" anchor="ctr"/>
          <a:lstStyle/>
          <a:p>
            <a:pPr indent="0" marL="0">
              <a:buNone/>
            </a:pPr>
            <a:r>
              <a:rPr lang="en-US" sz="1150" b="1" dirty="0">
                <a:solidFill>
                  <a:srgbClr val="16213D"/>
                </a:solidFill>
                <a:latin typeface="Arial" pitchFamily="34" charset="0"/>
                <a:ea typeface="Arial" pitchFamily="34" charset="-122"/>
                <a:cs typeface="Arial" pitchFamily="34" charset="-120"/>
              </a:rPr>
              <a:t>23.5 dB of margin — SF11 still decodes 17.5 dB BELOW the noise floor</a:t>
            </a:r>
            <a:endParaRPr lang="en-US" sz="1150" dirty="0"/>
          </a:p>
        </p:txBody>
      </p:sp>
      <p:sp>
        <p:nvSpPr>
          <p:cNvPr id="19" name="Text 17"/>
          <p:cNvSpPr txBox="1"/>
          <p:nvPr/>
        </p:nvSpPr>
        <p:spPr>
          <a:xfrm>
            <a:off x="640080" y="3749040"/>
            <a:ext cx="6583680" cy="1005840"/>
          </a:xfrm>
          <a:prstGeom prst="rect">
            <a:avLst/>
          </a:prstGeom>
          <a:noFill/>
          <a:ln/>
        </p:spPr>
        <p:txBody>
          <a:bodyPr wrap="square" lIns="0" tIns="0" rIns="0" bIns="0" rtlCol="0" anchor="ctr"/>
          <a:lstStyle/>
          <a:p>
            <a:pPr indent="0" marL="0">
              <a:spcAft>
                <a:spcPts val="600"/>
              </a:spcAft>
              <a:buNone/>
            </a:pPr>
            <a:r>
              <a:rPr lang="en-US" sz="1250" b="1" dirty="0">
                <a:solidFill>
                  <a:srgbClr val="222A3F"/>
                </a:solidFill>
                <a:latin typeface="Arial" pitchFamily="34" charset="0"/>
                <a:ea typeface="Arial" pitchFamily="34" charset="-122"/>
                <a:cs typeface="Arial" pitchFamily="34" charset="-120"/>
              </a:rPr>
              <a:t>Rule of thumb: every 6 dB of margin ≈ double the free-space distance.</a:t>
            </a:r>
            <a:endParaRPr lang="en-US" sz="1250" dirty="0"/>
          </a:p>
          <a:p>
            <a:pPr indent="0" marL="0">
              <a:buNone/>
            </a:pPr>
            <a:r>
              <a:rPr lang="en-US" sz="1200" dirty="0">
                <a:solidFill>
                  <a:srgbClr val="222A3F"/>
                </a:solidFill>
                <a:latin typeface="Arial" pitchFamily="34" charset="0"/>
                <a:ea typeface="Arial" pitchFamily="34" charset="-122"/>
                <a:cs typeface="Arial" pitchFamily="34" charset="-120"/>
              </a:rPr>
              <a:t>Desk numbers that look ordinary translate to kilometers outdoors — the margin is the range.</a:t>
            </a:r>
            <a:endParaRPr lang="en-US" sz="1250" dirty="0"/>
          </a:p>
        </p:txBody>
      </p:sp>
      <p:sp>
        <p:nvSpPr>
          <p:cNvPr id="20" name="Shape 18"/>
          <p:cNvSpPr/>
          <p:nvPr/>
        </p:nvSpPr>
        <p:spPr>
          <a:xfrm>
            <a:off x="640080" y="4892040"/>
            <a:ext cx="6583680" cy="1097280"/>
          </a:xfrm>
          <a:prstGeom prst="rect">
            <a:avLst/>
          </a:prstGeom>
          <a:solidFill>
            <a:srgbClr val="1B2440"/>
          </a:solidFill>
          <a:ln/>
        </p:spPr>
      </p:sp>
      <p:sp>
        <p:nvSpPr>
          <p:cNvPr id="21" name="Text 19"/>
          <p:cNvSpPr txBox="1"/>
          <p:nvPr/>
        </p:nvSpPr>
        <p:spPr>
          <a:xfrm>
            <a:off x="822960" y="4983480"/>
            <a:ext cx="6217920" cy="91440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dB DECODER  </a:t>
            </a:r>
            <a:pPr indent="0" marL="0">
              <a:buNone/>
            </a:pPr>
            <a:r>
              <a:rPr lang="en-US" sz="1100" dirty="0">
                <a:solidFill>
                  <a:srgbClr val="C9D8F0"/>
                </a:solidFill>
                <a:latin typeface="Arial" pitchFamily="34" charset="0"/>
                <a:ea typeface="Arial" pitchFamily="34" charset="-122"/>
                <a:cs typeface="Arial" pitchFamily="34" charset="-120"/>
              </a:rPr>
              <a:t>dB = a ratio on a log scale (+3 dB ≈ ×2, +10 dB = ×10) · dBm = power vs 1 milliwatt · SNR = signal-to-noise ratio, how far the signal stands above the static.</a:t>
            </a:r>
            <a:endParaRPr lang="en-US" sz="1000" dirty="0"/>
          </a:p>
        </p:txBody>
      </p:sp>
      <p:pic>
        <p:nvPicPr>
          <p:cNvPr id="22" name="Image 0" descr="C:/Users/deogr/AppData/Local/Temp/claude/C--Users-deogr-Documents-Fall-Project-Off-Grid-Vehicle-dection-project/e8b2e8fa-1513-4aa8-a8f6-ce4fcd20e664/scratchpad/deck5/fig_linkbudget.png">    </p:cNvPr>
          <p:cNvPicPr>
            <a:picLocks noChangeAspect="1"/>
          </p:cNvPicPr>
          <p:nvPr/>
        </p:nvPicPr>
        <p:blipFill>
          <a:blip r:embed="rId1"/>
          <a:stretch>
            <a:fillRect/>
          </a:stretch>
        </p:blipFill>
        <p:spPr>
          <a:xfrm>
            <a:off x="7543800" y="1188720"/>
            <a:ext cx="4160520" cy="2834640"/>
          </a:xfrm>
          <a:prstGeom prst="rect">
            <a:avLst/>
          </a:prstGeom>
        </p:spPr>
      </p:pic>
      <p:sp>
        <p:nvSpPr>
          <p:cNvPr id="23" name="Shape 20"/>
          <p:cNvSpPr/>
          <p:nvPr/>
        </p:nvSpPr>
        <p:spPr>
          <a:xfrm>
            <a:off x="7543800" y="4297680"/>
            <a:ext cx="4160520" cy="1691640"/>
          </a:xfrm>
          <a:prstGeom prst="rect">
            <a:avLst/>
          </a:prstGeom>
          <a:solidFill>
            <a:srgbClr val="16213D"/>
          </a:solidFill>
          <a:ln/>
        </p:spPr>
      </p:sp>
      <p:sp>
        <p:nvSpPr>
          <p:cNvPr id="24" name="Text 21"/>
          <p:cNvSpPr txBox="1"/>
          <p:nvPr/>
        </p:nvSpPr>
        <p:spPr>
          <a:xfrm>
            <a:off x="7726680" y="4434840"/>
            <a:ext cx="3794760" cy="1463040"/>
          </a:xfrm>
          <a:prstGeom prst="rect">
            <a:avLst/>
          </a:prstGeom>
          <a:noFill/>
          <a:ln/>
        </p:spPr>
        <p:txBody>
          <a:bodyPr wrap="square" lIns="0" tIns="0" rIns="0" bIns="0" rtlCol="0" anchor="ctr"/>
          <a:lstStyle/>
          <a:p>
            <a:pPr indent="0" marL="0">
              <a:spcAft>
                <a:spcPts val="500"/>
              </a:spcAft>
              <a:buNone/>
            </a:pPr>
            <a:r>
              <a:rPr lang="en-US" sz="1050" b="1" dirty="0">
                <a:solidFill>
                  <a:srgbClr val="E58E1A"/>
                </a:solidFill>
                <a:latin typeface="Courier New" pitchFamily="34" charset="0"/>
                <a:ea typeface="Courier New" pitchFamily="34" charset="-122"/>
                <a:cs typeface="Courier New" pitchFamily="34" charset="-120"/>
              </a:rPr>
              <a:t>THE RANGE PREDICTION</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+30 dBm out, −131 dBm decodable = 161 dB budget. With 20 dB reserved for streets and terrain: a 3–5 km design range. The drive test measures where reality lands.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THE AIRTIME MATH</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07/12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E58E1A"/>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E58E1A"/>
                </a:solidFill>
                <a:latin typeface="Courier New" pitchFamily="34" charset="0"/>
                <a:ea typeface="Courier New" pitchFamily="34" charset="-122"/>
                <a:cs typeface="Courier New" pitchFamily="34" charset="-120"/>
              </a:rPr>
              <a:t>OWNER: VICTOR</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MATH III: AIRTIME IS THE BUDGET</a:t>
            </a:r>
            <a:endParaRPr lang="en-US" sz="2300" dirty="0"/>
          </a:p>
        </p:txBody>
      </p:sp>
      <p:pic>
        <p:nvPicPr>
          <p:cNvPr id="10" name="Image 0" descr="C:/Users/deogr/AppData/Local/Temp/claude/C--Users-deogr-Documents-Fall-Project-Off-Grid-Vehicle-dection-project/e8b2e8fa-1513-4aa8-a8f6-ce4fcd20e664/scratchpad/deck5/eq_toa.png">    </p:cNvPr>
          <p:cNvPicPr>
            <a:picLocks noChangeAspect="1"/>
          </p:cNvPicPr>
          <p:nvPr/>
        </p:nvPicPr>
        <p:blipFill>
          <a:blip r:embed="rId1"/>
          <a:stretch>
            <a:fillRect/>
          </a:stretch>
        </p:blipFill>
        <p:spPr>
          <a:xfrm>
            <a:off x="594360" y="1143000"/>
            <a:ext cx="6949440" cy="658368"/>
          </a:xfrm>
          <a:prstGeom prst="rect">
            <a:avLst/>
          </a:prstGeom>
        </p:spPr>
      </p:pic>
      <p:sp>
        <p:nvSpPr>
          <p:cNvPr id="11" name="Text 8"/>
          <p:cNvSpPr txBox="1"/>
          <p:nvPr/>
        </p:nvSpPr>
        <p:spPr>
          <a:xfrm>
            <a:off x="640080" y="2103120"/>
            <a:ext cx="6766560" cy="2377440"/>
          </a:xfrm>
          <a:prstGeom prst="rect">
            <a:avLst/>
          </a:prstGeom>
          <a:noFill/>
          <a:ln/>
        </p:spPr>
        <p:txBody>
          <a:bodyPr wrap="square" lIns="0" tIns="0" rIns="0" bIns="0" rtlCol="0" anchor="ctr"/>
          <a:lstStyle/>
          <a:p>
            <a:pPr indent="0" marL="0">
              <a:spcAft>
                <a:spcPts val="800"/>
              </a:spcAft>
              <a:buNone/>
            </a:pPr>
            <a:r>
              <a:rPr lang="en-US" sz="1300" b="1" dirty="0">
                <a:solidFill>
                  <a:srgbClr val="222A3F"/>
                </a:solidFill>
                <a:latin typeface="Arial" pitchFamily="34" charset="0"/>
                <a:ea typeface="Arial" pitchFamily="34" charset="-122"/>
                <a:cs typeface="Arial" pitchFamily="34" charset="-120"/>
              </a:rPr>
              <a:t>Every packet costs ~0.5 s of air. The channel throttles at 25% busy.</a:t>
            </a:r>
            <a:endParaRPr lang="en-US" sz="1300" dirty="0"/>
          </a:p>
          <a:p>
            <a:pPr indent="0" marL="0">
              <a:spcAft>
                <a:spcPts val="800"/>
              </a:spcAft>
              <a:buNone/>
            </a:pPr>
            <a:r>
              <a:rPr lang="en-US" sz="1200" dirty="0">
                <a:solidFill>
                  <a:srgbClr val="222A3F"/>
                </a:solidFill>
                <a:latin typeface="Arial" pitchFamily="34" charset="0"/>
                <a:ea typeface="Arial" pitchFamily="34" charset="-122"/>
                <a:cs typeface="Arial" pitchFamily="34" charset="-120"/>
              </a:rPr>
              <a:t>Two moving vehicles at 10 s cadence = 10% — but the mesh default RELAYS every packet, doubling it to ~20%. With only two radios a relay reaches no one.</a:t>
            </a:r>
            <a:endParaRPr lang="en-US" sz="1300" dirty="0"/>
          </a:p>
          <a:p>
            <a:pPr indent="0" marL="0">
              <a:buNone/>
            </a:pPr>
            <a:r>
              <a:rPr lang="en-US" sz="1200" dirty="0">
                <a:solidFill>
                  <a:srgbClr val="222A3F"/>
                </a:solidFill>
                <a:latin typeface="Arial" pitchFamily="34" charset="0"/>
                <a:ea typeface="Arial" pitchFamily="34" charset="-122"/>
                <a:cs typeface="Arial" pitchFamily="34" charset="-120"/>
              </a:rPr>
              <a:t>Fix, verified on the bench: role CLIENT_MUTE — hear everything, repeat nothing. Utilization halved: 9–13% → ~5–6%.</a:t>
            </a:r>
            <a:endParaRPr lang="en-US" sz="1300" dirty="0"/>
          </a:p>
        </p:txBody>
      </p:sp>
      <p:sp>
        <p:nvSpPr>
          <p:cNvPr id="12" name="Shape 9"/>
          <p:cNvSpPr/>
          <p:nvPr/>
        </p:nvSpPr>
        <p:spPr>
          <a:xfrm>
            <a:off x="640080" y="4709160"/>
            <a:ext cx="6766560" cy="1280160"/>
          </a:xfrm>
          <a:prstGeom prst="rect">
            <a:avLst/>
          </a:prstGeom>
          <a:solidFill>
            <a:srgbClr val="1B2440"/>
          </a:solidFill>
          <a:ln/>
        </p:spPr>
      </p:sp>
      <p:sp>
        <p:nvSpPr>
          <p:cNvPr id="13" name="Text 10"/>
          <p:cNvSpPr txBox="1"/>
          <p:nvPr/>
        </p:nvSpPr>
        <p:spPr>
          <a:xfrm>
            <a:off x="822960" y="4800600"/>
            <a:ext cx="6400800" cy="109728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SYMBOL DECODER  </a:t>
            </a:r>
            <a:pPr indent="0" marL="0">
              <a:buNone/>
            </a:pPr>
            <a:r>
              <a:rPr lang="en-US" sz="1050" dirty="0">
                <a:solidFill>
                  <a:srgbClr val="C9D8F0"/>
                </a:solidFill>
                <a:latin typeface="Arial" pitchFamily="34" charset="0"/>
                <a:ea typeface="Arial" pitchFamily="34" charset="-122"/>
                <a:cs typeface="Arial" pitchFamily="34" charset="-120"/>
              </a:rPr>
              <a:t>T_sym = time per symbol: 2¹¹ chips ÷ 250,000/s = 8.19 ms · N_pre = preamble symbols the receiver locks onto · N_payload = data symbols · ChUtil = % of the last minute the channel carried radio energy.</a:t>
            </a:r>
            <a:endParaRPr lang="en-US" sz="1000" dirty="0"/>
          </a:p>
        </p:txBody>
      </p:sp>
      <p:pic>
        <p:nvPicPr>
          <p:cNvPr id="14" name="Image 1" descr="C:/Users/deogr/AppData/Local/Temp/claude/C--Users-deogr-Documents-Fall-Project-Off-Grid-Vehicle-dection-project/e8b2e8fa-1513-4aa8-a8f6-ce4fcd20e664/scratchpad/deck5/fig_chutil.png">    </p:cNvPr>
          <p:cNvPicPr>
            <a:picLocks noChangeAspect="1"/>
          </p:cNvPicPr>
          <p:nvPr/>
        </p:nvPicPr>
        <p:blipFill>
          <a:blip r:embed="rId2"/>
          <a:stretch>
            <a:fillRect/>
          </a:stretch>
        </p:blipFill>
        <p:spPr>
          <a:xfrm>
            <a:off x="7772400" y="1188720"/>
            <a:ext cx="3977640" cy="2606040"/>
          </a:xfrm>
          <a:prstGeom prst="rect">
            <a:avLst/>
          </a:prstGeom>
        </p:spPr>
      </p:pic>
      <p:sp>
        <p:nvSpPr>
          <p:cNvPr id="15" name="Shape 11"/>
          <p:cNvSpPr/>
          <p:nvPr/>
        </p:nvSpPr>
        <p:spPr>
          <a:xfrm>
            <a:off x="7772400" y="4069080"/>
            <a:ext cx="3977640" cy="1920240"/>
          </a:xfrm>
          <a:prstGeom prst="rect">
            <a:avLst/>
          </a:prstGeom>
          <a:solidFill>
            <a:srgbClr val="16213D"/>
          </a:solidFill>
          <a:ln/>
        </p:spPr>
      </p:sp>
      <p:sp>
        <p:nvSpPr>
          <p:cNvPr id="16" name="Text 12"/>
          <p:cNvSpPr txBox="1"/>
          <p:nvPr/>
        </p:nvSpPr>
        <p:spPr>
          <a:xfrm>
            <a:off x="7955280" y="4206240"/>
            <a:ext cx="3611880" cy="1691640"/>
          </a:xfrm>
          <a:prstGeom prst="rect">
            <a:avLst/>
          </a:prstGeom>
          <a:noFill/>
          <a:ln/>
        </p:spPr>
        <p:txBody>
          <a:bodyPr wrap="square" lIns="0" tIns="0" rIns="0" bIns="0" rtlCol="0" anchor="ctr"/>
          <a:lstStyle/>
          <a:p>
            <a:pPr indent="0" marL="0">
              <a:spcAft>
                <a:spcPts val="500"/>
              </a:spcAft>
              <a:buNone/>
            </a:pPr>
            <a:r>
              <a:rPr lang="en-US" sz="1050" b="1" dirty="0">
                <a:solidFill>
                  <a:srgbClr val="E58E1A"/>
                </a:solidFill>
                <a:latin typeface="Courier New" pitchFamily="34" charset="0"/>
                <a:ea typeface="Courier New" pitchFamily="34" charset="-122"/>
                <a:cs typeface="Courier New" pitchFamily="34" charset="-120"/>
              </a:rPr>
              <a:t>WHY IT MATTERED</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Above 25% busy, Meshtastic suppresses position broadcasts — our core packet — exactly when both vehicles move. CLIENT_MUTE keeps us at 2.5× headroom. Revert to CLIENT if a third radio ever joins.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LIVE DEMO: MESSAGING</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08/12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D9488C"/>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D9488C"/>
                </a:solidFill>
                <a:latin typeface="Courier New" pitchFamily="34" charset="0"/>
                <a:ea typeface="Courier New" pitchFamily="34" charset="-122"/>
                <a:cs typeface="Courier New" pitchFamily="34" charset="-120"/>
              </a:rPr>
              <a:t>OWNER: CANNON</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LIVE DEMO I: SEND IT, RECEIVE IT</a:t>
            </a:r>
            <a:endParaRPr lang="en-US" sz="2300" dirty="0"/>
          </a:p>
        </p:txBody>
      </p:sp>
      <p:sp>
        <p:nvSpPr>
          <p:cNvPr id="10" name="Shape 8"/>
          <p:cNvSpPr/>
          <p:nvPr/>
        </p:nvSpPr>
        <p:spPr>
          <a:xfrm>
            <a:off x="640080" y="1051560"/>
            <a:ext cx="11064240" cy="457200"/>
          </a:xfrm>
          <a:prstGeom prst="rect">
            <a:avLst/>
          </a:prstGeom>
          <a:solidFill>
            <a:srgbClr val="D9488C"/>
          </a:solidFill>
          <a:ln/>
        </p:spPr>
      </p:sp>
      <p:sp>
        <p:nvSpPr>
          <p:cNvPr id="11" name="Text 9"/>
          <p:cNvSpPr txBox="1"/>
          <p:nvPr/>
        </p:nvSpPr>
        <p:spPr>
          <a:xfrm>
            <a:off x="640080" y="1097280"/>
            <a:ext cx="110642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LIVE ON THE RADIOS — slides show the bench captures; the demo repeats them in front of you</a:t>
            </a:r>
            <a:endParaRPr lang="en-US" sz="1150" dirty="0"/>
          </a:p>
        </p:txBody>
      </p:sp>
      <p:sp>
        <p:nvSpPr>
          <p:cNvPr id="12" name="Shape 10"/>
          <p:cNvSpPr/>
          <p:nvPr/>
        </p:nvSpPr>
        <p:spPr>
          <a:xfrm>
            <a:off x="640080" y="1828800"/>
            <a:ext cx="3291840" cy="3931920"/>
          </a:xfrm>
          <a:prstGeom prst="rect">
            <a:avLst/>
          </a:prstGeom>
          <a:solidFill>
            <a:srgbClr val="FFFFFF"/>
          </a:solidFill>
          <a:ln w="19050">
            <a:solidFill>
              <a:srgbClr val="D9488C"/>
            </a:solidFill>
            <a:prstDash val="dash"/>
          </a:ln>
        </p:spPr>
      </p:sp>
      <p:sp>
        <p:nvSpPr>
          <p:cNvPr id="13" name="Text 11"/>
          <p:cNvSpPr txBox="1"/>
          <p:nvPr/>
        </p:nvSpPr>
        <p:spPr>
          <a:xfrm>
            <a:off x="868680" y="2011680"/>
            <a:ext cx="2834640" cy="3566160"/>
          </a:xfrm>
          <a:prstGeom prst="rect">
            <a:avLst/>
          </a:prstGeom>
          <a:noFill/>
          <a:ln/>
        </p:spPr>
        <p:txBody>
          <a:bodyPr wrap="square" lIns="0" tIns="0" rIns="0" bIns="0" rtlCol="0" anchor="ctr"/>
          <a:lstStyle/>
          <a:p>
            <a:pPr indent="0" marL="0">
              <a:spcAft>
                <a:spcPts val="600"/>
              </a:spcAft>
              <a:buNone/>
            </a:pPr>
            <a:r>
              <a:rPr lang="en-US" sz="1100" b="1" dirty="0">
                <a:solidFill>
                  <a:srgbClr val="D9488C"/>
                </a:solidFill>
                <a:latin typeface="Courier New" pitchFamily="34" charset="0"/>
                <a:ea typeface="Courier New" pitchFamily="34" charset="-122"/>
                <a:cs typeface="Courier New" pitchFamily="34" charset="-120"/>
              </a:rPr>
              <a:t>STEP 1 · LIVE</a:t>
            </a:r>
            <a:endParaRPr lang="en-US" sz="1100" dirty="0"/>
          </a:p>
          <a:p>
            <a:pPr indent="0" marL="0">
              <a:spcAft>
                <a:spcPts val="800"/>
              </a:spcAft>
              <a:buNone/>
            </a:pPr>
            <a:r>
              <a:rPr lang="en-US" sz="1200" dirty="0">
                <a:solidFill>
                  <a:srgbClr val="222A3F"/>
                </a:solidFill>
                <a:latin typeface="Arial" pitchFamily="34" charset="0"/>
                <a:ea typeface="Arial" pitchFamily="34" charset="-122"/>
                <a:cs typeface="Arial" pitchFamily="34" charset="-120"/>
              </a:rPr>
              <a:t>On radio SF: open the canned-message menu with the user button, scroll to “Hi”, send.</a:t>
            </a:r>
            <a:endParaRPr lang="en-US" sz="1100" dirty="0"/>
          </a:p>
          <a:p>
            <a:pPr indent="0" marL="0">
              <a:buNone/>
            </a:pPr>
            <a:r>
              <a:rPr lang="en-US" sz="1050" dirty="0">
                <a:solidFill>
                  <a:srgbClr val="5E6B85"/>
                </a:solidFill>
                <a:latin typeface="Arial" pitchFamily="34" charset="0"/>
                <a:ea typeface="Arial" pitchFamily="34" charset="-122"/>
                <a:cs typeface="Arial" pitchFamily="34" charset="-120"/>
              </a:rPr>
              <a:t>15 presets loaded on both radios: OK · Yes · No · Hi · How are you? · All good · Need help · Are you injured? · Send position · Position updated · On my way · Wait there · Arrived · Low battery · Heading home</a:t>
            </a:r>
            <a:endParaRPr lang="en-US" sz="1100" dirty="0"/>
          </a:p>
        </p:txBody>
      </p:sp>
      <p:pic>
        <p:nvPicPr>
          <p:cNvPr id="14" name="Image 0" descr="C:/Users/deogr/AppData/Local/Temp/claude/C--Users-deogr-Documents-Fall-Project-Off-Grid-Vehicle-dection-project/e8b2e8fa-1513-4aa8-a8f6-ce4fcd20e664/images/2.jpg">    </p:cNvPr>
          <p:cNvPicPr>
            <a:picLocks noChangeAspect="1"/>
          </p:cNvPicPr>
          <p:nvPr/>
        </p:nvPicPr>
        <p:blipFill>
          <a:blip r:embed="rId1"/>
          <a:stretch>
            <a:fillRect/>
          </a:stretch>
        </p:blipFill>
        <p:spPr>
          <a:xfrm>
            <a:off x="4343400" y="1828800"/>
            <a:ext cx="2926080" cy="3904488"/>
          </a:xfrm>
          <a:prstGeom prst="rect">
            <a:avLst/>
          </a:prstGeom>
        </p:spPr>
      </p:pic>
      <p:sp>
        <p:nvSpPr>
          <p:cNvPr id="15" name="Shape 12"/>
          <p:cNvSpPr/>
          <p:nvPr/>
        </p:nvSpPr>
        <p:spPr>
          <a:xfrm>
            <a:off x="4343400" y="1828800"/>
            <a:ext cx="2926080" cy="3904488"/>
          </a:xfrm>
          <a:prstGeom prst="rect">
            <a:avLst/>
          </a:prstGeom>
          <a:ln w="12700">
            <a:solidFill>
              <a:srgbClr val="9AA7BE"/>
            </a:solidFill>
            <a:prstDash val="solid"/>
          </a:ln>
        </p:spPr>
      </p:sp>
      <p:sp>
        <p:nvSpPr>
          <p:cNvPr id="16" name="Text 13"/>
          <p:cNvSpPr txBox="1"/>
          <p:nvPr/>
        </p:nvSpPr>
        <p:spPr>
          <a:xfrm>
            <a:off x="4114800" y="5751576"/>
            <a:ext cx="3383280"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STEP 2: the text lands on RG — no phone, no tower, radio to radio</a:t>
            </a:r>
            <a:endParaRPr lang="en-US" sz="850" dirty="0"/>
          </a:p>
        </p:txBody>
      </p:sp>
      <p:pic>
        <p:nvPicPr>
          <p:cNvPr id="17" name="Image 1" descr="C:/Users/deogr/AppData/Local/Temp/claude/C--Users-deogr-Documents-Fall-Project-Off-Grid-Vehicle-dection-project/e8b2e8fa-1513-4aa8-a8f6-ce4fcd20e664/images/27.jpg">    </p:cNvPr>
          <p:cNvPicPr>
            <a:picLocks noChangeAspect="1"/>
          </p:cNvPicPr>
          <p:nvPr/>
        </p:nvPicPr>
        <p:blipFill>
          <a:blip r:embed="rId2"/>
          <a:stretch>
            <a:fillRect/>
          </a:stretch>
        </p:blipFill>
        <p:spPr>
          <a:xfrm>
            <a:off x="7680960" y="1828800"/>
            <a:ext cx="2926080" cy="3904488"/>
          </a:xfrm>
          <a:prstGeom prst="rect">
            <a:avLst/>
          </a:prstGeom>
        </p:spPr>
      </p:pic>
      <p:sp>
        <p:nvSpPr>
          <p:cNvPr id="18" name="Shape 14"/>
          <p:cNvSpPr/>
          <p:nvPr/>
        </p:nvSpPr>
        <p:spPr>
          <a:xfrm>
            <a:off x="7680960" y="1828800"/>
            <a:ext cx="2926080" cy="3904488"/>
          </a:xfrm>
          <a:prstGeom prst="rect">
            <a:avLst/>
          </a:prstGeom>
          <a:ln w="12700">
            <a:solidFill>
              <a:srgbClr val="9AA7BE"/>
            </a:solidFill>
            <a:prstDash val="solid"/>
          </a:ln>
        </p:spPr>
      </p:sp>
      <p:sp>
        <p:nvSpPr>
          <p:cNvPr id="19" name="Text 15"/>
          <p:cNvSpPr txBox="1"/>
          <p:nvPr/>
        </p:nvSpPr>
        <p:spPr>
          <a:xfrm>
            <a:off x="7452360" y="5751576"/>
            <a:ext cx="3383280"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STEP 3: RG’s Last-Heard list re-stamps — “SF · 1m” — the link bookkeeping updating live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LIVE DEMO: READING THE RADIO</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09/12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D9488C"/>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D9488C"/>
                </a:solidFill>
                <a:latin typeface="Courier New" pitchFamily="34" charset="0"/>
                <a:ea typeface="Courier New" pitchFamily="34" charset="-122"/>
                <a:cs typeface="Courier New" pitchFamily="34" charset="-120"/>
              </a:rPr>
              <a:t>OWNER: CANNON</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LIVE DEMO II: READING THE RADIO</a:t>
            </a:r>
            <a:endParaRPr lang="en-US" sz="2300" dirty="0"/>
          </a:p>
        </p:txBody>
      </p:sp>
      <p:pic>
        <p:nvPicPr>
          <p:cNvPr id="10" name="Image 0" descr="C:/Users/deogr/AppData/Local/Temp/claude/C--Users-deogr-Documents-Fall-Project-Off-Grid-Vehicle-dection-project/e8b2e8fa-1513-4aa8-a8f6-ce4fcd20e664/images/13.jpg">    </p:cNvPr>
          <p:cNvPicPr>
            <a:picLocks noChangeAspect="1"/>
          </p:cNvPicPr>
          <p:nvPr/>
        </p:nvPicPr>
        <p:blipFill>
          <a:blip r:embed="rId1"/>
          <a:stretch>
            <a:fillRect/>
          </a:stretch>
        </p:blipFill>
        <p:spPr>
          <a:xfrm>
            <a:off x="960120" y="1143000"/>
            <a:ext cx="1572768" cy="2093976"/>
          </a:xfrm>
          <a:prstGeom prst="rect">
            <a:avLst/>
          </a:prstGeom>
        </p:spPr>
      </p:pic>
      <p:sp>
        <p:nvSpPr>
          <p:cNvPr id="11" name="Shape 8"/>
          <p:cNvSpPr/>
          <p:nvPr/>
        </p:nvSpPr>
        <p:spPr>
          <a:xfrm>
            <a:off x="960120" y="1143000"/>
            <a:ext cx="1572768" cy="2093976"/>
          </a:xfrm>
          <a:prstGeom prst="rect">
            <a:avLst/>
          </a:prstGeom>
          <a:ln w="12700">
            <a:solidFill>
              <a:srgbClr val="9AA7BE"/>
            </a:solidFill>
            <a:prstDash val="solid"/>
          </a:ln>
        </p:spPr>
      </p:sp>
      <p:sp>
        <p:nvSpPr>
          <p:cNvPr id="12" name="Text 9"/>
          <p:cNvSpPr txBox="1"/>
          <p:nvPr/>
        </p:nvSpPr>
        <p:spPr>
          <a:xfrm>
            <a:off x="731520" y="3255264"/>
            <a:ext cx="2029968"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DISTANCE — fills when both</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radios hold a GPS fix</a:t>
            </a:r>
            <a:endParaRPr lang="en-US" sz="850" dirty="0"/>
          </a:p>
        </p:txBody>
      </p:sp>
      <p:pic>
        <p:nvPicPr>
          <p:cNvPr id="13" name="Image 1" descr="C:/Users/deogr/AppData/Local/Temp/claude/C--Users-deogr-Documents-Fall-Project-Off-Grid-Vehicle-dection-project/e8b2e8fa-1513-4aa8-a8f6-ce4fcd20e664/images/12.jpg">    </p:cNvPr>
          <p:cNvPicPr>
            <a:picLocks noChangeAspect="1"/>
          </p:cNvPicPr>
          <p:nvPr/>
        </p:nvPicPr>
        <p:blipFill>
          <a:blip r:embed="rId2"/>
          <a:stretch>
            <a:fillRect/>
          </a:stretch>
        </p:blipFill>
        <p:spPr>
          <a:xfrm>
            <a:off x="3794760" y="1143000"/>
            <a:ext cx="1572768" cy="2093976"/>
          </a:xfrm>
          <a:prstGeom prst="rect">
            <a:avLst/>
          </a:prstGeom>
        </p:spPr>
      </p:pic>
      <p:sp>
        <p:nvSpPr>
          <p:cNvPr id="14" name="Shape 10"/>
          <p:cNvSpPr/>
          <p:nvPr/>
        </p:nvSpPr>
        <p:spPr>
          <a:xfrm>
            <a:off x="3794760" y="1143000"/>
            <a:ext cx="1572768" cy="2093976"/>
          </a:xfrm>
          <a:prstGeom prst="rect">
            <a:avLst/>
          </a:prstGeom>
          <a:ln w="12700">
            <a:solidFill>
              <a:srgbClr val="9AA7BE"/>
            </a:solidFill>
            <a:prstDash val="solid"/>
          </a:ln>
        </p:spPr>
      </p:sp>
      <p:sp>
        <p:nvSpPr>
          <p:cNvPr id="15" name="Text 11"/>
          <p:cNvSpPr txBox="1"/>
          <p:nvPr/>
        </p:nvSpPr>
        <p:spPr>
          <a:xfrm>
            <a:off x="3566160" y="3255264"/>
            <a:ext cx="2029968"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BEARING — compass direction</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to the partner vehicle</a:t>
            </a:r>
            <a:endParaRPr lang="en-US" sz="850" dirty="0"/>
          </a:p>
        </p:txBody>
      </p:sp>
      <p:pic>
        <p:nvPicPr>
          <p:cNvPr id="16" name="Image 2" descr="C:/Users/deogr/AppData/Local/Temp/claude/C--Users-deogr-Documents-Fall-Project-Off-Grid-Vehicle-dection-project/e8b2e8fa-1513-4aa8-a8f6-ce4fcd20e664/images/20.jpg">    </p:cNvPr>
          <p:cNvPicPr>
            <a:picLocks noChangeAspect="1"/>
          </p:cNvPicPr>
          <p:nvPr/>
        </p:nvPicPr>
        <p:blipFill>
          <a:blip r:embed="rId3"/>
          <a:stretch>
            <a:fillRect/>
          </a:stretch>
        </p:blipFill>
        <p:spPr>
          <a:xfrm>
            <a:off x="6629400" y="1143000"/>
            <a:ext cx="1572768" cy="2093976"/>
          </a:xfrm>
          <a:prstGeom prst="rect">
            <a:avLst/>
          </a:prstGeom>
        </p:spPr>
      </p:pic>
      <p:sp>
        <p:nvSpPr>
          <p:cNvPr id="17" name="Shape 12"/>
          <p:cNvSpPr/>
          <p:nvPr/>
        </p:nvSpPr>
        <p:spPr>
          <a:xfrm>
            <a:off x="6629400" y="1143000"/>
            <a:ext cx="1572768" cy="2093976"/>
          </a:xfrm>
          <a:prstGeom prst="rect">
            <a:avLst/>
          </a:prstGeom>
          <a:ln w="12700">
            <a:solidFill>
              <a:srgbClr val="9AA7BE"/>
            </a:solidFill>
            <a:prstDash val="solid"/>
          </a:ln>
        </p:spPr>
      </p:sp>
      <p:sp>
        <p:nvSpPr>
          <p:cNvPr id="18" name="Text 13"/>
          <p:cNvSpPr txBox="1"/>
          <p:nvPr/>
        </p:nvSpPr>
        <p:spPr>
          <a:xfrm>
            <a:off x="6400800" y="3255264"/>
            <a:ext cx="2029968"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POSITION — sats, fix, altitude</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(indoors: No Fix, honestly)</a:t>
            </a:r>
            <a:endParaRPr lang="en-US" sz="850" dirty="0"/>
          </a:p>
        </p:txBody>
      </p:sp>
      <p:pic>
        <p:nvPicPr>
          <p:cNvPr id="19" name="Image 3" descr="C:/Users/deogr/AppData/Local/Temp/claude/C--Users-deogr-Documents-Fall-Project-Off-Grid-Vehicle-dection-project/e8b2e8fa-1513-4aa8-a8f6-ce4fcd20e664/images/27.jpg">    </p:cNvPr>
          <p:cNvPicPr>
            <a:picLocks noChangeAspect="1"/>
          </p:cNvPicPr>
          <p:nvPr/>
        </p:nvPicPr>
        <p:blipFill>
          <a:blip r:embed="rId4"/>
          <a:stretch>
            <a:fillRect/>
          </a:stretch>
        </p:blipFill>
        <p:spPr>
          <a:xfrm>
            <a:off x="9464040" y="1143000"/>
            <a:ext cx="1572768" cy="2093976"/>
          </a:xfrm>
          <a:prstGeom prst="rect">
            <a:avLst/>
          </a:prstGeom>
        </p:spPr>
      </p:pic>
      <p:sp>
        <p:nvSpPr>
          <p:cNvPr id="20" name="Shape 14"/>
          <p:cNvSpPr/>
          <p:nvPr/>
        </p:nvSpPr>
        <p:spPr>
          <a:xfrm>
            <a:off x="9464040" y="1143000"/>
            <a:ext cx="1572768" cy="2093976"/>
          </a:xfrm>
          <a:prstGeom prst="rect">
            <a:avLst/>
          </a:prstGeom>
          <a:ln w="12700">
            <a:solidFill>
              <a:srgbClr val="9AA7BE"/>
            </a:solidFill>
            <a:prstDash val="solid"/>
          </a:ln>
        </p:spPr>
      </p:sp>
      <p:sp>
        <p:nvSpPr>
          <p:cNvPr id="21" name="Text 15"/>
          <p:cNvSpPr txBox="1"/>
          <p:nvPr/>
        </p:nvSpPr>
        <p:spPr>
          <a:xfrm>
            <a:off x="9235440" y="3255264"/>
            <a:ext cx="2029968"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LAST HEARD — seconds since</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each node spoke</a:t>
            </a:r>
            <a:endParaRPr lang="en-US" sz="850" dirty="0"/>
          </a:p>
        </p:txBody>
      </p:sp>
      <p:pic>
        <p:nvPicPr>
          <p:cNvPr id="22" name="Image 4" descr="C:/Users/deogr/AppData/Local/Temp/claude/C--Users-deogr-Documents-Fall-Project-Off-Grid-Vehicle-dection-project/e8b2e8fa-1513-4aa8-a8f6-ce4fcd20e664/images/9.jpg">    </p:cNvPr>
          <p:cNvPicPr>
            <a:picLocks noChangeAspect="1"/>
          </p:cNvPicPr>
          <p:nvPr/>
        </p:nvPicPr>
        <p:blipFill>
          <a:blip r:embed="rId5"/>
          <a:stretch>
            <a:fillRect/>
          </a:stretch>
        </p:blipFill>
        <p:spPr>
          <a:xfrm>
            <a:off x="960120" y="3657600"/>
            <a:ext cx="1572768" cy="2093976"/>
          </a:xfrm>
          <a:prstGeom prst="rect">
            <a:avLst/>
          </a:prstGeom>
        </p:spPr>
      </p:pic>
      <p:sp>
        <p:nvSpPr>
          <p:cNvPr id="23" name="Shape 16"/>
          <p:cNvSpPr/>
          <p:nvPr/>
        </p:nvSpPr>
        <p:spPr>
          <a:xfrm>
            <a:off x="960120" y="3657600"/>
            <a:ext cx="1572768" cy="2093976"/>
          </a:xfrm>
          <a:prstGeom prst="rect">
            <a:avLst/>
          </a:prstGeom>
          <a:ln w="12700">
            <a:solidFill>
              <a:srgbClr val="9AA7BE"/>
            </a:solidFill>
            <a:prstDash val="solid"/>
          </a:ln>
        </p:spPr>
      </p:sp>
      <p:sp>
        <p:nvSpPr>
          <p:cNvPr id="24" name="Text 17"/>
          <p:cNvSpPr txBox="1"/>
          <p:nvPr/>
        </p:nvSpPr>
        <p:spPr>
          <a:xfrm>
            <a:off x="731520" y="5769864"/>
            <a:ext cx="2029968"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LORA — preset, live frequency,</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channel utilization</a:t>
            </a:r>
            <a:endParaRPr lang="en-US" sz="850" dirty="0"/>
          </a:p>
        </p:txBody>
      </p:sp>
      <p:pic>
        <p:nvPicPr>
          <p:cNvPr id="25" name="Image 5" descr="C:/Users/deogr/AppData/Local/Temp/claude/C--Users-deogr-Documents-Fall-Project-Off-Grid-Vehicle-dection-project/e8b2e8fa-1513-4aa8-a8f6-ce4fcd20e664/images/22.jpg">    </p:cNvPr>
          <p:cNvPicPr>
            <a:picLocks noChangeAspect="1"/>
          </p:cNvPicPr>
          <p:nvPr/>
        </p:nvPicPr>
        <p:blipFill>
          <a:blip r:embed="rId6"/>
          <a:stretch>
            <a:fillRect/>
          </a:stretch>
        </p:blipFill>
        <p:spPr>
          <a:xfrm>
            <a:off x="3794760" y="3657600"/>
            <a:ext cx="1572768" cy="2093976"/>
          </a:xfrm>
          <a:prstGeom prst="rect">
            <a:avLst/>
          </a:prstGeom>
        </p:spPr>
      </p:pic>
      <p:sp>
        <p:nvSpPr>
          <p:cNvPr id="26" name="Shape 18"/>
          <p:cNvSpPr/>
          <p:nvPr/>
        </p:nvSpPr>
        <p:spPr>
          <a:xfrm>
            <a:off x="3794760" y="3657600"/>
            <a:ext cx="1572768" cy="2093976"/>
          </a:xfrm>
          <a:prstGeom prst="rect">
            <a:avLst/>
          </a:prstGeom>
          <a:ln w="12700">
            <a:solidFill>
              <a:srgbClr val="9AA7BE"/>
            </a:solidFill>
            <a:prstDash val="solid"/>
          </a:ln>
        </p:spPr>
      </p:sp>
      <p:sp>
        <p:nvSpPr>
          <p:cNvPr id="27" name="Text 19"/>
          <p:cNvSpPr txBox="1"/>
          <p:nvPr/>
        </p:nvSpPr>
        <p:spPr>
          <a:xfrm>
            <a:off x="3566160" y="5769864"/>
            <a:ext cx="2029968"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SYSTEM — firmware, memory</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(ver 2.7.26 on both)</a:t>
            </a:r>
            <a:endParaRPr lang="en-US" sz="850" dirty="0"/>
          </a:p>
        </p:txBody>
      </p:sp>
      <p:pic>
        <p:nvPicPr>
          <p:cNvPr id="28" name="Image 6" descr="C:/Users/deogr/AppData/Local/Temp/claude/C--Users-deogr-Documents-Fall-Project-Off-Grid-Vehicle-dection-project/e8b2e8fa-1513-4aa8-a8f6-ce4fcd20e664/images/7.jpg">    </p:cNvPr>
          <p:cNvPicPr>
            <a:picLocks noChangeAspect="1"/>
          </p:cNvPicPr>
          <p:nvPr/>
        </p:nvPicPr>
        <p:blipFill>
          <a:blip r:embed="rId7"/>
          <a:stretch>
            <a:fillRect/>
          </a:stretch>
        </p:blipFill>
        <p:spPr>
          <a:xfrm>
            <a:off x="6629400" y="3657600"/>
            <a:ext cx="1572768" cy="2093976"/>
          </a:xfrm>
          <a:prstGeom prst="rect">
            <a:avLst/>
          </a:prstGeom>
        </p:spPr>
      </p:pic>
      <p:sp>
        <p:nvSpPr>
          <p:cNvPr id="29" name="Shape 20"/>
          <p:cNvSpPr/>
          <p:nvPr/>
        </p:nvSpPr>
        <p:spPr>
          <a:xfrm>
            <a:off x="6629400" y="3657600"/>
            <a:ext cx="1572768" cy="2093976"/>
          </a:xfrm>
          <a:prstGeom prst="rect">
            <a:avLst/>
          </a:prstGeom>
          <a:ln w="12700">
            <a:solidFill>
              <a:srgbClr val="9AA7BE"/>
            </a:solidFill>
            <a:prstDash val="solid"/>
          </a:ln>
        </p:spPr>
      </p:sp>
      <p:sp>
        <p:nvSpPr>
          <p:cNvPr id="30" name="Text 21"/>
          <p:cNvSpPr txBox="1"/>
          <p:nvPr/>
        </p:nvSpPr>
        <p:spPr>
          <a:xfrm>
            <a:off x="6400800" y="5769864"/>
            <a:ext cx="2029968"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TIME — GPS-disciplined clock</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(needs a fix to be right)</a:t>
            </a:r>
            <a:endParaRPr lang="en-US" sz="850" dirty="0"/>
          </a:p>
        </p:txBody>
      </p:sp>
      <p:pic>
        <p:nvPicPr>
          <p:cNvPr id="31" name="Image 7" descr="C:/Users/deogr/AppData/Local/Temp/claude/C--Users-deogr-Documents-Fall-Project-Off-Grid-Vehicle-dection-project/e8b2e8fa-1513-4aa8-a8f6-ce4fcd20e664/images/10.jpg">    </p:cNvPr>
          <p:cNvPicPr>
            <a:picLocks noChangeAspect="1"/>
          </p:cNvPicPr>
          <p:nvPr/>
        </p:nvPicPr>
        <p:blipFill>
          <a:blip r:embed="rId8"/>
          <a:stretch>
            <a:fillRect/>
          </a:stretch>
        </p:blipFill>
        <p:spPr>
          <a:xfrm>
            <a:off x="9464040" y="3657600"/>
            <a:ext cx="1572768" cy="2093976"/>
          </a:xfrm>
          <a:prstGeom prst="rect">
            <a:avLst/>
          </a:prstGeom>
        </p:spPr>
      </p:pic>
      <p:sp>
        <p:nvSpPr>
          <p:cNvPr id="32" name="Shape 22"/>
          <p:cNvSpPr/>
          <p:nvPr/>
        </p:nvSpPr>
        <p:spPr>
          <a:xfrm>
            <a:off x="9464040" y="3657600"/>
            <a:ext cx="1572768" cy="2093976"/>
          </a:xfrm>
          <a:prstGeom prst="rect">
            <a:avLst/>
          </a:prstGeom>
          <a:ln w="12700">
            <a:solidFill>
              <a:srgbClr val="9AA7BE"/>
            </a:solidFill>
            <a:prstDash val="solid"/>
          </a:ln>
        </p:spPr>
      </p:sp>
      <p:sp>
        <p:nvSpPr>
          <p:cNvPr id="33" name="Text 23"/>
          <p:cNvSpPr txBox="1"/>
          <p:nvPr/>
        </p:nvSpPr>
        <p:spPr>
          <a:xfrm>
            <a:off x="9235440" y="5769864"/>
            <a:ext cx="2029968"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NODE PAGE — per-peer signal</a:t>
            </a:r>
            <a:endParaRPr lang="en-US" sz="85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quality: SF as seen by RG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HOW THE TESTING WAS DONE</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10/12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D9488C"/>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D9488C"/>
                </a:solidFill>
                <a:latin typeface="Courier New" pitchFamily="34" charset="0"/>
                <a:ea typeface="Courier New" pitchFamily="34" charset="-122"/>
                <a:cs typeface="Courier New" pitchFamily="34" charset="-120"/>
              </a:rPr>
              <a:t>OWNER: CANNON</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HOW THE TESTING WAS DONE</a:t>
            </a:r>
            <a:endParaRPr lang="en-US" sz="2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143000"/>
          <a:ext cx="6949440" cy="914400"/>
        </p:xfrm>
        <a:graphic>
          <a:graphicData uri="http://schemas.openxmlformats.org/drawingml/2006/table">
            <a:tbl>
              <a:tblPr/>
              <a:tblGrid>
                <a:gridCol w="2011680"/>
                <a:gridCol w="2560320"/>
                <a:gridCol w="2377440"/>
              </a:tblGrid>
              <a:tr h="566928">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TECHNIQUE</a:t>
                      </a:r>
                      <a:endParaRPr lang="en-US" sz="9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WHAT IT MEANS</a:t>
                      </a:r>
                      <a:endParaRPr lang="en-US" sz="9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WHAT IT CAUGHT / PROVED</a:t>
                      </a:r>
                      <a:endParaRPr lang="en-US" sz="9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r>
              <a:tr h="566928">
                <a:tc>
                  <a:txBody>
                    <a:bodyPr/>
                    <a:lstStyle/>
                    <a:p>
                      <a:pPr indent="0" marL="0">
                        <a:buNone/>
                      </a:pPr>
                      <a:r>
                        <a:rPr lang="en-US" sz="1100" b="1" dirty="0">
                          <a:solidFill>
                            <a:srgbClr val="222A3F"/>
                          </a:solidFill>
                          <a:latin typeface="Arial" pitchFamily="34" charset="0"/>
                          <a:ea typeface="Arial" pitchFamily="34" charset="-122"/>
                          <a:cs typeface="Arial" pitchFamily="34" charset="-120"/>
                        </a:rPr>
                        <a:t>One variable per trial</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00" dirty="0">
                          <a:solidFill>
                            <a:srgbClr val="222A3F"/>
                          </a:solidFill>
                          <a:latin typeface="Arial" pitchFamily="34" charset="0"/>
                          <a:ea typeface="Arial" pitchFamily="34" charset="-122"/>
                          <a:cs typeface="Arial" pitchFamily="34" charset="-120"/>
                        </a:rPr>
                        <a:t>change one setting, retest, log</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00" dirty="0">
                          <a:solidFill>
                            <a:srgbClr val="1F9D68"/>
                          </a:solidFill>
                          <a:latin typeface="Arial" pitchFamily="34" charset="0"/>
                          <a:ea typeface="Arial" pitchFamily="34" charset="-122"/>
                          <a:cs typeface="Arial" pitchFamily="34" charset="-120"/>
                        </a:rPr>
                        <a:t>isolated the frequency-slot mismatch</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r h="566928">
                <a:tc>
                  <a:txBody>
                    <a:bodyPr/>
                    <a:lstStyle/>
                    <a:p>
                      <a:pPr indent="0" marL="0">
                        <a:buNone/>
                      </a:pPr>
                      <a:r>
                        <a:rPr lang="en-US" sz="1100" b="1" dirty="0">
                          <a:solidFill>
                            <a:srgbClr val="222A3F"/>
                          </a:solidFill>
                          <a:latin typeface="Arial" pitchFamily="34" charset="0"/>
                          <a:ea typeface="Arial" pitchFamily="34" charset="-122"/>
                          <a:cs typeface="Arial" pitchFamily="34" charset="-120"/>
                        </a:rPr>
                        <a:t>A/B regression</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00" dirty="0">
                          <a:solidFill>
                            <a:srgbClr val="222A3F"/>
                          </a:solidFill>
                          <a:latin typeface="Arial" pitchFamily="34" charset="0"/>
                          <a:ea typeface="Arial" pitchFamily="34" charset="-122"/>
                          <a:cs typeface="Arial" pitchFamily="34" charset="-120"/>
                        </a:rPr>
                        <a:t>retreat to a known-good config, rebuild</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00" dirty="0">
                          <a:solidFill>
                            <a:srgbClr val="1F9D68"/>
                          </a:solidFill>
                          <a:latin typeface="Arial" pitchFamily="34" charset="0"/>
                          <a:ea typeface="Arial" pitchFamily="34" charset="-122"/>
                          <a:cs typeface="Arial" pitchFamily="34" charset="-120"/>
                        </a:rPr>
                        <a:t>default channel worked → fault was in ours</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222A3F"/>
                          </a:solidFill>
                          <a:latin typeface="Arial" pitchFamily="34" charset="0"/>
                          <a:ea typeface="Arial" pitchFamily="34" charset="-122"/>
                          <a:cs typeface="Arial" pitchFamily="34" charset="-120"/>
                        </a:rPr>
                        <a:t>Machine probes</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00" dirty="0">
                          <a:solidFill>
                            <a:srgbClr val="222A3F"/>
                          </a:solidFill>
                          <a:latin typeface="Arial" pitchFamily="34" charset="0"/>
                          <a:ea typeface="Arial" pitchFamily="34" charset="-122"/>
                          <a:cs typeface="Arial" pitchFamily="34" charset="-120"/>
                        </a:rPr>
                        <a:t>traceroute + node-table dumps, not eyeballs</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00" dirty="0">
                          <a:solidFill>
                            <a:srgbClr val="1F9D68"/>
                          </a:solidFill>
                          <a:latin typeface="Arial" pitchFamily="34" charset="0"/>
                          <a:ea typeface="Arial" pitchFamily="34" charset="-122"/>
                          <a:cs typeface="Arial" pitchFamily="34" charset="-120"/>
                        </a:rPr>
                        <a:t>round-trip proof, timestamps, SNR</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r h="566928">
                <a:tc>
                  <a:txBody>
                    <a:bodyPr/>
                    <a:lstStyle/>
                    <a:p>
                      <a:pPr indent="0" marL="0">
                        <a:buNone/>
                      </a:pPr>
                      <a:r>
                        <a:rPr lang="en-US" sz="1100" b="1" dirty="0">
                          <a:solidFill>
                            <a:srgbClr val="222A3F"/>
                          </a:solidFill>
                          <a:latin typeface="Arial" pitchFamily="34" charset="0"/>
                          <a:ea typeface="Arial" pitchFamily="34" charset="-122"/>
                          <a:cs typeface="Arial" pitchFamily="34" charset="-120"/>
                        </a:rPr>
                        <a:t>Read-back + OLED verify</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00" dirty="0">
                          <a:solidFill>
                            <a:srgbClr val="222A3F"/>
                          </a:solidFill>
                          <a:latin typeface="Arial" pitchFamily="34" charset="0"/>
                          <a:ea typeface="Arial" pitchFamily="34" charset="-122"/>
                          <a:cs typeface="Arial" pitchFamily="34" charset="-120"/>
                        </a:rPr>
                        <a:t>every config write checked twice</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00" dirty="0">
                          <a:solidFill>
                            <a:srgbClr val="1F9D68"/>
                          </a:solidFill>
                          <a:latin typeface="Arial" pitchFamily="34" charset="0"/>
                          <a:ea typeface="Arial" pitchFamily="34" charset="-122"/>
                          <a:cs typeface="Arial" pitchFamily="34" charset="-120"/>
                        </a:rPr>
                        <a:t>caught silently reverting writes</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222A3F"/>
                          </a:solidFill>
                          <a:latin typeface="Arial" pitchFamily="34" charset="0"/>
                          <a:ea typeface="Arial" pitchFamily="34" charset="-122"/>
                          <a:cs typeface="Arial" pitchFamily="34" charset="-120"/>
                        </a:rPr>
                        <a:t>Log every error</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00" dirty="0">
                          <a:solidFill>
                            <a:srgbClr val="222A3F"/>
                          </a:solidFill>
                          <a:latin typeface="Arial" pitchFamily="34" charset="0"/>
                          <a:ea typeface="Arial" pitchFamily="34" charset="-122"/>
                          <a:cs typeface="Arial" pitchFamily="34" charset="-120"/>
                        </a:rPr>
                        <a:t>NAK codes treated as data</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00" dirty="0">
                          <a:solidFill>
                            <a:srgbClr val="1F9D68"/>
                          </a:solidFill>
                          <a:latin typeface="Arial" pitchFamily="34" charset="0"/>
                          <a:ea typeface="Arial" pitchFamily="34" charset="-122"/>
                          <a:cs typeface="Arial" pitchFamily="34" charset="-120"/>
                        </a:rPr>
                        <a:t>a NAK that ARRIVES proves the RF path</a:t>
                      </a:r>
                      <a:endParaRPr lang="en-US" sz="110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bl>
          </a:graphicData>
        </a:graphic>
      </p:graphicFrame>
      <p:sp>
        <p:nvSpPr>
          <p:cNvPr id="11" name="Text 8"/>
          <p:cNvSpPr txBox="1"/>
          <p:nvPr/>
        </p:nvSpPr>
        <p:spPr>
          <a:xfrm>
            <a:off x="640080" y="4892040"/>
            <a:ext cx="6949440" cy="640080"/>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Every fix is committed to the repo with its gotcha documented — the next person hits none of these twice.</a:t>
            </a:r>
            <a:endParaRPr lang="en-US" sz="1200" dirty="0"/>
          </a:p>
        </p:txBody>
      </p:sp>
      <p:sp>
        <p:nvSpPr>
          <p:cNvPr id="12" name="Shape 9"/>
          <p:cNvSpPr/>
          <p:nvPr/>
        </p:nvSpPr>
        <p:spPr>
          <a:xfrm>
            <a:off x="7909560" y="1143000"/>
            <a:ext cx="3794760" cy="2286000"/>
          </a:xfrm>
          <a:prstGeom prst="rect">
            <a:avLst/>
          </a:prstGeom>
          <a:solidFill>
            <a:srgbClr val="F2F5FA"/>
          </a:solidFill>
          <a:ln w="19050">
            <a:solidFill>
              <a:srgbClr val="D9488C"/>
            </a:solidFill>
            <a:prstDash val="solid"/>
          </a:ln>
        </p:spPr>
      </p:sp>
      <p:sp>
        <p:nvSpPr>
          <p:cNvPr id="13" name="Text 10"/>
          <p:cNvSpPr txBox="1"/>
          <p:nvPr/>
        </p:nvSpPr>
        <p:spPr>
          <a:xfrm>
            <a:off x="8092440" y="1280160"/>
            <a:ext cx="3429000" cy="2057400"/>
          </a:xfrm>
          <a:prstGeom prst="rect">
            <a:avLst/>
          </a:prstGeom>
          <a:noFill/>
          <a:ln/>
        </p:spPr>
        <p:txBody>
          <a:bodyPr wrap="square" lIns="0" tIns="0" rIns="0" bIns="0" rtlCol="0" anchor="ctr"/>
          <a:lstStyle/>
          <a:p>
            <a:pPr indent="0" marL="0">
              <a:spcAft>
                <a:spcPts val="500"/>
              </a:spcAft>
              <a:buNone/>
            </a:pPr>
            <a:r>
              <a:rPr lang="en-US" sz="1050" b="1" dirty="0">
                <a:solidFill>
                  <a:srgbClr val="D9488C"/>
                </a:solidFill>
                <a:latin typeface="Courier New" pitchFamily="34" charset="0"/>
                <a:ea typeface="Courier New" pitchFamily="34" charset="-122"/>
                <a:cs typeface="Courier New" pitchFamily="34" charset="-120"/>
              </a:rPr>
              <a:t>NEXT: TWO-VEHICLE DRIVE TEST</a:t>
            </a:r>
            <a:endParaRPr lang="en-US" sz="1050" dirty="0"/>
          </a:p>
          <a:p>
            <a:pPr indent="0" marL="0">
              <a:buNone/>
            </a:pPr>
            <a:r>
              <a:rPr lang="en-US" sz="1150" dirty="0">
                <a:solidFill>
                  <a:srgbClr val="222A3F"/>
                </a:solidFill>
                <a:latin typeface="Arial" pitchFamily="34" charset="0"/>
                <a:ea typeface="Arial" pitchFamily="34" charset="-122"/>
                <a:cs typeface="Arial" pitchFamily="34" charset="-120"/>
              </a:rPr>
              <a:t>convoy → split to 0.5/1/2 km → rejoin → stop-and-message. Metrics declared in advance: p95 position age ≤ 15 s moving; reacquire ≤ 60 s.</a:t>
            </a:r>
            <a:endParaRPr lang="en-US" sz="1050" dirty="0"/>
          </a:p>
        </p:txBody>
      </p:sp>
      <p:sp>
        <p:nvSpPr>
          <p:cNvPr id="14" name="Shape 11"/>
          <p:cNvSpPr/>
          <p:nvPr/>
        </p:nvSpPr>
        <p:spPr>
          <a:xfrm>
            <a:off x="7909560" y="3657600"/>
            <a:ext cx="3794760" cy="2331720"/>
          </a:xfrm>
          <a:prstGeom prst="rect">
            <a:avLst/>
          </a:prstGeom>
          <a:solidFill>
            <a:srgbClr val="16213D"/>
          </a:solidFill>
          <a:ln/>
        </p:spPr>
      </p:sp>
      <p:sp>
        <p:nvSpPr>
          <p:cNvPr id="15" name="Text 12"/>
          <p:cNvSpPr txBox="1"/>
          <p:nvPr/>
        </p:nvSpPr>
        <p:spPr>
          <a:xfrm>
            <a:off x="8092440" y="3794760"/>
            <a:ext cx="3429000" cy="2103120"/>
          </a:xfrm>
          <a:prstGeom prst="rect">
            <a:avLst/>
          </a:prstGeom>
          <a:noFill/>
          <a:ln/>
        </p:spPr>
        <p:txBody>
          <a:bodyPr wrap="square" lIns="0" tIns="0" rIns="0" bIns="0" rtlCol="0" anchor="ctr"/>
          <a:lstStyle/>
          <a:p>
            <a:pPr indent="0" marL="0">
              <a:spcAft>
                <a:spcPts val="500"/>
              </a:spcAft>
              <a:buNone/>
            </a:pPr>
            <a:r>
              <a:rPr lang="en-US" sz="1050" b="1" dirty="0">
                <a:solidFill>
                  <a:srgbClr val="E58E1A"/>
                </a:solidFill>
                <a:latin typeface="Courier New" pitchFamily="34" charset="0"/>
                <a:ea typeface="Courier New" pitchFamily="34" charset="-122"/>
                <a:cs typeface="Courier New" pitchFamily="34" charset="-120"/>
              </a:rPr>
              <a:t>STATUS</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All prerequisites met 09-25: two-way link, full drive spec on both radios, honest counters, airtime headroom. Gantt: drive test 0% → 20%; link milestone closed at 100%.</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DISPLAY ARMOR: THE CASE</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11/12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6D4BDB"/>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6D4BDB"/>
                </a:solidFill>
                <a:latin typeface="Courier New" pitchFamily="34" charset="0"/>
                <a:ea typeface="Courier New" pitchFamily="34" charset="-122"/>
                <a:cs typeface="Courier New" pitchFamily="34" charset="-120"/>
              </a:rPr>
              <a:t>OWNER: JOSIAH</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PROTECTING THE DISPLAY: THE CASE</a:t>
            </a:r>
            <a:endParaRPr lang="en-US" sz="2300" dirty="0"/>
          </a:p>
        </p:txBody>
      </p:sp>
      <p:sp>
        <p:nvSpPr>
          <p:cNvPr id="10" name="Shape 8"/>
          <p:cNvSpPr/>
          <p:nvPr/>
        </p:nvSpPr>
        <p:spPr>
          <a:xfrm>
            <a:off x="640080" y="1143000"/>
            <a:ext cx="5943600" cy="960120"/>
          </a:xfrm>
          <a:prstGeom prst="rect">
            <a:avLst/>
          </a:prstGeom>
          <a:solidFill>
            <a:srgbClr val="FBEEEF"/>
          </a:solidFill>
          <a:ln w="19050">
            <a:solidFill>
              <a:srgbClr val="C43A4B"/>
            </a:solidFill>
            <a:prstDash val="solid"/>
          </a:ln>
        </p:spPr>
      </p:sp>
      <p:sp>
        <p:nvSpPr>
          <p:cNvPr id="11" name="Text 9"/>
          <p:cNvSpPr txBox="1"/>
          <p:nvPr/>
        </p:nvSpPr>
        <p:spPr>
          <a:xfrm>
            <a:off x="822960" y="1234440"/>
            <a:ext cx="5623560" cy="777240"/>
          </a:xfrm>
          <a:prstGeom prst="rect">
            <a:avLst/>
          </a:prstGeom>
          <a:noFill/>
          <a:ln/>
        </p:spPr>
        <p:txBody>
          <a:bodyPr wrap="square" lIns="0" tIns="0" rIns="0" bIns="0" rtlCol="0" anchor="ctr"/>
          <a:lstStyle/>
          <a:p>
            <a:pPr indent="0" marL="0">
              <a:buNone/>
            </a:pPr>
            <a:r>
              <a:rPr lang="en-US" sz="1050" b="1" dirty="0">
                <a:solidFill>
                  <a:srgbClr val="C43A4B"/>
                </a:solidFill>
                <a:latin typeface="Courier New" pitchFamily="34" charset="0"/>
                <a:ea typeface="Courier New" pitchFamily="34" charset="-122"/>
                <a:cs typeface="Courier New" pitchFamily="34" charset="-120"/>
              </a:rPr>
              <a:t>WHY  </a:t>
            </a:r>
            <a:pPr indent="0" marL="0">
              <a:buNone/>
            </a:pPr>
            <a:r>
              <a:rPr lang="en-US" sz="1250" dirty="0">
                <a:solidFill>
                  <a:srgbClr val="222A3F"/>
                </a:solidFill>
                <a:latin typeface="Arial" pitchFamily="34" charset="0"/>
                <a:ea typeface="Arial" pitchFamily="34" charset="-122"/>
                <a:cs typeface="Arial" pitchFamily="34" charset="-120"/>
              </a:rPr>
              <a:t>our first display arrived cracked and dead. The replacement rides in armor.</a:t>
            </a:r>
            <a:endParaRPr lang="en-US" sz="1050" dirty="0"/>
          </a:p>
        </p:txBody>
      </p:sp>
      <p:sp>
        <p:nvSpPr>
          <p:cNvPr id="12" name="Shape 10"/>
          <p:cNvSpPr/>
          <p:nvPr/>
        </p:nvSpPr>
        <p:spPr>
          <a:xfrm>
            <a:off x="640080" y="2377440"/>
            <a:ext cx="5943600" cy="603504"/>
          </a:xfrm>
          <a:prstGeom prst="rect">
            <a:avLst/>
          </a:prstGeom>
          <a:solidFill>
            <a:srgbClr val="FFFFFF"/>
          </a:solidFill>
          <a:ln w="9525">
            <a:solidFill>
              <a:srgbClr val="9AA7BE"/>
            </a:solidFill>
            <a:prstDash val="solid"/>
          </a:ln>
        </p:spPr>
      </p:sp>
      <p:sp>
        <p:nvSpPr>
          <p:cNvPr id="13" name="Text 11"/>
          <p:cNvSpPr txBox="1"/>
          <p:nvPr/>
        </p:nvSpPr>
        <p:spPr>
          <a:xfrm>
            <a:off x="841248" y="2414016"/>
            <a:ext cx="5577840" cy="530352"/>
          </a:xfrm>
          <a:prstGeom prst="rect">
            <a:avLst/>
          </a:prstGeom>
          <a:noFill/>
          <a:ln/>
        </p:spPr>
        <p:txBody>
          <a:bodyPr wrap="square" lIns="0" tIns="0" rIns="0" bIns="0" rtlCol="0" anchor="ctr"/>
          <a:lstStyle/>
          <a:p>
            <a:pPr indent="0" marL="0">
              <a:buNone/>
            </a:pPr>
            <a:r>
              <a:rPr lang="en-US" sz="1050" b="1" dirty="0">
                <a:solidFill>
                  <a:srgbClr val="6D4BDB"/>
                </a:solidFill>
                <a:latin typeface="Courier New" pitchFamily="34" charset="0"/>
                <a:ea typeface="Courier New" pitchFamily="34" charset="-122"/>
                <a:cs typeface="Courier New" pitchFamily="34" charset="-120"/>
              </a:rPr>
              <a:t>Keeps working   </a:t>
            </a:r>
            <a:pPr indent="0" marL="0">
              <a:buNone/>
            </a:pPr>
            <a:r>
              <a:rPr lang="en-US" sz="1150" dirty="0">
                <a:solidFill>
                  <a:srgbClr val="222A3F"/>
                </a:solidFill>
                <a:latin typeface="Arial" pitchFamily="34" charset="0"/>
                <a:ea typeface="Arial" pitchFamily="34" charset="-122"/>
                <a:cs typeface="Arial" pitchFamily="34" charset="-120"/>
              </a:rPr>
              <a:t>USB-C · SD card · all 3 buttons · battery bay · speaker</a:t>
            </a:r>
            <a:endParaRPr lang="en-US" sz="1050" dirty="0"/>
          </a:p>
        </p:txBody>
      </p:sp>
      <p:sp>
        <p:nvSpPr>
          <p:cNvPr id="14" name="Shape 12"/>
          <p:cNvSpPr/>
          <p:nvPr/>
        </p:nvSpPr>
        <p:spPr>
          <a:xfrm>
            <a:off x="640080" y="3090672"/>
            <a:ext cx="5943600" cy="603504"/>
          </a:xfrm>
          <a:prstGeom prst="rect">
            <a:avLst/>
          </a:prstGeom>
          <a:solidFill>
            <a:srgbClr val="F2F5FA"/>
          </a:solidFill>
          <a:ln w="9525">
            <a:solidFill>
              <a:srgbClr val="9AA7BE"/>
            </a:solidFill>
            <a:prstDash val="solid"/>
          </a:ln>
        </p:spPr>
      </p:sp>
      <p:sp>
        <p:nvSpPr>
          <p:cNvPr id="15" name="Text 13"/>
          <p:cNvSpPr txBox="1"/>
          <p:nvPr/>
        </p:nvSpPr>
        <p:spPr>
          <a:xfrm>
            <a:off x="841248" y="3127248"/>
            <a:ext cx="5577840" cy="530352"/>
          </a:xfrm>
          <a:prstGeom prst="rect">
            <a:avLst/>
          </a:prstGeom>
          <a:noFill/>
          <a:ln/>
        </p:spPr>
        <p:txBody>
          <a:bodyPr wrap="square" lIns="0" tIns="0" rIns="0" bIns="0" rtlCol="0" anchor="ctr"/>
          <a:lstStyle/>
          <a:p>
            <a:pPr indent="0" marL="0">
              <a:buNone/>
            </a:pPr>
            <a:r>
              <a:rPr lang="en-US" sz="1050" b="1" dirty="0">
                <a:solidFill>
                  <a:srgbClr val="6D4BDB"/>
                </a:solidFill>
                <a:latin typeface="Courier New" pitchFamily="34" charset="0"/>
                <a:ea typeface="Courier New" pitchFamily="34" charset="-122"/>
                <a:cs typeface="Courier New" pitchFamily="34" charset="-120"/>
              </a:rPr>
              <a:t>Zero RF impact   </a:t>
            </a:r>
            <a:pPr indent="0" marL="0">
              <a:buNone/>
            </a:pPr>
            <a:r>
              <a:rPr lang="en-US" sz="1150" dirty="0">
                <a:solidFill>
                  <a:srgbClr val="222A3F"/>
                </a:solidFill>
                <a:latin typeface="Arial" pitchFamily="34" charset="0"/>
                <a:ea typeface="Arial" pitchFamily="34" charset="-122"/>
                <a:cs typeface="Arial" pitchFamily="34" charset="-120"/>
              </a:rPr>
              <a:t>plastic body — invisible to the BLE radio link</a:t>
            </a:r>
            <a:endParaRPr lang="en-US" sz="1050" dirty="0"/>
          </a:p>
        </p:txBody>
      </p:sp>
      <p:sp>
        <p:nvSpPr>
          <p:cNvPr id="16" name="Shape 14"/>
          <p:cNvSpPr/>
          <p:nvPr/>
        </p:nvSpPr>
        <p:spPr>
          <a:xfrm>
            <a:off x="640080" y="3803904"/>
            <a:ext cx="5943600" cy="603504"/>
          </a:xfrm>
          <a:prstGeom prst="rect">
            <a:avLst/>
          </a:prstGeom>
          <a:solidFill>
            <a:srgbClr val="FFFFFF"/>
          </a:solidFill>
          <a:ln w="9525">
            <a:solidFill>
              <a:srgbClr val="9AA7BE"/>
            </a:solidFill>
            <a:prstDash val="solid"/>
          </a:ln>
        </p:spPr>
      </p:sp>
      <p:sp>
        <p:nvSpPr>
          <p:cNvPr id="17" name="Text 15"/>
          <p:cNvSpPr txBox="1"/>
          <p:nvPr/>
        </p:nvSpPr>
        <p:spPr>
          <a:xfrm>
            <a:off x="841248" y="3840480"/>
            <a:ext cx="5577840" cy="530352"/>
          </a:xfrm>
          <a:prstGeom prst="rect">
            <a:avLst/>
          </a:prstGeom>
          <a:noFill/>
          <a:ln/>
        </p:spPr>
        <p:txBody>
          <a:bodyPr wrap="square" lIns="0" tIns="0" rIns="0" bIns="0" rtlCol="0" anchor="ctr"/>
          <a:lstStyle/>
          <a:p>
            <a:pPr indent="0" marL="0">
              <a:buNone/>
            </a:pPr>
            <a:r>
              <a:rPr lang="en-US" sz="1050" b="1" dirty="0">
                <a:solidFill>
                  <a:srgbClr val="6D4BDB"/>
                </a:solidFill>
                <a:latin typeface="Courier New" pitchFamily="34" charset="0"/>
                <a:ea typeface="Courier New" pitchFamily="34" charset="-122"/>
                <a:cs typeface="Courier New" pitchFamily="34" charset="-120"/>
              </a:rPr>
              <a:t>Model   </a:t>
            </a:r>
            <a:pPr indent="0" marL="0">
              <a:buNone/>
            </a:pPr>
            <a:r>
              <a:rPr lang="en-US" sz="1150" dirty="0">
                <a:solidFill>
                  <a:srgbClr val="222A3F"/>
                </a:solidFill>
                <a:latin typeface="Arial" pitchFamily="34" charset="0"/>
                <a:ea typeface="Arial" pitchFamily="34" charset="-122"/>
                <a:cs typeface="Arial" pitchFamily="34" charset="-120"/>
              </a:rPr>
              <a:t>“Symmetrical case” by AWSW · Printables 1610004 · CC BY-NC 4.0</a:t>
            </a:r>
            <a:endParaRPr lang="en-US" sz="1050" dirty="0"/>
          </a:p>
        </p:txBody>
      </p:sp>
      <p:sp>
        <p:nvSpPr>
          <p:cNvPr id="18" name="Shape 16"/>
          <p:cNvSpPr/>
          <p:nvPr/>
        </p:nvSpPr>
        <p:spPr>
          <a:xfrm>
            <a:off x="640080" y="4517136"/>
            <a:ext cx="5943600" cy="603504"/>
          </a:xfrm>
          <a:prstGeom prst="rect">
            <a:avLst/>
          </a:prstGeom>
          <a:solidFill>
            <a:srgbClr val="F2F5FA"/>
          </a:solidFill>
          <a:ln w="9525">
            <a:solidFill>
              <a:srgbClr val="9AA7BE"/>
            </a:solidFill>
            <a:prstDash val="solid"/>
          </a:ln>
        </p:spPr>
      </p:sp>
      <p:sp>
        <p:nvSpPr>
          <p:cNvPr id="19" name="Text 17"/>
          <p:cNvSpPr txBox="1"/>
          <p:nvPr/>
        </p:nvSpPr>
        <p:spPr>
          <a:xfrm>
            <a:off x="841248" y="4553712"/>
            <a:ext cx="5577840" cy="530352"/>
          </a:xfrm>
          <a:prstGeom prst="rect">
            <a:avLst/>
          </a:prstGeom>
          <a:noFill/>
          <a:ln/>
        </p:spPr>
        <p:txBody>
          <a:bodyPr wrap="square" lIns="0" tIns="0" rIns="0" bIns="0" rtlCol="0" anchor="ctr"/>
          <a:lstStyle/>
          <a:p>
            <a:pPr indent="0" marL="0">
              <a:buNone/>
            </a:pPr>
            <a:r>
              <a:rPr lang="en-US" sz="1050" b="1" dirty="0">
                <a:solidFill>
                  <a:srgbClr val="6D4BDB"/>
                </a:solidFill>
                <a:latin typeface="Courier New" pitchFamily="34" charset="0"/>
                <a:ea typeface="Courier New" pitchFamily="34" charset="-122"/>
                <a:cs typeface="Courier New" pitchFamily="34" charset="-120"/>
              </a:rPr>
              <a:t>Cost   </a:t>
            </a:r>
            <a:pPr indent="0" marL="0">
              <a:buNone/>
            </a:pPr>
            <a:r>
              <a:rPr lang="en-US" sz="1150" dirty="0">
                <a:solidFill>
                  <a:srgbClr val="222A3F"/>
                </a:solidFill>
                <a:latin typeface="Arial" pitchFamily="34" charset="0"/>
                <a:ea typeface="Arial" pitchFamily="34" charset="-122"/>
                <a:cs typeface="Arial" pitchFamily="34" charset="-120"/>
              </a:rPr>
              <a:t>~40 g filament (≈ $1) · one overnight print</a:t>
            </a:r>
            <a:endParaRPr lang="en-US" sz="1050" dirty="0"/>
          </a:p>
        </p:txBody>
      </p:sp>
      <p:sp>
        <p:nvSpPr>
          <p:cNvPr id="20" name="Text 18"/>
          <p:cNvSpPr txBox="1"/>
          <p:nvPr/>
        </p:nvSpPr>
        <p:spPr>
          <a:xfrm>
            <a:off x="640080" y="5394960"/>
            <a:ext cx="5943600" cy="594360"/>
          </a:xfrm>
          <a:prstGeom prst="rect">
            <a:avLst/>
          </a:prstGeom>
          <a:noFill/>
          <a:ln/>
        </p:spPr>
        <p:txBody>
          <a:bodyPr wrap="square" lIns="0" tIns="0" rIns="0" bIns="0" rtlCol="0" anchor="ctr"/>
          <a:lstStyle/>
          <a:p>
            <a:pPr indent="0" marL="0">
              <a:buNone/>
            </a:pPr>
            <a:r>
              <a:rPr lang="en-US" sz="1150" dirty="0">
                <a:solidFill>
                  <a:srgbClr val="5E6B85"/>
                </a:solidFill>
                <a:latin typeface="Arial" pitchFamily="34" charset="0"/>
                <a:ea typeface="Arial" pitchFamily="34" charset="-122"/>
                <a:cs typeface="Arial" pitchFamily="34" charset="-120"/>
              </a:rPr>
              <a:t>No commercial case exists for this panel — printing is the only option, and the community already solved it.</a:t>
            </a:r>
            <a:endParaRPr lang="en-US" sz="1150" dirty="0"/>
          </a:p>
        </p:txBody>
      </p:sp>
      <p:pic>
        <p:nvPicPr>
          <p:cNvPr id="21" name="Image 0" descr="C:/Users/deogr/AppData/Local/Temp/claude/C--Users-deogr-Documents-Fall-Project-Off-Grid-Vehicle-dection-project/e8b2e8fa-1513-4aa8-a8f6-ce4fcd20e664/scratchpad/deck5/case_front.jpg">    </p:cNvPr>
          <p:cNvPicPr>
            <a:picLocks noChangeAspect="1"/>
          </p:cNvPicPr>
          <p:nvPr/>
        </p:nvPicPr>
        <p:blipFill>
          <a:blip r:embed="rId1"/>
          <a:stretch>
            <a:fillRect/>
          </a:stretch>
        </p:blipFill>
        <p:spPr>
          <a:xfrm>
            <a:off x="7040880" y="1143000"/>
            <a:ext cx="4617720" cy="3465576"/>
          </a:xfrm>
          <a:prstGeom prst="rect">
            <a:avLst/>
          </a:prstGeom>
        </p:spPr>
      </p:pic>
      <p:sp>
        <p:nvSpPr>
          <p:cNvPr id="22" name="Shape 19"/>
          <p:cNvSpPr/>
          <p:nvPr/>
        </p:nvSpPr>
        <p:spPr>
          <a:xfrm>
            <a:off x="7040880" y="1143000"/>
            <a:ext cx="4617720" cy="3465576"/>
          </a:xfrm>
          <a:prstGeom prst="rect">
            <a:avLst/>
          </a:prstGeom>
          <a:ln w="12700">
            <a:solidFill>
              <a:srgbClr val="9AA7BE"/>
            </a:solidFill>
            <a:prstDash val="solid"/>
          </a:ln>
        </p:spPr>
      </p:sp>
      <p:sp>
        <p:nvSpPr>
          <p:cNvPr id="23" name="Text 20"/>
          <p:cNvSpPr txBox="1"/>
          <p:nvPr/>
        </p:nvSpPr>
        <p:spPr>
          <a:xfrm>
            <a:off x="6812280" y="4626864"/>
            <a:ext cx="5074920"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the model assembled — glass fully framed, screen fully visible (author’s photo)</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PRINT + ASSEMBLY</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12/12  REV F  2026-09-26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6D4BDB"/>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6D4BDB"/>
                </a:solidFill>
                <a:latin typeface="Courier New" pitchFamily="34" charset="0"/>
                <a:ea typeface="Courier New" pitchFamily="34" charset="-122"/>
                <a:cs typeface="Courier New" pitchFamily="34" charset="-120"/>
              </a:rPr>
              <a:t>OWNER: JOSIAH</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PRINT IT, SCREW IT, DONE</a:t>
            </a:r>
            <a:endParaRPr lang="en-US" sz="2300" dirty="0"/>
          </a:p>
        </p:txBody>
      </p:sp>
      <p:sp>
        <p:nvSpPr>
          <p:cNvPr id="10" name="Shape 8"/>
          <p:cNvSpPr/>
          <p:nvPr/>
        </p:nvSpPr>
        <p:spPr>
          <a:xfrm>
            <a:off x="640080" y="1188720"/>
            <a:ext cx="5943600" cy="640080"/>
          </a:xfrm>
          <a:prstGeom prst="rect">
            <a:avLst/>
          </a:prstGeom>
          <a:solidFill>
            <a:srgbClr val="FFFFFF"/>
          </a:solidFill>
          <a:ln w="9525">
            <a:solidFill>
              <a:srgbClr val="9AA7BE"/>
            </a:solidFill>
            <a:prstDash val="solid"/>
          </a:ln>
        </p:spPr>
      </p:sp>
      <p:sp>
        <p:nvSpPr>
          <p:cNvPr id="11" name="Text 9"/>
          <p:cNvSpPr txBox="1"/>
          <p:nvPr/>
        </p:nvSpPr>
        <p:spPr>
          <a:xfrm>
            <a:off x="841248" y="1234440"/>
            <a:ext cx="5577840" cy="548640"/>
          </a:xfrm>
          <a:prstGeom prst="rect">
            <a:avLst/>
          </a:prstGeom>
          <a:noFill/>
          <a:ln/>
        </p:spPr>
        <p:txBody>
          <a:bodyPr wrap="square" lIns="0" tIns="0" rIns="0" bIns="0" rtlCol="0" anchor="ctr"/>
          <a:lstStyle/>
          <a:p>
            <a:pPr indent="0" marL="0">
              <a:buNone/>
            </a:pPr>
            <a:r>
              <a:rPr lang="en-US" sz="1050" b="1" dirty="0">
                <a:solidFill>
                  <a:srgbClr val="6D4BDB"/>
                </a:solidFill>
                <a:latin typeface="Courier New" pitchFamily="34" charset="0"/>
                <a:ea typeface="Courier New" pitchFamily="34" charset="-122"/>
                <a:cs typeface="Courier New" pitchFamily="34" charset="-120"/>
              </a:rPr>
              <a:t>7 parts   </a:t>
            </a:r>
            <a:pPr indent="0" marL="0">
              <a:buNone/>
            </a:pPr>
            <a:r>
              <a:rPr lang="en-US" sz="1150" dirty="0">
                <a:solidFill>
                  <a:srgbClr val="222A3F"/>
                </a:solidFill>
                <a:latin typeface="Arial" pitchFamily="34" charset="0"/>
                <a:ea typeface="Arial" pitchFamily="34" charset="-122"/>
                <a:cs typeface="Arial" pitchFamily="34" charset="-120"/>
              </a:rPr>
              <a:t>front frame · 2-piece back · 3 button caps (+ feet)</a:t>
            </a:r>
            <a:endParaRPr lang="en-US" sz="1050" dirty="0"/>
          </a:p>
        </p:txBody>
      </p:sp>
      <p:sp>
        <p:nvSpPr>
          <p:cNvPr id="12" name="Shape 10"/>
          <p:cNvSpPr/>
          <p:nvPr/>
        </p:nvSpPr>
        <p:spPr>
          <a:xfrm>
            <a:off x="640080" y="1938528"/>
            <a:ext cx="5943600" cy="640080"/>
          </a:xfrm>
          <a:prstGeom prst="rect">
            <a:avLst/>
          </a:prstGeom>
          <a:solidFill>
            <a:srgbClr val="F2F5FA"/>
          </a:solidFill>
          <a:ln w="9525">
            <a:solidFill>
              <a:srgbClr val="9AA7BE"/>
            </a:solidFill>
            <a:prstDash val="solid"/>
          </a:ln>
        </p:spPr>
      </p:sp>
      <p:sp>
        <p:nvSpPr>
          <p:cNvPr id="13" name="Text 11"/>
          <p:cNvSpPr txBox="1"/>
          <p:nvPr/>
        </p:nvSpPr>
        <p:spPr>
          <a:xfrm>
            <a:off x="841248" y="1984248"/>
            <a:ext cx="5577840" cy="548640"/>
          </a:xfrm>
          <a:prstGeom prst="rect">
            <a:avLst/>
          </a:prstGeom>
          <a:noFill/>
          <a:ln/>
        </p:spPr>
        <p:txBody>
          <a:bodyPr wrap="square" lIns="0" tIns="0" rIns="0" bIns="0" rtlCol="0" anchor="ctr"/>
          <a:lstStyle/>
          <a:p>
            <a:pPr indent="0" marL="0">
              <a:buNone/>
            </a:pPr>
            <a:r>
              <a:rPr lang="en-US" sz="1050" b="1" dirty="0">
                <a:solidFill>
                  <a:srgbClr val="6D4BDB"/>
                </a:solidFill>
                <a:latin typeface="Courier New" pitchFamily="34" charset="0"/>
                <a:ea typeface="Courier New" pitchFamily="34" charset="-122"/>
                <a:cs typeface="Courier New" pitchFamily="34" charset="-120"/>
              </a:rPr>
              <a:t>Settings   </a:t>
            </a:r>
            <a:pPr indent="0" marL="0">
              <a:buNone/>
            </a:pPr>
            <a:r>
              <a:rPr lang="en-US" sz="1150" dirty="0">
                <a:solidFill>
                  <a:srgbClr val="222A3F"/>
                </a:solidFill>
                <a:latin typeface="Arial" pitchFamily="34" charset="0"/>
                <a:ea typeface="Arial" pitchFamily="34" charset="-122"/>
                <a:cs typeface="Arial" pitchFamily="34" charset="-120"/>
              </a:rPr>
              <a:t>0.2 mm layers · organic supports · fuzzy-skin walls · no brim</a:t>
            </a:r>
            <a:endParaRPr lang="en-US" sz="1050" dirty="0"/>
          </a:p>
        </p:txBody>
      </p:sp>
      <p:sp>
        <p:nvSpPr>
          <p:cNvPr id="14" name="Shape 12"/>
          <p:cNvSpPr/>
          <p:nvPr/>
        </p:nvSpPr>
        <p:spPr>
          <a:xfrm>
            <a:off x="640080" y="2688336"/>
            <a:ext cx="5943600" cy="640080"/>
          </a:xfrm>
          <a:prstGeom prst="rect">
            <a:avLst/>
          </a:prstGeom>
          <a:solidFill>
            <a:srgbClr val="FFFFFF"/>
          </a:solidFill>
          <a:ln w="9525">
            <a:solidFill>
              <a:srgbClr val="9AA7BE"/>
            </a:solidFill>
            <a:prstDash val="solid"/>
          </a:ln>
        </p:spPr>
      </p:sp>
      <p:sp>
        <p:nvSpPr>
          <p:cNvPr id="15" name="Text 13"/>
          <p:cNvSpPr txBox="1"/>
          <p:nvPr/>
        </p:nvSpPr>
        <p:spPr>
          <a:xfrm>
            <a:off x="841248" y="2734056"/>
            <a:ext cx="5577840" cy="548640"/>
          </a:xfrm>
          <a:prstGeom prst="rect">
            <a:avLst/>
          </a:prstGeom>
          <a:noFill/>
          <a:ln/>
        </p:spPr>
        <p:txBody>
          <a:bodyPr wrap="square" lIns="0" tIns="0" rIns="0" bIns="0" rtlCol="0" anchor="ctr"/>
          <a:lstStyle/>
          <a:p>
            <a:pPr indent="0" marL="0">
              <a:buNone/>
            </a:pPr>
            <a:r>
              <a:rPr lang="en-US" sz="1050" b="1" dirty="0">
                <a:solidFill>
                  <a:srgbClr val="6D4BDB"/>
                </a:solidFill>
                <a:latin typeface="Courier New" pitchFamily="34" charset="0"/>
                <a:ea typeface="Courier New" pitchFamily="34" charset="-122"/>
                <a:cs typeface="Courier New" pitchFamily="34" charset="-120"/>
              </a:rPr>
              <a:t>Material   </a:t>
            </a:r>
            <a:pPr indent="0" marL="0">
              <a:buNone/>
            </a:pPr>
            <a:r>
              <a:rPr lang="en-US" sz="1150" dirty="0">
                <a:solidFill>
                  <a:srgbClr val="222A3F"/>
                </a:solidFill>
                <a:latin typeface="Arial" pitchFamily="34" charset="0"/>
                <a:ea typeface="Arial" pitchFamily="34" charset="-122"/>
                <a:cs typeface="Arial" pitchFamily="34" charset="-120"/>
              </a:rPr>
              <a:t>PETG — survives dashboard heat where PLA softens</a:t>
            </a:r>
            <a:endParaRPr lang="en-US" sz="1050" dirty="0"/>
          </a:p>
        </p:txBody>
      </p:sp>
      <p:sp>
        <p:nvSpPr>
          <p:cNvPr id="16" name="Shape 14"/>
          <p:cNvSpPr/>
          <p:nvPr/>
        </p:nvSpPr>
        <p:spPr>
          <a:xfrm>
            <a:off x="640080" y="3438144"/>
            <a:ext cx="5943600" cy="640080"/>
          </a:xfrm>
          <a:prstGeom prst="rect">
            <a:avLst/>
          </a:prstGeom>
          <a:solidFill>
            <a:srgbClr val="F2F5FA"/>
          </a:solidFill>
          <a:ln w="9525">
            <a:solidFill>
              <a:srgbClr val="9AA7BE"/>
            </a:solidFill>
            <a:prstDash val="solid"/>
          </a:ln>
        </p:spPr>
      </p:sp>
      <p:sp>
        <p:nvSpPr>
          <p:cNvPr id="17" name="Text 15"/>
          <p:cNvSpPr txBox="1"/>
          <p:nvPr/>
        </p:nvSpPr>
        <p:spPr>
          <a:xfrm>
            <a:off x="841248" y="3483864"/>
            <a:ext cx="5577840" cy="548640"/>
          </a:xfrm>
          <a:prstGeom prst="rect">
            <a:avLst/>
          </a:prstGeom>
          <a:noFill/>
          <a:ln/>
        </p:spPr>
        <p:txBody>
          <a:bodyPr wrap="square" lIns="0" tIns="0" rIns="0" bIns="0" rtlCol="0" anchor="ctr"/>
          <a:lstStyle/>
          <a:p>
            <a:pPr indent="0" marL="0">
              <a:buNone/>
            </a:pPr>
            <a:r>
              <a:rPr lang="en-US" sz="1050" b="1" dirty="0">
                <a:solidFill>
                  <a:srgbClr val="6D4BDB"/>
                </a:solidFill>
                <a:latin typeface="Courier New" pitchFamily="34" charset="0"/>
                <a:ea typeface="Courier New" pitchFamily="34" charset="-122"/>
                <a:cs typeface="Courier New" pitchFamily="34" charset="-120"/>
              </a:rPr>
              <a:t>Assembly   </a:t>
            </a:r>
            <a:pPr indent="0" marL="0">
              <a:buNone/>
            </a:pPr>
            <a:r>
              <a:rPr lang="en-US" sz="1150" dirty="0">
                <a:solidFill>
                  <a:srgbClr val="222A3F"/>
                </a:solidFill>
                <a:latin typeface="Arial" pitchFamily="34" charset="0"/>
                <a:ea typeface="Arial" pitchFamily="34" charset="-122"/>
                <a:cs typeface="Arial" pitchFamily="34" charset="-120"/>
              </a:rPr>
              <a:t>seat panel → clip backs → 4× M2.5×6 screws → press caps</a:t>
            </a:r>
            <a:endParaRPr lang="en-US" sz="1050" dirty="0"/>
          </a:p>
        </p:txBody>
      </p:sp>
      <p:sp>
        <p:nvSpPr>
          <p:cNvPr id="18" name="Shape 16"/>
          <p:cNvSpPr/>
          <p:nvPr/>
        </p:nvSpPr>
        <p:spPr>
          <a:xfrm>
            <a:off x="640080" y="4187952"/>
            <a:ext cx="5943600" cy="640080"/>
          </a:xfrm>
          <a:prstGeom prst="rect">
            <a:avLst/>
          </a:prstGeom>
          <a:solidFill>
            <a:srgbClr val="FBEEEF"/>
          </a:solidFill>
          <a:ln w="19050">
            <a:solidFill>
              <a:srgbClr val="C43A4B"/>
            </a:solidFill>
            <a:prstDash val="solid"/>
          </a:ln>
        </p:spPr>
      </p:sp>
      <p:sp>
        <p:nvSpPr>
          <p:cNvPr id="19" name="Text 17"/>
          <p:cNvSpPr txBox="1"/>
          <p:nvPr/>
        </p:nvSpPr>
        <p:spPr>
          <a:xfrm>
            <a:off x="841248" y="4233672"/>
            <a:ext cx="5577840" cy="548640"/>
          </a:xfrm>
          <a:prstGeom prst="rect">
            <a:avLst/>
          </a:prstGeom>
          <a:noFill/>
          <a:ln/>
        </p:spPr>
        <p:txBody>
          <a:bodyPr wrap="square" lIns="0" tIns="0" rIns="0" bIns="0" rtlCol="0" anchor="ctr"/>
          <a:lstStyle/>
          <a:p>
            <a:pPr indent="0" marL="0">
              <a:buNone/>
            </a:pPr>
            <a:r>
              <a:rPr lang="en-US" sz="1050" b="1" dirty="0">
                <a:solidFill>
                  <a:srgbClr val="C43A4B"/>
                </a:solidFill>
                <a:latin typeface="Courier New" pitchFamily="34" charset="0"/>
                <a:ea typeface="Courier New" pitchFamily="34" charset="-122"/>
                <a:cs typeface="Courier New" pitchFamily="34" charset="-120"/>
              </a:rPr>
              <a:t>⚠ One rule   </a:t>
            </a:r>
            <a:pPr indent="0" marL="0">
              <a:buNone/>
            </a:pPr>
            <a:r>
              <a:rPr lang="en-US" sz="1150" dirty="0">
                <a:solidFill>
                  <a:srgbClr val="222A3F"/>
                </a:solidFill>
                <a:latin typeface="Arial" pitchFamily="34" charset="0"/>
                <a:ea typeface="Arial" pitchFamily="34" charset="-122"/>
                <a:cs typeface="Arial" pitchFamily="34" charset="-120"/>
              </a:rPr>
              <a:t>6 mm screws MAX — longer screws press on the glass</a:t>
            </a:r>
            <a:endParaRPr lang="en-US" sz="1050" dirty="0"/>
          </a:p>
        </p:txBody>
      </p:sp>
      <p:sp>
        <p:nvSpPr>
          <p:cNvPr id="20" name="Shape 18"/>
          <p:cNvSpPr/>
          <p:nvPr/>
        </p:nvSpPr>
        <p:spPr>
          <a:xfrm>
            <a:off x="640080" y="5120640"/>
            <a:ext cx="5943600" cy="868680"/>
          </a:xfrm>
          <a:prstGeom prst="rect">
            <a:avLst/>
          </a:prstGeom>
          <a:solidFill>
            <a:srgbClr val="16213D"/>
          </a:solidFill>
          <a:ln/>
        </p:spPr>
      </p:sp>
      <p:sp>
        <p:nvSpPr>
          <p:cNvPr id="21" name="Text 19"/>
          <p:cNvSpPr txBox="1"/>
          <p:nvPr/>
        </p:nvSpPr>
        <p:spPr>
          <a:xfrm>
            <a:off x="822960" y="5212080"/>
            <a:ext cx="5577840" cy="685800"/>
          </a:xfrm>
          <a:prstGeom prst="rect">
            <a:avLst/>
          </a:prstGeom>
          <a:noFill/>
          <a:ln/>
        </p:spPr>
        <p:txBody>
          <a:bodyPr wrap="square" lIns="0" tIns="0" rIns="0" bIns="0" rtlCol="0" anchor="ctr"/>
          <a:lstStyle/>
          <a:p>
            <a:pPr indent="0" marL="0">
              <a:buNone/>
            </a:pPr>
            <a:r>
              <a:rPr lang="en-US" sz="1000" b="1" dirty="0">
                <a:solidFill>
                  <a:srgbClr val="1F9D68"/>
                </a:solidFill>
                <a:latin typeface="Courier New" pitchFamily="34" charset="0"/>
                <a:ea typeface="Courier New" pitchFamily="34" charset="-122"/>
                <a:cs typeface="Courier New" pitchFamily="34" charset="-120"/>
              </a:rPr>
              <a:t>ACCEPTANCE  </a:t>
            </a:r>
            <a:pPr indent="0" marL="0">
              <a:buNone/>
            </a:pPr>
            <a:r>
              <a:rPr lang="en-US" sz="1100" dirty="0">
                <a:solidFill>
                  <a:srgbClr val="FFFFFF"/>
                </a:solidFill>
                <a:latin typeface="Arial" pitchFamily="34" charset="0"/>
                <a:ea typeface="Arial" pitchFamily="34" charset="-122"/>
                <a:cs typeface="Arial" pitchFamily="34" charset="-120"/>
              </a:rPr>
              <a:t>zero pressure on glass · every port/button usable · BLE signal within 2 dB of bare · survives a 1 m drop</a:t>
            </a:r>
            <a:endParaRPr lang="en-US" sz="1000" dirty="0"/>
          </a:p>
        </p:txBody>
      </p:sp>
      <p:pic>
        <p:nvPicPr>
          <p:cNvPr id="22" name="Image 0" descr="C:/Users/deogr/AppData/Local/Temp/claude/C--Users-deogr-Documents-Fall-Project-Off-Grid-Vehicle-dection-project/e8b2e8fa-1513-4aa8-a8f6-ce4fcd20e664/scratchpad/deck5/case_printbed.jpg">    </p:cNvPr>
          <p:cNvPicPr>
            <a:picLocks noChangeAspect="1"/>
          </p:cNvPicPr>
          <p:nvPr/>
        </p:nvPicPr>
        <p:blipFill>
          <a:blip r:embed="rId1"/>
          <a:stretch>
            <a:fillRect/>
          </a:stretch>
        </p:blipFill>
        <p:spPr>
          <a:xfrm>
            <a:off x="7040880" y="1143000"/>
            <a:ext cx="4617720" cy="3200400"/>
          </a:xfrm>
          <a:prstGeom prst="rect">
            <a:avLst/>
          </a:prstGeom>
        </p:spPr>
      </p:pic>
      <p:sp>
        <p:nvSpPr>
          <p:cNvPr id="23" name="Shape 20"/>
          <p:cNvSpPr/>
          <p:nvPr/>
        </p:nvSpPr>
        <p:spPr>
          <a:xfrm>
            <a:off x="7040880" y="1143000"/>
            <a:ext cx="4617720" cy="3200400"/>
          </a:xfrm>
          <a:prstGeom prst="rect">
            <a:avLst/>
          </a:prstGeom>
          <a:ln w="12700">
            <a:solidFill>
              <a:srgbClr val="9AA7BE"/>
            </a:solidFill>
            <a:prstDash val="solid"/>
          </a:ln>
        </p:spPr>
      </p:sp>
      <p:sp>
        <p:nvSpPr>
          <p:cNvPr id="24" name="Text 21"/>
          <p:cNvSpPr txBox="1"/>
          <p:nvPr/>
        </p:nvSpPr>
        <p:spPr>
          <a:xfrm>
            <a:off x="6812280" y="4361688"/>
            <a:ext cx="5074920"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author’s plate on a Prusa MK3 — organic supports, small parts sequential</a:t>
            </a:r>
            <a:endParaRPr lang="en-US" sz="850" dirty="0"/>
          </a:p>
        </p:txBody>
      </p:sp>
      <p:pic>
        <p:nvPicPr>
          <p:cNvPr id="25" name="Image 1" descr="C:/Users/deogr/AppData/Local/Temp/claude/C--Users-deogr-Documents-Fall-Project-Off-Grid-Vehicle-dection-project/e8b2e8fa-1513-4aa8-a8f6-ce4fcd20e664/scratchpad/deck5/case_ports.jpg">    </p:cNvPr>
          <p:cNvPicPr>
            <a:picLocks noChangeAspect="1"/>
          </p:cNvPicPr>
          <p:nvPr/>
        </p:nvPicPr>
        <p:blipFill>
          <a:blip r:embed="rId2"/>
          <a:stretch>
            <a:fillRect/>
          </a:stretch>
        </p:blipFill>
        <p:spPr>
          <a:xfrm>
            <a:off x="7040880" y="4864608"/>
            <a:ext cx="1280160" cy="960120"/>
          </a:xfrm>
          <a:prstGeom prst="rect">
            <a:avLst/>
          </a:prstGeom>
        </p:spPr>
      </p:pic>
      <p:sp>
        <p:nvSpPr>
          <p:cNvPr id="26" name="Shape 22"/>
          <p:cNvSpPr/>
          <p:nvPr/>
        </p:nvSpPr>
        <p:spPr>
          <a:xfrm>
            <a:off x="7040880" y="4864608"/>
            <a:ext cx="1280160" cy="960120"/>
          </a:xfrm>
          <a:prstGeom prst="rect">
            <a:avLst/>
          </a:prstGeom>
          <a:ln w="12700">
            <a:solidFill>
              <a:srgbClr val="9AA7BE"/>
            </a:solidFill>
            <a:prstDash val="solid"/>
          </a:ln>
        </p:spPr>
      </p:sp>
      <p:sp>
        <p:nvSpPr>
          <p:cNvPr id="27" name="Text 23"/>
          <p:cNvSpPr txBox="1"/>
          <p:nvPr/>
        </p:nvSpPr>
        <p:spPr>
          <a:xfrm>
            <a:off x="6812280" y="5843016"/>
            <a:ext cx="1737360" cy="384048"/>
          </a:xfrm>
          <a:prstGeom prst="rect">
            <a:avLst/>
          </a:prstGeom>
          <a:noFill/>
          <a:ln/>
        </p:spPr>
        <p:txBody>
          <a:bodyPr wrap="square" lIns="0" tIns="0" rIns="0" bIns="0" rtlCol="0" anchor="ctr"/>
          <a:lstStyle/>
          <a:p>
            <a:pPr algn="ctr" indent="0" marL="0">
              <a:buNone/>
            </a:pPr>
            <a:r>
              <a:rPr lang="en-US" sz="850" dirty="0">
                <a:solidFill>
                  <a:srgbClr val="5E6B85"/>
                </a:solidFill>
                <a:latin typeface="Courier New" pitchFamily="34" charset="0"/>
                <a:ea typeface="Courier New" pitchFamily="34" charset="-122"/>
                <a:cs typeface="Courier New" pitchFamily="34" charset="-120"/>
              </a:rPr>
              <a:t>USB-C + SD open</a:t>
            </a:r>
            <a:endParaRPr lang="en-US" sz="850" dirty="0"/>
          </a:p>
        </p:txBody>
      </p:sp>
      <p:sp>
        <p:nvSpPr>
          <p:cNvPr id="28" name="Shape 24"/>
          <p:cNvSpPr/>
          <p:nvPr/>
        </p:nvSpPr>
        <p:spPr>
          <a:xfrm>
            <a:off x="8549640" y="4864608"/>
            <a:ext cx="3108960" cy="960120"/>
          </a:xfrm>
          <a:prstGeom prst="rect">
            <a:avLst/>
          </a:prstGeom>
          <a:solidFill>
            <a:srgbClr val="F2F5FA"/>
          </a:solidFill>
          <a:ln w="15875">
            <a:solidFill>
              <a:srgbClr val="6D4BDB"/>
            </a:solidFill>
            <a:prstDash val="solid"/>
          </a:ln>
        </p:spPr>
      </p:sp>
      <p:sp>
        <p:nvSpPr>
          <p:cNvPr id="29" name="Text 25"/>
          <p:cNvSpPr txBox="1"/>
          <p:nvPr/>
        </p:nvSpPr>
        <p:spPr>
          <a:xfrm>
            <a:off x="8705088" y="4937760"/>
            <a:ext cx="2834640" cy="822960"/>
          </a:xfrm>
          <a:prstGeom prst="rect">
            <a:avLst/>
          </a:prstGeom>
          <a:noFill/>
          <a:ln/>
        </p:spPr>
        <p:txBody>
          <a:bodyPr wrap="square" lIns="0" tIns="0" rIns="0" bIns="0" rtlCol="0" anchor="ctr"/>
          <a:lstStyle/>
          <a:p>
            <a:pPr indent="0" marL="0">
              <a:buNone/>
            </a:pPr>
            <a:r>
              <a:rPr lang="en-US" sz="950" b="1" dirty="0">
                <a:solidFill>
                  <a:srgbClr val="6D4BDB"/>
                </a:solidFill>
                <a:latin typeface="Courier New" pitchFamily="34" charset="0"/>
                <a:ea typeface="Courier New" pitchFamily="34" charset="-122"/>
                <a:cs typeface="Courier New" pitchFamily="34" charset="-120"/>
              </a:rPr>
              <a:t>PLAN  </a:t>
            </a:r>
            <a:pPr indent="0" marL="0">
              <a:buNone/>
            </a:pPr>
            <a:r>
              <a:rPr lang="en-US" sz="1050" dirty="0">
                <a:solidFill>
                  <a:srgbClr val="222A3F"/>
                </a:solidFill>
                <a:latin typeface="Arial" pitchFamily="34" charset="0"/>
                <a:ea typeface="Arial" pitchFamily="34" charset="-122"/>
                <a:cs typeface="Arial" pitchFamily="34" charset="-120"/>
              </a:rPr>
              <a:t>print the night the replacement panel ships — armor on before first power-up.</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2026-09-27T04:41:15Z</dcterms:created>
  <dcterms:modified xsi:type="dcterms:W3CDTF">2026-09-27T04:41:15Z</dcterms:modified>
</cp:coreProperties>
</file>