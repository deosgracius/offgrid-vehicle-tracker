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whole system so every later sheet has a home. Walk left region (hardware per vehicle), right region (firmware split with TrackerState as the single interface), bottom strip (telecom layers). Close on symmetry: vehicle B is identical, nothing is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by Deo as the descent from the system map into the machine my protocol rides on. This sheet is the silicon-level story, all from the Semtech datasheet in our repo of references. Left: the block diagram - antenna, matching, LNA, mixer, ADC, then everything is digital: the LoRa modem correlates chirps (that is the processing gain), the protocol engine handles preamble, header, FEC and CRC, and a 256-byte buffer meets the ESP32 over SPI. Note the FSK modem sitting beside the LoRa modem: present, powered, and unused - FSK needs positive SNR, LoRa decodes at minus 17.5 dB. Right: the operating-mode state machine, and below it one of our broadcasts traced across it: park in RX, CAD to check the channel (the physical CSMA - below the noise floor RSSI is meaningless so the chip listens for LoRa symbols), FS while the PLL locks, half a second of TX, TxDone interrupt, back to RX. Bottom code: the region line that sets 902 to 928 MHz and the hash that picks the channel - both radios compute the same hash from the channel name, so the shared URL is simultaneously the encryption domain and the frequency agreement. Close by handing the physics forward: Victor will quantify what this silicon buys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from sheet 02 into the firmware. Emphasize the single mutex-protected interface and that the whole left chain is proven on the road, not the bench: automatic reconnection, duplicate re-broadcast detection for honest ages, and the GPS clock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arrows aloud: the GATT loop reads until the radio reports empty; nanopb decodes with code generated from Meshtastic's own schema; node_table publishes once per second; the UI copies its own snapshot at 2 Hz, projects it forward, and computes the arrow. Every hardening item in the bottom card came out of an actual drive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flow left to right, then the two fragments that do all the work. Testability is the design win: nav.c and dead_reckon.c run on the laptop with zero hardware, which is how the whole UI was built before the radio link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photos show the real display on decoded radio packets. Point at the state machine working: banner and chevron in the driving view, rose fallback when stopped, and the diagnostic page with raw coordinates that we use for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diagram first, then the configuration that three road tests produced: 10 second smart broadcast matched by 10 second GPS refresh on a full-precision private channel. The amber card is the recipe that makes radio two a fifteen-minute job instead of a rediscovery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sheet answers the question everyone asks: why not every second. Equation 1: at spreading factor 11 each symbol is 2048 chips, so one position costs about half a second of air. Equation 2: two vehicles at one hertz would occupy 100 percent of the channel; at ten seconds they occupy ten percent. Equation 3: the same slowness buys sensitivity of minus 131 dBm, fifteen decibels below thermal noise, which is the entire range budget. Equation 4: actual information latency is about one second. Equation 5: the display projects both vehicles forward every second between fixes. Marine AIS beacons every 2 to 30 seconds and every chartplotter animates between reports; we are in good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pictures replace ten minutes of argument. Left graph: utilization is inversely proportional to the interval; the 1 s point is literally impossible and the dashed line is Meshtastic's own 25 percent duty limit; we sit at 10 percent. Right graph: the sawtooth is the display error over time at 45 mph; orange is what holding the raw fix would show, up to 200 meters stale; navy is dead reckoning with a worst-case maneuver assumption of 0.5 m/s^2, bounded near 25 meters and typically a few meters in steady driving. Sources are on this sheet's reference list in the notes: the SNR-per-spreading-factor table and airtime equations are from Semtech's datasheet and AN1200.22, the duty limit and configuration from the Meshtastic documentation, and the AIS precedent from ITU-R M.1371.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sheet is the integration story: the two halves of the firmware are joined and running on real hardware. Walk the stack top to bottom, and point at the photo text that proves each layer: own GPS locked proves layer one, radio link connected proves layer two, the live coordinates prove decoding, and the clock reading Central time proves the navigation layer is deriving timezone from position. The dashed layer is the honest gap, and the display itself says it: no partner heard yet. The strategy: one device tracking itself exercises everything except the LoRa hop, so integration bugs get found cheaply before the two-vehicle test. Radio two closes the loop without changing a line of display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becomes a line item in the test protocol. The strength of this slide is provenance: phantom speed, the advertise-once trap, the charger cutoff, and the configuration revert were all found by us, on our hardware, and every one is documented in the repository with its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If a number is challenged, the sources are: equations from Semtech [1][2], configuration behavior from Meshtastic docs [4], wire units from the protobuf schema itself [5], and the AIS precedent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semtech.com/products/wireless-rf/lora-connect/sx1276" TargetMode="External"/><Relationship Id="rId2" Type="http://schemas.openxmlformats.org/officeDocument/2006/relationships/hyperlink" Target="https://info.semtech.com/find-documentation" TargetMode="External"/><Relationship Id="rId3" Type="http://schemas.openxmlformats.org/officeDocument/2006/relationships/hyperlink" Target="https://www.semtech.com/products/wireless-rf/lora-connect/sx1262" TargetMode="External"/><Relationship Id="rId4" Type="http://schemas.openxmlformats.org/officeDocument/2006/relationships/hyperlink" Target="https://meshtastic.org/docs/configuration/radio/lora/" TargetMode="External"/><Relationship Id="rId5" Type="http://schemas.openxmlformats.org/officeDocument/2006/relationships/hyperlink" Target="https://github.com/meshtastic/protobufs" TargetMode="External"/><Relationship Id="rId6" Type="http://schemas.openxmlformats.org/officeDocument/2006/relationships/hyperlink" Target="https://www.law.cornell.edu/cfr/text/47/15.247" TargetMode="External"/><Relationship Id="rId7" Type="http://schemas.openxmlformats.org/officeDocument/2006/relationships/hyperlink" Target="https://www.itu.int/rec/R-REC-M.1371/en" TargetMode="External"/><Relationship Id="rId8" Type="http://schemas.openxmlformats.org/officeDocument/2006/relationships/hyperlink" Target="https://www.movable-type.co.uk/scripts/latlong.html" TargetMode="External"/><Relationship Id="rId9" Type="http://schemas.openxmlformats.org/officeDocument/2006/relationships/hyperlink" Target="https://www.bluetooth.com/specifications/specs/core-specification/" TargetMode="External"/><Relationship Id="rId10" Type="http://schemas.openxmlformats.org/officeDocument/2006/relationships/hyperlink" Target="https://github.com/deosgracius/offgrid-vehicle-tracker" TargetMode="External"/><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DESIGN REVIEW, WEEK 3</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01/14  REV C  2026-09-07</a:t>
            </a:r>
            <a:endParaRPr lang="en-US" sz="900" dirty="0"/>
          </a:p>
        </p:txBody>
      </p:sp>
      <p:sp>
        <p:nvSpPr>
          <p:cNvPr id="7" name="Shape 5"/>
          <p:cNvSpPr/>
          <p:nvPr/>
        </p:nvSpPr>
        <p:spPr>
          <a:xfrm>
            <a:off x="621792" y="146304"/>
            <a:ext cx="0" cy="6126480"/>
          </a:xfrm>
          <a:prstGeom prst="line">
            <a:avLst/>
          </a:prstGeom>
          <a:noFill/>
          <a:ln w="6350">
            <a:solidFill>
              <a:srgbClr val="E8EDF5"/>
            </a:solidFill>
            <a:prstDash val="solid"/>
          </a:ln>
        </p:spPr>
      </p:sp>
      <p:sp>
        <p:nvSpPr>
          <p:cNvPr id="8" name="Shape 6"/>
          <p:cNvSpPr/>
          <p:nvPr/>
        </p:nvSpPr>
        <p:spPr>
          <a:xfrm>
            <a:off x="1078992" y="146304"/>
            <a:ext cx="0" cy="6126480"/>
          </a:xfrm>
          <a:prstGeom prst="line">
            <a:avLst/>
          </a:prstGeom>
          <a:noFill/>
          <a:ln w="6350">
            <a:solidFill>
              <a:srgbClr val="E8EDF5"/>
            </a:solidFill>
            <a:prstDash val="solid"/>
          </a:ln>
        </p:spPr>
      </p:sp>
      <p:sp>
        <p:nvSpPr>
          <p:cNvPr id="9" name="Shape 7"/>
          <p:cNvSpPr/>
          <p:nvPr/>
        </p:nvSpPr>
        <p:spPr>
          <a:xfrm>
            <a:off x="1536192" y="146304"/>
            <a:ext cx="0" cy="6126480"/>
          </a:xfrm>
          <a:prstGeom prst="line">
            <a:avLst/>
          </a:prstGeom>
          <a:noFill/>
          <a:ln w="6350">
            <a:solidFill>
              <a:srgbClr val="E8EDF5"/>
            </a:solidFill>
            <a:prstDash val="solid"/>
          </a:ln>
        </p:spPr>
      </p:sp>
      <p:sp>
        <p:nvSpPr>
          <p:cNvPr id="10" name="Shape 8"/>
          <p:cNvSpPr/>
          <p:nvPr/>
        </p:nvSpPr>
        <p:spPr>
          <a:xfrm>
            <a:off x="1993392" y="146304"/>
            <a:ext cx="0" cy="6126480"/>
          </a:xfrm>
          <a:prstGeom prst="line">
            <a:avLst/>
          </a:prstGeom>
          <a:noFill/>
          <a:ln w="6350">
            <a:solidFill>
              <a:srgbClr val="E8EDF5"/>
            </a:solidFill>
            <a:prstDash val="solid"/>
          </a:ln>
        </p:spPr>
      </p:sp>
      <p:sp>
        <p:nvSpPr>
          <p:cNvPr id="11" name="Shape 9"/>
          <p:cNvSpPr/>
          <p:nvPr/>
        </p:nvSpPr>
        <p:spPr>
          <a:xfrm>
            <a:off x="2450592" y="146304"/>
            <a:ext cx="0" cy="6126480"/>
          </a:xfrm>
          <a:prstGeom prst="line">
            <a:avLst/>
          </a:prstGeom>
          <a:noFill/>
          <a:ln w="6350">
            <a:solidFill>
              <a:srgbClr val="E8EDF5"/>
            </a:solidFill>
            <a:prstDash val="solid"/>
          </a:ln>
        </p:spPr>
      </p:sp>
      <p:sp>
        <p:nvSpPr>
          <p:cNvPr id="12" name="Shape 10"/>
          <p:cNvSpPr/>
          <p:nvPr/>
        </p:nvSpPr>
        <p:spPr>
          <a:xfrm>
            <a:off x="2907792" y="146304"/>
            <a:ext cx="0" cy="6126480"/>
          </a:xfrm>
          <a:prstGeom prst="line">
            <a:avLst/>
          </a:prstGeom>
          <a:noFill/>
          <a:ln w="6350">
            <a:solidFill>
              <a:srgbClr val="E8EDF5"/>
            </a:solidFill>
            <a:prstDash val="solid"/>
          </a:ln>
        </p:spPr>
      </p:sp>
      <p:sp>
        <p:nvSpPr>
          <p:cNvPr id="13" name="Shape 11"/>
          <p:cNvSpPr/>
          <p:nvPr/>
        </p:nvSpPr>
        <p:spPr>
          <a:xfrm>
            <a:off x="3364992" y="146304"/>
            <a:ext cx="0" cy="6126480"/>
          </a:xfrm>
          <a:prstGeom prst="line">
            <a:avLst/>
          </a:prstGeom>
          <a:noFill/>
          <a:ln w="6350">
            <a:solidFill>
              <a:srgbClr val="E8EDF5"/>
            </a:solidFill>
            <a:prstDash val="solid"/>
          </a:ln>
        </p:spPr>
      </p:sp>
      <p:sp>
        <p:nvSpPr>
          <p:cNvPr id="14" name="Shape 12"/>
          <p:cNvSpPr/>
          <p:nvPr/>
        </p:nvSpPr>
        <p:spPr>
          <a:xfrm>
            <a:off x="3822192" y="146304"/>
            <a:ext cx="0" cy="6126480"/>
          </a:xfrm>
          <a:prstGeom prst="line">
            <a:avLst/>
          </a:prstGeom>
          <a:noFill/>
          <a:ln w="6350">
            <a:solidFill>
              <a:srgbClr val="E8EDF5"/>
            </a:solidFill>
            <a:prstDash val="solid"/>
          </a:ln>
        </p:spPr>
      </p:sp>
      <p:sp>
        <p:nvSpPr>
          <p:cNvPr id="15" name="Shape 13"/>
          <p:cNvSpPr/>
          <p:nvPr/>
        </p:nvSpPr>
        <p:spPr>
          <a:xfrm>
            <a:off x="4279392" y="146304"/>
            <a:ext cx="0" cy="6126480"/>
          </a:xfrm>
          <a:prstGeom prst="line">
            <a:avLst/>
          </a:prstGeom>
          <a:noFill/>
          <a:ln w="6350">
            <a:solidFill>
              <a:srgbClr val="E8EDF5"/>
            </a:solidFill>
            <a:prstDash val="solid"/>
          </a:ln>
        </p:spPr>
      </p:sp>
      <p:sp>
        <p:nvSpPr>
          <p:cNvPr id="16" name="Shape 14"/>
          <p:cNvSpPr/>
          <p:nvPr/>
        </p:nvSpPr>
        <p:spPr>
          <a:xfrm>
            <a:off x="4736592" y="146304"/>
            <a:ext cx="0" cy="6126480"/>
          </a:xfrm>
          <a:prstGeom prst="line">
            <a:avLst/>
          </a:prstGeom>
          <a:noFill/>
          <a:ln w="6350">
            <a:solidFill>
              <a:srgbClr val="E8EDF5"/>
            </a:solidFill>
            <a:prstDash val="solid"/>
          </a:ln>
        </p:spPr>
      </p:sp>
      <p:sp>
        <p:nvSpPr>
          <p:cNvPr id="17" name="Shape 15"/>
          <p:cNvSpPr/>
          <p:nvPr/>
        </p:nvSpPr>
        <p:spPr>
          <a:xfrm>
            <a:off x="5193792" y="146304"/>
            <a:ext cx="0" cy="6126480"/>
          </a:xfrm>
          <a:prstGeom prst="line">
            <a:avLst/>
          </a:prstGeom>
          <a:noFill/>
          <a:ln w="6350">
            <a:solidFill>
              <a:srgbClr val="E8EDF5"/>
            </a:solidFill>
            <a:prstDash val="solid"/>
          </a:ln>
        </p:spPr>
      </p:sp>
      <p:sp>
        <p:nvSpPr>
          <p:cNvPr id="18" name="Shape 16"/>
          <p:cNvSpPr/>
          <p:nvPr/>
        </p:nvSpPr>
        <p:spPr>
          <a:xfrm>
            <a:off x="5650992" y="146304"/>
            <a:ext cx="0" cy="6126480"/>
          </a:xfrm>
          <a:prstGeom prst="line">
            <a:avLst/>
          </a:prstGeom>
          <a:noFill/>
          <a:ln w="6350">
            <a:solidFill>
              <a:srgbClr val="E8EDF5"/>
            </a:solidFill>
            <a:prstDash val="solid"/>
          </a:ln>
        </p:spPr>
      </p:sp>
      <p:sp>
        <p:nvSpPr>
          <p:cNvPr id="19" name="Shape 17"/>
          <p:cNvSpPr/>
          <p:nvPr/>
        </p:nvSpPr>
        <p:spPr>
          <a:xfrm>
            <a:off x="6108192" y="146304"/>
            <a:ext cx="0" cy="6126480"/>
          </a:xfrm>
          <a:prstGeom prst="line">
            <a:avLst/>
          </a:prstGeom>
          <a:noFill/>
          <a:ln w="6350">
            <a:solidFill>
              <a:srgbClr val="E8EDF5"/>
            </a:solidFill>
            <a:prstDash val="solid"/>
          </a:ln>
        </p:spPr>
      </p:sp>
      <p:sp>
        <p:nvSpPr>
          <p:cNvPr id="20" name="Shape 18"/>
          <p:cNvSpPr/>
          <p:nvPr/>
        </p:nvSpPr>
        <p:spPr>
          <a:xfrm>
            <a:off x="6565392" y="146304"/>
            <a:ext cx="0" cy="6126480"/>
          </a:xfrm>
          <a:prstGeom prst="line">
            <a:avLst/>
          </a:prstGeom>
          <a:noFill/>
          <a:ln w="6350">
            <a:solidFill>
              <a:srgbClr val="E8EDF5"/>
            </a:solidFill>
            <a:prstDash val="solid"/>
          </a:ln>
        </p:spPr>
      </p:sp>
      <p:sp>
        <p:nvSpPr>
          <p:cNvPr id="21" name="Shape 19"/>
          <p:cNvSpPr/>
          <p:nvPr/>
        </p:nvSpPr>
        <p:spPr>
          <a:xfrm>
            <a:off x="7022592" y="146304"/>
            <a:ext cx="0" cy="6126480"/>
          </a:xfrm>
          <a:prstGeom prst="line">
            <a:avLst/>
          </a:prstGeom>
          <a:noFill/>
          <a:ln w="6350">
            <a:solidFill>
              <a:srgbClr val="E8EDF5"/>
            </a:solidFill>
            <a:prstDash val="solid"/>
          </a:ln>
        </p:spPr>
      </p:sp>
      <p:sp>
        <p:nvSpPr>
          <p:cNvPr id="22" name="Shape 20"/>
          <p:cNvSpPr/>
          <p:nvPr/>
        </p:nvSpPr>
        <p:spPr>
          <a:xfrm>
            <a:off x="7479792" y="146304"/>
            <a:ext cx="0" cy="6126480"/>
          </a:xfrm>
          <a:prstGeom prst="line">
            <a:avLst/>
          </a:prstGeom>
          <a:noFill/>
          <a:ln w="6350">
            <a:solidFill>
              <a:srgbClr val="E8EDF5"/>
            </a:solidFill>
            <a:prstDash val="solid"/>
          </a:ln>
        </p:spPr>
      </p:sp>
      <p:sp>
        <p:nvSpPr>
          <p:cNvPr id="23" name="Shape 21"/>
          <p:cNvSpPr/>
          <p:nvPr/>
        </p:nvSpPr>
        <p:spPr>
          <a:xfrm>
            <a:off x="7936992" y="146304"/>
            <a:ext cx="0" cy="6126480"/>
          </a:xfrm>
          <a:prstGeom prst="line">
            <a:avLst/>
          </a:prstGeom>
          <a:noFill/>
          <a:ln w="6350">
            <a:solidFill>
              <a:srgbClr val="E8EDF5"/>
            </a:solidFill>
            <a:prstDash val="solid"/>
          </a:ln>
        </p:spPr>
      </p:sp>
      <p:sp>
        <p:nvSpPr>
          <p:cNvPr id="24" name="Shape 22"/>
          <p:cNvSpPr/>
          <p:nvPr/>
        </p:nvSpPr>
        <p:spPr>
          <a:xfrm>
            <a:off x="8394192" y="146304"/>
            <a:ext cx="0" cy="6126480"/>
          </a:xfrm>
          <a:prstGeom prst="line">
            <a:avLst/>
          </a:prstGeom>
          <a:noFill/>
          <a:ln w="6350">
            <a:solidFill>
              <a:srgbClr val="E8EDF5"/>
            </a:solidFill>
            <a:prstDash val="solid"/>
          </a:ln>
        </p:spPr>
      </p:sp>
      <p:sp>
        <p:nvSpPr>
          <p:cNvPr id="25" name="Shape 23"/>
          <p:cNvSpPr/>
          <p:nvPr/>
        </p:nvSpPr>
        <p:spPr>
          <a:xfrm>
            <a:off x="8851392" y="146304"/>
            <a:ext cx="0" cy="6126480"/>
          </a:xfrm>
          <a:prstGeom prst="line">
            <a:avLst/>
          </a:prstGeom>
          <a:noFill/>
          <a:ln w="6350">
            <a:solidFill>
              <a:srgbClr val="E8EDF5"/>
            </a:solidFill>
            <a:prstDash val="solid"/>
          </a:ln>
        </p:spPr>
      </p:sp>
      <p:sp>
        <p:nvSpPr>
          <p:cNvPr id="26" name="Shape 24"/>
          <p:cNvSpPr/>
          <p:nvPr/>
        </p:nvSpPr>
        <p:spPr>
          <a:xfrm>
            <a:off x="9308592" y="146304"/>
            <a:ext cx="0" cy="6126480"/>
          </a:xfrm>
          <a:prstGeom prst="line">
            <a:avLst/>
          </a:prstGeom>
          <a:noFill/>
          <a:ln w="6350">
            <a:solidFill>
              <a:srgbClr val="E8EDF5"/>
            </a:solidFill>
            <a:prstDash val="solid"/>
          </a:ln>
        </p:spPr>
      </p:sp>
      <p:sp>
        <p:nvSpPr>
          <p:cNvPr id="27" name="Shape 25"/>
          <p:cNvSpPr/>
          <p:nvPr/>
        </p:nvSpPr>
        <p:spPr>
          <a:xfrm>
            <a:off x="9765792" y="146304"/>
            <a:ext cx="0" cy="6126480"/>
          </a:xfrm>
          <a:prstGeom prst="line">
            <a:avLst/>
          </a:prstGeom>
          <a:noFill/>
          <a:ln w="6350">
            <a:solidFill>
              <a:srgbClr val="E8EDF5"/>
            </a:solidFill>
            <a:prstDash val="solid"/>
          </a:ln>
        </p:spPr>
      </p:sp>
      <p:sp>
        <p:nvSpPr>
          <p:cNvPr id="28" name="Shape 26"/>
          <p:cNvSpPr/>
          <p:nvPr/>
        </p:nvSpPr>
        <p:spPr>
          <a:xfrm>
            <a:off x="10222992" y="146304"/>
            <a:ext cx="0" cy="6126480"/>
          </a:xfrm>
          <a:prstGeom prst="line">
            <a:avLst/>
          </a:prstGeom>
          <a:noFill/>
          <a:ln w="6350">
            <a:solidFill>
              <a:srgbClr val="E8EDF5"/>
            </a:solidFill>
            <a:prstDash val="solid"/>
          </a:ln>
        </p:spPr>
      </p:sp>
      <p:sp>
        <p:nvSpPr>
          <p:cNvPr id="29" name="Shape 27"/>
          <p:cNvSpPr/>
          <p:nvPr/>
        </p:nvSpPr>
        <p:spPr>
          <a:xfrm>
            <a:off x="10680192" y="146304"/>
            <a:ext cx="0" cy="6126480"/>
          </a:xfrm>
          <a:prstGeom prst="line">
            <a:avLst/>
          </a:prstGeom>
          <a:noFill/>
          <a:ln w="6350">
            <a:solidFill>
              <a:srgbClr val="E8EDF5"/>
            </a:solidFill>
            <a:prstDash val="solid"/>
          </a:ln>
        </p:spPr>
      </p:sp>
      <p:sp>
        <p:nvSpPr>
          <p:cNvPr id="30" name="Shape 28"/>
          <p:cNvSpPr/>
          <p:nvPr/>
        </p:nvSpPr>
        <p:spPr>
          <a:xfrm>
            <a:off x="11137392" y="146304"/>
            <a:ext cx="0" cy="6126480"/>
          </a:xfrm>
          <a:prstGeom prst="line">
            <a:avLst/>
          </a:prstGeom>
          <a:noFill/>
          <a:ln w="6350">
            <a:solidFill>
              <a:srgbClr val="E8EDF5"/>
            </a:solidFill>
            <a:prstDash val="solid"/>
          </a:ln>
        </p:spPr>
      </p:sp>
      <p:sp>
        <p:nvSpPr>
          <p:cNvPr id="31" name="Shape 29"/>
          <p:cNvSpPr/>
          <p:nvPr/>
        </p:nvSpPr>
        <p:spPr>
          <a:xfrm>
            <a:off x="11594592" y="146304"/>
            <a:ext cx="0" cy="6126480"/>
          </a:xfrm>
          <a:prstGeom prst="line">
            <a:avLst/>
          </a:prstGeom>
          <a:noFill/>
          <a:ln w="6350">
            <a:solidFill>
              <a:srgbClr val="E8EDF5"/>
            </a:solidFill>
            <a:prstDash val="solid"/>
          </a:ln>
        </p:spPr>
      </p:sp>
      <p:sp>
        <p:nvSpPr>
          <p:cNvPr id="32" name="Shape 30"/>
          <p:cNvSpPr/>
          <p:nvPr/>
        </p:nvSpPr>
        <p:spPr>
          <a:xfrm>
            <a:off x="164592" y="603504"/>
            <a:ext cx="11859768" cy="0"/>
          </a:xfrm>
          <a:prstGeom prst="line">
            <a:avLst/>
          </a:prstGeom>
          <a:noFill/>
          <a:ln w="6350">
            <a:solidFill>
              <a:srgbClr val="E8EDF5"/>
            </a:solidFill>
            <a:prstDash val="solid"/>
          </a:ln>
        </p:spPr>
      </p:sp>
      <p:sp>
        <p:nvSpPr>
          <p:cNvPr id="33" name="Shape 31"/>
          <p:cNvSpPr/>
          <p:nvPr/>
        </p:nvSpPr>
        <p:spPr>
          <a:xfrm>
            <a:off x="164592" y="1060704"/>
            <a:ext cx="11859768" cy="0"/>
          </a:xfrm>
          <a:prstGeom prst="line">
            <a:avLst/>
          </a:prstGeom>
          <a:noFill/>
          <a:ln w="6350">
            <a:solidFill>
              <a:srgbClr val="E8EDF5"/>
            </a:solidFill>
            <a:prstDash val="solid"/>
          </a:ln>
        </p:spPr>
      </p:sp>
      <p:sp>
        <p:nvSpPr>
          <p:cNvPr id="34" name="Shape 32"/>
          <p:cNvSpPr/>
          <p:nvPr/>
        </p:nvSpPr>
        <p:spPr>
          <a:xfrm>
            <a:off x="164592" y="1517904"/>
            <a:ext cx="11859768" cy="0"/>
          </a:xfrm>
          <a:prstGeom prst="line">
            <a:avLst/>
          </a:prstGeom>
          <a:noFill/>
          <a:ln w="6350">
            <a:solidFill>
              <a:srgbClr val="E8EDF5"/>
            </a:solidFill>
            <a:prstDash val="solid"/>
          </a:ln>
        </p:spPr>
      </p:sp>
      <p:sp>
        <p:nvSpPr>
          <p:cNvPr id="35" name="Shape 33"/>
          <p:cNvSpPr/>
          <p:nvPr/>
        </p:nvSpPr>
        <p:spPr>
          <a:xfrm>
            <a:off x="164592" y="1975104"/>
            <a:ext cx="11859768" cy="0"/>
          </a:xfrm>
          <a:prstGeom prst="line">
            <a:avLst/>
          </a:prstGeom>
          <a:noFill/>
          <a:ln w="6350">
            <a:solidFill>
              <a:srgbClr val="E8EDF5"/>
            </a:solidFill>
            <a:prstDash val="solid"/>
          </a:ln>
        </p:spPr>
      </p:sp>
      <p:sp>
        <p:nvSpPr>
          <p:cNvPr id="36" name="Shape 34"/>
          <p:cNvSpPr/>
          <p:nvPr/>
        </p:nvSpPr>
        <p:spPr>
          <a:xfrm>
            <a:off x="164592" y="2432304"/>
            <a:ext cx="11859768" cy="0"/>
          </a:xfrm>
          <a:prstGeom prst="line">
            <a:avLst/>
          </a:prstGeom>
          <a:noFill/>
          <a:ln w="6350">
            <a:solidFill>
              <a:srgbClr val="E8EDF5"/>
            </a:solidFill>
            <a:prstDash val="solid"/>
          </a:ln>
        </p:spPr>
      </p:sp>
      <p:sp>
        <p:nvSpPr>
          <p:cNvPr id="37" name="Shape 35"/>
          <p:cNvSpPr/>
          <p:nvPr/>
        </p:nvSpPr>
        <p:spPr>
          <a:xfrm>
            <a:off x="164592" y="2889504"/>
            <a:ext cx="11859768" cy="0"/>
          </a:xfrm>
          <a:prstGeom prst="line">
            <a:avLst/>
          </a:prstGeom>
          <a:noFill/>
          <a:ln w="6350">
            <a:solidFill>
              <a:srgbClr val="E8EDF5"/>
            </a:solidFill>
            <a:prstDash val="solid"/>
          </a:ln>
        </p:spPr>
      </p:sp>
      <p:sp>
        <p:nvSpPr>
          <p:cNvPr id="38" name="Shape 36"/>
          <p:cNvSpPr/>
          <p:nvPr/>
        </p:nvSpPr>
        <p:spPr>
          <a:xfrm>
            <a:off x="164592" y="3346704"/>
            <a:ext cx="11859768" cy="0"/>
          </a:xfrm>
          <a:prstGeom prst="line">
            <a:avLst/>
          </a:prstGeom>
          <a:noFill/>
          <a:ln w="6350">
            <a:solidFill>
              <a:srgbClr val="E8EDF5"/>
            </a:solidFill>
            <a:prstDash val="solid"/>
          </a:ln>
        </p:spPr>
      </p:sp>
      <p:sp>
        <p:nvSpPr>
          <p:cNvPr id="39" name="Shape 37"/>
          <p:cNvSpPr/>
          <p:nvPr/>
        </p:nvSpPr>
        <p:spPr>
          <a:xfrm>
            <a:off x="164592" y="3803904"/>
            <a:ext cx="11859768" cy="0"/>
          </a:xfrm>
          <a:prstGeom prst="line">
            <a:avLst/>
          </a:prstGeom>
          <a:noFill/>
          <a:ln w="6350">
            <a:solidFill>
              <a:srgbClr val="E8EDF5"/>
            </a:solidFill>
            <a:prstDash val="solid"/>
          </a:ln>
        </p:spPr>
      </p:sp>
      <p:sp>
        <p:nvSpPr>
          <p:cNvPr id="40" name="Shape 38"/>
          <p:cNvSpPr/>
          <p:nvPr/>
        </p:nvSpPr>
        <p:spPr>
          <a:xfrm>
            <a:off x="164592" y="4261104"/>
            <a:ext cx="11859768" cy="0"/>
          </a:xfrm>
          <a:prstGeom prst="line">
            <a:avLst/>
          </a:prstGeom>
          <a:noFill/>
          <a:ln w="6350">
            <a:solidFill>
              <a:srgbClr val="E8EDF5"/>
            </a:solidFill>
            <a:prstDash val="solid"/>
          </a:ln>
        </p:spPr>
      </p:sp>
      <p:sp>
        <p:nvSpPr>
          <p:cNvPr id="41" name="Shape 39"/>
          <p:cNvSpPr/>
          <p:nvPr/>
        </p:nvSpPr>
        <p:spPr>
          <a:xfrm>
            <a:off x="164592" y="4718304"/>
            <a:ext cx="11859768" cy="0"/>
          </a:xfrm>
          <a:prstGeom prst="line">
            <a:avLst/>
          </a:prstGeom>
          <a:noFill/>
          <a:ln w="6350">
            <a:solidFill>
              <a:srgbClr val="E8EDF5"/>
            </a:solidFill>
            <a:prstDash val="solid"/>
          </a:ln>
        </p:spPr>
      </p:sp>
      <p:sp>
        <p:nvSpPr>
          <p:cNvPr id="42" name="Shape 40"/>
          <p:cNvSpPr/>
          <p:nvPr/>
        </p:nvSpPr>
        <p:spPr>
          <a:xfrm>
            <a:off x="164592" y="5175504"/>
            <a:ext cx="11859768" cy="0"/>
          </a:xfrm>
          <a:prstGeom prst="line">
            <a:avLst/>
          </a:prstGeom>
          <a:noFill/>
          <a:ln w="6350">
            <a:solidFill>
              <a:srgbClr val="E8EDF5"/>
            </a:solidFill>
            <a:prstDash val="solid"/>
          </a:ln>
        </p:spPr>
      </p:sp>
      <p:sp>
        <p:nvSpPr>
          <p:cNvPr id="43" name="Shape 41"/>
          <p:cNvSpPr/>
          <p:nvPr/>
        </p:nvSpPr>
        <p:spPr>
          <a:xfrm>
            <a:off x="164592" y="5632704"/>
            <a:ext cx="11859768" cy="0"/>
          </a:xfrm>
          <a:prstGeom prst="line">
            <a:avLst/>
          </a:prstGeom>
          <a:noFill/>
          <a:ln w="6350">
            <a:solidFill>
              <a:srgbClr val="E8EDF5"/>
            </a:solidFill>
            <a:prstDash val="solid"/>
          </a:ln>
        </p:spPr>
      </p:sp>
      <p:sp>
        <p:nvSpPr>
          <p:cNvPr id="44" name="Shape 42"/>
          <p:cNvSpPr/>
          <p:nvPr/>
        </p:nvSpPr>
        <p:spPr>
          <a:xfrm>
            <a:off x="164592" y="6089904"/>
            <a:ext cx="11859768" cy="0"/>
          </a:xfrm>
          <a:prstGeom prst="line">
            <a:avLst/>
          </a:prstGeom>
          <a:noFill/>
          <a:ln w="6350">
            <a:solidFill>
              <a:srgbClr val="E8EDF5"/>
            </a:solidFill>
            <a:prstDash val="solid"/>
          </a:ln>
        </p:spPr>
      </p:sp>
      <p:sp>
        <p:nvSpPr>
          <p:cNvPr id="45" name="Text 43"/>
          <p:cNvSpPr txBox="1"/>
          <p:nvPr/>
        </p:nvSpPr>
        <p:spPr>
          <a:xfrm>
            <a:off x="640080" y="1051560"/>
            <a:ext cx="10881360" cy="822960"/>
          </a:xfrm>
          <a:prstGeom prst="rect">
            <a:avLst/>
          </a:prstGeom>
          <a:noFill/>
          <a:ln/>
        </p:spPr>
        <p:txBody>
          <a:bodyPr wrap="square" lIns="0" tIns="0" rIns="0" bIns="0" rtlCol="0" anchor="ctr"/>
          <a:lstStyle/>
          <a:p>
            <a:pPr indent="0" marL="0">
              <a:buNone/>
            </a:pPr>
            <a:r>
              <a:rPr lang="en-US" sz="4400" b="1" spc="300" kern="0" dirty="0">
                <a:solidFill>
                  <a:srgbClr val="16213D"/>
                </a:solidFill>
                <a:latin typeface="Arial" pitchFamily="34" charset="0"/>
                <a:ea typeface="Arial" pitchFamily="34" charset="-122"/>
                <a:cs typeface="Arial" pitchFamily="34" charset="-120"/>
              </a:rPr>
              <a:t>OFF-GRID VEHICLE TRACKER</a:t>
            </a:r>
            <a:endParaRPr lang="en-US" sz="4400" dirty="0"/>
          </a:p>
        </p:txBody>
      </p:sp>
      <p:sp>
        <p:nvSpPr>
          <p:cNvPr id="46" name="Text 44"/>
          <p:cNvSpPr txBox="1"/>
          <p:nvPr/>
        </p:nvSpPr>
        <p:spPr>
          <a:xfrm>
            <a:off x="658368" y="1874520"/>
            <a:ext cx="10881360" cy="411480"/>
          </a:xfrm>
          <a:prstGeom prst="rect">
            <a:avLst/>
          </a:prstGeom>
          <a:noFill/>
          <a:ln/>
        </p:spPr>
        <p:txBody>
          <a:bodyPr wrap="square" lIns="0" tIns="0" rIns="0" bIns="0" rtlCol="0" anchor="ctr"/>
          <a:lstStyle/>
          <a:p>
            <a:pPr indent="0" marL="0">
              <a:buNone/>
            </a:pPr>
            <a:r>
              <a:rPr lang="en-US" sz="1700" b="1" spc="100" kern="0" dirty="0">
                <a:solidFill>
                  <a:srgbClr val="E58E1A"/>
                </a:solidFill>
                <a:latin typeface="Arial" pitchFamily="34" charset="0"/>
                <a:ea typeface="Arial" pitchFamily="34" charset="-122"/>
                <a:cs typeface="Arial" pitchFamily="34" charset="-120"/>
              </a:rPr>
              <a:t>WEEK 3 DESIGN REVIEW: A WORKING TRACKER, END TO END</a:t>
            </a:r>
            <a:endParaRPr lang="en-US" sz="1700" dirty="0"/>
          </a:p>
        </p:txBody>
      </p:sp>
      <p:sp>
        <p:nvSpPr>
          <p:cNvPr id="47" name="Text 45"/>
          <p:cNvSpPr txBox="1"/>
          <p:nvPr/>
        </p:nvSpPr>
        <p:spPr>
          <a:xfrm>
            <a:off x="658368" y="2423160"/>
            <a:ext cx="7589520" cy="1051560"/>
          </a:xfrm>
          <a:prstGeom prst="rect">
            <a:avLst/>
          </a:prstGeom>
          <a:noFill/>
          <a:ln/>
        </p:spPr>
        <p:txBody>
          <a:bodyPr wrap="square" lIns="0" tIns="0" rIns="0" bIns="0" rtlCol="0" anchor="ctr"/>
          <a:lstStyle/>
          <a:p>
            <a:pPr indent="0" marL="0">
              <a:buNone/>
            </a:pPr>
            <a:r>
              <a:rPr lang="en-US" sz="1300" dirty="0">
                <a:solidFill>
                  <a:srgbClr val="222A3F"/>
                </a:solidFill>
                <a:latin typeface="Arial" pitchFamily="34" charset="0"/>
                <a:ea typeface="Arial" pitchFamily="34" charset="-122"/>
                <a:cs typeface="Arial" pitchFamily="34" charset="-120"/>
              </a:rPr>
              <a:t>The display now shows a live vehicle: real packets, real navigation math, a screen that moves every second. Each section: architecture first, then the working hardware and its code.</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58368" y="3657600"/>
          <a:ext cx="7589520" cy="914400"/>
        </p:xfrm>
        <a:graphic>
          <a:graphicData uri="http://schemas.openxmlformats.org/drawingml/2006/table">
            <a:tbl>
              <a:tblPr/>
              <a:tblGrid>
                <a:gridCol w="1234440"/>
                <a:gridCol w="2514600"/>
                <a:gridCol w="3840480"/>
              </a:tblGrid>
              <a:tr h="384048">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OWNER</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SUBSYSTEM</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SCOPE THIS WEEK</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r>
              <a:tr h="384048">
                <a:tc>
                  <a:txBody>
                    <a:bodyPr/>
                    <a:lstStyle/>
                    <a:p>
                      <a:pPr indent="0" marL="0">
                        <a:buNone/>
                      </a:pPr>
                      <a:r>
                        <a:rPr lang="en-US" sz="1150" b="1" dirty="0">
                          <a:solidFill>
                            <a:srgbClr val="1199BD"/>
                          </a:solidFill>
                          <a:latin typeface="Courier New" pitchFamily="34" charset="0"/>
                          <a:ea typeface="Courier New" pitchFamily="34" charset="-122"/>
                          <a:cs typeface="Courier New" pitchFamily="34" charset="-120"/>
                        </a:rPr>
                        <a:t>DEO</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Backend, protocol/</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system diagram, BLE link, decode, TrackerState</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384048">
                <a:tc>
                  <a:txBody>
                    <a:bodyPr/>
                    <a:lstStyle/>
                    <a:p>
                      <a:pPr indent="0" marL="0">
                        <a:buNone/>
                      </a:pPr>
                      <a:r>
                        <a:rPr lang="en-US" sz="1150" b="1" dirty="0">
                          <a:solidFill>
                            <a:srgbClr val="6D4BDB"/>
                          </a:solidFill>
                          <a:latin typeface="Courier New" pitchFamily="34" charset="0"/>
                          <a:ea typeface="Courier New" pitchFamily="34" charset="-122"/>
                          <a:cs typeface="Courier New" pitchFamily="34" charset="-120"/>
                        </a:rPr>
                        <a:t>JOSIAH</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Frontend, ui/ and nav/</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arrow math, two-page UI, dead reckoning</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E58E1A"/>
                          </a:solidFill>
                          <a:latin typeface="Courier New" pitchFamily="34" charset="0"/>
                          <a:ea typeface="Courier New" pitchFamily="34" charset="-122"/>
                          <a:cs typeface="Courier New" pitchFamily="34" charset="-120"/>
                        </a:rPr>
                        <a:t>VICTOR</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Radio and PHY</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link physics: real time versus 10 seconds</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384048">
                <a:tc>
                  <a:txBody>
                    <a:bodyPr/>
                    <a:lstStyle/>
                    <a:p>
                      <a:pPr indent="0" marL="0">
                        <a:buNone/>
                      </a:pPr>
                      <a:r>
                        <a:rPr lang="en-US" sz="1150" b="1" dirty="0">
                          <a:solidFill>
                            <a:srgbClr val="D9488C"/>
                          </a:solidFill>
                          <a:latin typeface="Courier New" pitchFamily="34" charset="0"/>
                          <a:ea typeface="Courier New" pitchFamily="34" charset="-122"/>
                          <a:cs typeface="Courier New" pitchFamily="34" charset="-120"/>
                        </a:rPr>
                        <a:t>CANNON</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Integration and test</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the constraints ledger, test sequence</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bl>
          </a:graphicData>
        </a:graphic>
      </p:graphicFrame>
      <p:sp>
        <p:nvSpPr>
          <p:cNvPr id="49" name="Shape 46"/>
          <p:cNvSpPr/>
          <p:nvPr/>
        </p:nvSpPr>
        <p:spPr>
          <a:xfrm>
            <a:off x="8732520" y="2423160"/>
            <a:ext cx="3017520" cy="3246120"/>
          </a:xfrm>
          <a:prstGeom prst="rect">
            <a:avLst/>
          </a:prstGeom>
          <a:solidFill>
            <a:srgbClr val="FFFFFF"/>
          </a:solidFill>
          <a:ln w="15875">
            <a:solidFill>
              <a:srgbClr val="16213D"/>
            </a:solidFill>
            <a:prstDash val="solid"/>
          </a:ln>
        </p:spPr>
      </p:sp>
      <p:sp>
        <p:nvSpPr>
          <p:cNvPr id="50" name="Text 47"/>
          <p:cNvSpPr txBox="1"/>
          <p:nvPr/>
        </p:nvSpPr>
        <p:spPr>
          <a:xfrm>
            <a:off x="8869680" y="248716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PROJECT</a:t>
            </a:r>
            <a:endParaRPr lang="en-US" sz="900" dirty="0"/>
          </a:p>
        </p:txBody>
      </p:sp>
      <p:sp>
        <p:nvSpPr>
          <p:cNvPr id="51" name="Text 48"/>
          <p:cNvSpPr txBox="1"/>
          <p:nvPr/>
        </p:nvSpPr>
        <p:spPr>
          <a:xfrm>
            <a:off x="8869680" y="270662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Off-Grid Vehicle Tracker</a:t>
            </a:r>
            <a:endParaRPr lang="en-US" sz="1050" dirty="0"/>
          </a:p>
        </p:txBody>
      </p:sp>
      <p:sp>
        <p:nvSpPr>
          <p:cNvPr id="52" name="Shape 49"/>
          <p:cNvSpPr/>
          <p:nvPr/>
        </p:nvSpPr>
        <p:spPr>
          <a:xfrm>
            <a:off x="8732520" y="2980944"/>
            <a:ext cx="3017520" cy="0"/>
          </a:xfrm>
          <a:prstGeom prst="line">
            <a:avLst/>
          </a:prstGeom>
          <a:noFill/>
          <a:ln w="9525">
            <a:solidFill>
              <a:srgbClr val="9AA7BE"/>
            </a:solidFill>
            <a:prstDash val="solid"/>
          </a:ln>
        </p:spPr>
      </p:sp>
      <p:sp>
        <p:nvSpPr>
          <p:cNvPr id="53" name="Text 50"/>
          <p:cNvSpPr txBox="1"/>
          <p:nvPr/>
        </p:nvSpPr>
        <p:spPr>
          <a:xfrm>
            <a:off x="8869680" y="301294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SPONSOR</a:t>
            </a:r>
            <a:endParaRPr lang="en-US" sz="900" dirty="0"/>
          </a:p>
        </p:txBody>
      </p:sp>
      <p:sp>
        <p:nvSpPr>
          <p:cNvPr id="54" name="Text 51"/>
          <p:cNvSpPr txBox="1"/>
          <p:nvPr/>
        </p:nvSpPr>
        <p:spPr>
          <a:xfrm>
            <a:off x="8869680" y="323240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Dr. Richard Gale</a:t>
            </a:r>
            <a:endParaRPr lang="en-US" sz="1050" dirty="0"/>
          </a:p>
        </p:txBody>
      </p:sp>
      <p:sp>
        <p:nvSpPr>
          <p:cNvPr id="55" name="Shape 52"/>
          <p:cNvSpPr/>
          <p:nvPr/>
        </p:nvSpPr>
        <p:spPr>
          <a:xfrm>
            <a:off x="8732520" y="3506724"/>
            <a:ext cx="3017520" cy="0"/>
          </a:xfrm>
          <a:prstGeom prst="line">
            <a:avLst/>
          </a:prstGeom>
          <a:noFill/>
          <a:ln w="9525">
            <a:solidFill>
              <a:srgbClr val="9AA7BE"/>
            </a:solidFill>
            <a:prstDash val="solid"/>
          </a:ln>
        </p:spPr>
      </p:sp>
      <p:sp>
        <p:nvSpPr>
          <p:cNvPr id="56" name="Text 53"/>
          <p:cNvSpPr txBox="1"/>
          <p:nvPr/>
        </p:nvSpPr>
        <p:spPr>
          <a:xfrm>
            <a:off x="8869680" y="353872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COURSE</a:t>
            </a:r>
            <a:endParaRPr lang="en-US" sz="900" dirty="0"/>
          </a:p>
        </p:txBody>
      </p:sp>
      <p:sp>
        <p:nvSpPr>
          <p:cNvPr id="57" name="Text 54"/>
          <p:cNvSpPr txBox="1"/>
          <p:nvPr/>
        </p:nvSpPr>
        <p:spPr>
          <a:xfrm>
            <a:off x="8869680" y="375818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Capstone Project Lab</a:t>
            </a:r>
            <a:endParaRPr lang="en-US" sz="1050" dirty="0"/>
          </a:p>
        </p:txBody>
      </p:sp>
      <p:sp>
        <p:nvSpPr>
          <p:cNvPr id="58" name="Shape 55"/>
          <p:cNvSpPr/>
          <p:nvPr/>
        </p:nvSpPr>
        <p:spPr>
          <a:xfrm>
            <a:off x="8732520" y="4032504"/>
            <a:ext cx="3017520" cy="0"/>
          </a:xfrm>
          <a:prstGeom prst="line">
            <a:avLst/>
          </a:prstGeom>
          <a:noFill/>
          <a:ln w="9525">
            <a:solidFill>
              <a:srgbClr val="9AA7BE"/>
            </a:solidFill>
            <a:prstDash val="solid"/>
          </a:ln>
        </p:spPr>
      </p:sp>
      <p:sp>
        <p:nvSpPr>
          <p:cNvPr id="59" name="Text 56"/>
          <p:cNvSpPr txBox="1"/>
          <p:nvPr/>
        </p:nvSpPr>
        <p:spPr>
          <a:xfrm>
            <a:off x="8869680" y="406450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STATUS</a:t>
            </a:r>
            <a:endParaRPr lang="en-US" sz="900" dirty="0"/>
          </a:p>
        </p:txBody>
      </p:sp>
      <p:sp>
        <p:nvSpPr>
          <p:cNvPr id="60" name="Text 57"/>
          <p:cNvSpPr txBox="1"/>
          <p:nvPr/>
        </p:nvSpPr>
        <p:spPr>
          <a:xfrm>
            <a:off x="8869680" y="428396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42% vs 19% target, ahead</a:t>
            </a:r>
            <a:endParaRPr lang="en-US" sz="1050" dirty="0"/>
          </a:p>
        </p:txBody>
      </p:sp>
      <p:sp>
        <p:nvSpPr>
          <p:cNvPr id="61" name="Shape 58"/>
          <p:cNvSpPr/>
          <p:nvPr/>
        </p:nvSpPr>
        <p:spPr>
          <a:xfrm>
            <a:off x="8732520" y="4558284"/>
            <a:ext cx="3017520" cy="0"/>
          </a:xfrm>
          <a:prstGeom prst="line">
            <a:avLst/>
          </a:prstGeom>
          <a:noFill/>
          <a:ln w="9525">
            <a:solidFill>
              <a:srgbClr val="9AA7BE"/>
            </a:solidFill>
            <a:prstDash val="solid"/>
          </a:ln>
        </p:spPr>
      </p:sp>
      <p:sp>
        <p:nvSpPr>
          <p:cNvPr id="62" name="Text 59"/>
          <p:cNvSpPr txBox="1"/>
          <p:nvPr/>
        </p:nvSpPr>
        <p:spPr>
          <a:xfrm>
            <a:off x="8869680" y="459028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HOURS</a:t>
            </a:r>
            <a:endParaRPr lang="en-US" sz="900" dirty="0"/>
          </a:p>
        </p:txBody>
      </p:sp>
      <p:sp>
        <p:nvSpPr>
          <p:cNvPr id="63" name="Text 60"/>
          <p:cNvSpPr txBox="1"/>
          <p:nvPr/>
        </p:nvSpPr>
        <p:spPr>
          <a:xfrm>
            <a:off x="8869680" y="480974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78 of 768 logged</a:t>
            </a:r>
            <a:endParaRPr lang="en-US" sz="1050" dirty="0"/>
          </a:p>
        </p:txBody>
      </p:sp>
      <p:sp>
        <p:nvSpPr>
          <p:cNvPr id="64" name="Shape 61"/>
          <p:cNvSpPr/>
          <p:nvPr/>
        </p:nvSpPr>
        <p:spPr>
          <a:xfrm>
            <a:off x="8732520" y="5084064"/>
            <a:ext cx="3017520" cy="0"/>
          </a:xfrm>
          <a:prstGeom prst="line">
            <a:avLst/>
          </a:prstGeom>
          <a:noFill/>
          <a:ln w="9525">
            <a:solidFill>
              <a:srgbClr val="9AA7BE"/>
            </a:solidFill>
            <a:prstDash val="solid"/>
          </a:ln>
        </p:spPr>
      </p:sp>
      <p:sp>
        <p:nvSpPr>
          <p:cNvPr id="65" name="Text 62"/>
          <p:cNvSpPr txBox="1"/>
          <p:nvPr/>
        </p:nvSpPr>
        <p:spPr>
          <a:xfrm>
            <a:off x="8869680" y="511606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DATE</a:t>
            </a:r>
            <a:endParaRPr lang="en-US" sz="900" dirty="0"/>
          </a:p>
        </p:txBody>
      </p:sp>
      <p:sp>
        <p:nvSpPr>
          <p:cNvPr id="66" name="Text 63"/>
          <p:cNvSpPr txBox="1"/>
          <p:nvPr/>
        </p:nvSpPr>
        <p:spPr>
          <a:xfrm>
            <a:off x="8869680" y="533552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2026-09-07</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COMPLETE SYSTEM DIAGRAM</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02/14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COMPLETE SYSTEM ON ONE SHEET</a:t>
            </a:r>
            <a:endParaRPr lang="en-US" sz="2300" dirty="0"/>
          </a:p>
        </p:txBody>
      </p:sp>
      <p:pic>
        <p:nvPicPr>
          <p:cNvPr id="10" name="Image 0" descr="C:/Users/deogr/Documents/Fall Project/Off-Grid Vehicle dection project/docs/system-diagram.png">    </p:cNvPr>
          <p:cNvPicPr>
            <a:picLocks noChangeAspect="1"/>
          </p:cNvPicPr>
          <p:nvPr/>
        </p:nvPicPr>
        <p:blipFill>
          <a:blip r:embed="rId1"/>
          <a:stretch>
            <a:fillRect/>
          </a:stretch>
        </p:blipFill>
        <p:spPr>
          <a:xfrm>
            <a:off x="457200" y="1005840"/>
            <a:ext cx="5138928" cy="5166360"/>
          </a:xfrm>
          <a:prstGeom prst="rect">
            <a:avLst/>
          </a:prstGeom>
        </p:spPr>
      </p:pic>
      <p:sp>
        <p:nvSpPr>
          <p:cNvPr id="11" name="Shape 8"/>
          <p:cNvSpPr/>
          <p:nvPr/>
        </p:nvSpPr>
        <p:spPr>
          <a:xfrm>
            <a:off x="457200" y="1005840"/>
            <a:ext cx="5138928" cy="5166360"/>
          </a:xfrm>
          <a:prstGeom prst="rect">
            <a:avLst/>
          </a:prstGeom>
          <a:ln w="12700">
            <a:solidFill>
              <a:srgbClr val="9AA7BE"/>
            </a:solidFill>
            <a:prstDash val="solid"/>
          </a:ln>
        </p:spPr>
      </p:sp>
      <p:sp>
        <p:nvSpPr>
          <p:cNvPr id="12" name="Text 9"/>
          <p:cNvSpPr txBox="1"/>
          <p:nvPr/>
        </p:nvSpPr>
        <p:spPr>
          <a:xfrm>
            <a:off x="5943600" y="1097280"/>
            <a:ext cx="4572000" cy="292608"/>
          </a:xfrm>
          <a:prstGeom prst="rect">
            <a:avLst/>
          </a:prstGeom>
          <a:noFill/>
          <a:ln/>
        </p:spPr>
        <p:txBody>
          <a:bodyPr wrap="square" lIns="0" tIns="0" rIns="0" bIns="0" rtlCol="0" anchor="ctr"/>
          <a:lstStyle/>
          <a:p>
            <a:pPr indent="0" marL="0">
              <a:buNone/>
            </a:pPr>
            <a:r>
              <a:rPr lang="en-US" sz="1300" b="1" spc="200" kern="0" dirty="0">
                <a:solidFill>
                  <a:srgbClr val="16213D"/>
                </a:solidFill>
                <a:latin typeface="Arial" pitchFamily="34" charset="0"/>
                <a:ea typeface="Arial" pitchFamily="34" charset="-122"/>
                <a:cs typeface="Arial" pitchFamily="34" charset="-120"/>
              </a:rPr>
              <a:t>READING ORDER</a:t>
            </a:r>
            <a:endParaRPr lang="en-US" sz="1300" dirty="0"/>
          </a:p>
        </p:txBody>
      </p:sp>
      <p:sp>
        <p:nvSpPr>
          <p:cNvPr id="13" name="Text 10"/>
          <p:cNvSpPr txBox="1"/>
          <p:nvPr/>
        </p:nvSpPr>
        <p:spPr>
          <a:xfrm>
            <a:off x="5943600" y="1463040"/>
            <a:ext cx="5577840" cy="28346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Left: one vehicle's hardware. GNSS feeds the radio; the radio drives the roof antenna.</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Right: the display firmware. Protocol writes TrackerState; navigation reads it. One writer, one reader.</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Bottom: the telecom view. A 40 byte payload on a PHY that decodes 15 dB below the noise.</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Vehicle B is an identical copy. No server, no master, no single point of failure.</a:t>
            </a:r>
            <a:endParaRPr lang="en-US" sz="1300" dirty="0"/>
          </a:p>
        </p:txBody>
      </p:sp>
      <p:sp>
        <p:nvSpPr>
          <p:cNvPr id="14" name="Shape 11"/>
          <p:cNvSpPr/>
          <p:nvPr/>
        </p:nvSpPr>
        <p:spPr>
          <a:xfrm>
            <a:off x="5943600" y="4572000"/>
            <a:ext cx="5577840" cy="1463040"/>
          </a:xfrm>
          <a:prstGeom prst="rect">
            <a:avLst/>
          </a:prstGeom>
          <a:solidFill>
            <a:srgbClr val="16213D"/>
          </a:solidFill>
          <a:ln/>
        </p:spPr>
      </p:sp>
      <p:sp>
        <p:nvSpPr>
          <p:cNvPr id="15" name="Text 12"/>
          <p:cNvSpPr txBox="1"/>
          <p:nvPr/>
        </p:nvSpPr>
        <p:spPr>
          <a:xfrm>
            <a:off x="6172200" y="4709160"/>
            <a:ext cx="5120640" cy="1234440"/>
          </a:xfrm>
          <a:prstGeom prst="rect">
            <a:avLst/>
          </a:prstGeom>
          <a:noFill/>
          <a:ln/>
        </p:spPr>
        <p:txBody>
          <a:bodyPr wrap="square" lIns="0" tIns="0" rIns="0" bIns="0" rtlCol="0" anchor="ctr"/>
          <a:lstStyle/>
          <a:p>
            <a:pPr indent="0" marL="0">
              <a:spcAft>
                <a:spcPts val="500"/>
              </a:spcAft>
              <a:buNone/>
            </a:pPr>
            <a:r>
              <a:rPr lang="en-US" sz="1200" b="1" dirty="0">
                <a:solidFill>
                  <a:srgbClr val="E58E1A"/>
                </a:solidFill>
                <a:latin typeface="Courier New" pitchFamily="34" charset="0"/>
                <a:ea typeface="Courier New" pitchFamily="34" charset="-122"/>
                <a:cs typeface="Courier New" pitchFamily="34" charset="-120"/>
              </a:rPr>
              <a:t>WHY THIS SHAPE</a:t>
            </a:r>
            <a:endParaRPr lang="en-US" sz="1250" dirty="0"/>
          </a:p>
          <a:p>
            <a:pPr indent="0" marL="0">
              <a:buNone/>
            </a:pPr>
            <a:r>
              <a:rPr lang="en-US" sz="1250" dirty="0">
                <a:solidFill>
                  <a:srgbClr val="FFFFFF"/>
                </a:solidFill>
                <a:latin typeface="Arial" pitchFamily="34" charset="0"/>
                <a:ea typeface="Arial" pitchFamily="34" charset="-122"/>
                <a:cs typeface="Arial" pitchFamily="34" charset="-120"/>
              </a:rPr>
              <a:t>Everything hard about long-range radio ships pre-tested in Meshtastic. The chains on the right are the only custom code, and they meet at one struct.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INSIDE THE SX1262</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03/14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INSIDE THE TRANSCEIVER (DATASHEET REV 2.2)</a:t>
            </a:r>
            <a:endParaRPr lang="en-US" sz="2300" dirty="0"/>
          </a:p>
        </p:txBody>
      </p:sp>
      <p:pic>
        <p:nvPicPr>
          <p:cNvPr id="10" name="Image 0" descr="C:/Users/deogr/AppData/Local/Temp/claude/C--Users-deogr-Documents-Fall-Project-Off-Grid-Vehicle-dection-project/e8b2e8fa-1513-4aa8-a8f6-ce4fcd20e664/scratchpad/deck3/fig_block.png">    </p:cNvPr>
          <p:cNvPicPr>
            <a:picLocks noChangeAspect="1"/>
          </p:cNvPicPr>
          <p:nvPr/>
        </p:nvPicPr>
        <p:blipFill>
          <a:blip r:embed="rId1"/>
          <a:stretch>
            <a:fillRect/>
          </a:stretch>
        </p:blipFill>
        <p:spPr>
          <a:xfrm>
            <a:off x="457200" y="1051560"/>
            <a:ext cx="6720840" cy="3200400"/>
          </a:xfrm>
          <a:prstGeom prst="rect">
            <a:avLst/>
          </a:prstGeom>
        </p:spPr>
      </p:pic>
      <p:sp>
        <p:nvSpPr>
          <p:cNvPr id="11" name="Shape 8"/>
          <p:cNvSpPr/>
          <p:nvPr/>
        </p:nvSpPr>
        <p:spPr>
          <a:xfrm>
            <a:off x="457200" y="1051560"/>
            <a:ext cx="6720840" cy="3200400"/>
          </a:xfrm>
          <a:prstGeom prst="rect">
            <a:avLst/>
          </a:prstGeom>
          <a:ln w="12700">
            <a:solidFill>
              <a:srgbClr val="9AA7BE"/>
            </a:solidFill>
            <a:prstDash val="solid"/>
          </a:ln>
        </p:spPr>
      </p:sp>
      <p:sp>
        <p:nvSpPr>
          <p:cNvPr id="12" name="Text 9"/>
          <p:cNvSpPr txBox="1"/>
          <p:nvPr/>
        </p:nvSpPr>
        <p:spPr>
          <a:xfrm>
            <a:off x="457200" y="4297680"/>
            <a:ext cx="672084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SX1262 BLOCK DIAGRAM, DS FIG 4-1 p.23. TWO MODEMS SHARE ONE FRONT END; WE USE ONLY THE LoRa ONE.</a:t>
            </a:r>
            <a:endParaRPr lang="en-US" sz="800" dirty="0"/>
          </a:p>
        </p:txBody>
      </p:sp>
      <p:pic>
        <p:nvPicPr>
          <p:cNvPr id="13" name="Image 1" descr="C:/Users/deogr/AppData/Local/Temp/claude/C--Users-deogr-Documents-Fall-Project-Off-Grid-Vehicle-dection-project/e8b2e8fa-1513-4aa8-a8f6-ce4fcd20e664/scratchpad/deck3/fig_modes.png">    </p:cNvPr>
          <p:cNvPicPr>
            <a:picLocks noChangeAspect="1"/>
          </p:cNvPicPr>
          <p:nvPr/>
        </p:nvPicPr>
        <p:blipFill>
          <a:blip r:embed="rId2"/>
          <a:stretch>
            <a:fillRect/>
          </a:stretch>
        </p:blipFill>
        <p:spPr>
          <a:xfrm>
            <a:off x="7589520" y="1051560"/>
            <a:ext cx="3200400" cy="3200400"/>
          </a:xfrm>
          <a:prstGeom prst="rect">
            <a:avLst/>
          </a:prstGeom>
        </p:spPr>
      </p:pic>
      <p:sp>
        <p:nvSpPr>
          <p:cNvPr id="14" name="Shape 10"/>
          <p:cNvSpPr/>
          <p:nvPr/>
        </p:nvSpPr>
        <p:spPr>
          <a:xfrm>
            <a:off x="7589520" y="1051560"/>
            <a:ext cx="3200400" cy="3200400"/>
          </a:xfrm>
          <a:prstGeom prst="rect">
            <a:avLst/>
          </a:prstGeom>
          <a:ln w="12700">
            <a:solidFill>
              <a:srgbClr val="9AA7BE"/>
            </a:solidFill>
            <a:prstDash val="solid"/>
          </a:ln>
        </p:spPr>
      </p:sp>
      <p:sp>
        <p:nvSpPr>
          <p:cNvPr id="15" name="Text 11"/>
          <p:cNvSpPr txBox="1"/>
          <p:nvPr/>
        </p:nvSpPr>
        <p:spPr>
          <a:xfrm>
            <a:off x="7589520" y="4297680"/>
            <a:ext cx="320040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OPERATING MODES, DS FIG 9-1 p.64</a:t>
            </a:r>
            <a:endParaRPr lang="en-US" sz="800" dirty="0"/>
          </a:p>
        </p:txBody>
      </p:sp>
      <p:sp>
        <p:nvSpPr>
          <p:cNvPr id="16" name="Shape 12"/>
          <p:cNvSpPr/>
          <p:nvPr/>
        </p:nvSpPr>
        <p:spPr>
          <a:xfrm>
            <a:off x="457200" y="4663440"/>
            <a:ext cx="1691640" cy="621792"/>
          </a:xfrm>
          <a:prstGeom prst="rect">
            <a:avLst/>
          </a:prstGeom>
          <a:solidFill>
            <a:srgbClr val="F2F5FA"/>
          </a:solidFill>
          <a:ln w="15875">
            <a:solidFill>
              <a:srgbClr val="E58E1A"/>
            </a:solidFill>
            <a:prstDash val="solid"/>
          </a:ln>
        </p:spPr>
      </p:sp>
      <p:sp>
        <p:nvSpPr>
          <p:cNvPr id="17" name="Text 13"/>
          <p:cNvSpPr txBox="1"/>
          <p:nvPr/>
        </p:nvSpPr>
        <p:spPr>
          <a:xfrm>
            <a:off x="51206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RX</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always listening</a:t>
            </a:r>
            <a:endParaRPr lang="en-US" sz="1050" dirty="0"/>
          </a:p>
        </p:txBody>
      </p:sp>
      <p:sp>
        <p:nvSpPr>
          <p:cNvPr id="18" name="Shape 14"/>
          <p:cNvSpPr/>
          <p:nvPr/>
        </p:nvSpPr>
        <p:spPr>
          <a:xfrm>
            <a:off x="2148840" y="4974336"/>
            <a:ext cx="228600" cy="0"/>
          </a:xfrm>
          <a:prstGeom prst="line">
            <a:avLst/>
          </a:prstGeom>
          <a:noFill/>
          <a:ln w="28575">
            <a:solidFill>
              <a:srgbClr val="E58E1A"/>
            </a:solidFill>
            <a:prstDash val="solid"/>
            <a:tailEnd type="triangle"/>
          </a:ln>
        </p:spPr>
      </p:sp>
      <p:sp>
        <p:nvSpPr>
          <p:cNvPr id="19" name="Shape 15"/>
          <p:cNvSpPr/>
          <p:nvPr/>
        </p:nvSpPr>
        <p:spPr>
          <a:xfrm>
            <a:off x="2377440" y="4663440"/>
            <a:ext cx="1691640" cy="621792"/>
          </a:xfrm>
          <a:prstGeom prst="rect">
            <a:avLst/>
          </a:prstGeom>
          <a:solidFill>
            <a:srgbClr val="F2F5FA"/>
          </a:solidFill>
          <a:ln w="15875">
            <a:solidFill>
              <a:srgbClr val="E58E1A"/>
            </a:solidFill>
            <a:prstDash val="solid"/>
          </a:ln>
        </p:spPr>
      </p:sp>
      <p:sp>
        <p:nvSpPr>
          <p:cNvPr id="20" name="Text 16"/>
          <p:cNvSpPr txBox="1"/>
          <p:nvPr/>
        </p:nvSpPr>
        <p:spPr>
          <a:xfrm>
            <a:off x="243230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CAD</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channel clear? 6.1.5 p.41</a:t>
            </a:r>
            <a:endParaRPr lang="en-US" sz="1050" dirty="0"/>
          </a:p>
        </p:txBody>
      </p:sp>
      <p:sp>
        <p:nvSpPr>
          <p:cNvPr id="21" name="Shape 17"/>
          <p:cNvSpPr/>
          <p:nvPr/>
        </p:nvSpPr>
        <p:spPr>
          <a:xfrm>
            <a:off x="4069080" y="4974336"/>
            <a:ext cx="228600" cy="0"/>
          </a:xfrm>
          <a:prstGeom prst="line">
            <a:avLst/>
          </a:prstGeom>
          <a:noFill/>
          <a:ln w="28575">
            <a:solidFill>
              <a:srgbClr val="E58E1A"/>
            </a:solidFill>
            <a:prstDash val="solid"/>
            <a:tailEnd type="triangle"/>
          </a:ln>
        </p:spPr>
      </p:sp>
      <p:sp>
        <p:nvSpPr>
          <p:cNvPr id="22" name="Shape 18"/>
          <p:cNvSpPr/>
          <p:nvPr/>
        </p:nvSpPr>
        <p:spPr>
          <a:xfrm>
            <a:off x="4297680" y="4663440"/>
            <a:ext cx="1691640" cy="621792"/>
          </a:xfrm>
          <a:prstGeom prst="rect">
            <a:avLst/>
          </a:prstGeom>
          <a:solidFill>
            <a:srgbClr val="F2F5FA"/>
          </a:solidFill>
          <a:ln w="15875">
            <a:solidFill>
              <a:srgbClr val="E58E1A"/>
            </a:solidFill>
            <a:prstDash val="solid"/>
          </a:ln>
        </p:spPr>
      </p:sp>
      <p:sp>
        <p:nvSpPr>
          <p:cNvPr id="23" name="Text 19"/>
          <p:cNvSpPr txBox="1"/>
          <p:nvPr/>
        </p:nvSpPr>
        <p:spPr>
          <a:xfrm>
            <a:off x="435254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FS</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PLL locks channel</a:t>
            </a:r>
            <a:endParaRPr lang="en-US" sz="1050" dirty="0"/>
          </a:p>
        </p:txBody>
      </p:sp>
      <p:sp>
        <p:nvSpPr>
          <p:cNvPr id="24" name="Shape 20"/>
          <p:cNvSpPr/>
          <p:nvPr/>
        </p:nvSpPr>
        <p:spPr>
          <a:xfrm>
            <a:off x="5989320" y="4974336"/>
            <a:ext cx="228600" cy="0"/>
          </a:xfrm>
          <a:prstGeom prst="line">
            <a:avLst/>
          </a:prstGeom>
          <a:noFill/>
          <a:ln w="28575">
            <a:solidFill>
              <a:srgbClr val="E58E1A"/>
            </a:solidFill>
            <a:prstDash val="solid"/>
            <a:tailEnd type="triangle"/>
          </a:ln>
        </p:spPr>
      </p:sp>
      <p:sp>
        <p:nvSpPr>
          <p:cNvPr id="25" name="Shape 21"/>
          <p:cNvSpPr/>
          <p:nvPr/>
        </p:nvSpPr>
        <p:spPr>
          <a:xfrm>
            <a:off x="6217920" y="4663440"/>
            <a:ext cx="1691640" cy="621792"/>
          </a:xfrm>
          <a:prstGeom prst="rect">
            <a:avLst/>
          </a:prstGeom>
          <a:solidFill>
            <a:srgbClr val="F2F5FA"/>
          </a:solidFill>
          <a:ln w="15875">
            <a:solidFill>
              <a:srgbClr val="E58E1A"/>
            </a:solidFill>
            <a:prstDash val="solid"/>
          </a:ln>
        </p:spPr>
      </p:sp>
      <p:sp>
        <p:nvSpPr>
          <p:cNvPr id="26" name="Text 22"/>
          <p:cNvSpPr txBox="1"/>
          <p:nvPr/>
        </p:nvSpPr>
        <p:spPr>
          <a:xfrm>
            <a:off x="627278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TX</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chirps, ~0.5 s</a:t>
            </a:r>
            <a:endParaRPr lang="en-US" sz="1050" dirty="0"/>
          </a:p>
        </p:txBody>
      </p:sp>
      <p:sp>
        <p:nvSpPr>
          <p:cNvPr id="27" name="Shape 23"/>
          <p:cNvSpPr/>
          <p:nvPr/>
        </p:nvSpPr>
        <p:spPr>
          <a:xfrm>
            <a:off x="7909560" y="4974336"/>
            <a:ext cx="228600" cy="0"/>
          </a:xfrm>
          <a:prstGeom prst="line">
            <a:avLst/>
          </a:prstGeom>
          <a:noFill/>
          <a:ln w="28575">
            <a:solidFill>
              <a:srgbClr val="E58E1A"/>
            </a:solidFill>
            <a:prstDash val="solid"/>
            <a:tailEnd type="triangle"/>
          </a:ln>
        </p:spPr>
      </p:sp>
      <p:sp>
        <p:nvSpPr>
          <p:cNvPr id="28" name="Shape 24"/>
          <p:cNvSpPr/>
          <p:nvPr/>
        </p:nvSpPr>
        <p:spPr>
          <a:xfrm>
            <a:off x="8138160" y="4663440"/>
            <a:ext cx="1691640" cy="621792"/>
          </a:xfrm>
          <a:prstGeom prst="rect">
            <a:avLst/>
          </a:prstGeom>
          <a:solidFill>
            <a:srgbClr val="F2F5FA"/>
          </a:solidFill>
          <a:ln w="15875">
            <a:solidFill>
              <a:srgbClr val="E58E1A"/>
            </a:solidFill>
            <a:prstDash val="solid"/>
          </a:ln>
        </p:spPr>
      </p:sp>
      <p:sp>
        <p:nvSpPr>
          <p:cNvPr id="29" name="Text 25"/>
          <p:cNvSpPr txBox="1"/>
          <p:nvPr/>
        </p:nvSpPr>
        <p:spPr>
          <a:xfrm>
            <a:off x="819302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TxDone</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IRQ on DIO1</a:t>
            </a:r>
            <a:endParaRPr lang="en-US" sz="1050" dirty="0"/>
          </a:p>
        </p:txBody>
      </p:sp>
      <p:sp>
        <p:nvSpPr>
          <p:cNvPr id="30" name="Shape 26"/>
          <p:cNvSpPr/>
          <p:nvPr/>
        </p:nvSpPr>
        <p:spPr>
          <a:xfrm>
            <a:off x="9829800" y="4974336"/>
            <a:ext cx="228600" cy="0"/>
          </a:xfrm>
          <a:prstGeom prst="line">
            <a:avLst/>
          </a:prstGeom>
          <a:noFill/>
          <a:ln w="28575">
            <a:solidFill>
              <a:srgbClr val="E58E1A"/>
            </a:solidFill>
            <a:prstDash val="solid"/>
            <a:tailEnd type="triangle"/>
          </a:ln>
        </p:spPr>
      </p:sp>
      <p:sp>
        <p:nvSpPr>
          <p:cNvPr id="31" name="Shape 27"/>
          <p:cNvSpPr/>
          <p:nvPr/>
        </p:nvSpPr>
        <p:spPr>
          <a:xfrm>
            <a:off x="10058400" y="4663440"/>
            <a:ext cx="1691640" cy="621792"/>
          </a:xfrm>
          <a:prstGeom prst="rect">
            <a:avLst/>
          </a:prstGeom>
          <a:solidFill>
            <a:srgbClr val="F2F5FA"/>
          </a:solidFill>
          <a:ln w="15875">
            <a:solidFill>
              <a:srgbClr val="E58E1A"/>
            </a:solidFill>
            <a:prstDash val="solid"/>
          </a:ln>
        </p:spPr>
      </p:sp>
      <p:sp>
        <p:nvSpPr>
          <p:cNvPr id="32" name="Text 28"/>
          <p:cNvSpPr txBox="1"/>
          <p:nvPr/>
        </p:nvSpPr>
        <p:spPr>
          <a:xfrm>
            <a:off x="10113264" y="4690872"/>
            <a:ext cx="1581912" cy="566928"/>
          </a:xfrm>
          <a:prstGeom prst="rect">
            <a:avLst/>
          </a:prstGeom>
          <a:noFill/>
          <a:ln/>
        </p:spPr>
        <p:txBody>
          <a:bodyPr wrap="square" lIns="0" tIns="0" rIns="0" bIns="0" rtlCol="0" anchor="ctr"/>
          <a:lstStyle/>
          <a:p>
            <a:pPr algn="ctr" indent="0" marL="0">
              <a:buNone/>
            </a:pPr>
            <a:r>
              <a:rPr lang="en-US" sz="1050" b="1" dirty="0">
                <a:solidFill>
                  <a:srgbClr val="16213D"/>
                </a:solidFill>
                <a:latin typeface="Courier New" pitchFamily="34" charset="0"/>
                <a:ea typeface="Courier New" pitchFamily="34" charset="-122"/>
                <a:cs typeface="Courier New" pitchFamily="34" charset="-120"/>
              </a:rPr>
              <a:t>RX</a:t>
            </a:r>
            <a:endParaRPr lang="en-US" sz="1050" dirty="0"/>
          </a:p>
          <a:p>
            <a:pPr algn="ctr" indent="0" marL="0">
              <a:buNone/>
            </a:pPr>
            <a:r>
              <a:rPr lang="en-US" sz="800" dirty="0">
                <a:solidFill>
                  <a:srgbClr val="5E6B85"/>
                </a:solidFill>
                <a:latin typeface="Arial" pitchFamily="34" charset="0"/>
                <a:ea typeface="Arial" pitchFamily="34" charset="-122"/>
                <a:cs typeface="Arial" pitchFamily="34" charset="-120"/>
              </a:rPr>
              <a:t>back to listening</a:t>
            </a:r>
            <a:endParaRPr lang="en-US" sz="1050" dirty="0"/>
          </a:p>
        </p:txBody>
      </p:sp>
      <p:sp>
        <p:nvSpPr>
          <p:cNvPr id="33" name="Text 29"/>
          <p:cNvSpPr txBox="1"/>
          <p:nvPr/>
        </p:nvSpPr>
        <p:spPr>
          <a:xfrm>
            <a:off x="457200" y="5349240"/>
            <a:ext cx="1129284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ONE POSITION BROADCAST TRACED ON THE STATE MACHINE. CAD IS THE PHYSICAL LISTEN-BEFORE-TALK: BELOW THE NOISE FLOOR RSSI IS USELESS, SO THE CHIP CORRELATES FOR LoRa SYMBOLS INSTEAD.</a:t>
            </a:r>
            <a:endParaRPr lang="en-US" sz="800" dirty="0"/>
          </a:p>
        </p:txBody>
      </p:sp>
      <p:sp>
        <p:nvSpPr>
          <p:cNvPr id="34" name="Shape 30"/>
          <p:cNvSpPr/>
          <p:nvPr/>
        </p:nvSpPr>
        <p:spPr>
          <a:xfrm>
            <a:off x="457200" y="5623560"/>
            <a:ext cx="7406640" cy="566928"/>
          </a:xfrm>
          <a:prstGeom prst="rect">
            <a:avLst/>
          </a:prstGeom>
          <a:solidFill>
            <a:srgbClr val="1B2440"/>
          </a:solidFill>
          <a:ln/>
        </p:spPr>
      </p:sp>
      <p:sp>
        <p:nvSpPr>
          <p:cNvPr id="35" name="Text 31"/>
          <p:cNvSpPr txBox="1"/>
          <p:nvPr/>
        </p:nvSpPr>
        <p:spPr>
          <a:xfrm>
            <a:off x="594360" y="5687568"/>
            <a:ext cx="7132320" cy="237744"/>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meshtastic RadioInterface.cpp  how region US becomes a frequency</a:t>
            </a:r>
            <a:endParaRPr lang="en-US" sz="1000" dirty="0"/>
          </a:p>
        </p:txBody>
      </p:sp>
      <p:sp>
        <p:nvSpPr>
          <p:cNvPr id="36" name="Text 32"/>
          <p:cNvSpPr txBox="1"/>
          <p:nvPr/>
        </p:nvSpPr>
        <p:spPr>
          <a:xfrm>
            <a:off x="594360" y="5943600"/>
            <a:ext cx="7132320" cy="155448"/>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RDEF(US, 902.0f, 928.0f, ...);  freq = start + bw/2000 + hash(name)*(bw/1000);</a:t>
            </a:r>
            <a:endParaRPr lang="en-US" sz="1000" dirty="0"/>
          </a:p>
        </p:txBody>
      </p:sp>
      <p:sp>
        <p:nvSpPr>
          <p:cNvPr id="37" name="Text 33"/>
          <p:cNvSpPr txBox="1"/>
          <p:nvPr/>
        </p:nvSpPr>
        <p:spPr>
          <a:xfrm>
            <a:off x="8001000" y="5623560"/>
            <a:ext cx="3749040" cy="566928"/>
          </a:xfrm>
          <a:prstGeom prst="rect">
            <a:avLst/>
          </a:prstGeom>
          <a:noFill/>
          <a:ln/>
        </p:spPr>
        <p:txBody>
          <a:bodyPr wrap="square" lIns="0" tIns="0" rIns="0" bIns="0" rtlCol="0" anchor="ctr"/>
          <a:lstStyle/>
          <a:p>
            <a:pPr indent="0" marL="0">
              <a:buNone/>
            </a:pPr>
            <a:r>
              <a:rPr lang="en-US" sz="850" dirty="0">
                <a:solidFill>
                  <a:srgbClr val="5E6B85"/>
                </a:solidFill>
                <a:latin typeface="Arial" pitchFamily="34" charset="0"/>
                <a:ea typeface="Arial" pitchFamily="34" charset="-122"/>
                <a:cs typeface="Arial" pitchFamily="34" charset="-120"/>
              </a:rPr>
              <a:t>Both radios hash the same channel name, so they meet on the same frequency with no coordination message. Full walkthrough: docs/RADIO_PHY_DEEP_DIVE.pdf</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BACKEND ARCHITECTURE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04/14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BACKEND: THE DATA SPINE</a:t>
            </a:r>
            <a:endParaRPr lang="en-US" sz="2300" dirty="0"/>
          </a:p>
        </p:txBody>
      </p:sp>
      <p:pic>
        <p:nvPicPr>
          <p:cNvPr id="10" name="Image 0" descr="C:/Users/deogr/AppData/Local/Temp/claude/C--Users-deogr-Documents-Fall-Project-Off-Grid-Vehicle-dection-project/e8b2e8fa-1513-4aa8-a8f6-ce4fcd20e664/scratchpad/mermaid_png/diag5.png">    </p:cNvPr>
          <p:cNvPicPr>
            <a:picLocks noChangeAspect="1"/>
          </p:cNvPicPr>
          <p:nvPr/>
        </p:nvPicPr>
        <p:blipFill>
          <a:blip r:embed="rId1"/>
          <a:stretch>
            <a:fillRect/>
          </a:stretch>
        </p:blipFill>
        <p:spPr>
          <a:xfrm>
            <a:off x="594360" y="1051560"/>
            <a:ext cx="10881360" cy="3072384"/>
          </a:xfrm>
          <a:prstGeom prst="rect">
            <a:avLst/>
          </a:prstGeom>
        </p:spPr>
      </p:pic>
      <p:sp>
        <p:nvSpPr>
          <p:cNvPr id="11" name="Shape 8"/>
          <p:cNvSpPr/>
          <p:nvPr/>
        </p:nvSpPr>
        <p:spPr>
          <a:xfrm>
            <a:off x="594360" y="1051560"/>
            <a:ext cx="10881360" cy="3072384"/>
          </a:xfrm>
          <a:prstGeom prst="rect">
            <a:avLst/>
          </a:prstGeom>
          <a:ln w="12700">
            <a:solidFill>
              <a:srgbClr val="9AA7BE"/>
            </a:solidFill>
            <a:prstDash val="solid"/>
          </a:ln>
        </p:spPr>
      </p:sp>
      <p:sp>
        <p:nvSpPr>
          <p:cNvPr id="12" name="Text 9"/>
          <p:cNvSpPr txBox="1"/>
          <p:nvPr/>
        </p:nvSpPr>
        <p:spPr>
          <a:xfrm>
            <a:off x="594360" y="4434840"/>
            <a:ext cx="1097280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ble_link connects by remembered address, encrypts, subscribes, drains. proto_decode names the bytes. node_table keeps honest fixes and publishes TrackerState v2.</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Road-tested: the link reconnects itself, and stale re-broadcasts can no longer pose as fresh 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BACKEND CODE PATH</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05/14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HOW THE PIECES CONNECT IN CODE</a:t>
            </a:r>
            <a:endParaRPr lang="en-US" sz="2300" dirty="0"/>
          </a:p>
        </p:txBody>
      </p:sp>
      <p:sp>
        <p:nvSpPr>
          <p:cNvPr id="10" name="Shape 8"/>
          <p:cNvSpPr/>
          <p:nvPr/>
        </p:nvSpPr>
        <p:spPr>
          <a:xfrm>
            <a:off x="457200" y="1051560"/>
            <a:ext cx="5532120" cy="1371600"/>
          </a:xfrm>
          <a:prstGeom prst="rect">
            <a:avLst/>
          </a:prstGeom>
          <a:solidFill>
            <a:srgbClr val="1B2440"/>
          </a:solidFill>
          <a:ln/>
        </p:spPr>
      </p:sp>
      <p:sp>
        <p:nvSpPr>
          <p:cNvPr id="11" name="Text 9"/>
          <p:cNvSpPr txBox="1"/>
          <p:nvPr/>
        </p:nvSpPr>
        <p:spPr>
          <a:xfrm>
            <a:off x="594360" y="1115568"/>
            <a:ext cx="5257800" cy="237744"/>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ble_link.cpp  drain the radio's GATT queue</a:t>
            </a:r>
            <a:endParaRPr lang="en-US" sz="1000" dirty="0"/>
          </a:p>
        </p:txBody>
      </p:sp>
      <p:sp>
        <p:nvSpPr>
          <p:cNvPr id="12" name="Text 10"/>
          <p:cNvSpPr txBox="1"/>
          <p:nvPr/>
        </p:nvSpPr>
        <p:spPr>
          <a:xfrm>
            <a:off x="594360" y="1371600"/>
            <a:ext cx="5257800" cy="96012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for (;;) {</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NimBLEAttValue v = s_fromRadio-&gt;readValue();</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if (v.size() == 0) break;      // queue empty</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proto_decode_from_radio(v.data(), v.size());</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6355080" y="1051560"/>
            <a:ext cx="5394960" cy="1371600"/>
          </a:xfrm>
          <a:prstGeom prst="rect">
            <a:avLst/>
          </a:prstGeom>
          <a:solidFill>
            <a:srgbClr val="1B2440"/>
          </a:solidFill>
          <a:ln/>
        </p:spPr>
      </p:sp>
      <p:sp>
        <p:nvSpPr>
          <p:cNvPr id="14" name="Text 12"/>
          <p:cNvSpPr txBox="1"/>
          <p:nvPr/>
        </p:nvSpPr>
        <p:spPr>
          <a:xfrm>
            <a:off x="6492240" y="1115568"/>
            <a:ext cx="5120640" cy="237744"/>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proto_decode.cpp  bytes to named fields</a:t>
            </a:r>
            <a:endParaRPr lang="en-US" sz="1000" dirty="0"/>
          </a:p>
        </p:txBody>
      </p:sp>
      <p:sp>
        <p:nvSpPr>
          <p:cNvPr id="15" name="Text 13"/>
          <p:cNvSpPr txBox="1"/>
          <p:nvPr/>
        </p:nvSpPr>
        <p:spPr>
          <a:xfrm>
            <a:off x="6492240" y="1371600"/>
            <a:ext cx="5120640" cy="96012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if (pb_decode(&amp;is, meshtastic_Position_fields, &amp;pos))</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node_table_position(pkt-&gt;from,</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pos-&gt;latitude_i, pos-&gt;longitude_i,</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pos-&gt;ground_speed, pos-&gt;time);</a:t>
            </a:r>
            <a:endParaRPr lang="en-US" sz="1000" dirty="0"/>
          </a:p>
        </p:txBody>
      </p:sp>
      <p:sp>
        <p:nvSpPr>
          <p:cNvPr id="16" name="Shape 14"/>
          <p:cNvSpPr/>
          <p:nvPr/>
        </p:nvSpPr>
        <p:spPr>
          <a:xfrm>
            <a:off x="3200400" y="2423160"/>
            <a:ext cx="0" cy="347472"/>
          </a:xfrm>
          <a:prstGeom prst="line">
            <a:avLst/>
          </a:prstGeom>
          <a:noFill/>
          <a:ln w="28575">
            <a:solidFill>
              <a:srgbClr val="1199BD"/>
            </a:solidFill>
            <a:prstDash val="solid"/>
            <a:tailEnd type="triangle"/>
          </a:ln>
        </p:spPr>
      </p:sp>
      <p:sp>
        <p:nvSpPr>
          <p:cNvPr id="17" name="Shape 15"/>
          <p:cNvSpPr/>
          <p:nvPr/>
        </p:nvSpPr>
        <p:spPr>
          <a:xfrm>
            <a:off x="9052560" y="2423160"/>
            <a:ext cx="0" cy="347472"/>
          </a:xfrm>
          <a:prstGeom prst="line">
            <a:avLst/>
          </a:prstGeom>
          <a:noFill/>
          <a:ln w="28575">
            <a:solidFill>
              <a:srgbClr val="1199BD"/>
            </a:solidFill>
            <a:prstDash val="solid"/>
            <a:tailEnd type="triangle"/>
          </a:ln>
        </p:spPr>
      </p:sp>
      <p:sp>
        <p:nvSpPr>
          <p:cNvPr id="18" name="Shape 16"/>
          <p:cNvSpPr/>
          <p:nvPr/>
        </p:nvSpPr>
        <p:spPr>
          <a:xfrm>
            <a:off x="457200" y="2770632"/>
            <a:ext cx="5532120" cy="1417320"/>
          </a:xfrm>
          <a:prstGeom prst="rect">
            <a:avLst/>
          </a:prstGeom>
          <a:solidFill>
            <a:srgbClr val="1B2440"/>
          </a:solidFill>
          <a:ln/>
        </p:spPr>
      </p:sp>
      <p:sp>
        <p:nvSpPr>
          <p:cNvPr id="19" name="Text 17"/>
          <p:cNvSpPr txBox="1"/>
          <p:nvPr/>
        </p:nvSpPr>
        <p:spPr>
          <a:xfrm>
            <a:off x="594360" y="2834640"/>
            <a:ext cx="5257800" cy="237744"/>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node_table.cpp  publish the contract, 1 Hz</a:t>
            </a:r>
            <a:endParaRPr lang="en-US" sz="1000" dirty="0"/>
          </a:p>
        </p:txBody>
      </p:sp>
      <p:sp>
        <p:nvSpPr>
          <p:cNvPr id="20" name="Text 18"/>
          <p:cNvSpPr txBox="1"/>
          <p:nvPr/>
        </p:nvSpPr>
        <p:spPr>
          <a:xfrm>
            <a:off x="594360" y="3090672"/>
            <a:ext cx="5257800" cy="100584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TrackerState st;</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st.self = s_self.fix;   st.partner = s_partner.fix;</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st.ble_connected = connected;</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st.utc_epoch = s_utc_epoch;      // GPS wall clock</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tracker_store_set(&amp;st);          // the ONE writer</a:t>
            </a:r>
            <a:endParaRPr lang="en-US" sz="1000" dirty="0"/>
          </a:p>
        </p:txBody>
      </p:sp>
      <p:sp>
        <p:nvSpPr>
          <p:cNvPr id="21" name="Shape 19"/>
          <p:cNvSpPr/>
          <p:nvPr/>
        </p:nvSpPr>
        <p:spPr>
          <a:xfrm>
            <a:off x="6355080" y="2770632"/>
            <a:ext cx="5394960" cy="1417320"/>
          </a:xfrm>
          <a:prstGeom prst="rect">
            <a:avLst/>
          </a:prstGeom>
          <a:solidFill>
            <a:srgbClr val="1B2440"/>
          </a:solidFill>
          <a:ln/>
        </p:spPr>
      </p:sp>
      <p:sp>
        <p:nvSpPr>
          <p:cNvPr id="22" name="Text 20"/>
          <p:cNvSpPr txBox="1"/>
          <p:nvPr/>
        </p:nvSpPr>
        <p:spPr>
          <a:xfrm>
            <a:off x="6492240" y="2834640"/>
            <a:ext cx="5120640" cy="237744"/>
          </a:xfrm>
          <a:prstGeom prst="rect">
            <a:avLst/>
          </a:prstGeom>
          <a:noFill/>
          <a:ln/>
        </p:spPr>
        <p:txBody>
          <a:bodyPr wrap="square" lIns="0" tIns="0" rIns="0" bIns="0" rtlCol="0" anchor="ctr"/>
          <a:lstStyle/>
          <a:p>
            <a:pPr indent="0" marL="0">
              <a:buNone/>
            </a:pPr>
            <a:r>
              <a:rPr lang="en-US" sz="1000" b="1" dirty="0">
                <a:solidFill>
                  <a:srgbClr val="6D4BDB"/>
                </a:solidFill>
                <a:latin typeface="Courier New" pitchFamily="34" charset="0"/>
                <a:ea typeface="Courier New" pitchFamily="34" charset="-122"/>
                <a:cs typeface="Courier New" pitchFamily="34" charset="-120"/>
              </a:rPr>
              <a:t>ui_render.cpp  frontend picks it up, 2 Hz</a:t>
            </a:r>
            <a:endParaRPr lang="en-US" sz="1000" dirty="0"/>
          </a:p>
        </p:txBody>
      </p:sp>
      <p:sp>
        <p:nvSpPr>
          <p:cNvPr id="23" name="Text 21"/>
          <p:cNvSpPr txBox="1"/>
          <p:nvPr/>
        </p:nvSpPr>
        <p:spPr>
          <a:xfrm>
            <a:off x="6492240" y="3090672"/>
            <a:ext cx="5120640" cy="100584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tracker_store_get(&amp;st);          // the ONE reader</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dr_apply(&amp;st);   // dead-reckon fixes forward</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NavOutput nav = nav_compute(&amp;st);</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arrow angle, distance, ages, clock</a:t>
            </a:r>
            <a:endParaRPr lang="en-US" sz="1000" dirty="0"/>
          </a:p>
        </p:txBody>
      </p:sp>
      <p:sp>
        <p:nvSpPr>
          <p:cNvPr id="24" name="Shape 22"/>
          <p:cNvSpPr/>
          <p:nvPr/>
        </p:nvSpPr>
        <p:spPr>
          <a:xfrm>
            <a:off x="6016752" y="3474720"/>
            <a:ext cx="310896" cy="0"/>
          </a:xfrm>
          <a:prstGeom prst="line">
            <a:avLst/>
          </a:prstGeom>
          <a:noFill/>
          <a:ln w="28575">
            <a:solidFill>
              <a:srgbClr val="16213D"/>
            </a:solidFill>
            <a:prstDash val="solid"/>
            <a:tailEnd type="triangle"/>
          </a:ln>
        </p:spPr>
      </p:sp>
      <p:sp>
        <p:nvSpPr>
          <p:cNvPr id="25" name="Text 23"/>
          <p:cNvSpPr txBox="1"/>
          <p:nvPr/>
        </p:nvSpPr>
        <p:spPr>
          <a:xfrm>
            <a:off x="5074920" y="3675888"/>
            <a:ext cx="2194560" cy="219456"/>
          </a:xfrm>
          <a:prstGeom prst="rect">
            <a:avLst/>
          </a:prstGeom>
          <a:noFill/>
          <a:ln/>
        </p:spPr>
        <p:txBody>
          <a:bodyPr wrap="square" lIns="0" tIns="0" rIns="0" bIns="0" rtlCol="0" anchor="ctr"/>
          <a:lstStyle/>
          <a:p>
            <a:pPr algn="ctr" indent="0" marL="0">
              <a:buNone/>
            </a:pPr>
            <a:r>
              <a:rPr lang="en-US" sz="850" b="1" dirty="0">
                <a:solidFill>
                  <a:srgbClr val="5E6B85"/>
                </a:solidFill>
                <a:latin typeface="Courier New" pitchFamily="34" charset="0"/>
                <a:ea typeface="Courier New" pitchFamily="34" charset="-122"/>
                <a:cs typeface="Courier New" pitchFamily="34" charset="-120"/>
              </a:rPr>
              <a:t>MUTEX BOUNDARY</a:t>
            </a:r>
            <a:endParaRPr lang="en-US" sz="850" dirty="0"/>
          </a:p>
        </p:txBody>
      </p:sp>
      <p:sp>
        <p:nvSpPr>
          <p:cNvPr id="26" name="Shape 24"/>
          <p:cNvSpPr/>
          <p:nvPr/>
        </p:nvSpPr>
        <p:spPr>
          <a:xfrm>
            <a:off x="457200" y="4526280"/>
            <a:ext cx="11292840" cy="1554480"/>
          </a:xfrm>
          <a:prstGeom prst="rect">
            <a:avLst/>
          </a:prstGeom>
          <a:solidFill>
            <a:srgbClr val="F2F5FA"/>
          </a:solidFill>
          <a:ln w="9525">
            <a:solidFill>
              <a:srgbClr val="9AA7BE"/>
            </a:solidFill>
            <a:prstDash val="solid"/>
          </a:ln>
        </p:spPr>
      </p:sp>
      <p:sp>
        <p:nvSpPr>
          <p:cNvPr id="27" name="Text 25"/>
          <p:cNvSpPr txBox="1"/>
          <p:nvPr/>
        </p:nvSpPr>
        <p:spPr>
          <a:xfrm>
            <a:off x="731520" y="4736592"/>
            <a:ext cx="10744200" cy="1188720"/>
          </a:xfrm>
          <a:prstGeom prst="rect">
            <a:avLst/>
          </a:prstGeom>
          <a:noFill/>
          <a:ln/>
        </p:spPr>
        <p:txBody>
          <a:bodyPr wrap="square" lIns="0" tIns="0" rIns="0" bIns="0" rtlCol="0" anchor="ctr"/>
          <a:lstStyle/>
          <a:p>
            <a:pPr indent="0" marL="0">
              <a:spcAft>
                <a:spcPts val="700"/>
              </a:spcAft>
              <a:buNone/>
            </a:pPr>
            <a:r>
              <a:rPr lang="en-US" sz="1300" dirty="0">
                <a:solidFill>
                  <a:srgbClr val="222A3F"/>
                </a:solidFill>
                <a:latin typeface="Arial" pitchFamily="34" charset="0"/>
                <a:ea typeface="Arial" pitchFamily="34" charset="-122"/>
                <a:cs typeface="Arial" pitchFamily="34" charset="-120"/>
              </a:rPr>
              <a:t>Four files, one direction of flow, one struct. The halves meet only at the store functions; the mutex cannot be bypassed.</a:t>
            </a:r>
            <a:endParaRPr lang="en-US" sz="1300" dirty="0"/>
          </a:p>
          <a:p>
            <a:pPr indent="0" marL="0">
              <a:buNone/>
            </a:pPr>
            <a:r>
              <a:rPr lang="en-US" sz="1300" dirty="0">
                <a:solidFill>
                  <a:srgbClr val="222A3F"/>
                </a:solidFill>
                <a:latin typeface="Arial" pitchFamily="34" charset="0"/>
                <a:ea typeface="Arial" pitchFamily="34" charset="-122"/>
                <a:cs typeface="Arial" pitchFamily="34" charset="-120"/>
              </a:rPr>
              <a:t>Road hardening: km/h converted at the door, jitter deadband, duplicate detection, a clock that cannot run backwards.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FRONTEND ARCHITECTURE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06/14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6D4BDB"/>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6D4BDB"/>
                </a:solidFill>
                <a:latin typeface="Courier New" pitchFamily="34" charset="0"/>
                <a:ea typeface="Courier New" pitchFamily="34" charset="-122"/>
                <a:cs typeface="Courier New" pitchFamily="34" charset="-120"/>
              </a:rPr>
              <a:t>OWNER: JOSIAH</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FRONTEND: FROM STRUCT TO ARROW</a:t>
            </a:r>
            <a:endParaRPr lang="en-US" sz="2300" dirty="0"/>
          </a:p>
        </p:txBody>
      </p:sp>
      <p:sp>
        <p:nvSpPr>
          <p:cNvPr id="10" name="Shape 8"/>
          <p:cNvSpPr/>
          <p:nvPr/>
        </p:nvSpPr>
        <p:spPr>
          <a:xfrm>
            <a:off x="457200" y="1143000"/>
            <a:ext cx="2103120" cy="868680"/>
          </a:xfrm>
          <a:prstGeom prst="rect">
            <a:avLst/>
          </a:prstGeom>
          <a:solidFill>
            <a:srgbClr val="FFFFFF"/>
          </a:solidFill>
          <a:ln w="19050">
            <a:solidFill>
              <a:srgbClr val="16213D"/>
            </a:solidFill>
            <a:prstDash val="solid"/>
          </a:ln>
        </p:spPr>
      </p:sp>
      <p:sp>
        <p:nvSpPr>
          <p:cNvPr id="11" name="Text 9"/>
          <p:cNvSpPr txBox="1"/>
          <p:nvPr/>
        </p:nvSpPr>
        <p:spPr>
          <a:xfrm>
            <a:off x="530352" y="1143000"/>
            <a:ext cx="1956816" cy="868680"/>
          </a:xfrm>
          <a:prstGeom prst="rect">
            <a:avLst/>
          </a:prstGeom>
          <a:noFill/>
          <a:ln/>
        </p:spPr>
        <p:txBody>
          <a:bodyPr wrap="square" lIns="0" tIns="0" rIns="0" bIns="0" rtlCol="0" anchor="ctr"/>
          <a:lstStyle/>
          <a:p>
            <a:pPr algn="ctr" indent="0" marL="0">
              <a:buNone/>
            </a:pPr>
            <a:r>
              <a:rPr lang="en-US" sz="1150" b="1" dirty="0">
                <a:solidFill>
                  <a:srgbClr val="16213D"/>
                </a:solidFill>
                <a:latin typeface="Arial" pitchFamily="34" charset="0"/>
                <a:ea typeface="Arial" pitchFamily="34" charset="-122"/>
                <a:cs typeface="Arial" pitchFamily="34" charset="-120"/>
              </a:rPr>
              <a:t>TrackerState v2</a:t>
            </a:r>
            <a:endParaRPr lang="en-US" sz="1150" dirty="0"/>
          </a:p>
          <a:p>
            <a:pPr algn="ctr" indent="0" marL="0">
              <a:buNone/>
            </a:pPr>
            <a:r>
              <a:rPr lang="en-US" sz="950" dirty="0">
                <a:solidFill>
                  <a:srgbClr val="5E6B85"/>
                </a:solidFill>
                <a:latin typeface="Arial" pitchFamily="34" charset="0"/>
                <a:ea typeface="Arial" pitchFamily="34" charset="-122"/>
                <a:cs typeface="Arial" pitchFamily="34" charset="-120"/>
              </a:rPr>
              <a:t>snapshot copy under mutex</a:t>
            </a:r>
            <a:endParaRPr lang="en-US" sz="1150" dirty="0"/>
          </a:p>
        </p:txBody>
      </p:sp>
      <p:sp>
        <p:nvSpPr>
          <p:cNvPr id="12" name="Shape 10"/>
          <p:cNvSpPr/>
          <p:nvPr/>
        </p:nvSpPr>
        <p:spPr>
          <a:xfrm>
            <a:off x="2560320" y="1572768"/>
            <a:ext cx="457200" cy="0"/>
          </a:xfrm>
          <a:prstGeom prst="line">
            <a:avLst/>
          </a:prstGeom>
          <a:noFill/>
          <a:ln w="28575">
            <a:solidFill>
              <a:srgbClr val="6D4BDB"/>
            </a:solidFill>
            <a:prstDash val="solid"/>
            <a:tailEnd type="triangle"/>
          </a:ln>
        </p:spPr>
      </p:sp>
      <p:sp>
        <p:nvSpPr>
          <p:cNvPr id="13" name="Shape 11"/>
          <p:cNvSpPr/>
          <p:nvPr/>
        </p:nvSpPr>
        <p:spPr>
          <a:xfrm>
            <a:off x="3017520" y="1143000"/>
            <a:ext cx="2194560" cy="868680"/>
          </a:xfrm>
          <a:prstGeom prst="rect">
            <a:avLst/>
          </a:prstGeom>
          <a:solidFill>
            <a:srgbClr val="FFFFFF"/>
          </a:solidFill>
          <a:ln w="19050">
            <a:solidFill>
              <a:srgbClr val="6D4BDB"/>
            </a:solidFill>
            <a:prstDash val="solid"/>
          </a:ln>
        </p:spPr>
      </p:sp>
      <p:sp>
        <p:nvSpPr>
          <p:cNvPr id="14" name="Text 12"/>
          <p:cNvSpPr txBox="1"/>
          <p:nvPr/>
        </p:nvSpPr>
        <p:spPr>
          <a:xfrm>
            <a:off x="3090672" y="1143000"/>
            <a:ext cx="2048256" cy="868680"/>
          </a:xfrm>
          <a:prstGeom prst="rect">
            <a:avLst/>
          </a:prstGeom>
          <a:noFill/>
          <a:ln/>
        </p:spPr>
        <p:txBody>
          <a:bodyPr wrap="square" lIns="0" tIns="0" rIns="0" bIns="0" rtlCol="0" anchor="ctr"/>
          <a:lstStyle/>
          <a:p>
            <a:pPr algn="ctr" indent="0" marL="0">
              <a:buNone/>
            </a:pPr>
            <a:r>
              <a:rPr lang="en-US" sz="1150" b="1" dirty="0">
                <a:solidFill>
                  <a:srgbClr val="16213D"/>
                </a:solidFill>
                <a:latin typeface="Arial" pitchFamily="34" charset="0"/>
                <a:ea typeface="Arial" pitchFamily="34" charset="-122"/>
                <a:cs typeface="Arial" pitchFamily="34" charset="-120"/>
              </a:rPr>
              <a:t>dr_apply()</a:t>
            </a:r>
            <a:endParaRPr lang="en-US" sz="1150" dirty="0"/>
          </a:p>
          <a:p>
            <a:pPr algn="ctr" indent="0" marL="0">
              <a:buNone/>
            </a:pPr>
            <a:r>
              <a:rPr lang="en-US" sz="950" dirty="0">
                <a:solidFill>
                  <a:srgbClr val="5E6B85"/>
                </a:solidFill>
                <a:latin typeface="Arial" pitchFamily="34" charset="0"/>
                <a:ea typeface="Arial" pitchFamily="34" charset="-122"/>
                <a:cs typeface="Arial" pitchFamily="34" charset="-120"/>
              </a:rPr>
              <a:t>project both fixes forward</a:t>
            </a:r>
            <a:endParaRPr lang="en-US" sz="1150" dirty="0"/>
          </a:p>
        </p:txBody>
      </p:sp>
      <p:sp>
        <p:nvSpPr>
          <p:cNvPr id="15" name="Shape 13"/>
          <p:cNvSpPr/>
          <p:nvPr/>
        </p:nvSpPr>
        <p:spPr>
          <a:xfrm>
            <a:off x="5212080" y="1572768"/>
            <a:ext cx="457200" cy="0"/>
          </a:xfrm>
          <a:prstGeom prst="line">
            <a:avLst/>
          </a:prstGeom>
          <a:noFill/>
          <a:ln w="28575">
            <a:solidFill>
              <a:srgbClr val="6D4BDB"/>
            </a:solidFill>
            <a:prstDash val="solid"/>
            <a:tailEnd type="triangle"/>
          </a:ln>
        </p:spPr>
      </p:sp>
      <p:sp>
        <p:nvSpPr>
          <p:cNvPr id="16" name="Shape 14"/>
          <p:cNvSpPr/>
          <p:nvPr/>
        </p:nvSpPr>
        <p:spPr>
          <a:xfrm>
            <a:off x="5669280" y="1143000"/>
            <a:ext cx="2194560" cy="868680"/>
          </a:xfrm>
          <a:prstGeom prst="rect">
            <a:avLst/>
          </a:prstGeom>
          <a:solidFill>
            <a:srgbClr val="FFFFFF"/>
          </a:solidFill>
          <a:ln w="19050">
            <a:solidFill>
              <a:srgbClr val="6D4BDB"/>
            </a:solidFill>
            <a:prstDash val="solid"/>
          </a:ln>
        </p:spPr>
      </p:sp>
      <p:sp>
        <p:nvSpPr>
          <p:cNvPr id="17" name="Text 15"/>
          <p:cNvSpPr txBox="1"/>
          <p:nvPr/>
        </p:nvSpPr>
        <p:spPr>
          <a:xfrm>
            <a:off x="5742432" y="1143000"/>
            <a:ext cx="2048256" cy="868680"/>
          </a:xfrm>
          <a:prstGeom prst="rect">
            <a:avLst/>
          </a:prstGeom>
          <a:noFill/>
          <a:ln/>
        </p:spPr>
        <p:txBody>
          <a:bodyPr wrap="square" lIns="0" tIns="0" rIns="0" bIns="0" rtlCol="0" anchor="ctr"/>
          <a:lstStyle/>
          <a:p>
            <a:pPr algn="ctr" indent="0" marL="0">
              <a:buNone/>
            </a:pPr>
            <a:r>
              <a:rPr lang="en-US" sz="1150" b="1" dirty="0">
                <a:solidFill>
                  <a:srgbClr val="16213D"/>
                </a:solidFill>
                <a:latin typeface="Arial" pitchFamily="34" charset="0"/>
                <a:ea typeface="Arial" pitchFamily="34" charset="-122"/>
                <a:cs typeface="Arial" pitchFamily="34" charset="-120"/>
              </a:rPr>
              <a:t>nav_compute()</a:t>
            </a:r>
            <a:endParaRPr lang="en-US" sz="1150" dirty="0"/>
          </a:p>
          <a:p>
            <a:pPr algn="ctr" indent="0" marL="0">
              <a:buNone/>
            </a:pPr>
            <a:r>
              <a:rPr lang="en-US" sz="950" dirty="0">
                <a:solidFill>
                  <a:srgbClr val="5E6B85"/>
                </a:solidFill>
                <a:latin typeface="Arial" pitchFamily="34" charset="0"/>
                <a:ea typeface="Arial" pitchFamily="34" charset="-122"/>
                <a:cs typeface="Arial" pitchFamily="34" charset="-120"/>
              </a:rPr>
              <a:t>distance, bearing, arrow</a:t>
            </a:r>
            <a:endParaRPr lang="en-US" sz="1150" dirty="0"/>
          </a:p>
        </p:txBody>
      </p:sp>
      <p:sp>
        <p:nvSpPr>
          <p:cNvPr id="18" name="Shape 16"/>
          <p:cNvSpPr/>
          <p:nvPr/>
        </p:nvSpPr>
        <p:spPr>
          <a:xfrm>
            <a:off x="7863840" y="1572768"/>
            <a:ext cx="457200" cy="0"/>
          </a:xfrm>
          <a:prstGeom prst="line">
            <a:avLst/>
          </a:prstGeom>
          <a:noFill/>
          <a:ln w="28575">
            <a:solidFill>
              <a:srgbClr val="6D4BDB"/>
            </a:solidFill>
            <a:prstDash val="solid"/>
            <a:tailEnd type="triangle"/>
          </a:ln>
        </p:spPr>
      </p:sp>
      <p:sp>
        <p:nvSpPr>
          <p:cNvPr id="19" name="Shape 17"/>
          <p:cNvSpPr/>
          <p:nvPr/>
        </p:nvSpPr>
        <p:spPr>
          <a:xfrm>
            <a:off x="8321040" y="1143000"/>
            <a:ext cx="3291840" cy="868680"/>
          </a:xfrm>
          <a:prstGeom prst="rect">
            <a:avLst/>
          </a:prstGeom>
          <a:solidFill>
            <a:srgbClr val="FFFFFF"/>
          </a:solidFill>
          <a:ln w="19050">
            <a:solidFill>
              <a:srgbClr val="6D4BDB"/>
            </a:solidFill>
            <a:prstDash val="solid"/>
          </a:ln>
        </p:spPr>
      </p:sp>
      <p:sp>
        <p:nvSpPr>
          <p:cNvPr id="20" name="Text 18"/>
          <p:cNvSpPr txBox="1"/>
          <p:nvPr/>
        </p:nvSpPr>
        <p:spPr>
          <a:xfrm>
            <a:off x="8394192" y="1143000"/>
            <a:ext cx="3145536" cy="868680"/>
          </a:xfrm>
          <a:prstGeom prst="rect">
            <a:avLst/>
          </a:prstGeom>
          <a:noFill/>
          <a:ln/>
        </p:spPr>
        <p:txBody>
          <a:bodyPr wrap="square" lIns="0" tIns="0" rIns="0" bIns="0" rtlCol="0" anchor="ctr"/>
          <a:lstStyle/>
          <a:p>
            <a:pPr algn="ctr" indent="0" marL="0">
              <a:buNone/>
            </a:pPr>
            <a:r>
              <a:rPr lang="en-US" sz="1150" b="1" dirty="0">
                <a:solidFill>
                  <a:srgbClr val="16213D"/>
                </a:solidFill>
                <a:latin typeface="Arial" pitchFamily="34" charset="0"/>
                <a:ea typeface="Arial" pitchFamily="34" charset="-122"/>
                <a:cs typeface="Arial" pitchFamily="34" charset="-120"/>
              </a:rPr>
              <a:t>render at 2 Hz</a:t>
            </a:r>
            <a:endParaRPr lang="en-US" sz="1150" dirty="0"/>
          </a:p>
          <a:p>
            <a:pPr algn="ctr" indent="0" marL="0">
              <a:buNone/>
            </a:pPr>
            <a:r>
              <a:rPr lang="en-US" sz="950" dirty="0">
                <a:solidFill>
                  <a:srgbClr val="5E6B85"/>
                </a:solidFill>
                <a:latin typeface="Arial" pitchFamily="34" charset="0"/>
                <a:ea typeface="Arial" pitchFamily="34" charset="-122"/>
                <a:cs typeface="Arial" pitchFamily="34" charset="-120"/>
              </a:rPr>
              <a:t>compass page and status page, KEY toggles, hold resets</a:t>
            </a:r>
            <a:endParaRPr lang="en-US" sz="1150" dirty="0"/>
          </a:p>
        </p:txBody>
      </p:sp>
      <p:sp>
        <p:nvSpPr>
          <p:cNvPr id="21" name="Shape 19"/>
          <p:cNvSpPr/>
          <p:nvPr/>
        </p:nvSpPr>
        <p:spPr>
          <a:xfrm>
            <a:off x="457200" y="2331720"/>
            <a:ext cx="5532120" cy="1234440"/>
          </a:xfrm>
          <a:prstGeom prst="rect">
            <a:avLst/>
          </a:prstGeom>
          <a:solidFill>
            <a:srgbClr val="1B2440"/>
          </a:solidFill>
          <a:ln/>
        </p:spPr>
      </p:sp>
      <p:sp>
        <p:nvSpPr>
          <p:cNvPr id="22" name="Text 20"/>
          <p:cNvSpPr txBox="1"/>
          <p:nvPr/>
        </p:nvSpPr>
        <p:spPr>
          <a:xfrm>
            <a:off x="594360" y="2395728"/>
            <a:ext cx="5257800" cy="237744"/>
          </a:xfrm>
          <a:prstGeom prst="rect">
            <a:avLst/>
          </a:prstGeom>
          <a:noFill/>
          <a:ln/>
        </p:spPr>
        <p:txBody>
          <a:bodyPr wrap="square" lIns="0" tIns="0" rIns="0" bIns="0" rtlCol="0" anchor="ctr"/>
          <a:lstStyle/>
          <a:p>
            <a:pPr indent="0" marL="0">
              <a:buNone/>
            </a:pPr>
            <a:r>
              <a:rPr lang="en-US" sz="1000" b="1" dirty="0">
                <a:solidFill>
                  <a:srgbClr val="6D4BDB"/>
                </a:solidFill>
                <a:latin typeface="Courier New" pitchFamily="34" charset="0"/>
                <a:ea typeface="Courier New" pitchFamily="34" charset="-122"/>
                <a:cs typeface="Courier New" pitchFamily="34" charset="-120"/>
              </a:rPr>
              <a:t>nav.c  the arrow in three lines</a:t>
            </a:r>
            <a:endParaRPr lang="en-US" sz="1000" dirty="0"/>
          </a:p>
        </p:txBody>
      </p:sp>
      <p:sp>
        <p:nvSpPr>
          <p:cNvPr id="23" name="Text 21"/>
          <p:cNvSpPr txBox="1"/>
          <p:nvPr/>
        </p:nvSpPr>
        <p:spPr>
          <a:xfrm>
            <a:off x="594360" y="2651760"/>
            <a:ext cx="5257800" cy="82296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d       = haversine(self, partner);       // meters</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bearing = initial_bearing(self, partner);  // deg</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arrow   = wrap180(bearing - self.course);  // 0 = ahead</a:t>
            </a:r>
            <a:endParaRPr lang="en-US" sz="1000" dirty="0"/>
          </a:p>
        </p:txBody>
      </p:sp>
      <p:sp>
        <p:nvSpPr>
          <p:cNvPr id="24" name="Shape 22"/>
          <p:cNvSpPr/>
          <p:nvPr/>
        </p:nvSpPr>
        <p:spPr>
          <a:xfrm>
            <a:off x="6355080" y="2331720"/>
            <a:ext cx="5394960" cy="1234440"/>
          </a:xfrm>
          <a:prstGeom prst="rect">
            <a:avLst/>
          </a:prstGeom>
          <a:solidFill>
            <a:srgbClr val="1B2440"/>
          </a:solidFill>
          <a:ln/>
        </p:spPr>
      </p:sp>
      <p:sp>
        <p:nvSpPr>
          <p:cNvPr id="25" name="Text 23"/>
          <p:cNvSpPr txBox="1"/>
          <p:nvPr/>
        </p:nvSpPr>
        <p:spPr>
          <a:xfrm>
            <a:off x="6492240" y="2395728"/>
            <a:ext cx="5120640" cy="237744"/>
          </a:xfrm>
          <a:prstGeom prst="rect">
            <a:avLst/>
          </a:prstGeom>
          <a:noFill/>
          <a:ln/>
        </p:spPr>
        <p:txBody>
          <a:bodyPr wrap="square" lIns="0" tIns="0" rIns="0" bIns="0" rtlCol="0" anchor="ctr"/>
          <a:lstStyle/>
          <a:p>
            <a:pPr indent="0" marL="0">
              <a:buNone/>
            </a:pPr>
            <a:r>
              <a:rPr lang="en-US" sz="1000" b="1" dirty="0">
                <a:solidFill>
                  <a:srgbClr val="6D4BDB"/>
                </a:solidFill>
                <a:latin typeface="Courier New" pitchFamily="34" charset="0"/>
                <a:ea typeface="Courier New" pitchFamily="34" charset="-122"/>
                <a:cs typeface="Courier New" pitchFamily="34" charset="-120"/>
              </a:rPr>
              <a:t>dead_reckon.c  1 Hz motion between fixes</a:t>
            </a:r>
            <a:endParaRPr lang="en-US" sz="1000" dirty="0"/>
          </a:p>
        </p:txBody>
      </p:sp>
      <p:sp>
        <p:nvSpPr>
          <p:cNvPr id="26" name="Text 24"/>
          <p:cNvSpPr txBox="1"/>
          <p:nvPr/>
        </p:nvSpPr>
        <p:spPr>
          <a:xfrm>
            <a:off x="6492240" y="2651760"/>
            <a:ext cx="5120640" cy="82296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d = speed * min(age, 120);    // meters traveled</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lat += d*cos(course)/111320;</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lon += d*sin(course)/(111320*cos(lat));</a:t>
            </a:r>
            <a:endParaRPr lang="en-US" sz="1000" dirty="0"/>
          </a:p>
        </p:txBody>
      </p:sp>
      <p:sp>
        <p:nvSpPr>
          <p:cNvPr id="27" name="Text 25"/>
          <p:cNvSpPr txBox="1"/>
          <p:nvPr/>
        </p:nvSpPr>
        <p:spPr>
          <a:xfrm>
            <a:off x="457200" y="3840480"/>
            <a:ext cx="11292840" cy="13258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Heading from GPS course over ground: no magnetometer in a steel cab. Below 5 mph, north-up rose.</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Every element is a state machine on the struct: CHANGE COURSE, chevrons, STALE past 120 s, position-derived clock.</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Pure C, no hardware dependencies: 12 of 12 native tests pass on a laptop.</a:t>
            </a:r>
            <a:endParaRPr lang="en-US" sz="1300" dirty="0"/>
          </a:p>
        </p:txBody>
      </p:sp>
      <p:sp>
        <p:nvSpPr>
          <p:cNvPr id="28" name="Shape 26"/>
          <p:cNvSpPr/>
          <p:nvPr/>
        </p:nvSpPr>
        <p:spPr>
          <a:xfrm>
            <a:off x="457200" y="5349240"/>
            <a:ext cx="11292840" cy="777240"/>
          </a:xfrm>
          <a:prstGeom prst="rect">
            <a:avLst/>
          </a:prstGeom>
          <a:solidFill>
            <a:srgbClr val="16213D"/>
          </a:solidFill>
          <a:ln/>
        </p:spPr>
      </p:sp>
      <p:sp>
        <p:nvSpPr>
          <p:cNvPr id="29" name="Text 27"/>
          <p:cNvSpPr txBox="1"/>
          <p:nvPr/>
        </p:nvSpPr>
        <p:spPr>
          <a:xfrm>
            <a:off x="731520" y="5458968"/>
            <a:ext cx="10744200" cy="5943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Measurements every 10 s. The display projects both vehicles every second, and each real fix snaps it back to truth.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THE UI ON REAL PACKETS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07/14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6D4BDB"/>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6D4BDB"/>
                </a:solidFill>
                <a:latin typeface="Courier New" pitchFamily="34" charset="0"/>
                <a:ea typeface="Courier New" pitchFamily="34" charset="-122"/>
                <a:cs typeface="Courier New" pitchFamily="34" charset="-120"/>
              </a:rPr>
              <a:t>OWNER: JOSIAH</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UI, RUNNING ON REAL PACKETS</a:t>
            </a:r>
            <a:endParaRPr lang="en-US" sz="2300" dirty="0"/>
          </a:p>
        </p:txBody>
      </p:sp>
      <p:pic>
        <p:nvPicPr>
          <p:cNvPr id="10" name="Image 0" descr="C:/Users/deogr/AppData/Local/Temp/claude/C--Users-deogr-Documents-Fall-Project-Off-Grid-Vehicle-dection-project/e8b2e8fa-1513-4aa8-a8f6-ce4fcd20e664/scratchpad/deck3/p_compass.jpg">    </p:cNvPr>
          <p:cNvPicPr>
            <a:picLocks noChangeAspect="1"/>
          </p:cNvPicPr>
          <p:nvPr/>
        </p:nvPicPr>
        <p:blipFill>
          <a:blip r:embed="rId1"/>
          <a:stretch>
            <a:fillRect/>
          </a:stretch>
        </p:blipFill>
        <p:spPr>
          <a:xfrm>
            <a:off x="457200" y="1097280"/>
            <a:ext cx="3977640" cy="3282696"/>
          </a:xfrm>
          <a:prstGeom prst="rect">
            <a:avLst/>
          </a:prstGeom>
        </p:spPr>
      </p:pic>
      <p:sp>
        <p:nvSpPr>
          <p:cNvPr id="11" name="Shape 8"/>
          <p:cNvSpPr/>
          <p:nvPr/>
        </p:nvSpPr>
        <p:spPr>
          <a:xfrm>
            <a:off x="457200" y="1097280"/>
            <a:ext cx="3977640" cy="3282696"/>
          </a:xfrm>
          <a:prstGeom prst="rect">
            <a:avLst/>
          </a:prstGeom>
          <a:ln w="12700">
            <a:solidFill>
              <a:srgbClr val="9AA7BE"/>
            </a:solidFill>
            <a:prstDash val="solid"/>
          </a:ln>
        </p:spPr>
      </p:sp>
      <p:sp>
        <p:nvSpPr>
          <p:cNvPr id="12" name="Text 9"/>
          <p:cNvSpPr txBox="1"/>
          <p:nvPr/>
        </p:nvSpPr>
        <p:spPr>
          <a:xfrm>
            <a:off x="457200" y="4407408"/>
            <a:ext cx="397764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Driving view. Partner 2.41 mi, CHANGE COURSE with turn chevron, age 15 s</a:t>
            </a:r>
            <a:endParaRPr lang="en-US" sz="950" dirty="0"/>
          </a:p>
        </p:txBody>
      </p:sp>
      <p:pic>
        <p:nvPicPr>
          <p:cNvPr id="13" name="Image 1" descr="C:/Users/deogr/AppData/Local/Temp/claude/C--Users-deogr-Documents-Fall-Project-Off-Grid-Vehicle-dection-project/e8b2e8fa-1513-4aa8-a8f6-ce4fcd20e664/scratchpad/deck3/p_close.jpg">    </p:cNvPr>
          <p:cNvPicPr>
            <a:picLocks noChangeAspect="1"/>
          </p:cNvPicPr>
          <p:nvPr/>
        </p:nvPicPr>
        <p:blipFill>
          <a:blip r:embed="rId2"/>
          <a:stretch>
            <a:fillRect/>
          </a:stretch>
        </p:blipFill>
        <p:spPr>
          <a:xfrm>
            <a:off x="777240" y="4892040"/>
            <a:ext cx="1572768" cy="1143000"/>
          </a:xfrm>
          <a:prstGeom prst="rect">
            <a:avLst/>
          </a:prstGeom>
        </p:spPr>
      </p:pic>
      <p:sp>
        <p:nvSpPr>
          <p:cNvPr id="14" name="Shape 10"/>
          <p:cNvSpPr/>
          <p:nvPr/>
        </p:nvSpPr>
        <p:spPr>
          <a:xfrm>
            <a:off x="777240" y="4892040"/>
            <a:ext cx="1572768" cy="1143000"/>
          </a:xfrm>
          <a:prstGeom prst="rect">
            <a:avLst/>
          </a:prstGeom>
          <a:ln w="12700">
            <a:solidFill>
              <a:srgbClr val="9AA7BE"/>
            </a:solidFill>
            <a:prstDash val="solid"/>
          </a:ln>
        </p:spPr>
      </p:sp>
      <p:sp>
        <p:nvSpPr>
          <p:cNvPr id="15" name="Text 11"/>
          <p:cNvSpPr txBox="1"/>
          <p:nvPr/>
        </p:nvSpPr>
        <p:spPr>
          <a:xfrm>
            <a:off x="777240" y="6062472"/>
            <a:ext cx="1572768"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Close range, 0.2 mi</a:t>
            </a:r>
            <a:endParaRPr lang="en-US" sz="950" dirty="0"/>
          </a:p>
        </p:txBody>
      </p:sp>
      <p:pic>
        <p:nvPicPr>
          <p:cNvPr id="16" name="Image 2" descr="C:/Users/deogr/AppData/Local/Temp/claude/C--Users-deogr-Documents-Fall-Project-Off-Grid-Vehicle-dection-project/e8b2e8fa-1513-4aa8-a8f6-ce4fcd20e664/scratchpad/deck3/p_stopped.jpg">    </p:cNvPr>
          <p:cNvPicPr>
            <a:picLocks noChangeAspect="1"/>
          </p:cNvPicPr>
          <p:nvPr/>
        </p:nvPicPr>
        <p:blipFill>
          <a:blip r:embed="rId3"/>
          <a:stretch>
            <a:fillRect/>
          </a:stretch>
        </p:blipFill>
        <p:spPr>
          <a:xfrm>
            <a:off x="4709160" y="1097280"/>
            <a:ext cx="3931920" cy="2569464"/>
          </a:xfrm>
          <a:prstGeom prst="rect">
            <a:avLst/>
          </a:prstGeom>
        </p:spPr>
      </p:pic>
      <p:sp>
        <p:nvSpPr>
          <p:cNvPr id="17" name="Shape 12"/>
          <p:cNvSpPr/>
          <p:nvPr/>
        </p:nvSpPr>
        <p:spPr>
          <a:xfrm>
            <a:off x="4709160" y="1097280"/>
            <a:ext cx="3931920" cy="2569464"/>
          </a:xfrm>
          <a:prstGeom prst="rect">
            <a:avLst/>
          </a:prstGeom>
          <a:ln w="12700">
            <a:solidFill>
              <a:srgbClr val="9AA7BE"/>
            </a:solidFill>
            <a:prstDash val="solid"/>
          </a:ln>
        </p:spPr>
      </p:sp>
      <p:sp>
        <p:nvSpPr>
          <p:cNvPr id="18" name="Text 13"/>
          <p:cNvSpPr txBox="1"/>
          <p:nvPr/>
        </p:nvSpPr>
        <p:spPr>
          <a:xfrm>
            <a:off x="4709160" y="3694176"/>
            <a:ext cx="393192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Stopped: automatic north-up rose fallback</a:t>
            </a:r>
            <a:endParaRPr lang="en-US" sz="950" dirty="0"/>
          </a:p>
        </p:txBody>
      </p:sp>
      <p:pic>
        <p:nvPicPr>
          <p:cNvPr id="19" name="Image 3" descr="C:/Users/deogr/AppData/Local/Temp/claude/C--Users-deogr-Documents-Fall-Project-Off-Grid-Vehicle-dection-project/e8b2e8fa-1513-4aa8-a8f6-ce4fcd20e664/scratchpad/deck3/p_status.jpg">    </p:cNvPr>
          <p:cNvPicPr>
            <a:picLocks noChangeAspect="1"/>
          </p:cNvPicPr>
          <p:nvPr/>
        </p:nvPicPr>
        <p:blipFill>
          <a:blip r:embed="rId4"/>
          <a:stretch>
            <a:fillRect/>
          </a:stretch>
        </p:blipFill>
        <p:spPr>
          <a:xfrm>
            <a:off x="4709160" y="4041648"/>
            <a:ext cx="2880360" cy="1938528"/>
          </a:xfrm>
          <a:prstGeom prst="rect">
            <a:avLst/>
          </a:prstGeom>
        </p:spPr>
      </p:pic>
      <p:sp>
        <p:nvSpPr>
          <p:cNvPr id="20" name="Shape 14"/>
          <p:cNvSpPr/>
          <p:nvPr/>
        </p:nvSpPr>
        <p:spPr>
          <a:xfrm>
            <a:off x="4709160" y="4041648"/>
            <a:ext cx="2880360" cy="1938528"/>
          </a:xfrm>
          <a:prstGeom prst="rect">
            <a:avLst/>
          </a:prstGeom>
          <a:ln w="12700">
            <a:solidFill>
              <a:srgbClr val="9AA7BE"/>
            </a:solidFill>
            <a:prstDash val="solid"/>
          </a:ln>
        </p:spPr>
      </p:sp>
      <p:sp>
        <p:nvSpPr>
          <p:cNvPr id="21" name="Text 15"/>
          <p:cNvSpPr txBox="1"/>
          <p:nvPr/>
        </p:nvSpPr>
        <p:spPr>
          <a:xfrm>
            <a:off x="4709160" y="6007608"/>
            <a:ext cx="288036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Status page: live ME and PTR coordinates</a:t>
            </a:r>
            <a:endParaRPr lang="en-US" sz="950" dirty="0"/>
          </a:p>
        </p:txBody>
      </p:sp>
      <p:sp>
        <p:nvSpPr>
          <p:cNvPr id="22" name="Shape 16"/>
          <p:cNvSpPr/>
          <p:nvPr/>
        </p:nvSpPr>
        <p:spPr>
          <a:xfrm>
            <a:off x="8915400" y="1097280"/>
            <a:ext cx="2834640" cy="5029200"/>
          </a:xfrm>
          <a:prstGeom prst="rect">
            <a:avLst/>
          </a:prstGeom>
          <a:solidFill>
            <a:srgbClr val="F2F5FA"/>
          </a:solidFill>
          <a:ln w="9525">
            <a:solidFill>
              <a:srgbClr val="9AA7BE"/>
            </a:solidFill>
            <a:prstDash val="solid"/>
          </a:ln>
        </p:spPr>
      </p:sp>
      <p:sp>
        <p:nvSpPr>
          <p:cNvPr id="23" name="Text 17"/>
          <p:cNvSpPr txBox="1"/>
          <p:nvPr/>
        </p:nvSpPr>
        <p:spPr>
          <a:xfrm>
            <a:off x="9098280" y="1234440"/>
            <a:ext cx="2468880" cy="502920"/>
          </a:xfrm>
          <a:prstGeom prst="rect">
            <a:avLst/>
          </a:prstGeom>
          <a:noFill/>
          <a:ln/>
        </p:spPr>
        <p:txBody>
          <a:bodyPr wrap="square" lIns="0" tIns="0" rIns="0" bIns="0" rtlCol="0" anchor="ctr"/>
          <a:lstStyle/>
          <a:p>
            <a:pPr indent="0" marL="0">
              <a:buNone/>
            </a:pPr>
            <a:r>
              <a:rPr lang="en-US" sz="1200" b="1" spc="100" kern="0" dirty="0">
                <a:solidFill>
                  <a:srgbClr val="16213D"/>
                </a:solidFill>
                <a:latin typeface="Arial" pitchFamily="34" charset="0"/>
                <a:ea typeface="Arial" pitchFamily="34" charset="-122"/>
                <a:cs typeface="Arial" pitchFamily="34" charset="-120"/>
              </a:rPr>
              <a:t>WHY THESE SHOTS MATTER</a:t>
            </a:r>
            <a:endParaRPr lang="en-US" sz="1200" dirty="0"/>
          </a:p>
        </p:txBody>
      </p:sp>
      <p:sp>
        <p:nvSpPr>
          <p:cNvPr id="24" name="Text 18"/>
          <p:cNvSpPr txBox="1"/>
          <p:nvPr/>
        </p:nvSpPr>
        <p:spPr>
          <a:xfrm>
            <a:off x="9098280" y="1783080"/>
            <a:ext cx="2468880" cy="42062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No simulator: every value arrived by radio.</a:t>
            </a:r>
            <a:endParaRPr lang="en-US" sz="1200" dirty="0"/>
          </a:p>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Reflective panel: sharper in sunlight, built for a dash.</a:t>
            </a:r>
            <a:endParaRPr lang="en-US" sz="1200" dirty="0"/>
          </a:p>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The age readout is the honesty metric.</a:t>
            </a:r>
            <a:endParaRPr lang="en-US" sz="1200" dirty="0"/>
          </a:p>
          <a:p>
            <a:pPr marL="342900" indent="-342900">
              <a:buSzPct val="100000"/>
              <a:buChar char="▪"/>
            </a:pPr>
            <a:r>
              <a:rPr lang="en-US" sz="1200" dirty="0">
                <a:solidFill>
                  <a:srgbClr val="222A3F"/>
                </a:solidFill>
                <a:latin typeface="Arial" pitchFamily="34" charset="0"/>
                <a:ea typeface="Arial" pitchFamily="34" charset="-122"/>
                <a:cs typeface="Arial" pitchFamily="34" charset="-120"/>
              </a:rPr>
              <a:t>Banner, chevron, rose: state machines on live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RADIO AND PHY</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08/14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RADIO AND PHY: THE LONG-RANGE LINK</a:t>
            </a:r>
            <a:endParaRPr lang="en-US" sz="2300" dirty="0"/>
          </a:p>
        </p:txBody>
      </p:sp>
      <p:sp>
        <p:nvSpPr>
          <p:cNvPr id="10" name="Text 8"/>
          <p:cNvSpPr txBox="1"/>
          <p:nvPr/>
        </p:nvSpPr>
        <p:spPr>
          <a:xfrm>
            <a:off x="457200" y="987552"/>
            <a:ext cx="7315200" cy="274320"/>
          </a:xfrm>
          <a:prstGeom prst="rect">
            <a:avLst/>
          </a:prstGeom>
          <a:noFill/>
          <a:ln/>
        </p:spPr>
        <p:txBody>
          <a:bodyPr wrap="square" lIns="0" tIns="0" rIns="0" bIns="0" rtlCol="0" anchor="ctr"/>
          <a:lstStyle/>
          <a:p>
            <a:pPr indent="0" marL="0">
              <a:buNone/>
            </a:pPr>
            <a:r>
              <a:rPr lang="en-US" sz="1100" b="1" spc="100" kern="0" dirty="0">
                <a:solidFill>
                  <a:srgbClr val="16213D"/>
                </a:solidFill>
                <a:latin typeface="Arial" pitchFamily="34" charset="0"/>
                <a:ea typeface="Arial" pitchFamily="34" charset="-122"/>
                <a:cs typeface="Arial" pitchFamily="34" charset="-120"/>
              </a:rPr>
              <a:t>RADIO NODE, HELTEC V4 RUNNING STOCK MESHTASTIC</a:t>
            </a:r>
            <a:endParaRPr lang="en-US" sz="1100" dirty="0"/>
          </a:p>
        </p:txBody>
      </p:sp>
      <p:pic>
        <p:nvPicPr>
          <p:cNvPr id="11" name="Image 0" descr="C:/Users/deogr/AppData/Local/Temp/claude/C--Users-deogr-Documents-Fall-Project-Off-Grid-Vehicle-dection-project/e8b2e8fa-1513-4aa8-a8f6-ce4fcd20e664/scratchpad/mermaid_png/diag2.png">    </p:cNvPr>
          <p:cNvPicPr>
            <a:picLocks noChangeAspect="1"/>
          </p:cNvPicPr>
          <p:nvPr/>
        </p:nvPicPr>
        <p:blipFill>
          <a:blip r:embed="rId1"/>
          <a:stretch>
            <a:fillRect/>
          </a:stretch>
        </p:blipFill>
        <p:spPr>
          <a:xfrm>
            <a:off x="457200" y="1298448"/>
            <a:ext cx="6949440" cy="1417320"/>
          </a:xfrm>
          <a:prstGeom prst="rect">
            <a:avLst/>
          </a:prstGeom>
        </p:spPr>
      </p:pic>
      <p:sp>
        <p:nvSpPr>
          <p:cNvPr id="12" name="Shape 9"/>
          <p:cNvSpPr/>
          <p:nvPr/>
        </p:nvSpPr>
        <p:spPr>
          <a:xfrm>
            <a:off x="457200" y="1298448"/>
            <a:ext cx="6949440" cy="1417320"/>
          </a:xfrm>
          <a:prstGeom prst="rect">
            <a:avLst/>
          </a:prstGeom>
          <a:ln w="12700">
            <a:solidFill>
              <a:srgbClr val="9AA7BE"/>
            </a:solidFill>
            <a:prstDash val="solid"/>
          </a:ln>
        </p:spPr>
      </p:sp>
      <p:pic>
        <p:nvPicPr>
          <p:cNvPr id="13" name="Image 1" descr="C:/Users/deogr/AppData/Local/Temp/claude/C--Users-deogr-Documents-Fall-Project-Off-Grid-Vehicle-dection-project/e8b2e8fa-1513-4aa8-a8f6-ce4fcd20e664/scratchpad/deck3/p_rig.jpg">    </p:cNvPr>
          <p:cNvPicPr>
            <a:picLocks noChangeAspect="1"/>
          </p:cNvPicPr>
          <p:nvPr/>
        </p:nvPicPr>
        <p:blipFill>
          <a:blip r:embed="rId2"/>
          <a:stretch>
            <a:fillRect/>
          </a:stretch>
        </p:blipFill>
        <p:spPr>
          <a:xfrm>
            <a:off x="7680960" y="987552"/>
            <a:ext cx="1783080" cy="2377440"/>
          </a:xfrm>
          <a:prstGeom prst="rect">
            <a:avLst/>
          </a:prstGeom>
        </p:spPr>
      </p:pic>
      <p:sp>
        <p:nvSpPr>
          <p:cNvPr id="14" name="Shape 10"/>
          <p:cNvSpPr/>
          <p:nvPr/>
        </p:nvSpPr>
        <p:spPr>
          <a:xfrm>
            <a:off x="7680960" y="987552"/>
            <a:ext cx="1783080" cy="2377440"/>
          </a:xfrm>
          <a:prstGeom prst="rect">
            <a:avLst/>
          </a:prstGeom>
          <a:ln w="12700">
            <a:solidFill>
              <a:srgbClr val="9AA7BE"/>
            </a:solidFill>
            <a:prstDash val="solid"/>
          </a:ln>
        </p:spPr>
      </p:sp>
      <p:sp>
        <p:nvSpPr>
          <p:cNvPr id="15" name="Text 11"/>
          <p:cNvSpPr txBox="1"/>
          <p:nvPr/>
        </p:nvSpPr>
        <p:spPr>
          <a:xfrm>
            <a:off x="7680960" y="3392424"/>
            <a:ext cx="178308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The rig with 915 MHz antenna</a:t>
            </a:r>
            <a:endParaRPr lang="en-US" sz="950" dirty="0"/>
          </a:p>
        </p:txBody>
      </p:sp>
      <p:pic>
        <p:nvPicPr>
          <p:cNvPr id="16" name="Image 2" descr="C:/Users/deogr/AppData/Local/Temp/claude/C--Users-deogr-Documents-Fall-Project-Off-Grid-Vehicle-dection-project/e8b2e8fa-1513-4aa8-a8f6-ce4fcd20e664/scratchpad/deck3/p_oled.jpg">    </p:cNvPr>
          <p:cNvPicPr>
            <a:picLocks noChangeAspect="1"/>
          </p:cNvPicPr>
          <p:nvPr/>
        </p:nvPicPr>
        <p:blipFill>
          <a:blip r:embed="rId3"/>
          <a:stretch>
            <a:fillRect/>
          </a:stretch>
        </p:blipFill>
        <p:spPr>
          <a:xfrm>
            <a:off x="9646920" y="987552"/>
            <a:ext cx="2057400" cy="1078992"/>
          </a:xfrm>
          <a:prstGeom prst="rect">
            <a:avLst/>
          </a:prstGeom>
        </p:spPr>
      </p:pic>
      <p:sp>
        <p:nvSpPr>
          <p:cNvPr id="17" name="Shape 12"/>
          <p:cNvSpPr/>
          <p:nvPr/>
        </p:nvSpPr>
        <p:spPr>
          <a:xfrm>
            <a:off x="9646920" y="987552"/>
            <a:ext cx="2057400" cy="1078992"/>
          </a:xfrm>
          <a:prstGeom prst="rect">
            <a:avLst/>
          </a:prstGeom>
          <a:ln w="12700">
            <a:solidFill>
              <a:srgbClr val="9AA7BE"/>
            </a:solidFill>
            <a:prstDash val="solid"/>
          </a:ln>
        </p:spPr>
      </p:sp>
      <p:sp>
        <p:nvSpPr>
          <p:cNvPr id="18" name="Text 13"/>
          <p:cNvSpPr txBox="1"/>
          <p:nvPr/>
        </p:nvSpPr>
        <p:spPr>
          <a:xfrm>
            <a:off x="9646920" y="2093976"/>
            <a:ext cx="205740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OLED: 9 satellites, ChUtil 0%</a:t>
            </a:r>
            <a:endParaRPr lang="en-US" sz="950" dirty="0"/>
          </a:p>
        </p:txBody>
      </p:sp>
      <p:sp>
        <p:nvSpPr>
          <p:cNvPr id="19" name="Text 14"/>
          <p:cNvSpPr txBox="1"/>
          <p:nvPr/>
        </p:nvSpPr>
        <p:spPr>
          <a:xfrm>
            <a:off x="457200" y="2971800"/>
            <a:ext cx="7040880" cy="17373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LONG_FAST: SF11 over 250 kHz, FEC 4/5, 915 MHz ISM, private AES-256 channel, full precision.</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Smart broadcast 10 s / 20 m moving, 60 s parked. GPS refresh 10 s: every broadcast carries a new fix.</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The OLED is the free field debugger: satellites, nodes, utilization, last RSSI.</a:t>
            </a:r>
            <a:endParaRPr lang="en-US" sz="1300" dirty="0"/>
          </a:p>
        </p:txBody>
      </p:sp>
      <p:sp>
        <p:nvSpPr>
          <p:cNvPr id="20" name="Shape 15"/>
          <p:cNvSpPr/>
          <p:nvPr/>
        </p:nvSpPr>
        <p:spPr>
          <a:xfrm>
            <a:off x="457200" y="4846320"/>
            <a:ext cx="11292840" cy="1280160"/>
          </a:xfrm>
          <a:prstGeom prst="rect">
            <a:avLst/>
          </a:prstGeom>
          <a:solidFill>
            <a:srgbClr val="FDF3E3"/>
          </a:solidFill>
          <a:ln w="15875">
            <a:solidFill>
              <a:srgbClr val="E58E1A"/>
            </a:solidFill>
            <a:prstDash val="solid"/>
          </a:ln>
        </p:spPr>
      </p:sp>
      <p:sp>
        <p:nvSpPr>
          <p:cNvPr id="21" name="Text 16"/>
          <p:cNvSpPr txBox="1"/>
          <p:nvPr/>
        </p:nvSpPr>
        <p:spPr>
          <a:xfrm>
            <a:off x="731520" y="4974336"/>
            <a:ext cx="10744200" cy="1051560"/>
          </a:xfrm>
          <a:prstGeom prst="rect">
            <a:avLst/>
          </a:prstGeom>
          <a:noFill/>
          <a:ln/>
        </p:spPr>
        <p:txBody>
          <a:bodyPr wrap="square" lIns="0" tIns="0" rIns="0" bIns="0" rtlCol="0" anchor="ctr"/>
          <a:lstStyle/>
          <a:p>
            <a:pPr indent="0" marL="0">
              <a:spcAft>
                <a:spcPts val="500"/>
              </a:spcAft>
              <a:buNone/>
            </a:pPr>
            <a:r>
              <a:rPr lang="en-US" sz="1100" b="1" dirty="0">
                <a:solidFill>
                  <a:srgbClr val="B06207"/>
                </a:solidFill>
                <a:latin typeface="Courier New" pitchFamily="34" charset="0"/>
                <a:ea typeface="Courier New" pitchFamily="34" charset="-122"/>
                <a:cs typeface="Courier New" pitchFamily="34" charset="-120"/>
              </a:rPr>
              <a:t>PROVISIONING DISCIPLINE (hardware/README.md)</a:t>
            </a:r>
            <a:endParaRPr lang="en-US" sz="1250" dirty="0"/>
          </a:p>
          <a:p>
            <a:pPr indent="0" marL="0">
              <a:buNone/>
            </a:pPr>
            <a:r>
              <a:rPr lang="en-US" sz="1250" dirty="0">
                <a:solidFill>
                  <a:srgbClr val="222A3F"/>
                </a:solidFill>
                <a:latin typeface="Arial" pitchFamily="34" charset="0"/>
                <a:ea typeface="Arial" pitchFamily="34" charset="-122"/>
                <a:cs typeface="Arial" pitchFamily="34" charset="-120"/>
              </a:rPr>
              <a:t>Radio 2 joins with the exact channel URL (it carries the AES key). Verify every CLI write; always name the upload port.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LINK PHYSICS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09/14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REAL TIME VERSUS 10 SECONDS: THE PHYSICS</a:t>
            </a:r>
            <a:endParaRPr lang="en-US" sz="2300" dirty="0"/>
          </a:p>
        </p:txBody>
      </p:sp>
      <p:sp>
        <p:nvSpPr>
          <p:cNvPr id="10" name="Text 8"/>
          <p:cNvSpPr txBox="1"/>
          <p:nvPr/>
        </p:nvSpPr>
        <p:spPr>
          <a:xfrm>
            <a:off x="457200" y="1097280"/>
            <a:ext cx="2468880" cy="292608"/>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EQ 1  AIRTIME</a:t>
            </a:r>
            <a:endParaRPr lang="en-US" sz="1100" dirty="0"/>
          </a:p>
        </p:txBody>
      </p:sp>
      <p:sp>
        <p:nvSpPr>
          <p:cNvPr id="11" name="Text 9"/>
          <p:cNvSpPr txBox="1"/>
          <p:nvPr/>
        </p:nvSpPr>
        <p:spPr>
          <a:xfrm>
            <a:off x="457200" y="1371600"/>
            <a:ext cx="246888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DS 6.1.1 p.39 + AN1200.22</a:t>
            </a:r>
            <a:endParaRPr lang="en-US" sz="800" dirty="0"/>
          </a:p>
        </p:txBody>
      </p:sp>
      <p:pic>
        <p:nvPicPr>
          <p:cNvPr id="12" name="Image 0" descr="C:/Users/deogr/AppData/Local/Temp/claude/C--Users-deogr-Documents-Fall-Project-Off-Grid-Vehicle-dection-project/e8b2e8fa-1513-4aa8-a8f6-ce4fcd20e664/scratchpad/deck3/eq_airtime.png">    </p:cNvPr>
          <p:cNvPicPr>
            <a:picLocks noChangeAspect="1"/>
          </p:cNvPicPr>
          <p:nvPr/>
        </p:nvPicPr>
        <p:blipFill>
          <a:blip r:embed="rId1"/>
          <a:stretch>
            <a:fillRect/>
          </a:stretch>
        </p:blipFill>
        <p:spPr>
          <a:xfrm>
            <a:off x="3063240" y="1115568"/>
            <a:ext cx="8138160" cy="429768"/>
          </a:xfrm>
          <a:prstGeom prst="rect">
            <a:avLst/>
          </a:prstGeom>
        </p:spPr>
      </p:pic>
      <p:sp>
        <p:nvSpPr>
          <p:cNvPr id="13" name="Text 10"/>
          <p:cNvSpPr txBox="1"/>
          <p:nvPr/>
        </p:nvSpPr>
        <p:spPr>
          <a:xfrm>
            <a:off x="457200" y="1828800"/>
            <a:ext cx="2468880" cy="292608"/>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EQ 2  UTILIZATION</a:t>
            </a:r>
            <a:endParaRPr lang="en-US" sz="1100" dirty="0"/>
          </a:p>
        </p:txBody>
      </p:sp>
      <p:sp>
        <p:nvSpPr>
          <p:cNvPr id="14" name="Text 11"/>
          <p:cNvSpPr txBox="1"/>
          <p:nvPr/>
        </p:nvSpPr>
        <p:spPr>
          <a:xfrm>
            <a:off x="457200" y="2103120"/>
            <a:ext cx="246888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Meshtastic docs, ~25% cap</a:t>
            </a:r>
            <a:endParaRPr lang="en-US" sz="800" dirty="0"/>
          </a:p>
        </p:txBody>
      </p:sp>
      <p:pic>
        <p:nvPicPr>
          <p:cNvPr id="15" name="Image 1" descr="C:/Users/deogr/AppData/Local/Temp/claude/C--Users-deogr-Documents-Fall-Project-Off-Grid-Vehicle-dection-project/e8b2e8fa-1513-4aa8-a8f6-ce4fcd20e664/scratchpad/deck3/eq_util.png">    </p:cNvPr>
          <p:cNvPicPr>
            <a:picLocks noChangeAspect="1"/>
          </p:cNvPicPr>
          <p:nvPr/>
        </p:nvPicPr>
        <p:blipFill>
          <a:blip r:embed="rId2"/>
          <a:stretch>
            <a:fillRect/>
          </a:stretch>
        </p:blipFill>
        <p:spPr>
          <a:xfrm>
            <a:off x="3063240" y="1847088"/>
            <a:ext cx="8503920" cy="393192"/>
          </a:xfrm>
          <a:prstGeom prst="rect">
            <a:avLst/>
          </a:prstGeom>
        </p:spPr>
      </p:pic>
      <p:sp>
        <p:nvSpPr>
          <p:cNvPr id="16" name="Text 12"/>
          <p:cNvSpPr txBox="1"/>
          <p:nvPr/>
        </p:nvSpPr>
        <p:spPr>
          <a:xfrm>
            <a:off x="457200" y="2560320"/>
            <a:ext cx="2468880" cy="292608"/>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EQ 3  SENSITIVITY</a:t>
            </a:r>
            <a:endParaRPr lang="en-US" sz="1100" dirty="0"/>
          </a:p>
        </p:txBody>
      </p:sp>
      <p:sp>
        <p:nvSpPr>
          <p:cNvPr id="17" name="Text 13"/>
          <p:cNvSpPr txBox="1"/>
          <p:nvPr/>
        </p:nvSpPr>
        <p:spPr>
          <a:xfrm>
            <a:off x="457200" y="2834640"/>
            <a:ext cx="246888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DS Table 6-1 p.39, 3.5.3 p.20</a:t>
            </a:r>
            <a:endParaRPr lang="en-US" sz="800" dirty="0"/>
          </a:p>
        </p:txBody>
      </p:sp>
      <p:pic>
        <p:nvPicPr>
          <p:cNvPr id="18" name="Image 2" descr="C:/Users/deogr/AppData/Local/Temp/claude/C--Users-deogr-Documents-Fall-Project-Off-Grid-Vehicle-dection-project/e8b2e8fa-1513-4aa8-a8f6-ce4fcd20e664/scratchpad/deck3/eq_sens.png">    </p:cNvPr>
          <p:cNvPicPr>
            <a:picLocks noChangeAspect="1"/>
          </p:cNvPicPr>
          <p:nvPr/>
        </p:nvPicPr>
        <p:blipFill>
          <a:blip r:embed="rId3"/>
          <a:stretch>
            <a:fillRect/>
          </a:stretch>
        </p:blipFill>
        <p:spPr>
          <a:xfrm>
            <a:off x="3063240" y="2578608"/>
            <a:ext cx="8503920" cy="292608"/>
          </a:xfrm>
          <a:prstGeom prst="rect">
            <a:avLst/>
          </a:prstGeom>
        </p:spPr>
      </p:pic>
      <p:sp>
        <p:nvSpPr>
          <p:cNvPr id="19" name="Text 14"/>
          <p:cNvSpPr txBox="1"/>
          <p:nvPr/>
        </p:nvSpPr>
        <p:spPr>
          <a:xfrm>
            <a:off x="457200" y="3246120"/>
            <a:ext cx="2468880" cy="292608"/>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EQ 4  LATENCY</a:t>
            </a:r>
            <a:endParaRPr lang="en-US" sz="1100" dirty="0"/>
          </a:p>
        </p:txBody>
      </p:sp>
      <p:sp>
        <p:nvSpPr>
          <p:cNvPr id="20" name="Text 15"/>
          <p:cNvSpPr txBox="1"/>
          <p:nvPr/>
        </p:nvSpPr>
        <p:spPr>
          <a:xfrm>
            <a:off x="457200" y="3520440"/>
            <a:ext cx="246888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DS 6.1.4 p.41 (airtime term)</a:t>
            </a:r>
            <a:endParaRPr lang="en-US" sz="800" dirty="0"/>
          </a:p>
        </p:txBody>
      </p:sp>
      <p:pic>
        <p:nvPicPr>
          <p:cNvPr id="21" name="Image 3" descr="C:/Users/deogr/AppData/Local/Temp/claude/C--Users-deogr-Documents-Fall-Project-Off-Grid-Vehicle-dection-project/e8b2e8fa-1513-4aa8-a8f6-ce4fcd20e664/scratchpad/deck3/eq_latency.png">    </p:cNvPr>
          <p:cNvPicPr>
            <a:picLocks noChangeAspect="1"/>
          </p:cNvPicPr>
          <p:nvPr/>
        </p:nvPicPr>
        <p:blipFill>
          <a:blip r:embed="rId4"/>
          <a:stretch>
            <a:fillRect/>
          </a:stretch>
        </p:blipFill>
        <p:spPr>
          <a:xfrm>
            <a:off x="3063240" y="3264408"/>
            <a:ext cx="8503920" cy="310896"/>
          </a:xfrm>
          <a:prstGeom prst="rect">
            <a:avLst/>
          </a:prstGeom>
        </p:spPr>
      </p:pic>
      <p:sp>
        <p:nvSpPr>
          <p:cNvPr id="22" name="Text 16"/>
          <p:cNvSpPr txBox="1"/>
          <p:nvPr/>
        </p:nvSpPr>
        <p:spPr>
          <a:xfrm>
            <a:off x="457200" y="3931920"/>
            <a:ext cx="2468880" cy="292608"/>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EQ 5  DEAD RECKONING</a:t>
            </a:r>
            <a:endParaRPr lang="en-US" sz="1100" dirty="0"/>
          </a:p>
        </p:txBody>
      </p:sp>
      <p:sp>
        <p:nvSpPr>
          <p:cNvPr id="23" name="Text 17"/>
          <p:cNvSpPr txBox="1"/>
          <p:nvPr/>
        </p:nvSpPr>
        <p:spPr>
          <a:xfrm>
            <a:off x="457200" y="4206240"/>
            <a:ext cx="2468880" cy="219456"/>
          </a:xfrm>
          <a:prstGeom prst="rect">
            <a:avLst/>
          </a:prstGeom>
          <a:noFill/>
          <a:ln/>
        </p:spPr>
        <p:txBody>
          <a:bodyPr wrap="square" lIns="0" tIns="0" rIns="0" bIns="0" rtlCol="0" anchor="ctr"/>
          <a:lstStyle/>
          <a:p>
            <a:pPr indent="0" marL="0">
              <a:buNone/>
            </a:pPr>
            <a:r>
              <a:rPr lang="en-US" sz="800" dirty="0">
                <a:solidFill>
                  <a:srgbClr val="5E6B85"/>
                </a:solidFill>
                <a:latin typeface="Courier New" pitchFamily="34" charset="0"/>
                <a:ea typeface="Courier New" pitchFamily="34" charset="-122"/>
                <a:cs typeface="Courier New" pitchFamily="34" charset="-120"/>
              </a:rPr>
              <a:t>dead_reckon.c, 12/12 tests</a:t>
            </a:r>
            <a:endParaRPr lang="en-US" sz="800" dirty="0"/>
          </a:p>
        </p:txBody>
      </p:sp>
      <p:pic>
        <p:nvPicPr>
          <p:cNvPr id="24" name="Image 4" descr="C:/Users/deogr/AppData/Local/Temp/claude/C--Users-deogr-Documents-Fall-Project-Off-Grid-Vehicle-dection-project/e8b2e8fa-1513-4aa8-a8f6-ce4fcd20e664/scratchpad/deck3/eq_dr.png">    </p:cNvPr>
          <p:cNvPicPr>
            <a:picLocks noChangeAspect="1"/>
          </p:cNvPicPr>
          <p:nvPr/>
        </p:nvPicPr>
        <p:blipFill>
          <a:blip r:embed="rId5"/>
          <a:stretch>
            <a:fillRect/>
          </a:stretch>
        </p:blipFill>
        <p:spPr>
          <a:xfrm>
            <a:off x="3063240" y="3950208"/>
            <a:ext cx="6309360" cy="365760"/>
          </a:xfrm>
          <a:prstGeom prst="rect">
            <a:avLst/>
          </a:prstGeom>
        </p:spPr>
      </p:pic>
      <p:sp>
        <p:nvSpPr>
          <p:cNvPr id="25" name="Shape 18"/>
          <p:cNvSpPr/>
          <p:nvPr/>
        </p:nvSpPr>
        <p:spPr>
          <a:xfrm>
            <a:off x="457200" y="4754880"/>
            <a:ext cx="11292840" cy="1371600"/>
          </a:xfrm>
          <a:prstGeom prst="rect">
            <a:avLst/>
          </a:prstGeom>
          <a:solidFill>
            <a:srgbClr val="16213D"/>
          </a:solidFill>
          <a:ln/>
        </p:spPr>
      </p:sp>
      <p:sp>
        <p:nvSpPr>
          <p:cNvPr id="26" name="Text 19"/>
          <p:cNvSpPr txBox="1"/>
          <p:nvPr/>
        </p:nvSpPr>
        <p:spPr>
          <a:xfrm>
            <a:off x="731520" y="4864608"/>
            <a:ext cx="10744200" cy="1188720"/>
          </a:xfrm>
          <a:prstGeom prst="rect">
            <a:avLst/>
          </a:prstGeom>
          <a:noFill/>
          <a:ln/>
        </p:spPr>
        <p:txBody>
          <a:bodyPr wrap="square" lIns="0" tIns="0" rIns="0" bIns="0" rtlCol="0" anchor="ctr"/>
          <a:lstStyle/>
          <a:p>
            <a:pPr indent="0" marL="0">
              <a:spcAft>
                <a:spcPts val="500"/>
              </a:spcAft>
              <a:buNone/>
            </a:pPr>
            <a:r>
              <a:rPr lang="en-US" sz="1200" b="1" dirty="0">
                <a:solidFill>
                  <a:srgbClr val="E58E1A"/>
                </a:solidFill>
                <a:latin typeface="Courier New" pitchFamily="34" charset="0"/>
                <a:ea typeface="Courier New" pitchFamily="34" charset="-122"/>
                <a:cs typeface="Courier New" pitchFamily="34" charset="-120"/>
              </a:rPr>
              <a:t>THE VERDICT</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Delivery is real time: about one second. Sampling is 10 s, because airtime is the currency and we bought range with it. Dead reckoning fills the gap at 1 Hz.</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LINK BEHAVIOR, GRAPHED</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10/14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SAME PHYSICS, GRAPHED</a:t>
            </a:r>
            <a:endParaRPr lang="en-US" sz="2300" dirty="0"/>
          </a:p>
        </p:txBody>
      </p:sp>
      <p:pic>
        <p:nvPicPr>
          <p:cNvPr id="10" name="Image 0" descr="C:/Users/deogr/AppData/Local/Temp/claude/C--Users-deogr-Documents-Fall-Project-Off-Grid-Vehicle-dection-project/e8b2e8fa-1513-4aa8-a8f6-ce4fcd20e664/scratchpad/deck3/g_utilization.png">    </p:cNvPr>
          <p:cNvPicPr>
            <a:picLocks noChangeAspect="1"/>
          </p:cNvPicPr>
          <p:nvPr/>
        </p:nvPicPr>
        <p:blipFill>
          <a:blip r:embed="rId1"/>
          <a:stretch>
            <a:fillRect/>
          </a:stretch>
        </p:blipFill>
        <p:spPr>
          <a:xfrm>
            <a:off x="457200" y="1024128"/>
            <a:ext cx="5394960" cy="3739896"/>
          </a:xfrm>
          <a:prstGeom prst="rect">
            <a:avLst/>
          </a:prstGeom>
        </p:spPr>
      </p:pic>
      <p:sp>
        <p:nvSpPr>
          <p:cNvPr id="11" name="Shape 8"/>
          <p:cNvSpPr/>
          <p:nvPr/>
        </p:nvSpPr>
        <p:spPr>
          <a:xfrm>
            <a:off x="457200" y="1024128"/>
            <a:ext cx="5394960" cy="3739896"/>
          </a:xfrm>
          <a:prstGeom prst="rect">
            <a:avLst/>
          </a:prstGeom>
          <a:ln w="12700">
            <a:solidFill>
              <a:srgbClr val="9AA7BE"/>
            </a:solidFill>
            <a:prstDash val="solid"/>
          </a:ln>
        </p:spPr>
      </p:sp>
      <p:pic>
        <p:nvPicPr>
          <p:cNvPr id="12" name="Image 1" descr="C:/Users/deogr/AppData/Local/Temp/claude/C--Users-deogr-Documents-Fall-Project-Off-Grid-Vehicle-dection-project/e8b2e8fa-1513-4aa8-a8f6-ce4fcd20e664/scratchpad/deck3/g_deadreckon.png">    </p:cNvPr>
          <p:cNvPicPr>
            <a:picLocks noChangeAspect="1"/>
          </p:cNvPicPr>
          <p:nvPr/>
        </p:nvPicPr>
        <p:blipFill>
          <a:blip r:embed="rId2"/>
          <a:stretch>
            <a:fillRect/>
          </a:stretch>
        </p:blipFill>
        <p:spPr>
          <a:xfrm>
            <a:off x="6309360" y="1024128"/>
            <a:ext cx="5394960" cy="3739896"/>
          </a:xfrm>
          <a:prstGeom prst="rect">
            <a:avLst/>
          </a:prstGeom>
        </p:spPr>
      </p:pic>
      <p:sp>
        <p:nvSpPr>
          <p:cNvPr id="13" name="Shape 9"/>
          <p:cNvSpPr/>
          <p:nvPr/>
        </p:nvSpPr>
        <p:spPr>
          <a:xfrm>
            <a:off x="6309360" y="1024128"/>
            <a:ext cx="5394960" cy="3739896"/>
          </a:xfrm>
          <a:prstGeom prst="rect">
            <a:avLst/>
          </a:prstGeom>
          <a:ln w="12700">
            <a:solidFill>
              <a:srgbClr val="9AA7BE"/>
            </a:solidFill>
            <a:prstDash val="solid"/>
          </a:ln>
        </p:spPr>
      </p:sp>
      <p:sp>
        <p:nvSpPr>
          <p:cNvPr id="14" name="Text 10"/>
          <p:cNvSpPr txBox="1"/>
          <p:nvPr/>
        </p:nvSpPr>
        <p:spPr>
          <a:xfrm>
            <a:off x="457200" y="4864608"/>
            <a:ext cx="5394960" cy="960120"/>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The update-rate wall: 1 s would take 100% of the channel. Our point: 10 s, 10%, under the enforced 25% ceiling.</a:t>
            </a:r>
            <a:endParaRPr lang="en-US" sz="1200" dirty="0"/>
          </a:p>
        </p:txBody>
      </p:sp>
      <p:sp>
        <p:nvSpPr>
          <p:cNvPr id="15" name="Text 11"/>
          <p:cNvSpPr txBox="1"/>
          <p:nvPr/>
        </p:nvSpPr>
        <p:spPr>
          <a:xfrm>
            <a:off x="6309360" y="4864608"/>
            <a:ext cx="5394960" cy="960120"/>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Raw fix: up to 200 m behind at 45 mph. Dead reckoning: bounded near 25 m, snapped to zero by each real fix.</a:t>
            </a:r>
            <a:endParaRPr lang="en-US" sz="1200" dirty="0"/>
          </a:p>
        </p:txBody>
      </p:sp>
      <p:sp>
        <p:nvSpPr>
          <p:cNvPr id="16" name="Shape 12"/>
          <p:cNvSpPr/>
          <p:nvPr/>
        </p:nvSpPr>
        <p:spPr>
          <a:xfrm>
            <a:off x="457200" y="5870448"/>
            <a:ext cx="11292840" cy="0"/>
          </a:xfrm>
          <a:prstGeom prst="line">
            <a:avLst/>
          </a:prstGeom>
          <a:noFill/>
          <a:ln w="9525">
            <a:solidFill>
              <a:srgbClr val="9AA7BE"/>
            </a:solidFill>
            <a:prstDash val="solid"/>
          </a:ln>
        </p:spPr>
      </p:sp>
      <p:sp>
        <p:nvSpPr>
          <p:cNvPr id="17" name="Text 13"/>
          <p:cNvSpPr txBox="1"/>
          <p:nvPr/>
        </p:nvSpPr>
        <p:spPr>
          <a:xfrm>
            <a:off x="457200" y="5943600"/>
            <a:ext cx="11292840" cy="274320"/>
          </a:xfrm>
          <a:prstGeom prst="rect">
            <a:avLst/>
          </a:prstGeom>
          <a:noFill/>
          <a:ln/>
        </p:spPr>
        <p:txBody>
          <a:bodyPr wrap="square" lIns="0" tIns="0" rIns="0" bIns="0" rtlCol="0" anchor="ctr"/>
          <a:lstStyle/>
          <a:p>
            <a:pPr indent="0" marL="0">
              <a:buNone/>
            </a:pPr>
            <a:r>
              <a:rPr lang="en-US" sz="850" dirty="0">
                <a:solidFill>
                  <a:srgbClr val="5E6B85"/>
                </a:solidFill>
                <a:latin typeface="Courier New" pitchFamily="34" charset="0"/>
                <a:ea typeface="Courier New" pitchFamily="34" charset="-122"/>
                <a:cs typeface="Courier New" pitchFamily="34" charset="-120"/>
              </a:rPr>
              <a:t>SOURCES  [1] Semtech SX1276 datasheet, SNR limit per spreading factor   [2] Semtech AN1200.22, LoRa modulation and airtime   [3] Meshtastic docs, LoRa config and duty limit   [4] ITU-R M.1371, AIS reporting intervals   (full citations in the notes)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INTEGRATION, ONE DEVICE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11/14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INTEGRATION: THE HALVES ARE JOINED</a:t>
            </a:r>
            <a:endParaRPr lang="en-US" sz="2300" dirty="0"/>
          </a:p>
        </p:txBody>
      </p:sp>
      <p:sp>
        <p:nvSpPr>
          <p:cNvPr id="10" name="Shape 8"/>
          <p:cNvSpPr/>
          <p:nvPr/>
        </p:nvSpPr>
        <p:spPr>
          <a:xfrm>
            <a:off x="457200" y="1097280"/>
            <a:ext cx="5120640" cy="804672"/>
          </a:xfrm>
          <a:prstGeom prst="rect">
            <a:avLst/>
          </a:prstGeom>
          <a:solidFill>
            <a:srgbClr val="F2F5FA"/>
          </a:solidFill>
          <a:ln w="15875">
            <a:solidFill>
              <a:srgbClr val="D9488C"/>
            </a:solidFill>
            <a:prstDash val="solid"/>
          </a:ln>
        </p:spPr>
      </p:sp>
      <p:sp>
        <p:nvSpPr>
          <p:cNvPr id="11" name="Text 9"/>
          <p:cNvSpPr txBox="1"/>
          <p:nvPr/>
        </p:nvSpPr>
        <p:spPr>
          <a:xfrm>
            <a:off x="594360" y="1152144"/>
            <a:ext cx="3291840" cy="713232"/>
          </a:xfrm>
          <a:prstGeom prst="rect">
            <a:avLst/>
          </a:prstGeom>
          <a:noFill/>
          <a:ln/>
        </p:spPr>
        <p:txBody>
          <a:bodyPr wrap="square" lIns="0" tIns="0" rIns="0" bIns="0" rtlCol="0" anchor="ctr"/>
          <a:lstStyle/>
          <a:p>
            <a:pPr indent="0" marL="0">
              <a:buNone/>
            </a:pPr>
            <a:r>
              <a:rPr lang="en-US" sz="1100" b="1" dirty="0">
                <a:solidFill>
                  <a:srgbClr val="16213D"/>
                </a:solidFill>
                <a:latin typeface="Arial" pitchFamily="34" charset="0"/>
                <a:ea typeface="Arial" pitchFamily="34" charset="-122"/>
                <a:cs typeface="Arial" pitchFamily="34" charset="-120"/>
              </a:rPr>
              <a:t>GPS to radio</a:t>
            </a:r>
            <a:endParaRPr lang="en-US" sz="1100" dirty="0"/>
          </a:p>
          <a:p>
            <a:pPr indent="0" marL="0">
              <a:buNone/>
            </a:pPr>
            <a:r>
              <a:rPr lang="en-US" sz="900" dirty="0">
                <a:solidFill>
                  <a:srgbClr val="5E6B85"/>
                </a:solidFill>
                <a:latin typeface="Arial" pitchFamily="34" charset="0"/>
                <a:ea typeface="Arial" pitchFamily="34" charset="-122"/>
                <a:cs typeface="Arial" pitchFamily="34" charset="-120"/>
              </a:rPr>
              <a:t>satellites acquired, fixes flowing over UART</a:t>
            </a:r>
            <a:endParaRPr lang="en-US" sz="1100" dirty="0"/>
          </a:p>
        </p:txBody>
      </p:sp>
      <p:sp>
        <p:nvSpPr>
          <p:cNvPr id="12" name="Text 10"/>
          <p:cNvSpPr txBox="1"/>
          <p:nvPr/>
        </p:nvSpPr>
        <p:spPr>
          <a:xfrm>
            <a:off x="3977640" y="1170432"/>
            <a:ext cx="777240" cy="274320"/>
          </a:xfrm>
          <a:prstGeom prst="rect">
            <a:avLst/>
          </a:prstGeom>
          <a:noFill/>
          <a:ln/>
        </p:spPr>
        <p:txBody>
          <a:bodyPr wrap="square" lIns="0" tIns="0" rIns="0" bIns="0" rtlCol="0" anchor="ctr"/>
          <a:lstStyle/>
          <a:p>
            <a:pPr algn="ctr" indent="0" marL="0">
              <a:buNone/>
            </a:pPr>
            <a:r>
              <a:rPr lang="en-US" sz="900" b="1" dirty="0">
                <a:solidFill>
                  <a:srgbClr val="1F9D68"/>
                </a:solidFill>
                <a:latin typeface="Courier New" pitchFamily="34" charset="0"/>
                <a:ea typeface="Courier New" pitchFamily="34" charset="-122"/>
                <a:cs typeface="Courier New" pitchFamily="34" charset="-120"/>
              </a:rPr>
              <a:t>PROVEN</a:t>
            </a:r>
            <a:endParaRPr lang="en-US" sz="900" dirty="0"/>
          </a:p>
        </p:txBody>
      </p:sp>
      <p:sp>
        <p:nvSpPr>
          <p:cNvPr id="13" name="Text 11"/>
          <p:cNvSpPr txBox="1"/>
          <p:nvPr/>
        </p:nvSpPr>
        <p:spPr>
          <a:xfrm>
            <a:off x="3950208" y="1463040"/>
            <a:ext cx="1572768" cy="384048"/>
          </a:xfrm>
          <a:prstGeom prst="rect">
            <a:avLst/>
          </a:prstGeom>
          <a:noFill/>
          <a:ln/>
        </p:spPr>
        <p:txBody>
          <a:bodyPr wrap="square" lIns="0" tIns="0" rIns="0" bIns="0" rtlCol="0" anchor="ctr"/>
          <a:lstStyle/>
          <a:p>
            <a:pPr indent="0" marL="0">
              <a:buNone/>
            </a:pPr>
            <a:r>
              <a:rPr lang="en-US" sz="750" dirty="0">
                <a:solidFill>
                  <a:srgbClr val="5E6B85"/>
                </a:solidFill>
                <a:latin typeface="Courier New" pitchFamily="34" charset="0"/>
                <a:ea typeface="Courier New" pitchFamily="34" charset="-122"/>
                <a:cs typeface="Courier New" pitchFamily="34" charset="-120"/>
              </a:rPr>
              <a:t>"own GPS: locked"</a:t>
            </a:r>
            <a:endParaRPr lang="en-US" sz="750" dirty="0"/>
          </a:p>
        </p:txBody>
      </p:sp>
      <p:sp>
        <p:nvSpPr>
          <p:cNvPr id="14" name="Shape 12"/>
          <p:cNvSpPr/>
          <p:nvPr/>
        </p:nvSpPr>
        <p:spPr>
          <a:xfrm>
            <a:off x="1005840" y="1901952"/>
            <a:ext cx="0" cy="164592"/>
          </a:xfrm>
          <a:prstGeom prst="line">
            <a:avLst/>
          </a:prstGeom>
          <a:noFill/>
          <a:ln w="28575">
            <a:solidFill>
              <a:srgbClr val="D9488C"/>
            </a:solidFill>
            <a:prstDash val="solid"/>
            <a:tailEnd type="triangle"/>
          </a:ln>
        </p:spPr>
      </p:sp>
      <p:sp>
        <p:nvSpPr>
          <p:cNvPr id="15" name="Shape 13"/>
          <p:cNvSpPr/>
          <p:nvPr/>
        </p:nvSpPr>
        <p:spPr>
          <a:xfrm>
            <a:off x="457200" y="2066544"/>
            <a:ext cx="5120640" cy="804672"/>
          </a:xfrm>
          <a:prstGeom prst="rect">
            <a:avLst/>
          </a:prstGeom>
          <a:solidFill>
            <a:srgbClr val="F2F5FA"/>
          </a:solidFill>
          <a:ln w="15875">
            <a:solidFill>
              <a:srgbClr val="D9488C"/>
            </a:solidFill>
            <a:prstDash val="solid"/>
          </a:ln>
        </p:spPr>
      </p:sp>
      <p:sp>
        <p:nvSpPr>
          <p:cNvPr id="16" name="Text 14"/>
          <p:cNvSpPr txBox="1"/>
          <p:nvPr/>
        </p:nvSpPr>
        <p:spPr>
          <a:xfrm>
            <a:off x="594360" y="2121408"/>
            <a:ext cx="3291840" cy="713232"/>
          </a:xfrm>
          <a:prstGeom prst="rect">
            <a:avLst/>
          </a:prstGeom>
          <a:noFill/>
          <a:ln/>
        </p:spPr>
        <p:txBody>
          <a:bodyPr wrap="square" lIns="0" tIns="0" rIns="0" bIns="0" rtlCol="0" anchor="ctr"/>
          <a:lstStyle/>
          <a:p>
            <a:pPr indent="0" marL="0">
              <a:buNone/>
            </a:pPr>
            <a:r>
              <a:rPr lang="en-US" sz="1100" b="1" dirty="0">
                <a:solidFill>
                  <a:srgbClr val="16213D"/>
                </a:solidFill>
                <a:latin typeface="Arial" pitchFamily="34" charset="0"/>
                <a:ea typeface="Arial" pitchFamily="34" charset="-122"/>
                <a:cs typeface="Arial" pitchFamily="34" charset="-120"/>
              </a:rPr>
              <a:t>Radio to display</a:t>
            </a:r>
            <a:endParaRPr lang="en-US" sz="1100" dirty="0"/>
          </a:p>
          <a:p>
            <a:pPr indent="0" marL="0">
              <a:buNone/>
            </a:pPr>
            <a:r>
              <a:rPr lang="en-US" sz="900" dirty="0">
                <a:solidFill>
                  <a:srgbClr val="5E6B85"/>
                </a:solidFill>
                <a:latin typeface="Arial" pitchFamily="34" charset="0"/>
                <a:ea typeface="Arial" pitchFamily="34" charset="-122"/>
                <a:cs typeface="Arial" pitchFamily="34" charset="-120"/>
              </a:rPr>
              <a:t>BLE GATT link, automatic reconnect</a:t>
            </a:r>
            <a:endParaRPr lang="en-US" sz="1100" dirty="0"/>
          </a:p>
        </p:txBody>
      </p:sp>
      <p:sp>
        <p:nvSpPr>
          <p:cNvPr id="17" name="Text 15"/>
          <p:cNvSpPr txBox="1"/>
          <p:nvPr/>
        </p:nvSpPr>
        <p:spPr>
          <a:xfrm>
            <a:off x="3977640" y="2139696"/>
            <a:ext cx="777240" cy="274320"/>
          </a:xfrm>
          <a:prstGeom prst="rect">
            <a:avLst/>
          </a:prstGeom>
          <a:noFill/>
          <a:ln/>
        </p:spPr>
        <p:txBody>
          <a:bodyPr wrap="square" lIns="0" tIns="0" rIns="0" bIns="0" rtlCol="0" anchor="ctr"/>
          <a:lstStyle/>
          <a:p>
            <a:pPr algn="ctr" indent="0" marL="0">
              <a:buNone/>
            </a:pPr>
            <a:r>
              <a:rPr lang="en-US" sz="900" b="1" dirty="0">
                <a:solidFill>
                  <a:srgbClr val="1F9D68"/>
                </a:solidFill>
                <a:latin typeface="Courier New" pitchFamily="34" charset="0"/>
                <a:ea typeface="Courier New" pitchFamily="34" charset="-122"/>
                <a:cs typeface="Courier New" pitchFamily="34" charset="-120"/>
              </a:rPr>
              <a:t>PROVEN</a:t>
            </a:r>
            <a:endParaRPr lang="en-US" sz="900" dirty="0"/>
          </a:p>
        </p:txBody>
      </p:sp>
      <p:sp>
        <p:nvSpPr>
          <p:cNvPr id="18" name="Text 16"/>
          <p:cNvSpPr txBox="1"/>
          <p:nvPr/>
        </p:nvSpPr>
        <p:spPr>
          <a:xfrm>
            <a:off x="3950208" y="2432304"/>
            <a:ext cx="1572768" cy="384048"/>
          </a:xfrm>
          <a:prstGeom prst="rect">
            <a:avLst/>
          </a:prstGeom>
          <a:noFill/>
          <a:ln/>
        </p:spPr>
        <p:txBody>
          <a:bodyPr wrap="square" lIns="0" tIns="0" rIns="0" bIns="0" rtlCol="0" anchor="ctr"/>
          <a:lstStyle/>
          <a:p>
            <a:pPr indent="0" marL="0">
              <a:buNone/>
            </a:pPr>
            <a:r>
              <a:rPr lang="en-US" sz="750" dirty="0">
                <a:solidFill>
                  <a:srgbClr val="5E6B85"/>
                </a:solidFill>
                <a:latin typeface="Courier New" pitchFamily="34" charset="0"/>
                <a:ea typeface="Courier New" pitchFamily="34" charset="-122"/>
                <a:cs typeface="Courier New" pitchFamily="34" charset="-120"/>
              </a:rPr>
              <a:t>"radio link: connected"</a:t>
            </a:r>
            <a:endParaRPr lang="en-US" sz="750" dirty="0"/>
          </a:p>
        </p:txBody>
      </p:sp>
      <p:sp>
        <p:nvSpPr>
          <p:cNvPr id="19" name="Shape 17"/>
          <p:cNvSpPr/>
          <p:nvPr/>
        </p:nvSpPr>
        <p:spPr>
          <a:xfrm>
            <a:off x="1005840" y="2871216"/>
            <a:ext cx="0" cy="164592"/>
          </a:xfrm>
          <a:prstGeom prst="line">
            <a:avLst/>
          </a:prstGeom>
          <a:noFill/>
          <a:ln w="28575">
            <a:solidFill>
              <a:srgbClr val="D9488C"/>
            </a:solidFill>
            <a:prstDash val="solid"/>
            <a:tailEnd type="triangle"/>
          </a:ln>
        </p:spPr>
      </p:sp>
      <p:sp>
        <p:nvSpPr>
          <p:cNvPr id="20" name="Shape 18"/>
          <p:cNvSpPr/>
          <p:nvPr/>
        </p:nvSpPr>
        <p:spPr>
          <a:xfrm>
            <a:off x="457200" y="3035808"/>
            <a:ext cx="5120640" cy="804672"/>
          </a:xfrm>
          <a:prstGeom prst="rect">
            <a:avLst/>
          </a:prstGeom>
          <a:solidFill>
            <a:srgbClr val="F2F5FA"/>
          </a:solidFill>
          <a:ln w="15875">
            <a:solidFill>
              <a:srgbClr val="D9488C"/>
            </a:solidFill>
            <a:prstDash val="solid"/>
          </a:ln>
        </p:spPr>
      </p:sp>
      <p:sp>
        <p:nvSpPr>
          <p:cNvPr id="21" name="Text 19"/>
          <p:cNvSpPr txBox="1"/>
          <p:nvPr/>
        </p:nvSpPr>
        <p:spPr>
          <a:xfrm>
            <a:off x="594360" y="3090672"/>
            <a:ext cx="3291840" cy="713232"/>
          </a:xfrm>
          <a:prstGeom prst="rect">
            <a:avLst/>
          </a:prstGeom>
          <a:noFill/>
          <a:ln/>
        </p:spPr>
        <p:txBody>
          <a:bodyPr wrap="square" lIns="0" tIns="0" rIns="0" bIns="0" rtlCol="0" anchor="ctr"/>
          <a:lstStyle/>
          <a:p>
            <a:pPr indent="0" marL="0">
              <a:buNone/>
            </a:pPr>
            <a:r>
              <a:rPr lang="en-US" sz="1100" b="1" dirty="0">
                <a:solidFill>
                  <a:srgbClr val="16213D"/>
                </a:solidFill>
                <a:latin typeface="Arial" pitchFamily="34" charset="0"/>
                <a:ea typeface="Arial" pitchFamily="34" charset="-122"/>
                <a:cs typeface="Arial" pitchFamily="34" charset="-120"/>
              </a:rPr>
              <a:t>Decode to TrackerState</a:t>
            </a:r>
            <a:endParaRPr lang="en-US" sz="1100" dirty="0"/>
          </a:p>
          <a:p>
            <a:pPr indent="0" marL="0">
              <a:buNone/>
            </a:pPr>
            <a:r>
              <a:rPr lang="en-US" sz="900" dirty="0">
                <a:solidFill>
                  <a:srgbClr val="5E6B85"/>
                </a:solidFill>
                <a:latin typeface="Arial" pitchFamily="34" charset="0"/>
                <a:ea typeface="Arial" pitchFamily="34" charset="-122"/>
                <a:cs typeface="Arial" pitchFamily="34" charset="-120"/>
              </a:rPr>
              <a:t>protobuf frames become live coordinates</a:t>
            </a:r>
            <a:endParaRPr lang="en-US" sz="1100" dirty="0"/>
          </a:p>
        </p:txBody>
      </p:sp>
      <p:sp>
        <p:nvSpPr>
          <p:cNvPr id="22" name="Text 20"/>
          <p:cNvSpPr txBox="1"/>
          <p:nvPr/>
        </p:nvSpPr>
        <p:spPr>
          <a:xfrm>
            <a:off x="3977640" y="3108960"/>
            <a:ext cx="777240" cy="274320"/>
          </a:xfrm>
          <a:prstGeom prst="rect">
            <a:avLst/>
          </a:prstGeom>
          <a:noFill/>
          <a:ln/>
        </p:spPr>
        <p:txBody>
          <a:bodyPr wrap="square" lIns="0" tIns="0" rIns="0" bIns="0" rtlCol="0" anchor="ctr"/>
          <a:lstStyle/>
          <a:p>
            <a:pPr algn="ctr" indent="0" marL="0">
              <a:buNone/>
            </a:pPr>
            <a:r>
              <a:rPr lang="en-US" sz="900" b="1" dirty="0">
                <a:solidFill>
                  <a:srgbClr val="1F9D68"/>
                </a:solidFill>
                <a:latin typeface="Courier New" pitchFamily="34" charset="0"/>
                <a:ea typeface="Courier New" pitchFamily="34" charset="-122"/>
                <a:cs typeface="Courier New" pitchFamily="34" charset="-120"/>
              </a:rPr>
              <a:t>PROVEN</a:t>
            </a:r>
            <a:endParaRPr lang="en-US" sz="900" dirty="0"/>
          </a:p>
        </p:txBody>
      </p:sp>
      <p:sp>
        <p:nvSpPr>
          <p:cNvPr id="23" name="Text 21"/>
          <p:cNvSpPr txBox="1"/>
          <p:nvPr/>
        </p:nvSpPr>
        <p:spPr>
          <a:xfrm>
            <a:off x="3950208" y="3401568"/>
            <a:ext cx="1572768" cy="384048"/>
          </a:xfrm>
          <a:prstGeom prst="rect">
            <a:avLst/>
          </a:prstGeom>
          <a:noFill/>
          <a:ln/>
        </p:spPr>
        <p:txBody>
          <a:bodyPr wrap="square" lIns="0" tIns="0" rIns="0" bIns="0" rtlCol="0" anchor="ctr"/>
          <a:lstStyle/>
          <a:p>
            <a:pPr indent="0" marL="0">
              <a:buNone/>
            </a:pPr>
            <a:r>
              <a:rPr lang="en-US" sz="750" dirty="0">
                <a:solidFill>
                  <a:srgbClr val="5E6B85"/>
                </a:solidFill>
                <a:latin typeface="Courier New" pitchFamily="34" charset="0"/>
                <a:ea typeface="Courier New" pitchFamily="34" charset="-122"/>
                <a:cs typeface="Courier New" pitchFamily="34" charset="-120"/>
              </a:rPr>
              <a:t>"ME 33.60719 -101.89643"</a:t>
            </a:r>
            <a:endParaRPr lang="en-US" sz="750" dirty="0"/>
          </a:p>
        </p:txBody>
      </p:sp>
      <p:sp>
        <p:nvSpPr>
          <p:cNvPr id="24" name="Shape 22"/>
          <p:cNvSpPr/>
          <p:nvPr/>
        </p:nvSpPr>
        <p:spPr>
          <a:xfrm>
            <a:off x="1005840" y="3840480"/>
            <a:ext cx="0" cy="164592"/>
          </a:xfrm>
          <a:prstGeom prst="line">
            <a:avLst/>
          </a:prstGeom>
          <a:noFill/>
          <a:ln w="28575">
            <a:solidFill>
              <a:srgbClr val="D9488C"/>
            </a:solidFill>
            <a:prstDash val="solid"/>
            <a:tailEnd type="triangle"/>
          </a:ln>
        </p:spPr>
      </p:sp>
      <p:sp>
        <p:nvSpPr>
          <p:cNvPr id="25" name="Shape 23"/>
          <p:cNvSpPr/>
          <p:nvPr/>
        </p:nvSpPr>
        <p:spPr>
          <a:xfrm>
            <a:off x="457200" y="4005072"/>
            <a:ext cx="5120640" cy="804672"/>
          </a:xfrm>
          <a:prstGeom prst="rect">
            <a:avLst/>
          </a:prstGeom>
          <a:solidFill>
            <a:srgbClr val="F2F5FA"/>
          </a:solidFill>
          <a:ln w="15875">
            <a:solidFill>
              <a:srgbClr val="D9488C"/>
            </a:solidFill>
            <a:prstDash val="solid"/>
          </a:ln>
        </p:spPr>
      </p:sp>
      <p:sp>
        <p:nvSpPr>
          <p:cNvPr id="26" name="Text 24"/>
          <p:cNvSpPr txBox="1"/>
          <p:nvPr/>
        </p:nvSpPr>
        <p:spPr>
          <a:xfrm>
            <a:off x="594360" y="4059936"/>
            <a:ext cx="3291840" cy="713232"/>
          </a:xfrm>
          <a:prstGeom prst="rect">
            <a:avLst/>
          </a:prstGeom>
          <a:noFill/>
          <a:ln/>
        </p:spPr>
        <p:txBody>
          <a:bodyPr wrap="square" lIns="0" tIns="0" rIns="0" bIns="0" rtlCol="0" anchor="ctr"/>
          <a:lstStyle/>
          <a:p>
            <a:pPr indent="0" marL="0">
              <a:buNone/>
            </a:pPr>
            <a:r>
              <a:rPr lang="en-US" sz="1100" b="1" dirty="0">
                <a:solidFill>
                  <a:srgbClr val="16213D"/>
                </a:solidFill>
                <a:latin typeface="Arial" pitchFamily="34" charset="0"/>
                <a:ea typeface="Arial" pitchFamily="34" charset="-122"/>
                <a:cs typeface="Arial" pitchFamily="34" charset="-120"/>
              </a:rPr>
              <a:t>Navigation and UI</a:t>
            </a:r>
            <a:endParaRPr lang="en-US" sz="1100" dirty="0"/>
          </a:p>
          <a:p>
            <a:pPr indent="0" marL="0">
              <a:buNone/>
            </a:pPr>
            <a:r>
              <a:rPr lang="en-US" sz="900" dirty="0">
                <a:solidFill>
                  <a:srgbClr val="5E6B85"/>
                </a:solidFill>
                <a:latin typeface="Arial" pitchFamily="34" charset="0"/>
                <a:ea typeface="Arial" pitchFamily="34" charset="-122"/>
                <a:cs typeface="Arial" pitchFamily="34" charset="-120"/>
              </a:rPr>
              <a:t>state-driven pages, honest ages, local clock</a:t>
            </a:r>
            <a:endParaRPr lang="en-US" sz="1100" dirty="0"/>
          </a:p>
        </p:txBody>
      </p:sp>
      <p:sp>
        <p:nvSpPr>
          <p:cNvPr id="27" name="Text 25"/>
          <p:cNvSpPr txBox="1"/>
          <p:nvPr/>
        </p:nvSpPr>
        <p:spPr>
          <a:xfrm>
            <a:off x="3977640" y="4078224"/>
            <a:ext cx="777240" cy="274320"/>
          </a:xfrm>
          <a:prstGeom prst="rect">
            <a:avLst/>
          </a:prstGeom>
          <a:noFill/>
          <a:ln/>
        </p:spPr>
        <p:txBody>
          <a:bodyPr wrap="square" lIns="0" tIns="0" rIns="0" bIns="0" rtlCol="0" anchor="ctr"/>
          <a:lstStyle/>
          <a:p>
            <a:pPr algn="ctr" indent="0" marL="0">
              <a:buNone/>
            </a:pPr>
            <a:r>
              <a:rPr lang="en-US" sz="900" b="1" dirty="0">
                <a:solidFill>
                  <a:srgbClr val="1F9D68"/>
                </a:solidFill>
                <a:latin typeface="Courier New" pitchFamily="34" charset="0"/>
                <a:ea typeface="Courier New" pitchFamily="34" charset="-122"/>
                <a:cs typeface="Courier New" pitchFamily="34" charset="-120"/>
              </a:rPr>
              <a:t>PROVEN</a:t>
            </a:r>
            <a:endParaRPr lang="en-US" sz="900" dirty="0"/>
          </a:p>
        </p:txBody>
      </p:sp>
      <p:sp>
        <p:nvSpPr>
          <p:cNvPr id="28" name="Text 26"/>
          <p:cNvSpPr txBox="1"/>
          <p:nvPr/>
        </p:nvSpPr>
        <p:spPr>
          <a:xfrm>
            <a:off x="3950208" y="4370832"/>
            <a:ext cx="1572768" cy="384048"/>
          </a:xfrm>
          <a:prstGeom prst="rect">
            <a:avLst/>
          </a:prstGeom>
          <a:noFill/>
          <a:ln/>
        </p:spPr>
        <p:txBody>
          <a:bodyPr wrap="square" lIns="0" tIns="0" rIns="0" bIns="0" rtlCol="0" anchor="ctr"/>
          <a:lstStyle/>
          <a:p>
            <a:pPr indent="0" marL="0">
              <a:buNone/>
            </a:pPr>
            <a:r>
              <a:rPr lang="en-US" sz="750" dirty="0">
                <a:solidFill>
                  <a:srgbClr val="5E6B85"/>
                </a:solidFill>
                <a:latin typeface="Courier New" pitchFamily="34" charset="0"/>
                <a:ea typeface="Courier New" pitchFamily="34" charset="-122"/>
                <a:cs typeface="Courier New" pitchFamily="34" charset="-120"/>
              </a:rPr>
              <a:t>"6:59a CDT, age 55 s"</a:t>
            </a:r>
            <a:endParaRPr lang="en-US" sz="750" dirty="0"/>
          </a:p>
        </p:txBody>
      </p:sp>
      <p:sp>
        <p:nvSpPr>
          <p:cNvPr id="29" name="Shape 27"/>
          <p:cNvSpPr/>
          <p:nvPr/>
        </p:nvSpPr>
        <p:spPr>
          <a:xfrm>
            <a:off x="1005840" y="4809744"/>
            <a:ext cx="0" cy="164592"/>
          </a:xfrm>
          <a:prstGeom prst="line">
            <a:avLst/>
          </a:prstGeom>
          <a:noFill/>
          <a:ln w="28575">
            <a:solidFill>
              <a:srgbClr val="D9488C"/>
            </a:solidFill>
            <a:prstDash val="solid"/>
            <a:tailEnd type="triangle"/>
          </a:ln>
        </p:spPr>
      </p:sp>
      <p:sp>
        <p:nvSpPr>
          <p:cNvPr id="30" name="Shape 28"/>
          <p:cNvSpPr/>
          <p:nvPr/>
        </p:nvSpPr>
        <p:spPr>
          <a:xfrm>
            <a:off x="457200" y="4974336"/>
            <a:ext cx="5120640" cy="804672"/>
          </a:xfrm>
          <a:prstGeom prst="rect">
            <a:avLst/>
          </a:prstGeom>
          <a:solidFill>
            <a:srgbClr val="FFFFFF"/>
          </a:solidFill>
          <a:ln w="15875">
            <a:solidFill>
              <a:srgbClr val="E58E1A"/>
            </a:solidFill>
            <a:prstDash val="dash"/>
          </a:ln>
        </p:spPr>
      </p:sp>
      <p:sp>
        <p:nvSpPr>
          <p:cNvPr id="31" name="Text 29"/>
          <p:cNvSpPr txBox="1"/>
          <p:nvPr/>
        </p:nvSpPr>
        <p:spPr>
          <a:xfrm>
            <a:off x="594360" y="5029200"/>
            <a:ext cx="3291840" cy="713232"/>
          </a:xfrm>
          <a:prstGeom prst="rect">
            <a:avLst/>
          </a:prstGeom>
          <a:noFill/>
          <a:ln/>
        </p:spPr>
        <p:txBody>
          <a:bodyPr wrap="square" lIns="0" tIns="0" rIns="0" bIns="0" rtlCol="0" anchor="ctr"/>
          <a:lstStyle/>
          <a:p>
            <a:pPr indent="0" marL="0">
              <a:buNone/>
            </a:pPr>
            <a:r>
              <a:rPr lang="en-US" sz="1100" b="1" dirty="0">
                <a:solidFill>
                  <a:srgbClr val="16213D"/>
                </a:solidFill>
                <a:latin typeface="Arial" pitchFamily="34" charset="0"/>
                <a:ea typeface="Arial" pitchFamily="34" charset="-122"/>
                <a:cs typeface="Arial" pitchFamily="34" charset="-120"/>
              </a:rPr>
              <a:t>Partner over LoRa</a:t>
            </a:r>
            <a:endParaRPr lang="en-US" sz="1100" dirty="0"/>
          </a:p>
          <a:p>
            <a:pPr indent="0" marL="0">
              <a:buNone/>
            </a:pPr>
            <a:r>
              <a:rPr lang="en-US" sz="900" dirty="0">
                <a:solidFill>
                  <a:srgbClr val="5E6B85"/>
                </a:solidFill>
                <a:latin typeface="Arial" pitchFamily="34" charset="0"/>
                <a:ea typeface="Arial" pitchFamily="34" charset="-122"/>
                <a:cs typeface="Arial" pitchFamily="34" charset="-120"/>
              </a:rPr>
              <a:t>second radio joins the encrypted channel</a:t>
            </a:r>
            <a:endParaRPr lang="en-US" sz="1100" dirty="0"/>
          </a:p>
        </p:txBody>
      </p:sp>
      <p:sp>
        <p:nvSpPr>
          <p:cNvPr id="32" name="Text 30"/>
          <p:cNvSpPr txBox="1"/>
          <p:nvPr/>
        </p:nvSpPr>
        <p:spPr>
          <a:xfrm>
            <a:off x="3977640" y="5047488"/>
            <a:ext cx="777240" cy="274320"/>
          </a:xfrm>
          <a:prstGeom prst="rect">
            <a:avLst/>
          </a:prstGeom>
          <a:noFill/>
          <a:ln/>
        </p:spPr>
        <p:txBody>
          <a:bodyPr wrap="square" lIns="0" tIns="0" rIns="0" bIns="0" rtlCol="0" anchor="ctr"/>
          <a:lstStyle/>
          <a:p>
            <a:pPr algn="ctr" indent="0" marL="0">
              <a:buNone/>
            </a:pPr>
            <a:r>
              <a:rPr lang="en-US" sz="900" b="1" dirty="0">
                <a:solidFill>
                  <a:srgbClr val="B06207"/>
                </a:solidFill>
                <a:latin typeface="Courier New" pitchFamily="34" charset="0"/>
                <a:ea typeface="Courier New" pitchFamily="34" charset="-122"/>
                <a:cs typeface="Courier New" pitchFamily="34" charset="-120"/>
              </a:rPr>
              <a:t>NEXT</a:t>
            </a:r>
            <a:endParaRPr lang="en-US" sz="900" dirty="0"/>
          </a:p>
        </p:txBody>
      </p:sp>
      <p:sp>
        <p:nvSpPr>
          <p:cNvPr id="33" name="Text 31"/>
          <p:cNvSpPr txBox="1"/>
          <p:nvPr/>
        </p:nvSpPr>
        <p:spPr>
          <a:xfrm>
            <a:off x="3950208" y="5340096"/>
            <a:ext cx="1572768" cy="384048"/>
          </a:xfrm>
          <a:prstGeom prst="rect">
            <a:avLst/>
          </a:prstGeom>
          <a:noFill/>
          <a:ln/>
        </p:spPr>
        <p:txBody>
          <a:bodyPr wrap="square" lIns="0" tIns="0" rIns="0" bIns="0" rtlCol="0" anchor="ctr"/>
          <a:lstStyle/>
          <a:p>
            <a:pPr indent="0" marL="0">
              <a:buNone/>
            </a:pPr>
            <a:r>
              <a:rPr lang="en-US" sz="750" dirty="0">
                <a:solidFill>
                  <a:srgbClr val="5E6B85"/>
                </a:solidFill>
                <a:latin typeface="Courier New" pitchFamily="34" charset="0"/>
                <a:ea typeface="Courier New" pitchFamily="34" charset="-122"/>
                <a:cs typeface="Courier New" pitchFamily="34" charset="-120"/>
              </a:rPr>
              <a:t>"PTR no partner heard yet"</a:t>
            </a:r>
            <a:endParaRPr lang="en-US" sz="750" dirty="0"/>
          </a:p>
        </p:txBody>
      </p:sp>
      <p:pic>
        <p:nvPicPr>
          <p:cNvPr id="34" name="Image 0" descr="C:/Users/deogr/AppData/Local/Temp/claude/C--Users-deogr-Documents-Fall-Project-Off-Grid-Vehicle-dection-project/e8b2e8fa-1513-4aa8-a8f6-ce4fcd20e664/scratchpad/deck3/p_search.jpg">    </p:cNvPr>
          <p:cNvPicPr>
            <a:picLocks noChangeAspect="1"/>
          </p:cNvPicPr>
          <p:nvPr/>
        </p:nvPicPr>
        <p:blipFill>
          <a:blip r:embed="rId1"/>
          <a:stretch>
            <a:fillRect/>
          </a:stretch>
        </p:blipFill>
        <p:spPr>
          <a:xfrm>
            <a:off x="5852160" y="1097280"/>
            <a:ext cx="1783080" cy="1399032"/>
          </a:xfrm>
          <a:prstGeom prst="rect">
            <a:avLst/>
          </a:prstGeom>
        </p:spPr>
      </p:pic>
      <p:sp>
        <p:nvSpPr>
          <p:cNvPr id="35" name="Shape 32"/>
          <p:cNvSpPr/>
          <p:nvPr/>
        </p:nvSpPr>
        <p:spPr>
          <a:xfrm>
            <a:off x="5852160" y="1097280"/>
            <a:ext cx="1783080" cy="1399032"/>
          </a:xfrm>
          <a:prstGeom prst="rect">
            <a:avLst/>
          </a:prstGeom>
          <a:ln w="12700">
            <a:solidFill>
              <a:srgbClr val="9AA7BE"/>
            </a:solidFill>
            <a:prstDash val="solid"/>
          </a:ln>
        </p:spPr>
      </p:sp>
      <p:sp>
        <p:nvSpPr>
          <p:cNvPr id="36" name="Text 33"/>
          <p:cNvSpPr txBox="1"/>
          <p:nvPr/>
        </p:nvSpPr>
        <p:spPr>
          <a:xfrm>
            <a:off x="5852160" y="2523744"/>
            <a:ext cx="178308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Boot: link + GPS proven</a:t>
            </a:r>
            <a:endParaRPr lang="en-US" sz="950" dirty="0"/>
          </a:p>
        </p:txBody>
      </p:sp>
      <p:pic>
        <p:nvPicPr>
          <p:cNvPr id="37" name="Image 1" descr="C:/Users/deogr/AppData/Local/Temp/claude/C--Users-deogr-Documents-Fall-Project-Off-Grid-Vehicle-dection-project/e8b2e8fa-1513-4aa8-a8f6-ce4fcd20e664/scratchpad/deck3/p_overall.jpg">    </p:cNvPr>
          <p:cNvPicPr>
            <a:picLocks noChangeAspect="1"/>
          </p:cNvPicPr>
          <p:nvPr/>
        </p:nvPicPr>
        <p:blipFill>
          <a:blip r:embed="rId2"/>
          <a:stretch>
            <a:fillRect/>
          </a:stretch>
        </p:blipFill>
        <p:spPr>
          <a:xfrm>
            <a:off x="7772400" y="1097280"/>
            <a:ext cx="1920240" cy="1380744"/>
          </a:xfrm>
          <a:prstGeom prst="rect">
            <a:avLst/>
          </a:prstGeom>
        </p:spPr>
      </p:pic>
      <p:sp>
        <p:nvSpPr>
          <p:cNvPr id="38" name="Shape 34"/>
          <p:cNvSpPr/>
          <p:nvPr/>
        </p:nvSpPr>
        <p:spPr>
          <a:xfrm>
            <a:off x="7772400" y="1097280"/>
            <a:ext cx="1920240" cy="1380744"/>
          </a:xfrm>
          <a:prstGeom prst="rect">
            <a:avLst/>
          </a:prstGeom>
          <a:ln w="12700">
            <a:solidFill>
              <a:srgbClr val="9AA7BE"/>
            </a:solidFill>
            <a:prstDash val="solid"/>
          </a:ln>
        </p:spPr>
      </p:sp>
      <p:sp>
        <p:nvSpPr>
          <p:cNvPr id="39" name="Text 35"/>
          <p:cNvSpPr txBox="1"/>
          <p:nvPr/>
        </p:nvSpPr>
        <p:spPr>
          <a:xfrm>
            <a:off x="7772400" y="2505456"/>
            <a:ext cx="192024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ME 33.60719 -101.89643</a:t>
            </a:r>
            <a:endParaRPr lang="en-US" sz="950" dirty="0"/>
          </a:p>
        </p:txBody>
      </p:sp>
      <p:sp>
        <p:nvSpPr>
          <p:cNvPr id="40" name="Shape 36"/>
          <p:cNvSpPr/>
          <p:nvPr/>
        </p:nvSpPr>
        <p:spPr>
          <a:xfrm>
            <a:off x="9829800" y="1097280"/>
            <a:ext cx="1920240" cy="1828800"/>
          </a:xfrm>
          <a:prstGeom prst="rect">
            <a:avLst/>
          </a:prstGeom>
          <a:solidFill>
            <a:srgbClr val="F2F5FA"/>
          </a:solidFill>
          <a:ln w="15875">
            <a:solidFill>
              <a:srgbClr val="1F9D68"/>
            </a:solidFill>
            <a:prstDash val="solid"/>
          </a:ln>
        </p:spPr>
      </p:sp>
      <p:sp>
        <p:nvSpPr>
          <p:cNvPr id="41" name="Text 37"/>
          <p:cNvSpPr txBox="1"/>
          <p:nvPr/>
        </p:nvSpPr>
        <p:spPr>
          <a:xfrm>
            <a:off x="9939528" y="1188720"/>
            <a:ext cx="1737360" cy="457200"/>
          </a:xfrm>
          <a:prstGeom prst="rect">
            <a:avLst/>
          </a:prstGeom>
          <a:noFill/>
          <a:ln/>
        </p:spPr>
        <p:txBody>
          <a:bodyPr wrap="square" lIns="0" tIns="0" rIns="0" bIns="0" rtlCol="0" anchor="ctr"/>
          <a:lstStyle/>
          <a:p>
            <a:pPr indent="0" marL="0">
              <a:buNone/>
            </a:pPr>
            <a:r>
              <a:rPr lang="en-US" sz="1000" b="1" spc="100" kern="0" dirty="0">
                <a:solidFill>
                  <a:srgbClr val="1F9D68"/>
                </a:solidFill>
                <a:latin typeface="Arial" pitchFamily="34" charset="0"/>
                <a:ea typeface="Arial" pitchFamily="34" charset="-122"/>
                <a:cs typeface="Arial" pitchFamily="34" charset="-120"/>
              </a:rPr>
              <a:t>POSITION CROSS-CHECK</a:t>
            </a:r>
            <a:endParaRPr lang="en-US" sz="1000" dirty="0"/>
          </a:p>
        </p:txBody>
      </p:sp>
      <p:sp>
        <p:nvSpPr>
          <p:cNvPr id="42" name="Text 38"/>
          <p:cNvSpPr txBox="1"/>
          <p:nvPr/>
        </p:nvSpPr>
        <p:spPr>
          <a:xfrm>
            <a:off x="9939528" y="1627632"/>
            <a:ext cx="1719072" cy="1261872"/>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Same fix, same radio, two programs sharing no code. Agreement is the accuracy check.</a:t>
            </a:r>
            <a:endParaRPr lang="en-US" sz="950" dirty="0"/>
          </a:p>
        </p:txBody>
      </p:sp>
      <p:sp>
        <p:nvSpPr>
          <p:cNvPr id="43" name="Text 39"/>
          <p:cNvSpPr txBox="1"/>
          <p:nvPr/>
        </p:nvSpPr>
        <p:spPr>
          <a:xfrm>
            <a:off x="5852160" y="2999232"/>
            <a:ext cx="5897880" cy="219456"/>
          </a:xfrm>
          <a:prstGeom prst="rect">
            <a:avLst/>
          </a:prstGeom>
          <a:noFill/>
          <a:ln/>
        </p:spPr>
        <p:txBody>
          <a:bodyPr wrap="square" lIns="0" tIns="0" rIns="0" bIns="0" rtlCol="0" anchor="ctr"/>
          <a:lstStyle/>
          <a:p>
            <a:pPr indent="0" marL="0">
              <a:buNone/>
            </a:pPr>
            <a:r>
              <a:rPr lang="en-US" sz="850" b="1" dirty="0">
                <a:solidFill>
                  <a:srgbClr val="5E6B85"/>
                </a:solidFill>
                <a:latin typeface="Courier New" pitchFamily="34" charset="0"/>
                <a:ea typeface="Courier New" pitchFamily="34" charset="-122"/>
                <a:cs typeface="Courier New" pitchFamily="34" charset="-120"/>
              </a:rPr>
              <a:t>INDEPENDENT CLIENT: MESHTASTIC WEB APP, SAME RADIO, NODE ead4 CONNECTED</a:t>
            </a:r>
            <a:endParaRPr lang="en-US" sz="850" dirty="0"/>
          </a:p>
        </p:txBody>
      </p:sp>
      <p:pic>
        <p:nvPicPr>
          <p:cNvPr id="44" name="Image 2" descr="C:/Users/deogr/AppData/Local/Temp/claude/C--Users-deogr-Documents-Fall-Project-Off-Grid-Vehicle-dection-project/e8b2e8fa-1513-4aa8-a8f6-ce4fcd20e664/scratchpad/deck3/p_map_zoom.png">    </p:cNvPr>
          <p:cNvPicPr>
            <a:picLocks noChangeAspect="1"/>
          </p:cNvPicPr>
          <p:nvPr/>
        </p:nvPicPr>
        <p:blipFill>
          <a:blip r:embed="rId3"/>
          <a:stretch>
            <a:fillRect/>
          </a:stretch>
        </p:blipFill>
        <p:spPr>
          <a:xfrm>
            <a:off x="5852160" y="3255264"/>
            <a:ext cx="3977640" cy="2935224"/>
          </a:xfrm>
          <a:prstGeom prst="rect">
            <a:avLst/>
          </a:prstGeom>
        </p:spPr>
      </p:pic>
      <p:sp>
        <p:nvSpPr>
          <p:cNvPr id="45" name="Shape 40"/>
          <p:cNvSpPr/>
          <p:nvPr/>
        </p:nvSpPr>
        <p:spPr>
          <a:xfrm>
            <a:off x="5852160" y="3255264"/>
            <a:ext cx="3977640" cy="2935224"/>
          </a:xfrm>
          <a:prstGeom prst="rect">
            <a:avLst/>
          </a:prstGeom>
          <a:ln w="12700">
            <a:solidFill>
              <a:srgbClr val="9AA7BE"/>
            </a:solidFill>
            <a:prstDash val="solid"/>
          </a:ln>
        </p:spPr>
      </p:sp>
      <p:sp>
        <p:nvSpPr>
          <p:cNvPr id="46" name="Text 41"/>
          <p:cNvSpPr txBox="1"/>
          <p:nvPr/>
        </p:nvSpPr>
        <p:spPr>
          <a:xfrm>
            <a:off x="10012680" y="3255264"/>
            <a:ext cx="1737360" cy="2935224"/>
          </a:xfrm>
          <a:prstGeom prst="rect">
            <a:avLst/>
          </a:prstGeom>
          <a:noFill/>
          <a:ln/>
        </p:spPr>
        <p:txBody>
          <a:bodyPr wrap="square" lIns="0" tIns="0" rIns="0" bIns="0" rtlCol="0" anchor="ctr"/>
          <a:lstStyle/>
          <a:p>
            <a:pPr indent="0" marL="0">
              <a:buNone/>
            </a:pPr>
            <a:r>
              <a:rPr lang="en-US" sz="1000" dirty="0">
                <a:solidFill>
                  <a:srgbClr val="5E6B85"/>
                </a:solidFill>
                <a:latin typeface="Arial" pitchFamily="34" charset="0"/>
                <a:ea typeface="Arial" pitchFamily="34" charset="-122"/>
                <a:cs typeface="Arial" pitchFamily="34" charset="-120"/>
              </a:rPr>
              <a:t>One device proves four of five layers. The dashed one waits only for radio two.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INTEGRATION CONSTRAINTS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12/14  REV C  2026-09-07</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INTEGRATION CONSTRAINTS: THE LEDGER</a:t>
            </a:r>
            <a:endParaRPr lang="en-US" sz="2300" dirty="0"/>
          </a:p>
        </p:txBody>
      </p:sp>
      <p:pic>
        <p:nvPicPr>
          <p:cNvPr id="10" name="Image 0" descr="C:/Users/deogr/AppData/Local/Temp/claude/C--Users-deogr-Documents-Fall-Project-Off-Grid-Vehicle-dection-project/e8b2e8fa-1513-4aa8-a8f6-ce4fcd20e664/scratchpad/mermaid_png/diag1.png">    </p:cNvPr>
          <p:cNvPicPr>
            <a:picLocks noChangeAspect="1"/>
          </p:cNvPicPr>
          <p:nvPr/>
        </p:nvPicPr>
        <p:blipFill>
          <a:blip r:embed="rId1"/>
          <a:stretch>
            <a:fillRect/>
          </a:stretch>
        </p:blipFill>
        <p:spPr>
          <a:xfrm>
            <a:off x="457200" y="1005840"/>
            <a:ext cx="5669280" cy="1938528"/>
          </a:xfrm>
          <a:prstGeom prst="rect">
            <a:avLst/>
          </a:prstGeom>
        </p:spPr>
      </p:pic>
      <p:sp>
        <p:nvSpPr>
          <p:cNvPr id="11" name="Shape 8"/>
          <p:cNvSpPr/>
          <p:nvPr/>
        </p:nvSpPr>
        <p:spPr>
          <a:xfrm>
            <a:off x="457200" y="1005840"/>
            <a:ext cx="5669280" cy="1938528"/>
          </a:xfrm>
          <a:prstGeom prst="rect">
            <a:avLst/>
          </a:prstGeom>
          <a:ln w="12700">
            <a:solidFill>
              <a:srgbClr val="9AA7BE"/>
            </a:solidFill>
            <a:prstDash val="solid"/>
          </a:ln>
        </p:spPr>
      </p:sp>
      <p:sp>
        <p:nvSpPr>
          <p:cNvPr id="12" name="Text 9"/>
          <p:cNvSpPr txBox="1"/>
          <p:nvPr/>
        </p:nvSpPr>
        <p:spPr>
          <a:xfrm>
            <a:off x="6400800" y="1097280"/>
            <a:ext cx="5257800" cy="77724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Every constraint below was discovered on the bench or on the road, and each one shaped the design. None are theoretical.</a:t>
            </a:r>
            <a:endParaRPr lang="en-US" sz="1250" dirty="0"/>
          </a:p>
        </p:txBody>
      </p:sp>
      <p:sp>
        <p:nvSpPr>
          <p:cNvPr id="13" name="Text 10"/>
          <p:cNvSpPr txBox="1"/>
          <p:nvPr/>
        </p:nvSpPr>
        <p:spPr>
          <a:xfrm>
            <a:off x="6400800" y="1965960"/>
            <a:ext cx="5257800" cy="868680"/>
          </a:xfrm>
          <a:prstGeom prst="rect">
            <a:avLst/>
          </a:prstGeom>
          <a:noFill/>
          <a:ln/>
        </p:spPr>
        <p:txBody>
          <a:bodyPr wrap="square" lIns="0" tIns="0" rIns="0" bIns="0" rtlCol="0" anchor="ctr"/>
          <a:lstStyle/>
          <a:p>
            <a:pPr indent="0" marL="0">
              <a:buNone/>
            </a:pPr>
            <a:r>
              <a:rPr lang="en-US" sz="1200" b="1" dirty="0">
                <a:solidFill>
                  <a:srgbClr val="16213D"/>
                </a:solidFill>
                <a:latin typeface="Courier New" pitchFamily="34" charset="0"/>
                <a:ea typeface="Courier New" pitchFamily="34" charset="-122"/>
                <a:cs typeface="Courier New" pitchFamily="34" charset="-120"/>
              </a:rPr>
              <a:t>TEST SEQUENCE: provision radio 2, bench two-radio decode, two-vehicle drive test, range characterization.</a:t>
            </a:r>
            <a:endParaRPr lang="en-US" sz="1200" dirty="0"/>
          </a:p>
        </p:txBody>
      </p:sp>
      <p:sp>
        <p:nvSpPr>
          <p:cNvPr id="14" name="Shape 11"/>
          <p:cNvSpPr/>
          <p:nvPr/>
        </p:nvSpPr>
        <p:spPr>
          <a:xfrm>
            <a:off x="457200" y="3154680"/>
            <a:ext cx="3657600" cy="1426464"/>
          </a:xfrm>
          <a:prstGeom prst="rect">
            <a:avLst/>
          </a:prstGeom>
          <a:solidFill>
            <a:srgbClr val="F2F5FA"/>
          </a:solidFill>
          <a:ln w="15875">
            <a:solidFill>
              <a:srgbClr val="D9488C"/>
            </a:solidFill>
            <a:prstDash val="solid"/>
          </a:ln>
        </p:spPr>
      </p:sp>
      <p:sp>
        <p:nvSpPr>
          <p:cNvPr id="15" name="Text 12"/>
          <p:cNvSpPr txBox="1"/>
          <p:nvPr/>
        </p:nvSpPr>
        <p:spPr>
          <a:xfrm>
            <a:off x="585216" y="3218688"/>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RADIO / PHY</a:t>
            </a:r>
            <a:endParaRPr lang="en-US" sz="1050" dirty="0"/>
          </a:p>
        </p:txBody>
      </p:sp>
      <p:sp>
        <p:nvSpPr>
          <p:cNvPr id="16" name="Text 13"/>
          <p:cNvSpPr txBox="1"/>
          <p:nvPr/>
        </p:nvSpPr>
        <p:spPr>
          <a:xfrm>
            <a:off x="585216" y="3483864"/>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0.5 s airtime caps cadence at 10 s. Utilization under ~25%. No region, no transmit. Roof antenna is the biggest range factor.</a:t>
            </a:r>
            <a:endParaRPr lang="en-US" sz="950" dirty="0"/>
          </a:p>
        </p:txBody>
      </p:sp>
      <p:sp>
        <p:nvSpPr>
          <p:cNvPr id="17" name="Shape 14"/>
          <p:cNvSpPr/>
          <p:nvPr/>
        </p:nvSpPr>
        <p:spPr>
          <a:xfrm>
            <a:off x="4297680" y="3154680"/>
            <a:ext cx="3657600" cy="1426464"/>
          </a:xfrm>
          <a:prstGeom prst="rect">
            <a:avLst/>
          </a:prstGeom>
          <a:solidFill>
            <a:srgbClr val="F2F5FA"/>
          </a:solidFill>
          <a:ln w="15875">
            <a:solidFill>
              <a:srgbClr val="D9488C"/>
            </a:solidFill>
            <a:prstDash val="solid"/>
          </a:ln>
        </p:spPr>
      </p:sp>
      <p:sp>
        <p:nvSpPr>
          <p:cNvPr id="18" name="Text 15"/>
          <p:cNvSpPr txBox="1"/>
          <p:nvPr/>
        </p:nvSpPr>
        <p:spPr>
          <a:xfrm>
            <a:off x="4425696" y="3218688"/>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GPS</a:t>
            </a:r>
            <a:endParaRPr lang="en-US" sz="1050" dirty="0"/>
          </a:p>
        </p:txBody>
      </p:sp>
      <p:sp>
        <p:nvSpPr>
          <p:cNvPr id="19" name="Text 16"/>
          <p:cNvSpPr txBox="1"/>
          <p:nvPr/>
        </p:nvSpPr>
        <p:spPr>
          <a:xfrm>
            <a:off x="4425696" y="3483864"/>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Needs sky view; cold start takes minutes. Indoor multipath fakes phantom speed (deadbanded). Fix rate must match broadcast rate.</a:t>
            </a:r>
            <a:endParaRPr lang="en-US" sz="950" dirty="0"/>
          </a:p>
        </p:txBody>
      </p:sp>
      <p:sp>
        <p:nvSpPr>
          <p:cNvPr id="20" name="Shape 17"/>
          <p:cNvSpPr/>
          <p:nvPr/>
        </p:nvSpPr>
        <p:spPr>
          <a:xfrm>
            <a:off x="8138160" y="3154680"/>
            <a:ext cx="3657600" cy="1426464"/>
          </a:xfrm>
          <a:prstGeom prst="rect">
            <a:avLst/>
          </a:prstGeom>
          <a:solidFill>
            <a:srgbClr val="F2F5FA"/>
          </a:solidFill>
          <a:ln w="15875">
            <a:solidFill>
              <a:srgbClr val="D9488C"/>
            </a:solidFill>
            <a:prstDash val="solid"/>
          </a:ln>
        </p:spPr>
      </p:sp>
      <p:sp>
        <p:nvSpPr>
          <p:cNvPr id="21" name="Text 18"/>
          <p:cNvSpPr txBox="1"/>
          <p:nvPr/>
        </p:nvSpPr>
        <p:spPr>
          <a:xfrm>
            <a:off x="8266176" y="3218688"/>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BLE LINK</a:t>
            </a:r>
            <a:endParaRPr lang="en-US" sz="1050" dirty="0"/>
          </a:p>
        </p:txBody>
      </p:sp>
      <p:sp>
        <p:nvSpPr>
          <p:cNvPr id="22" name="Text 19"/>
          <p:cNvSpPr txBox="1"/>
          <p:nvPr/>
        </p:nvSpPr>
        <p:spPr>
          <a:xfrm>
            <a:off x="8266176" y="3483864"/>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The radio advertises only at boot: power both units together. One client at a time; a phone or USB session steals the link.</a:t>
            </a:r>
            <a:endParaRPr lang="en-US" sz="950" dirty="0"/>
          </a:p>
        </p:txBody>
      </p:sp>
      <p:sp>
        <p:nvSpPr>
          <p:cNvPr id="23" name="Shape 20"/>
          <p:cNvSpPr/>
          <p:nvPr/>
        </p:nvSpPr>
        <p:spPr>
          <a:xfrm>
            <a:off x="457200" y="4690872"/>
            <a:ext cx="3657600" cy="1426464"/>
          </a:xfrm>
          <a:prstGeom prst="rect">
            <a:avLst/>
          </a:prstGeom>
          <a:solidFill>
            <a:srgbClr val="F2F5FA"/>
          </a:solidFill>
          <a:ln w="15875">
            <a:solidFill>
              <a:srgbClr val="D9488C"/>
            </a:solidFill>
            <a:prstDash val="solid"/>
          </a:ln>
        </p:spPr>
      </p:sp>
      <p:sp>
        <p:nvSpPr>
          <p:cNvPr id="24" name="Text 21"/>
          <p:cNvSpPr txBox="1"/>
          <p:nvPr/>
        </p:nvSpPr>
        <p:spPr>
          <a:xfrm>
            <a:off x="585216" y="4754880"/>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DISPLAY</a:t>
            </a:r>
            <a:endParaRPr lang="en-US" sz="1050" dirty="0"/>
          </a:p>
        </p:txBody>
      </p:sp>
      <p:sp>
        <p:nvSpPr>
          <p:cNvPr id="25" name="Text 22"/>
          <p:cNvSpPr txBox="1"/>
          <p:nvPr/>
        </p:nvSpPr>
        <p:spPr>
          <a:xfrm>
            <a:off x="585216" y="5020056"/>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One-bit reflective panel: no grayscale, needs ambient light at night (edge light planned). 2 Hz redraw budget.</a:t>
            </a:r>
            <a:endParaRPr lang="en-US" sz="950" dirty="0"/>
          </a:p>
        </p:txBody>
      </p:sp>
      <p:sp>
        <p:nvSpPr>
          <p:cNvPr id="26" name="Shape 23"/>
          <p:cNvSpPr/>
          <p:nvPr/>
        </p:nvSpPr>
        <p:spPr>
          <a:xfrm>
            <a:off x="4297680" y="4690872"/>
            <a:ext cx="3657600" cy="1426464"/>
          </a:xfrm>
          <a:prstGeom prst="rect">
            <a:avLst/>
          </a:prstGeom>
          <a:solidFill>
            <a:srgbClr val="F2F5FA"/>
          </a:solidFill>
          <a:ln w="15875">
            <a:solidFill>
              <a:srgbClr val="D9488C"/>
            </a:solidFill>
            <a:prstDash val="solid"/>
          </a:ln>
        </p:spPr>
      </p:sp>
      <p:sp>
        <p:nvSpPr>
          <p:cNvPr id="27" name="Text 24"/>
          <p:cNvSpPr txBox="1"/>
          <p:nvPr/>
        </p:nvSpPr>
        <p:spPr>
          <a:xfrm>
            <a:off x="4425696" y="4754880"/>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POWER</a:t>
            </a:r>
            <a:endParaRPr lang="en-US" sz="1050" dirty="0"/>
          </a:p>
        </p:txBody>
      </p:sp>
      <p:sp>
        <p:nvSpPr>
          <p:cNvPr id="28" name="Text 25"/>
          <p:cNvSpPr txBox="1"/>
          <p:nvPr/>
        </p:nvSpPr>
        <p:spPr>
          <a:xfrm>
            <a:off x="4425696" y="5020056"/>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Cheap 12 V USB adapters cut off on low draw: validate every adapter.</a:t>
            </a:r>
            <a:endParaRPr lang="en-US" sz="950" dirty="0"/>
          </a:p>
        </p:txBody>
      </p:sp>
      <p:sp>
        <p:nvSpPr>
          <p:cNvPr id="29" name="Shape 26"/>
          <p:cNvSpPr/>
          <p:nvPr/>
        </p:nvSpPr>
        <p:spPr>
          <a:xfrm>
            <a:off x="8138160" y="4690872"/>
            <a:ext cx="3657600" cy="1426464"/>
          </a:xfrm>
          <a:prstGeom prst="rect">
            <a:avLst/>
          </a:prstGeom>
          <a:solidFill>
            <a:srgbClr val="F2F5FA"/>
          </a:solidFill>
          <a:ln w="15875">
            <a:solidFill>
              <a:srgbClr val="D9488C"/>
            </a:solidFill>
            <a:prstDash val="solid"/>
          </a:ln>
        </p:spPr>
      </p:sp>
      <p:sp>
        <p:nvSpPr>
          <p:cNvPr id="30" name="Text 27"/>
          <p:cNvSpPr txBox="1"/>
          <p:nvPr/>
        </p:nvSpPr>
        <p:spPr>
          <a:xfrm>
            <a:off x="8266176" y="4754880"/>
            <a:ext cx="3383280" cy="237744"/>
          </a:xfrm>
          <a:prstGeom prst="rect">
            <a:avLst/>
          </a:prstGeom>
          <a:noFill/>
          <a:ln/>
        </p:spPr>
        <p:txBody>
          <a:bodyPr wrap="square" lIns="0" tIns="0" rIns="0" bIns="0" rtlCol="0" anchor="ctr"/>
          <a:lstStyle/>
          <a:p>
            <a:pPr indent="0" marL="0">
              <a:buNone/>
            </a:pPr>
            <a:r>
              <a:rPr lang="en-US" sz="1050" b="1" dirty="0">
                <a:solidFill>
                  <a:srgbClr val="D9488C"/>
                </a:solidFill>
                <a:latin typeface="Courier New" pitchFamily="34" charset="0"/>
                <a:ea typeface="Courier New" pitchFamily="34" charset="-122"/>
                <a:cs typeface="Courier New" pitchFamily="34" charset="-120"/>
              </a:rPr>
              <a:t>PROVISIONING</a:t>
            </a:r>
            <a:endParaRPr lang="en-US" sz="1050" dirty="0"/>
          </a:p>
        </p:txBody>
      </p:sp>
      <p:sp>
        <p:nvSpPr>
          <p:cNvPr id="31" name="Text 28"/>
          <p:cNvSpPr txBox="1"/>
          <p:nvPr/>
        </p:nvSpPr>
        <p:spPr>
          <a:xfrm>
            <a:off x="8266176" y="5020056"/>
            <a:ext cx="3419856" cy="1060704"/>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Channel URL (the AES key) must match on every radio. Node IDs survive reflashes. Read back every write.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STATUS AND NEXT STEPS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13/14  REV C  2026-09-07</a:t>
            </a:r>
            <a:endParaRPr lang="en-US" sz="900" dirty="0"/>
          </a:p>
        </p:txBody>
      </p:sp>
      <p:sp>
        <p:nvSpPr>
          <p:cNvPr id="7" name="Text 5"/>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WEEK 3 STATUS AND WHAT COMES NEXT</a:t>
            </a:r>
            <a:endParaRPr lang="en-US" sz="2300" dirty="0"/>
          </a:p>
        </p:txBody>
      </p:sp>
      <p:sp>
        <p:nvSpPr>
          <p:cNvPr id="8" name="Shape 6"/>
          <p:cNvSpPr/>
          <p:nvPr/>
        </p:nvSpPr>
        <p:spPr>
          <a:xfrm>
            <a:off x="457200" y="1097280"/>
            <a:ext cx="2688336" cy="1371600"/>
          </a:xfrm>
          <a:prstGeom prst="rect">
            <a:avLst/>
          </a:prstGeom>
          <a:solidFill>
            <a:srgbClr val="F2F5FA"/>
          </a:solidFill>
          <a:ln w="9525">
            <a:solidFill>
              <a:srgbClr val="9AA7BE"/>
            </a:solidFill>
            <a:prstDash val="solid"/>
          </a:ln>
        </p:spPr>
      </p:sp>
      <p:sp>
        <p:nvSpPr>
          <p:cNvPr id="9" name="Text 7"/>
          <p:cNvSpPr txBox="1"/>
          <p:nvPr/>
        </p:nvSpPr>
        <p:spPr>
          <a:xfrm>
            <a:off x="640080"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42%</a:t>
            </a:r>
            <a:endParaRPr lang="en-US" sz="2700" dirty="0"/>
          </a:p>
        </p:txBody>
      </p:sp>
      <p:sp>
        <p:nvSpPr>
          <p:cNvPr id="10" name="Text 8"/>
          <p:cNvSpPr txBox="1"/>
          <p:nvPr/>
        </p:nvSpPr>
        <p:spPr>
          <a:xfrm>
            <a:off x="640080"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of tasks complete against a 19% week-three target</a:t>
            </a:r>
            <a:endParaRPr lang="en-US" sz="1050" dirty="0"/>
          </a:p>
        </p:txBody>
      </p:sp>
      <p:sp>
        <p:nvSpPr>
          <p:cNvPr id="11" name="Shape 9"/>
          <p:cNvSpPr/>
          <p:nvPr/>
        </p:nvSpPr>
        <p:spPr>
          <a:xfrm>
            <a:off x="3328416" y="1097280"/>
            <a:ext cx="2688336" cy="1371600"/>
          </a:xfrm>
          <a:prstGeom prst="rect">
            <a:avLst/>
          </a:prstGeom>
          <a:solidFill>
            <a:srgbClr val="F2F5FA"/>
          </a:solidFill>
          <a:ln w="9525">
            <a:solidFill>
              <a:srgbClr val="9AA7BE"/>
            </a:solidFill>
            <a:prstDash val="solid"/>
          </a:ln>
        </p:spPr>
      </p:sp>
      <p:sp>
        <p:nvSpPr>
          <p:cNvPr id="12" name="Text 10"/>
          <p:cNvSpPr txBox="1"/>
          <p:nvPr/>
        </p:nvSpPr>
        <p:spPr>
          <a:xfrm>
            <a:off x="3511296"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78 h</a:t>
            </a:r>
            <a:endParaRPr lang="en-US" sz="2700" dirty="0"/>
          </a:p>
        </p:txBody>
      </p:sp>
      <p:sp>
        <p:nvSpPr>
          <p:cNvPr id="13" name="Text 11"/>
          <p:cNvSpPr txBox="1"/>
          <p:nvPr/>
        </p:nvSpPr>
        <p:spPr>
          <a:xfrm>
            <a:off x="3511296"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logged through week three</a:t>
            </a:r>
            <a:endParaRPr lang="en-US" sz="1050" dirty="0"/>
          </a:p>
        </p:txBody>
      </p:sp>
      <p:sp>
        <p:nvSpPr>
          <p:cNvPr id="14" name="Shape 12"/>
          <p:cNvSpPr/>
          <p:nvPr/>
        </p:nvSpPr>
        <p:spPr>
          <a:xfrm>
            <a:off x="6199632" y="1097280"/>
            <a:ext cx="2688336" cy="1371600"/>
          </a:xfrm>
          <a:prstGeom prst="rect">
            <a:avLst/>
          </a:prstGeom>
          <a:solidFill>
            <a:srgbClr val="F2F5FA"/>
          </a:solidFill>
          <a:ln w="9525">
            <a:solidFill>
              <a:srgbClr val="9AA7BE"/>
            </a:solidFill>
            <a:prstDash val="solid"/>
          </a:ln>
        </p:spPr>
      </p:sp>
      <p:sp>
        <p:nvSpPr>
          <p:cNvPr id="15" name="Text 13"/>
          <p:cNvSpPr txBox="1"/>
          <p:nvPr/>
        </p:nvSpPr>
        <p:spPr>
          <a:xfrm>
            <a:off x="6382512"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12/12</a:t>
            </a:r>
            <a:endParaRPr lang="en-US" sz="2700" dirty="0"/>
          </a:p>
        </p:txBody>
      </p:sp>
      <p:sp>
        <p:nvSpPr>
          <p:cNvPr id="16" name="Text 14"/>
          <p:cNvSpPr txBox="1"/>
          <p:nvPr/>
        </p:nvSpPr>
        <p:spPr>
          <a:xfrm>
            <a:off x="6382512"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native unit tests passing</a:t>
            </a:r>
            <a:endParaRPr lang="en-US" sz="1050" dirty="0"/>
          </a:p>
        </p:txBody>
      </p:sp>
      <p:sp>
        <p:nvSpPr>
          <p:cNvPr id="17" name="Shape 15"/>
          <p:cNvSpPr/>
          <p:nvPr/>
        </p:nvSpPr>
        <p:spPr>
          <a:xfrm>
            <a:off x="9070848" y="1097280"/>
            <a:ext cx="2688336" cy="1371600"/>
          </a:xfrm>
          <a:prstGeom prst="rect">
            <a:avLst/>
          </a:prstGeom>
          <a:solidFill>
            <a:srgbClr val="F2F5FA"/>
          </a:solidFill>
          <a:ln w="9525">
            <a:solidFill>
              <a:srgbClr val="9AA7BE"/>
            </a:solidFill>
            <a:prstDash val="solid"/>
          </a:ln>
        </p:spPr>
      </p:sp>
      <p:sp>
        <p:nvSpPr>
          <p:cNvPr id="18" name="Text 16"/>
          <p:cNvSpPr txBox="1"/>
          <p:nvPr/>
        </p:nvSpPr>
        <p:spPr>
          <a:xfrm>
            <a:off x="9253728"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10 s / 1 s</a:t>
            </a:r>
            <a:endParaRPr lang="en-US" sz="2700" dirty="0"/>
          </a:p>
        </p:txBody>
      </p:sp>
      <p:sp>
        <p:nvSpPr>
          <p:cNvPr id="19" name="Text 17"/>
          <p:cNvSpPr txBox="1"/>
          <p:nvPr/>
        </p:nvSpPr>
        <p:spPr>
          <a:xfrm>
            <a:off x="9253728"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measurement cadence / on-screen motion</a:t>
            </a:r>
            <a:endParaRPr lang="en-US" sz="1050" dirty="0"/>
          </a:p>
        </p:txBody>
      </p:sp>
      <p:sp>
        <p:nvSpPr>
          <p:cNvPr id="20" name="Text 18"/>
          <p:cNvSpPr txBox="1"/>
          <p:nvPr/>
        </p:nvSpPr>
        <p:spPr>
          <a:xfrm>
            <a:off x="457200" y="2788920"/>
            <a:ext cx="5486400" cy="320040"/>
          </a:xfrm>
          <a:prstGeom prst="rect">
            <a:avLst/>
          </a:prstGeom>
          <a:noFill/>
          <a:ln/>
        </p:spPr>
        <p:txBody>
          <a:bodyPr wrap="square" lIns="0" tIns="0" rIns="0" bIns="0" rtlCol="0" anchor="ctr"/>
          <a:lstStyle/>
          <a:p>
            <a:pPr indent="0" marL="0">
              <a:buNone/>
            </a:pPr>
            <a:r>
              <a:rPr lang="en-US" sz="1300" b="1" spc="100" kern="0" dirty="0">
                <a:solidFill>
                  <a:srgbClr val="16213D"/>
                </a:solidFill>
                <a:latin typeface="Arial" pitchFamily="34" charset="0"/>
                <a:ea typeface="Arial" pitchFamily="34" charset="-122"/>
                <a:cs typeface="Arial" pitchFamily="34" charset="-120"/>
              </a:rPr>
              <a:t>PROVEN END TO END THIS WEEK</a:t>
            </a:r>
            <a:endParaRPr lang="en-US" sz="1300" dirty="0"/>
          </a:p>
        </p:txBody>
      </p:sp>
      <p:sp>
        <p:nvSpPr>
          <p:cNvPr id="21" name="Text 19"/>
          <p:cNvSpPr txBox="1"/>
          <p:nvPr/>
        </p:nvSpPr>
        <p:spPr>
          <a:xfrm>
            <a:off x="457200" y="3154680"/>
            <a:ext cx="5760720" cy="21031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GPS fix to arrow, end to end, at 10 s cadence with 1 Hz projected motion.</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Position-derived clock, honest ages, ghost re-broadcasts detected.</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The link reconnected itself after every drop, four drive tests running.</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Full radio recovery drill: flash, provision, verify, in minutes.</a:t>
            </a:r>
            <a:endParaRPr lang="en-US" sz="1250" dirty="0"/>
          </a:p>
        </p:txBody>
      </p:sp>
      <p:sp>
        <p:nvSpPr>
          <p:cNvPr id="22" name="Text 20"/>
          <p:cNvSpPr txBox="1"/>
          <p:nvPr/>
        </p:nvSpPr>
        <p:spPr>
          <a:xfrm>
            <a:off x="6537960" y="2788920"/>
            <a:ext cx="4572000" cy="320040"/>
          </a:xfrm>
          <a:prstGeom prst="rect">
            <a:avLst/>
          </a:prstGeom>
          <a:noFill/>
          <a:ln/>
        </p:spPr>
        <p:txBody>
          <a:bodyPr wrap="square" lIns="0" tIns="0" rIns="0" bIns="0" rtlCol="0" anchor="ctr"/>
          <a:lstStyle/>
          <a:p>
            <a:pPr indent="0" marL="0">
              <a:buNone/>
            </a:pPr>
            <a:r>
              <a:rPr lang="en-US" sz="1300" b="1" spc="100" kern="0" dirty="0">
                <a:solidFill>
                  <a:srgbClr val="16213D"/>
                </a:solidFill>
                <a:latin typeface="Arial" pitchFamily="34" charset="0"/>
                <a:ea typeface="Arial" pitchFamily="34" charset="-122"/>
                <a:cs typeface="Arial" pitchFamily="34" charset="-120"/>
              </a:rPr>
              <a:t>NEXT, WEEKS 4 AND 5</a:t>
            </a:r>
            <a:endParaRPr lang="en-US" sz="1300" dirty="0"/>
          </a:p>
        </p:txBody>
      </p:sp>
      <p:sp>
        <p:nvSpPr>
          <p:cNvPr id="23" name="Text 21"/>
          <p:cNvSpPr txBox="1"/>
          <p:nvPr/>
        </p:nvSpPr>
        <p:spPr>
          <a:xfrm>
            <a:off x="6537960" y="3154680"/>
            <a:ext cx="5120640" cy="21031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Victor: provision radio two from the recipe; first two-radio bench decode.</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Cannon: constraints ledger becomes the drive-test protocol and logging harness.</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Deo and Josiah: partner selection in NVS; night readability.</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Then the milestone: the first two-vehicle drive test.</a:t>
            </a:r>
            <a:endParaRPr lang="en-US" sz="1250" dirty="0"/>
          </a:p>
        </p:txBody>
      </p:sp>
      <p:sp>
        <p:nvSpPr>
          <p:cNvPr id="24" name="Shape 22"/>
          <p:cNvSpPr/>
          <p:nvPr/>
        </p:nvSpPr>
        <p:spPr>
          <a:xfrm>
            <a:off x="457200" y="5440680"/>
            <a:ext cx="11292840" cy="685800"/>
          </a:xfrm>
          <a:prstGeom prst="rect">
            <a:avLst/>
          </a:prstGeom>
          <a:solidFill>
            <a:srgbClr val="16213D"/>
          </a:solidFill>
          <a:ln/>
        </p:spPr>
      </p:sp>
      <p:sp>
        <p:nvSpPr>
          <p:cNvPr id="25" name="Text 23"/>
          <p:cNvSpPr txBox="1"/>
          <p:nvPr/>
        </p:nvSpPr>
        <p:spPr>
          <a:xfrm>
            <a:off x="731520" y="5532120"/>
            <a:ext cx="10744200"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One radio still talks to itself. But every layer between a GPS fix and the driver's arrow is now real, tested code. Radio number two turns this into a tracker.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REFERENCES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14/14  REV C  2026-09-07</a:t>
            </a:r>
            <a:endParaRPr lang="en-US" sz="900" dirty="0"/>
          </a:p>
        </p:txBody>
      </p:sp>
      <p:sp>
        <p:nvSpPr>
          <p:cNvPr id="7" name="Text 5"/>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REFERENCES</a:t>
            </a:r>
            <a:endParaRPr lang="en-US" sz="2300" dirty="0"/>
          </a:p>
        </p:txBody>
      </p:sp>
      <p:sp>
        <p:nvSpPr>
          <p:cNvPr id="8" name="Text 6"/>
          <p:cNvSpPr txBox="1"/>
          <p:nvPr/>
        </p:nvSpPr>
        <p:spPr>
          <a:xfrm>
            <a:off x="457200" y="1115568"/>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[1]</a:t>
            </a:r>
            <a:endParaRPr lang="en-US" sz="1000" dirty="0"/>
          </a:p>
        </p:txBody>
      </p:sp>
      <p:sp>
        <p:nvSpPr>
          <p:cNvPr id="9" name="Text 7"/>
          <p:cNvSpPr txBox="1"/>
          <p:nvPr/>
        </p:nvSpPr>
        <p:spPr>
          <a:xfrm>
            <a:off x="960120" y="1115568"/>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SX1276/77/78/79 LoRa Transceiver Datasheet. Demodulator SNR limit per spreading factor (SF11 = -17.5 dB), used on sheet 09.</a:t>
            </a:r>
            <a:endParaRPr lang="en-US" sz="950" dirty="0"/>
          </a:p>
        </p:txBody>
      </p:sp>
      <p:sp>
        <p:nvSpPr>
          <p:cNvPr id="10" name="Text 8"/>
          <p:cNvSpPr txBox="1"/>
          <p:nvPr/>
        </p:nvSpPr>
        <p:spPr>
          <a:xfrm>
            <a:off x="960120" y="1773936"/>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1" invalidUrl="" action="" tgtFrame="" tooltip="https://www.semtech.com/products/wireless-rf/lora-connect/sx1276" history="1" highlightClick="0" endSnd="0">
                  <a:extLst>
                    <a:ext uri="{A12FA001-AC4F-418D-AE19-62706E023703}">
                      <ahyp:hlinkClr xmlns:ahyp="http://schemas.microsoft.com/office/drawing/2018/hyperlinkcolor" val="tx"/>
                    </a:ext>
                  </a:extLst>
                </a:hlinkClick>
              </a:rPr>
              <a:t>semtech.com/products/wireless-rf/lora-connect/sx1276</a:t>
            </a:r>
            <a:endParaRPr lang="en-US" sz="800" dirty="0"/>
          </a:p>
        </p:txBody>
      </p:sp>
      <p:sp>
        <p:nvSpPr>
          <p:cNvPr id="11" name="Text 9"/>
          <p:cNvSpPr txBox="1"/>
          <p:nvPr/>
        </p:nvSpPr>
        <p:spPr>
          <a:xfrm>
            <a:off x="457200" y="2084832"/>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[2]</a:t>
            </a:r>
            <a:endParaRPr lang="en-US" sz="1000" dirty="0"/>
          </a:p>
        </p:txBody>
      </p:sp>
      <p:sp>
        <p:nvSpPr>
          <p:cNvPr id="12" name="Text 10"/>
          <p:cNvSpPr txBox="1"/>
          <p:nvPr/>
        </p:nvSpPr>
        <p:spPr>
          <a:xfrm>
            <a:off x="960120" y="2084832"/>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AN1200.22, LoRa Modulation Basics. Symbol duration T_sym = 2^SF / BW, packet airtime, and processing gain.</a:t>
            </a:r>
            <a:endParaRPr lang="en-US" sz="950" dirty="0"/>
          </a:p>
        </p:txBody>
      </p:sp>
      <p:sp>
        <p:nvSpPr>
          <p:cNvPr id="13" name="Text 11"/>
          <p:cNvSpPr txBox="1"/>
          <p:nvPr/>
        </p:nvSpPr>
        <p:spPr>
          <a:xfrm>
            <a:off x="960120" y="2743200"/>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2" invalidUrl="" action="" tgtFrame="" tooltip="https://info.semtech.com/find-documentation" history="1" highlightClick="0" endSnd="0">
                  <a:extLst>
                    <a:ext uri="{A12FA001-AC4F-418D-AE19-62706E023703}">
                      <ahyp:hlinkClr xmlns:ahyp="http://schemas.microsoft.com/office/drawing/2018/hyperlinkcolor" val="tx"/>
                    </a:ext>
                  </a:extLst>
                </a:hlinkClick>
              </a:rPr>
              <a:t>info.semtech.com/find-documentation (search AN1200.22)</a:t>
            </a:r>
            <a:endParaRPr lang="en-US" sz="800" dirty="0"/>
          </a:p>
        </p:txBody>
      </p:sp>
      <p:sp>
        <p:nvSpPr>
          <p:cNvPr id="14" name="Text 12"/>
          <p:cNvSpPr txBox="1"/>
          <p:nvPr/>
        </p:nvSpPr>
        <p:spPr>
          <a:xfrm>
            <a:off x="457200" y="3054096"/>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[3]</a:t>
            </a:r>
            <a:endParaRPr lang="en-US" sz="1000" dirty="0"/>
          </a:p>
        </p:txBody>
      </p:sp>
      <p:sp>
        <p:nvSpPr>
          <p:cNvPr id="15" name="Text 13"/>
          <p:cNvSpPr txBox="1"/>
          <p:nvPr/>
        </p:nvSpPr>
        <p:spPr>
          <a:xfrm>
            <a:off x="960120" y="3054096"/>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SX1261/2 Transceiver Datasheet. The radio IC on the Heltec V4; sensitivity and transmit specifications.</a:t>
            </a:r>
            <a:endParaRPr lang="en-US" sz="950" dirty="0"/>
          </a:p>
        </p:txBody>
      </p:sp>
      <p:sp>
        <p:nvSpPr>
          <p:cNvPr id="16" name="Text 14"/>
          <p:cNvSpPr txBox="1"/>
          <p:nvPr/>
        </p:nvSpPr>
        <p:spPr>
          <a:xfrm>
            <a:off x="960120" y="3712464"/>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3" invalidUrl="" action="" tgtFrame="" tooltip="https://www.semtech.com/products/wireless-rf/lora-connect/sx1262" history="1" highlightClick="0" endSnd="0">
                  <a:extLst>
                    <a:ext uri="{A12FA001-AC4F-418D-AE19-62706E023703}">
                      <ahyp:hlinkClr xmlns:ahyp="http://schemas.microsoft.com/office/drawing/2018/hyperlinkcolor" val="tx"/>
                    </a:ext>
                  </a:extLst>
                </a:hlinkClick>
              </a:rPr>
              <a:t>semtech.com/products/wireless-rf/lora-connect/sx1262</a:t>
            </a:r>
            <a:endParaRPr lang="en-US" sz="800" dirty="0"/>
          </a:p>
        </p:txBody>
      </p:sp>
      <p:sp>
        <p:nvSpPr>
          <p:cNvPr id="17" name="Text 15"/>
          <p:cNvSpPr txBox="1"/>
          <p:nvPr/>
        </p:nvSpPr>
        <p:spPr>
          <a:xfrm>
            <a:off x="457200" y="4023360"/>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[4]</a:t>
            </a:r>
            <a:endParaRPr lang="en-US" sz="1000" dirty="0"/>
          </a:p>
        </p:txBody>
      </p:sp>
      <p:sp>
        <p:nvSpPr>
          <p:cNvPr id="18" name="Text 16"/>
          <p:cNvSpPr txBox="1"/>
          <p:nvPr/>
        </p:nvSpPr>
        <p:spPr>
          <a:xfrm>
            <a:off x="960120" y="4023360"/>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Meshtastic Project Documentation, LoRa and Position Configuration. Presets, smart broadcast, position precision, the ~25% utilization limit.</a:t>
            </a:r>
            <a:endParaRPr lang="en-US" sz="950" dirty="0"/>
          </a:p>
        </p:txBody>
      </p:sp>
      <p:sp>
        <p:nvSpPr>
          <p:cNvPr id="19" name="Text 17"/>
          <p:cNvSpPr txBox="1"/>
          <p:nvPr/>
        </p:nvSpPr>
        <p:spPr>
          <a:xfrm>
            <a:off x="960120" y="4681728"/>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4" invalidUrl="" action="" tgtFrame="" tooltip="https://meshtastic.org/docs/configuration/radio/lora/" history="1" highlightClick="0" endSnd="0">
                  <a:extLst>
                    <a:ext uri="{A12FA001-AC4F-418D-AE19-62706E023703}">
                      <ahyp:hlinkClr xmlns:ahyp="http://schemas.microsoft.com/office/drawing/2018/hyperlinkcolor" val="tx"/>
                    </a:ext>
                  </a:extLst>
                </a:hlinkClick>
              </a:rPr>
              <a:t>meshtastic.org/docs/configuration/radio/lora</a:t>
            </a:r>
            <a:endParaRPr lang="en-US" sz="800" dirty="0"/>
          </a:p>
        </p:txBody>
      </p:sp>
      <p:sp>
        <p:nvSpPr>
          <p:cNvPr id="20" name="Text 18"/>
          <p:cNvSpPr txBox="1"/>
          <p:nvPr/>
        </p:nvSpPr>
        <p:spPr>
          <a:xfrm>
            <a:off x="457200" y="4992624"/>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[5]</a:t>
            </a:r>
            <a:endParaRPr lang="en-US" sz="1000" dirty="0"/>
          </a:p>
        </p:txBody>
      </p:sp>
      <p:sp>
        <p:nvSpPr>
          <p:cNvPr id="21" name="Text 19"/>
          <p:cNvSpPr txBox="1"/>
          <p:nvPr/>
        </p:nvSpPr>
        <p:spPr>
          <a:xfrm>
            <a:off x="960120" y="4992624"/>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Meshtastic Protobufs Repository. The published message schema our decoder is generated from, including Position field units.</a:t>
            </a:r>
            <a:endParaRPr lang="en-US" sz="950" dirty="0"/>
          </a:p>
        </p:txBody>
      </p:sp>
      <p:sp>
        <p:nvSpPr>
          <p:cNvPr id="22" name="Text 20"/>
          <p:cNvSpPr txBox="1"/>
          <p:nvPr/>
        </p:nvSpPr>
        <p:spPr>
          <a:xfrm>
            <a:off x="960120" y="5650992"/>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5" invalidUrl="" action="" tgtFrame="" tooltip="https://github.com/meshtastic/protobufs" history="1" highlightClick="0" endSnd="0">
                  <a:extLst>
                    <a:ext uri="{A12FA001-AC4F-418D-AE19-62706E023703}">
                      <ahyp:hlinkClr xmlns:ahyp="http://schemas.microsoft.com/office/drawing/2018/hyperlinkcolor" val="tx"/>
                    </a:ext>
                  </a:extLst>
                </a:hlinkClick>
              </a:rPr>
              <a:t>github.com/meshtastic/protobufs</a:t>
            </a:r>
            <a:endParaRPr lang="en-US" sz="800" dirty="0"/>
          </a:p>
        </p:txBody>
      </p:sp>
      <p:sp>
        <p:nvSpPr>
          <p:cNvPr id="23" name="Text 21"/>
          <p:cNvSpPr txBox="1"/>
          <p:nvPr/>
        </p:nvSpPr>
        <p:spPr>
          <a:xfrm>
            <a:off x="6263640" y="1115568"/>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[6]</a:t>
            </a:r>
            <a:endParaRPr lang="en-US" sz="1000" dirty="0"/>
          </a:p>
        </p:txBody>
      </p:sp>
      <p:sp>
        <p:nvSpPr>
          <p:cNvPr id="24" name="Text 22"/>
          <p:cNvSpPr txBox="1"/>
          <p:nvPr/>
        </p:nvSpPr>
        <p:spPr>
          <a:xfrm>
            <a:off x="6766560" y="1115568"/>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FCC Rules, 47 CFR 15.247. Operation in the 902 to 928 MHz ISM band.</a:t>
            </a:r>
            <a:endParaRPr lang="en-US" sz="950" dirty="0"/>
          </a:p>
        </p:txBody>
      </p:sp>
      <p:sp>
        <p:nvSpPr>
          <p:cNvPr id="25" name="Text 23"/>
          <p:cNvSpPr txBox="1"/>
          <p:nvPr/>
        </p:nvSpPr>
        <p:spPr>
          <a:xfrm>
            <a:off x="6766560" y="1773936"/>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6" invalidUrl="" action="" tgtFrame="" tooltip="https://www.law.cornell.edu/cfr/text/47/15.247" history="1" highlightClick="0" endSnd="0">
                  <a:extLst>
                    <a:ext uri="{A12FA001-AC4F-418D-AE19-62706E023703}">
                      <ahyp:hlinkClr xmlns:ahyp="http://schemas.microsoft.com/office/drawing/2018/hyperlinkcolor" val="tx"/>
                    </a:ext>
                  </a:extLst>
                </a:hlinkClick>
              </a:rPr>
              <a:t>law.cornell.edu/cfr/text/47/15.247</a:t>
            </a:r>
            <a:endParaRPr lang="en-US" sz="800" dirty="0"/>
          </a:p>
        </p:txBody>
      </p:sp>
      <p:sp>
        <p:nvSpPr>
          <p:cNvPr id="26" name="Text 24"/>
          <p:cNvSpPr txBox="1"/>
          <p:nvPr/>
        </p:nvSpPr>
        <p:spPr>
          <a:xfrm>
            <a:off x="6263640" y="2084832"/>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[7]</a:t>
            </a:r>
            <a:endParaRPr lang="en-US" sz="1000" dirty="0"/>
          </a:p>
        </p:txBody>
      </p:sp>
      <p:sp>
        <p:nvSpPr>
          <p:cNvPr id="27" name="Text 25"/>
          <p:cNvSpPr txBox="1"/>
          <p:nvPr/>
        </p:nvSpPr>
        <p:spPr>
          <a:xfrm>
            <a:off x="6766560" y="2084832"/>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ITU-R Recommendation M.1371, Automatic Identification System (AIS). Reporting intervals of 2 s to 3 min; the beacon-then-animate precedent.</a:t>
            </a:r>
            <a:endParaRPr lang="en-US" sz="950" dirty="0"/>
          </a:p>
        </p:txBody>
      </p:sp>
      <p:sp>
        <p:nvSpPr>
          <p:cNvPr id="28" name="Text 26"/>
          <p:cNvSpPr txBox="1"/>
          <p:nvPr/>
        </p:nvSpPr>
        <p:spPr>
          <a:xfrm>
            <a:off x="6766560" y="2743200"/>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7" invalidUrl="" action="" tgtFrame="" tooltip="https://www.itu.int/rec/R-REC-M.1371/en" history="1" highlightClick="0" endSnd="0">
                  <a:extLst>
                    <a:ext uri="{A12FA001-AC4F-418D-AE19-62706E023703}">
                      <ahyp:hlinkClr xmlns:ahyp="http://schemas.microsoft.com/office/drawing/2018/hyperlinkcolor" val="tx"/>
                    </a:ext>
                  </a:extLst>
                </a:hlinkClick>
              </a:rPr>
              <a:t>itu.int/rec/R-REC-M.1371/en</a:t>
            </a:r>
            <a:endParaRPr lang="en-US" sz="800" dirty="0"/>
          </a:p>
        </p:txBody>
      </p:sp>
      <p:sp>
        <p:nvSpPr>
          <p:cNvPr id="29" name="Text 27"/>
          <p:cNvSpPr txBox="1"/>
          <p:nvPr/>
        </p:nvSpPr>
        <p:spPr>
          <a:xfrm>
            <a:off x="6263640" y="3054096"/>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[8]</a:t>
            </a:r>
            <a:endParaRPr lang="en-US" sz="1000" dirty="0"/>
          </a:p>
        </p:txBody>
      </p:sp>
      <p:sp>
        <p:nvSpPr>
          <p:cNvPr id="30" name="Text 28"/>
          <p:cNvSpPr txBox="1"/>
          <p:nvPr/>
        </p:nvSpPr>
        <p:spPr>
          <a:xfrm>
            <a:off x="6766560" y="3054096"/>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R. W. Sinnott, Virtues of the Haversine, Sky &amp; Telescope, vol. 68, no. 2, p. 159, 1984. The distance formula used in nav.c.</a:t>
            </a:r>
            <a:endParaRPr lang="en-US" sz="950" dirty="0"/>
          </a:p>
        </p:txBody>
      </p:sp>
      <p:sp>
        <p:nvSpPr>
          <p:cNvPr id="31" name="Text 29"/>
          <p:cNvSpPr txBox="1"/>
          <p:nvPr/>
        </p:nvSpPr>
        <p:spPr>
          <a:xfrm>
            <a:off x="6766560" y="3712464"/>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8" invalidUrl="" action="" tgtFrame="" tooltip="https://www.movable-type.co.uk/scripts/latlong.html" history="1" highlightClick="0" endSnd="0">
                  <a:extLst>
                    <a:ext uri="{A12FA001-AC4F-418D-AE19-62706E023703}">
                      <ahyp:hlinkClr xmlns:ahyp="http://schemas.microsoft.com/office/drawing/2018/hyperlinkcolor" val="tx"/>
                    </a:ext>
                  </a:extLst>
                </a:hlinkClick>
              </a:rPr>
              <a:t>movable-type.co.uk/scripts/latlong.html (implementation ref)</a:t>
            </a:r>
            <a:endParaRPr lang="en-US" sz="800" dirty="0"/>
          </a:p>
        </p:txBody>
      </p:sp>
      <p:sp>
        <p:nvSpPr>
          <p:cNvPr id="32" name="Text 30"/>
          <p:cNvSpPr txBox="1"/>
          <p:nvPr/>
        </p:nvSpPr>
        <p:spPr>
          <a:xfrm>
            <a:off x="6263640" y="4023360"/>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[9]</a:t>
            </a:r>
            <a:endParaRPr lang="en-US" sz="1000" dirty="0"/>
          </a:p>
        </p:txBody>
      </p:sp>
      <p:sp>
        <p:nvSpPr>
          <p:cNvPr id="33" name="Text 31"/>
          <p:cNvSpPr txBox="1"/>
          <p:nvPr/>
        </p:nvSpPr>
        <p:spPr>
          <a:xfrm>
            <a:off x="6766560" y="4023360"/>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Bluetooth SIG, Bluetooth Core Specification (GATT). The service and characteristic model behind the Meshtastic Client API.</a:t>
            </a:r>
            <a:endParaRPr lang="en-US" sz="950" dirty="0"/>
          </a:p>
        </p:txBody>
      </p:sp>
      <p:sp>
        <p:nvSpPr>
          <p:cNvPr id="34" name="Text 32"/>
          <p:cNvSpPr txBox="1"/>
          <p:nvPr/>
        </p:nvSpPr>
        <p:spPr>
          <a:xfrm>
            <a:off x="6766560" y="4681728"/>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9" invalidUrl="" action="" tgtFrame="" tooltip="https://www.bluetooth.com/specifications/specs/core-specification/" history="1" highlightClick="0" endSnd="0">
                  <a:extLst>
                    <a:ext uri="{A12FA001-AC4F-418D-AE19-62706E023703}">
                      <ahyp:hlinkClr xmlns:ahyp="http://schemas.microsoft.com/office/drawing/2018/hyperlinkcolor" val="tx"/>
                    </a:ext>
                  </a:extLst>
                </a:hlinkClick>
              </a:rPr>
              <a:t>bluetooth.com/specifications/specs/core-specification</a:t>
            </a:r>
            <a:endParaRPr lang="en-US" sz="800" dirty="0"/>
          </a:p>
        </p:txBody>
      </p:sp>
      <p:sp>
        <p:nvSpPr>
          <p:cNvPr id="35" name="Text 33"/>
          <p:cNvSpPr txBox="1"/>
          <p:nvPr/>
        </p:nvSpPr>
        <p:spPr>
          <a:xfrm>
            <a:off x="6263640" y="4992624"/>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[10]</a:t>
            </a:r>
            <a:endParaRPr lang="en-US" sz="1000" dirty="0"/>
          </a:p>
        </p:txBody>
      </p:sp>
      <p:sp>
        <p:nvSpPr>
          <p:cNvPr id="36" name="Text 34"/>
          <p:cNvSpPr txBox="1"/>
          <p:nvPr/>
        </p:nvSpPr>
        <p:spPr>
          <a:xfrm>
            <a:off x="6766560" y="4992624"/>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Group 9 repository: TELECOM_ANALYSIS, ARCHITECTURE, BLE_LINK_WALKTHROUGH, RADIO_PHY_DEEP_DIVE, hardware/README. Our link budget, architecture, silicon walkthrough, and recipes.</a:t>
            </a:r>
            <a:endParaRPr lang="en-US" sz="950" dirty="0"/>
          </a:p>
        </p:txBody>
      </p:sp>
      <p:sp>
        <p:nvSpPr>
          <p:cNvPr id="37" name="Text 35"/>
          <p:cNvSpPr txBox="1"/>
          <p:nvPr/>
        </p:nvSpPr>
        <p:spPr>
          <a:xfrm>
            <a:off x="6766560" y="5650992"/>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10" invalidUrl="" action="" tgtFrame="" tooltip="https://github.com/deosgracius/offgrid-vehicle-tracker" history="1" highlightClick="0" endSnd="0">
                  <a:extLst>
                    <a:ext uri="{A12FA001-AC4F-418D-AE19-62706E023703}">
                      <ahyp:hlinkClr xmlns:ahyp="http://schemas.microsoft.com/office/drawing/2018/hyperlinkcolor" val="tx"/>
                    </a:ext>
                  </a:extLst>
                </a:hlinkClick>
              </a:rPr>
              <a:t>github.com/deosgracius/offgrid-vehicle-tracker</a:t>
            </a:r>
            <a:endParaRPr lang="en-US" sz="800" dirty="0"/>
          </a:p>
        </p:txBody>
      </p:sp>
      <p:sp>
        <p:nvSpPr>
          <p:cNvPr id="38" name="Shape 36"/>
          <p:cNvSpPr/>
          <p:nvPr/>
        </p:nvSpPr>
        <p:spPr>
          <a:xfrm>
            <a:off x="457200" y="5989320"/>
            <a:ext cx="11292840" cy="0"/>
          </a:xfrm>
          <a:prstGeom prst="line">
            <a:avLst/>
          </a:prstGeom>
          <a:noFill/>
          <a:ln w="9525">
            <a:solidFill>
              <a:srgbClr val="9AA7BE"/>
            </a:solidFill>
            <a:prstDash val="solid"/>
          </a:ln>
        </p:spPr>
      </p:sp>
      <p:sp>
        <p:nvSpPr>
          <p:cNvPr id="39" name="Text 37"/>
          <p:cNvSpPr txBox="1"/>
          <p:nvPr/>
        </p:nvSpPr>
        <p:spPr>
          <a:xfrm>
            <a:off x="457200" y="6035040"/>
            <a:ext cx="11292840" cy="237744"/>
          </a:xfrm>
          <a:prstGeom prst="rect">
            <a:avLst/>
          </a:prstGeom>
          <a:noFill/>
          <a:ln/>
        </p:spPr>
        <p:txBody>
          <a:bodyPr wrap="square" lIns="0" tIns="0" rIns="0" bIns="0" rtlCol="0" anchor="ctr"/>
          <a:lstStyle/>
          <a:p>
            <a:pPr indent="0" marL="0">
              <a:buNone/>
            </a:pPr>
            <a:r>
              <a:rPr lang="en-US" sz="850" dirty="0">
                <a:solidFill>
                  <a:srgbClr val="5E6B85"/>
                </a:solidFill>
                <a:latin typeface="Courier New" pitchFamily="34" charset="0"/>
                <a:ea typeface="Courier New" pitchFamily="34" charset="-122"/>
                <a:cs typeface="Courier New" pitchFamily="34" charset="-120"/>
              </a:rPr>
              <a:t>All firmware, documentation, logs, and this deck's generator are version controlled at github.com/deosgracius/offgrid-vehicle-tracker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2026-09-07T23:49:11Z</dcterms:created>
  <dcterms:modified xsi:type="dcterms:W3CDTF">2026-09-07T23:49:11Z</dcterms:modified>
</cp:coreProperties>
</file>