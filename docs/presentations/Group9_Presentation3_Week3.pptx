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01/13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pic>
        <p:nvPicPr>
          <p:cNvPr id="11"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2" name="Text 9"/>
          <p:cNvSpPr txBox="1"/>
          <p:nvPr/>
        </p:nvSpPr>
        <p:spPr>
          <a:xfrm>
            <a:off x="457200" y="182880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pic>
        <p:nvPicPr>
          <p:cNvPr id="13"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4" name="Text 10"/>
          <p:cNvSpPr txBox="1"/>
          <p:nvPr/>
        </p:nvSpPr>
        <p:spPr>
          <a:xfrm>
            <a:off x="457200" y="25603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pic>
        <p:nvPicPr>
          <p:cNvPr id="15"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6" name="Text 11"/>
          <p:cNvSpPr txBox="1"/>
          <p:nvPr/>
        </p:nvSpPr>
        <p:spPr>
          <a:xfrm>
            <a:off x="457200" y="32461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pic>
        <p:nvPicPr>
          <p:cNvPr id="17"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18" name="Text 12"/>
          <p:cNvSpPr txBox="1"/>
          <p:nvPr/>
        </p:nvSpPr>
        <p:spPr>
          <a:xfrm>
            <a:off x="457200" y="39319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pic>
        <p:nvPicPr>
          <p:cNvPr id="19"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0" name="Shape 13"/>
          <p:cNvSpPr/>
          <p:nvPr/>
        </p:nvSpPr>
        <p:spPr>
          <a:xfrm>
            <a:off x="457200" y="4754880"/>
            <a:ext cx="11292840" cy="1371600"/>
          </a:xfrm>
          <a:prstGeom prst="rect">
            <a:avLst/>
          </a:prstGeom>
          <a:solidFill>
            <a:srgbClr val="16213D"/>
          </a:solidFill>
          <a:ln/>
        </p:spPr>
      </p:sp>
      <p:sp>
        <p:nvSpPr>
          <p:cNvPr id="21" name="Text 14"/>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76072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GPS to radio</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satellites acquired, fixes flowing over UART</a:t>
            </a:r>
            <a:endParaRPr lang="en-US" sz="1150" dirty="0"/>
          </a:p>
        </p:txBody>
      </p:sp>
      <p:sp>
        <p:nvSpPr>
          <p:cNvPr id="12" name="Text 10"/>
          <p:cNvSpPr txBox="1"/>
          <p:nvPr/>
        </p:nvSpPr>
        <p:spPr>
          <a:xfrm>
            <a:off x="4526280" y="1170432"/>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13" name="Text 11"/>
          <p:cNvSpPr txBox="1"/>
          <p:nvPr/>
        </p:nvSpPr>
        <p:spPr>
          <a:xfrm>
            <a:off x="4526280" y="1463040"/>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"own GPS: locked"</a:t>
            </a:r>
            <a:endParaRPr lang="en-US" sz="800" dirty="0"/>
          </a:p>
        </p:txBody>
      </p:sp>
      <p:sp>
        <p:nvSpPr>
          <p:cNvPr id="14" name="Shape 12"/>
          <p:cNvSpPr/>
          <p:nvPr/>
        </p:nvSpPr>
        <p:spPr>
          <a:xfrm>
            <a:off x="105156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76072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Radio to display</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BLE GATT link, automatic reconnect</a:t>
            </a:r>
            <a:endParaRPr lang="en-US" sz="1150" dirty="0"/>
          </a:p>
        </p:txBody>
      </p:sp>
      <p:sp>
        <p:nvSpPr>
          <p:cNvPr id="17" name="Text 15"/>
          <p:cNvSpPr txBox="1"/>
          <p:nvPr/>
        </p:nvSpPr>
        <p:spPr>
          <a:xfrm>
            <a:off x="4526280" y="2139696"/>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18" name="Text 16"/>
          <p:cNvSpPr txBox="1"/>
          <p:nvPr/>
        </p:nvSpPr>
        <p:spPr>
          <a:xfrm>
            <a:off x="4526280" y="2432304"/>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"radio link: connected"</a:t>
            </a:r>
            <a:endParaRPr lang="en-US" sz="800" dirty="0"/>
          </a:p>
        </p:txBody>
      </p:sp>
      <p:sp>
        <p:nvSpPr>
          <p:cNvPr id="19" name="Shape 17"/>
          <p:cNvSpPr/>
          <p:nvPr/>
        </p:nvSpPr>
        <p:spPr>
          <a:xfrm>
            <a:off x="105156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76072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Decode to TrackerState</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protobuf frames become live coordinates</a:t>
            </a:r>
            <a:endParaRPr lang="en-US" sz="1150" dirty="0"/>
          </a:p>
        </p:txBody>
      </p:sp>
      <p:sp>
        <p:nvSpPr>
          <p:cNvPr id="22" name="Text 20"/>
          <p:cNvSpPr txBox="1"/>
          <p:nvPr/>
        </p:nvSpPr>
        <p:spPr>
          <a:xfrm>
            <a:off x="4526280" y="3108960"/>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23" name="Text 21"/>
          <p:cNvSpPr txBox="1"/>
          <p:nvPr/>
        </p:nvSpPr>
        <p:spPr>
          <a:xfrm>
            <a:off x="4526280" y="3401568"/>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 33.60719 -101.89643"</a:t>
            </a:r>
            <a:endParaRPr lang="en-US" sz="800" dirty="0"/>
          </a:p>
        </p:txBody>
      </p:sp>
      <p:sp>
        <p:nvSpPr>
          <p:cNvPr id="24" name="Shape 22"/>
          <p:cNvSpPr/>
          <p:nvPr/>
        </p:nvSpPr>
        <p:spPr>
          <a:xfrm>
            <a:off x="105156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76072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Navigation and UI</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state-driven pages, honest ages, local clock</a:t>
            </a:r>
            <a:endParaRPr lang="en-US" sz="1150" dirty="0"/>
          </a:p>
        </p:txBody>
      </p:sp>
      <p:sp>
        <p:nvSpPr>
          <p:cNvPr id="27" name="Text 25"/>
          <p:cNvSpPr txBox="1"/>
          <p:nvPr/>
        </p:nvSpPr>
        <p:spPr>
          <a:xfrm>
            <a:off x="4526280" y="4078224"/>
            <a:ext cx="868680" cy="274320"/>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PROVEN</a:t>
            </a:r>
            <a:endParaRPr lang="en-US" sz="950" dirty="0"/>
          </a:p>
        </p:txBody>
      </p:sp>
      <p:sp>
        <p:nvSpPr>
          <p:cNvPr id="28" name="Text 26"/>
          <p:cNvSpPr txBox="1"/>
          <p:nvPr/>
        </p:nvSpPr>
        <p:spPr>
          <a:xfrm>
            <a:off x="4526280" y="4370832"/>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"6:59a CDT, age 55 s"</a:t>
            </a:r>
            <a:endParaRPr lang="en-US" sz="800" dirty="0"/>
          </a:p>
        </p:txBody>
      </p:sp>
      <p:sp>
        <p:nvSpPr>
          <p:cNvPr id="29" name="Shape 27"/>
          <p:cNvSpPr/>
          <p:nvPr/>
        </p:nvSpPr>
        <p:spPr>
          <a:xfrm>
            <a:off x="105156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76072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840480" cy="713232"/>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Partner over LoRa</a:t>
            </a:r>
            <a:endParaRPr lang="en-US" sz="1150" dirty="0"/>
          </a:p>
          <a:p>
            <a:pPr indent="0" marL="0">
              <a:buNone/>
            </a:pPr>
            <a:r>
              <a:rPr lang="en-US" sz="950" dirty="0">
                <a:solidFill>
                  <a:srgbClr val="5E6B85"/>
                </a:solidFill>
                <a:latin typeface="Arial" pitchFamily="34" charset="0"/>
                <a:ea typeface="Arial" pitchFamily="34" charset="-122"/>
                <a:cs typeface="Arial" pitchFamily="34" charset="-120"/>
              </a:rPr>
              <a:t>second radio joins the encrypted channel</a:t>
            </a:r>
            <a:endParaRPr lang="en-US" sz="1150" dirty="0"/>
          </a:p>
        </p:txBody>
      </p:sp>
      <p:sp>
        <p:nvSpPr>
          <p:cNvPr id="32" name="Text 30"/>
          <p:cNvSpPr txBox="1"/>
          <p:nvPr/>
        </p:nvSpPr>
        <p:spPr>
          <a:xfrm>
            <a:off x="4526280" y="5047488"/>
            <a:ext cx="868680" cy="274320"/>
          </a:xfrm>
          <a:prstGeom prst="rect">
            <a:avLst/>
          </a:prstGeom>
          <a:noFill/>
          <a:ln/>
        </p:spPr>
        <p:txBody>
          <a:bodyPr wrap="square" lIns="0" tIns="0" rIns="0" bIns="0" rtlCol="0" anchor="ctr"/>
          <a:lstStyle/>
          <a:p>
            <a:pPr algn="ctr" indent="0" marL="0">
              <a:buNone/>
            </a:pPr>
            <a:r>
              <a:rPr lang="en-US" sz="950" b="1" dirty="0">
                <a:solidFill>
                  <a:srgbClr val="B06207"/>
                </a:solidFill>
                <a:latin typeface="Courier New" pitchFamily="34" charset="0"/>
                <a:ea typeface="Courier New" pitchFamily="34" charset="-122"/>
                <a:cs typeface="Courier New" pitchFamily="34" charset="-120"/>
              </a:rPr>
              <a:t>NEXT</a:t>
            </a:r>
            <a:endParaRPr lang="en-US" sz="950" dirty="0"/>
          </a:p>
        </p:txBody>
      </p:sp>
      <p:sp>
        <p:nvSpPr>
          <p:cNvPr id="33" name="Text 31"/>
          <p:cNvSpPr txBox="1"/>
          <p:nvPr/>
        </p:nvSpPr>
        <p:spPr>
          <a:xfrm>
            <a:off x="4526280" y="5340096"/>
            <a:ext cx="1645920" cy="384048"/>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"PTR no partner heard yet"</a:t>
            </a:r>
            <a:endParaRPr lang="en-US" sz="800" dirty="0"/>
          </a:p>
        </p:txBody>
      </p:sp>
      <p:pic>
        <p:nvPicPr>
          <p:cNvPr id="34" name="Image 0" descr="C:/Users/deogr/AppData/Local/Temp/claude/C--Users-deogr-Documents-Fall-Project-Off-Grid-Vehicle-dection-project/e8b2e8fa-1513-4aa8-a8f6-ce4fcd20e664/scratchpad/deck3/p_overall.jpg">    </p:cNvPr>
          <p:cNvPicPr>
            <a:picLocks noChangeAspect="1"/>
          </p:cNvPicPr>
          <p:nvPr/>
        </p:nvPicPr>
        <p:blipFill>
          <a:blip r:embed="rId1"/>
          <a:stretch>
            <a:fillRect/>
          </a:stretch>
        </p:blipFill>
        <p:spPr>
          <a:xfrm>
            <a:off x="6537960" y="1097280"/>
            <a:ext cx="2468880" cy="1773936"/>
          </a:xfrm>
          <a:prstGeom prst="rect">
            <a:avLst/>
          </a:prstGeom>
        </p:spPr>
      </p:pic>
      <p:sp>
        <p:nvSpPr>
          <p:cNvPr id="35" name="Shape 32"/>
          <p:cNvSpPr/>
          <p:nvPr/>
        </p:nvSpPr>
        <p:spPr>
          <a:xfrm>
            <a:off x="6537960" y="1097280"/>
            <a:ext cx="2468880" cy="1773936"/>
          </a:xfrm>
          <a:prstGeom prst="rect">
            <a:avLst/>
          </a:prstGeom>
          <a:ln w="12700">
            <a:solidFill>
              <a:srgbClr val="9AA7BE"/>
            </a:solidFill>
            <a:prstDash val="solid"/>
          </a:ln>
        </p:spPr>
      </p:sp>
      <p:sp>
        <p:nvSpPr>
          <p:cNvPr id="36" name="Text 33"/>
          <p:cNvSpPr txBox="1"/>
          <p:nvPr/>
        </p:nvSpPr>
        <p:spPr>
          <a:xfrm>
            <a:off x="6537960" y="2898648"/>
            <a:ext cx="24688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Our display: ME 33.60719 -101.89643</a:t>
            </a:r>
            <a:endParaRPr lang="en-US" sz="950" dirty="0"/>
          </a:p>
        </p:txBody>
      </p:sp>
      <p:sp>
        <p:nvSpPr>
          <p:cNvPr id="37" name="Shape 34"/>
          <p:cNvSpPr/>
          <p:nvPr/>
        </p:nvSpPr>
        <p:spPr>
          <a:xfrm>
            <a:off x="9144000" y="1097280"/>
            <a:ext cx="2606040" cy="2066544"/>
          </a:xfrm>
          <a:prstGeom prst="rect">
            <a:avLst/>
          </a:prstGeom>
          <a:solidFill>
            <a:srgbClr val="F2F5FA"/>
          </a:solidFill>
          <a:ln w="15875">
            <a:solidFill>
              <a:srgbClr val="1F9D68"/>
            </a:solidFill>
            <a:prstDash val="solid"/>
          </a:ln>
        </p:spPr>
      </p:sp>
      <p:sp>
        <p:nvSpPr>
          <p:cNvPr id="38" name="Text 35"/>
          <p:cNvSpPr txBox="1"/>
          <p:nvPr/>
        </p:nvSpPr>
        <p:spPr>
          <a:xfrm>
            <a:off x="9281160" y="1207008"/>
            <a:ext cx="2377440" cy="274320"/>
          </a:xfrm>
          <a:prstGeom prst="rect">
            <a:avLst/>
          </a:prstGeom>
          <a:noFill/>
          <a:ln/>
        </p:spPr>
        <p:txBody>
          <a:bodyPr wrap="square" lIns="0" tIns="0" rIns="0" bIns="0" rtlCol="0" anchor="ctr"/>
          <a:lstStyle/>
          <a:p>
            <a:pPr indent="0" marL="0">
              <a:buNone/>
            </a:pPr>
            <a:r>
              <a:rPr lang="en-US" sz="1050" b="1" spc="100" kern="0" dirty="0">
                <a:solidFill>
                  <a:srgbClr val="1F9D68"/>
                </a:solidFill>
                <a:latin typeface="Arial" pitchFamily="34" charset="0"/>
                <a:ea typeface="Arial" pitchFamily="34" charset="-122"/>
                <a:cs typeface="Arial" pitchFamily="34" charset="-120"/>
              </a:rPr>
              <a:t>POSITION CROSS-CHECK</a:t>
            </a:r>
            <a:endParaRPr lang="en-US" sz="1050" dirty="0"/>
          </a:p>
        </p:txBody>
      </p:sp>
      <p:sp>
        <p:nvSpPr>
          <p:cNvPr id="39" name="Text 36"/>
          <p:cNvSpPr txBox="1"/>
          <p:nvPr/>
        </p:nvSpPr>
        <p:spPr>
          <a:xfrm>
            <a:off x="9281160" y="1499616"/>
            <a:ext cx="2377440" cy="160934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fix on our display and the marker on the standard Meshtastic web client are the same position, read from the same radio by two independent programs. Agreement between clients that share no code is the accuracy check. Radio two will fill the PTR row through this same pipeline.</a:t>
            </a:r>
            <a:endParaRPr lang="en-US" sz="950" dirty="0"/>
          </a:p>
        </p:txBody>
      </p:sp>
      <p:sp>
        <p:nvSpPr>
          <p:cNvPr id="40" name="Text 37"/>
          <p:cNvSpPr txBox="1"/>
          <p:nvPr/>
        </p:nvSpPr>
        <p:spPr>
          <a:xfrm>
            <a:off x="6537960" y="3273552"/>
            <a:ext cx="5212080" cy="237744"/>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1" name="Image 1" descr="C:/Users/deogr/AppData/Local/Temp/claude/C--Users-deogr-Documents-Fall-Project-Off-Grid-Vehicle-dection-project/e8b2e8fa-1513-4aa8-a8f6-ce4fcd20e664/scratchpad/deck3/p_map.png">    </p:cNvPr>
          <p:cNvPicPr>
            <a:picLocks noChangeAspect="1"/>
          </p:cNvPicPr>
          <p:nvPr/>
        </p:nvPicPr>
        <p:blipFill>
          <a:blip r:embed="rId2"/>
          <a:stretch>
            <a:fillRect/>
          </a:stretch>
        </p:blipFill>
        <p:spPr>
          <a:xfrm>
            <a:off x="6537960" y="3529584"/>
            <a:ext cx="3703320" cy="2670048"/>
          </a:xfrm>
          <a:prstGeom prst="rect">
            <a:avLst/>
          </a:prstGeom>
        </p:spPr>
      </p:pic>
      <p:sp>
        <p:nvSpPr>
          <p:cNvPr id="42" name="Shape 38"/>
          <p:cNvSpPr/>
          <p:nvPr/>
        </p:nvSpPr>
        <p:spPr>
          <a:xfrm>
            <a:off x="6537960" y="3529584"/>
            <a:ext cx="3703320" cy="2670048"/>
          </a:xfrm>
          <a:prstGeom prst="rect">
            <a:avLst/>
          </a:prstGeom>
          <a:ln w="12700">
            <a:solidFill>
              <a:srgbClr val="9AA7BE"/>
            </a:solidFill>
            <a:prstDash val="solid"/>
          </a:ln>
        </p:spPr>
      </p:sp>
      <p:sp>
        <p:nvSpPr>
          <p:cNvPr id="43" name="Text 39"/>
          <p:cNvSpPr txBox="1"/>
          <p:nvPr/>
        </p:nvSpPr>
        <p:spPr>
          <a:xfrm>
            <a:off x="10378440" y="3529584"/>
            <a:ext cx="1371600" cy="2670048"/>
          </a:xfrm>
          <a:prstGeom prst="rect">
            <a:avLst/>
          </a:prstGeom>
          <a:noFill/>
          <a:ln/>
        </p:spPr>
        <p:txBody>
          <a:bodyPr wrap="square" lIns="0" tIns="0" rIns="0" bIns="0" rtlCol="0" anchor="ctr"/>
          <a:lstStyle/>
          <a:p>
            <a:pPr indent="0" marL="0">
              <a:buNone/>
            </a:pPr>
            <a:r>
              <a:rPr lang="en-US" sz="900" dirty="0">
                <a:solidFill>
                  <a:srgbClr val="5E6B85"/>
                </a:solidFill>
                <a:latin typeface="Arial" pitchFamily="34" charset="0"/>
                <a:ea typeface="Arial" pitchFamily="34" charset="-122"/>
                <a:cs typeface="Arial" pitchFamily="34" charset="-120"/>
              </a:rPr>
              <a:t>One device proves four of five layers at zero coordination cost. The dashed layer waits only for radio two; no display code changes.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11/13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13/13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08.</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meshtastic.org/docs/configuration/radio/lora  ·  /position</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ecfr.gov/current/title-47/part-15/section-15.247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itu.int/rec/R-REC-M.1371</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hardware/README. Our link budget, architecture,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2026-09-07T19:34:23Z</dcterms:created>
  <dcterms:modified xsi:type="dcterms:W3CDTF">2026-09-07T19:34:23Z</dcterms:modified>
</cp:coreProperties>
</file>