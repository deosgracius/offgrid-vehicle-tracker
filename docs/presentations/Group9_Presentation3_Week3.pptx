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notesMasterIdLst>
    <p:notesMasterId r:id="rId11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Sector map first: the yellow protocol box is mine. Emphasize the single interface (TrackerState v2, mutex-protected) and that everything on the left half is now road-tested: direct connect by remembered address, Just Works encryption, drain-until-empty, duplicate re-broadcast detection for honest ages.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Walk the arrows: GATT read loop until empty (one notify can mean many frames); nanopb decode generated from Meshtastic's own schema; node_table publishes once a second; UI reads its own snapshot at 2 Hz, dead-reckons it forward, computes the arrow. The bottom card is the week's debugging harvest - every item came from a real drive test.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Sector flow left to right, then the two code fragments that do all the work. Emphasize testability: nav.c and dead_reckon.c are pure C, unit-tested on the laptop with no hardware (12/12 passing).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All four photos are the real display running on decoded radio packets. Point out the state machine at work: banner + chevron in the driving view, automatic rose fallback when stopped, the diagnostic page with raw coordinates for debugging.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Radio sector: hardware diagram, then the configuration that came out of three road tests: 10 s / 20 m smart broadcast with 10 s GPS refresh, full-precision positions on the private AES channel. The amber card is the provisioning recipe for radio #2 - the channel URL is the crown jewels.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is the slide that answers 'why not every second'. Walk eq 1: symbol time 2^SF/BW, SF11 means 2048-chip symbols, ~0.5 s per position packet. Eq 2: two vehicles at 1 Hz = 100% channel = collapse; at 10 s it is 10%, healthy. Eq 3: the same spreading factor buys -131 dBm sensitivity, 15 dB below thermal noise - that is where the kilometers come from. Eq 4: latency ~1 s (airtime + BLE + render) - the system IS real-time in information delay; 10 s is the sampling period. Eq 5: dead reckoning projects both vehicles at 1 Hz between fixes. AIS ships beacon at 2-30 s and every chartplotter animates between reports - same trick.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Cannon's role: every one of these constraints becomes a test-protocol line item. The strongest point: none are guesses - phantom speed, the advertise-once trap, the charger cutoff, the config-revert trap were all discovered on the bench or on the road and are documented in the repo with their fixes.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jpg"/><Relationship Id="rId2" Type="http://schemas.openxmlformats.org/officeDocument/2006/relationships/image" Target="../media/image-5-2.jpg"/><Relationship Id="rId3" Type="http://schemas.openxmlformats.org/officeDocument/2006/relationships/image" Target="../media/image-5-3.jpg"/><Relationship Id="rId4" Type="http://schemas.openxmlformats.org/officeDocument/2006/relationships/image" Target="../media/image-5-4.jp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jpg"/><Relationship Id="rId3" Type="http://schemas.openxmlformats.org/officeDocument/2006/relationships/image" Target="../media/image-6-3.jp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image" Target="../media/image-7-4.png"/><Relationship Id="rId5" Type="http://schemas.openxmlformats.org/officeDocument/2006/relationships/image" Target="../media/image-7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731520"/>
            <a:ext cx="10972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3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WEEK 3 — FROM ARCHITECTURE TO A WORKING TRACKER</a:t>
            </a:r>
            <a:endParaRPr lang="en-US" sz="3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1481328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Off-Grid Vehicle Tracker  ·  Group 9  ·  Sponsor: Dr. Richard Gale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640080" y="2103120"/>
            <a:ext cx="10881360" cy="1051560"/>
          </a:xfrm>
          <a:prstGeom prst="roundRect">
            <a:avLst>
              <a:gd name="adj" fmla="val 8696"/>
            </a:avLst>
          </a:prstGeom>
          <a:solidFill>
            <a:srgbClr val="2A3575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914400" y="2240280"/>
            <a:ext cx="10332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week: the display shows a live partner — arrow, distance, freshness — decoded end-to-end from real radio packets. Each section: the sector's architecture, then the working hardware and the code behind it.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640080" y="3520440"/>
            <a:ext cx="2560320" cy="1463040"/>
          </a:xfrm>
          <a:prstGeom prst="roundRect">
            <a:avLst>
              <a:gd name="adj" fmla="val 5625"/>
            </a:avLst>
          </a:prstGeom>
          <a:solidFill>
            <a:srgbClr val="2A3575"/>
          </a:solidFill>
          <a:ln/>
        </p:spPr>
      </p:sp>
      <p:sp>
        <p:nvSpPr>
          <p:cNvPr id="7" name="Shape 5"/>
          <p:cNvSpPr/>
          <p:nvPr/>
        </p:nvSpPr>
        <p:spPr>
          <a:xfrm>
            <a:off x="640080" y="3520440"/>
            <a:ext cx="2560320" cy="91440"/>
          </a:xfrm>
          <a:prstGeom prst="roundRect">
            <a:avLst/>
          </a:prstGeom>
          <a:solidFill>
            <a:srgbClr val="1199BD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640080" y="3675888"/>
            <a:ext cx="2560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Deo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640080" y="4005072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Backend — protocol/</a:t>
            </a: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777240" y="4297680"/>
            <a:ext cx="22860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BLE link · nanopb decode · TrackerState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3401568" y="3520440"/>
            <a:ext cx="2560320" cy="1463040"/>
          </a:xfrm>
          <a:prstGeom prst="roundRect">
            <a:avLst>
              <a:gd name="adj" fmla="val 5625"/>
            </a:avLst>
          </a:prstGeom>
          <a:solidFill>
            <a:srgbClr val="2A3575"/>
          </a:solidFill>
          <a:ln/>
        </p:spPr>
      </p:sp>
      <p:sp>
        <p:nvSpPr>
          <p:cNvPr id="12" name="Shape 10"/>
          <p:cNvSpPr/>
          <p:nvPr/>
        </p:nvSpPr>
        <p:spPr>
          <a:xfrm>
            <a:off x="3401568" y="3520440"/>
            <a:ext cx="2560320" cy="91440"/>
          </a:xfrm>
          <a:prstGeom prst="roundRect">
            <a:avLst/>
          </a:prstGeom>
          <a:solidFill>
            <a:srgbClr val="6D4BDB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3401568" y="3675888"/>
            <a:ext cx="2560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Josiah</a:t>
            </a:r>
            <a:endParaRPr lang="en-US" sz="1600" dirty="0"/>
          </a:p>
        </p:txBody>
      </p:sp>
      <p:sp>
        <p:nvSpPr>
          <p:cNvPr id="14" name="Text 12"/>
          <p:cNvSpPr txBox="1"/>
          <p:nvPr/>
        </p:nvSpPr>
        <p:spPr>
          <a:xfrm>
            <a:off x="3401568" y="4005072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Frontend — ui/ + nav/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3538728" y="4297680"/>
            <a:ext cx="22860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arrow math · two-page UI · dead reckoning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6163056" y="3520440"/>
            <a:ext cx="2560320" cy="1463040"/>
          </a:xfrm>
          <a:prstGeom prst="roundRect">
            <a:avLst>
              <a:gd name="adj" fmla="val 5625"/>
            </a:avLst>
          </a:prstGeom>
          <a:solidFill>
            <a:srgbClr val="2A3575"/>
          </a:solidFill>
          <a:ln/>
        </p:spPr>
      </p:sp>
      <p:sp>
        <p:nvSpPr>
          <p:cNvPr id="17" name="Shape 15"/>
          <p:cNvSpPr/>
          <p:nvPr/>
        </p:nvSpPr>
        <p:spPr>
          <a:xfrm>
            <a:off x="6163056" y="3520440"/>
            <a:ext cx="2560320" cy="91440"/>
          </a:xfrm>
          <a:prstGeom prst="roundRect">
            <a:avLst/>
          </a:prstGeom>
          <a:solidFill>
            <a:srgbClr val="E58E1A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6163056" y="3675888"/>
            <a:ext cx="2560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Victor</a:t>
            </a:r>
            <a:endParaRPr lang="en-US" sz="1600" dirty="0"/>
          </a:p>
        </p:txBody>
      </p:sp>
      <p:sp>
        <p:nvSpPr>
          <p:cNvPr id="19" name="Text 17"/>
          <p:cNvSpPr txBox="1"/>
          <p:nvPr/>
        </p:nvSpPr>
        <p:spPr>
          <a:xfrm>
            <a:off x="6163056" y="4005072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E58E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Radio &amp; PHY</a:t>
            </a:r>
            <a:endParaRPr lang="en-US" sz="1200" dirty="0"/>
          </a:p>
        </p:txBody>
      </p:sp>
      <p:sp>
        <p:nvSpPr>
          <p:cNvPr id="20" name="Text 18"/>
          <p:cNvSpPr txBox="1"/>
          <p:nvPr/>
        </p:nvSpPr>
        <p:spPr>
          <a:xfrm>
            <a:off x="6300216" y="4297680"/>
            <a:ext cx="22860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LoRa physics · real-time vs 10 s · antennas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8924544" y="3520440"/>
            <a:ext cx="2560320" cy="1463040"/>
          </a:xfrm>
          <a:prstGeom prst="roundRect">
            <a:avLst>
              <a:gd name="adj" fmla="val 5625"/>
            </a:avLst>
          </a:prstGeom>
          <a:solidFill>
            <a:srgbClr val="2A3575"/>
          </a:solidFill>
          <a:ln/>
        </p:spPr>
      </p:sp>
      <p:sp>
        <p:nvSpPr>
          <p:cNvPr id="22" name="Shape 20"/>
          <p:cNvSpPr/>
          <p:nvPr/>
        </p:nvSpPr>
        <p:spPr>
          <a:xfrm>
            <a:off x="8924544" y="3520440"/>
            <a:ext cx="2560320" cy="91440"/>
          </a:xfrm>
          <a:prstGeom prst="roundRect">
            <a:avLst/>
          </a:prstGeom>
          <a:solidFill>
            <a:srgbClr val="D9488C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8924544" y="3675888"/>
            <a:ext cx="2560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Cannon</a:t>
            </a:r>
            <a:endParaRPr lang="en-US" sz="1600" dirty="0"/>
          </a:p>
        </p:txBody>
      </p:sp>
      <p:sp>
        <p:nvSpPr>
          <p:cNvPr id="24" name="Text 22"/>
          <p:cNvSpPr txBox="1"/>
          <p:nvPr/>
        </p:nvSpPr>
        <p:spPr>
          <a:xfrm>
            <a:off x="8924544" y="4005072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Integration &amp; Test</a:t>
            </a:r>
            <a:endParaRPr lang="en-US" sz="1200" dirty="0"/>
          </a:p>
        </p:txBody>
      </p:sp>
      <p:sp>
        <p:nvSpPr>
          <p:cNvPr id="25" name="Text 23"/>
          <p:cNvSpPr txBox="1"/>
          <p:nvPr/>
        </p:nvSpPr>
        <p:spPr>
          <a:xfrm>
            <a:off x="9061704" y="4297680"/>
            <a:ext cx="22860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constraints ledger · test protocol</a:t>
            </a:r>
            <a:endParaRPr lang="en-US" sz="1000" dirty="0"/>
          </a:p>
        </p:txBody>
      </p:sp>
      <p:sp>
        <p:nvSpPr>
          <p:cNvPr id="26" name="Text 24"/>
          <p:cNvSpPr txBox="1"/>
          <p:nvPr/>
        </p:nvSpPr>
        <p:spPr>
          <a:xfrm>
            <a:off x="640080" y="5440680"/>
            <a:ext cx="10881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Schedule check: 29% complete vs ~19% target at week 3 — ahead of plan · 60 h logged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37744"/>
            <a:ext cx="10058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Backend — protocol/ : The Data Spine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10561320" y="310896"/>
            <a:ext cx="1143000" cy="384048"/>
          </a:xfrm>
          <a:prstGeom prst="roundRect">
            <a:avLst>
              <a:gd name="adj" fmla="val 19048"/>
            </a:avLst>
          </a:prstGeom>
          <a:solidFill>
            <a:srgbClr val="1199BD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10561320" y="365760"/>
            <a:ext cx="1143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Deo</a:t>
            </a:r>
            <a:endParaRPr lang="en-US" sz="1300" dirty="0"/>
          </a:p>
        </p:txBody>
      </p:sp>
      <p:pic>
        <p:nvPicPr>
          <p:cNvPr id="5" name="Image 0" descr="C:/Users/deogr/AppData/Local/Temp/claude/C--Users-deogr-Documents-Fall-Project-Off-Grid-Vehicle-dection-project/e8b2e8fa-1513-4aa8-a8f6-ce4fcd20e664/scratchpad/mermaid_png/diag5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051560"/>
            <a:ext cx="10881360" cy="3072384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640080" y="4343400"/>
            <a:ext cx="109728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222A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Left chain is the backend: ble_link (NimBLE central, direct-connect by NVS address) → proto_decode (nanopb) → node_table (own + partner fixes, GPS clock, re-broadcast dedupe) → writes TrackerState v2.</a:t>
            </a:r>
            <a:endParaRPr lang="en-US" sz="12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222A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writer, one reader, one mutex — the halves never call each other; the sim feed can replace the whole backend and the frontend cannot tell.</a:t>
            </a:r>
            <a:endParaRPr lang="en-US" sz="1250" dirty="0"/>
          </a:p>
          <a:p>
            <a:pPr marL="342900" indent="-342900">
              <a:buSzPct val="100000"/>
              <a:buChar char="•"/>
            </a:pPr>
            <a:r>
              <a:rPr lang="en-US" sz="1250" dirty="0">
                <a:solidFill>
                  <a:srgbClr val="222A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Status: live-proven. Bonded link, full config-dump handshake, positions decoding at the 10 s broadcast cadence, automatic reconnect after drops.</a:t>
            </a:r>
            <a:endParaRPr lang="en-US" sz="12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37744"/>
            <a:ext cx="10058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How the Pieces Connect — the Actual Code Path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10561320" y="310896"/>
            <a:ext cx="1143000" cy="384048"/>
          </a:xfrm>
          <a:prstGeom prst="roundRect">
            <a:avLst>
              <a:gd name="adj" fmla="val 19048"/>
            </a:avLst>
          </a:prstGeom>
          <a:solidFill>
            <a:srgbClr val="1199BD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10561320" y="365760"/>
            <a:ext cx="1143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Deo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502920" y="1097280"/>
            <a:ext cx="5486400" cy="1371600"/>
          </a:xfrm>
          <a:prstGeom prst="roundRect">
            <a:avLst>
              <a:gd name="adj" fmla="val 4667"/>
            </a:avLst>
          </a:prstGeom>
          <a:solidFill>
            <a:srgbClr val="222A3F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640080" y="1152144"/>
            <a:ext cx="5212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199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ble_link.cpp — drain the radio's GATT queue</a:t>
            </a:r>
            <a:endParaRPr lang="en-US" sz="1000" dirty="0"/>
          </a:p>
        </p:txBody>
      </p:sp>
      <p:sp>
        <p:nvSpPr>
          <p:cNvPr id="7" name="Text 5"/>
          <p:cNvSpPr txBox="1"/>
          <p:nvPr/>
        </p:nvSpPr>
        <p:spPr>
          <a:xfrm>
            <a:off x="640080" y="1389888"/>
            <a:ext cx="5212080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CADC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for (;;) {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CADC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NimBLEAttValue v = s_fromRadio-&gt;readValue();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CADC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if (v.size() == 0) break;      // queue empty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CADC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proto_decode_from_radio(v.data(), v.size());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CADC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6309360" y="1097280"/>
            <a:ext cx="5394960" cy="1371600"/>
          </a:xfrm>
          <a:prstGeom prst="roundRect">
            <a:avLst>
              <a:gd name="adj" fmla="val 4667"/>
            </a:avLst>
          </a:prstGeom>
          <a:solidFill>
            <a:srgbClr val="222A3F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6446520" y="1152144"/>
            <a:ext cx="5120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199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proto_decode.cpp — bytes -&gt; named fields (nanopb)</a:t>
            </a:r>
            <a:endParaRPr lang="en-US" sz="1000" dirty="0"/>
          </a:p>
        </p:txBody>
      </p:sp>
      <p:sp>
        <p:nvSpPr>
          <p:cNvPr id="10" name="Text 8"/>
          <p:cNvSpPr txBox="1"/>
          <p:nvPr/>
        </p:nvSpPr>
        <p:spPr>
          <a:xfrm>
            <a:off x="6446520" y="1389888"/>
            <a:ext cx="5120640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CADC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if (pb_decode(&amp;is, meshtastic_Position_fields, &amp;pos))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CADC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node_table_position(pkt-&gt;from,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CADC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pos-&gt;latitude_i, pos-&gt;longitude_i, ...,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CADC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pos-&gt;ground_speed, pos-&gt;time);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3246120" y="2468880"/>
            <a:ext cx="0" cy="365760"/>
          </a:xfrm>
          <a:prstGeom prst="line">
            <a:avLst/>
          </a:prstGeom>
          <a:noFill/>
          <a:ln w="28575">
            <a:solidFill>
              <a:srgbClr val="1199BD"/>
            </a:solidFill>
            <a:prstDash val="solid"/>
            <a:tailEnd type="triangle"/>
          </a:ln>
        </p:spPr>
      </p:sp>
      <p:sp>
        <p:nvSpPr>
          <p:cNvPr id="12" name="Shape 10"/>
          <p:cNvSpPr/>
          <p:nvPr/>
        </p:nvSpPr>
        <p:spPr>
          <a:xfrm>
            <a:off x="9006840" y="2468880"/>
            <a:ext cx="0" cy="365760"/>
          </a:xfrm>
          <a:prstGeom prst="line">
            <a:avLst/>
          </a:prstGeom>
          <a:noFill/>
          <a:ln w="28575">
            <a:solidFill>
              <a:srgbClr val="1199BD"/>
            </a:solidFill>
            <a:prstDash val="solid"/>
            <a:tailEnd type="triangle"/>
          </a:ln>
        </p:spPr>
      </p:sp>
      <p:sp>
        <p:nvSpPr>
          <p:cNvPr id="13" name="Shape 11"/>
          <p:cNvSpPr/>
          <p:nvPr/>
        </p:nvSpPr>
        <p:spPr>
          <a:xfrm>
            <a:off x="502920" y="2834640"/>
            <a:ext cx="5486400" cy="1417320"/>
          </a:xfrm>
          <a:prstGeom prst="roundRect">
            <a:avLst>
              <a:gd name="adj" fmla="val 4516"/>
            </a:avLst>
          </a:prstGeom>
          <a:solidFill>
            <a:srgbClr val="222A3F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640080" y="2889504"/>
            <a:ext cx="5212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199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node_table.cpp — publish the contract (1 Hz)</a:t>
            </a:r>
            <a:endParaRPr lang="en-US" sz="1000" dirty="0"/>
          </a:p>
        </p:txBody>
      </p:sp>
      <p:sp>
        <p:nvSpPr>
          <p:cNvPr id="15" name="Text 13"/>
          <p:cNvSpPr txBox="1"/>
          <p:nvPr/>
        </p:nvSpPr>
        <p:spPr>
          <a:xfrm>
            <a:off x="640080" y="3127248"/>
            <a:ext cx="5212080" cy="10332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CADC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TrackerState st;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CADC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st.self = s_self.fix;   st.partner = s_partner.fix;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CADC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st.ble_connected = connected;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CADC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st.utc_epoch = s_utc_epoch;      // GPS wall clock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CADC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tracker_store_set(&amp;st);          // the ONE writer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6309360" y="2834640"/>
            <a:ext cx="5394960" cy="1417320"/>
          </a:xfrm>
          <a:prstGeom prst="roundRect">
            <a:avLst>
              <a:gd name="adj" fmla="val 4516"/>
            </a:avLst>
          </a:prstGeom>
          <a:solidFill>
            <a:srgbClr val="222A3F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6446520" y="2889504"/>
            <a:ext cx="5120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6D4BD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ui_render.cpp — frontend picks it up (2 Hz)</a:t>
            </a:r>
            <a:endParaRPr lang="en-US" sz="1000" dirty="0"/>
          </a:p>
        </p:txBody>
      </p:sp>
      <p:sp>
        <p:nvSpPr>
          <p:cNvPr id="18" name="Text 16"/>
          <p:cNvSpPr txBox="1"/>
          <p:nvPr/>
        </p:nvSpPr>
        <p:spPr>
          <a:xfrm>
            <a:off x="6446520" y="3127248"/>
            <a:ext cx="5120640" cy="10332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CADC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tracker_store_get(&amp;st);          // the ONE reader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CADC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dr_apply(&amp;st);   // dead-reckon fixes forward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CADC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NavOutput nav = nav_compute(&amp;st);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CADC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-&gt; arrow angle, distance, ages, clock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5989320" y="3538728"/>
            <a:ext cx="320040" cy="0"/>
          </a:xfrm>
          <a:prstGeom prst="line">
            <a:avLst/>
          </a:prstGeom>
          <a:noFill/>
          <a:ln w="28575">
            <a:solidFill>
              <a:srgbClr val="1E2761"/>
            </a:solidFill>
            <a:prstDash val="solid"/>
            <a:tailEnd type="triangle"/>
          </a:ln>
        </p:spPr>
      </p:sp>
      <p:sp>
        <p:nvSpPr>
          <p:cNvPr id="20" name="Text 18"/>
          <p:cNvSpPr txBox="1"/>
          <p:nvPr/>
        </p:nvSpPr>
        <p:spPr>
          <a:xfrm>
            <a:off x="5166360" y="3749040"/>
            <a:ext cx="20116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5B6B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mutex boundary</a:t>
            </a:r>
            <a:endParaRPr lang="en-US" sz="950" dirty="0"/>
          </a:p>
        </p:txBody>
      </p:sp>
      <p:sp>
        <p:nvSpPr>
          <p:cNvPr id="21" name="Shape 19"/>
          <p:cNvSpPr/>
          <p:nvPr/>
        </p:nvSpPr>
        <p:spPr>
          <a:xfrm>
            <a:off x="502920" y="4617720"/>
            <a:ext cx="11201400" cy="1600200"/>
          </a:xfrm>
          <a:prstGeom prst="roundRect">
            <a:avLst>
              <a:gd name="adj" fmla="val 5714"/>
            </a:avLst>
          </a:prstGeom>
          <a:solidFill>
            <a:srgbClr val="F2F6FC"/>
          </a:solidFill>
          <a:ln w="12700">
            <a:solidFill>
              <a:srgbClr val="C9D9EE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777240" y="4800600"/>
            <a:ext cx="1069848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800"/>
              </a:spcAft>
              <a:buNone/>
            </a:pPr>
            <a:r>
              <a:rPr lang="en-US" sz="1250" dirty="0">
                <a:solidFill>
                  <a:srgbClr val="222A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Four files, one direction of flow, one shared struct. The blue boxes are backend (Deo), the purple box is frontend (Josiah) — they meet only at tracker_store_set / tracker_store_get, which take the mutex internally so locked access is the only possible access.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222A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Field-hardened this week: km/h→m/s wire units, GPS-jitter speed deadband (&lt;4.5 km/h reads 0), bit-identical re-broadcast detection so a radio with no GPS lock cannot reset the data age, and a monotonic guard so the clock never runs backwards.</a:t>
            </a:r>
            <a:endParaRPr lang="en-US" sz="12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37744"/>
            <a:ext cx="10058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Frontend — ui/ + nav/ : From Struct to Arrow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10561320" y="310896"/>
            <a:ext cx="1143000" cy="384048"/>
          </a:xfrm>
          <a:prstGeom prst="roundRect">
            <a:avLst>
              <a:gd name="adj" fmla="val 19048"/>
            </a:avLst>
          </a:prstGeom>
          <a:solidFill>
            <a:srgbClr val="6D4BDB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10561320" y="365760"/>
            <a:ext cx="1143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Josiah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502920" y="1188720"/>
            <a:ext cx="2103120" cy="868680"/>
          </a:xfrm>
          <a:prstGeom prst="roundRect">
            <a:avLst>
              <a:gd name="adj" fmla="val 7368"/>
            </a:avLst>
          </a:prstGeom>
          <a:solidFill>
            <a:srgbClr val="FFFFFF"/>
          </a:solidFill>
          <a:ln w="19050">
            <a:solidFill>
              <a:srgbClr val="1E2761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576072" y="1188720"/>
            <a:ext cx="1956816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TrackerState v2</a:t>
            </a:r>
            <a:endParaRPr lang="en-US" sz="1150" dirty="0"/>
          </a:p>
          <a:p>
            <a:pPr algn="ctr" indent="0" marL="0">
              <a:buNone/>
            </a:pPr>
            <a:r>
              <a:rPr lang="en-US" sz="950" dirty="0">
                <a:solidFill>
                  <a:srgbClr val="5B6B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snapshot copy (mutex)</a:t>
            </a:r>
            <a:endParaRPr lang="en-US" sz="1150" dirty="0"/>
          </a:p>
        </p:txBody>
      </p:sp>
      <p:sp>
        <p:nvSpPr>
          <p:cNvPr id="7" name="Shape 5"/>
          <p:cNvSpPr/>
          <p:nvPr/>
        </p:nvSpPr>
        <p:spPr>
          <a:xfrm>
            <a:off x="2606040" y="1618488"/>
            <a:ext cx="457200" cy="0"/>
          </a:xfrm>
          <a:prstGeom prst="line">
            <a:avLst/>
          </a:prstGeom>
          <a:noFill/>
          <a:ln w="28575">
            <a:solidFill>
              <a:srgbClr val="6D4BDB"/>
            </a:solidFill>
            <a:prstDash val="solid"/>
            <a:tailEnd type="triangle"/>
          </a:ln>
        </p:spPr>
      </p:sp>
      <p:sp>
        <p:nvSpPr>
          <p:cNvPr id="8" name="Shape 6"/>
          <p:cNvSpPr/>
          <p:nvPr/>
        </p:nvSpPr>
        <p:spPr>
          <a:xfrm>
            <a:off x="3063240" y="1188720"/>
            <a:ext cx="2194560" cy="868680"/>
          </a:xfrm>
          <a:prstGeom prst="roundRect">
            <a:avLst>
              <a:gd name="adj" fmla="val 7368"/>
            </a:avLst>
          </a:prstGeom>
          <a:solidFill>
            <a:srgbClr val="FFFFFF"/>
          </a:solidFill>
          <a:ln w="19050">
            <a:solidFill>
              <a:srgbClr val="6D4BD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136392" y="1188720"/>
            <a:ext cx="2048256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dr_apply()</a:t>
            </a:r>
            <a:endParaRPr lang="en-US" sz="1150" dirty="0"/>
          </a:p>
          <a:p>
            <a:pPr algn="ctr" indent="0" marL="0">
              <a:buNone/>
            </a:pPr>
            <a:r>
              <a:rPr lang="en-US" sz="950" dirty="0">
                <a:solidFill>
                  <a:srgbClr val="5B6B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dead reckoning: project fixes fwd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5257800" y="1618488"/>
            <a:ext cx="457200" cy="0"/>
          </a:xfrm>
          <a:prstGeom prst="line">
            <a:avLst/>
          </a:prstGeom>
          <a:noFill/>
          <a:ln w="28575">
            <a:solidFill>
              <a:srgbClr val="6D4BDB"/>
            </a:solidFill>
            <a:prstDash val="solid"/>
            <a:tailEnd type="triangle"/>
          </a:ln>
        </p:spPr>
      </p:sp>
      <p:sp>
        <p:nvSpPr>
          <p:cNvPr id="11" name="Shape 9"/>
          <p:cNvSpPr/>
          <p:nvPr/>
        </p:nvSpPr>
        <p:spPr>
          <a:xfrm>
            <a:off x="5715000" y="1188720"/>
            <a:ext cx="2194560" cy="868680"/>
          </a:xfrm>
          <a:prstGeom prst="roundRect">
            <a:avLst>
              <a:gd name="adj" fmla="val 7368"/>
            </a:avLst>
          </a:prstGeom>
          <a:solidFill>
            <a:srgbClr val="FFFFFF"/>
          </a:solidFill>
          <a:ln w="19050">
            <a:solidFill>
              <a:srgbClr val="6D4BDB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5788152" y="1188720"/>
            <a:ext cx="2048256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nav_compute()</a:t>
            </a:r>
            <a:endParaRPr lang="en-US" sz="1150" dirty="0"/>
          </a:p>
          <a:p>
            <a:pPr algn="ctr" indent="0" marL="0">
              <a:buNone/>
            </a:pPr>
            <a:r>
              <a:rPr lang="en-US" sz="950" dirty="0">
                <a:solidFill>
                  <a:srgbClr val="5B6B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distance · bearing · arrow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7909560" y="1618488"/>
            <a:ext cx="457200" cy="0"/>
          </a:xfrm>
          <a:prstGeom prst="line">
            <a:avLst/>
          </a:prstGeom>
          <a:noFill/>
          <a:ln w="28575">
            <a:solidFill>
              <a:srgbClr val="6D4BDB"/>
            </a:solidFill>
            <a:prstDash val="solid"/>
            <a:tailEnd type="triangle"/>
          </a:ln>
        </p:spPr>
      </p:sp>
      <p:sp>
        <p:nvSpPr>
          <p:cNvPr id="14" name="Shape 12"/>
          <p:cNvSpPr/>
          <p:nvPr/>
        </p:nvSpPr>
        <p:spPr>
          <a:xfrm>
            <a:off x="8366760" y="1188720"/>
            <a:ext cx="3200400" cy="868680"/>
          </a:xfrm>
          <a:prstGeom prst="roundRect">
            <a:avLst>
              <a:gd name="adj" fmla="val 7368"/>
            </a:avLst>
          </a:prstGeom>
          <a:solidFill>
            <a:srgbClr val="FFFFFF"/>
          </a:solidFill>
          <a:ln w="19050">
            <a:solidFill>
              <a:srgbClr val="6D4BDB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8439912" y="1188720"/>
            <a:ext cx="3054096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render @ 2 Hz</a:t>
            </a:r>
            <a:endParaRPr lang="en-US" sz="1150" dirty="0"/>
          </a:p>
          <a:p>
            <a:pPr algn="ctr" indent="0" marL="0">
              <a:buNone/>
            </a:pPr>
            <a:r>
              <a:rPr lang="en-US" sz="950" dirty="0">
                <a:solidFill>
                  <a:srgbClr val="5B6B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compass page ⇄ status page (KEY tap) · hold = reset</a:t>
            </a:r>
            <a:endParaRPr lang="en-US" sz="1150" dirty="0"/>
          </a:p>
        </p:txBody>
      </p:sp>
      <p:sp>
        <p:nvSpPr>
          <p:cNvPr id="16" name="Text 14"/>
          <p:cNvSpPr txBox="1"/>
          <p:nvPr/>
        </p:nvSpPr>
        <p:spPr>
          <a:xfrm>
            <a:off x="502920" y="233172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nav math (nav.c — unit-tested, 12/12 native tests pass):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502920" y="2697480"/>
            <a:ext cx="5486400" cy="1234440"/>
          </a:xfrm>
          <a:prstGeom prst="roundRect">
            <a:avLst>
              <a:gd name="adj" fmla="val 5185"/>
            </a:avLst>
          </a:prstGeom>
          <a:solidFill>
            <a:srgbClr val="222A3F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640080" y="2752344"/>
            <a:ext cx="5212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6D4BD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nav.c — the arrow in three lines</a:t>
            </a:r>
            <a:endParaRPr lang="en-US" sz="1000" dirty="0"/>
          </a:p>
        </p:txBody>
      </p:sp>
      <p:sp>
        <p:nvSpPr>
          <p:cNvPr id="19" name="Text 17"/>
          <p:cNvSpPr txBox="1"/>
          <p:nvPr/>
        </p:nvSpPr>
        <p:spPr>
          <a:xfrm>
            <a:off x="640080" y="2990088"/>
            <a:ext cx="5212080" cy="8503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CADC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       = haversine(self, partner);      // meters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CADC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bearing = initial_bearing(self, partner); // deg true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CADC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arrow   = wrap180(bearing - self.course); // 0 = ahead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6309360" y="2697480"/>
            <a:ext cx="5394960" cy="1234440"/>
          </a:xfrm>
          <a:prstGeom prst="roundRect">
            <a:avLst>
              <a:gd name="adj" fmla="val 5185"/>
            </a:avLst>
          </a:prstGeom>
          <a:solidFill>
            <a:srgbClr val="222A3F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6446520" y="2752344"/>
            <a:ext cx="5120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6D4BD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dead_reckon.c — 1 Hz feel between 10 s fixes</a:t>
            </a:r>
            <a:endParaRPr lang="en-US" sz="1000" dirty="0"/>
          </a:p>
        </p:txBody>
      </p:sp>
      <p:sp>
        <p:nvSpPr>
          <p:cNvPr id="22" name="Text 20"/>
          <p:cNvSpPr txBox="1"/>
          <p:nvPr/>
        </p:nvSpPr>
        <p:spPr>
          <a:xfrm>
            <a:off x="6446520" y="2990088"/>
            <a:ext cx="5120640" cy="8503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CADC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 = speed * min(age, 120);   // meters traveled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CADC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lat += d*cos(course)/111320;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CADC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lon += d*sin(course)/(111320*cos(lat));</a:t>
            </a:r>
            <a:endParaRPr lang="en-US" sz="1000" dirty="0"/>
          </a:p>
        </p:txBody>
      </p:sp>
      <p:sp>
        <p:nvSpPr>
          <p:cNvPr id="23" name="Text 21"/>
          <p:cNvSpPr txBox="1"/>
          <p:nvPr/>
        </p:nvSpPr>
        <p:spPr>
          <a:xfrm>
            <a:off x="502920" y="4160520"/>
            <a:ext cx="111556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222A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Heading comes from GPS course-over-ground — no magnetometer (unreliable inside a steel cab). Below 5 mph the arrow falls back to a north-up compass rose: course is noise when parked.</a:t>
            </a:r>
            <a:endParaRPr lang="en-US" sz="1250" dirty="0"/>
          </a:p>
          <a:p>
            <a:pPr marL="342900" indent="-342900">
              <a:buSzPct val="100000"/>
              <a:buChar char="•"/>
            </a:pPr>
            <a:r>
              <a:rPr lang="en-US" sz="1250" dirty="0">
                <a:solidFill>
                  <a:srgbClr val="222A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element is state-driven from the struct: CHANGE COURSE engages after 5 s off-course and clears on recovery; blinker chevrons show turn direction; STALE banner past 120 s; the clock derives its timezone from position.</a:t>
            </a:r>
            <a:endParaRPr lang="en-US" sz="1250" dirty="0"/>
          </a:p>
        </p:txBody>
      </p:sp>
      <p:sp>
        <p:nvSpPr>
          <p:cNvPr id="24" name="Shape 22"/>
          <p:cNvSpPr/>
          <p:nvPr/>
        </p:nvSpPr>
        <p:spPr>
          <a:xfrm>
            <a:off x="502920" y="5486400"/>
            <a:ext cx="11201400" cy="777240"/>
          </a:xfrm>
          <a:prstGeom prst="roundRect">
            <a:avLst>
              <a:gd name="adj" fmla="val 11765"/>
            </a:avLst>
          </a:prstGeom>
          <a:solidFill>
            <a:srgbClr val="1E2761"/>
          </a:solidFill>
          <a:ln/>
        </p:spPr>
      </p:sp>
      <p:sp>
        <p:nvSpPr>
          <p:cNvPr id="25" name="Text 23"/>
          <p:cNvSpPr txBox="1"/>
          <p:nvPr/>
        </p:nvSpPr>
        <p:spPr>
          <a:xfrm>
            <a:off x="777240" y="5596128"/>
            <a:ext cx="106984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Dead reckoning is why the screen feels live: measurements arrive every 10 s, but the display re-projects both vehicles every second along their last course and speed — and every real fix snaps it back to truth.</a:t>
            </a:r>
            <a:endParaRPr lang="en-US" sz="12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37744"/>
            <a:ext cx="10058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UI, Running on Real Packets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10561320" y="310896"/>
            <a:ext cx="1143000" cy="384048"/>
          </a:xfrm>
          <a:prstGeom prst="roundRect">
            <a:avLst>
              <a:gd name="adj" fmla="val 19048"/>
            </a:avLst>
          </a:prstGeom>
          <a:solidFill>
            <a:srgbClr val="6D4BDB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10561320" y="365760"/>
            <a:ext cx="1143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Josiah</a:t>
            </a:r>
            <a:endParaRPr lang="en-US" sz="1300" dirty="0"/>
          </a:p>
        </p:txBody>
      </p:sp>
      <p:pic>
        <p:nvPicPr>
          <p:cNvPr id="5" name="Image 0" descr="C:/Users/deogr/AppData/Local/Temp/claude/C--Users-deogr-Documents-Fall-Project-Off-Grid-Vehicle-dection-project/e8b2e8fa-1513-4aa8-a8f6-ce4fcd20e664/scratchpad/deck3/p_compass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1097280"/>
            <a:ext cx="4023360" cy="3319272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502920" y="4434840"/>
            <a:ext cx="4023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5B6B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Driving view: partner 2.41 mi · CHANGE COURSE + turn chevron · age 15 s</a:t>
            </a:r>
            <a:endParaRPr lang="en-US" sz="1000" dirty="0"/>
          </a:p>
        </p:txBody>
      </p:sp>
      <p:pic>
        <p:nvPicPr>
          <p:cNvPr id="7" name="Image 1" descr="C:/Users/deogr/AppData/Local/Temp/claude/C--Users-deogr-Documents-Fall-Project-Off-Grid-Vehicle-dection-project/e8b2e8fa-1513-4aa8-a8f6-ce4fcd20e664/scratchpad/deck3/p_stopped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00600" y="1097280"/>
            <a:ext cx="3977640" cy="2606040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4800600" y="3721608"/>
            <a:ext cx="3977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5B6B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Stopped → north-up rose fallback (course is noise at 0 mph)</a:t>
            </a:r>
            <a:endParaRPr lang="en-US" sz="1000" dirty="0"/>
          </a:p>
        </p:txBody>
      </p:sp>
      <p:pic>
        <p:nvPicPr>
          <p:cNvPr id="9" name="Image 2" descr="C:/Users/deogr/AppData/Local/Temp/claude/C--Users-deogr-Documents-Fall-Project-Off-Grid-Vehicle-dection-project/e8b2e8fa-1513-4aa8-a8f6-ce4fcd20e664/scratchpad/deck3/p_close.jp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00600" y="4114800"/>
            <a:ext cx="3108960" cy="2267712"/>
          </a:xfrm>
          <a:prstGeom prst="rect">
            <a:avLst/>
          </a:prstGeom>
        </p:spPr>
      </p:pic>
      <p:sp>
        <p:nvSpPr>
          <p:cNvPr id="10" name="Text 5"/>
          <p:cNvSpPr txBox="1"/>
          <p:nvPr/>
        </p:nvSpPr>
        <p:spPr>
          <a:xfrm>
            <a:off x="4800600" y="6400800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5B6B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Close range: 0.2 mi, oversized arrow</a:t>
            </a:r>
            <a:endParaRPr lang="en-US" sz="1000" dirty="0"/>
          </a:p>
        </p:txBody>
      </p:sp>
      <p:pic>
        <p:nvPicPr>
          <p:cNvPr id="11" name="Image 3" descr="C:/Users/deogr/AppData/Local/Temp/claude/C--Users-deogr-Documents-Fall-Project-Off-Grid-Vehicle-dection-project/e8b2e8fa-1513-4aa8-a8f6-ce4fcd20e664/scratchpad/deck3/p_status.jp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006840" y="1097280"/>
            <a:ext cx="2697480" cy="1819656"/>
          </a:xfrm>
          <a:prstGeom prst="rect">
            <a:avLst/>
          </a:prstGeom>
        </p:spPr>
      </p:pic>
      <p:sp>
        <p:nvSpPr>
          <p:cNvPr id="12" name="Text 6"/>
          <p:cNvSpPr txBox="1"/>
          <p:nvPr/>
        </p:nvSpPr>
        <p:spPr>
          <a:xfrm>
            <a:off x="9006840" y="2935224"/>
            <a:ext cx="2697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5B6B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Status page (KEY tap): live ME/PTR coordinates</a:t>
            </a:r>
            <a:endParaRPr lang="en-US" sz="1000" dirty="0"/>
          </a:p>
        </p:txBody>
      </p:sp>
      <p:sp>
        <p:nvSpPr>
          <p:cNvPr id="13" name="Shape 7"/>
          <p:cNvSpPr/>
          <p:nvPr/>
        </p:nvSpPr>
        <p:spPr>
          <a:xfrm>
            <a:off x="9006840" y="3291840"/>
            <a:ext cx="2697480" cy="3017520"/>
          </a:xfrm>
          <a:prstGeom prst="roundRect">
            <a:avLst>
              <a:gd name="adj" fmla="val 3390"/>
            </a:avLst>
          </a:prstGeom>
          <a:solidFill>
            <a:srgbClr val="F2F6FC"/>
          </a:solidFill>
          <a:ln w="12700">
            <a:solidFill>
              <a:srgbClr val="C9D9EE"/>
            </a:solidFill>
            <a:prstDash val="solid"/>
          </a:ln>
        </p:spPr>
      </p:sp>
      <p:sp>
        <p:nvSpPr>
          <p:cNvPr id="14" name="Text 8"/>
          <p:cNvSpPr txBox="1"/>
          <p:nvPr/>
        </p:nvSpPr>
        <p:spPr>
          <a:xfrm>
            <a:off x="9189720" y="3429000"/>
            <a:ext cx="237744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these shots matter</a:t>
            </a:r>
            <a:endParaRPr lang="en-US" sz="11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00" dirty="0">
                <a:solidFill>
                  <a:srgbClr val="222A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value on these screens arrived by radio and was decoded by our stack — no simulator.</a:t>
            </a:r>
            <a:endParaRPr lang="en-US" sz="11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00" dirty="0">
                <a:solidFill>
                  <a:srgbClr val="222A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Reflective LCD: readable in direct sun, sharper in more light — the opposite of a phone.</a:t>
            </a:r>
            <a:endParaRPr lang="en-US" sz="1100" dirty="0"/>
          </a:p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222A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 / updated-ago is the honesty metric: the driver always knows how fresh the data is.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37744"/>
            <a:ext cx="10058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Radio &amp; PHY — the Long-Range Link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10561320" y="310896"/>
            <a:ext cx="1143000" cy="384048"/>
          </a:xfrm>
          <a:prstGeom prst="roundRect">
            <a:avLst>
              <a:gd name="adj" fmla="val 19048"/>
            </a:avLst>
          </a:prstGeom>
          <a:solidFill>
            <a:srgbClr val="E58E1A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10561320" y="365760"/>
            <a:ext cx="1143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Victor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1005840"/>
            <a:ext cx="7315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Radio node — Heltec V4 (stock Meshtastic)</a:t>
            </a:r>
            <a:endParaRPr lang="en-US" sz="1300" dirty="0"/>
          </a:p>
        </p:txBody>
      </p:sp>
      <p:pic>
        <p:nvPicPr>
          <p:cNvPr id="6" name="Image 0" descr="C:/Users/deogr/AppData/Local/Temp/claude/C--Users-deogr-Documents-Fall-Project-Off-Grid-Vehicle-dection-project/e8b2e8fa-1513-4aa8-a8f6-ce4fcd20e664/scratchpad/mermaid_png/diag2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1325880"/>
            <a:ext cx="6949440" cy="1417320"/>
          </a:xfrm>
          <a:prstGeom prst="rect">
            <a:avLst/>
          </a:prstGeom>
        </p:spPr>
      </p:pic>
      <p:pic>
        <p:nvPicPr>
          <p:cNvPr id="7" name="Image 1" descr="C:/Users/deogr/AppData/Local/Temp/claude/C--Users-deogr-Documents-Fall-Project-Off-Grid-Vehicle-dection-project/e8b2e8fa-1513-4aa8-a8f6-ce4fcd20e664/scratchpad/deck3/p_rig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26680" y="1005840"/>
            <a:ext cx="1828800" cy="2441448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7726680" y="3465576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5B6B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rig: radio + 915 MHz antenna</a:t>
            </a:r>
            <a:endParaRPr lang="en-US" sz="1000" dirty="0"/>
          </a:p>
        </p:txBody>
      </p:sp>
      <p:pic>
        <p:nvPicPr>
          <p:cNvPr id="9" name="Image 2" descr="C:/Users/deogr/AppData/Local/Temp/claude/C--Users-deogr-Documents-Fall-Project-Off-Grid-Vehicle-dection-project/e8b2e8fa-1513-4aa8-a8f6-ce4fcd20e664/scratchpad/deck3/p_oled.jp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738360" y="1005840"/>
            <a:ext cx="1965960" cy="1033272"/>
          </a:xfrm>
          <a:prstGeom prst="rect">
            <a:avLst/>
          </a:prstGeom>
        </p:spPr>
      </p:pic>
      <p:sp>
        <p:nvSpPr>
          <p:cNvPr id="10" name="Text 5"/>
          <p:cNvSpPr txBox="1"/>
          <p:nvPr/>
        </p:nvSpPr>
        <p:spPr>
          <a:xfrm>
            <a:off x="9738360" y="2057400"/>
            <a:ext cx="1965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5B6B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OLED: 9 sats · ChUtil 0%</a:t>
            </a:r>
            <a:endParaRPr lang="en-US" sz="1000" dirty="0"/>
          </a:p>
        </p:txBody>
      </p:sp>
      <p:sp>
        <p:nvSpPr>
          <p:cNvPr id="11" name="Text 6"/>
          <p:cNvSpPr txBox="1"/>
          <p:nvPr/>
        </p:nvSpPr>
        <p:spPr>
          <a:xfrm>
            <a:off x="502920" y="2971800"/>
            <a:ext cx="70408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rgbClr val="222A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LONG_FAST preset: SF11 · BW 250 kHz · FEC 4/5 · 915 MHz ISM · AES-256 private channel (position_precision 32 — full resolution).</a:t>
            </a:r>
            <a:endParaRPr lang="en-US" sz="12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rgbClr val="222A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Smart broadcast: every 10 s / 20 m while moving, 60 s parked; GPS refresh 10 s so every broadcast carries a NEW fix.</a:t>
            </a:r>
            <a:endParaRPr lang="en-US" sz="1250" dirty="0"/>
          </a:p>
          <a:p>
            <a:pPr marL="342900" indent="-342900">
              <a:buSzPct val="100000"/>
              <a:buChar char="•"/>
            </a:pPr>
            <a:r>
              <a:rPr lang="en-US" sz="1250" dirty="0">
                <a:solidFill>
                  <a:srgbClr val="222A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OLED is the free field debugger: satellites, nodes heard, channel utilization, RSSI of last packet.</a:t>
            </a:r>
            <a:endParaRPr lang="en-US" sz="1250" dirty="0"/>
          </a:p>
        </p:txBody>
      </p:sp>
      <p:sp>
        <p:nvSpPr>
          <p:cNvPr id="12" name="Shape 7"/>
          <p:cNvSpPr/>
          <p:nvPr/>
        </p:nvSpPr>
        <p:spPr>
          <a:xfrm>
            <a:off x="502920" y="4663440"/>
            <a:ext cx="11201400" cy="1554480"/>
          </a:xfrm>
          <a:prstGeom prst="roundRect">
            <a:avLst>
              <a:gd name="adj" fmla="val 5882"/>
            </a:avLst>
          </a:prstGeom>
          <a:solidFill>
            <a:srgbClr val="FDF1E2"/>
          </a:solidFill>
          <a:ln w="15875">
            <a:solidFill>
              <a:srgbClr val="E58E1A"/>
            </a:solidFill>
            <a:prstDash val="solid"/>
          </a:ln>
        </p:spPr>
      </p:sp>
      <p:sp>
        <p:nvSpPr>
          <p:cNvPr id="13" name="Text 8"/>
          <p:cNvSpPr txBox="1"/>
          <p:nvPr/>
        </p:nvSpPr>
        <p:spPr>
          <a:xfrm>
            <a:off x="777240" y="4800600"/>
            <a:ext cx="1069848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500"/>
              </a:spcAft>
              <a:buNone/>
            </a:pPr>
            <a:r>
              <a:rPr lang="en-US" sz="1300" b="1" dirty="0">
                <a:solidFill>
                  <a:srgbClr val="B0620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Provisioning discipline (hardware/README.md)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22A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Radio #2 must join with the exact channel URL (embeds the AES key + precision) or the radios cannot decrypt each other. Two documented traps: reboot-triggering CLI writes silently revert (port-close resets the chip mid-save — verify every setting), and identical ESP32-S3 boards demand explicit upload ports when flashing.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37744"/>
            <a:ext cx="10058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Real Time vs 10 Seconds — the Physics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10561320" y="310896"/>
            <a:ext cx="1143000" cy="384048"/>
          </a:xfrm>
          <a:prstGeom prst="roundRect">
            <a:avLst>
              <a:gd name="adj" fmla="val 19048"/>
            </a:avLst>
          </a:prstGeom>
          <a:solidFill>
            <a:srgbClr val="E58E1A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10561320" y="365760"/>
            <a:ext cx="1143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Victor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1143000"/>
            <a:ext cx="2377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· Airtime per position</a:t>
            </a:r>
            <a:endParaRPr lang="en-US" sz="1150" dirty="0"/>
          </a:p>
        </p:txBody>
      </p:sp>
      <p:pic>
        <p:nvPicPr>
          <p:cNvPr id="6" name="Image 0" descr="C:/Users/deogr/AppData/Local/Temp/claude/C--Users-deogr-Documents-Fall-Project-Off-Grid-Vehicle-dection-project/e8b2e8fa-1513-4aa8-a8f6-ce4fcd20e664/scratchpad/deck3/eq_airtim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017520" y="1161288"/>
            <a:ext cx="8138160" cy="429768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502920" y="1874520"/>
            <a:ext cx="2377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· Channel utilization</a:t>
            </a:r>
            <a:endParaRPr lang="en-US" sz="1150" dirty="0"/>
          </a:p>
        </p:txBody>
      </p:sp>
      <p:pic>
        <p:nvPicPr>
          <p:cNvPr id="8" name="Image 1" descr="C:/Users/deogr/AppData/Local/Temp/claude/C--Users-deogr-Documents-Fall-Project-Off-Grid-Vehicle-dection-project/e8b2e8fa-1513-4aa8-a8f6-ce4fcd20e664/scratchpad/deck3/eq_util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17520" y="1892808"/>
            <a:ext cx="8503920" cy="393192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502920" y="2606040"/>
            <a:ext cx="2377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· Sensitivity (15 dB below noise)</a:t>
            </a:r>
            <a:endParaRPr lang="en-US" sz="1150" dirty="0"/>
          </a:p>
        </p:txBody>
      </p:sp>
      <p:pic>
        <p:nvPicPr>
          <p:cNvPr id="10" name="Image 2" descr="C:/Users/deogr/AppData/Local/Temp/claude/C--Users-deogr-Documents-Fall-Project-Off-Grid-Vehicle-dection-project/e8b2e8fa-1513-4aa8-a8f6-ce4fcd20e664/scratchpad/deck3/eq_sens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017520" y="2624328"/>
            <a:ext cx="8503920" cy="292608"/>
          </a:xfrm>
          <a:prstGeom prst="rect">
            <a:avLst/>
          </a:prstGeom>
        </p:spPr>
      </p:pic>
      <p:sp>
        <p:nvSpPr>
          <p:cNvPr id="11" name="Text 6"/>
          <p:cNvSpPr txBox="1"/>
          <p:nvPr/>
        </p:nvSpPr>
        <p:spPr>
          <a:xfrm>
            <a:off x="502920" y="3291840"/>
            <a:ext cx="2377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· Info latency vs sample period</a:t>
            </a:r>
            <a:endParaRPr lang="en-US" sz="1150" dirty="0"/>
          </a:p>
        </p:txBody>
      </p:sp>
      <p:pic>
        <p:nvPicPr>
          <p:cNvPr id="12" name="Image 3" descr="C:/Users/deogr/AppData/Local/Temp/claude/C--Users-deogr-Documents-Fall-Project-Off-Grid-Vehicle-dection-project/e8b2e8fa-1513-4aa8-a8f6-ce4fcd20e664/scratchpad/deck3/eq_latency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017520" y="3310128"/>
            <a:ext cx="8503920" cy="310896"/>
          </a:xfrm>
          <a:prstGeom prst="rect">
            <a:avLst/>
          </a:prstGeom>
        </p:spPr>
      </p:pic>
      <p:sp>
        <p:nvSpPr>
          <p:cNvPr id="13" name="Text 7"/>
          <p:cNvSpPr txBox="1"/>
          <p:nvPr/>
        </p:nvSpPr>
        <p:spPr>
          <a:xfrm>
            <a:off x="502920" y="3977640"/>
            <a:ext cx="2377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· Dead reckoning fills the gap</a:t>
            </a:r>
            <a:endParaRPr lang="en-US" sz="1150" dirty="0"/>
          </a:p>
        </p:txBody>
      </p:sp>
      <p:pic>
        <p:nvPicPr>
          <p:cNvPr id="14" name="Image 4" descr="C:/Users/deogr/AppData/Local/Temp/claude/C--Users-deogr-Documents-Fall-Project-Off-Grid-Vehicle-dection-project/e8b2e8fa-1513-4aa8-a8f6-ce4fcd20e664/scratchpad/deck3/eq_dr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017520" y="3995928"/>
            <a:ext cx="6309360" cy="365760"/>
          </a:xfrm>
          <a:prstGeom prst="rect">
            <a:avLst/>
          </a:prstGeom>
        </p:spPr>
      </p:pic>
      <p:sp>
        <p:nvSpPr>
          <p:cNvPr id="15" name="Shape 8"/>
          <p:cNvSpPr/>
          <p:nvPr/>
        </p:nvSpPr>
        <p:spPr>
          <a:xfrm>
            <a:off x="502920" y="4800600"/>
            <a:ext cx="11201400" cy="1463040"/>
          </a:xfrm>
          <a:prstGeom prst="roundRect">
            <a:avLst>
              <a:gd name="adj" fmla="val 6250"/>
            </a:avLst>
          </a:prstGeom>
          <a:solidFill>
            <a:srgbClr val="1E2761"/>
          </a:solidFill>
          <a:ln/>
        </p:spPr>
      </p:sp>
      <p:sp>
        <p:nvSpPr>
          <p:cNvPr id="16" name="Text 9"/>
          <p:cNvSpPr txBox="1"/>
          <p:nvPr/>
        </p:nvSpPr>
        <p:spPr>
          <a:xfrm>
            <a:off x="777240" y="4919472"/>
            <a:ext cx="10698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500"/>
              </a:spcAft>
              <a:buNone/>
            </a:pPr>
            <a:r>
              <a:rPr lang="en-US" sz="1350" b="1" dirty="0">
                <a:solidFill>
                  <a:srgbClr val="E58E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verdict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Information reaches the driver ~1 s after it exists (eq. 4) — that IS real time. But a new measurement can only be taken every 10 s, because each broadcast costs 0.5 s of shared airtime (eq. 1–2): at 1 Hz two vehicles would demand 100% of the channel. The range comes from decoding 15 dB below the noise floor (eq. 3) — and the 10 s gaps are filled at 1 Hz by projection (eq. 5). Rate and range are the same currency; we spent it on kilometers.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37744"/>
            <a:ext cx="10058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Integration Constraints — the Ledger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10561320" y="310896"/>
            <a:ext cx="1143000" cy="384048"/>
          </a:xfrm>
          <a:prstGeom prst="roundRect">
            <a:avLst>
              <a:gd name="adj" fmla="val 19048"/>
            </a:avLst>
          </a:prstGeom>
          <a:solidFill>
            <a:srgbClr val="D9488C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10561320" y="365760"/>
            <a:ext cx="1143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Cannon</a:t>
            </a:r>
            <a:endParaRPr lang="en-US" sz="1300" dirty="0"/>
          </a:p>
        </p:txBody>
      </p:sp>
      <p:pic>
        <p:nvPicPr>
          <p:cNvPr id="5" name="Image 0" descr="C:/Users/deogr/AppData/Local/Temp/claude/C--Users-deogr-Documents-Fall-Project-Off-Grid-Vehicle-dection-project/e8b2e8fa-1513-4aa8-a8f6-ce4fcd20e664/scratchpad/mermaid_png/diag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1005840"/>
            <a:ext cx="5760720" cy="1975104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6492240" y="1143000"/>
            <a:ext cx="51206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5B6B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constraint below is bench- or road-verified, not theoretical — each one shaped the design.</a:t>
            </a:r>
            <a:endParaRPr lang="en-US" sz="1300" dirty="0"/>
          </a:p>
        </p:txBody>
      </p:sp>
      <p:sp>
        <p:nvSpPr>
          <p:cNvPr id="7" name="Text 4"/>
          <p:cNvSpPr txBox="1"/>
          <p:nvPr/>
        </p:nvSpPr>
        <p:spPr>
          <a:xfrm>
            <a:off x="6492240" y="2011680"/>
            <a:ext cx="51206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Integration test sequence: radio #2 provisioning → bench two-radio decode → two-vehicle drive test → range characterization.</a:t>
            </a:r>
            <a:endParaRPr lang="en-US" sz="1300" dirty="0"/>
          </a:p>
        </p:txBody>
      </p:sp>
      <p:sp>
        <p:nvSpPr>
          <p:cNvPr id="8" name="Shape 5"/>
          <p:cNvSpPr/>
          <p:nvPr/>
        </p:nvSpPr>
        <p:spPr>
          <a:xfrm>
            <a:off x="502920" y="3200400"/>
            <a:ext cx="3639312" cy="1463040"/>
          </a:xfrm>
          <a:prstGeom prst="roundRect">
            <a:avLst>
              <a:gd name="adj" fmla="val 5000"/>
            </a:avLst>
          </a:prstGeom>
          <a:solidFill>
            <a:srgbClr val="F2F6FC"/>
          </a:solidFill>
          <a:ln w="15875">
            <a:solidFill>
              <a:srgbClr val="D9488C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640080" y="3273552"/>
            <a:ext cx="3383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D948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RADIO / PHY</a:t>
            </a:r>
            <a:endParaRPr lang="en-US" sz="1150" dirty="0"/>
          </a:p>
        </p:txBody>
      </p:sp>
      <p:sp>
        <p:nvSpPr>
          <p:cNvPr id="10" name="Text 7"/>
          <p:cNvSpPr txBox="1"/>
          <p:nvPr/>
        </p:nvSpPr>
        <p:spPr>
          <a:xfrm>
            <a:off x="640080" y="3547872"/>
            <a:ext cx="3383280" cy="10607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222A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0.5 s airtime per packet → ≥10 s cadence · ~25% utilization cap · region US must be set or TX is disabled · roof antenna is the #1 range factor</a:t>
            </a:r>
            <a:endParaRPr lang="en-US" sz="950" dirty="0"/>
          </a:p>
        </p:txBody>
      </p:sp>
      <p:sp>
        <p:nvSpPr>
          <p:cNvPr id="11" name="Shape 8"/>
          <p:cNvSpPr/>
          <p:nvPr/>
        </p:nvSpPr>
        <p:spPr>
          <a:xfrm>
            <a:off x="4325112" y="3200400"/>
            <a:ext cx="3639312" cy="1463040"/>
          </a:xfrm>
          <a:prstGeom prst="roundRect">
            <a:avLst>
              <a:gd name="adj" fmla="val 5000"/>
            </a:avLst>
          </a:prstGeom>
          <a:solidFill>
            <a:srgbClr val="F2F6FC"/>
          </a:solidFill>
          <a:ln w="15875">
            <a:solidFill>
              <a:srgbClr val="D9488C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4462272" y="3273552"/>
            <a:ext cx="3383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D948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GPS</a:t>
            </a:r>
            <a:endParaRPr lang="en-US" sz="1150" dirty="0"/>
          </a:p>
        </p:txBody>
      </p:sp>
      <p:sp>
        <p:nvSpPr>
          <p:cNvPr id="13" name="Text 10"/>
          <p:cNvSpPr txBox="1"/>
          <p:nvPr/>
        </p:nvSpPr>
        <p:spPr>
          <a:xfrm>
            <a:off x="4462272" y="3547872"/>
            <a:ext cx="3383280" cy="10607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222A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needs sky view (windshield works, desks don't) · cold start = minutes · indoor multipath fakes 1–3 km/h phantom speed → deadband · fix rate must match broadcast rate</a:t>
            </a:r>
            <a:endParaRPr lang="en-US" sz="950" dirty="0"/>
          </a:p>
        </p:txBody>
      </p:sp>
      <p:sp>
        <p:nvSpPr>
          <p:cNvPr id="14" name="Shape 11"/>
          <p:cNvSpPr/>
          <p:nvPr/>
        </p:nvSpPr>
        <p:spPr>
          <a:xfrm>
            <a:off x="8147304" y="3200400"/>
            <a:ext cx="3639312" cy="1463040"/>
          </a:xfrm>
          <a:prstGeom prst="roundRect">
            <a:avLst>
              <a:gd name="adj" fmla="val 5000"/>
            </a:avLst>
          </a:prstGeom>
          <a:solidFill>
            <a:srgbClr val="F2F6FC"/>
          </a:solidFill>
          <a:ln w="15875">
            <a:solidFill>
              <a:srgbClr val="D9488C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8284464" y="3273552"/>
            <a:ext cx="3383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D948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BLE LINK</a:t>
            </a:r>
            <a:endParaRPr lang="en-US" sz="1150" dirty="0"/>
          </a:p>
        </p:txBody>
      </p:sp>
      <p:sp>
        <p:nvSpPr>
          <p:cNvPr id="16" name="Text 13"/>
          <p:cNvSpPr txBox="1"/>
          <p:nvPr/>
        </p:nvSpPr>
        <p:spPr>
          <a:xfrm>
            <a:off x="8284464" y="3547872"/>
            <a:ext cx="3383280" cy="10607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222A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radio advertises ONLY from boot until first disconnect → power both together (ignition-on) · exactly ONE client at a time — a phone app or USB CLI steals/mutes the link</a:t>
            </a:r>
            <a:endParaRPr lang="en-US" sz="950" dirty="0"/>
          </a:p>
        </p:txBody>
      </p:sp>
      <p:sp>
        <p:nvSpPr>
          <p:cNvPr id="17" name="Shape 14"/>
          <p:cNvSpPr/>
          <p:nvPr/>
        </p:nvSpPr>
        <p:spPr>
          <a:xfrm>
            <a:off x="502920" y="4800600"/>
            <a:ext cx="3639312" cy="1463040"/>
          </a:xfrm>
          <a:prstGeom prst="roundRect">
            <a:avLst>
              <a:gd name="adj" fmla="val 5000"/>
            </a:avLst>
          </a:prstGeom>
          <a:solidFill>
            <a:srgbClr val="F2F6FC"/>
          </a:solidFill>
          <a:ln w="15875">
            <a:solidFill>
              <a:srgbClr val="D9488C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640080" y="4873752"/>
            <a:ext cx="3383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D948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DISPLAY</a:t>
            </a:r>
            <a:endParaRPr lang="en-US" sz="1150" dirty="0"/>
          </a:p>
        </p:txBody>
      </p:sp>
      <p:sp>
        <p:nvSpPr>
          <p:cNvPr id="19" name="Text 16"/>
          <p:cNvSpPr txBox="1"/>
          <p:nvPr/>
        </p:nvSpPr>
        <p:spPr>
          <a:xfrm>
            <a:off x="640080" y="5148072"/>
            <a:ext cx="3383280" cy="10607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222A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1-bit reflective panel: no grayscale, needs ambient light at night (edge-light planned) · 2 Hz full-frame redraw budget</a:t>
            </a:r>
            <a:endParaRPr lang="en-US" sz="950" dirty="0"/>
          </a:p>
        </p:txBody>
      </p:sp>
      <p:sp>
        <p:nvSpPr>
          <p:cNvPr id="20" name="Shape 17"/>
          <p:cNvSpPr/>
          <p:nvPr/>
        </p:nvSpPr>
        <p:spPr>
          <a:xfrm>
            <a:off x="4325112" y="4800600"/>
            <a:ext cx="3639312" cy="1463040"/>
          </a:xfrm>
          <a:prstGeom prst="roundRect">
            <a:avLst>
              <a:gd name="adj" fmla="val 5000"/>
            </a:avLst>
          </a:prstGeom>
          <a:solidFill>
            <a:srgbClr val="F2F6FC"/>
          </a:solidFill>
          <a:ln w="15875">
            <a:solidFill>
              <a:srgbClr val="D9488C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4462272" y="4873752"/>
            <a:ext cx="3383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D948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POWER</a:t>
            </a:r>
            <a:endParaRPr lang="en-US" sz="1150" dirty="0"/>
          </a:p>
        </p:txBody>
      </p:sp>
      <p:sp>
        <p:nvSpPr>
          <p:cNvPr id="22" name="Text 19"/>
          <p:cNvSpPr txBox="1"/>
          <p:nvPr/>
        </p:nvSpPr>
        <p:spPr>
          <a:xfrm>
            <a:off x="4462272" y="5148072"/>
            <a:ext cx="3383280" cy="10607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222A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cheap 12 V→USB adapters cut off on the radio's low draw — validate every adapter · both units must share vehicle power timing</a:t>
            </a:r>
            <a:endParaRPr lang="en-US" sz="950" dirty="0"/>
          </a:p>
        </p:txBody>
      </p:sp>
      <p:sp>
        <p:nvSpPr>
          <p:cNvPr id="23" name="Shape 20"/>
          <p:cNvSpPr/>
          <p:nvPr/>
        </p:nvSpPr>
        <p:spPr>
          <a:xfrm>
            <a:off x="8147304" y="4800600"/>
            <a:ext cx="3639312" cy="1463040"/>
          </a:xfrm>
          <a:prstGeom prst="roundRect">
            <a:avLst>
              <a:gd name="adj" fmla="val 5000"/>
            </a:avLst>
          </a:prstGeom>
          <a:solidFill>
            <a:srgbClr val="F2F6FC"/>
          </a:solidFill>
          <a:ln w="15875">
            <a:solidFill>
              <a:srgbClr val="D9488C"/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8284464" y="4873752"/>
            <a:ext cx="3383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D948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PROVISIONING</a:t>
            </a:r>
            <a:endParaRPr lang="en-US" sz="1150" dirty="0"/>
          </a:p>
        </p:txBody>
      </p:sp>
      <p:sp>
        <p:nvSpPr>
          <p:cNvPr id="25" name="Text 22"/>
          <p:cNvSpPr txBox="1"/>
          <p:nvPr/>
        </p:nvSpPr>
        <p:spPr>
          <a:xfrm>
            <a:off x="8284464" y="5148072"/>
            <a:ext cx="3383280" cy="10607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222A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channel URL (AES key + precision) must match on every radio · node IDs derive from MAC — survive reflashes · every config write must be read back and verified</a:t>
            </a:r>
            <a:endParaRPr lang="en-US" sz="9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37744"/>
            <a:ext cx="10058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Week 3 Status &amp; Next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502920" y="1143000"/>
            <a:ext cx="2670048" cy="1371600"/>
          </a:xfrm>
          <a:prstGeom prst="roundRect">
            <a:avLst>
              <a:gd name="adj" fmla="val 6667"/>
            </a:avLst>
          </a:prstGeom>
          <a:solidFill>
            <a:srgbClr val="F2F6FC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685800" y="1261872"/>
            <a:ext cx="2377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29%</a:t>
            </a:r>
            <a:endParaRPr lang="en-US" sz="2800" dirty="0"/>
          </a:p>
        </p:txBody>
      </p:sp>
      <p:sp>
        <p:nvSpPr>
          <p:cNvPr id="5" name="Text 3"/>
          <p:cNvSpPr txBox="1"/>
          <p:nvPr/>
        </p:nvSpPr>
        <p:spPr>
          <a:xfrm>
            <a:off x="685800" y="1828800"/>
            <a:ext cx="2377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B6B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complete vs ~19% week-3 target — ahead</a:t>
            </a:r>
            <a:endParaRPr lang="en-US" sz="1050" dirty="0"/>
          </a:p>
        </p:txBody>
      </p:sp>
      <p:sp>
        <p:nvSpPr>
          <p:cNvPr id="6" name="Shape 4"/>
          <p:cNvSpPr/>
          <p:nvPr/>
        </p:nvSpPr>
        <p:spPr>
          <a:xfrm>
            <a:off x="3355848" y="1143000"/>
            <a:ext cx="2670048" cy="1371600"/>
          </a:xfrm>
          <a:prstGeom prst="roundRect">
            <a:avLst>
              <a:gd name="adj" fmla="val 6667"/>
            </a:avLst>
          </a:prstGeom>
          <a:solidFill>
            <a:srgbClr val="F2F6FC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3538728" y="1261872"/>
            <a:ext cx="2377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60 h</a:t>
            </a:r>
            <a:endParaRPr lang="en-US" sz="2800" dirty="0"/>
          </a:p>
        </p:txBody>
      </p:sp>
      <p:sp>
        <p:nvSpPr>
          <p:cNvPr id="8" name="Text 6"/>
          <p:cNvSpPr txBox="1"/>
          <p:nvPr/>
        </p:nvSpPr>
        <p:spPr>
          <a:xfrm>
            <a:off x="3538728" y="1828800"/>
            <a:ext cx="2377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B6B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logged (8 h × 4 this week)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6208776" y="1143000"/>
            <a:ext cx="2670048" cy="1371600"/>
          </a:xfrm>
          <a:prstGeom prst="roundRect">
            <a:avLst>
              <a:gd name="adj" fmla="val 6667"/>
            </a:avLst>
          </a:prstGeom>
          <a:solidFill>
            <a:srgbClr val="F2F6FC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6391656" y="1261872"/>
            <a:ext cx="2377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12/12</a:t>
            </a:r>
            <a:endParaRPr lang="en-US" sz="2800" dirty="0"/>
          </a:p>
        </p:txBody>
      </p:sp>
      <p:sp>
        <p:nvSpPr>
          <p:cNvPr id="11" name="Text 9"/>
          <p:cNvSpPr txBox="1"/>
          <p:nvPr/>
        </p:nvSpPr>
        <p:spPr>
          <a:xfrm>
            <a:off x="6391656" y="1828800"/>
            <a:ext cx="2377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B6B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native unit tests passing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9061704" y="1143000"/>
            <a:ext cx="2670048" cy="1371600"/>
          </a:xfrm>
          <a:prstGeom prst="roundRect">
            <a:avLst>
              <a:gd name="adj" fmla="val 6667"/>
            </a:avLst>
          </a:prstGeom>
          <a:solidFill>
            <a:srgbClr val="F2F6FC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9244584" y="1261872"/>
            <a:ext cx="2377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10 s / 1 s</a:t>
            </a:r>
            <a:endParaRPr lang="en-US" sz="2800" dirty="0"/>
          </a:p>
        </p:txBody>
      </p:sp>
      <p:sp>
        <p:nvSpPr>
          <p:cNvPr id="14" name="Text 12"/>
          <p:cNvSpPr txBox="1"/>
          <p:nvPr/>
        </p:nvSpPr>
        <p:spPr>
          <a:xfrm>
            <a:off x="9244584" y="1828800"/>
            <a:ext cx="2377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B6B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measured cadence / on-screen motion</a:t>
            </a:r>
            <a:endParaRPr lang="en-US" sz="1050" dirty="0"/>
          </a:p>
        </p:txBody>
      </p:sp>
      <p:sp>
        <p:nvSpPr>
          <p:cNvPr id="15" name="Text 13"/>
          <p:cNvSpPr txBox="1"/>
          <p:nvPr/>
        </p:nvSpPr>
        <p:spPr>
          <a:xfrm>
            <a:off x="502920" y="283464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Proven end-to-end this week</a:t>
            </a:r>
            <a:endParaRPr lang="en-US" sz="1600" dirty="0"/>
          </a:p>
        </p:txBody>
      </p:sp>
      <p:sp>
        <p:nvSpPr>
          <p:cNvPr id="16" name="Text 14"/>
          <p:cNvSpPr txBox="1"/>
          <p:nvPr/>
        </p:nvSpPr>
        <p:spPr>
          <a:xfrm>
            <a:off x="502920" y="3246120"/>
            <a:ext cx="576072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rgbClr val="222A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GPS fix → LoRa broadcast → BLE → decode → arrow, at 10 s cadence with 1 Hz dead-reckoned motion</a:t>
            </a:r>
            <a:endParaRPr lang="en-US" sz="12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rgbClr val="222A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Location-aware clock (timezone from position) · honest data ages · ghost re-broadcast detection</a:t>
            </a:r>
            <a:endParaRPr lang="en-US" sz="12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rgbClr val="222A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Automatic reconnect (NVS direct-connect) survived every drop, drive test after drive test</a:t>
            </a:r>
            <a:endParaRPr lang="en-US" sz="1250" dirty="0"/>
          </a:p>
          <a:p>
            <a:pPr marL="342900" indent="-342900">
              <a:buSzPct val="100000"/>
              <a:buChar char="•"/>
            </a:pPr>
            <a:r>
              <a:rPr lang="en-US" sz="1250" dirty="0">
                <a:solidFill>
                  <a:srgbClr val="222A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radio recovery drill executed and documented — flash → provision → verify, in minutes</a:t>
            </a:r>
            <a:endParaRPr lang="en-US" sz="1250" dirty="0"/>
          </a:p>
        </p:txBody>
      </p:sp>
      <p:sp>
        <p:nvSpPr>
          <p:cNvPr id="17" name="Text 15"/>
          <p:cNvSpPr txBox="1"/>
          <p:nvPr/>
        </p:nvSpPr>
        <p:spPr>
          <a:xfrm>
            <a:off x="6583680" y="283464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Next (W4–5)</a:t>
            </a:r>
            <a:endParaRPr lang="en-US" sz="1600" dirty="0"/>
          </a:p>
        </p:txBody>
      </p:sp>
      <p:sp>
        <p:nvSpPr>
          <p:cNvPr id="18" name="Text 16"/>
          <p:cNvSpPr txBox="1"/>
          <p:nvPr/>
        </p:nvSpPr>
        <p:spPr>
          <a:xfrm>
            <a:off x="6583680" y="3246120"/>
            <a:ext cx="502920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rgbClr val="222A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Victor: provision radio #2 from the README recipe → first two-radio bench decode</a:t>
            </a:r>
            <a:endParaRPr lang="en-US" sz="12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rgbClr val="222A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Cannon: turn the constraints ledger into the drive-test protocol + logging harness</a:t>
            </a:r>
            <a:endParaRPr lang="en-US" sz="12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rgbClr val="222A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Deo/Josiah: partner-selection UI (NVS-persisted node ID) · night readability</a:t>
            </a:r>
            <a:endParaRPr lang="en-US" sz="1250" dirty="0"/>
          </a:p>
          <a:p>
            <a:pPr marL="342900" indent="-342900">
              <a:buSzPct val="100000"/>
              <a:buChar char="•"/>
            </a:pPr>
            <a:r>
              <a:rPr lang="en-US" sz="1250" dirty="0">
                <a:solidFill>
                  <a:srgbClr val="222A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Team: first two-vehicle drive test — the arrow points at a real partner</a:t>
            </a:r>
            <a:endParaRPr lang="en-US" sz="1250" dirty="0"/>
          </a:p>
        </p:txBody>
      </p:sp>
      <p:sp>
        <p:nvSpPr>
          <p:cNvPr id="19" name="Shape 17"/>
          <p:cNvSpPr/>
          <p:nvPr/>
        </p:nvSpPr>
        <p:spPr>
          <a:xfrm>
            <a:off x="502920" y="5577840"/>
            <a:ext cx="11201400" cy="777240"/>
          </a:xfrm>
          <a:prstGeom prst="roundRect">
            <a:avLst>
              <a:gd name="adj" fmla="val 11765"/>
            </a:avLst>
          </a:prstGeom>
          <a:solidFill>
            <a:srgbClr val="1E2761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777240" y="5687568"/>
            <a:ext cx="106984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radio still talks to itself — but every layer between a GPS fix and the driver's arrow is now real, tested code. Radio #2 turns this into a tracker.</a:t>
            </a:r>
            <a:endParaRPr lang="en-US" sz="12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2026-09-07T10:58:21Z</dcterms:created>
  <dcterms:modified xsi:type="dcterms:W3CDTF">2026-09-07T10:58:21Z</dcterms:modified>
</cp:coreProperties>
</file>