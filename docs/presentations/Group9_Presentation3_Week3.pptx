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by Deo as the descent from the system map into the machine my protocol rides on. This sheet is the silicon-level story, all from the Semtech datasheet in our repo of references. Left: the block diagram - antenna, matching, LNA, mixer, ADC, then everything is digital: the LoRa modem correlates chirps (that is the processing gain), the protocol engine handles preamble, header, FEC and CRC, and a 256-byte buffer meets the ESP32 over SPI. Note the FSK modem sitting beside the LoRa modem: present, powered, and unused - FSK needs positive SNR, LoRa decodes at minus 17.5 dB. Right: the operating-mode state machine, and below it one of our broadcasts traced across it: park in RX, CAD to check the channel (the physical CSMA - below the noise floor RSSI is meaningless so the chip listens for LoRa symbols), FS while the PLL locks, half a second of TX, TxDone interrupt, back to RX. Bottom code: the region line that sets 902 to 928 MHz and the hash that picks the channel - both radios compute the same hash from the channel name, so the shared URL is simultaneously the encryption domain and the frequency agreement. Close by handing the physics forward: Victor will quantify what this silicon buys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pictures replace ten minutes of argument. Left graph: utilization is inversely proportional to the interval; the 1 s point is literally impossible and the dashed line is Meshtastic's own 25 percent duty limit; we sit at 10 percent. Right graph: the sawtooth is the display error over time at 45 mph; orange is what holding the raw fix would show, up to 200 meters stale; navy is dead reckoning with a worst-case maneuver assumption of 0.5 m/s^2, bounded near 25 meters and typically a few meters in steady driving. Sources are on this sheet's reference list in the notes: the SNR-per-spreading-factor table and airtime equations are from Semtech's datasheet and AN1200.22, the duty limit and configuration from the Meshtastic documentation, and the AIS precedent from ITU-R M.1371.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is the integration story: the two halves of the firmware are joined and running on real hardware. Walk the stack top to bottom, and point at the photo text that proves each layer: own GPS locked proves layer one, radio link connected proves layer two, the live coordinates prove decoding, and the clock reading Central time proves the navigation layer is deriving timezone from position. The dashed layer is the honest gap, and the display itself says it: no partner heard yet. The strategy: one device tracking itself exercises everything except the LoRa hop, so integration bugs get found cheaply before the two-vehicle test. Radio two closes the loop without changing a line of display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a number is challenged, the sources are: equations from Semtech [1][2], configuration behavior from Meshtastic docs [4], wire units from the protobuf schema itself [5], and the AIS precedent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semtech.com/products/wireless-rf/lora-connect/sx1276" TargetMode="External"/><Relationship Id="rId2" Type="http://schemas.openxmlformats.org/officeDocument/2006/relationships/hyperlink" Target="https://info.semtech.com/find-documentation" TargetMode="External"/><Relationship Id="rId3" Type="http://schemas.openxmlformats.org/officeDocument/2006/relationships/hyperlink" Target="https://www.semtech.com/products/wireless-rf/lora-connect/sx1262" TargetMode="External"/><Relationship Id="rId4" Type="http://schemas.openxmlformats.org/officeDocument/2006/relationships/hyperlink" Target="https://meshtastic.org/docs/configuration/radio/lora/" TargetMode="External"/><Relationship Id="rId5" Type="http://schemas.openxmlformats.org/officeDocument/2006/relationships/hyperlink" Target="https://github.com/meshtastic/protobufs" TargetMode="External"/><Relationship Id="rId6" Type="http://schemas.openxmlformats.org/officeDocument/2006/relationships/hyperlink" Target="https://www.law.cornell.edu/cfr/text/47/15.247" TargetMode="External"/><Relationship Id="rId7" Type="http://schemas.openxmlformats.org/officeDocument/2006/relationships/hyperlink" Target="https://www.itu.int/rec/R-REC-M.1371/en" TargetMode="External"/><Relationship Id="rId8" Type="http://schemas.openxmlformats.org/officeDocument/2006/relationships/hyperlink" Target="https://www.movable-type.co.uk/scripts/latlong.html" TargetMode="External"/><Relationship Id="rId9" Type="http://schemas.openxmlformats.org/officeDocument/2006/relationships/hyperlink" Target="https://www.bluetooth.com/specifications/specs/core-specification/" TargetMode="External"/><Relationship Id="rId10" Type="http://schemas.openxmlformats.org/officeDocument/2006/relationships/hyperlink" Target="https://github.com/deosgracius/offgrid-vehicle-tracker" TargetMode="External"/><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01/14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 the display began showing a live vehicle: position decoded from real radio packets, an arrow computed from real navigation math, and a screen that moves every second. Each section of this review opens with its architecture, then shows the working hardware and the code behind it.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29%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60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Left region: one vehicle's hardware. The GNSS module feeds the Heltec radio, which drives the roof antenna. The Waveshare display sits beside it, and both share vehicle power.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Right region: inside the display firmware. My protocol chain writes the TrackerState contract; Josiah's navigation chain reads it. One writer, one reader.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Bottom strip: the same system seen as telecom layers. A 40 byte application payload rides a managed-flooding network onto a physical layer that decodes 15 dB below the noise floor.</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Vehicle B is an identical copy. The symmetry is the design: no server, no master, no single point of failure.</a:t>
            </a:r>
            <a:endParaRPr lang="en-US" sz="125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Everything difficult about long-range radio ships pre-tested inside stock Meshtastic. The green and blue chains on the right are the only custom code in the project, and they meet at exactly one struct.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INSIDE THE SX1262</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INSIDE THE TRANSCEIVER (DATASHEET REV 2.2)</a:t>
            </a:r>
            <a:endParaRPr lang="en-US" sz="2300" dirty="0"/>
          </a:p>
        </p:txBody>
      </p:sp>
      <p:pic>
        <p:nvPicPr>
          <p:cNvPr id="10" name="Image 0" descr="C:/Users/deogr/AppData/Local/Temp/claude/C--Users-deogr-Documents-Fall-Project-Off-Grid-Vehicle-dection-project/e8b2e8fa-1513-4aa8-a8f6-ce4fcd20e664/scratchpad/deck3/fig_block.png">    </p:cNvPr>
          <p:cNvPicPr>
            <a:picLocks noChangeAspect="1"/>
          </p:cNvPicPr>
          <p:nvPr/>
        </p:nvPicPr>
        <p:blipFill>
          <a:blip r:embed="rId1"/>
          <a:stretch>
            <a:fillRect/>
          </a:stretch>
        </p:blipFill>
        <p:spPr>
          <a:xfrm>
            <a:off x="457200" y="1051560"/>
            <a:ext cx="6720840" cy="3200400"/>
          </a:xfrm>
          <a:prstGeom prst="rect">
            <a:avLst/>
          </a:prstGeom>
        </p:spPr>
      </p:pic>
      <p:sp>
        <p:nvSpPr>
          <p:cNvPr id="11" name="Shape 8"/>
          <p:cNvSpPr/>
          <p:nvPr/>
        </p:nvSpPr>
        <p:spPr>
          <a:xfrm>
            <a:off x="457200" y="1051560"/>
            <a:ext cx="6720840" cy="3200400"/>
          </a:xfrm>
          <a:prstGeom prst="rect">
            <a:avLst/>
          </a:prstGeom>
          <a:ln w="12700">
            <a:solidFill>
              <a:srgbClr val="9AA7BE"/>
            </a:solidFill>
            <a:prstDash val="solid"/>
          </a:ln>
        </p:spPr>
      </p:sp>
      <p:sp>
        <p:nvSpPr>
          <p:cNvPr id="12" name="Text 9"/>
          <p:cNvSpPr txBox="1"/>
          <p:nvPr/>
        </p:nvSpPr>
        <p:spPr>
          <a:xfrm>
            <a:off x="457200" y="4297680"/>
            <a:ext cx="6720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SX1262 BLOCK DIAGRAM, DS FIG 4-1 p.23. TWO MODEMS SHARE ONE FRONT END; WE USE ONLY THE LoRa ONE.</a:t>
            </a:r>
            <a:endParaRPr lang="en-US" sz="800" dirty="0"/>
          </a:p>
        </p:txBody>
      </p:sp>
      <p:pic>
        <p:nvPicPr>
          <p:cNvPr id="13" name="Image 1" descr="C:/Users/deogr/AppData/Local/Temp/claude/C--Users-deogr-Documents-Fall-Project-Off-Grid-Vehicle-dection-project/e8b2e8fa-1513-4aa8-a8f6-ce4fcd20e664/scratchpad/deck3/fig_modes.png">    </p:cNvPr>
          <p:cNvPicPr>
            <a:picLocks noChangeAspect="1"/>
          </p:cNvPicPr>
          <p:nvPr/>
        </p:nvPicPr>
        <p:blipFill>
          <a:blip r:embed="rId2"/>
          <a:stretch>
            <a:fillRect/>
          </a:stretch>
        </p:blipFill>
        <p:spPr>
          <a:xfrm>
            <a:off x="7589520" y="1051560"/>
            <a:ext cx="3200400" cy="3200400"/>
          </a:xfrm>
          <a:prstGeom prst="rect">
            <a:avLst/>
          </a:prstGeom>
        </p:spPr>
      </p:pic>
      <p:sp>
        <p:nvSpPr>
          <p:cNvPr id="14" name="Shape 10"/>
          <p:cNvSpPr/>
          <p:nvPr/>
        </p:nvSpPr>
        <p:spPr>
          <a:xfrm>
            <a:off x="7589520" y="1051560"/>
            <a:ext cx="3200400" cy="3200400"/>
          </a:xfrm>
          <a:prstGeom prst="rect">
            <a:avLst/>
          </a:prstGeom>
          <a:ln w="12700">
            <a:solidFill>
              <a:srgbClr val="9AA7BE"/>
            </a:solidFill>
            <a:prstDash val="solid"/>
          </a:ln>
        </p:spPr>
      </p:sp>
      <p:sp>
        <p:nvSpPr>
          <p:cNvPr id="15" name="Text 11"/>
          <p:cNvSpPr txBox="1"/>
          <p:nvPr/>
        </p:nvSpPr>
        <p:spPr>
          <a:xfrm>
            <a:off x="7589520" y="4297680"/>
            <a:ext cx="320040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OPERATING MODES, DS FIG 9-1 p.64</a:t>
            </a:r>
            <a:endParaRPr lang="en-US" sz="800" dirty="0"/>
          </a:p>
        </p:txBody>
      </p:sp>
      <p:sp>
        <p:nvSpPr>
          <p:cNvPr id="16" name="Shape 12"/>
          <p:cNvSpPr/>
          <p:nvPr/>
        </p:nvSpPr>
        <p:spPr>
          <a:xfrm>
            <a:off x="457200" y="4663440"/>
            <a:ext cx="1691640" cy="621792"/>
          </a:xfrm>
          <a:prstGeom prst="rect">
            <a:avLst/>
          </a:prstGeom>
          <a:solidFill>
            <a:srgbClr val="F2F5FA"/>
          </a:solidFill>
          <a:ln w="15875">
            <a:solidFill>
              <a:srgbClr val="E58E1A"/>
            </a:solidFill>
            <a:prstDash val="solid"/>
          </a:ln>
        </p:spPr>
      </p:sp>
      <p:sp>
        <p:nvSpPr>
          <p:cNvPr id="17" name="Text 13"/>
          <p:cNvSpPr txBox="1"/>
          <p:nvPr/>
        </p:nvSpPr>
        <p:spPr>
          <a:xfrm>
            <a:off x="5120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always listening</a:t>
            </a:r>
            <a:endParaRPr lang="en-US" sz="1050" dirty="0"/>
          </a:p>
        </p:txBody>
      </p:sp>
      <p:sp>
        <p:nvSpPr>
          <p:cNvPr id="18" name="Shape 14"/>
          <p:cNvSpPr/>
          <p:nvPr/>
        </p:nvSpPr>
        <p:spPr>
          <a:xfrm>
            <a:off x="2148840" y="4974336"/>
            <a:ext cx="228600" cy="0"/>
          </a:xfrm>
          <a:prstGeom prst="line">
            <a:avLst/>
          </a:prstGeom>
          <a:noFill/>
          <a:ln w="28575">
            <a:solidFill>
              <a:srgbClr val="E58E1A"/>
            </a:solidFill>
            <a:prstDash val="solid"/>
            <a:tailEnd type="triangle"/>
          </a:ln>
        </p:spPr>
      </p:sp>
      <p:sp>
        <p:nvSpPr>
          <p:cNvPr id="19" name="Shape 15"/>
          <p:cNvSpPr/>
          <p:nvPr/>
        </p:nvSpPr>
        <p:spPr>
          <a:xfrm>
            <a:off x="2377440" y="4663440"/>
            <a:ext cx="1691640" cy="621792"/>
          </a:xfrm>
          <a:prstGeom prst="rect">
            <a:avLst/>
          </a:prstGeom>
          <a:solidFill>
            <a:srgbClr val="F2F5FA"/>
          </a:solidFill>
          <a:ln w="15875">
            <a:solidFill>
              <a:srgbClr val="E58E1A"/>
            </a:solidFill>
            <a:prstDash val="solid"/>
          </a:ln>
        </p:spPr>
      </p:sp>
      <p:sp>
        <p:nvSpPr>
          <p:cNvPr id="20" name="Text 16"/>
          <p:cNvSpPr txBox="1"/>
          <p:nvPr/>
        </p:nvSpPr>
        <p:spPr>
          <a:xfrm>
            <a:off x="243230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CAD</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channel clear? 6.1.5 p.41</a:t>
            </a:r>
            <a:endParaRPr lang="en-US" sz="1050" dirty="0"/>
          </a:p>
        </p:txBody>
      </p:sp>
      <p:sp>
        <p:nvSpPr>
          <p:cNvPr id="21" name="Shape 17"/>
          <p:cNvSpPr/>
          <p:nvPr/>
        </p:nvSpPr>
        <p:spPr>
          <a:xfrm>
            <a:off x="4069080" y="4974336"/>
            <a:ext cx="228600" cy="0"/>
          </a:xfrm>
          <a:prstGeom prst="line">
            <a:avLst/>
          </a:prstGeom>
          <a:noFill/>
          <a:ln w="28575">
            <a:solidFill>
              <a:srgbClr val="E58E1A"/>
            </a:solidFill>
            <a:prstDash val="solid"/>
            <a:tailEnd type="triangle"/>
          </a:ln>
        </p:spPr>
      </p:sp>
      <p:sp>
        <p:nvSpPr>
          <p:cNvPr id="22" name="Shape 18"/>
          <p:cNvSpPr/>
          <p:nvPr/>
        </p:nvSpPr>
        <p:spPr>
          <a:xfrm>
            <a:off x="4297680" y="4663440"/>
            <a:ext cx="1691640" cy="621792"/>
          </a:xfrm>
          <a:prstGeom prst="rect">
            <a:avLst/>
          </a:prstGeom>
          <a:solidFill>
            <a:srgbClr val="F2F5FA"/>
          </a:solidFill>
          <a:ln w="15875">
            <a:solidFill>
              <a:srgbClr val="E58E1A"/>
            </a:solidFill>
            <a:prstDash val="solid"/>
          </a:ln>
        </p:spPr>
      </p:sp>
      <p:sp>
        <p:nvSpPr>
          <p:cNvPr id="23" name="Text 19"/>
          <p:cNvSpPr txBox="1"/>
          <p:nvPr/>
        </p:nvSpPr>
        <p:spPr>
          <a:xfrm>
            <a:off x="435254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FS</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PLL locks channel</a:t>
            </a:r>
            <a:endParaRPr lang="en-US" sz="1050" dirty="0"/>
          </a:p>
        </p:txBody>
      </p:sp>
      <p:sp>
        <p:nvSpPr>
          <p:cNvPr id="24" name="Shape 20"/>
          <p:cNvSpPr/>
          <p:nvPr/>
        </p:nvSpPr>
        <p:spPr>
          <a:xfrm>
            <a:off x="5989320" y="4974336"/>
            <a:ext cx="228600" cy="0"/>
          </a:xfrm>
          <a:prstGeom prst="line">
            <a:avLst/>
          </a:prstGeom>
          <a:noFill/>
          <a:ln w="28575">
            <a:solidFill>
              <a:srgbClr val="E58E1A"/>
            </a:solidFill>
            <a:prstDash val="solid"/>
            <a:tailEnd type="triangle"/>
          </a:ln>
        </p:spPr>
      </p:sp>
      <p:sp>
        <p:nvSpPr>
          <p:cNvPr id="25" name="Shape 21"/>
          <p:cNvSpPr/>
          <p:nvPr/>
        </p:nvSpPr>
        <p:spPr>
          <a:xfrm>
            <a:off x="6217920" y="4663440"/>
            <a:ext cx="1691640" cy="621792"/>
          </a:xfrm>
          <a:prstGeom prst="rect">
            <a:avLst/>
          </a:prstGeom>
          <a:solidFill>
            <a:srgbClr val="F2F5FA"/>
          </a:solidFill>
          <a:ln w="15875">
            <a:solidFill>
              <a:srgbClr val="E58E1A"/>
            </a:solidFill>
            <a:prstDash val="solid"/>
          </a:ln>
        </p:spPr>
      </p:sp>
      <p:sp>
        <p:nvSpPr>
          <p:cNvPr id="26" name="Text 22"/>
          <p:cNvSpPr txBox="1"/>
          <p:nvPr/>
        </p:nvSpPr>
        <p:spPr>
          <a:xfrm>
            <a:off x="627278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chirps, ~0.5 s</a:t>
            </a:r>
            <a:endParaRPr lang="en-US" sz="1050" dirty="0"/>
          </a:p>
        </p:txBody>
      </p:sp>
      <p:sp>
        <p:nvSpPr>
          <p:cNvPr id="27" name="Shape 23"/>
          <p:cNvSpPr/>
          <p:nvPr/>
        </p:nvSpPr>
        <p:spPr>
          <a:xfrm>
            <a:off x="7909560" y="4974336"/>
            <a:ext cx="228600" cy="0"/>
          </a:xfrm>
          <a:prstGeom prst="line">
            <a:avLst/>
          </a:prstGeom>
          <a:noFill/>
          <a:ln w="28575">
            <a:solidFill>
              <a:srgbClr val="E58E1A"/>
            </a:solidFill>
            <a:prstDash val="solid"/>
            <a:tailEnd type="triangle"/>
          </a:ln>
        </p:spPr>
      </p:sp>
      <p:sp>
        <p:nvSpPr>
          <p:cNvPr id="28" name="Shape 24"/>
          <p:cNvSpPr/>
          <p:nvPr/>
        </p:nvSpPr>
        <p:spPr>
          <a:xfrm>
            <a:off x="8138160" y="4663440"/>
            <a:ext cx="1691640" cy="621792"/>
          </a:xfrm>
          <a:prstGeom prst="rect">
            <a:avLst/>
          </a:prstGeom>
          <a:solidFill>
            <a:srgbClr val="F2F5FA"/>
          </a:solidFill>
          <a:ln w="15875">
            <a:solidFill>
              <a:srgbClr val="E58E1A"/>
            </a:solidFill>
            <a:prstDash val="solid"/>
          </a:ln>
        </p:spPr>
      </p:sp>
      <p:sp>
        <p:nvSpPr>
          <p:cNvPr id="29" name="Text 25"/>
          <p:cNvSpPr txBox="1"/>
          <p:nvPr/>
        </p:nvSpPr>
        <p:spPr>
          <a:xfrm>
            <a:off x="819302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TxDone</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IRQ on DIO1</a:t>
            </a:r>
            <a:endParaRPr lang="en-US" sz="1050" dirty="0"/>
          </a:p>
        </p:txBody>
      </p:sp>
      <p:sp>
        <p:nvSpPr>
          <p:cNvPr id="30" name="Shape 26"/>
          <p:cNvSpPr/>
          <p:nvPr/>
        </p:nvSpPr>
        <p:spPr>
          <a:xfrm>
            <a:off x="9829800" y="4974336"/>
            <a:ext cx="228600" cy="0"/>
          </a:xfrm>
          <a:prstGeom prst="line">
            <a:avLst/>
          </a:prstGeom>
          <a:noFill/>
          <a:ln w="28575">
            <a:solidFill>
              <a:srgbClr val="E58E1A"/>
            </a:solidFill>
            <a:prstDash val="solid"/>
            <a:tailEnd type="triangle"/>
          </a:ln>
        </p:spPr>
      </p:sp>
      <p:sp>
        <p:nvSpPr>
          <p:cNvPr id="31" name="Shape 27"/>
          <p:cNvSpPr/>
          <p:nvPr/>
        </p:nvSpPr>
        <p:spPr>
          <a:xfrm>
            <a:off x="10058400" y="4663440"/>
            <a:ext cx="1691640" cy="621792"/>
          </a:xfrm>
          <a:prstGeom prst="rect">
            <a:avLst/>
          </a:prstGeom>
          <a:solidFill>
            <a:srgbClr val="F2F5FA"/>
          </a:solidFill>
          <a:ln w="15875">
            <a:solidFill>
              <a:srgbClr val="E58E1A"/>
            </a:solidFill>
            <a:prstDash val="solid"/>
          </a:ln>
        </p:spPr>
      </p:sp>
      <p:sp>
        <p:nvSpPr>
          <p:cNvPr id="32" name="Text 28"/>
          <p:cNvSpPr txBox="1"/>
          <p:nvPr/>
        </p:nvSpPr>
        <p:spPr>
          <a:xfrm>
            <a:off x="101132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back to listening</a:t>
            </a:r>
            <a:endParaRPr lang="en-US" sz="1050" dirty="0"/>
          </a:p>
        </p:txBody>
      </p:sp>
      <p:sp>
        <p:nvSpPr>
          <p:cNvPr id="33" name="Text 29"/>
          <p:cNvSpPr txBox="1"/>
          <p:nvPr/>
        </p:nvSpPr>
        <p:spPr>
          <a:xfrm>
            <a:off x="457200" y="5349240"/>
            <a:ext cx="11292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ONE POSITION BROADCAST TRACED ON THE STATE MACHINE. CAD IS THE PHYSICAL LISTEN-BEFORE-TALK: BELOW THE NOISE FLOOR RSSI IS USELESS, SO THE CHIP CORRELATES FOR LoRa SYMBOLS INSTEAD.</a:t>
            </a:r>
            <a:endParaRPr lang="en-US" sz="800" dirty="0"/>
          </a:p>
        </p:txBody>
      </p:sp>
      <p:sp>
        <p:nvSpPr>
          <p:cNvPr id="34" name="Shape 30"/>
          <p:cNvSpPr/>
          <p:nvPr/>
        </p:nvSpPr>
        <p:spPr>
          <a:xfrm>
            <a:off x="457200" y="5623560"/>
            <a:ext cx="7406640" cy="566928"/>
          </a:xfrm>
          <a:prstGeom prst="rect">
            <a:avLst/>
          </a:prstGeom>
          <a:solidFill>
            <a:srgbClr val="1B2440"/>
          </a:solidFill>
          <a:ln/>
        </p:spPr>
      </p:sp>
      <p:sp>
        <p:nvSpPr>
          <p:cNvPr id="35" name="Text 31"/>
          <p:cNvSpPr txBox="1"/>
          <p:nvPr/>
        </p:nvSpPr>
        <p:spPr>
          <a:xfrm>
            <a:off x="594360" y="5687568"/>
            <a:ext cx="713232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meshtastic RadioInterface.cpp  how region US becomes a frequency</a:t>
            </a:r>
            <a:endParaRPr lang="en-US" sz="1000" dirty="0"/>
          </a:p>
        </p:txBody>
      </p:sp>
      <p:sp>
        <p:nvSpPr>
          <p:cNvPr id="36" name="Text 32"/>
          <p:cNvSpPr txBox="1"/>
          <p:nvPr/>
        </p:nvSpPr>
        <p:spPr>
          <a:xfrm>
            <a:off x="594360" y="5943600"/>
            <a:ext cx="7132320" cy="155448"/>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RDEF(US, 902.0f, 928.0f, ...);  freq = start + bw/2000 + hash(name)*(bw/1000);</a:t>
            </a:r>
            <a:endParaRPr lang="en-US" sz="1000" dirty="0"/>
          </a:p>
        </p:txBody>
      </p:sp>
      <p:sp>
        <p:nvSpPr>
          <p:cNvPr id="37" name="Text 33"/>
          <p:cNvSpPr txBox="1"/>
          <p:nvPr/>
        </p:nvSpPr>
        <p:spPr>
          <a:xfrm>
            <a:off x="8001000" y="5623560"/>
            <a:ext cx="3749040" cy="566928"/>
          </a:xfrm>
          <a:prstGeom prst="rect">
            <a:avLst/>
          </a:prstGeom>
          <a:noFill/>
          <a:ln/>
        </p:spPr>
        <p:txBody>
          <a:bodyPr wrap="square" lIns="0" tIns="0" rIns="0" bIns="0" rtlCol="0" anchor="ctr"/>
          <a:lstStyle/>
          <a:p>
            <a:pPr indent="0" marL="0">
              <a:buNone/>
            </a:pPr>
            <a:r>
              <a:rPr lang="en-US" sz="850" dirty="0">
                <a:solidFill>
                  <a:srgbClr val="5E6B85"/>
                </a:solidFill>
                <a:latin typeface="Arial" pitchFamily="34" charset="0"/>
                <a:ea typeface="Arial" pitchFamily="34" charset="-122"/>
                <a:cs typeface="Arial" pitchFamily="34" charset="-120"/>
              </a:rPr>
              <a:t>Both radios hash the same channel name, so they meet on the same frequency with no coordination message. Full walkthrough: docs/RADIO_PHY_DEEP_DIVE.pdf</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343400"/>
            <a:ext cx="10972800" cy="1691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left chain is the backend. ble_link connects directly to the radio's remembered address, encrypts, subscribes, and drains the message queue. proto_decode turns each binary frame into named fields. node_table keeps both vehicles' fixes with honest timestamps, then publishes TrackerState.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contract is version 2: both fixes now carry speed and age, and the struct carries the GPS wall clock that drives the on-screen time.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Status: live and road-tested. The link survives drops and reconnects on its own, positions decode at the 10 second broadcast cadence, and stale re-broadcasts can no longer masquerade as fresh data.</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681728"/>
            <a:ext cx="10744200" cy="1280160"/>
          </a:xfrm>
          <a:prstGeom prst="rect">
            <a:avLst/>
          </a:prstGeom>
          <a:noFill/>
          <a:ln/>
        </p:spPr>
        <p:txBody>
          <a:bodyPr wrap="square" lIns="0" tIns="0" rIns="0" bIns="0" rtlCol="0" anchor="ctr"/>
          <a:lstStyle/>
          <a:p>
            <a:pPr indent="0" marL="0">
              <a:spcAft>
                <a:spcPts val="700"/>
              </a:spcAft>
              <a:buNone/>
            </a:pPr>
            <a:r>
              <a:rPr lang="en-US" sz="1250" dirty="0">
                <a:solidFill>
                  <a:srgbClr val="222A3F"/>
                </a:solidFill>
                <a:latin typeface="Arial" pitchFamily="34" charset="0"/>
                <a:ea typeface="Arial" pitchFamily="34" charset="-122"/>
                <a:cs typeface="Arial" pitchFamily="34" charset="-120"/>
              </a:rPr>
              <a:t>Four files, one direction of flow, one shared struct. The teal boxes are backend and the purple box is frontend. They meet only at the store functions, which take the mutex internally, so locked access is the only possible access.</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Hardened by this week's road tests: wire speed converted from km/h at ingestion, a deadband that reads GPS jitter as zero, duplicate re-broadcast detection that keeps data ages honest, and a clock that can never run backwards.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794760"/>
            <a:ext cx="11292840" cy="14173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Heading comes from GPS course over ground. A magnetometer would be unreliable inside a steel cab, and below 5 mph the arrow falls back to a north-up compass rose because course is noise when parked.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screen element is state-driven from the struct. The CHANGE COURSE banner engages after five seconds off course and clears on recovery, chevrons show the turn direction, the STALE banner appears past 120 seconds, and the clock derives its timezone from position.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Both files are pure C with no hardware dependencies, unit-tested on a laptop: 12 of 12 native tests pass.</a:t>
            </a:r>
            <a:endParaRPr lang="en-US" sz="125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Dead reckoning is why the screen feels live. Measurements arrive every ten seconds, the display re-projects both vehicles every second along their last course and speed, and each real fix snaps the estimate back to truth.</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Every value on these screens arrived by radio and was decoded by our own stack. There is no simulator in these photos.</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reflective panel gets sharper in more light, which is the opposite of a phone. It is built for a dashboard in the sun.</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age readout is the honesty metric. The driver always knows how fresh the information is, and a stale ghost says so.</a:t>
            </a:r>
            <a:endParaRPr lang="en-US" sz="1100" dirty="0"/>
          </a:p>
          <a:p>
            <a:pPr marL="342900" indent="-342900">
              <a:buSzPct val="100000"/>
              <a:buChar char="▪"/>
            </a:pPr>
            <a:r>
              <a:rPr lang="en-US" sz="1100" dirty="0">
                <a:solidFill>
                  <a:srgbClr val="222A3F"/>
                </a:solidFill>
                <a:latin typeface="Arial" pitchFamily="34" charset="0"/>
                <a:ea typeface="Arial" pitchFamily="34" charset="-122"/>
                <a:cs typeface="Arial" pitchFamily="34" charset="-120"/>
              </a:rPr>
              <a:t>The banner, the chevron, and the rose fallback are all state machines reacting to live data.</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Modulation is the LONG_FAST preset: spreading factor 11 over 250 kHz with rate 4/5 forward error correction, in the 915 MHz ISM band, on a private AES-256 channel at full position precision.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Smart broadcast sends every 10 seconds or 20 meters while moving and every 60 seconds parked. GPS refresh also runs at 10 seconds, so every broadcast carries a genuinely new fix.</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radio's own OLED is a free field debugger. It shows satellites, nodes heard, channel utilization, and the signal strength of the last packet.</a:t>
            </a:r>
            <a:endParaRPr lang="en-US" sz="125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00" dirty="0"/>
          </a:p>
          <a:p>
            <a:pPr indent="0" marL="0">
              <a:buNone/>
            </a:pPr>
            <a:r>
              <a:rPr lang="en-US" sz="1200" dirty="0">
                <a:solidFill>
                  <a:srgbClr val="222A3F"/>
                </a:solidFill>
                <a:latin typeface="Arial" pitchFamily="34" charset="0"/>
                <a:ea typeface="Arial" pitchFamily="34" charset="-122"/>
                <a:cs typeface="Arial" pitchFamily="34" charset="-120"/>
              </a:rPr>
              <a:t>Radio number two must join with the exact channel URL, which embeds the encryption key. Two traps are documented from experience: settings that trigger a reboot can silently revert when written over the CLI, so every write is read back and verified, and identical boards demand explicit upload ports when flashing.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sp>
        <p:nvSpPr>
          <p:cNvPr id="11" name="Text 9"/>
          <p:cNvSpPr txBox="1"/>
          <p:nvPr/>
        </p:nvSpPr>
        <p:spPr>
          <a:xfrm>
            <a:off x="457200" y="137160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6.1.1 p.39 + AN1200.22</a:t>
            </a:r>
            <a:endParaRPr lang="en-US" sz="800" dirty="0"/>
          </a:p>
        </p:txBody>
      </p:sp>
      <p:pic>
        <p:nvPicPr>
          <p:cNvPr id="12"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3" name="Text 10"/>
          <p:cNvSpPr txBox="1"/>
          <p:nvPr/>
        </p:nvSpPr>
        <p:spPr>
          <a:xfrm>
            <a:off x="457200" y="182880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sp>
        <p:nvSpPr>
          <p:cNvPr id="14" name="Text 11"/>
          <p:cNvSpPr txBox="1"/>
          <p:nvPr/>
        </p:nvSpPr>
        <p:spPr>
          <a:xfrm>
            <a:off x="457200" y="210312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Meshtastic docs, ~25% cap</a:t>
            </a:r>
            <a:endParaRPr lang="en-US" sz="800" dirty="0"/>
          </a:p>
        </p:txBody>
      </p:sp>
      <p:pic>
        <p:nvPicPr>
          <p:cNvPr id="15"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6" name="Text 12"/>
          <p:cNvSpPr txBox="1"/>
          <p:nvPr/>
        </p:nvSpPr>
        <p:spPr>
          <a:xfrm>
            <a:off x="457200" y="25603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sp>
        <p:nvSpPr>
          <p:cNvPr id="17" name="Text 13"/>
          <p:cNvSpPr txBox="1"/>
          <p:nvPr/>
        </p:nvSpPr>
        <p:spPr>
          <a:xfrm>
            <a:off x="457200" y="28346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Table 6-1 p.39, 3.5.3 p.20</a:t>
            </a:r>
            <a:endParaRPr lang="en-US" sz="800" dirty="0"/>
          </a:p>
        </p:txBody>
      </p:sp>
      <p:pic>
        <p:nvPicPr>
          <p:cNvPr id="18"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9" name="Text 14"/>
          <p:cNvSpPr txBox="1"/>
          <p:nvPr/>
        </p:nvSpPr>
        <p:spPr>
          <a:xfrm>
            <a:off x="457200" y="32461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sp>
        <p:nvSpPr>
          <p:cNvPr id="20" name="Text 15"/>
          <p:cNvSpPr txBox="1"/>
          <p:nvPr/>
        </p:nvSpPr>
        <p:spPr>
          <a:xfrm>
            <a:off x="457200" y="35204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6.1.4 p.41 (airtime term)</a:t>
            </a:r>
            <a:endParaRPr lang="en-US" sz="800" dirty="0"/>
          </a:p>
        </p:txBody>
      </p:sp>
      <p:pic>
        <p:nvPicPr>
          <p:cNvPr id="21"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22" name="Text 16"/>
          <p:cNvSpPr txBox="1"/>
          <p:nvPr/>
        </p:nvSpPr>
        <p:spPr>
          <a:xfrm>
            <a:off x="457200" y="39319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sp>
        <p:nvSpPr>
          <p:cNvPr id="23" name="Text 17"/>
          <p:cNvSpPr txBox="1"/>
          <p:nvPr/>
        </p:nvSpPr>
        <p:spPr>
          <a:xfrm>
            <a:off x="457200" y="42062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dead_reckon.c, 12/12 tests</a:t>
            </a:r>
            <a:endParaRPr lang="en-US" sz="800" dirty="0"/>
          </a:p>
        </p:txBody>
      </p:sp>
      <p:pic>
        <p:nvPicPr>
          <p:cNvPr id="24"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5" name="Shape 18"/>
          <p:cNvSpPr/>
          <p:nvPr/>
        </p:nvSpPr>
        <p:spPr>
          <a:xfrm>
            <a:off x="457200" y="4754880"/>
            <a:ext cx="11292840" cy="1371600"/>
          </a:xfrm>
          <a:prstGeom prst="rect">
            <a:avLst/>
          </a:prstGeom>
          <a:solidFill>
            <a:srgbClr val="16213D"/>
          </a:solidFill>
          <a:ln/>
        </p:spPr>
      </p:sp>
      <p:sp>
        <p:nvSpPr>
          <p:cNvPr id="26" name="Text 19"/>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Information reaches the driver about one second after it exists, which is real time by any useful definition. A new measurement can only be taken every ten seconds because each broadcast costs half a second of shared airtime: at one hertz, two vehicles would demand the entire channel. The same spreading factor that makes packets slow lets the receiver decode 15 dB below the noise floor, and that is where the kilometers come from. Dead reckoning fills the gaps at one hertz. Rate and range are the same currency, and we spent it on range.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BEHAVIOR, GRAPHED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SAME PHYSICS, GRAPHED</a:t>
            </a:r>
            <a:endParaRPr lang="en-US" sz="2300" dirty="0"/>
          </a:p>
        </p:txBody>
      </p:sp>
      <p:pic>
        <p:nvPicPr>
          <p:cNvPr id="10" name="Image 0" descr="C:/Users/deogr/AppData/Local/Temp/claude/C--Users-deogr-Documents-Fall-Project-Off-Grid-Vehicle-dection-project/e8b2e8fa-1513-4aa8-a8f6-ce4fcd20e664/scratchpad/deck3/g_utilization.png">    </p:cNvPr>
          <p:cNvPicPr>
            <a:picLocks noChangeAspect="1"/>
          </p:cNvPicPr>
          <p:nvPr/>
        </p:nvPicPr>
        <p:blipFill>
          <a:blip r:embed="rId1"/>
          <a:stretch>
            <a:fillRect/>
          </a:stretch>
        </p:blipFill>
        <p:spPr>
          <a:xfrm>
            <a:off x="457200" y="1024128"/>
            <a:ext cx="5394960" cy="3739896"/>
          </a:xfrm>
          <a:prstGeom prst="rect">
            <a:avLst/>
          </a:prstGeom>
        </p:spPr>
      </p:pic>
      <p:sp>
        <p:nvSpPr>
          <p:cNvPr id="11" name="Shape 8"/>
          <p:cNvSpPr/>
          <p:nvPr/>
        </p:nvSpPr>
        <p:spPr>
          <a:xfrm>
            <a:off x="457200" y="1024128"/>
            <a:ext cx="5394960" cy="3739896"/>
          </a:xfrm>
          <a:prstGeom prst="rect">
            <a:avLst/>
          </a:prstGeom>
          <a:ln w="12700">
            <a:solidFill>
              <a:srgbClr val="9AA7BE"/>
            </a:solidFill>
            <a:prstDash val="solid"/>
          </a:ln>
        </p:spPr>
      </p:sp>
      <p:pic>
        <p:nvPicPr>
          <p:cNvPr id="12" name="Image 1" descr="C:/Users/deogr/AppData/Local/Temp/claude/C--Users-deogr-Documents-Fall-Project-Off-Grid-Vehicle-dection-project/e8b2e8fa-1513-4aa8-a8f6-ce4fcd20e664/scratchpad/deck3/g_deadreckon.png">    </p:cNvPr>
          <p:cNvPicPr>
            <a:picLocks noChangeAspect="1"/>
          </p:cNvPicPr>
          <p:nvPr/>
        </p:nvPicPr>
        <p:blipFill>
          <a:blip r:embed="rId2"/>
          <a:stretch>
            <a:fillRect/>
          </a:stretch>
        </p:blipFill>
        <p:spPr>
          <a:xfrm>
            <a:off x="6309360" y="1024128"/>
            <a:ext cx="5394960" cy="3739896"/>
          </a:xfrm>
          <a:prstGeom prst="rect">
            <a:avLst/>
          </a:prstGeom>
        </p:spPr>
      </p:pic>
      <p:sp>
        <p:nvSpPr>
          <p:cNvPr id="13" name="Shape 9"/>
          <p:cNvSpPr/>
          <p:nvPr/>
        </p:nvSpPr>
        <p:spPr>
          <a:xfrm>
            <a:off x="6309360" y="1024128"/>
            <a:ext cx="5394960" cy="3739896"/>
          </a:xfrm>
          <a:prstGeom prst="rect">
            <a:avLst/>
          </a:prstGeom>
          <a:ln w="12700">
            <a:solidFill>
              <a:srgbClr val="9AA7BE"/>
            </a:solidFill>
            <a:prstDash val="solid"/>
          </a:ln>
        </p:spPr>
      </p:sp>
      <p:sp>
        <p:nvSpPr>
          <p:cNvPr id="14" name="Text 10"/>
          <p:cNvSpPr txBox="1"/>
          <p:nvPr/>
        </p:nvSpPr>
        <p:spPr>
          <a:xfrm>
            <a:off x="45720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The update-rate wall. Channel airtime versus broadcast interval for two vehicles at 0.5 s per packet. One second sits at 100 percent, physical collapse; our 10 second point uses 10 percent, comfortably under the 25 percent ceiling the firmware enforces.</a:t>
            </a:r>
            <a:endParaRPr lang="en-US" sz="1050" dirty="0"/>
          </a:p>
        </p:txBody>
      </p:sp>
      <p:sp>
        <p:nvSpPr>
          <p:cNvPr id="15" name="Text 11"/>
          <p:cNvSpPr txBox="1"/>
          <p:nvPr/>
        </p:nvSpPr>
        <p:spPr>
          <a:xfrm>
            <a:off x="630936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What the driver would see. Holding the raw fix leaves the display up to 200 m behind a vehicle at 45 mph. Dead reckoning bounds the worst case near 25 m during a maneuver, and each real fix snaps the error back to zero.</a:t>
            </a:r>
            <a:endParaRPr lang="en-US" sz="1050" dirty="0"/>
          </a:p>
        </p:txBody>
      </p:sp>
      <p:sp>
        <p:nvSpPr>
          <p:cNvPr id="16" name="Shape 12"/>
          <p:cNvSpPr/>
          <p:nvPr/>
        </p:nvSpPr>
        <p:spPr>
          <a:xfrm>
            <a:off x="457200" y="5870448"/>
            <a:ext cx="11292840" cy="0"/>
          </a:xfrm>
          <a:prstGeom prst="line">
            <a:avLst/>
          </a:prstGeom>
          <a:noFill/>
          <a:ln w="9525">
            <a:solidFill>
              <a:srgbClr val="9AA7BE"/>
            </a:solidFill>
            <a:prstDash val="solid"/>
          </a:ln>
        </p:spPr>
      </p:sp>
      <p:sp>
        <p:nvSpPr>
          <p:cNvPr id="17" name="Text 13"/>
          <p:cNvSpPr txBox="1"/>
          <p:nvPr/>
        </p:nvSpPr>
        <p:spPr>
          <a:xfrm>
            <a:off x="457200" y="5943600"/>
            <a:ext cx="11292840" cy="27432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SOURCES  [1] Semtech SX1276 datasheet, SNR limit per spreading factor   [2] Semtech AN1200.22, LoRa modulation and airtime   [3] Meshtastic docs, LoRa config and duty limit   [4] ITU-R M.1371, AIS reporting intervals   (full citations in the notes)</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ONE DEVICE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THE HALVES ARE JOINED</a:t>
            </a:r>
            <a:endParaRPr lang="en-US" sz="2300" dirty="0"/>
          </a:p>
        </p:txBody>
      </p:sp>
      <p:sp>
        <p:nvSpPr>
          <p:cNvPr id="10" name="Shape 8"/>
          <p:cNvSpPr/>
          <p:nvPr/>
        </p:nvSpPr>
        <p:spPr>
          <a:xfrm>
            <a:off x="457200" y="1097280"/>
            <a:ext cx="5120640" cy="804672"/>
          </a:xfrm>
          <a:prstGeom prst="rect">
            <a:avLst/>
          </a:prstGeom>
          <a:solidFill>
            <a:srgbClr val="F2F5FA"/>
          </a:solidFill>
          <a:ln w="15875">
            <a:solidFill>
              <a:srgbClr val="D9488C"/>
            </a:solidFill>
            <a:prstDash val="solid"/>
          </a:ln>
        </p:spPr>
      </p:sp>
      <p:sp>
        <p:nvSpPr>
          <p:cNvPr id="11" name="Text 9"/>
          <p:cNvSpPr txBox="1"/>
          <p:nvPr/>
        </p:nvSpPr>
        <p:spPr>
          <a:xfrm>
            <a:off x="594360" y="1152144"/>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GPS to radio</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satellites acquired, fixes flowing over UART</a:t>
            </a:r>
            <a:endParaRPr lang="en-US" sz="1100" dirty="0"/>
          </a:p>
        </p:txBody>
      </p:sp>
      <p:sp>
        <p:nvSpPr>
          <p:cNvPr id="12" name="Text 10"/>
          <p:cNvSpPr txBox="1"/>
          <p:nvPr/>
        </p:nvSpPr>
        <p:spPr>
          <a:xfrm>
            <a:off x="3977640" y="1170432"/>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3" name="Text 11"/>
          <p:cNvSpPr txBox="1"/>
          <p:nvPr/>
        </p:nvSpPr>
        <p:spPr>
          <a:xfrm>
            <a:off x="3950208" y="1463040"/>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"own GPS: locked"</a:t>
            </a:r>
            <a:endParaRPr lang="en-US" sz="750" dirty="0"/>
          </a:p>
        </p:txBody>
      </p:sp>
      <p:sp>
        <p:nvSpPr>
          <p:cNvPr id="14" name="Shape 12"/>
          <p:cNvSpPr/>
          <p:nvPr/>
        </p:nvSpPr>
        <p:spPr>
          <a:xfrm>
            <a:off x="1005840" y="1901952"/>
            <a:ext cx="0" cy="164592"/>
          </a:xfrm>
          <a:prstGeom prst="line">
            <a:avLst/>
          </a:prstGeom>
          <a:noFill/>
          <a:ln w="28575">
            <a:solidFill>
              <a:srgbClr val="D9488C"/>
            </a:solidFill>
            <a:prstDash val="solid"/>
            <a:tailEnd type="triangle"/>
          </a:ln>
        </p:spPr>
      </p:sp>
      <p:sp>
        <p:nvSpPr>
          <p:cNvPr id="15" name="Shape 13"/>
          <p:cNvSpPr/>
          <p:nvPr/>
        </p:nvSpPr>
        <p:spPr>
          <a:xfrm>
            <a:off x="457200" y="2066544"/>
            <a:ext cx="5120640" cy="804672"/>
          </a:xfrm>
          <a:prstGeom prst="rect">
            <a:avLst/>
          </a:prstGeom>
          <a:solidFill>
            <a:srgbClr val="F2F5FA"/>
          </a:solidFill>
          <a:ln w="15875">
            <a:solidFill>
              <a:srgbClr val="D9488C"/>
            </a:solidFill>
            <a:prstDash val="solid"/>
          </a:ln>
        </p:spPr>
      </p:sp>
      <p:sp>
        <p:nvSpPr>
          <p:cNvPr id="16" name="Text 14"/>
          <p:cNvSpPr txBox="1"/>
          <p:nvPr/>
        </p:nvSpPr>
        <p:spPr>
          <a:xfrm>
            <a:off x="594360" y="2121408"/>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Radio to display</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BLE GATT link, automatic reconnect</a:t>
            </a:r>
            <a:endParaRPr lang="en-US" sz="1100" dirty="0"/>
          </a:p>
        </p:txBody>
      </p:sp>
      <p:sp>
        <p:nvSpPr>
          <p:cNvPr id="17" name="Text 15"/>
          <p:cNvSpPr txBox="1"/>
          <p:nvPr/>
        </p:nvSpPr>
        <p:spPr>
          <a:xfrm>
            <a:off x="3977640" y="2139696"/>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8" name="Text 16"/>
          <p:cNvSpPr txBox="1"/>
          <p:nvPr/>
        </p:nvSpPr>
        <p:spPr>
          <a:xfrm>
            <a:off x="3950208" y="2432304"/>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"radio link: connected"</a:t>
            </a:r>
            <a:endParaRPr lang="en-US" sz="750" dirty="0"/>
          </a:p>
        </p:txBody>
      </p:sp>
      <p:sp>
        <p:nvSpPr>
          <p:cNvPr id="19" name="Shape 17"/>
          <p:cNvSpPr/>
          <p:nvPr/>
        </p:nvSpPr>
        <p:spPr>
          <a:xfrm>
            <a:off x="1005840" y="2871216"/>
            <a:ext cx="0" cy="164592"/>
          </a:xfrm>
          <a:prstGeom prst="line">
            <a:avLst/>
          </a:prstGeom>
          <a:noFill/>
          <a:ln w="28575">
            <a:solidFill>
              <a:srgbClr val="D9488C"/>
            </a:solidFill>
            <a:prstDash val="solid"/>
            <a:tailEnd type="triangle"/>
          </a:ln>
        </p:spPr>
      </p:sp>
      <p:sp>
        <p:nvSpPr>
          <p:cNvPr id="20" name="Shape 18"/>
          <p:cNvSpPr/>
          <p:nvPr/>
        </p:nvSpPr>
        <p:spPr>
          <a:xfrm>
            <a:off x="457200" y="3035808"/>
            <a:ext cx="5120640" cy="804672"/>
          </a:xfrm>
          <a:prstGeom prst="rect">
            <a:avLst/>
          </a:prstGeom>
          <a:solidFill>
            <a:srgbClr val="F2F5FA"/>
          </a:solidFill>
          <a:ln w="15875">
            <a:solidFill>
              <a:srgbClr val="D9488C"/>
            </a:solidFill>
            <a:prstDash val="solid"/>
          </a:ln>
        </p:spPr>
      </p:sp>
      <p:sp>
        <p:nvSpPr>
          <p:cNvPr id="21" name="Text 19"/>
          <p:cNvSpPr txBox="1"/>
          <p:nvPr/>
        </p:nvSpPr>
        <p:spPr>
          <a:xfrm>
            <a:off x="594360" y="3090672"/>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Decode to TrackerState</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protobuf frames become live coordinates</a:t>
            </a:r>
            <a:endParaRPr lang="en-US" sz="1100" dirty="0"/>
          </a:p>
        </p:txBody>
      </p:sp>
      <p:sp>
        <p:nvSpPr>
          <p:cNvPr id="22" name="Text 20"/>
          <p:cNvSpPr txBox="1"/>
          <p:nvPr/>
        </p:nvSpPr>
        <p:spPr>
          <a:xfrm>
            <a:off x="3977640" y="3108960"/>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3" name="Text 21"/>
          <p:cNvSpPr txBox="1"/>
          <p:nvPr/>
        </p:nvSpPr>
        <p:spPr>
          <a:xfrm>
            <a:off x="3950208" y="3401568"/>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"ME 33.60719 -101.89643"</a:t>
            </a:r>
            <a:endParaRPr lang="en-US" sz="750" dirty="0"/>
          </a:p>
        </p:txBody>
      </p:sp>
      <p:sp>
        <p:nvSpPr>
          <p:cNvPr id="24" name="Shape 22"/>
          <p:cNvSpPr/>
          <p:nvPr/>
        </p:nvSpPr>
        <p:spPr>
          <a:xfrm>
            <a:off x="1005840" y="3840480"/>
            <a:ext cx="0" cy="164592"/>
          </a:xfrm>
          <a:prstGeom prst="line">
            <a:avLst/>
          </a:prstGeom>
          <a:noFill/>
          <a:ln w="28575">
            <a:solidFill>
              <a:srgbClr val="D9488C"/>
            </a:solidFill>
            <a:prstDash val="solid"/>
            <a:tailEnd type="triangle"/>
          </a:ln>
        </p:spPr>
      </p:sp>
      <p:sp>
        <p:nvSpPr>
          <p:cNvPr id="25" name="Shape 23"/>
          <p:cNvSpPr/>
          <p:nvPr/>
        </p:nvSpPr>
        <p:spPr>
          <a:xfrm>
            <a:off x="457200" y="4005072"/>
            <a:ext cx="5120640" cy="804672"/>
          </a:xfrm>
          <a:prstGeom prst="rect">
            <a:avLst/>
          </a:prstGeom>
          <a:solidFill>
            <a:srgbClr val="F2F5FA"/>
          </a:solidFill>
          <a:ln w="15875">
            <a:solidFill>
              <a:srgbClr val="D9488C"/>
            </a:solidFill>
            <a:prstDash val="solid"/>
          </a:ln>
        </p:spPr>
      </p:sp>
      <p:sp>
        <p:nvSpPr>
          <p:cNvPr id="26" name="Text 24"/>
          <p:cNvSpPr txBox="1"/>
          <p:nvPr/>
        </p:nvSpPr>
        <p:spPr>
          <a:xfrm>
            <a:off x="594360" y="4059936"/>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Navigation and UI</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state-driven pages, honest ages, local clock</a:t>
            </a:r>
            <a:endParaRPr lang="en-US" sz="1100" dirty="0"/>
          </a:p>
        </p:txBody>
      </p:sp>
      <p:sp>
        <p:nvSpPr>
          <p:cNvPr id="27" name="Text 25"/>
          <p:cNvSpPr txBox="1"/>
          <p:nvPr/>
        </p:nvSpPr>
        <p:spPr>
          <a:xfrm>
            <a:off x="3977640" y="4078224"/>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8" name="Text 26"/>
          <p:cNvSpPr txBox="1"/>
          <p:nvPr/>
        </p:nvSpPr>
        <p:spPr>
          <a:xfrm>
            <a:off x="3950208" y="4370832"/>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"6:59a CDT, age 55 s"</a:t>
            </a:r>
            <a:endParaRPr lang="en-US" sz="750" dirty="0"/>
          </a:p>
        </p:txBody>
      </p:sp>
      <p:sp>
        <p:nvSpPr>
          <p:cNvPr id="29" name="Shape 27"/>
          <p:cNvSpPr/>
          <p:nvPr/>
        </p:nvSpPr>
        <p:spPr>
          <a:xfrm>
            <a:off x="1005840" y="4809744"/>
            <a:ext cx="0" cy="164592"/>
          </a:xfrm>
          <a:prstGeom prst="line">
            <a:avLst/>
          </a:prstGeom>
          <a:noFill/>
          <a:ln w="28575">
            <a:solidFill>
              <a:srgbClr val="D9488C"/>
            </a:solidFill>
            <a:prstDash val="solid"/>
            <a:tailEnd type="triangle"/>
          </a:ln>
        </p:spPr>
      </p:sp>
      <p:sp>
        <p:nvSpPr>
          <p:cNvPr id="30" name="Shape 28"/>
          <p:cNvSpPr/>
          <p:nvPr/>
        </p:nvSpPr>
        <p:spPr>
          <a:xfrm>
            <a:off x="457200" y="4974336"/>
            <a:ext cx="5120640" cy="804672"/>
          </a:xfrm>
          <a:prstGeom prst="rect">
            <a:avLst/>
          </a:prstGeom>
          <a:solidFill>
            <a:srgbClr val="FFFFFF"/>
          </a:solidFill>
          <a:ln w="15875">
            <a:solidFill>
              <a:srgbClr val="E58E1A"/>
            </a:solidFill>
            <a:prstDash val="dash"/>
          </a:ln>
        </p:spPr>
      </p:sp>
      <p:sp>
        <p:nvSpPr>
          <p:cNvPr id="31" name="Text 29"/>
          <p:cNvSpPr txBox="1"/>
          <p:nvPr/>
        </p:nvSpPr>
        <p:spPr>
          <a:xfrm>
            <a:off x="594360" y="5029200"/>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Partner over LoRa</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second radio joins the encrypted channel</a:t>
            </a:r>
            <a:endParaRPr lang="en-US" sz="1100" dirty="0"/>
          </a:p>
        </p:txBody>
      </p:sp>
      <p:sp>
        <p:nvSpPr>
          <p:cNvPr id="32" name="Text 30"/>
          <p:cNvSpPr txBox="1"/>
          <p:nvPr/>
        </p:nvSpPr>
        <p:spPr>
          <a:xfrm>
            <a:off x="3977640" y="5047488"/>
            <a:ext cx="777240" cy="274320"/>
          </a:xfrm>
          <a:prstGeom prst="rect">
            <a:avLst/>
          </a:prstGeom>
          <a:noFill/>
          <a:ln/>
        </p:spPr>
        <p:txBody>
          <a:bodyPr wrap="square" lIns="0" tIns="0" rIns="0" bIns="0" rtlCol="0" anchor="ctr"/>
          <a:lstStyle/>
          <a:p>
            <a:pPr algn="ctr" indent="0" marL="0">
              <a:buNone/>
            </a:pPr>
            <a:r>
              <a:rPr lang="en-US" sz="900" b="1" dirty="0">
                <a:solidFill>
                  <a:srgbClr val="B06207"/>
                </a:solidFill>
                <a:latin typeface="Courier New" pitchFamily="34" charset="0"/>
                <a:ea typeface="Courier New" pitchFamily="34" charset="-122"/>
                <a:cs typeface="Courier New" pitchFamily="34" charset="-120"/>
              </a:rPr>
              <a:t>NEXT</a:t>
            </a:r>
            <a:endParaRPr lang="en-US" sz="900" dirty="0"/>
          </a:p>
        </p:txBody>
      </p:sp>
      <p:sp>
        <p:nvSpPr>
          <p:cNvPr id="33" name="Text 31"/>
          <p:cNvSpPr txBox="1"/>
          <p:nvPr/>
        </p:nvSpPr>
        <p:spPr>
          <a:xfrm>
            <a:off x="3950208" y="5340096"/>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"PTR no partner heard yet"</a:t>
            </a:r>
            <a:endParaRPr lang="en-US" sz="750" dirty="0"/>
          </a:p>
        </p:txBody>
      </p:sp>
      <p:pic>
        <p:nvPicPr>
          <p:cNvPr id="34"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852160" y="1097280"/>
            <a:ext cx="1783080" cy="1399032"/>
          </a:xfrm>
          <a:prstGeom prst="rect">
            <a:avLst/>
          </a:prstGeom>
        </p:spPr>
      </p:pic>
      <p:sp>
        <p:nvSpPr>
          <p:cNvPr id="35" name="Shape 32"/>
          <p:cNvSpPr/>
          <p:nvPr/>
        </p:nvSpPr>
        <p:spPr>
          <a:xfrm>
            <a:off x="5852160" y="1097280"/>
            <a:ext cx="1783080" cy="1399032"/>
          </a:xfrm>
          <a:prstGeom prst="rect">
            <a:avLst/>
          </a:prstGeom>
          <a:ln w="12700">
            <a:solidFill>
              <a:srgbClr val="9AA7BE"/>
            </a:solidFill>
            <a:prstDash val="solid"/>
          </a:ln>
        </p:spPr>
      </p:sp>
      <p:sp>
        <p:nvSpPr>
          <p:cNvPr id="36" name="Text 33"/>
          <p:cNvSpPr txBox="1"/>
          <p:nvPr/>
        </p:nvSpPr>
        <p:spPr>
          <a:xfrm>
            <a:off x="5852160" y="252374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Boot: link + GPS proven</a:t>
            </a:r>
            <a:endParaRPr lang="en-US" sz="950" dirty="0"/>
          </a:p>
        </p:txBody>
      </p:sp>
      <p:pic>
        <p:nvPicPr>
          <p:cNvPr id="37" name="Image 1" descr="C:/Users/deogr/AppData/Local/Temp/claude/C--Users-deogr-Documents-Fall-Project-Off-Grid-Vehicle-dection-project/e8b2e8fa-1513-4aa8-a8f6-ce4fcd20e664/scratchpad/deck3/p_overall.jpg">    </p:cNvPr>
          <p:cNvPicPr>
            <a:picLocks noChangeAspect="1"/>
          </p:cNvPicPr>
          <p:nvPr/>
        </p:nvPicPr>
        <p:blipFill>
          <a:blip r:embed="rId2"/>
          <a:stretch>
            <a:fillRect/>
          </a:stretch>
        </p:blipFill>
        <p:spPr>
          <a:xfrm>
            <a:off x="7772400" y="1097280"/>
            <a:ext cx="1920240" cy="1380744"/>
          </a:xfrm>
          <a:prstGeom prst="rect">
            <a:avLst/>
          </a:prstGeom>
        </p:spPr>
      </p:pic>
      <p:sp>
        <p:nvSpPr>
          <p:cNvPr id="38" name="Shape 34"/>
          <p:cNvSpPr/>
          <p:nvPr/>
        </p:nvSpPr>
        <p:spPr>
          <a:xfrm>
            <a:off x="7772400" y="1097280"/>
            <a:ext cx="1920240" cy="1380744"/>
          </a:xfrm>
          <a:prstGeom prst="rect">
            <a:avLst/>
          </a:prstGeom>
          <a:ln w="12700">
            <a:solidFill>
              <a:srgbClr val="9AA7BE"/>
            </a:solidFill>
            <a:prstDash val="solid"/>
          </a:ln>
        </p:spPr>
      </p:sp>
      <p:sp>
        <p:nvSpPr>
          <p:cNvPr id="39" name="Text 35"/>
          <p:cNvSpPr txBox="1"/>
          <p:nvPr/>
        </p:nvSpPr>
        <p:spPr>
          <a:xfrm>
            <a:off x="7772400" y="2505456"/>
            <a:ext cx="19202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ME 33.60719 -101.89643</a:t>
            </a:r>
            <a:endParaRPr lang="en-US" sz="950" dirty="0"/>
          </a:p>
        </p:txBody>
      </p:sp>
      <p:sp>
        <p:nvSpPr>
          <p:cNvPr id="40" name="Shape 36"/>
          <p:cNvSpPr/>
          <p:nvPr/>
        </p:nvSpPr>
        <p:spPr>
          <a:xfrm>
            <a:off x="9829800" y="1097280"/>
            <a:ext cx="1920240" cy="1828800"/>
          </a:xfrm>
          <a:prstGeom prst="rect">
            <a:avLst/>
          </a:prstGeom>
          <a:solidFill>
            <a:srgbClr val="F2F5FA"/>
          </a:solidFill>
          <a:ln w="15875">
            <a:solidFill>
              <a:srgbClr val="1F9D68"/>
            </a:solidFill>
            <a:prstDash val="solid"/>
          </a:ln>
        </p:spPr>
      </p:sp>
      <p:sp>
        <p:nvSpPr>
          <p:cNvPr id="41" name="Text 37"/>
          <p:cNvSpPr txBox="1"/>
          <p:nvPr/>
        </p:nvSpPr>
        <p:spPr>
          <a:xfrm>
            <a:off x="9939528" y="1188720"/>
            <a:ext cx="1737360" cy="457200"/>
          </a:xfrm>
          <a:prstGeom prst="rect">
            <a:avLst/>
          </a:prstGeom>
          <a:noFill/>
          <a:ln/>
        </p:spPr>
        <p:txBody>
          <a:bodyPr wrap="square" lIns="0" tIns="0" rIns="0" bIns="0" rtlCol="0" anchor="ctr"/>
          <a:lstStyle/>
          <a:p>
            <a:pPr indent="0" marL="0">
              <a:buNone/>
            </a:pPr>
            <a:r>
              <a:rPr lang="en-US" sz="1000" b="1" spc="100" kern="0" dirty="0">
                <a:solidFill>
                  <a:srgbClr val="1F9D68"/>
                </a:solidFill>
                <a:latin typeface="Arial" pitchFamily="34" charset="0"/>
                <a:ea typeface="Arial" pitchFamily="34" charset="-122"/>
                <a:cs typeface="Arial" pitchFamily="34" charset="-120"/>
              </a:rPr>
              <a:t>POSITION CROSS-CHECK</a:t>
            </a:r>
            <a:endParaRPr lang="en-US" sz="1000" dirty="0"/>
          </a:p>
        </p:txBody>
      </p:sp>
      <p:sp>
        <p:nvSpPr>
          <p:cNvPr id="42" name="Text 38"/>
          <p:cNvSpPr txBox="1"/>
          <p:nvPr/>
        </p:nvSpPr>
        <p:spPr>
          <a:xfrm>
            <a:off x="9939528" y="1627632"/>
            <a:ext cx="1719072" cy="1261872"/>
          </a:xfrm>
          <a:prstGeom prst="rect">
            <a:avLst/>
          </a:prstGeom>
          <a:noFill/>
          <a:ln/>
        </p:spPr>
        <p:txBody>
          <a:bodyPr wrap="square" lIns="0" tIns="0" rIns="0" bIns="0" rtlCol="0" anchor="ctr"/>
          <a:lstStyle/>
          <a:p>
            <a:pPr indent="0" marL="0">
              <a:buNone/>
            </a:pPr>
            <a:r>
              <a:rPr lang="en-US" sz="850" dirty="0">
                <a:solidFill>
                  <a:srgbClr val="222A3F"/>
                </a:solidFill>
                <a:latin typeface="Arial" pitchFamily="34" charset="0"/>
                <a:ea typeface="Arial" pitchFamily="34" charset="-122"/>
                <a:cs typeface="Arial" pitchFamily="34" charset="-120"/>
              </a:rPr>
              <a:t>Display and web-client marker show the same fix from the same radio, via two programs sharing no code. Independent agreement is the accuracy check.</a:t>
            </a:r>
            <a:endParaRPr lang="en-US" sz="850" dirty="0"/>
          </a:p>
        </p:txBody>
      </p:sp>
      <p:sp>
        <p:nvSpPr>
          <p:cNvPr id="43" name="Text 39"/>
          <p:cNvSpPr txBox="1"/>
          <p:nvPr/>
        </p:nvSpPr>
        <p:spPr>
          <a:xfrm>
            <a:off x="5852160" y="2999232"/>
            <a:ext cx="5897880" cy="219456"/>
          </a:xfrm>
          <a:prstGeom prst="rect">
            <a:avLst/>
          </a:prstGeom>
          <a:noFill/>
          <a:ln/>
        </p:spPr>
        <p:txBody>
          <a:bodyPr wrap="square" lIns="0" tIns="0" rIns="0" bIns="0" rtlCol="0" anchor="ctr"/>
          <a:lstStyle/>
          <a:p>
            <a:pPr indent="0" marL="0">
              <a:buNone/>
            </a:pPr>
            <a:r>
              <a:rPr lang="en-US" sz="850" b="1" dirty="0">
                <a:solidFill>
                  <a:srgbClr val="5E6B85"/>
                </a:solidFill>
                <a:latin typeface="Courier New" pitchFamily="34" charset="0"/>
                <a:ea typeface="Courier New" pitchFamily="34" charset="-122"/>
                <a:cs typeface="Courier New" pitchFamily="34" charset="-120"/>
              </a:rPr>
              <a:t>INDEPENDENT CLIENT: MESHTASTIC WEB APP, SAME RADIO, NODE ead4 CONNECTED</a:t>
            </a:r>
            <a:endParaRPr lang="en-US" sz="850" dirty="0"/>
          </a:p>
        </p:txBody>
      </p:sp>
      <p:pic>
        <p:nvPicPr>
          <p:cNvPr id="44" name="Image 2" descr="C:/Users/deogr/AppData/Local/Temp/claude/C--Users-deogr-Documents-Fall-Project-Off-Grid-Vehicle-dection-project/e8b2e8fa-1513-4aa8-a8f6-ce4fcd20e664/scratchpad/deck3/p_map_zoom.png">    </p:cNvPr>
          <p:cNvPicPr>
            <a:picLocks noChangeAspect="1"/>
          </p:cNvPicPr>
          <p:nvPr/>
        </p:nvPicPr>
        <p:blipFill>
          <a:blip r:embed="rId3"/>
          <a:stretch>
            <a:fillRect/>
          </a:stretch>
        </p:blipFill>
        <p:spPr>
          <a:xfrm>
            <a:off x="5852160" y="3255264"/>
            <a:ext cx="3977640" cy="2935224"/>
          </a:xfrm>
          <a:prstGeom prst="rect">
            <a:avLst/>
          </a:prstGeom>
        </p:spPr>
      </p:pic>
      <p:sp>
        <p:nvSpPr>
          <p:cNvPr id="45" name="Shape 40"/>
          <p:cNvSpPr/>
          <p:nvPr/>
        </p:nvSpPr>
        <p:spPr>
          <a:xfrm>
            <a:off x="5852160" y="3255264"/>
            <a:ext cx="3977640" cy="2935224"/>
          </a:xfrm>
          <a:prstGeom prst="rect">
            <a:avLst/>
          </a:prstGeom>
          <a:ln w="12700">
            <a:solidFill>
              <a:srgbClr val="9AA7BE"/>
            </a:solidFill>
            <a:prstDash val="solid"/>
          </a:ln>
        </p:spPr>
      </p:sp>
      <p:sp>
        <p:nvSpPr>
          <p:cNvPr id="46" name="Text 41"/>
          <p:cNvSpPr txBox="1"/>
          <p:nvPr/>
        </p:nvSpPr>
        <p:spPr>
          <a:xfrm>
            <a:off x="10012680" y="3255264"/>
            <a:ext cx="1737360" cy="2935224"/>
          </a:xfrm>
          <a:prstGeom prst="rect">
            <a:avLst/>
          </a:prstGeom>
          <a:noFill/>
          <a:ln/>
        </p:spPr>
        <p:txBody>
          <a:bodyPr wrap="square" lIns="0" tIns="0" rIns="0" bIns="0" rtlCol="0" anchor="ctr"/>
          <a:lstStyle/>
          <a:p>
            <a:pPr indent="0" marL="0">
              <a:buNone/>
            </a:pPr>
            <a:r>
              <a:rPr lang="en-US" sz="900" dirty="0">
                <a:solidFill>
                  <a:srgbClr val="5E6B85"/>
                </a:solidFill>
                <a:latin typeface="Arial" pitchFamily="34" charset="0"/>
                <a:ea typeface="Arial" pitchFamily="34" charset="-122"/>
                <a:cs typeface="Arial" pitchFamily="34" charset="-120"/>
              </a:rPr>
              <a:t>One device proves four of five layers at zero coordination cost. Every bug found here never reaches the two-vehicle test. The dashed layer waits only for radio two; no display code changes.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Half a second of airtime per packet caps cadence at ten seconds. Utilization must stay under about 25%. The region must be set or transmit is disabled. The roof antenna is the single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a windshield works, a desk does not. Cold start takes minutes. Indoor multipath fakes small phantom speeds, which the deadband removes.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from boot until its first disconnect, so both units power up together. Exactly one client at a time: a phone app or USB session will take or mute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A one-bit reflective panel has no grayscale and needs ambient light at night; edge lighting is planned. The redraw budget is two full frames per second.</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volt USB adapters cut off on the radio's low current draw, so every adapter gets validated. Both units must share the vehicle's power timing.</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channel URL carrying the encryption key must match on every radio. Node identities derive from the MAC address and survive reflashes. Every configuration write is read back and verified.</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29%</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60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eight hours per member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GPS fix travels radio to radio to display to arrow at the 10 second cadence, with one-second motion from dead reckoning in between.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clock derives its timezone from position, data ages stay honest, and ghost re-broadcasts are detected and labeled.</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link reconnected itself after every drop, across four drive tests.</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A complete radio recovery drill was executed and documented: flash, provision, verify, in minutes.</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Victor provisions radio number two from the documented recipe, then the first two-radio bench decode.</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Cannon turns the constraints ledger into the drive-test protocol and the logging harness.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Deo and Josiah add partner selection stored in NVS and improve night readability.</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Then the milestone: the first two-vehicle drive test, where the arrow points at a real partner.</a:t>
            </a:r>
            <a:endParaRPr lang="en-US" sz="120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14/14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LoRa Transceiver Datasheet. Demodulator SNR limit per spreading factor (SF11 = -17.5 dB), used on sheet 09.</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 invalidUrl="" action="" tgtFrame="" tooltip="https://www.semtech.com/products/wireless-rf/lora-connect/sx1276" history="1" highlightClick="0" endSnd="0">
                  <a:extLst>
                    <a:ext uri="{A12FA001-AC4F-418D-AE19-62706E023703}">
                      <ahyp:hlinkClr xmlns:ahyp="http://schemas.microsoft.com/office/drawing/2018/hyperlinkcolor" val="tx"/>
                    </a:ext>
                  </a:extLst>
                </a:hlinkClick>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Symbol duration T_sym = 2^SF / BW, packet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2" invalidUrl="" action="" tgtFrame="" tooltip="https://info.semtech.com/find-documentation" history="1" highlightClick="0" endSnd="0">
                  <a:extLst>
                    <a:ext uri="{A12FA001-AC4F-418D-AE19-62706E023703}">
                      <ahyp:hlinkClr xmlns:ahyp="http://schemas.microsoft.com/office/drawing/2018/hyperlinkcolor" val="tx"/>
                    </a:ext>
                  </a:extLst>
                </a:hlinkClick>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Transceiver Datasheet. The radio IC on the Heltec V4;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3" invalidUrl="" action="" tgtFrame="" tooltip="https://www.semtech.com/products/wireless-rf/lora-connect/sx1262" history="1" highlightClick="0" endSnd="0">
                  <a:extLst>
                    <a:ext uri="{A12FA001-AC4F-418D-AE19-62706E023703}">
                      <ahyp:hlinkClr xmlns:ahyp="http://schemas.microsoft.com/office/drawing/2018/hyperlinkcolor" val="tx"/>
                    </a:ext>
                  </a:extLst>
                </a:hlinkClick>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Project Documentation, LoRa and Position Configuration. Presets, smart broadcast, position precision, the ~25% utilization limit.</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4" invalidUrl="" action="" tgtFrame="" tooltip="https://meshtastic.org/docs/configuration/radio/lora/" history="1" highlightClick="0" endSnd="0">
                  <a:extLst>
                    <a:ext uri="{A12FA001-AC4F-418D-AE19-62706E023703}">
                      <ahyp:hlinkClr xmlns:ahyp="http://schemas.microsoft.com/office/drawing/2018/hyperlinkcolor" val="tx"/>
                    </a:ext>
                  </a:extLst>
                </a:hlinkClick>
              </a:rPr>
              <a:t>meshtastic.org/docs/configuration/radio/lora</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 our decoder is generated from, including Position field units.</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5" invalidUrl="" action="" tgtFrame="" tooltip="https://github.com/meshtastic/protobufs" history="1" highlightClick="0" endSnd="0">
                  <a:extLst>
                    <a:ext uri="{A12FA001-AC4F-418D-AE19-62706E023703}">
                      <ahyp:hlinkClr xmlns:ahyp="http://schemas.microsoft.com/office/drawing/2018/hyperlinkcolor" val="tx"/>
                    </a:ext>
                  </a:extLst>
                </a:hlinkClick>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Operation in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6" invalidUrl="" action="" tgtFrame="" tooltip="https://www.law.cornell.edu/cfr/text/47/15.247" history="1" highlightClick="0" endSnd="0">
                  <a:extLst>
                    <a:ext uri="{A12FA001-AC4F-418D-AE19-62706E023703}">
                      <ahyp:hlinkClr xmlns:ahyp="http://schemas.microsoft.com/office/drawing/2018/hyperlinkcolor" val="tx"/>
                    </a:ext>
                  </a:extLst>
                </a:hlinkClick>
              </a:rPr>
              <a:t>law.cornell.edu/cfr/text/47/15.247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Recommendation M.1371, Automatic Identification System (AIS). Reporting intervals of 2 s to 3 min; the beacon-then-animate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7" invalidUrl="" action="" tgtFrame="" tooltip="https://www.itu.int/rec/R-REC-M.1371/en" history="1" highlightClick="0" endSnd="0">
                  <a:extLst>
                    <a:ext uri="{A12FA001-AC4F-418D-AE19-62706E023703}">
                      <ahyp:hlinkClr xmlns:ahyp="http://schemas.microsoft.com/office/drawing/2018/hyperlinkcolor" val="tx"/>
                    </a:ext>
                  </a:extLst>
                </a:hlinkClick>
              </a:rPr>
              <a:t>itu.int/rec/R-REC-M.1371/en</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R. W. Sinnott, Virtues of the Haversine, Sky &amp; Telescope, vol. 68, no. 2, p. 159, 1984. The distance formula used in nav.c.</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8" invalidUrl="" action="" tgtFrame="" tooltip="https://www.movable-type.co.uk/scripts/latlong.html" history="1" highlightClick="0" endSnd="0">
                  <a:extLst>
                    <a:ext uri="{A12FA001-AC4F-418D-AE19-62706E023703}">
                      <ahyp:hlinkClr xmlns:ahyp="http://schemas.microsoft.com/office/drawing/2018/hyperlinkcolor" val="tx"/>
                    </a:ext>
                  </a:extLst>
                </a:hlinkClick>
              </a:rPr>
              <a:t>movable-type.co.uk/scripts/latlong.html (implementation ref)</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Bluetooth Core Specification (GATT). The service and characteristic model behind the Meshtastic Client API.</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9" invalidUrl="" action="" tgtFrame="" tooltip="https://www.bluetooth.com/specifications/specs/core-specification/" history="1" highlightClick="0" endSnd="0">
                  <a:extLst>
                    <a:ext uri="{A12FA001-AC4F-418D-AE19-62706E023703}">
                      <ahyp:hlinkClr xmlns:ahyp="http://schemas.microsoft.com/office/drawing/2018/hyperlinkcolor" val="tx"/>
                    </a:ext>
                  </a:extLst>
                </a:hlinkClick>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TELECOM_ANALYSIS, ARCHITECTURE, BLE_LINK_WALKTHROUGH, RADIO_PHY_DEEP_DIVE, hardware/README. Our link budget, architecture, silicon walkthrough, and recipes.</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0" invalidUrl="" action="" tgtFrame="" tooltip="https://github.com/deosgracius/offgrid-vehicle-tracker" history="1" highlightClick="0" endSnd="0">
                  <a:extLst>
                    <a:ext uri="{A12FA001-AC4F-418D-AE19-62706E023703}">
                      <ahyp:hlinkClr xmlns:ahyp="http://schemas.microsoft.com/office/drawing/2018/hyperlinkcolor" val="tx"/>
                    </a:ext>
                  </a:extLst>
                </a:hlinkClick>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2026-09-07T22:45:53Z</dcterms:created>
  <dcterms:modified xsi:type="dcterms:W3CDTF">2026-09-07T22:45:53Z</dcterms:modified>
</cp:coreProperties>
</file>