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whole system so every later sheet has a home. Walk left region (hardware per vehicle), right region (firmware split with TrackerState as the single interface), bottom strip (telecom layers). Close on symmetry: vehicle B is identical, nothing is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 from sheet 02 into the firmware. Emphasize the single mutex-protected interface and that the whole left chain is proven on the road, not the bench: automatic reconnection, duplicate re-broadcast detection for honest ages, and the GPS clock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arrows aloud: the GATT loop reads until the radio reports empty; nanopb decodes with code generated from Meshtastic's own schema; node_table publishes once per second; the UI copies its own snapshot at 2 Hz, projects it forward, and computes the arrow. Every hardening item in the bottom card came out of an actual drive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Sector flow left to right, then the two fragments that do all the work. Testability is the design win: nav.c and dead_reckon.c run on the laptop with zero hardware, which is how the whole UI was built before the radio link existed.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photos show the real display on decoded radio packets. Point at the state machine working: banner and chevron in the driving view, rose fallback when stopped, and the diagnostic page with raw coordinates that we use for debugging.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Hardware diagram first, then the configuration that three road tests produced: 10 second smart broadcast matched by 10 second GPS refresh on a full-precision private channel. The amber card is the recipe that makes radio two a fifteen-minute job instead of a rediscovery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sheet answers the question everyone asks: why not every second. Equation 1: at spreading factor 11 each symbol is 2048 chips, so one position costs about half a second of air. Equation 2: two vehicles at one hertz would occupy 100 percent of the channel; at ten seconds they occupy ten percent. Equation 3: the same slowness buys sensitivity of minus 131 dBm, fifteen decibels below thermal noise, which is the entire range budget. Equation 4: actual information latency is about one second. Equation 5: the display projects both vehicles forward every second between fixes. Marine AIS beacons every 2 to 30 seconds and every chartplotter animates between reports; we are in good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becomes a line item in the test protocol. The strength of this slide is provenance: phantom speed, the advertise-once trap, the charger cutoff, and the configuration revert were all found by us, on our hardware, and every one is documented in the repository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image" Target="../media/image-6-4.jp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DESIGN REVIEW, WEEK 3</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01/10  REV C  2026-09-07</a:t>
            </a:r>
            <a:endParaRPr lang="en-US" sz="900" dirty="0"/>
          </a:p>
        </p:txBody>
      </p:sp>
      <p:sp>
        <p:nvSpPr>
          <p:cNvPr id="7" name="Shape 5"/>
          <p:cNvSpPr/>
          <p:nvPr/>
        </p:nvSpPr>
        <p:spPr>
          <a:xfrm>
            <a:off x="621792" y="146304"/>
            <a:ext cx="0" cy="6126480"/>
          </a:xfrm>
          <a:prstGeom prst="line">
            <a:avLst/>
          </a:prstGeom>
          <a:noFill/>
          <a:ln w="6350">
            <a:solidFill>
              <a:srgbClr val="E8EDF5"/>
            </a:solidFill>
            <a:prstDash val="solid"/>
          </a:ln>
        </p:spPr>
      </p:sp>
      <p:sp>
        <p:nvSpPr>
          <p:cNvPr id="8" name="Shape 6"/>
          <p:cNvSpPr/>
          <p:nvPr/>
        </p:nvSpPr>
        <p:spPr>
          <a:xfrm>
            <a:off x="1078992" y="146304"/>
            <a:ext cx="0" cy="6126480"/>
          </a:xfrm>
          <a:prstGeom prst="line">
            <a:avLst/>
          </a:prstGeom>
          <a:noFill/>
          <a:ln w="6350">
            <a:solidFill>
              <a:srgbClr val="E8EDF5"/>
            </a:solidFill>
            <a:prstDash val="solid"/>
          </a:ln>
        </p:spPr>
      </p:sp>
      <p:sp>
        <p:nvSpPr>
          <p:cNvPr id="9" name="Shape 7"/>
          <p:cNvSpPr/>
          <p:nvPr/>
        </p:nvSpPr>
        <p:spPr>
          <a:xfrm>
            <a:off x="1536192" y="146304"/>
            <a:ext cx="0" cy="6126480"/>
          </a:xfrm>
          <a:prstGeom prst="line">
            <a:avLst/>
          </a:prstGeom>
          <a:noFill/>
          <a:ln w="6350">
            <a:solidFill>
              <a:srgbClr val="E8EDF5"/>
            </a:solidFill>
            <a:prstDash val="solid"/>
          </a:ln>
        </p:spPr>
      </p:sp>
      <p:sp>
        <p:nvSpPr>
          <p:cNvPr id="10" name="Shape 8"/>
          <p:cNvSpPr/>
          <p:nvPr/>
        </p:nvSpPr>
        <p:spPr>
          <a:xfrm>
            <a:off x="1993392" y="146304"/>
            <a:ext cx="0" cy="6126480"/>
          </a:xfrm>
          <a:prstGeom prst="line">
            <a:avLst/>
          </a:prstGeom>
          <a:noFill/>
          <a:ln w="6350">
            <a:solidFill>
              <a:srgbClr val="E8EDF5"/>
            </a:solidFill>
            <a:prstDash val="solid"/>
          </a:ln>
        </p:spPr>
      </p:sp>
      <p:sp>
        <p:nvSpPr>
          <p:cNvPr id="11" name="Shape 9"/>
          <p:cNvSpPr/>
          <p:nvPr/>
        </p:nvSpPr>
        <p:spPr>
          <a:xfrm>
            <a:off x="2450592" y="146304"/>
            <a:ext cx="0" cy="6126480"/>
          </a:xfrm>
          <a:prstGeom prst="line">
            <a:avLst/>
          </a:prstGeom>
          <a:noFill/>
          <a:ln w="6350">
            <a:solidFill>
              <a:srgbClr val="E8EDF5"/>
            </a:solidFill>
            <a:prstDash val="solid"/>
          </a:ln>
        </p:spPr>
      </p:sp>
      <p:sp>
        <p:nvSpPr>
          <p:cNvPr id="12" name="Shape 10"/>
          <p:cNvSpPr/>
          <p:nvPr/>
        </p:nvSpPr>
        <p:spPr>
          <a:xfrm>
            <a:off x="2907792" y="146304"/>
            <a:ext cx="0" cy="6126480"/>
          </a:xfrm>
          <a:prstGeom prst="line">
            <a:avLst/>
          </a:prstGeom>
          <a:noFill/>
          <a:ln w="6350">
            <a:solidFill>
              <a:srgbClr val="E8EDF5"/>
            </a:solidFill>
            <a:prstDash val="solid"/>
          </a:ln>
        </p:spPr>
      </p:sp>
      <p:sp>
        <p:nvSpPr>
          <p:cNvPr id="13" name="Shape 11"/>
          <p:cNvSpPr/>
          <p:nvPr/>
        </p:nvSpPr>
        <p:spPr>
          <a:xfrm>
            <a:off x="3364992" y="146304"/>
            <a:ext cx="0" cy="6126480"/>
          </a:xfrm>
          <a:prstGeom prst="line">
            <a:avLst/>
          </a:prstGeom>
          <a:noFill/>
          <a:ln w="6350">
            <a:solidFill>
              <a:srgbClr val="E8EDF5"/>
            </a:solidFill>
            <a:prstDash val="solid"/>
          </a:ln>
        </p:spPr>
      </p:sp>
      <p:sp>
        <p:nvSpPr>
          <p:cNvPr id="14" name="Shape 12"/>
          <p:cNvSpPr/>
          <p:nvPr/>
        </p:nvSpPr>
        <p:spPr>
          <a:xfrm>
            <a:off x="3822192" y="146304"/>
            <a:ext cx="0" cy="6126480"/>
          </a:xfrm>
          <a:prstGeom prst="line">
            <a:avLst/>
          </a:prstGeom>
          <a:noFill/>
          <a:ln w="6350">
            <a:solidFill>
              <a:srgbClr val="E8EDF5"/>
            </a:solidFill>
            <a:prstDash val="solid"/>
          </a:ln>
        </p:spPr>
      </p:sp>
      <p:sp>
        <p:nvSpPr>
          <p:cNvPr id="15" name="Shape 13"/>
          <p:cNvSpPr/>
          <p:nvPr/>
        </p:nvSpPr>
        <p:spPr>
          <a:xfrm>
            <a:off x="4279392" y="146304"/>
            <a:ext cx="0" cy="6126480"/>
          </a:xfrm>
          <a:prstGeom prst="line">
            <a:avLst/>
          </a:prstGeom>
          <a:noFill/>
          <a:ln w="6350">
            <a:solidFill>
              <a:srgbClr val="E8EDF5"/>
            </a:solidFill>
            <a:prstDash val="solid"/>
          </a:ln>
        </p:spPr>
      </p:sp>
      <p:sp>
        <p:nvSpPr>
          <p:cNvPr id="16" name="Shape 14"/>
          <p:cNvSpPr/>
          <p:nvPr/>
        </p:nvSpPr>
        <p:spPr>
          <a:xfrm>
            <a:off x="4736592" y="146304"/>
            <a:ext cx="0" cy="6126480"/>
          </a:xfrm>
          <a:prstGeom prst="line">
            <a:avLst/>
          </a:prstGeom>
          <a:noFill/>
          <a:ln w="6350">
            <a:solidFill>
              <a:srgbClr val="E8EDF5"/>
            </a:solidFill>
            <a:prstDash val="solid"/>
          </a:ln>
        </p:spPr>
      </p:sp>
      <p:sp>
        <p:nvSpPr>
          <p:cNvPr id="17" name="Shape 15"/>
          <p:cNvSpPr/>
          <p:nvPr/>
        </p:nvSpPr>
        <p:spPr>
          <a:xfrm>
            <a:off x="5193792" y="146304"/>
            <a:ext cx="0" cy="6126480"/>
          </a:xfrm>
          <a:prstGeom prst="line">
            <a:avLst/>
          </a:prstGeom>
          <a:noFill/>
          <a:ln w="6350">
            <a:solidFill>
              <a:srgbClr val="E8EDF5"/>
            </a:solidFill>
            <a:prstDash val="solid"/>
          </a:ln>
        </p:spPr>
      </p:sp>
      <p:sp>
        <p:nvSpPr>
          <p:cNvPr id="18" name="Shape 16"/>
          <p:cNvSpPr/>
          <p:nvPr/>
        </p:nvSpPr>
        <p:spPr>
          <a:xfrm>
            <a:off x="5650992" y="146304"/>
            <a:ext cx="0" cy="6126480"/>
          </a:xfrm>
          <a:prstGeom prst="line">
            <a:avLst/>
          </a:prstGeom>
          <a:noFill/>
          <a:ln w="6350">
            <a:solidFill>
              <a:srgbClr val="E8EDF5"/>
            </a:solidFill>
            <a:prstDash val="solid"/>
          </a:ln>
        </p:spPr>
      </p:sp>
      <p:sp>
        <p:nvSpPr>
          <p:cNvPr id="19" name="Shape 17"/>
          <p:cNvSpPr/>
          <p:nvPr/>
        </p:nvSpPr>
        <p:spPr>
          <a:xfrm>
            <a:off x="6108192" y="146304"/>
            <a:ext cx="0" cy="6126480"/>
          </a:xfrm>
          <a:prstGeom prst="line">
            <a:avLst/>
          </a:prstGeom>
          <a:noFill/>
          <a:ln w="6350">
            <a:solidFill>
              <a:srgbClr val="E8EDF5"/>
            </a:solidFill>
            <a:prstDash val="solid"/>
          </a:ln>
        </p:spPr>
      </p:sp>
      <p:sp>
        <p:nvSpPr>
          <p:cNvPr id="20" name="Shape 18"/>
          <p:cNvSpPr/>
          <p:nvPr/>
        </p:nvSpPr>
        <p:spPr>
          <a:xfrm>
            <a:off x="6565392" y="146304"/>
            <a:ext cx="0" cy="6126480"/>
          </a:xfrm>
          <a:prstGeom prst="line">
            <a:avLst/>
          </a:prstGeom>
          <a:noFill/>
          <a:ln w="6350">
            <a:solidFill>
              <a:srgbClr val="E8EDF5"/>
            </a:solidFill>
            <a:prstDash val="solid"/>
          </a:ln>
        </p:spPr>
      </p:sp>
      <p:sp>
        <p:nvSpPr>
          <p:cNvPr id="21" name="Shape 19"/>
          <p:cNvSpPr/>
          <p:nvPr/>
        </p:nvSpPr>
        <p:spPr>
          <a:xfrm>
            <a:off x="7022592" y="146304"/>
            <a:ext cx="0" cy="6126480"/>
          </a:xfrm>
          <a:prstGeom prst="line">
            <a:avLst/>
          </a:prstGeom>
          <a:noFill/>
          <a:ln w="6350">
            <a:solidFill>
              <a:srgbClr val="E8EDF5"/>
            </a:solidFill>
            <a:prstDash val="solid"/>
          </a:ln>
        </p:spPr>
      </p:sp>
      <p:sp>
        <p:nvSpPr>
          <p:cNvPr id="22" name="Shape 20"/>
          <p:cNvSpPr/>
          <p:nvPr/>
        </p:nvSpPr>
        <p:spPr>
          <a:xfrm>
            <a:off x="7479792" y="146304"/>
            <a:ext cx="0" cy="6126480"/>
          </a:xfrm>
          <a:prstGeom prst="line">
            <a:avLst/>
          </a:prstGeom>
          <a:noFill/>
          <a:ln w="6350">
            <a:solidFill>
              <a:srgbClr val="E8EDF5"/>
            </a:solidFill>
            <a:prstDash val="solid"/>
          </a:ln>
        </p:spPr>
      </p:sp>
      <p:sp>
        <p:nvSpPr>
          <p:cNvPr id="23" name="Shape 21"/>
          <p:cNvSpPr/>
          <p:nvPr/>
        </p:nvSpPr>
        <p:spPr>
          <a:xfrm>
            <a:off x="7936992" y="146304"/>
            <a:ext cx="0" cy="6126480"/>
          </a:xfrm>
          <a:prstGeom prst="line">
            <a:avLst/>
          </a:prstGeom>
          <a:noFill/>
          <a:ln w="6350">
            <a:solidFill>
              <a:srgbClr val="E8EDF5"/>
            </a:solidFill>
            <a:prstDash val="solid"/>
          </a:ln>
        </p:spPr>
      </p:sp>
      <p:sp>
        <p:nvSpPr>
          <p:cNvPr id="24" name="Shape 22"/>
          <p:cNvSpPr/>
          <p:nvPr/>
        </p:nvSpPr>
        <p:spPr>
          <a:xfrm>
            <a:off x="8394192" y="146304"/>
            <a:ext cx="0" cy="6126480"/>
          </a:xfrm>
          <a:prstGeom prst="line">
            <a:avLst/>
          </a:prstGeom>
          <a:noFill/>
          <a:ln w="6350">
            <a:solidFill>
              <a:srgbClr val="E8EDF5"/>
            </a:solidFill>
            <a:prstDash val="solid"/>
          </a:ln>
        </p:spPr>
      </p:sp>
      <p:sp>
        <p:nvSpPr>
          <p:cNvPr id="25" name="Shape 23"/>
          <p:cNvSpPr/>
          <p:nvPr/>
        </p:nvSpPr>
        <p:spPr>
          <a:xfrm>
            <a:off x="8851392" y="146304"/>
            <a:ext cx="0" cy="6126480"/>
          </a:xfrm>
          <a:prstGeom prst="line">
            <a:avLst/>
          </a:prstGeom>
          <a:noFill/>
          <a:ln w="6350">
            <a:solidFill>
              <a:srgbClr val="E8EDF5"/>
            </a:solidFill>
            <a:prstDash val="solid"/>
          </a:ln>
        </p:spPr>
      </p:sp>
      <p:sp>
        <p:nvSpPr>
          <p:cNvPr id="26" name="Shape 24"/>
          <p:cNvSpPr/>
          <p:nvPr/>
        </p:nvSpPr>
        <p:spPr>
          <a:xfrm>
            <a:off x="9308592" y="146304"/>
            <a:ext cx="0" cy="6126480"/>
          </a:xfrm>
          <a:prstGeom prst="line">
            <a:avLst/>
          </a:prstGeom>
          <a:noFill/>
          <a:ln w="6350">
            <a:solidFill>
              <a:srgbClr val="E8EDF5"/>
            </a:solidFill>
            <a:prstDash val="solid"/>
          </a:ln>
        </p:spPr>
      </p:sp>
      <p:sp>
        <p:nvSpPr>
          <p:cNvPr id="27" name="Shape 25"/>
          <p:cNvSpPr/>
          <p:nvPr/>
        </p:nvSpPr>
        <p:spPr>
          <a:xfrm>
            <a:off x="9765792" y="146304"/>
            <a:ext cx="0" cy="6126480"/>
          </a:xfrm>
          <a:prstGeom prst="line">
            <a:avLst/>
          </a:prstGeom>
          <a:noFill/>
          <a:ln w="6350">
            <a:solidFill>
              <a:srgbClr val="E8EDF5"/>
            </a:solidFill>
            <a:prstDash val="solid"/>
          </a:ln>
        </p:spPr>
      </p:sp>
      <p:sp>
        <p:nvSpPr>
          <p:cNvPr id="28" name="Shape 26"/>
          <p:cNvSpPr/>
          <p:nvPr/>
        </p:nvSpPr>
        <p:spPr>
          <a:xfrm>
            <a:off x="10222992" y="146304"/>
            <a:ext cx="0" cy="6126480"/>
          </a:xfrm>
          <a:prstGeom prst="line">
            <a:avLst/>
          </a:prstGeom>
          <a:noFill/>
          <a:ln w="6350">
            <a:solidFill>
              <a:srgbClr val="E8EDF5"/>
            </a:solidFill>
            <a:prstDash val="solid"/>
          </a:ln>
        </p:spPr>
      </p:sp>
      <p:sp>
        <p:nvSpPr>
          <p:cNvPr id="29" name="Shape 27"/>
          <p:cNvSpPr/>
          <p:nvPr/>
        </p:nvSpPr>
        <p:spPr>
          <a:xfrm>
            <a:off x="10680192" y="146304"/>
            <a:ext cx="0" cy="6126480"/>
          </a:xfrm>
          <a:prstGeom prst="line">
            <a:avLst/>
          </a:prstGeom>
          <a:noFill/>
          <a:ln w="6350">
            <a:solidFill>
              <a:srgbClr val="E8EDF5"/>
            </a:solidFill>
            <a:prstDash val="solid"/>
          </a:ln>
        </p:spPr>
      </p:sp>
      <p:sp>
        <p:nvSpPr>
          <p:cNvPr id="30" name="Shape 28"/>
          <p:cNvSpPr/>
          <p:nvPr/>
        </p:nvSpPr>
        <p:spPr>
          <a:xfrm>
            <a:off x="11137392" y="146304"/>
            <a:ext cx="0" cy="6126480"/>
          </a:xfrm>
          <a:prstGeom prst="line">
            <a:avLst/>
          </a:prstGeom>
          <a:noFill/>
          <a:ln w="6350">
            <a:solidFill>
              <a:srgbClr val="E8EDF5"/>
            </a:solidFill>
            <a:prstDash val="solid"/>
          </a:ln>
        </p:spPr>
      </p:sp>
      <p:sp>
        <p:nvSpPr>
          <p:cNvPr id="31" name="Shape 29"/>
          <p:cNvSpPr/>
          <p:nvPr/>
        </p:nvSpPr>
        <p:spPr>
          <a:xfrm>
            <a:off x="11594592" y="146304"/>
            <a:ext cx="0" cy="6126480"/>
          </a:xfrm>
          <a:prstGeom prst="line">
            <a:avLst/>
          </a:prstGeom>
          <a:noFill/>
          <a:ln w="6350">
            <a:solidFill>
              <a:srgbClr val="E8EDF5"/>
            </a:solidFill>
            <a:prstDash val="solid"/>
          </a:ln>
        </p:spPr>
      </p:sp>
      <p:sp>
        <p:nvSpPr>
          <p:cNvPr id="32" name="Shape 30"/>
          <p:cNvSpPr/>
          <p:nvPr/>
        </p:nvSpPr>
        <p:spPr>
          <a:xfrm>
            <a:off x="164592" y="603504"/>
            <a:ext cx="11859768" cy="0"/>
          </a:xfrm>
          <a:prstGeom prst="line">
            <a:avLst/>
          </a:prstGeom>
          <a:noFill/>
          <a:ln w="6350">
            <a:solidFill>
              <a:srgbClr val="E8EDF5"/>
            </a:solidFill>
            <a:prstDash val="solid"/>
          </a:ln>
        </p:spPr>
      </p:sp>
      <p:sp>
        <p:nvSpPr>
          <p:cNvPr id="33" name="Shape 31"/>
          <p:cNvSpPr/>
          <p:nvPr/>
        </p:nvSpPr>
        <p:spPr>
          <a:xfrm>
            <a:off x="164592" y="1060704"/>
            <a:ext cx="11859768" cy="0"/>
          </a:xfrm>
          <a:prstGeom prst="line">
            <a:avLst/>
          </a:prstGeom>
          <a:noFill/>
          <a:ln w="6350">
            <a:solidFill>
              <a:srgbClr val="E8EDF5"/>
            </a:solidFill>
            <a:prstDash val="solid"/>
          </a:ln>
        </p:spPr>
      </p:sp>
      <p:sp>
        <p:nvSpPr>
          <p:cNvPr id="34" name="Shape 32"/>
          <p:cNvSpPr/>
          <p:nvPr/>
        </p:nvSpPr>
        <p:spPr>
          <a:xfrm>
            <a:off x="164592" y="1517904"/>
            <a:ext cx="11859768" cy="0"/>
          </a:xfrm>
          <a:prstGeom prst="line">
            <a:avLst/>
          </a:prstGeom>
          <a:noFill/>
          <a:ln w="6350">
            <a:solidFill>
              <a:srgbClr val="E8EDF5"/>
            </a:solidFill>
            <a:prstDash val="solid"/>
          </a:ln>
        </p:spPr>
      </p:sp>
      <p:sp>
        <p:nvSpPr>
          <p:cNvPr id="35" name="Shape 33"/>
          <p:cNvSpPr/>
          <p:nvPr/>
        </p:nvSpPr>
        <p:spPr>
          <a:xfrm>
            <a:off x="164592" y="1975104"/>
            <a:ext cx="11859768" cy="0"/>
          </a:xfrm>
          <a:prstGeom prst="line">
            <a:avLst/>
          </a:prstGeom>
          <a:noFill/>
          <a:ln w="6350">
            <a:solidFill>
              <a:srgbClr val="E8EDF5"/>
            </a:solidFill>
            <a:prstDash val="solid"/>
          </a:ln>
        </p:spPr>
      </p:sp>
      <p:sp>
        <p:nvSpPr>
          <p:cNvPr id="36" name="Shape 34"/>
          <p:cNvSpPr/>
          <p:nvPr/>
        </p:nvSpPr>
        <p:spPr>
          <a:xfrm>
            <a:off x="164592" y="2432304"/>
            <a:ext cx="11859768" cy="0"/>
          </a:xfrm>
          <a:prstGeom prst="line">
            <a:avLst/>
          </a:prstGeom>
          <a:noFill/>
          <a:ln w="6350">
            <a:solidFill>
              <a:srgbClr val="E8EDF5"/>
            </a:solidFill>
            <a:prstDash val="solid"/>
          </a:ln>
        </p:spPr>
      </p:sp>
      <p:sp>
        <p:nvSpPr>
          <p:cNvPr id="37" name="Shape 35"/>
          <p:cNvSpPr/>
          <p:nvPr/>
        </p:nvSpPr>
        <p:spPr>
          <a:xfrm>
            <a:off x="164592" y="2889504"/>
            <a:ext cx="11859768" cy="0"/>
          </a:xfrm>
          <a:prstGeom prst="line">
            <a:avLst/>
          </a:prstGeom>
          <a:noFill/>
          <a:ln w="6350">
            <a:solidFill>
              <a:srgbClr val="E8EDF5"/>
            </a:solidFill>
            <a:prstDash val="solid"/>
          </a:ln>
        </p:spPr>
      </p:sp>
      <p:sp>
        <p:nvSpPr>
          <p:cNvPr id="38" name="Shape 36"/>
          <p:cNvSpPr/>
          <p:nvPr/>
        </p:nvSpPr>
        <p:spPr>
          <a:xfrm>
            <a:off x="164592" y="3346704"/>
            <a:ext cx="11859768" cy="0"/>
          </a:xfrm>
          <a:prstGeom prst="line">
            <a:avLst/>
          </a:prstGeom>
          <a:noFill/>
          <a:ln w="6350">
            <a:solidFill>
              <a:srgbClr val="E8EDF5"/>
            </a:solidFill>
            <a:prstDash val="solid"/>
          </a:ln>
        </p:spPr>
      </p:sp>
      <p:sp>
        <p:nvSpPr>
          <p:cNvPr id="39" name="Shape 37"/>
          <p:cNvSpPr/>
          <p:nvPr/>
        </p:nvSpPr>
        <p:spPr>
          <a:xfrm>
            <a:off x="164592" y="3803904"/>
            <a:ext cx="11859768" cy="0"/>
          </a:xfrm>
          <a:prstGeom prst="line">
            <a:avLst/>
          </a:prstGeom>
          <a:noFill/>
          <a:ln w="6350">
            <a:solidFill>
              <a:srgbClr val="E8EDF5"/>
            </a:solidFill>
            <a:prstDash val="solid"/>
          </a:ln>
        </p:spPr>
      </p:sp>
      <p:sp>
        <p:nvSpPr>
          <p:cNvPr id="40" name="Shape 38"/>
          <p:cNvSpPr/>
          <p:nvPr/>
        </p:nvSpPr>
        <p:spPr>
          <a:xfrm>
            <a:off x="164592" y="4261104"/>
            <a:ext cx="11859768" cy="0"/>
          </a:xfrm>
          <a:prstGeom prst="line">
            <a:avLst/>
          </a:prstGeom>
          <a:noFill/>
          <a:ln w="6350">
            <a:solidFill>
              <a:srgbClr val="E8EDF5"/>
            </a:solidFill>
            <a:prstDash val="solid"/>
          </a:ln>
        </p:spPr>
      </p:sp>
      <p:sp>
        <p:nvSpPr>
          <p:cNvPr id="41" name="Shape 39"/>
          <p:cNvSpPr/>
          <p:nvPr/>
        </p:nvSpPr>
        <p:spPr>
          <a:xfrm>
            <a:off x="164592" y="4718304"/>
            <a:ext cx="11859768" cy="0"/>
          </a:xfrm>
          <a:prstGeom prst="line">
            <a:avLst/>
          </a:prstGeom>
          <a:noFill/>
          <a:ln w="6350">
            <a:solidFill>
              <a:srgbClr val="E8EDF5"/>
            </a:solidFill>
            <a:prstDash val="solid"/>
          </a:ln>
        </p:spPr>
      </p:sp>
      <p:sp>
        <p:nvSpPr>
          <p:cNvPr id="42" name="Shape 40"/>
          <p:cNvSpPr/>
          <p:nvPr/>
        </p:nvSpPr>
        <p:spPr>
          <a:xfrm>
            <a:off x="164592" y="5175504"/>
            <a:ext cx="11859768" cy="0"/>
          </a:xfrm>
          <a:prstGeom prst="line">
            <a:avLst/>
          </a:prstGeom>
          <a:noFill/>
          <a:ln w="6350">
            <a:solidFill>
              <a:srgbClr val="E8EDF5"/>
            </a:solidFill>
            <a:prstDash val="solid"/>
          </a:ln>
        </p:spPr>
      </p:sp>
      <p:sp>
        <p:nvSpPr>
          <p:cNvPr id="43" name="Shape 41"/>
          <p:cNvSpPr/>
          <p:nvPr/>
        </p:nvSpPr>
        <p:spPr>
          <a:xfrm>
            <a:off x="164592" y="5632704"/>
            <a:ext cx="11859768" cy="0"/>
          </a:xfrm>
          <a:prstGeom prst="line">
            <a:avLst/>
          </a:prstGeom>
          <a:noFill/>
          <a:ln w="6350">
            <a:solidFill>
              <a:srgbClr val="E8EDF5"/>
            </a:solidFill>
            <a:prstDash val="solid"/>
          </a:ln>
        </p:spPr>
      </p:sp>
      <p:sp>
        <p:nvSpPr>
          <p:cNvPr id="44" name="Shape 42"/>
          <p:cNvSpPr/>
          <p:nvPr/>
        </p:nvSpPr>
        <p:spPr>
          <a:xfrm>
            <a:off x="164592" y="6089904"/>
            <a:ext cx="11859768" cy="0"/>
          </a:xfrm>
          <a:prstGeom prst="line">
            <a:avLst/>
          </a:prstGeom>
          <a:noFill/>
          <a:ln w="6350">
            <a:solidFill>
              <a:srgbClr val="E8EDF5"/>
            </a:solidFill>
            <a:prstDash val="solid"/>
          </a:ln>
        </p:spPr>
      </p:sp>
      <p:sp>
        <p:nvSpPr>
          <p:cNvPr id="45" name="Text 43"/>
          <p:cNvSpPr txBox="1"/>
          <p:nvPr/>
        </p:nvSpPr>
        <p:spPr>
          <a:xfrm>
            <a:off x="640080" y="1051560"/>
            <a:ext cx="10881360" cy="822960"/>
          </a:xfrm>
          <a:prstGeom prst="rect">
            <a:avLst/>
          </a:prstGeom>
          <a:noFill/>
          <a:ln/>
        </p:spPr>
        <p:txBody>
          <a:bodyPr wrap="square" lIns="0" tIns="0" rIns="0" bIns="0" rtlCol="0" anchor="ctr"/>
          <a:lstStyle/>
          <a:p>
            <a:pPr indent="0" marL="0">
              <a:buNone/>
            </a:pPr>
            <a:r>
              <a:rPr lang="en-US" sz="4400" b="1" spc="300" kern="0" dirty="0">
                <a:solidFill>
                  <a:srgbClr val="16213D"/>
                </a:solidFill>
                <a:latin typeface="Arial" pitchFamily="34" charset="0"/>
                <a:ea typeface="Arial" pitchFamily="34" charset="-122"/>
                <a:cs typeface="Arial" pitchFamily="34" charset="-120"/>
              </a:rPr>
              <a:t>OFF-GRID VEHICLE TRACKER</a:t>
            </a:r>
            <a:endParaRPr lang="en-US" sz="4400" dirty="0"/>
          </a:p>
        </p:txBody>
      </p:sp>
      <p:sp>
        <p:nvSpPr>
          <p:cNvPr id="46" name="Text 44"/>
          <p:cNvSpPr txBox="1"/>
          <p:nvPr/>
        </p:nvSpPr>
        <p:spPr>
          <a:xfrm>
            <a:off x="658368" y="1874520"/>
            <a:ext cx="10881360" cy="411480"/>
          </a:xfrm>
          <a:prstGeom prst="rect">
            <a:avLst/>
          </a:prstGeom>
          <a:noFill/>
          <a:ln/>
        </p:spPr>
        <p:txBody>
          <a:bodyPr wrap="square" lIns="0" tIns="0" rIns="0" bIns="0" rtlCol="0" anchor="ctr"/>
          <a:lstStyle/>
          <a:p>
            <a:pPr indent="0" marL="0">
              <a:buNone/>
            </a:pPr>
            <a:r>
              <a:rPr lang="en-US" sz="1700" b="1" spc="100" kern="0" dirty="0">
                <a:solidFill>
                  <a:srgbClr val="E58E1A"/>
                </a:solidFill>
                <a:latin typeface="Arial" pitchFamily="34" charset="0"/>
                <a:ea typeface="Arial" pitchFamily="34" charset="-122"/>
                <a:cs typeface="Arial" pitchFamily="34" charset="-120"/>
              </a:rPr>
              <a:t>WEEK 3 DESIGN REVIEW: A WORKING TRACKER, END TO END</a:t>
            </a:r>
            <a:endParaRPr lang="en-US" sz="1700" dirty="0"/>
          </a:p>
        </p:txBody>
      </p:sp>
      <p:sp>
        <p:nvSpPr>
          <p:cNvPr id="47" name="Text 45"/>
          <p:cNvSpPr txBox="1"/>
          <p:nvPr/>
        </p:nvSpPr>
        <p:spPr>
          <a:xfrm>
            <a:off x="658368" y="2423160"/>
            <a:ext cx="7589520" cy="1051560"/>
          </a:xfrm>
          <a:prstGeom prst="rect">
            <a:avLst/>
          </a:prstGeom>
          <a:noFill/>
          <a:ln/>
        </p:spPr>
        <p:txBody>
          <a:bodyPr wrap="square" lIns="0" tIns="0" rIns="0" bIns="0" rtlCol="0" anchor="ctr"/>
          <a:lstStyle/>
          <a:p>
            <a:pPr indent="0" marL="0">
              <a:buNone/>
            </a:pPr>
            <a:r>
              <a:rPr lang="en-US" sz="1300" dirty="0">
                <a:solidFill>
                  <a:srgbClr val="222A3F"/>
                </a:solidFill>
                <a:latin typeface="Arial" pitchFamily="34" charset="0"/>
                <a:ea typeface="Arial" pitchFamily="34" charset="-122"/>
                <a:cs typeface="Arial" pitchFamily="34" charset="-120"/>
              </a:rPr>
              <a:t>This week the display began showing a live vehicle: position decoded from real radio packets, an arrow computed from real navigation math, and a screen that moves every second. Each section of this review opens with its architecture, then shows the working hardware and the code behind it.</a:t>
            </a:r>
            <a:endParaRPr lang="en-US" sz="13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7589520" cy="914400"/>
        </p:xfrm>
        <a:graphic>
          <a:graphicData uri="http://schemas.openxmlformats.org/drawingml/2006/table">
            <a:tbl>
              <a:tblPr/>
              <a:tblGrid>
                <a:gridCol w="1234440"/>
                <a:gridCol w="2514600"/>
                <a:gridCol w="3840480"/>
              </a:tblGrid>
              <a:tr h="384048">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OWNER</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SUBSYSTEM</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c>
                  <a:txBody>
                    <a:bodyPr/>
                    <a:lstStyle/>
                    <a:p>
                      <a:pPr indent="0" marL="0">
                        <a:buNone/>
                      </a:pPr>
                      <a:r>
                        <a:rPr lang="en-US" sz="1000" b="1" dirty="0">
                          <a:solidFill>
                            <a:srgbClr val="FFFFFF"/>
                          </a:solidFill>
                          <a:latin typeface="Courier New" pitchFamily="34" charset="0"/>
                          <a:ea typeface="Courier New" pitchFamily="34" charset="-122"/>
                          <a:cs typeface="Courier New" pitchFamily="34" charset="-120"/>
                        </a:rPr>
                        <a:t>SCOPE THIS WEEK</a:t>
                      </a:r>
                      <a:endParaRPr lang="en-US" sz="100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16213D"/>
                    </a:solidFill>
                  </a:tcPr>
                </a:tc>
              </a:tr>
              <a:tr h="384048">
                <a:tc>
                  <a:txBody>
                    <a:bodyPr/>
                    <a:lstStyle/>
                    <a:p>
                      <a:pPr indent="0" marL="0">
                        <a:buNone/>
                      </a:pPr>
                      <a:r>
                        <a:rPr lang="en-US" sz="1150" b="1" dirty="0">
                          <a:solidFill>
                            <a:srgbClr val="1199BD"/>
                          </a:solidFill>
                          <a:latin typeface="Courier New" pitchFamily="34" charset="0"/>
                          <a:ea typeface="Courier New" pitchFamily="34" charset="-122"/>
                          <a:cs typeface="Courier New" pitchFamily="34" charset="-120"/>
                        </a:rPr>
                        <a:t>DEO</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Backend, protocol/</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system diagram, BLE link, decode, TrackerState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6D4BDB"/>
                          </a:solidFill>
                          <a:latin typeface="Courier New" pitchFamily="34" charset="0"/>
                          <a:ea typeface="Courier New" pitchFamily="34" charset="-122"/>
                          <a:cs typeface="Courier New" pitchFamily="34" charset="-120"/>
                        </a:rPr>
                        <a:t>JOSIAH</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Frontend, ui/ and nav/</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arrow math, two-page UI, dead reckoning</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E58E1A"/>
                          </a:solidFill>
                          <a:latin typeface="Courier New" pitchFamily="34" charset="0"/>
                          <a:ea typeface="Courier New" pitchFamily="34" charset="-122"/>
                          <a:cs typeface="Courier New" pitchFamily="34" charset="-120"/>
                        </a:rPr>
                        <a:t>VICTOR</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Radio and PHY</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link physics: real time versus 10 seconds</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2F5FA"/>
                    </a:solidFill>
                  </a:tcPr>
                </a:tc>
              </a:tr>
              <a:tr h="384048">
                <a:tc>
                  <a:txBody>
                    <a:bodyPr/>
                    <a:lstStyle/>
                    <a:p>
                      <a:pPr indent="0" marL="0">
                        <a:buNone/>
                      </a:pPr>
                      <a:r>
                        <a:rPr lang="en-US" sz="1150" b="1" dirty="0">
                          <a:solidFill>
                            <a:srgbClr val="D9488C"/>
                          </a:solidFill>
                          <a:latin typeface="Courier New" pitchFamily="34" charset="0"/>
                          <a:ea typeface="Courier New" pitchFamily="34" charset="-122"/>
                          <a:cs typeface="Courier New" pitchFamily="34" charset="-120"/>
                        </a:rPr>
                        <a:t>CANNON</a:t>
                      </a:r>
                      <a:endParaRPr lang="en-US" sz="1150" dirty="0">
                        <a:latin typeface="Courier New" charset="0"/>
                        <a:ea typeface="Courier New" charset="0"/>
                        <a:cs typeface="Courier New"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Integration and test</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c>
                  <a:txBody>
                    <a:bodyPr/>
                    <a:lstStyle/>
                    <a:p>
                      <a:pPr indent="0" marL="0">
                        <a:buNone/>
                      </a:pPr>
                      <a:r>
                        <a:rPr lang="en-US" sz="1150" dirty="0">
                          <a:solidFill>
                            <a:srgbClr val="222A3F"/>
                          </a:solidFill>
                          <a:latin typeface="Arial" pitchFamily="34" charset="0"/>
                          <a:ea typeface="Arial" pitchFamily="34" charset="-122"/>
                          <a:cs typeface="Arial" pitchFamily="34" charset="-120"/>
                        </a:rPr>
                        <a:t>the constraints ledger, test sequence</a:t>
                      </a:r>
                      <a:endParaRPr lang="en-US" sz="1150" dirty="0">
                        <a:latin typeface="Arial" charset="0"/>
                        <a:ea typeface="Arial" charset="0"/>
                        <a:cs typeface="Arial" charset="0"/>
                      </a:endParaRPr>
                    </a:p>
                  </a:txBody>
                  <a:tcPr marL="91440" marR="91440" marT="45720" marB="45720" anchor="ctr">
                    <a:lnL w="9525" cap="flat" cmpd="sng" algn="ctr">
                      <a:solidFill>
                        <a:srgbClr val="9AA7BE"/>
                      </a:solidFill>
                      <a:prstDash val="solid"/>
                      <a:round/>
                      <a:headEnd type="none" w="med" len="med"/>
                      <a:tailEnd type="none" w="med" len="med"/>
                    </a:lnL>
                    <a:lnR w="9525" cap="flat" cmpd="sng" algn="ctr">
                      <a:solidFill>
                        <a:srgbClr val="9AA7BE"/>
                      </a:solidFill>
                      <a:prstDash val="solid"/>
                      <a:round/>
                      <a:headEnd type="none" w="med" len="med"/>
                      <a:tailEnd type="none" w="med" len="med"/>
                    </a:lnR>
                    <a:lnT w="9525" cap="flat" cmpd="sng" algn="ctr">
                      <a:solidFill>
                        <a:srgbClr val="9AA7BE"/>
                      </a:solidFill>
                      <a:prstDash val="solid"/>
                      <a:round/>
                      <a:headEnd type="none" w="med" len="med"/>
                      <a:tailEnd type="none" w="med" len="med"/>
                    </a:lnT>
                    <a:lnB w="9525" cap="flat" cmpd="sng" algn="ctr">
                      <a:solidFill>
                        <a:srgbClr val="9AA7BE"/>
                      </a:solidFill>
                      <a:prstDash val="solid"/>
                      <a:round/>
                      <a:headEnd type="none" w="med" len="med"/>
                      <a:tailEnd type="none" w="med" len="med"/>
                    </a:lnB>
                    <a:solidFill>
                      <a:srgbClr val="FFFFFF"/>
                    </a:solidFill>
                  </a:tcPr>
                </a:tc>
              </a:tr>
            </a:tbl>
          </a:graphicData>
        </a:graphic>
      </p:graphicFrame>
      <p:sp>
        <p:nvSpPr>
          <p:cNvPr id="49" name="Shape 46"/>
          <p:cNvSpPr/>
          <p:nvPr/>
        </p:nvSpPr>
        <p:spPr>
          <a:xfrm>
            <a:off x="8732520" y="2423160"/>
            <a:ext cx="3017520" cy="3246120"/>
          </a:xfrm>
          <a:prstGeom prst="rect">
            <a:avLst/>
          </a:prstGeom>
          <a:solidFill>
            <a:srgbClr val="FFFFFF"/>
          </a:solidFill>
          <a:ln w="15875">
            <a:solidFill>
              <a:srgbClr val="16213D"/>
            </a:solidFill>
            <a:prstDash val="solid"/>
          </a:ln>
        </p:spPr>
      </p:sp>
      <p:sp>
        <p:nvSpPr>
          <p:cNvPr id="50" name="Text 47"/>
          <p:cNvSpPr txBox="1"/>
          <p:nvPr/>
        </p:nvSpPr>
        <p:spPr>
          <a:xfrm>
            <a:off x="8869680" y="24871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PROJECT</a:t>
            </a:r>
            <a:endParaRPr lang="en-US" sz="900" dirty="0"/>
          </a:p>
        </p:txBody>
      </p:sp>
      <p:sp>
        <p:nvSpPr>
          <p:cNvPr id="51" name="Text 48"/>
          <p:cNvSpPr txBox="1"/>
          <p:nvPr/>
        </p:nvSpPr>
        <p:spPr>
          <a:xfrm>
            <a:off x="8869680" y="27066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Off-Grid Vehicle Tracker</a:t>
            </a:r>
            <a:endParaRPr lang="en-US" sz="1050" dirty="0"/>
          </a:p>
        </p:txBody>
      </p:sp>
      <p:sp>
        <p:nvSpPr>
          <p:cNvPr id="52" name="Shape 49"/>
          <p:cNvSpPr/>
          <p:nvPr/>
        </p:nvSpPr>
        <p:spPr>
          <a:xfrm>
            <a:off x="8732520" y="2980944"/>
            <a:ext cx="3017520" cy="0"/>
          </a:xfrm>
          <a:prstGeom prst="line">
            <a:avLst/>
          </a:prstGeom>
          <a:noFill/>
          <a:ln w="9525">
            <a:solidFill>
              <a:srgbClr val="9AA7BE"/>
            </a:solidFill>
            <a:prstDash val="solid"/>
          </a:ln>
        </p:spPr>
      </p:sp>
      <p:sp>
        <p:nvSpPr>
          <p:cNvPr id="53" name="Text 50"/>
          <p:cNvSpPr txBox="1"/>
          <p:nvPr/>
        </p:nvSpPr>
        <p:spPr>
          <a:xfrm>
            <a:off x="8869680" y="301294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SPONSOR</a:t>
            </a:r>
            <a:endParaRPr lang="en-US" sz="900" dirty="0"/>
          </a:p>
        </p:txBody>
      </p:sp>
      <p:sp>
        <p:nvSpPr>
          <p:cNvPr id="54" name="Text 51"/>
          <p:cNvSpPr txBox="1"/>
          <p:nvPr/>
        </p:nvSpPr>
        <p:spPr>
          <a:xfrm>
            <a:off x="8869680" y="323240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Dr. Richard Gale</a:t>
            </a:r>
            <a:endParaRPr lang="en-US" sz="1050" dirty="0"/>
          </a:p>
        </p:txBody>
      </p:sp>
      <p:sp>
        <p:nvSpPr>
          <p:cNvPr id="55" name="Shape 52"/>
          <p:cNvSpPr/>
          <p:nvPr/>
        </p:nvSpPr>
        <p:spPr>
          <a:xfrm>
            <a:off x="8732520" y="3506724"/>
            <a:ext cx="3017520" cy="0"/>
          </a:xfrm>
          <a:prstGeom prst="line">
            <a:avLst/>
          </a:prstGeom>
          <a:noFill/>
          <a:ln w="9525">
            <a:solidFill>
              <a:srgbClr val="9AA7BE"/>
            </a:solidFill>
            <a:prstDash val="solid"/>
          </a:ln>
        </p:spPr>
      </p:sp>
      <p:sp>
        <p:nvSpPr>
          <p:cNvPr id="56" name="Text 53"/>
          <p:cNvSpPr txBox="1"/>
          <p:nvPr/>
        </p:nvSpPr>
        <p:spPr>
          <a:xfrm>
            <a:off x="8869680" y="353872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COURSE</a:t>
            </a:r>
            <a:endParaRPr lang="en-US" sz="900" dirty="0"/>
          </a:p>
        </p:txBody>
      </p:sp>
      <p:sp>
        <p:nvSpPr>
          <p:cNvPr id="57" name="Text 54"/>
          <p:cNvSpPr txBox="1"/>
          <p:nvPr/>
        </p:nvSpPr>
        <p:spPr>
          <a:xfrm>
            <a:off x="8869680" y="375818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Capstone Project Lab</a:t>
            </a:r>
            <a:endParaRPr lang="en-US" sz="1050" dirty="0"/>
          </a:p>
        </p:txBody>
      </p:sp>
      <p:sp>
        <p:nvSpPr>
          <p:cNvPr id="58" name="Shape 55"/>
          <p:cNvSpPr/>
          <p:nvPr/>
        </p:nvSpPr>
        <p:spPr>
          <a:xfrm>
            <a:off x="8732520" y="4032504"/>
            <a:ext cx="3017520" cy="0"/>
          </a:xfrm>
          <a:prstGeom prst="line">
            <a:avLst/>
          </a:prstGeom>
          <a:noFill/>
          <a:ln w="9525">
            <a:solidFill>
              <a:srgbClr val="9AA7BE"/>
            </a:solidFill>
            <a:prstDash val="solid"/>
          </a:ln>
        </p:spPr>
      </p:sp>
      <p:sp>
        <p:nvSpPr>
          <p:cNvPr id="59" name="Text 56"/>
          <p:cNvSpPr txBox="1"/>
          <p:nvPr/>
        </p:nvSpPr>
        <p:spPr>
          <a:xfrm>
            <a:off x="8869680" y="406450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STATUS</a:t>
            </a:r>
            <a:endParaRPr lang="en-US" sz="900" dirty="0"/>
          </a:p>
        </p:txBody>
      </p:sp>
      <p:sp>
        <p:nvSpPr>
          <p:cNvPr id="60" name="Text 57"/>
          <p:cNvSpPr txBox="1"/>
          <p:nvPr/>
        </p:nvSpPr>
        <p:spPr>
          <a:xfrm>
            <a:off x="8869680" y="428396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29% vs 19% target, ahead</a:t>
            </a:r>
            <a:endParaRPr lang="en-US" sz="1050" dirty="0"/>
          </a:p>
        </p:txBody>
      </p:sp>
      <p:sp>
        <p:nvSpPr>
          <p:cNvPr id="61" name="Shape 58"/>
          <p:cNvSpPr/>
          <p:nvPr/>
        </p:nvSpPr>
        <p:spPr>
          <a:xfrm>
            <a:off x="8732520" y="4558284"/>
            <a:ext cx="3017520" cy="0"/>
          </a:xfrm>
          <a:prstGeom prst="line">
            <a:avLst/>
          </a:prstGeom>
          <a:noFill/>
          <a:ln w="9525">
            <a:solidFill>
              <a:srgbClr val="9AA7BE"/>
            </a:solidFill>
            <a:prstDash val="solid"/>
          </a:ln>
        </p:spPr>
      </p:sp>
      <p:sp>
        <p:nvSpPr>
          <p:cNvPr id="62" name="Text 59"/>
          <p:cNvSpPr txBox="1"/>
          <p:nvPr/>
        </p:nvSpPr>
        <p:spPr>
          <a:xfrm>
            <a:off x="8869680" y="459028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HOURS</a:t>
            </a:r>
            <a:endParaRPr lang="en-US" sz="900" dirty="0"/>
          </a:p>
        </p:txBody>
      </p:sp>
      <p:sp>
        <p:nvSpPr>
          <p:cNvPr id="63" name="Text 60"/>
          <p:cNvSpPr txBox="1"/>
          <p:nvPr/>
        </p:nvSpPr>
        <p:spPr>
          <a:xfrm>
            <a:off x="8869680" y="480974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60 of 768 logged</a:t>
            </a:r>
            <a:endParaRPr lang="en-US" sz="1050" dirty="0"/>
          </a:p>
        </p:txBody>
      </p:sp>
      <p:sp>
        <p:nvSpPr>
          <p:cNvPr id="64" name="Shape 61"/>
          <p:cNvSpPr/>
          <p:nvPr/>
        </p:nvSpPr>
        <p:spPr>
          <a:xfrm>
            <a:off x="8732520" y="5084064"/>
            <a:ext cx="3017520" cy="0"/>
          </a:xfrm>
          <a:prstGeom prst="line">
            <a:avLst/>
          </a:prstGeom>
          <a:noFill/>
          <a:ln w="9525">
            <a:solidFill>
              <a:srgbClr val="9AA7BE"/>
            </a:solidFill>
            <a:prstDash val="solid"/>
          </a:ln>
        </p:spPr>
      </p:sp>
      <p:sp>
        <p:nvSpPr>
          <p:cNvPr id="65" name="Text 62"/>
          <p:cNvSpPr txBox="1"/>
          <p:nvPr/>
        </p:nvSpPr>
        <p:spPr>
          <a:xfrm>
            <a:off x="8869680" y="5116068"/>
            <a:ext cx="1143000" cy="256032"/>
          </a:xfrm>
          <a:prstGeom prst="rect">
            <a:avLst/>
          </a:prstGeom>
          <a:noFill/>
          <a:ln/>
        </p:spPr>
        <p:txBody>
          <a:bodyPr wrap="square" lIns="0" tIns="0" rIns="0" bIns="0" rtlCol="0" anchor="ctr"/>
          <a:lstStyle/>
          <a:p>
            <a:pPr indent="0" marL="0">
              <a:buNone/>
            </a:pPr>
            <a:r>
              <a:rPr lang="en-US" sz="900" b="1" dirty="0">
                <a:solidFill>
                  <a:srgbClr val="5E6B85"/>
                </a:solidFill>
                <a:latin typeface="Courier New" pitchFamily="34" charset="0"/>
                <a:ea typeface="Courier New" pitchFamily="34" charset="-122"/>
                <a:cs typeface="Courier New" pitchFamily="34" charset="-120"/>
              </a:rPr>
              <a:t>DATE</a:t>
            </a:r>
            <a:endParaRPr lang="en-US" sz="900" dirty="0"/>
          </a:p>
        </p:txBody>
      </p:sp>
      <p:sp>
        <p:nvSpPr>
          <p:cNvPr id="66" name="Text 63"/>
          <p:cNvSpPr txBox="1"/>
          <p:nvPr/>
        </p:nvSpPr>
        <p:spPr>
          <a:xfrm>
            <a:off x="8869680" y="5335524"/>
            <a:ext cx="2788920" cy="274320"/>
          </a:xfrm>
          <a:prstGeom prst="rect">
            <a:avLst/>
          </a:prstGeom>
          <a:noFill/>
          <a:ln/>
        </p:spPr>
        <p:txBody>
          <a:bodyPr wrap="square" lIns="0" tIns="0" rIns="0" bIns="0" rtlCol="0" anchor="ctr"/>
          <a:lstStyle/>
          <a:p>
            <a:pPr indent="0" marL="0">
              <a:buNone/>
            </a:pPr>
            <a:r>
              <a:rPr lang="en-US" sz="1050" dirty="0">
                <a:solidFill>
                  <a:srgbClr val="16213D"/>
                </a:solidFill>
                <a:latin typeface="Arial" pitchFamily="34" charset="0"/>
                <a:ea typeface="Arial" pitchFamily="34" charset="-122"/>
                <a:cs typeface="Arial" pitchFamily="34" charset="-120"/>
              </a:rPr>
              <a:t>2026-09-07</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COMPLETE SYSTEM DIAGRAM</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02/10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COMPLETE SYSTEM ON ONE SHEET</a:t>
            </a:r>
            <a:endParaRPr lang="en-US" sz="2300" dirty="0"/>
          </a:p>
        </p:txBody>
      </p:sp>
      <p:pic>
        <p:nvPicPr>
          <p:cNvPr id="10" name="Image 0" descr="C:/Users/deogr/Documents/Fall Project/Off-Grid Vehicle dection project/docs/system-diagram.png">    </p:cNvPr>
          <p:cNvPicPr>
            <a:picLocks noChangeAspect="1"/>
          </p:cNvPicPr>
          <p:nvPr/>
        </p:nvPicPr>
        <p:blipFill>
          <a:blip r:embed="rId1"/>
          <a:stretch>
            <a:fillRect/>
          </a:stretch>
        </p:blipFill>
        <p:spPr>
          <a:xfrm>
            <a:off x="457200" y="1005840"/>
            <a:ext cx="5138928" cy="5166360"/>
          </a:xfrm>
          <a:prstGeom prst="rect">
            <a:avLst/>
          </a:prstGeom>
        </p:spPr>
      </p:pic>
      <p:sp>
        <p:nvSpPr>
          <p:cNvPr id="11" name="Shape 8"/>
          <p:cNvSpPr/>
          <p:nvPr/>
        </p:nvSpPr>
        <p:spPr>
          <a:xfrm>
            <a:off x="457200" y="1005840"/>
            <a:ext cx="5138928" cy="5166360"/>
          </a:xfrm>
          <a:prstGeom prst="rect">
            <a:avLst/>
          </a:prstGeom>
          <a:ln w="12700">
            <a:solidFill>
              <a:srgbClr val="9AA7BE"/>
            </a:solidFill>
            <a:prstDash val="solid"/>
          </a:ln>
        </p:spPr>
      </p:sp>
      <p:sp>
        <p:nvSpPr>
          <p:cNvPr id="12" name="Text 9"/>
          <p:cNvSpPr txBox="1"/>
          <p:nvPr/>
        </p:nvSpPr>
        <p:spPr>
          <a:xfrm>
            <a:off x="5943600" y="1097280"/>
            <a:ext cx="4572000" cy="292608"/>
          </a:xfrm>
          <a:prstGeom prst="rect">
            <a:avLst/>
          </a:prstGeom>
          <a:noFill/>
          <a:ln/>
        </p:spPr>
        <p:txBody>
          <a:bodyPr wrap="square" lIns="0" tIns="0" rIns="0" bIns="0" rtlCol="0" anchor="ctr"/>
          <a:lstStyle/>
          <a:p>
            <a:pPr indent="0" marL="0">
              <a:buNone/>
            </a:pPr>
            <a:r>
              <a:rPr lang="en-US" sz="1300" b="1" spc="200" kern="0" dirty="0">
                <a:solidFill>
                  <a:srgbClr val="16213D"/>
                </a:solidFill>
                <a:latin typeface="Arial" pitchFamily="34" charset="0"/>
                <a:ea typeface="Arial" pitchFamily="34" charset="-122"/>
                <a:cs typeface="Arial" pitchFamily="34" charset="-120"/>
              </a:rPr>
              <a:t>READING ORDER</a:t>
            </a:r>
            <a:endParaRPr lang="en-US" sz="1300" dirty="0"/>
          </a:p>
        </p:txBody>
      </p:sp>
      <p:sp>
        <p:nvSpPr>
          <p:cNvPr id="13" name="Text 10"/>
          <p:cNvSpPr txBox="1"/>
          <p:nvPr/>
        </p:nvSpPr>
        <p:spPr>
          <a:xfrm>
            <a:off x="5943600" y="1463040"/>
            <a:ext cx="5577840" cy="2834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Left region: one vehicle's hardware. The GNSS module feeds the Heltec radio, which drives the roof antenna. The Waveshare display sits beside it, and both share vehicle power.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Right region: inside the display firmware. My protocol chain writes the TrackerState contract; Josiah's navigation chain reads it. One writer, one reader.</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Bottom strip: the same system seen as telecom layers. A 40 byte application payload rides a managed-flooding network onto a physical layer that decodes 15 dB below the noise floor.</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Vehicle B is an identical copy. The symmetry is the design: no server, no master, no single point of failure.</a:t>
            </a:r>
            <a:endParaRPr lang="en-US" sz="1250" dirty="0"/>
          </a:p>
        </p:txBody>
      </p:sp>
      <p:sp>
        <p:nvSpPr>
          <p:cNvPr id="14" name="Shape 11"/>
          <p:cNvSpPr/>
          <p:nvPr/>
        </p:nvSpPr>
        <p:spPr>
          <a:xfrm>
            <a:off x="5943600" y="4572000"/>
            <a:ext cx="5577840" cy="1463040"/>
          </a:xfrm>
          <a:prstGeom prst="rect">
            <a:avLst/>
          </a:prstGeom>
          <a:solidFill>
            <a:srgbClr val="16213D"/>
          </a:solidFill>
          <a:ln/>
        </p:spPr>
      </p:sp>
      <p:sp>
        <p:nvSpPr>
          <p:cNvPr id="15" name="Text 12"/>
          <p:cNvSpPr txBox="1"/>
          <p:nvPr/>
        </p:nvSpPr>
        <p:spPr>
          <a:xfrm>
            <a:off x="6172200" y="4709160"/>
            <a:ext cx="5120640" cy="123444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WHY THIS SHAPE</a:t>
            </a: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Everything difficult about long-range radio ships pre-tested inside stock Meshtastic. The green and blue chains on the right are the only custom code in the project, and they meet at exactly one struct.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03/10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BACKEND: THE DATA SPINE</a:t>
            </a:r>
            <a:endParaRPr lang="en-US" sz="2300" dirty="0"/>
          </a:p>
        </p:txBody>
      </p:sp>
      <p:pic>
        <p:nvPicPr>
          <p:cNvPr id="10" name="Image 0" descr="C:/Users/deogr/AppData/Local/Temp/claude/C--Users-deogr-Documents-Fall-Project-Off-Grid-Vehicle-dection-project/e8b2e8fa-1513-4aa8-a8f6-ce4fcd20e664/scratchpad/mermaid_png/diag5.png">    </p:cNvPr>
          <p:cNvPicPr>
            <a:picLocks noChangeAspect="1"/>
          </p:cNvPicPr>
          <p:nvPr/>
        </p:nvPicPr>
        <p:blipFill>
          <a:blip r:embed="rId1"/>
          <a:stretch>
            <a:fillRect/>
          </a:stretch>
        </p:blipFill>
        <p:spPr>
          <a:xfrm>
            <a:off x="594360" y="1051560"/>
            <a:ext cx="10881360" cy="3072384"/>
          </a:xfrm>
          <a:prstGeom prst="rect">
            <a:avLst/>
          </a:prstGeom>
        </p:spPr>
      </p:pic>
      <p:sp>
        <p:nvSpPr>
          <p:cNvPr id="11" name="Shape 8"/>
          <p:cNvSpPr/>
          <p:nvPr/>
        </p:nvSpPr>
        <p:spPr>
          <a:xfrm>
            <a:off x="594360" y="1051560"/>
            <a:ext cx="10881360" cy="3072384"/>
          </a:xfrm>
          <a:prstGeom prst="rect">
            <a:avLst/>
          </a:prstGeom>
          <a:ln w="12700">
            <a:solidFill>
              <a:srgbClr val="9AA7BE"/>
            </a:solidFill>
            <a:prstDash val="solid"/>
          </a:ln>
        </p:spPr>
      </p:sp>
      <p:sp>
        <p:nvSpPr>
          <p:cNvPr id="12" name="Text 9"/>
          <p:cNvSpPr txBox="1"/>
          <p:nvPr/>
        </p:nvSpPr>
        <p:spPr>
          <a:xfrm>
            <a:off x="594360" y="4343400"/>
            <a:ext cx="10972800" cy="169164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left chain is the backend. ble_link connects directly to the radio's remembered address, encrypts, subscribes, and drains the message queue. proto_decode turns each binary frame into named fields. node_table keeps both vehicles' fixes with honest timestamps, then publishes TrackerState.</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The contract is version 2: both fixes now carry speed and age, and the struct carries the GPS wall clock that drives the on-screen time.</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Status: live and road-tested. The link survives drops and reconnects on its own, positions decode at the 10 second broadcast cadence, and stale re-broadcasts can no longer masquerade as fresh data.</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BACKEND CODE PATH</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04/10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1199BD"/>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1199BD"/>
                </a:solidFill>
                <a:latin typeface="Courier New" pitchFamily="34" charset="0"/>
                <a:ea typeface="Courier New" pitchFamily="34" charset="-122"/>
                <a:cs typeface="Courier New" pitchFamily="34" charset="-120"/>
              </a:rPr>
              <a:t>OWNER: DEO</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HOW THE PIECES CONNECT IN CODE</a:t>
            </a:r>
            <a:endParaRPr lang="en-US" sz="2300" dirty="0"/>
          </a:p>
        </p:txBody>
      </p:sp>
      <p:sp>
        <p:nvSpPr>
          <p:cNvPr id="10" name="Shape 8"/>
          <p:cNvSpPr/>
          <p:nvPr/>
        </p:nvSpPr>
        <p:spPr>
          <a:xfrm>
            <a:off x="457200" y="1051560"/>
            <a:ext cx="5532120" cy="1371600"/>
          </a:xfrm>
          <a:prstGeom prst="rect">
            <a:avLst/>
          </a:prstGeom>
          <a:solidFill>
            <a:srgbClr val="1B2440"/>
          </a:solidFill>
          <a:ln/>
        </p:spPr>
      </p:sp>
      <p:sp>
        <p:nvSpPr>
          <p:cNvPr id="11" name="Text 9"/>
          <p:cNvSpPr txBox="1"/>
          <p:nvPr/>
        </p:nvSpPr>
        <p:spPr>
          <a:xfrm>
            <a:off x="594360" y="1115568"/>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ble_link.cpp  drain the radio's GATT queue</a:t>
            </a:r>
            <a:endParaRPr lang="en-US" sz="1000" dirty="0"/>
          </a:p>
        </p:txBody>
      </p:sp>
      <p:sp>
        <p:nvSpPr>
          <p:cNvPr id="12" name="Text 10"/>
          <p:cNvSpPr txBox="1"/>
          <p:nvPr/>
        </p:nvSpPr>
        <p:spPr>
          <a:xfrm>
            <a:off x="594360" y="1371600"/>
            <a:ext cx="525780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for (;;) {</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NimBLEAttValue v = s_fromRadio-&gt;readValue();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if (v.size() == 0) break;      // queue empty</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proto_decode_from_radio(v.data(), v.size());</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t>
            </a:r>
            <a:endParaRPr lang="en-US" sz="1000" dirty="0"/>
          </a:p>
        </p:txBody>
      </p:sp>
      <p:sp>
        <p:nvSpPr>
          <p:cNvPr id="13" name="Shape 11"/>
          <p:cNvSpPr/>
          <p:nvPr/>
        </p:nvSpPr>
        <p:spPr>
          <a:xfrm>
            <a:off x="6355080" y="1051560"/>
            <a:ext cx="5394960" cy="1371600"/>
          </a:xfrm>
          <a:prstGeom prst="rect">
            <a:avLst/>
          </a:prstGeom>
          <a:solidFill>
            <a:srgbClr val="1B2440"/>
          </a:solidFill>
          <a:ln/>
        </p:spPr>
      </p:sp>
      <p:sp>
        <p:nvSpPr>
          <p:cNvPr id="14" name="Text 12"/>
          <p:cNvSpPr txBox="1"/>
          <p:nvPr/>
        </p:nvSpPr>
        <p:spPr>
          <a:xfrm>
            <a:off x="6492240" y="1115568"/>
            <a:ext cx="512064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proto_decode.cpp  bytes to named fields</a:t>
            </a:r>
            <a:endParaRPr lang="en-US" sz="1000" dirty="0"/>
          </a:p>
        </p:txBody>
      </p:sp>
      <p:sp>
        <p:nvSpPr>
          <p:cNvPr id="15" name="Text 13"/>
          <p:cNvSpPr txBox="1"/>
          <p:nvPr/>
        </p:nvSpPr>
        <p:spPr>
          <a:xfrm>
            <a:off x="6492240" y="1371600"/>
            <a:ext cx="5120640" cy="96012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if (pb_decode(&amp;is, meshtastic_Position_fields, &amp;pos))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node_table_position(pkt-&gt;from,</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pos-&gt;latitude_i, pos-&gt;longitude_i,</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pos-&gt;ground_speed, pos-&gt;time);</a:t>
            </a:r>
            <a:endParaRPr lang="en-US" sz="1000" dirty="0"/>
          </a:p>
        </p:txBody>
      </p:sp>
      <p:sp>
        <p:nvSpPr>
          <p:cNvPr id="16" name="Shape 14"/>
          <p:cNvSpPr/>
          <p:nvPr/>
        </p:nvSpPr>
        <p:spPr>
          <a:xfrm>
            <a:off x="3200400" y="2423160"/>
            <a:ext cx="0" cy="347472"/>
          </a:xfrm>
          <a:prstGeom prst="line">
            <a:avLst/>
          </a:prstGeom>
          <a:noFill/>
          <a:ln w="28575">
            <a:solidFill>
              <a:srgbClr val="1199BD"/>
            </a:solidFill>
            <a:prstDash val="solid"/>
            <a:tailEnd type="triangle"/>
          </a:ln>
        </p:spPr>
      </p:sp>
      <p:sp>
        <p:nvSpPr>
          <p:cNvPr id="17" name="Shape 15"/>
          <p:cNvSpPr/>
          <p:nvPr/>
        </p:nvSpPr>
        <p:spPr>
          <a:xfrm>
            <a:off x="9052560" y="2423160"/>
            <a:ext cx="0" cy="347472"/>
          </a:xfrm>
          <a:prstGeom prst="line">
            <a:avLst/>
          </a:prstGeom>
          <a:noFill/>
          <a:ln w="28575">
            <a:solidFill>
              <a:srgbClr val="1199BD"/>
            </a:solidFill>
            <a:prstDash val="solid"/>
            <a:tailEnd type="triangle"/>
          </a:ln>
        </p:spPr>
      </p:sp>
      <p:sp>
        <p:nvSpPr>
          <p:cNvPr id="18" name="Shape 16"/>
          <p:cNvSpPr/>
          <p:nvPr/>
        </p:nvSpPr>
        <p:spPr>
          <a:xfrm>
            <a:off x="457200" y="2770632"/>
            <a:ext cx="5532120" cy="1417320"/>
          </a:xfrm>
          <a:prstGeom prst="rect">
            <a:avLst/>
          </a:prstGeom>
          <a:solidFill>
            <a:srgbClr val="1B2440"/>
          </a:solidFill>
          <a:ln/>
        </p:spPr>
      </p:sp>
      <p:sp>
        <p:nvSpPr>
          <p:cNvPr id="19" name="Text 17"/>
          <p:cNvSpPr txBox="1"/>
          <p:nvPr/>
        </p:nvSpPr>
        <p:spPr>
          <a:xfrm>
            <a:off x="594360" y="2834640"/>
            <a:ext cx="5257800" cy="237744"/>
          </a:xfrm>
          <a:prstGeom prst="rect">
            <a:avLst/>
          </a:prstGeom>
          <a:noFill/>
          <a:ln/>
        </p:spPr>
        <p:txBody>
          <a:bodyPr wrap="square" lIns="0" tIns="0" rIns="0" bIns="0" rtlCol="0" anchor="ctr"/>
          <a:lstStyle/>
          <a:p>
            <a:pPr indent="0" marL="0">
              <a:buNone/>
            </a:pPr>
            <a:r>
              <a:rPr lang="en-US" sz="1000" b="1" dirty="0">
                <a:solidFill>
                  <a:srgbClr val="1199BD"/>
                </a:solidFill>
                <a:latin typeface="Courier New" pitchFamily="34" charset="0"/>
                <a:ea typeface="Courier New" pitchFamily="34" charset="-122"/>
                <a:cs typeface="Courier New" pitchFamily="34" charset="-120"/>
              </a:rPr>
              <a:t>node_table.cpp  publish the contract, 1 Hz</a:t>
            </a:r>
            <a:endParaRPr lang="en-US" sz="1000" dirty="0"/>
          </a:p>
        </p:txBody>
      </p:sp>
      <p:sp>
        <p:nvSpPr>
          <p:cNvPr id="20" name="Text 18"/>
          <p:cNvSpPr txBox="1"/>
          <p:nvPr/>
        </p:nvSpPr>
        <p:spPr>
          <a:xfrm>
            <a:off x="594360" y="3090672"/>
            <a:ext cx="525780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TrackerState 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st.self = s_self.fix;   st.partner = s_partner.fix;</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st.ble_connected = connected;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st.utc_epoch = s_utc_epoch;      // GPS wall clock</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tracker_store_set(&amp;st);          // the ONE writer</a:t>
            </a:r>
            <a:endParaRPr lang="en-US" sz="1000" dirty="0"/>
          </a:p>
        </p:txBody>
      </p:sp>
      <p:sp>
        <p:nvSpPr>
          <p:cNvPr id="21" name="Shape 19"/>
          <p:cNvSpPr/>
          <p:nvPr/>
        </p:nvSpPr>
        <p:spPr>
          <a:xfrm>
            <a:off x="6355080" y="2770632"/>
            <a:ext cx="5394960" cy="1417320"/>
          </a:xfrm>
          <a:prstGeom prst="rect">
            <a:avLst/>
          </a:prstGeom>
          <a:solidFill>
            <a:srgbClr val="1B2440"/>
          </a:solidFill>
          <a:ln/>
        </p:spPr>
      </p:sp>
      <p:sp>
        <p:nvSpPr>
          <p:cNvPr id="22" name="Text 20"/>
          <p:cNvSpPr txBox="1"/>
          <p:nvPr/>
        </p:nvSpPr>
        <p:spPr>
          <a:xfrm>
            <a:off x="6492240" y="2834640"/>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ui_render.cpp  frontend picks it up, 2 Hz</a:t>
            </a:r>
            <a:endParaRPr lang="en-US" sz="1000" dirty="0"/>
          </a:p>
        </p:txBody>
      </p:sp>
      <p:sp>
        <p:nvSpPr>
          <p:cNvPr id="23" name="Text 21"/>
          <p:cNvSpPr txBox="1"/>
          <p:nvPr/>
        </p:nvSpPr>
        <p:spPr>
          <a:xfrm>
            <a:off x="6492240" y="3090672"/>
            <a:ext cx="5120640" cy="100584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tracker_store_get(&amp;st);          // the ONE reader</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dr_apply(&amp;st);   // dead-reckon fixes forward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NavOutput nav = nav_compute(&amp;st);</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 arrow angle, distance, ages, clock</a:t>
            </a:r>
            <a:endParaRPr lang="en-US" sz="1000" dirty="0"/>
          </a:p>
        </p:txBody>
      </p:sp>
      <p:sp>
        <p:nvSpPr>
          <p:cNvPr id="24" name="Shape 22"/>
          <p:cNvSpPr/>
          <p:nvPr/>
        </p:nvSpPr>
        <p:spPr>
          <a:xfrm>
            <a:off x="6016752" y="3474720"/>
            <a:ext cx="310896" cy="0"/>
          </a:xfrm>
          <a:prstGeom prst="line">
            <a:avLst/>
          </a:prstGeom>
          <a:noFill/>
          <a:ln w="28575">
            <a:solidFill>
              <a:srgbClr val="16213D"/>
            </a:solidFill>
            <a:prstDash val="solid"/>
            <a:tailEnd type="triangle"/>
          </a:ln>
        </p:spPr>
      </p:sp>
      <p:sp>
        <p:nvSpPr>
          <p:cNvPr id="25" name="Text 23"/>
          <p:cNvSpPr txBox="1"/>
          <p:nvPr/>
        </p:nvSpPr>
        <p:spPr>
          <a:xfrm>
            <a:off x="5074920" y="3675888"/>
            <a:ext cx="2194560" cy="219456"/>
          </a:xfrm>
          <a:prstGeom prst="rect">
            <a:avLst/>
          </a:prstGeom>
          <a:noFill/>
          <a:ln/>
        </p:spPr>
        <p:txBody>
          <a:bodyPr wrap="square" lIns="0" tIns="0" rIns="0" bIns="0" rtlCol="0" anchor="ctr"/>
          <a:lstStyle/>
          <a:p>
            <a:pPr algn="ctr" indent="0" marL="0">
              <a:buNone/>
            </a:pPr>
            <a:r>
              <a:rPr lang="en-US" sz="850" b="1" dirty="0">
                <a:solidFill>
                  <a:srgbClr val="5E6B85"/>
                </a:solidFill>
                <a:latin typeface="Courier New" pitchFamily="34" charset="0"/>
                <a:ea typeface="Courier New" pitchFamily="34" charset="-122"/>
                <a:cs typeface="Courier New" pitchFamily="34" charset="-120"/>
              </a:rPr>
              <a:t>MUTEX BOUNDARY</a:t>
            </a:r>
            <a:endParaRPr lang="en-US" sz="850" dirty="0"/>
          </a:p>
        </p:txBody>
      </p:sp>
      <p:sp>
        <p:nvSpPr>
          <p:cNvPr id="26" name="Shape 24"/>
          <p:cNvSpPr/>
          <p:nvPr/>
        </p:nvSpPr>
        <p:spPr>
          <a:xfrm>
            <a:off x="457200" y="4526280"/>
            <a:ext cx="11292840" cy="1554480"/>
          </a:xfrm>
          <a:prstGeom prst="rect">
            <a:avLst/>
          </a:prstGeom>
          <a:solidFill>
            <a:srgbClr val="F2F5FA"/>
          </a:solidFill>
          <a:ln w="9525">
            <a:solidFill>
              <a:srgbClr val="9AA7BE"/>
            </a:solidFill>
            <a:prstDash val="solid"/>
          </a:ln>
        </p:spPr>
      </p:sp>
      <p:sp>
        <p:nvSpPr>
          <p:cNvPr id="27" name="Text 25"/>
          <p:cNvSpPr txBox="1"/>
          <p:nvPr/>
        </p:nvSpPr>
        <p:spPr>
          <a:xfrm>
            <a:off x="731520" y="4681728"/>
            <a:ext cx="10744200" cy="1280160"/>
          </a:xfrm>
          <a:prstGeom prst="rect">
            <a:avLst/>
          </a:prstGeom>
          <a:noFill/>
          <a:ln/>
        </p:spPr>
        <p:txBody>
          <a:bodyPr wrap="square" lIns="0" tIns="0" rIns="0" bIns="0" rtlCol="0" anchor="ctr"/>
          <a:lstStyle/>
          <a:p>
            <a:pPr indent="0" marL="0">
              <a:spcAft>
                <a:spcPts val="700"/>
              </a:spcAft>
              <a:buNone/>
            </a:pPr>
            <a:r>
              <a:rPr lang="en-US" sz="1250" dirty="0">
                <a:solidFill>
                  <a:srgbClr val="222A3F"/>
                </a:solidFill>
                <a:latin typeface="Arial" pitchFamily="34" charset="0"/>
                <a:ea typeface="Arial" pitchFamily="34" charset="-122"/>
                <a:cs typeface="Arial" pitchFamily="34" charset="-120"/>
              </a:rPr>
              <a:t>Four files, one direction of flow, one shared struct. The teal boxes are backend and the purple box is frontend. They meet only at the store functions, which take the mutex internally, so locked access is the only possible access.</a:t>
            </a:r>
            <a:endParaRPr lang="en-US" sz="1250" dirty="0"/>
          </a:p>
          <a:p>
            <a:pPr indent="0" marL="0">
              <a:buNone/>
            </a:pPr>
            <a:r>
              <a:rPr lang="en-US" sz="1250" dirty="0">
                <a:solidFill>
                  <a:srgbClr val="222A3F"/>
                </a:solidFill>
                <a:latin typeface="Arial" pitchFamily="34" charset="0"/>
                <a:ea typeface="Arial" pitchFamily="34" charset="-122"/>
                <a:cs typeface="Arial" pitchFamily="34" charset="-120"/>
              </a:rPr>
              <a:t>Hardened by this week's road tests: wire speed converted from km/h at ingestion, a deadband that reads GPS jitter as zero, duplicate re-broadcast detection that keeps data ages honest, and a clock that can never run backwards.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FRONTEND ARCHITECTURE</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05/10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FRONTEND: FROM STRUCT TO ARROW</a:t>
            </a:r>
            <a:endParaRPr lang="en-US" sz="2300" dirty="0"/>
          </a:p>
        </p:txBody>
      </p:sp>
      <p:sp>
        <p:nvSpPr>
          <p:cNvPr id="10" name="Shape 8"/>
          <p:cNvSpPr/>
          <p:nvPr/>
        </p:nvSpPr>
        <p:spPr>
          <a:xfrm>
            <a:off x="457200" y="1143000"/>
            <a:ext cx="2103120" cy="868680"/>
          </a:xfrm>
          <a:prstGeom prst="rect">
            <a:avLst/>
          </a:prstGeom>
          <a:solidFill>
            <a:srgbClr val="FFFFFF"/>
          </a:solidFill>
          <a:ln w="19050">
            <a:solidFill>
              <a:srgbClr val="16213D"/>
            </a:solidFill>
            <a:prstDash val="solid"/>
          </a:ln>
        </p:spPr>
      </p:sp>
      <p:sp>
        <p:nvSpPr>
          <p:cNvPr id="11" name="Text 9"/>
          <p:cNvSpPr txBox="1"/>
          <p:nvPr/>
        </p:nvSpPr>
        <p:spPr>
          <a:xfrm>
            <a:off x="530352" y="1143000"/>
            <a:ext cx="195681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TrackerState v2</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snapshot copy under mutex</a:t>
            </a:r>
            <a:endParaRPr lang="en-US" sz="1150" dirty="0"/>
          </a:p>
        </p:txBody>
      </p:sp>
      <p:sp>
        <p:nvSpPr>
          <p:cNvPr id="12" name="Shape 10"/>
          <p:cNvSpPr/>
          <p:nvPr/>
        </p:nvSpPr>
        <p:spPr>
          <a:xfrm>
            <a:off x="2560320" y="1572768"/>
            <a:ext cx="457200" cy="0"/>
          </a:xfrm>
          <a:prstGeom prst="line">
            <a:avLst/>
          </a:prstGeom>
          <a:noFill/>
          <a:ln w="28575">
            <a:solidFill>
              <a:srgbClr val="6D4BDB"/>
            </a:solidFill>
            <a:prstDash val="solid"/>
            <a:tailEnd type="triangle"/>
          </a:ln>
        </p:spPr>
      </p:sp>
      <p:sp>
        <p:nvSpPr>
          <p:cNvPr id="13" name="Shape 11"/>
          <p:cNvSpPr/>
          <p:nvPr/>
        </p:nvSpPr>
        <p:spPr>
          <a:xfrm>
            <a:off x="3017520" y="1143000"/>
            <a:ext cx="2194560" cy="868680"/>
          </a:xfrm>
          <a:prstGeom prst="rect">
            <a:avLst/>
          </a:prstGeom>
          <a:solidFill>
            <a:srgbClr val="FFFFFF"/>
          </a:solidFill>
          <a:ln w="19050">
            <a:solidFill>
              <a:srgbClr val="6D4BDB"/>
            </a:solidFill>
            <a:prstDash val="solid"/>
          </a:ln>
        </p:spPr>
      </p:sp>
      <p:sp>
        <p:nvSpPr>
          <p:cNvPr id="14" name="Text 12"/>
          <p:cNvSpPr txBox="1"/>
          <p:nvPr/>
        </p:nvSpPr>
        <p:spPr>
          <a:xfrm>
            <a:off x="309067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dr_apply()</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project both fixes forward</a:t>
            </a:r>
            <a:endParaRPr lang="en-US" sz="1150" dirty="0"/>
          </a:p>
        </p:txBody>
      </p:sp>
      <p:sp>
        <p:nvSpPr>
          <p:cNvPr id="15" name="Shape 13"/>
          <p:cNvSpPr/>
          <p:nvPr/>
        </p:nvSpPr>
        <p:spPr>
          <a:xfrm>
            <a:off x="5212080" y="1572768"/>
            <a:ext cx="457200" cy="0"/>
          </a:xfrm>
          <a:prstGeom prst="line">
            <a:avLst/>
          </a:prstGeom>
          <a:noFill/>
          <a:ln w="28575">
            <a:solidFill>
              <a:srgbClr val="6D4BDB"/>
            </a:solidFill>
            <a:prstDash val="solid"/>
            <a:tailEnd type="triangle"/>
          </a:ln>
        </p:spPr>
      </p:sp>
      <p:sp>
        <p:nvSpPr>
          <p:cNvPr id="16" name="Shape 14"/>
          <p:cNvSpPr/>
          <p:nvPr/>
        </p:nvSpPr>
        <p:spPr>
          <a:xfrm>
            <a:off x="5669280" y="1143000"/>
            <a:ext cx="2194560" cy="868680"/>
          </a:xfrm>
          <a:prstGeom prst="rect">
            <a:avLst/>
          </a:prstGeom>
          <a:solidFill>
            <a:srgbClr val="FFFFFF"/>
          </a:solidFill>
          <a:ln w="19050">
            <a:solidFill>
              <a:srgbClr val="6D4BDB"/>
            </a:solidFill>
            <a:prstDash val="solid"/>
          </a:ln>
        </p:spPr>
      </p:sp>
      <p:sp>
        <p:nvSpPr>
          <p:cNvPr id="17" name="Text 15"/>
          <p:cNvSpPr txBox="1"/>
          <p:nvPr/>
        </p:nvSpPr>
        <p:spPr>
          <a:xfrm>
            <a:off x="5742432" y="1143000"/>
            <a:ext cx="204825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nav_compute()</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distance, bearing, arrow</a:t>
            </a:r>
            <a:endParaRPr lang="en-US" sz="1150" dirty="0"/>
          </a:p>
        </p:txBody>
      </p:sp>
      <p:sp>
        <p:nvSpPr>
          <p:cNvPr id="18" name="Shape 16"/>
          <p:cNvSpPr/>
          <p:nvPr/>
        </p:nvSpPr>
        <p:spPr>
          <a:xfrm>
            <a:off x="7863840" y="1572768"/>
            <a:ext cx="457200" cy="0"/>
          </a:xfrm>
          <a:prstGeom prst="line">
            <a:avLst/>
          </a:prstGeom>
          <a:noFill/>
          <a:ln w="28575">
            <a:solidFill>
              <a:srgbClr val="6D4BDB"/>
            </a:solidFill>
            <a:prstDash val="solid"/>
            <a:tailEnd type="triangle"/>
          </a:ln>
        </p:spPr>
      </p:sp>
      <p:sp>
        <p:nvSpPr>
          <p:cNvPr id="19" name="Shape 17"/>
          <p:cNvSpPr/>
          <p:nvPr/>
        </p:nvSpPr>
        <p:spPr>
          <a:xfrm>
            <a:off x="8321040" y="1143000"/>
            <a:ext cx="3291840" cy="868680"/>
          </a:xfrm>
          <a:prstGeom prst="rect">
            <a:avLst/>
          </a:prstGeom>
          <a:solidFill>
            <a:srgbClr val="FFFFFF"/>
          </a:solidFill>
          <a:ln w="19050">
            <a:solidFill>
              <a:srgbClr val="6D4BDB"/>
            </a:solidFill>
            <a:prstDash val="solid"/>
          </a:ln>
        </p:spPr>
      </p:sp>
      <p:sp>
        <p:nvSpPr>
          <p:cNvPr id="20" name="Text 18"/>
          <p:cNvSpPr txBox="1"/>
          <p:nvPr/>
        </p:nvSpPr>
        <p:spPr>
          <a:xfrm>
            <a:off x="8394192" y="1143000"/>
            <a:ext cx="3145536" cy="868680"/>
          </a:xfrm>
          <a:prstGeom prst="rect">
            <a:avLst/>
          </a:prstGeom>
          <a:noFill/>
          <a:ln/>
        </p:spPr>
        <p:txBody>
          <a:bodyPr wrap="square" lIns="0" tIns="0" rIns="0" bIns="0" rtlCol="0" anchor="ctr"/>
          <a:lstStyle/>
          <a:p>
            <a:pPr algn="ctr" indent="0" marL="0">
              <a:buNone/>
            </a:pPr>
            <a:r>
              <a:rPr lang="en-US" sz="1150" b="1" dirty="0">
                <a:solidFill>
                  <a:srgbClr val="16213D"/>
                </a:solidFill>
                <a:latin typeface="Arial" pitchFamily="34" charset="0"/>
                <a:ea typeface="Arial" pitchFamily="34" charset="-122"/>
                <a:cs typeface="Arial" pitchFamily="34" charset="-120"/>
              </a:rPr>
              <a:t>render at 2 Hz</a:t>
            </a:r>
            <a:endParaRPr lang="en-US" sz="1150" dirty="0"/>
          </a:p>
          <a:p>
            <a:pPr algn="ctr" indent="0" marL="0">
              <a:buNone/>
            </a:pPr>
            <a:r>
              <a:rPr lang="en-US" sz="950" dirty="0">
                <a:solidFill>
                  <a:srgbClr val="5E6B85"/>
                </a:solidFill>
                <a:latin typeface="Arial" pitchFamily="34" charset="0"/>
                <a:ea typeface="Arial" pitchFamily="34" charset="-122"/>
                <a:cs typeface="Arial" pitchFamily="34" charset="-120"/>
              </a:rPr>
              <a:t>compass page and status page, KEY toggles, hold resets</a:t>
            </a:r>
            <a:endParaRPr lang="en-US" sz="1150" dirty="0"/>
          </a:p>
        </p:txBody>
      </p:sp>
      <p:sp>
        <p:nvSpPr>
          <p:cNvPr id="21" name="Shape 19"/>
          <p:cNvSpPr/>
          <p:nvPr/>
        </p:nvSpPr>
        <p:spPr>
          <a:xfrm>
            <a:off x="457200" y="2331720"/>
            <a:ext cx="5532120" cy="1234440"/>
          </a:xfrm>
          <a:prstGeom prst="rect">
            <a:avLst/>
          </a:prstGeom>
          <a:solidFill>
            <a:srgbClr val="1B2440"/>
          </a:solidFill>
          <a:ln/>
        </p:spPr>
      </p:sp>
      <p:sp>
        <p:nvSpPr>
          <p:cNvPr id="22" name="Text 20"/>
          <p:cNvSpPr txBox="1"/>
          <p:nvPr/>
        </p:nvSpPr>
        <p:spPr>
          <a:xfrm>
            <a:off x="594360" y="2395728"/>
            <a:ext cx="525780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nav.c  the arrow in three lines</a:t>
            </a:r>
            <a:endParaRPr lang="en-US" sz="1000" dirty="0"/>
          </a:p>
        </p:txBody>
      </p:sp>
      <p:sp>
        <p:nvSpPr>
          <p:cNvPr id="23" name="Text 21"/>
          <p:cNvSpPr txBox="1"/>
          <p:nvPr/>
        </p:nvSpPr>
        <p:spPr>
          <a:xfrm>
            <a:off x="594360" y="2651760"/>
            <a:ext cx="525780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haversine(self, partner);       // meters</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bearing = initial_bearing(self, partner);  // deg</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arrow   = wrap180(bearing - self.course);  // 0 = ahead</a:t>
            </a:r>
            <a:endParaRPr lang="en-US" sz="1000" dirty="0"/>
          </a:p>
        </p:txBody>
      </p:sp>
      <p:sp>
        <p:nvSpPr>
          <p:cNvPr id="24" name="Shape 22"/>
          <p:cNvSpPr/>
          <p:nvPr/>
        </p:nvSpPr>
        <p:spPr>
          <a:xfrm>
            <a:off x="6355080" y="2331720"/>
            <a:ext cx="5394960" cy="1234440"/>
          </a:xfrm>
          <a:prstGeom prst="rect">
            <a:avLst/>
          </a:prstGeom>
          <a:solidFill>
            <a:srgbClr val="1B2440"/>
          </a:solidFill>
          <a:ln/>
        </p:spPr>
      </p:sp>
      <p:sp>
        <p:nvSpPr>
          <p:cNvPr id="25" name="Text 23"/>
          <p:cNvSpPr txBox="1"/>
          <p:nvPr/>
        </p:nvSpPr>
        <p:spPr>
          <a:xfrm>
            <a:off x="6492240" y="2395728"/>
            <a:ext cx="5120640" cy="237744"/>
          </a:xfrm>
          <a:prstGeom prst="rect">
            <a:avLst/>
          </a:prstGeom>
          <a:noFill/>
          <a:ln/>
        </p:spPr>
        <p:txBody>
          <a:bodyPr wrap="square" lIns="0" tIns="0" rIns="0" bIns="0" rtlCol="0" anchor="ctr"/>
          <a:lstStyle/>
          <a:p>
            <a:pPr indent="0" marL="0">
              <a:buNone/>
            </a:pPr>
            <a:r>
              <a:rPr lang="en-US" sz="1000" b="1" dirty="0">
                <a:solidFill>
                  <a:srgbClr val="6D4BDB"/>
                </a:solidFill>
                <a:latin typeface="Courier New" pitchFamily="34" charset="0"/>
                <a:ea typeface="Courier New" pitchFamily="34" charset="-122"/>
                <a:cs typeface="Courier New" pitchFamily="34" charset="-120"/>
              </a:rPr>
              <a:t>dead_reckon.c  1 Hz motion between fixes</a:t>
            </a:r>
            <a:endParaRPr lang="en-US" sz="1000" dirty="0"/>
          </a:p>
        </p:txBody>
      </p:sp>
      <p:sp>
        <p:nvSpPr>
          <p:cNvPr id="26" name="Text 24"/>
          <p:cNvSpPr txBox="1"/>
          <p:nvPr/>
        </p:nvSpPr>
        <p:spPr>
          <a:xfrm>
            <a:off x="6492240" y="2651760"/>
            <a:ext cx="5120640" cy="822960"/>
          </a:xfrm>
          <a:prstGeom prst="rect">
            <a:avLst/>
          </a:prstGeom>
          <a:noFill/>
          <a:ln/>
        </p:spPr>
        <p:txBody>
          <a:bodyPr wrap="square" lIns="0" tIns="0" rIns="0" bIns="0" rtlCol="0" anchor="t"/>
          <a:lstStyle/>
          <a:p>
            <a:pPr indent="0" marL="0">
              <a:buNone/>
            </a:pPr>
            <a:r>
              <a:rPr lang="en-US" sz="1000" dirty="0">
                <a:solidFill>
                  <a:srgbClr val="C9D8F0"/>
                </a:solidFill>
                <a:latin typeface="Courier New" pitchFamily="34" charset="0"/>
                <a:ea typeface="Courier New" pitchFamily="34" charset="-122"/>
                <a:cs typeface="Courier New" pitchFamily="34" charset="-120"/>
              </a:rPr>
              <a:t>d = speed * min(age, 120);    // meters traveled</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lat += d*cos(course)/111320;</a:t>
            </a:r>
            <a:endParaRPr lang="en-US" sz="1000" dirty="0"/>
          </a:p>
          <a:p>
            <a:pPr indent="0" marL="0">
              <a:buNone/>
            </a:pPr>
            <a:r>
              <a:rPr lang="en-US" sz="1000" dirty="0">
                <a:solidFill>
                  <a:srgbClr val="C9D8F0"/>
                </a:solidFill>
                <a:latin typeface="Courier New" pitchFamily="34" charset="0"/>
                <a:ea typeface="Courier New" pitchFamily="34" charset="-122"/>
                <a:cs typeface="Courier New" pitchFamily="34" charset="-120"/>
              </a:rPr>
              <a:t>lon += d*sin(course)/(111320*cos(lat));</a:t>
            </a:r>
            <a:endParaRPr lang="en-US" sz="1000" dirty="0"/>
          </a:p>
        </p:txBody>
      </p:sp>
      <p:sp>
        <p:nvSpPr>
          <p:cNvPr id="27" name="Text 25"/>
          <p:cNvSpPr txBox="1"/>
          <p:nvPr/>
        </p:nvSpPr>
        <p:spPr>
          <a:xfrm>
            <a:off x="457200" y="3794760"/>
            <a:ext cx="11292840" cy="141732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Heading comes from GPS course over ground. A magnetometer would be unreliable inside a steel cab, and below 5 mph the arrow falls back to a north-up compass rose because course is noise when parked.</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Every screen element is state-driven from the struct. The CHANGE COURSE banner engages after five seconds off course and clears on recovery, chevrons show the turn direction, the STALE banner appears past 120 seconds, and the clock derives its timezone from position.</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Both files are pure C with no hardware dependencies, unit-tested on a laptop: 12 of 12 native tests pass.</a:t>
            </a:r>
            <a:endParaRPr lang="en-US" sz="1250" dirty="0"/>
          </a:p>
        </p:txBody>
      </p:sp>
      <p:sp>
        <p:nvSpPr>
          <p:cNvPr id="28" name="Shape 26"/>
          <p:cNvSpPr/>
          <p:nvPr/>
        </p:nvSpPr>
        <p:spPr>
          <a:xfrm>
            <a:off x="457200" y="5349240"/>
            <a:ext cx="11292840" cy="777240"/>
          </a:xfrm>
          <a:prstGeom prst="rect">
            <a:avLst/>
          </a:prstGeom>
          <a:solidFill>
            <a:srgbClr val="16213D"/>
          </a:solidFill>
          <a:ln/>
        </p:spPr>
      </p:sp>
      <p:sp>
        <p:nvSpPr>
          <p:cNvPr id="29" name="Text 27"/>
          <p:cNvSpPr txBox="1"/>
          <p:nvPr/>
        </p:nvSpPr>
        <p:spPr>
          <a:xfrm>
            <a:off x="731520" y="5458968"/>
            <a:ext cx="10744200" cy="59436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Dead reckoning is why the screen feels live. Measurements arrive every ten seconds, the display re-projects both vehicles every second along their last course and speed, and each real fix snaps the estimate back to truth.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THE UI ON REAL PACKETS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06/10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6D4BDB"/>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6D4BDB"/>
                </a:solidFill>
                <a:latin typeface="Courier New" pitchFamily="34" charset="0"/>
                <a:ea typeface="Courier New" pitchFamily="34" charset="-122"/>
                <a:cs typeface="Courier New" pitchFamily="34" charset="-120"/>
              </a:rPr>
              <a:t>OWNER: JOSIAH</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THE UI, RUNNING ON REAL PACKETS</a:t>
            </a:r>
            <a:endParaRPr lang="en-US" sz="2300" dirty="0"/>
          </a:p>
        </p:txBody>
      </p:sp>
      <p:pic>
        <p:nvPicPr>
          <p:cNvPr id="10" name="Image 0" descr="C:/Users/deogr/AppData/Local/Temp/claude/C--Users-deogr-Documents-Fall-Project-Off-Grid-Vehicle-dection-project/e8b2e8fa-1513-4aa8-a8f6-ce4fcd20e664/scratchpad/deck3/p_compass.jpg">    </p:cNvPr>
          <p:cNvPicPr>
            <a:picLocks noChangeAspect="1"/>
          </p:cNvPicPr>
          <p:nvPr/>
        </p:nvPicPr>
        <p:blipFill>
          <a:blip r:embed="rId1"/>
          <a:stretch>
            <a:fillRect/>
          </a:stretch>
        </p:blipFill>
        <p:spPr>
          <a:xfrm>
            <a:off x="457200" y="1097280"/>
            <a:ext cx="3977640" cy="3282696"/>
          </a:xfrm>
          <a:prstGeom prst="rect">
            <a:avLst/>
          </a:prstGeom>
        </p:spPr>
      </p:pic>
      <p:sp>
        <p:nvSpPr>
          <p:cNvPr id="11" name="Shape 8"/>
          <p:cNvSpPr/>
          <p:nvPr/>
        </p:nvSpPr>
        <p:spPr>
          <a:xfrm>
            <a:off x="457200" y="1097280"/>
            <a:ext cx="3977640" cy="3282696"/>
          </a:xfrm>
          <a:prstGeom prst="rect">
            <a:avLst/>
          </a:prstGeom>
          <a:ln w="12700">
            <a:solidFill>
              <a:srgbClr val="9AA7BE"/>
            </a:solidFill>
            <a:prstDash val="solid"/>
          </a:ln>
        </p:spPr>
      </p:sp>
      <p:sp>
        <p:nvSpPr>
          <p:cNvPr id="12" name="Text 9"/>
          <p:cNvSpPr txBox="1"/>
          <p:nvPr/>
        </p:nvSpPr>
        <p:spPr>
          <a:xfrm>
            <a:off x="457200" y="4407408"/>
            <a:ext cx="397764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Driving view. Partner 2.41 mi, CHANGE COURSE with turn chevron, age 15 s</a:t>
            </a:r>
            <a:endParaRPr lang="en-US" sz="950" dirty="0"/>
          </a:p>
        </p:txBody>
      </p:sp>
      <p:pic>
        <p:nvPicPr>
          <p:cNvPr id="13" name="Image 1" descr="C:/Users/deogr/AppData/Local/Temp/claude/C--Users-deogr-Documents-Fall-Project-Off-Grid-Vehicle-dection-project/e8b2e8fa-1513-4aa8-a8f6-ce4fcd20e664/scratchpad/deck3/p_close.jpg">    </p:cNvPr>
          <p:cNvPicPr>
            <a:picLocks noChangeAspect="1"/>
          </p:cNvPicPr>
          <p:nvPr/>
        </p:nvPicPr>
        <p:blipFill>
          <a:blip r:embed="rId2"/>
          <a:stretch>
            <a:fillRect/>
          </a:stretch>
        </p:blipFill>
        <p:spPr>
          <a:xfrm>
            <a:off x="777240" y="4892040"/>
            <a:ext cx="1572768" cy="1143000"/>
          </a:xfrm>
          <a:prstGeom prst="rect">
            <a:avLst/>
          </a:prstGeom>
        </p:spPr>
      </p:pic>
      <p:sp>
        <p:nvSpPr>
          <p:cNvPr id="14" name="Shape 10"/>
          <p:cNvSpPr/>
          <p:nvPr/>
        </p:nvSpPr>
        <p:spPr>
          <a:xfrm>
            <a:off x="777240" y="4892040"/>
            <a:ext cx="1572768" cy="1143000"/>
          </a:xfrm>
          <a:prstGeom prst="rect">
            <a:avLst/>
          </a:prstGeom>
          <a:ln w="12700">
            <a:solidFill>
              <a:srgbClr val="9AA7BE"/>
            </a:solidFill>
            <a:prstDash val="solid"/>
          </a:ln>
        </p:spPr>
      </p:sp>
      <p:sp>
        <p:nvSpPr>
          <p:cNvPr id="15" name="Text 11"/>
          <p:cNvSpPr txBox="1"/>
          <p:nvPr/>
        </p:nvSpPr>
        <p:spPr>
          <a:xfrm>
            <a:off x="777240" y="6062472"/>
            <a:ext cx="1572768"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Close range, 0.2 mi</a:t>
            </a:r>
            <a:endParaRPr lang="en-US" sz="950" dirty="0"/>
          </a:p>
        </p:txBody>
      </p:sp>
      <p:pic>
        <p:nvPicPr>
          <p:cNvPr id="16" name="Image 2" descr="C:/Users/deogr/AppData/Local/Temp/claude/C--Users-deogr-Documents-Fall-Project-Off-Grid-Vehicle-dection-project/e8b2e8fa-1513-4aa8-a8f6-ce4fcd20e664/scratchpad/deck3/p_stopped.jpg">    </p:cNvPr>
          <p:cNvPicPr>
            <a:picLocks noChangeAspect="1"/>
          </p:cNvPicPr>
          <p:nvPr/>
        </p:nvPicPr>
        <p:blipFill>
          <a:blip r:embed="rId3"/>
          <a:stretch>
            <a:fillRect/>
          </a:stretch>
        </p:blipFill>
        <p:spPr>
          <a:xfrm>
            <a:off x="4709160" y="1097280"/>
            <a:ext cx="3931920" cy="2569464"/>
          </a:xfrm>
          <a:prstGeom prst="rect">
            <a:avLst/>
          </a:prstGeom>
        </p:spPr>
      </p:pic>
      <p:sp>
        <p:nvSpPr>
          <p:cNvPr id="17" name="Shape 12"/>
          <p:cNvSpPr/>
          <p:nvPr/>
        </p:nvSpPr>
        <p:spPr>
          <a:xfrm>
            <a:off x="4709160" y="1097280"/>
            <a:ext cx="3931920" cy="2569464"/>
          </a:xfrm>
          <a:prstGeom prst="rect">
            <a:avLst/>
          </a:prstGeom>
          <a:ln w="12700">
            <a:solidFill>
              <a:srgbClr val="9AA7BE"/>
            </a:solidFill>
            <a:prstDash val="solid"/>
          </a:ln>
        </p:spPr>
      </p:sp>
      <p:sp>
        <p:nvSpPr>
          <p:cNvPr id="18" name="Text 13"/>
          <p:cNvSpPr txBox="1"/>
          <p:nvPr/>
        </p:nvSpPr>
        <p:spPr>
          <a:xfrm>
            <a:off x="4709160" y="3694176"/>
            <a:ext cx="393192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Stopped: automatic north-up rose fallback</a:t>
            </a:r>
            <a:endParaRPr lang="en-US" sz="950" dirty="0"/>
          </a:p>
        </p:txBody>
      </p:sp>
      <p:pic>
        <p:nvPicPr>
          <p:cNvPr id="19" name="Image 3" descr="C:/Users/deogr/AppData/Local/Temp/claude/C--Users-deogr-Documents-Fall-Project-Off-Grid-Vehicle-dection-project/e8b2e8fa-1513-4aa8-a8f6-ce4fcd20e664/scratchpad/deck3/p_status.jpg">    </p:cNvPr>
          <p:cNvPicPr>
            <a:picLocks noChangeAspect="1"/>
          </p:cNvPicPr>
          <p:nvPr/>
        </p:nvPicPr>
        <p:blipFill>
          <a:blip r:embed="rId4"/>
          <a:stretch>
            <a:fillRect/>
          </a:stretch>
        </p:blipFill>
        <p:spPr>
          <a:xfrm>
            <a:off x="4709160" y="4041648"/>
            <a:ext cx="2880360" cy="1938528"/>
          </a:xfrm>
          <a:prstGeom prst="rect">
            <a:avLst/>
          </a:prstGeom>
        </p:spPr>
      </p:pic>
      <p:sp>
        <p:nvSpPr>
          <p:cNvPr id="20" name="Shape 14"/>
          <p:cNvSpPr/>
          <p:nvPr/>
        </p:nvSpPr>
        <p:spPr>
          <a:xfrm>
            <a:off x="4709160" y="4041648"/>
            <a:ext cx="2880360" cy="1938528"/>
          </a:xfrm>
          <a:prstGeom prst="rect">
            <a:avLst/>
          </a:prstGeom>
          <a:ln w="12700">
            <a:solidFill>
              <a:srgbClr val="9AA7BE"/>
            </a:solidFill>
            <a:prstDash val="solid"/>
          </a:ln>
        </p:spPr>
      </p:sp>
      <p:sp>
        <p:nvSpPr>
          <p:cNvPr id="21" name="Text 15"/>
          <p:cNvSpPr txBox="1"/>
          <p:nvPr/>
        </p:nvSpPr>
        <p:spPr>
          <a:xfrm>
            <a:off x="4709160" y="6007608"/>
            <a:ext cx="288036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Status page: live ME and PTR coordinates</a:t>
            </a:r>
            <a:endParaRPr lang="en-US" sz="950" dirty="0"/>
          </a:p>
        </p:txBody>
      </p:sp>
      <p:sp>
        <p:nvSpPr>
          <p:cNvPr id="22" name="Shape 16"/>
          <p:cNvSpPr/>
          <p:nvPr/>
        </p:nvSpPr>
        <p:spPr>
          <a:xfrm>
            <a:off x="8915400" y="1097280"/>
            <a:ext cx="2834640" cy="5029200"/>
          </a:xfrm>
          <a:prstGeom prst="rect">
            <a:avLst/>
          </a:prstGeom>
          <a:solidFill>
            <a:srgbClr val="F2F5FA"/>
          </a:solidFill>
          <a:ln w="9525">
            <a:solidFill>
              <a:srgbClr val="9AA7BE"/>
            </a:solidFill>
            <a:prstDash val="solid"/>
          </a:ln>
        </p:spPr>
      </p:sp>
      <p:sp>
        <p:nvSpPr>
          <p:cNvPr id="23" name="Text 17"/>
          <p:cNvSpPr txBox="1"/>
          <p:nvPr/>
        </p:nvSpPr>
        <p:spPr>
          <a:xfrm>
            <a:off x="9098280" y="1234440"/>
            <a:ext cx="2468880" cy="502920"/>
          </a:xfrm>
          <a:prstGeom prst="rect">
            <a:avLst/>
          </a:prstGeom>
          <a:noFill/>
          <a:ln/>
        </p:spPr>
        <p:txBody>
          <a:bodyPr wrap="square" lIns="0" tIns="0" rIns="0" bIns="0" rtlCol="0" anchor="ctr"/>
          <a:lstStyle/>
          <a:p>
            <a:pPr indent="0" marL="0">
              <a:buNone/>
            </a:pPr>
            <a:r>
              <a:rPr lang="en-US" sz="1200" b="1" spc="100" kern="0" dirty="0">
                <a:solidFill>
                  <a:srgbClr val="16213D"/>
                </a:solidFill>
                <a:latin typeface="Arial" pitchFamily="34" charset="0"/>
                <a:ea typeface="Arial" pitchFamily="34" charset="-122"/>
                <a:cs typeface="Arial" pitchFamily="34" charset="-120"/>
              </a:rPr>
              <a:t>WHY THESE SHOTS MATTER</a:t>
            </a:r>
            <a:endParaRPr lang="en-US" sz="1200" dirty="0"/>
          </a:p>
        </p:txBody>
      </p:sp>
      <p:sp>
        <p:nvSpPr>
          <p:cNvPr id="24" name="Text 18"/>
          <p:cNvSpPr txBox="1"/>
          <p:nvPr/>
        </p:nvSpPr>
        <p:spPr>
          <a:xfrm>
            <a:off x="9098280" y="1783080"/>
            <a:ext cx="2468880" cy="420624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Every value on these screens arrived by radio and was decoded by our own stack. There is no simulator in these photos.</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reflective panel gets sharper in more light, which is the opposite of a phone. It is built for a dashboard in the sun.</a:t>
            </a:r>
            <a:endParaRPr lang="en-US" sz="1100" dirty="0"/>
          </a:p>
          <a:p>
            <a:pPr marL="342900" indent="-342900">
              <a:spcAft>
                <a:spcPts val="600"/>
              </a:spcAft>
              <a:buSzPct val="100000"/>
              <a:buChar char="▪"/>
            </a:pPr>
            <a:r>
              <a:rPr lang="en-US" sz="1100" dirty="0">
                <a:solidFill>
                  <a:srgbClr val="222A3F"/>
                </a:solidFill>
                <a:latin typeface="Arial" pitchFamily="34" charset="0"/>
                <a:ea typeface="Arial" pitchFamily="34" charset="-122"/>
                <a:cs typeface="Arial" pitchFamily="34" charset="-120"/>
              </a:rPr>
              <a:t>The age readout is the honesty metric. The driver always knows how fresh the information is, and a stale ghost says so.</a:t>
            </a:r>
            <a:endParaRPr lang="en-US" sz="1100" dirty="0"/>
          </a:p>
          <a:p>
            <a:pPr marL="342900" indent="-342900">
              <a:buSzPct val="100000"/>
              <a:buChar char="▪"/>
            </a:pPr>
            <a:r>
              <a:rPr lang="en-US" sz="1100" dirty="0">
                <a:solidFill>
                  <a:srgbClr val="222A3F"/>
                </a:solidFill>
                <a:latin typeface="Arial" pitchFamily="34" charset="0"/>
                <a:ea typeface="Arial" pitchFamily="34" charset="-122"/>
                <a:cs typeface="Arial" pitchFamily="34" charset="-120"/>
              </a:rPr>
              <a:t>The banner, the chevron, and the rose fallback are all state machines reacting to live data.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RADIO AND PHY</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07/10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RADIO AND PHY: THE LONG-RANGE LINK</a:t>
            </a:r>
            <a:endParaRPr lang="en-US" sz="2300" dirty="0"/>
          </a:p>
        </p:txBody>
      </p:sp>
      <p:sp>
        <p:nvSpPr>
          <p:cNvPr id="10" name="Text 8"/>
          <p:cNvSpPr txBox="1"/>
          <p:nvPr/>
        </p:nvSpPr>
        <p:spPr>
          <a:xfrm>
            <a:off x="457200" y="987552"/>
            <a:ext cx="7315200" cy="274320"/>
          </a:xfrm>
          <a:prstGeom prst="rect">
            <a:avLst/>
          </a:prstGeom>
          <a:noFill/>
          <a:ln/>
        </p:spPr>
        <p:txBody>
          <a:bodyPr wrap="square" lIns="0" tIns="0" rIns="0" bIns="0" rtlCol="0" anchor="ctr"/>
          <a:lstStyle/>
          <a:p>
            <a:pPr indent="0" marL="0">
              <a:buNone/>
            </a:pPr>
            <a:r>
              <a:rPr lang="en-US" sz="1100" b="1" spc="100" kern="0" dirty="0">
                <a:solidFill>
                  <a:srgbClr val="16213D"/>
                </a:solidFill>
                <a:latin typeface="Arial" pitchFamily="34" charset="0"/>
                <a:ea typeface="Arial" pitchFamily="34" charset="-122"/>
                <a:cs typeface="Arial" pitchFamily="34" charset="-120"/>
              </a:rPr>
              <a:t>RADIO NODE, HELTEC V4 RUNNING STOCK MESHTASTIC</a:t>
            </a:r>
            <a:endParaRPr lang="en-US" sz="1100" dirty="0"/>
          </a:p>
        </p:txBody>
      </p:sp>
      <p:pic>
        <p:nvPicPr>
          <p:cNvPr id="11" name="Image 0" descr="C:/Users/deogr/AppData/Local/Temp/claude/C--Users-deogr-Documents-Fall-Project-Off-Grid-Vehicle-dection-project/e8b2e8fa-1513-4aa8-a8f6-ce4fcd20e664/scratchpad/mermaid_png/diag2.png">    </p:cNvPr>
          <p:cNvPicPr>
            <a:picLocks noChangeAspect="1"/>
          </p:cNvPicPr>
          <p:nvPr/>
        </p:nvPicPr>
        <p:blipFill>
          <a:blip r:embed="rId1"/>
          <a:stretch>
            <a:fillRect/>
          </a:stretch>
        </p:blipFill>
        <p:spPr>
          <a:xfrm>
            <a:off x="457200" y="1298448"/>
            <a:ext cx="6949440" cy="1417320"/>
          </a:xfrm>
          <a:prstGeom prst="rect">
            <a:avLst/>
          </a:prstGeom>
        </p:spPr>
      </p:pic>
      <p:sp>
        <p:nvSpPr>
          <p:cNvPr id="12" name="Shape 9"/>
          <p:cNvSpPr/>
          <p:nvPr/>
        </p:nvSpPr>
        <p:spPr>
          <a:xfrm>
            <a:off x="457200" y="1298448"/>
            <a:ext cx="6949440" cy="1417320"/>
          </a:xfrm>
          <a:prstGeom prst="rect">
            <a:avLst/>
          </a:prstGeom>
          <a:ln w="12700">
            <a:solidFill>
              <a:srgbClr val="9AA7BE"/>
            </a:solidFill>
            <a:prstDash val="solid"/>
          </a:ln>
        </p:spPr>
      </p:sp>
      <p:pic>
        <p:nvPicPr>
          <p:cNvPr id="13" name="Image 1" descr="C:/Users/deogr/AppData/Local/Temp/claude/C--Users-deogr-Documents-Fall-Project-Off-Grid-Vehicle-dection-project/e8b2e8fa-1513-4aa8-a8f6-ce4fcd20e664/scratchpad/deck3/p_rig.jpg">    </p:cNvPr>
          <p:cNvPicPr>
            <a:picLocks noChangeAspect="1"/>
          </p:cNvPicPr>
          <p:nvPr/>
        </p:nvPicPr>
        <p:blipFill>
          <a:blip r:embed="rId2"/>
          <a:stretch>
            <a:fillRect/>
          </a:stretch>
        </p:blipFill>
        <p:spPr>
          <a:xfrm>
            <a:off x="7680960" y="987552"/>
            <a:ext cx="1783080" cy="2377440"/>
          </a:xfrm>
          <a:prstGeom prst="rect">
            <a:avLst/>
          </a:prstGeom>
        </p:spPr>
      </p:pic>
      <p:sp>
        <p:nvSpPr>
          <p:cNvPr id="14" name="Shape 10"/>
          <p:cNvSpPr/>
          <p:nvPr/>
        </p:nvSpPr>
        <p:spPr>
          <a:xfrm>
            <a:off x="7680960" y="987552"/>
            <a:ext cx="1783080" cy="2377440"/>
          </a:xfrm>
          <a:prstGeom prst="rect">
            <a:avLst/>
          </a:prstGeom>
          <a:ln w="12700">
            <a:solidFill>
              <a:srgbClr val="9AA7BE"/>
            </a:solidFill>
            <a:prstDash val="solid"/>
          </a:ln>
        </p:spPr>
      </p:sp>
      <p:sp>
        <p:nvSpPr>
          <p:cNvPr id="15" name="Text 11"/>
          <p:cNvSpPr txBox="1"/>
          <p:nvPr/>
        </p:nvSpPr>
        <p:spPr>
          <a:xfrm>
            <a:off x="7680960" y="3392424"/>
            <a:ext cx="178308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The rig with 915 MHz antenna</a:t>
            </a:r>
            <a:endParaRPr lang="en-US" sz="950" dirty="0"/>
          </a:p>
        </p:txBody>
      </p:sp>
      <p:pic>
        <p:nvPicPr>
          <p:cNvPr id="16" name="Image 2" descr="C:/Users/deogr/AppData/Local/Temp/claude/C--Users-deogr-Documents-Fall-Project-Off-Grid-Vehicle-dection-project/e8b2e8fa-1513-4aa8-a8f6-ce4fcd20e664/scratchpad/deck3/p_oled.jpg">    </p:cNvPr>
          <p:cNvPicPr>
            <a:picLocks noChangeAspect="1"/>
          </p:cNvPicPr>
          <p:nvPr/>
        </p:nvPicPr>
        <p:blipFill>
          <a:blip r:embed="rId3"/>
          <a:stretch>
            <a:fillRect/>
          </a:stretch>
        </p:blipFill>
        <p:spPr>
          <a:xfrm>
            <a:off x="9646920" y="987552"/>
            <a:ext cx="2057400" cy="1078992"/>
          </a:xfrm>
          <a:prstGeom prst="rect">
            <a:avLst/>
          </a:prstGeom>
        </p:spPr>
      </p:pic>
      <p:sp>
        <p:nvSpPr>
          <p:cNvPr id="17" name="Shape 12"/>
          <p:cNvSpPr/>
          <p:nvPr/>
        </p:nvSpPr>
        <p:spPr>
          <a:xfrm>
            <a:off x="9646920" y="987552"/>
            <a:ext cx="2057400" cy="1078992"/>
          </a:xfrm>
          <a:prstGeom prst="rect">
            <a:avLst/>
          </a:prstGeom>
          <a:ln w="12700">
            <a:solidFill>
              <a:srgbClr val="9AA7BE"/>
            </a:solidFill>
            <a:prstDash val="solid"/>
          </a:ln>
        </p:spPr>
      </p:sp>
      <p:sp>
        <p:nvSpPr>
          <p:cNvPr id="18" name="Text 13"/>
          <p:cNvSpPr txBox="1"/>
          <p:nvPr/>
        </p:nvSpPr>
        <p:spPr>
          <a:xfrm>
            <a:off x="9646920" y="2093976"/>
            <a:ext cx="2057400" cy="274320"/>
          </a:xfrm>
          <a:prstGeom prst="rect">
            <a:avLst/>
          </a:prstGeom>
          <a:noFill/>
          <a:ln/>
        </p:spPr>
        <p:txBody>
          <a:bodyPr wrap="square" lIns="0" tIns="0" rIns="0" bIns="0" rtlCol="0" anchor="ctr"/>
          <a:lstStyle/>
          <a:p>
            <a:pPr algn="ctr" indent="0" marL="0">
              <a:buNone/>
            </a:pPr>
            <a:r>
              <a:rPr lang="en-US" sz="950" dirty="0">
                <a:solidFill>
                  <a:srgbClr val="5E6B85"/>
                </a:solidFill>
                <a:latin typeface="Courier New" pitchFamily="34" charset="0"/>
                <a:ea typeface="Courier New" pitchFamily="34" charset="-122"/>
                <a:cs typeface="Courier New" pitchFamily="34" charset="-120"/>
              </a:rPr>
              <a:t>OLED: 9 satellites, ChUtil 0%</a:t>
            </a:r>
            <a:endParaRPr lang="en-US" sz="950" dirty="0"/>
          </a:p>
        </p:txBody>
      </p:sp>
      <p:sp>
        <p:nvSpPr>
          <p:cNvPr id="19" name="Text 14"/>
          <p:cNvSpPr txBox="1"/>
          <p:nvPr/>
        </p:nvSpPr>
        <p:spPr>
          <a:xfrm>
            <a:off x="457200" y="2971800"/>
            <a:ext cx="704088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Modulation is the LONG_FAST preset: spreading factor 11 over 250 kHz with rate 4/5 forward error correction, in the 915 MHz ISM band, on a private AES-256 channel at full position precision.</a:t>
            </a:r>
            <a:endParaRPr lang="en-US" sz="1250" dirty="0"/>
          </a:p>
          <a:p>
            <a:pPr marL="342900" indent="-342900">
              <a:spcAft>
                <a:spcPts val="600"/>
              </a:spcAft>
              <a:buSzPct val="100000"/>
              <a:buChar char="▪"/>
            </a:pPr>
            <a:r>
              <a:rPr lang="en-US" sz="1250" dirty="0">
                <a:solidFill>
                  <a:srgbClr val="222A3F"/>
                </a:solidFill>
                <a:latin typeface="Arial" pitchFamily="34" charset="0"/>
                <a:ea typeface="Arial" pitchFamily="34" charset="-122"/>
                <a:cs typeface="Arial" pitchFamily="34" charset="-120"/>
              </a:rPr>
              <a:t>Smart broadcast sends every 10 seconds or 20 meters while moving and every 60 seconds parked. GPS refresh also runs at 10 seconds, so every broadcast carries a genuinely new fix.</a:t>
            </a:r>
            <a:endParaRPr lang="en-US" sz="1250" dirty="0"/>
          </a:p>
          <a:p>
            <a:pPr marL="342900" indent="-342900">
              <a:buSzPct val="100000"/>
              <a:buChar char="▪"/>
            </a:pPr>
            <a:r>
              <a:rPr lang="en-US" sz="1250" dirty="0">
                <a:solidFill>
                  <a:srgbClr val="222A3F"/>
                </a:solidFill>
                <a:latin typeface="Arial" pitchFamily="34" charset="0"/>
                <a:ea typeface="Arial" pitchFamily="34" charset="-122"/>
                <a:cs typeface="Arial" pitchFamily="34" charset="-120"/>
              </a:rPr>
              <a:t>The radio's own OLED is a free field debugger. It shows satellites, nodes heard, channel utilization, and the signal strength of the last packet.</a:t>
            </a:r>
            <a:endParaRPr lang="en-US" sz="1250" dirty="0"/>
          </a:p>
        </p:txBody>
      </p:sp>
      <p:sp>
        <p:nvSpPr>
          <p:cNvPr id="20" name="Shape 15"/>
          <p:cNvSpPr/>
          <p:nvPr/>
        </p:nvSpPr>
        <p:spPr>
          <a:xfrm>
            <a:off x="457200" y="4846320"/>
            <a:ext cx="11292840" cy="1280160"/>
          </a:xfrm>
          <a:prstGeom prst="rect">
            <a:avLst/>
          </a:prstGeom>
          <a:solidFill>
            <a:srgbClr val="FDF3E3"/>
          </a:solidFill>
          <a:ln w="15875">
            <a:solidFill>
              <a:srgbClr val="E58E1A"/>
            </a:solidFill>
            <a:prstDash val="solid"/>
          </a:ln>
        </p:spPr>
      </p:sp>
      <p:sp>
        <p:nvSpPr>
          <p:cNvPr id="21" name="Text 16"/>
          <p:cNvSpPr txBox="1"/>
          <p:nvPr/>
        </p:nvSpPr>
        <p:spPr>
          <a:xfrm>
            <a:off x="731520" y="4974336"/>
            <a:ext cx="10744200" cy="1051560"/>
          </a:xfrm>
          <a:prstGeom prst="rect">
            <a:avLst/>
          </a:prstGeom>
          <a:noFill/>
          <a:ln/>
        </p:spPr>
        <p:txBody>
          <a:bodyPr wrap="square" lIns="0" tIns="0" rIns="0" bIns="0" rtlCol="0" anchor="ctr"/>
          <a:lstStyle/>
          <a:p>
            <a:pPr indent="0" marL="0">
              <a:spcAft>
                <a:spcPts val="500"/>
              </a:spcAft>
              <a:buNone/>
            </a:pPr>
            <a:r>
              <a:rPr lang="en-US" sz="1100" b="1" dirty="0">
                <a:solidFill>
                  <a:srgbClr val="B06207"/>
                </a:solidFill>
                <a:latin typeface="Courier New" pitchFamily="34" charset="0"/>
                <a:ea typeface="Courier New" pitchFamily="34" charset="-122"/>
                <a:cs typeface="Courier New" pitchFamily="34" charset="-120"/>
              </a:rPr>
              <a:t>PROVISIONING DISCIPLINE (hardware/README.md)</a:t>
            </a:r>
            <a:endParaRPr lang="en-US" sz="1200" dirty="0"/>
          </a:p>
          <a:p>
            <a:pPr indent="0" marL="0">
              <a:buNone/>
            </a:pPr>
            <a:r>
              <a:rPr lang="en-US" sz="1200" dirty="0">
                <a:solidFill>
                  <a:srgbClr val="222A3F"/>
                </a:solidFill>
                <a:latin typeface="Arial" pitchFamily="34" charset="0"/>
                <a:ea typeface="Arial" pitchFamily="34" charset="-122"/>
                <a:cs typeface="Arial" pitchFamily="34" charset="-120"/>
              </a:rPr>
              <a:t>Radio number two must join with the exact channel URL, which embeds the encryption key. Two traps are documented from experience: settings that trigger a reboot can silently revert when written over the CLI, so every write is read back and verified, and identical boards demand explicit upload ports when flashing.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LINK PHYSICS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08/10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E58E1A"/>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E58E1A"/>
                </a:solidFill>
                <a:latin typeface="Courier New" pitchFamily="34" charset="0"/>
                <a:ea typeface="Courier New" pitchFamily="34" charset="-122"/>
                <a:cs typeface="Courier New" pitchFamily="34" charset="-120"/>
              </a:rPr>
              <a:t>OWNER: VICTOR</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REAL TIME VERSUS 10 SECONDS: THE PHYSICS</a:t>
            </a:r>
            <a:endParaRPr lang="en-US" sz="2300" dirty="0"/>
          </a:p>
        </p:txBody>
      </p:sp>
      <p:sp>
        <p:nvSpPr>
          <p:cNvPr id="10" name="Text 8"/>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1  AIRTIME</a:t>
            </a:r>
            <a:endParaRPr lang="en-US" sz="1100" dirty="0"/>
          </a:p>
        </p:txBody>
      </p:sp>
      <p:pic>
        <p:nvPicPr>
          <p:cNvPr id="11" name="Image 0" descr="C:/Users/deogr/AppData/Local/Temp/claude/C--Users-deogr-Documents-Fall-Project-Off-Grid-Vehicle-dection-project/e8b2e8fa-1513-4aa8-a8f6-ce4fcd20e664/scratchpad/deck3/eq_airtime.png">    </p:cNvPr>
          <p:cNvPicPr>
            <a:picLocks noChangeAspect="1"/>
          </p:cNvPicPr>
          <p:nvPr/>
        </p:nvPicPr>
        <p:blipFill>
          <a:blip r:embed="rId1"/>
          <a:stretch>
            <a:fillRect/>
          </a:stretch>
        </p:blipFill>
        <p:spPr>
          <a:xfrm>
            <a:off x="3063240" y="1115568"/>
            <a:ext cx="8138160" cy="429768"/>
          </a:xfrm>
          <a:prstGeom prst="rect">
            <a:avLst/>
          </a:prstGeom>
        </p:spPr>
      </p:pic>
      <p:sp>
        <p:nvSpPr>
          <p:cNvPr id="12" name="Text 9"/>
          <p:cNvSpPr txBox="1"/>
          <p:nvPr/>
        </p:nvSpPr>
        <p:spPr>
          <a:xfrm>
            <a:off x="457200" y="182880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2  UTILIZATION</a:t>
            </a:r>
            <a:endParaRPr lang="en-US" sz="1100" dirty="0"/>
          </a:p>
        </p:txBody>
      </p:sp>
      <p:pic>
        <p:nvPicPr>
          <p:cNvPr id="13" name="Image 1" descr="C:/Users/deogr/AppData/Local/Temp/claude/C--Users-deogr-Documents-Fall-Project-Off-Grid-Vehicle-dection-project/e8b2e8fa-1513-4aa8-a8f6-ce4fcd20e664/scratchpad/deck3/eq_util.png">    </p:cNvPr>
          <p:cNvPicPr>
            <a:picLocks noChangeAspect="1"/>
          </p:cNvPicPr>
          <p:nvPr/>
        </p:nvPicPr>
        <p:blipFill>
          <a:blip r:embed="rId2"/>
          <a:stretch>
            <a:fillRect/>
          </a:stretch>
        </p:blipFill>
        <p:spPr>
          <a:xfrm>
            <a:off x="3063240" y="1847088"/>
            <a:ext cx="8503920" cy="393192"/>
          </a:xfrm>
          <a:prstGeom prst="rect">
            <a:avLst/>
          </a:prstGeom>
        </p:spPr>
      </p:pic>
      <p:sp>
        <p:nvSpPr>
          <p:cNvPr id="14" name="Text 10"/>
          <p:cNvSpPr txBox="1"/>
          <p:nvPr/>
        </p:nvSpPr>
        <p:spPr>
          <a:xfrm>
            <a:off x="457200" y="25603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3  SENSITIVITY</a:t>
            </a:r>
            <a:endParaRPr lang="en-US" sz="1100" dirty="0"/>
          </a:p>
        </p:txBody>
      </p:sp>
      <p:pic>
        <p:nvPicPr>
          <p:cNvPr id="15" name="Image 2" descr="C:/Users/deogr/AppData/Local/Temp/claude/C--Users-deogr-Documents-Fall-Project-Off-Grid-Vehicle-dection-project/e8b2e8fa-1513-4aa8-a8f6-ce4fcd20e664/scratchpad/deck3/eq_sens.png">    </p:cNvPr>
          <p:cNvPicPr>
            <a:picLocks noChangeAspect="1"/>
          </p:cNvPicPr>
          <p:nvPr/>
        </p:nvPicPr>
        <p:blipFill>
          <a:blip r:embed="rId3"/>
          <a:stretch>
            <a:fillRect/>
          </a:stretch>
        </p:blipFill>
        <p:spPr>
          <a:xfrm>
            <a:off x="3063240" y="2578608"/>
            <a:ext cx="8503920" cy="292608"/>
          </a:xfrm>
          <a:prstGeom prst="rect">
            <a:avLst/>
          </a:prstGeom>
        </p:spPr>
      </p:pic>
      <p:sp>
        <p:nvSpPr>
          <p:cNvPr id="16" name="Text 11"/>
          <p:cNvSpPr txBox="1"/>
          <p:nvPr/>
        </p:nvSpPr>
        <p:spPr>
          <a:xfrm>
            <a:off x="457200" y="32461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4  LATENCY</a:t>
            </a:r>
            <a:endParaRPr lang="en-US" sz="1100" dirty="0"/>
          </a:p>
        </p:txBody>
      </p:sp>
      <p:pic>
        <p:nvPicPr>
          <p:cNvPr id="17" name="Image 3" descr="C:/Users/deogr/AppData/Local/Temp/claude/C--Users-deogr-Documents-Fall-Project-Off-Grid-Vehicle-dection-project/e8b2e8fa-1513-4aa8-a8f6-ce4fcd20e664/scratchpad/deck3/eq_latency.png">    </p:cNvPr>
          <p:cNvPicPr>
            <a:picLocks noChangeAspect="1"/>
          </p:cNvPicPr>
          <p:nvPr/>
        </p:nvPicPr>
        <p:blipFill>
          <a:blip r:embed="rId4"/>
          <a:stretch>
            <a:fillRect/>
          </a:stretch>
        </p:blipFill>
        <p:spPr>
          <a:xfrm>
            <a:off x="3063240" y="3264408"/>
            <a:ext cx="8503920" cy="310896"/>
          </a:xfrm>
          <a:prstGeom prst="rect">
            <a:avLst/>
          </a:prstGeom>
        </p:spPr>
      </p:pic>
      <p:sp>
        <p:nvSpPr>
          <p:cNvPr id="18" name="Text 12"/>
          <p:cNvSpPr txBox="1"/>
          <p:nvPr/>
        </p:nvSpPr>
        <p:spPr>
          <a:xfrm>
            <a:off x="457200" y="3931920"/>
            <a:ext cx="2468880" cy="502920"/>
          </a:xfrm>
          <a:prstGeom prst="rect">
            <a:avLst/>
          </a:prstGeom>
          <a:noFill/>
          <a:ln/>
        </p:spPr>
        <p:txBody>
          <a:bodyPr wrap="square" lIns="0" tIns="0" rIns="0" bIns="0" rtlCol="0" anchor="ctr"/>
          <a:lstStyle/>
          <a:p>
            <a:pPr indent="0" marL="0">
              <a:buNone/>
            </a:pPr>
            <a:r>
              <a:rPr lang="en-US" sz="1100" b="1" dirty="0">
                <a:solidFill>
                  <a:srgbClr val="16213D"/>
                </a:solidFill>
                <a:latin typeface="Courier New" pitchFamily="34" charset="0"/>
                <a:ea typeface="Courier New" pitchFamily="34" charset="-122"/>
                <a:cs typeface="Courier New" pitchFamily="34" charset="-120"/>
              </a:rPr>
              <a:t>EQ 5  DEAD RECKONING</a:t>
            </a:r>
            <a:endParaRPr lang="en-US" sz="1100" dirty="0"/>
          </a:p>
        </p:txBody>
      </p:sp>
      <p:pic>
        <p:nvPicPr>
          <p:cNvPr id="19" name="Image 4" descr="C:/Users/deogr/AppData/Local/Temp/claude/C--Users-deogr-Documents-Fall-Project-Off-Grid-Vehicle-dection-project/e8b2e8fa-1513-4aa8-a8f6-ce4fcd20e664/scratchpad/deck3/eq_dr.png">    </p:cNvPr>
          <p:cNvPicPr>
            <a:picLocks noChangeAspect="1"/>
          </p:cNvPicPr>
          <p:nvPr/>
        </p:nvPicPr>
        <p:blipFill>
          <a:blip r:embed="rId5"/>
          <a:stretch>
            <a:fillRect/>
          </a:stretch>
        </p:blipFill>
        <p:spPr>
          <a:xfrm>
            <a:off x="3063240" y="3950208"/>
            <a:ext cx="6309360" cy="365760"/>
          </a:xfrm>
          <a:prstGeom prst="rect">
            <a:avLst/>
          </a:prstGeom>
        </p:spPr>
      </p:pic>
      <p:sp>
        <p:nvSpPr>
          <p:cNvPr id="20" name="Shape 13"/>
          <p:cNvSpPr/>
          <p:nvPr/>
        </p:nvSpPr>
        <p:spPr>
          <a:xfrm>
            <a:off x="457200" y="4754880"/>
            <a:ext cx="11292840" cy="1371600"/>
          </a:xfrm>
          <a:prstGeom prst="rect">
            <a:avLst/>
          </a:prstGeom>
          <a:solidFill>
            <a:srgbClr val="16213D"/>
          </a:solidFill>
          <a:ln/>
        </p:spPr>
      </p:sp>
      <p:sp>
        <p:nvSpPr>
          <p:cNvPr id="21" name="Text 14"/>
          <p:cNvSpPr txBox="1"/>
          <p:nvPr/>
        </p:nvSpPr>
        <p:spPr>
          <a:xfrm>
            <a:off x="731520" y="4864608"/>
            <a:ext cx="10744200" cy="1188720"/>
          </a:xfrm>
          <a:prstGeom prst="rect">
            <a:avLst/>
          </a:prstGeom>
          <a:noFill/>
          <a:ln/>
        </p:spPr>
        <p:txBody>
          <a:bodyPr wrap="square" lIns="0" tIns="0" rIns="0" bIns="0" rtlCol="0" anchor="ctr"/>
          <a:lstStyle/>
          <a:p>
            <a:pPr indent="0" marL="0">
              <a:spcAft>
                <a:spcPts val="500"/>
              </a:spcAft>
              <a:buNone/>
            </a:pPr>
            <a:r>
              <a:rPr lang="en-US" sz="1200" b="1" dirty="0">
                <a:solidFill>
                  <a:srgbClr val="E58E1A"/>
                </a:solidFill>
                <a:latin typeface="Courier New" pitchFamily="34" charset="0"/>
                <a:ea typeface="Courier New" pitchFamily="34" charset="-122"/>
                <a:cs typeface="Courier New" pitchFamily="34" charset="-120"/>
              </a:rPr>
              <a:t>THE VERDICT</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Information reaches the driver about one second after it exists, which is real time by any useful definition. A new measurement can only be taken every ten seconds because each broadcast costs half a second of shared airtime: at one hertz, two vehicles would demand the entire channel. The same spreading factor that makes packets slow lets the receiver decode 15 dB below the noise floor, and that is where the kilometers come from. Dead reckoning fills the gaps at one hertz. Rate and range are the same currency, and we spent it on range.</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INTEGRATION CONSTRAINTS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09/10  REV C  2026-09-07</a:t>
            </a:r>
            <a:endParaRPr lang="en-US" sz="900" dirty="0"/>
          </a:p>
        </p:txBody>
      </p:sp>
      <p:sp>
        <p:nvSpPr>
          <p:cNvPr id="7" name="Shape 5"/>
          <p:cNvSpPr/>
          <p:nvPr/>
        </p:nvSpPr>
        <p:spPr>
          <a:xfrm>
            <a:off x="9646920" y="347472"/>
            <a:ext cx="2148840" cy="420624"/>
          </a:xfrm>
          <a:prstGeom prst="rect">
            <a:avLst/>
          </a:prstGeom>
          <a:solidFill>
            <a:srgbClr val="FFFFFF"/>
          </a:solidFill>
          <a:ln w="19050">
            <a:solidFill>
              <a:srgbClr val="D9488C"/>
            </a:solidFill>
            <a:prstDash val="solid"/>
          </a:ln>
        </p:spPr>
      </p:sp>
      <p:sp>
        <p:nvSpPr>
          <p:cNvPr id="8" name="Text 6"/>
          <p:cNvSpPr txBox="1"/>
          <p:nvPr/>
        </p:nvSpPr>
        <p:spPr>
          <a:xfrm>
            <a:off x="9646920" y="402336"/>
            <a:ext cx="2148840" cy="310896"/>
          </a:xfrm>
          <a:prstGeom prst="rect">
            <a:avLst/>
          </a:prstGeom>
          <a:noFill/>
          <a:ln/>
        </p:spPr>
        <p:txBody>
          <a:bodyPr wrap="square" lIns="0" tIns="0" rIns="0" bIns="0" rtlCol="0" anchor="ctr"/>
          <a:lstStyle/>
          <a:p>
            <a:pPr algn="ctr" indent="0" marL="0">
              <a:buNone/>
            </a:pPr>
            <a:r>
              <a:rPr lang="en-US" sz="1100" b="1" dirty="0">
                <a:solidFill>
                  <a:srgbClr val="D9488C"/>
                </a:solidFill>
                <a:latin typeface="Courier New" pitchFamily="34" charset="0"/>
                <a:ea typeface="Courier New" pitchFamily="34" charset="-122"/>
                <a:cs typeface="Courier New" pitchFamily="34" charset="-120"/>
              </a:rPr>
              <a:t>OWNER: CANNON</a:t>
            </a:r>
            <a:endParaRPr lang="en-US" sz="1100" dirty="0"/>
          </a:p>
        </p:txBody>
      </p:sp>
      <p:sp>
        <p:nvSpPr>
          <p:cNvPr id="9" name="Text 7"/>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INTEGRATION CONSTRAINTS: THE LEDGER</a:t>
            </a:r>
            <a:endParaRPr lang="en-US" sz="2300" dirty="0"/>
          </a:p>
        </p:txBody>
      </p:sp>
      <p:pic>
        <p:nvPicPr>
          <p:cNvPr id="10" name="Image 0" descr="C:/Users/deogr/AppData/Local/Temp/claude/C--Users-deogr-Documents-Fall-Project-Off-Grid-Vehicle-dection-project/e8b2e8fa-1513-4aa8-a8f6-ce4fcd20e664/scratchpad/mermaid_png/diag1.png">    </p:cNvPr>
          <p:cNvPicPr>
            <a:picLocks noChangeAspect="1"/>
          </p:cNvPicPr>
          <p:nvPr/>
        </p:nvPicPr>
        <p:blipFill>
          <a:blip r:embed="rId1"/>
          <a:stretch>
            <a:fillRect/>
          </a:stretch>
        </p:blipFill>
        <p:spPr>
          <a:xfrm>
            <a:off x="457200" y="1005840"/>
            <a:ext cx="5669280" cy="1938528"/>
          </a:xfrm>
          <a:prstGeom prst="rect">
            <a:avLst/>
          </a:prstGeom>
        </p:spPr>
      </p:pic>
      <p:sp>
        <p:nvSpPr>
          <p:cNvPr id="11" name="Shape 8"/>
          <p:cNvSpPr/>
          <p:nvPr/>
        </p:nvSpPr>
        <p:spPr>
          <a:xfrm>
            <a:off x="457200" y="1005840"/>
            <a:ext cx="5669280" cy="1938528"/>
          </a:xfrm>
          <a:prstGeom prst="rect">
            <a:avLst/>
          </a:prstGeom>
          <a:ln w="12700">
            <a:solidFill>
              <a:srgbClr val="9AA7BE"/>
            </a:solidFill>
            <a:prstDash val="solid"/>
          </a:ln>
        </p:spPr>
      </p:sp>
      <p:sp>
        <p:nvSpPr>
          <p:cNvPr id="12" name="Text 9"/>
          <p:cNvSpPr txBox="1"/>
          <p:nvPr/>
        </p:nvSpPr>
        <p:spPr>
          <a:xfrm>
            <a:off x="6400800" y="1097280"/>
            <a:ext cx="5257800" cy="777240"/>
          </a:xfrm>
          <a:prstGeom prst="rect">
            <a:avLst/>
          </a:prstGeom>
          <a:noFill/>
          <a:ln/>
        </p:spPr>
        <p:txBody>
          <a:bodyPr wrap="square" lIns="0" tIns="0" rIns="0" bIns="0" rtlCol="0" anchor="ctr"/>
          <a:lstStyle/>
          <a:p>
            <a:pPr indent="0" marL="0">
              <a:buNone/>
            </a:pPr>
            <a:r>
              <a:rPr lang="en-US" sz="1250" dirty="0">
                <a:solidFill>
                  <a:srgbClr val="222A3F"/>
                </a:solidFill>
                <a:latin typeface="Arial" pitchFamily="34" charset="0"/>
                <a:ea typeface="Arial" pitchFamily="34" charset="-122"/>
                <a:cs typeface="Arial" pitchFamily="34" charset="-120"/>
              </a:rPr>
              <a:t>Every constraint below was discovered on the bench or on the road, and each one shaped the design. None are theoretical.</a:t>
            </a:r>
            <a:endParaRPr lang="en-US" sz="1250" dirty="0"/>
          </a:p>
        </p:txBody>
      </p:sp>
      <p:sp>
        <p:nvSpPr>
          <p:cNvPr id="13" name="Text 10"/>
          <p:cNvSpPr txBox="1"/>
          <p:nvPr/>
        </p:nvSpPr>
        <p:spPr>
          <a:xfrm>
            <a:off x="6400800" y="1965960"/>
            <a:ext cx="5257800" cy="868680"/>
          </a:xfrm>
          <a:prstGeom prst="rect">
            <a:avLst/>
          </a:prstGeom>
          <a:noFill/>
          <a:ln/>
        </p:spPr>
        <p:txBody>
          <a:bodyPr wrap="square" lIns="0" tIns="0" rIns="0" bIns="0" rtlCol="0" anchor="ctr"/>
          <a:lstStyle/>
          <a:p>
            <a:pPr indent="0" marL="0">
              <a:buNone/>
            </a:pPr>
            <a:r>
              <a:rPr lang="en-US" sz="1200" b="1" dirty="0">
                <a:solidFill>
                  <a:srgbClr val="16213D"/>
                </a:solidFill>
                <a:latin typeface="Courier New" pitchFamily="34" charset="0"/>
                <a:ea typeface="Courier New" pitchFamily="34" charset="-122"/>
                <a:cs typeface="Courier New" pitchFamily="34" charset="-120"/>
              </a:rPr>
              <a:t>TEST SEQUENCE: provision radio 2, bench two-radio decode, two-vehicle drive test, range characterization.</a:t>
            </a:r>
            <a:endParaRPr lang="en-US" sz="1200" dirty="0"/>
          </a:p>
        </p:txBody>
      </p:sp>
      <p:sp>
        <p:nvSpPr>
          <p:cNvPr id="14" name="Shape 11"/>
          <p:cNvSpPr/>
          <p:nvPr/>
        </p:nvSpPr>
        <p:spPr>
          <a:xfrm>
            <a:off x="457200" y="3154680"/>
            <a:ext cx="3657600" cy="1426464"/>
          </a:xfrm>
          <a:prstGeom prst="rect">
            <a:avLst/>
          </a:prstGeom>
          <a:solidFill>
            <a:srgbClr val="F2F5FA"/>
          </a:solidFill>
          <a:ln w="15875">
            <a:solidFill>
              <a:srgbClr val="D9488C"/>
            </a:solidFill>
            <a:prstDash val="solid"/>
          </a:ln>
        </p:spPr>
      </p:sp>
      <p:sp>
        <p:nvSpPr>
          <p:cNvPr id="15" name="Text 12"/>
          <p:cNvSpPr txBox="1"/>
          <p:nvPr/>
        </p:nvSpPr>
        <p:spPr>
          <a:xfrm>
            <a:off x="58521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RADIO / PHY</a:t>
            </a:r>
            <a:endParaRPr lang="en-US" sz="1050" dirty="0"/>
          </a:p>
        </p:txBody>
      </p:sp>
      <p:sp>
        <p:nvSpPr>
          <p:cNvPr id="16" name="Text 13"/>
          <p:cNvSpPr txBox="1"/>
          <p:nvPr/>
        </p:nvSpPr>
        <p:spPr>
          <a:xfrm>
            <a:off x="58521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Half a second of airtime per packet caps cadence at ten seconds. Utilization must stay under about 25%. The region must be set or transmit is disabled. The roof antenna is the single biggest range factor.</a:t>
            </a:r>
            <a:endParaRPr lang="en-US" sz="950" dirty="0"/>
          </a:p>
        </p:txBody>
      </p:sp>
      <p:sp>
        <p:nvSpPr>
          <p:cNvPr id="17" name="Shape 14"/>
          <p:cNvSpPr/>
          <p:nvPr/>
        </p:nvSpPr>
        <p:spPr>
          <a:xfrm>
            <a:off x="4297680" y="3154680"/>
            <a:ext cx="3657600" cy="1426464"/>
          </a:xfrm>
          <a:prstGeom prst="rect">
            <a:avLst/>
          </a:prstGeom>
          <a:solidFill>
            <a:srgbClr val="F2F5FA"/>
          </a:solidFill>
          <a:ln w="15875">
            <a:solidFill>
              <a:srgbClr val="D9488C"/>
            </a:solidFill>
            <a:prstDash val="solid"/>
          </a:ln>
        </p:spPr>
      </p:sp>
      <p:sp>
        <p:nvSpPr>
          <p:cNvPr id="18" name="Text 15"/>
          <p:cNvSpPr txBox="1"/>
          <p:nvPr/>
        </p:nvSpPr>
        <p:spPr>
          <a:xfrm>
            <a:off x="442569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GPS</a:t>
            </a:r>
            <a:endParaRPr lang="en-US" sz="1050" dirty="0"/>
          </a:p>
        </p:txBody>
      </p:sp>
      <p:sp>
        <p:nvSpPr>
          <p:cNvPr id="19" name="Text 16"/>
          <p:cNvSpPr txBox="1"/>
          <p:nvPr/>
        </p:nvSpPr>
        <p:spPr>
          <a:xfrm>
            <a:off x="442569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Needs sky view: a windshield works, a desk does not. Cold start takes minutes. Indoor multipath fakes small phantom speeds, which the deadband removes. Fix rate must match broadcast rate.</a:t>
            </a:r>
            <a:endParaRPr lang="en-US" sz="950" dirty="0"/>
          </a:p>
        </p:txBody>
      </p:sp>
      <p:sp>
        <p:nvSpPr>
          <p:cNvPr id="20" name="Shape 17"/>
          <p:cNvSpPr/>
          <p:nvPr/>
        </p:nvSpPr>
        <p:spPr>
          <a:xfrm>
            <a:off x="8138160" y="3154680"/>
            <a:ext cx="3657600" cy="1426464"/>
          </a:xfrm>
          <a:prstGeom prst="rect">
            <a:avLst/>
          </a:prstGeom>
          <a:solidFill>
            <a:srgbClr val="F2F5FA"/>
          </a:solidFill>
          <a:ln w="15875">
            <a:solidFill>
              <a:srgbClr val="D9488C"/>
            </a:solidFill>
            <a:prstDash val="solid"/>
          </a:ln>
        </p:spPr>
      </p:sp>
      <p:sp>
        <p:nvSpPr>
          <p:cNvPr id="21" name="Text 18"/>
          <p:cNvSpPr txBox="1"/>
          <p:nvPr/>
        </p:nvSpPr>
        <p:spPr>
          <a:xfrm>
            <a:off x="8266176" y="3218688"/>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BLE LINK</a:t>
            </a:r>
            <a:endParaRPr lang="en-US" sz="1050" dirty="0"/>
          </a:p>
        </p:txBody>
      </p:sp>
      <p:sp>
        <p:nvSpPr>
          <p:cNvPr id="22" name="Text 19"/>
          <p:cNvSpPr txBox="1"/>
          <p:nvPr/>
        </p:nvSpPr>
        <p:spPr>
          <a:xfrm>
            <a:off x="8266176" y="3483864"/>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radio advertises only from boot until its first disconnect, so both units power up together. Exactly one client at a time: a phone app or USB session will take or mute the link.</a:t>
            </a:r>
            <a:endParaRPr lang="en-US" sz="950" dirty="0"/>
          </a:p>
        </p:txBody>
      </p:sp>
      <p:sp>
        <p:nvSpPr>
          <p:cNvPr id="23" name="Shape 20"/>
          <p:cNvSpPr/>
          <p:nvPr/>
        </p:nvSpPr>
        <p:spPr>
          <a:xfrm>
            <a:off x="457200" y="4690872"/>
            <a:ext cx="3657600" cy="1426464"/>
          </a:xfrm>
          <a:prstGeom prst="rect">
            <a:avLst/>
          </a:prstGeom>
          <a:solidFill>
            <a:srgbClr val="F2F5FA"/>
          </a:solidFill>
          <a:ln w="15875">
            <a:solidFill>
              <a:srgbClr val="D9488C"/>
            </a:solidFill>
            <a:prstDash val="solid"/>
          </a:ln>
        </p:spPr>
      </p:sp>
      <p:sp>
        <p:nvSpPr>
          <p:cNvPr id="24" name="Text 21"/>
          <p:cNvSpPr txBox="1"/>
          <p:nvPr/>
        </p:nvSpPr>
        <p:spPr>
          <a:xfrm>
            <a:off x="58521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DISPLAY</a:t>
            </a:r>
            <a:endParaRPr lang="en-US" sz="1050" dirty="0"/>
          </a:p>
        </p:txBody>
      </p:sp>
      <p:sp>
        <p:nvSpPr>
          <p:cNvPr id="25" name="Text 22"/>
          <p:cNvSpPr txBox="1"/>
          <p:nvPr/>
        </p:nvSpPr>
        <p:spPr>
          <a:xfrm>
            <a:off x="58521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A one-bit reflective panel has no grayscale and needs ambient light at night; edge lighting is planned. The redraw budget is two full frames per second.</a:t>
            </a:r>
            <a:endParaRPr lang="en-US" sz="950" dirty="0"/>
          </a:p>
        </p:txBody>
      </p:sp>
      <p:sp>
        <p:nvSpPr>
          <p:cNvPr id="26" name="Shape 23"/>
          <p:cNvSpPr/>
          <p:nvPr/>
        </p:nvSpPr>
        <p:spPr>
          <a:xfrm>
            <a:off x="4297680" y="4690872"/>
            <a:ext cx="3657600" cy="1426464"/>
          </a:xfrm>
          <a:prstGeom prst="rect">
            <a:avLst/>
          </a:prstGeom>
          <a:solidFill>
            <a:srgbClr val="F2F5FA"/>
          </a:solidFill>
          <a:ln w="15875">
            <a:solidFill>
              <a:srgbClr val="D9488C"/>
            </a:solidFill>
            <a:prstDash val="solid"/>
          </a:ln>
        </p:spPr>
      </p:sp>
      <p:sp>
        <p:nvSpPr>
          <p:cNvPr id="27" name="Text 24"/>
          <p:cNvSpPr txBox="1"/>
          <p:nvPr/>
        </p:nvSpPr>
        <p:spPr>
          <a:xfrm>
            <a:off x="442569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POWER</a:t>
            </a:r>
            <a:endParaRPr lang="en-US" sz="1050" dirty="0"/>
          </a:p>
        </p:txBody>
      </p:sp>
      <p:sp>
        <p:nvSpPr>
          <p:cNvPr id="28" name="Text 25"/>
          <p:cNvSpPr txBox="1"/>
          <p:nvPr/>
        </p:nvSpPr>
        <p:spPr>
          <a:xfrm>
            <a:off x="442569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Cheap 12 volt USB adapters cut off on the radio's low current draw, so every adapter gets validated. Both units must share the vehicle's power timing.</a:t>
            </a:r>
            <a:endParaRPr lang="en-US" sz="950" dirty="0"/>
          </a:p>
        </p:txBody>
      </p:sp>
      <p:sp>
        <p:nvSpPr>
          <p:cNvPr id="29" name="Shape 26"/>
          <p:cNvSpPr/>
          <p:nvPr/>
        </p:nvSpPr>
        <p:spPr>
          <a:xfrm>
            <a:off x="8138160" y="4690872"/>
            <a:ext cx="3657600" cy="1426464"/>
          </a:xfrm>
          <a:prstGeom prst="rect">
            <a:avLst/>
          </a:prstGeom>
          <a:solidFill>
            <a:srgbClr val="F2F5FA"/>
          </a:solidFill>
          <a:ln w="15875">
            <a:solidFill>
              <a:srgbClr val="D9488C"/>
            </a:solidFill>
            <a:prstDash val="solid"/>
          </a:ln>
        </p:spPr>
      </p:sp>
      <p:sp>
        <p:nvSpPr>
          <p:cNvPr id="30" name="Text 27"/>
          <p:cNvSpPr txBox="1"/>
          <p:nvPr/>
        </p:nvSpPr>
        <p:spPr>
          <a:xfrm>
            <a:off x="8266176" y="4754880"/>
            <a:ext cx="3383280" cy="237744"/>
          </a:xfrm>
          <a:prstGeom prst="rect">
            <a:avLst/>
          </a:prstGeom>
          <a:noFill/>
          <a:ln/>
        </p:spPr>
        <p:txBody>
          <a:bodyPr wrap="square" lIns="0" tIns="0" rIns="0" bIns="0" rtlCol="0" anchor="ctr"/>
          <a:lstStyle/>
          <a:p>
            <a:pPr indent="0" marL="0">
              <a:buNone/>
            </a:pPr>
            <a:r>
              <a:rPr lang="en-US" sz="1050" b="1" dirty="0">
                <a:solidFill>
                  <a:srgbClr val="D9488C"/>
                </a:solidFill>
                <a:latin typeface="Courier New" pitchFamily="34" charset="0"/>
                <a:ea typeface="Courier New" pitchFamily="34" charset="-122"/>
                <a:cs typeface="Courier New" pitchFamily="34" charset="-120"/>
              </a:rPr>
              <a:t>PROVISIONING</a:t>
            </a:r>
            <a:endParaRPr lang="en-US" sz="1050" dirty="0"/>
          </a:p>
        </p:txBody>
      </p:sp>
      <p:sp>
        <p:nvSpPr>
          <p:cNvPr id="31" name="Text 28"/>
          <p:cNvSpPr txBox="1"/>
          <p:nvPr/>
        </p:nvSpPr>
        <p:spPr>
          <a:xfrm>
            <a:off x="8266176" y="5020056"/>
            <a:ext cx="3419856" cy="1060704"/>
          </a:xfrm>
          <a:prstGeom prst="rect">
            <a:avLst/>
          </a:prstGeom>
          <a:noFill/>
          <a:ln/>
        </p:spPr>
        <p:txBody>
          <a:bodyPr wrap="square" lIns="0" tIns="0" rIns="0" bIns="0" rtlCol="0" anchor="ctr"/>
          <a:lstStyle/>
          <a:p>
            <a:pPr indent="0" marL="0">
              <a:buNone/>
            </a:pPr>
            <a:r>
              <a:rPr lang="en-US" sz="950" dirty="0">
                <a:solidFill>
                  <a:srgbClr val="222A3F"/>
                </a:solidFill>
                <a:latin typeface="Arial" pitchFamily="34" charset="0"/>
                <a:ea typeface="Arial" pitchFamily="34" charset="-122"/>
                <a:cs typeface="Arial" pitchFamily="34" charset="-120"/>
              </a:rPr>
              <a:t>The channel URL carrying the encryption key must match on every radio. Node identities derive from the MAC address and survive reflashes. Every configuration write is read back and verified.</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64592" y="146304"/>
            <a:ext cx="11859768" cy="6565392"/>
          </a:xfrm>
          <a:prstGeom prst="rect">
            <a:avLst/>
          </a:prstGeom>
          <a:ln w="22225">
            <a:solidFill>
              <a:srgbClr val="16213D"/>
            </a:solidFill>
            <a:prstDash val="solid"/>
          </a:ln>
        </p:spPr>
      </p:sp>
      <p:sp>
        <p:nvSpPr>
          <p:cNvPr id="3" name="Shape 1"/>
          <p:cNvSpPr/>
          <p:nvPr/>
        </p:nvSpPr>
        <p:spPr>
          <a:xfrm>
            <a:off x="164592" y="6272784"/>
            <a:ext cx="11859768" cy="0"/>
          </a:xfrm>
          <a:prstGeom prst="line">
            <a:avLst/>
          </a:prstGeom>
          <a:noFill/>
          <a:ln w="12700">
            <a:solidFill>
              <a:srgbClr val="16213D"/>
            </a:solidFill>
            <a:prstDash val="solid"/>
          </a:ln>
        </p:spPr>
      </p:sp>
      <p:sp>
        <p:nvSpPr>
          <p:cNvPr id="4" name="Text 2"/>
          <p:cNvSpPr txBox="1"/>
          <p:nvPr/>
        </p:nvSpPr>
        <p:spPr>
          <a:xfrm>
            <a:off x="320040" y="6345936"/>
            <a:ext cx="4206240" cy="292608"/>
          </a:xfrm>
          <a:prstGeom prst="rect">
            <a:avLst/>
          </a:prstGeom>
          <a:noFill/>
          <a:ln/>
        </p:spPr>
        <p:txBody>
          <a:bodyPr wrap="square" lIns="0" tIns="0" rIns="0" bIns="0" rtlCol="0" anchor="ctr"/>
          <a:lstStyle/>
          <a:p>
            <a:pPr indent="0" marL="0">
              <a:buNone/>
            </a:pPr>
            <a:r>
              <a:rPr lang="en-US" sz="900" dirty="0">
                <a:solidFill>
                  <a:srgbClr val="5E6B85"/>
                </a:solidFill>
                <a:latin typeface="Courier New" pitchFamily="34" charset="0"/>
                <a:ea typeface="Courier New" pitchFamily="34" charset="-122"/>
                <a:cs typeface="Courier New" pitchFamily="34" charset="-120"/>
              </a:rPr>
              <a:t>GROUP 9  |  OFF-GRID VEHICLE TRACKER</a:t>
            </a:r>
            <a:endParaRPr lang="en-US" sz="900" dirty="0"/>
          </a:p>
        </p:txBody>
      </p:sp>
      <p:sp>
        <p:nvSpPr>
          <p:cNvPr id="5" name="Text 3"/>
          <p:cNvSpPr txBox="1"/>
          <p:nvPr/>
        </p:nvSpPr>
        <p:spPr>
          <a:xfrm>
            <a:off x="4572000" y="6345936"/>
            <a:ext cx="4206240" cy="292608"/>
          </a:xfrm>
          <a:prstGeom prst="rect">
            <a:avLst/>
          </a:prstGeom>
          <a:noFill/>
          <a:ln/>
        </p:spPr>
        <p:txBody>
          <a:bodyPr wrap="square" lIns="0" tIns="0" rIns="0" bIns="0" rtlCol="0" anchor="ctr"/>
          <a:lstStyle/>
          <a:p>
            <a:pPr algn="ctr" indent="0" marL="0">
              <a:buNone/>
            </a:pPr>
            <a:r>
              <a:rPr lang="en-US" sz="900" dirty="0">
                <a:solidFill>
                  <a:srgbClr val="5E6B85"/>
                </a:solidFill>
                <a:latin typeface="Courier New" pitchFamily="34" charset="0"/>
                <a:ea typeface="Courier New" pitchFamily="34" charset="-122"/>
                <a:cs typeface="Courier New" pitchFamily="34" charset="-120"/>
              </a:rPr>
              <a:t>STATUS AND NEXT STEPS</a:t>
            </a:r>
            <a:endParaRPr lang="en-US" sz="900" dirty="0"/>
          </a:p>
        </p:txBody>
      </p:sp>
      <p:sp>
        <p:nvSpPr>
          <p:cNvPr id="6" name="Text 4"/>
          <p:cNvSpPr txBox="1"/>
          <p:nvPr/>
        </p:nvSpPr>
        <p:spPr>
          <a:xfrm>
            <a:off x="8869680" y="6345936"/>
            <a:ext cx="3017520" cy="292608"/>
          </a:xfrm>
          <a:prstGeom prst="rect">
            <a:avLst/>
          </a:prstGeom>
          <a:noFill/>
          <a:ln/>
        </p:spPr>
        <p:txBody>
          <a:bodyPr wrap="square" lIns="0" tIns="0" rIns="0" bIns="0" rtlCol="0" anchor="ctr"/>
          <a:lstStyle/>
          <a:p>
            <a:pPr algn="r" indent="0" marL="0">
              <a:buNone/>
            </a:pPr>
            <a:r>
              <a:rPr lang="en-US" sz="900" dirty="0">
                <a:solidFill>
                  <a:srgbClr val="5E6B85"/>
                </a:solidFill>
                <a:latin typeface="Courier New" pitchFamily="34" charset="0"/>
                <a:ea typeface="Courier New" pitchFamily="34" charset="-122"/>
                <a:cs typeface="Courier New" pitchFamily="34" charset="-120"/>
              </a:rPr>
              <a:t>SHEET 10/10  REV C  2026-09-07</a:t>
            </a:r>
            <a:endParaRPr lang="en-US" sz="900" dirty="0"/>
          </a:p>
        </p:txBody>
      </p:sp>
      <p:sp>
        <p:nvSpPr>
          <p:cNvPr id="7" name="Text 5"/>
          <p:cNvSpPr txBox="1"/>
          <p:nvPr/>
        </p:nvSpPr>
        <p:spPr>
          <a:xfrm>
            <a:off x="457200" y="329184"/>
            <a:ext cx="9052560" cy="566928"/>
          </a:xfrm>
          <a:prstGeom prst="rect">
            <a:avLst/>
          </a:prstGeom>
          <a:noFill/>
          <a:ln/>
        </p:spPr>
        <p:txBody>
          <a:bodyPr wrap="square" lIns="0" tIns="0" rIns="0" bIns="0" rtlCol="0" anchor="ctr"/>
          <a:lstStyle/>
          <a:p>
            <a:pPr indent="0" marL="0">
              <a:buNone/>
            </a:pPr>
            <a:r>
              <a:rPr lang="en-US" sz="2300" b="1" spc="200" kern="0" dirty="0">
                <a:solidFill>
                  <a:srgbClr val="16213D"/>
                </a:solidFill>
                <a:latin typeface="Arial" pitchFamily="34" charset="0"/>
                <a:ea typeface="Arial" pitchFamily="34" charset="-122"/>
                <a:cs typeface="Arial" pitchFamily="34" charset="-120"/>
              </a:rPr>
              <a:t>WEEK 3 STATUS AND WHAT COMES NEXT</a:t>
            </a:r>
            <a:endParaRPr lang="en-US" sz="2300" dirty="0"/>
          </a:p>
        </p:txBody>
      </p:sp>
      <p:sp>
        <p:nvSpPr>
          <p:cNvPr id="8" name="Shape 6"/>
          <p:cNvSpPr/>
          <p:nvPr/>
        </p:nvSpPr>
        <p:spPr>
          <a:xfrm>
            <a:off x="457200" y="1097280"/>
            <a:ext cx="2688336" cy="1371600"/>
          </a:xfrm>
          <a:prstGeom prst="rect">
            <a:avLst/>
          </a:prstGeom>
          <a:solidFill>
            <a:srgbClr val="F2F5FA"/>
          </a:solidFill>
          <a:ln w="9525">
            <a:solidFill>
              <a:srgbClr val="9AA7BE"/>
            </a:solidFill>
            <a:prstDash val="solid"/>
          </a:ln>
        </p:spPr>
      </p:sp>
      <p:sp>
        <p:nvSpPr>
          <p:cNvPr id="9" name="Text 7"/>
          <p:cNvSpPr txBox="1"/>
          <p:nvPr/>
        </p:nvSpPr>
        <p:spPr>
          <a:xfrm>
            <a:off x="640080"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29%</a:t>
            </a:r>
            <a:endParaRPr lang="en-US" sz="2700" dirty="0"/>
          </a:p>
        </p:txBody>
      </p:sp>
      <p:sp>
        <p:nvSpPr>
          <p:cNvPr id="10" name="Text 8"/>
          <p:cNvSpPr txBox="1"/>
          <p:nvPr/>
        </p:nvSpPr>
        <p:spPr>
          <a:xfrm>
            <a:off x="640080"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complete against a 19% week-three target</a:t>
            </a:r>
            <a:endParaRPr lang="en-US" sz="1050" dirty="0"/>
          </a:p>
        </p:txBody>
      </p:sp>
      <p:sp>
        <p:nvSpPr>
          <p:cNvPr id="11" name="Shape 9"/>
          <p:cNvSpPr/>
          <p:nvPr/>
        </p:nvSpPr>
        <p:spPr>
          <a:xfrm>
            <a:off x="3328416" y="1097280"/>
            <a:ext cx="2688336" cy="1371600"/>
          </a:xfrm>
          <a:prstGeom prst="rect">
            <a:avLst/>
          </a:prstGeom>
          <a:solidFill>
            <a:srgbClr val="F2F5FA"/>
          </a:solidFill>
          <a:ln w="9525">
            <a:solidFill>
              <a:srgbClr val="9AA7BE"/>
            </a:solidFill>
            <a:prstDash val="solid"/>
          </a:ln>
        </p:spPr>
      </p:sp>
      <p:sp>
        <p:nvSpPr>
          <p:cNvPr id="12" name="Text 10"/>
          <p:cNvSpPr txBox="1"/>
          <p:nvPr/>
        </p:nvSpPr>
        <p:spPr>
          <a:xfrm>
            <a:off x="3511296"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60 h</a:t>
            </a:r>
            <a:endParaRPr lang="en-US" sz="2700" dirty="0"/>
          </a:p>
        </p:txBody>
      </p:sp>
      <p:sp>
        <p:nvSpPr>
          <p:cNvPr id="13" name="Text 11"/>
          <p:cNvSpPr txBox="1"/>
          <p:nvPr/>
        </p:nvSpPr>
        <p:spPr>
          <a:xfrm>
            <a:off x="3511296"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logged, eight hours per member this week</a:t>
            </a:r>
            <a:endParaRPr lang="en-US" sz="1050" dirty="0"/>
          </a:p>
        </p:txBody>
      </p:sp>
      <p:sp>
        <p:nvSpPr>
          <p:cNvPr id="14" name="Shape 12"/>
          <p:cNvSpPr/>
          <p:nvPr/>
        </p:nvSpPr>
        <p:spPr>
          <a:xfrm>
            <a:off x="6199632" y="1097280"/>
            <a:ext cx="2688336" cy="1371600"/>
          </a:xfrm>
          <a:prstGeom prst="rect">
            <a:avLst/>
          </a:prstGeom>
          <a:solidFill>
            <a:srgbClr val="F2F5FA"/>
          </a:solidFill>
          <a:ln w="9525">
            <a:solidFill>
              <a:srgbClr val="9AA7BE"/>
            </a:solidFill>
            <a:prstDash val="solid"/>
          </a:ln>
        </p:spPr>
      </p:sp>
      <p:sp>
        <p:nvSpPr>
          <p:cNvPr id="15" name="Text 13"/>
          <p:cNvSpPr txBox="1"/>
          <p:nvPr/>
        </p:nvSpPr>
        <p:spPr>
          <a:xfrm>
            <a:off x="6382512"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12/12</a:t>
            </a:r>
            <a:endParaRPr lang="en-US" sz="2700" dirty="0"/>
          </a:p>
        </p:txBody>
      </p:sp>
      <p:sp>
        <p:nvSpPr>
          <p:cNvPr id="16" name="Text 14"/>
          <p:cNvSpPr txBox="1"/>
          <p:nvPr/>
        </p:nvSpPr>
        <p:spPr>
          <a:xfrm>
            <a:off x="6382512"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native unit tests passing</a:t>
            </a:r>
            <a:endParaRPr lang="en-US" sz="1050" dirty="0"/>
          </a:p>
        </p:txBody>
      </p:sp>
      <p:sp>
        <p:nvSpPr>
          <p:cNvPr id="17" name="Shape 15"/>
          <p:cNvSpPr/>
          <p:nvPr/>
        </p:nvSpPr>
        <p:spPr>
          <a:xfrm>
            <a:off x="9070848" y="1097280"/>
            <a:ext cx="2688336" cy="1371600"/>
          </a:xfrm>
          <a:prstGeom prst="rect">
            <a:avLst/>
          </a:prstGeom>
          <a:solidFill>
            <a:srgbClr val="F2F5FA"/>
          </a:solidFill>
          <a:ln w="9525">
            <a:solidFill>
              <a:srgbClr val="9AA7BE"/>
            </a:solidFill>
            <a:prstDash val="solid"/>
          </a:ln>
        </p:spPr>
      </p:sp>
      <p:sp>
        <p:nvSpPr>
          <p:cNvPr id="18" name="Text 16"/>
          <p:cNvSpPr txBox="1"/>
          <p:nvPr/>
        </p:nvSpPr>
        <p:spPr>
          <a:xfrm>
            <a:off x="9253728" y="1207008"/>
            <a:ext cx="2377440" cy="548640"/>
          </a:xfrm>
          <a:prstGeom prst="rect">
            <a:avLst/>
          </a:prstGeom>
          <a:noFill/>
          <a:ln/>
        </p:spPr>
        <p:txBody>
          <a:bodyPr wrap="square" lIns="0" tIns="0" rIns="0" bIns="0" rtlCol="0" anchor="ctr"/>
          <a:lstStyle/>
          <a:p>
            <a:pPr indent="0" marL="0">
              <a:buNone/>
            </a:pPr>
            <a:r>
              <a:rPr lang="en-US" sz="2700" b="1" dirty="0">
                <a:solidFill>
                  <a:srgbClr val="16213D"/>
                </a:solidFill>
                <a:latin typeface="Arial" pitchFamily="34" charset="0"/>
                <a:ea typeface="Arial" pitchFamily="34" charset="-122"/>
                <a:cs typeface="Arial" pitchFamily="34" charset="-120"/>
              </a:rPr>
              <a:t>10 s / 1 s</a:t>
            </a:r>
            <a:endParaRPr lang="en-US" sz="2700" dirty="0"/>
          </a:p>
        </p:txBody>
      </p:sp>
      <p:sp>
        <p:nvSpPr>
          <p:cNvPr id="19" name="Text 17"/>
          <p:cNvSpPr txBox="1"/>
          <p:nvPr/>
        </p:nvSpPr>
        <p:spPr>
          <a:xfrm>
            <a:off x="9253728" y="1783080"/>
            <a:ext cx="2377440" cy="594360"/>
          </a:xfrm>
          <a:prstGeom prst="rect">
            <a:avLst/>
          </a:prstGeom>
          <a:noFill/>
          <a:ln/>
        </p:spPr>
        <p:txBody>
          <a:bodyPr wrap="square" lIns="0" tIns="0" rIns="0" bIns="0" rtlCol="0" anchor="ctr"/>
          <a:lstStyle/>
          <a:p>
            <a:pPr indent="0" marL="0">
              <a:buNone/>
            </a:pPr>
            <a:r>
              <a:rPr lang="en-US" sz="1050" dirty="0">
                <a:solidFill>
                  <a:srgbClr val="5E6B85"/>
                </a:solidFill>
                <a:latin typeface="Arial" pitchFamily="34" charset="0"/>
                <a:ea typeface="Arial" pitchFamily="34" charset="-122"/>
                <a:cs typeface="Arial" pitchFamily="34" charset="-120"/>
              </a:rPr>
              <a:t>measurement cadence / on-screen motion</a:t>
            </a:r>
            <a:endParaRPr lang="en-US" sz="1050" dirty="0"/>
          </a:p>
        </p:txBody>
      </p:sp>
      <p:sp>
        <p:nvSpPr>
          <p:cNvPr id="20" name="Text 18"/>
          <p:cNvSpPr txBox="1"/>
          <p:nvPr/>
        </p:nvSpPr>
        <p:spPr>
          <a:xfrm>
            <a:off x="457200" y="2788920"/>
            <a:ext cx="54864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PROVEN END TO END THIS WEEK</a:t>
            </a:r>
            <a:endParaRPr lang="en-US" sz="1300" dirty="0"/>
          </a:p>
        </p:txBody>
      </p:sp>
      <p:sp>
        <p:nvSpPr>
          <p:cNvPr id="21" name="Text 19"/>
          <p:cNvSpPr txBox="1"/>
          <p:nvPr/>
        </p:nvSpPr>
        <p:spPr>
          <a:xfrm>
            <a:off x="457200" y="3154680"/>
            <a:ext cx="576072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A GPS fix travels radio to radio to display to arrow at the 10 second cadence, with one-second motion from dead reckoning in between.</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clock derives its timezone from position, data ages stay honest, and ghost re-broadcasts are detected and labeled.</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The link reconnected itself after every drop, across four drive tests.</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A complete radio recovery drill was executed and documented: flash, provision, verify, in minutes.</a:t>
            </a:r>
            <a:endParaRPr lang="en-US" sz="1200" dirty="0"/>
          </a:p>
        </p:txBody>
      </p:sp>
      <p:sp>
        <p:nvSpPr>
          <p:cNvPr id="22" name="Text 20"/>
          <p:cNvSpPr txBox="1"/>
          <p:nvPr/>
        </p:nvSpPr>
        <p:spPr>
          <a:xfrm>
            <a:off x="6537960" y="2788920"/>
            <a:ext cx="4572000" cy="320040"/>
          </a:xfrm>
          <a:prstGeom prst="rect">
            <a:avLst/>
          </a:prstGeom>
          <a:noFill/>
          <a:ln/>
        </p:spPr>
        <p:txBody>
          <a:bodyPr wrap="square" lIns="0" tIns="0" rIns="0" bIns="0" rtlCol="0" anchor="ctr"/>
          <a:lstStyle/>
          <a:p>
            <a:pPr indent="0" marL="0">
              <a:buNone/>
            </a:pPr>
            <a:r>
              <a:rPr lang="en-US" sz="1300" b="1" spc="100" kern="0" dirty="0">
                <a:solidFill>
                  <a:srgbClr val="16213D"/>
                </a:solidFill>
                <a:latin typeface="Arial" pitchFamily="34" charset="0"/>
                <a:ea typeface="Arial" pitchFamily="34" charset="-122"/>
                <a:cs typeface="Arial" pitchFamily="34" charset="-120"/>
              </a:rPr>
              <a:t>NEXT, WEEKS 4 AND 5</a:t>
            </a:r>
            <a:endParaRPr lang="en-US" sz="1300" dirty="0"/>
          </a:p>
        </p:txBody>
      </p:sp>
      <p:sp>
        <p:nvSpPr>
          <p:cNvPr id="23" name="Text 21"/>
          <p:cNvSpPr txBox="1"/>
          <p:nvPr/>
        </p:nvSpPr>
        <p:spPr>
          <a:xfrm>
            <a:off x="6537960" y="3154680"/>
            <a:ext cx="5120640" cy="21031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Victor provisions radio number two from the documented recipe, then the first two-radio bench decode.</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Cannon turns the constraints ledger into the drive-test protocol and the logging harness.</a:t>
            </a:r>
            <a:endParaRPr lang="en-US" sz="1200" dirty="0"/>
          </a:p>
          <a:p>
            <a:pPr marL="342900" indent="-342900">
              <a:spcAft>
                <a:spcPts val="600"/>
              </a:spcAft>
              <a:buSzPct val="100000"/>
              <a:buChar char="▪"/>
            </a:pPr>
            <a:r>
              <a:rPr lang="en-US" sz="1200" dirty="0">
                <a:solidFill>
                  <a:srgbClr val="222A3F"/>
                </a:solidFill>
                <a:latin typeface="Arial" pitchFamily="34" charset="0"/>
                <a:ea typeface="Arial" pitchFamily="34" charset="-122"/>
                <a:cs typeface="Arial" pitchFamily="34" charset="-120"/>
              </a:rPr>
              <a:t>Deo and Josiah add partner selection stored in NVS and improve night readability.</a:t>
            </a:r>
            <a:endParaRPr lang="en-US" sz="1200" dirty="0"/>
          </a:p>
          <a:p>
            <a:pPr marL="342900" indent="-342900">
              <a:buSzPct val="100000"/>
              <a:buChar char="▪"/>
            </a:pPr>
            <a:r>
              <a:rPr lang="en-US" sz="1200" dirty="0">
                <a:solidFill>
                  <a:srgbClr val="222A3F"/>
                </a:solidFill>
                <a:latin typeface="Arial" pitchFamily="34" charset="0"/>
                <a:ea typeface="Arial" pitchFamily="34" charset="-122"/>
                <a:cs typeface="Arial" pitchFamily="34" charset="-120"/>
              </a:rPr>
              <a:t>Then the milestone: the first two-vehicle drive test, where the arrow points at a real partner.</a:t>
            </a:r>
            <a:endParaRPr lang="en-US" sz="1200" dirty="0"/>
          </a:p>
        </p:txBody>
      </p:sp>
      <p:sp>
        <p:nvSpPr>
          <p:cNvPr id="24" name="Shape 22"/>
          <p:cNvSpPr/>
          <p:nvPr/>
        </p:nvSpPr>
        <p:spPr>
          <a:xfrm>
            <a:off x="457200" y="5440680"/>
            <a:ext cx="11292840" cy="685800"/>
          </a:xfrm>
          <a:prstGeom prst="rect">
            <a:avLst/>
          </a:prstGeom>
          <a:solidFill>
            <a:srgbClr val="16213D"/>
          </a:solidFill>
          <a:ln/>
        </p:spPr>
      </p:sp>
      <p:sp>
        <p:nvSpPr>
          <p:cNvPr id="25" name="Text 23"/>
          <p:cNvSpPr txBox="1"/>
          <p:nvPr/>
        </p:nvSpPr>
        <p:spPr>
          <a:xfrm>
            <a:off x="731520" y="5532120"/>
            <a:ext cx="10744200" cy="502920"/>
          </a:xfrm>
          <a:prstGeom prst="rect">
            <a:avLst/>
          </a:prstGeom>
          <a:noFill/>
          <a:ln/>
        </p:spPr>
        <p:txBody>
          <a:bodyPr wrap="square" lIns="0" tIns="0" rIns="0" bIns="0" rtlCol="0" anchor="ctr"/>
          <a:lstStyle/>
          <a:p>
            <a:pPr indent="0" marL="0">
              <a:buNone/>
            </a:pPr>
            <a:r>
              <a:rPr lang="en-US" sz="1250" dirty="0">
                <a:solidFill>
                  <a:srgbClr val="FFFFFF"/>
                </a:solidFill>
                <a:latin typeface="Arial" pitchFamily="34" charset="0"/>
                <a:ea typeface="Arial" pitchFamily="34" charset="-122"/>
                <a:cs typeface="Arial" pitchFamily="34" charset="-120"/>
              </a:rPr>
              <a:t>One radio still talks to itself. But every layer between a GPS fix and the driver's arrow is now real, tested code. Radio number two turns this into a tracker.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2026-09-07T11:10:27Z</dcterms:created>
  <dcterms:modified xsi:type="dcterms:W3CDTF">2026-09-07T11:10:27Z</dcterms:modified>
</cp:coreProperties>
</file>