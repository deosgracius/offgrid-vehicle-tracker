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by Deo as the descent from the system map into the machine my protocol rides on. This sheet is the silicon-level story, all from the Semtech datasheet in our repo of references. Left: the block diagram - antenna, matching, LNA, mixer, ADC, then everything is digital: the LoRa modem correlates chirps (that is the processing gain), the protocol engine handles preamble, header, FEC and CRC, and a 256-byte buffer meets the ESP32 over SPI. Note the FSK modem sitting beside the LoRa modem: present, powered, and unused - FSK needs positive SNR, LoRa decodes at minus 17.5 dB. Right: the operating-mode state machine, and below it one of our broadcasts traced across it: park in RX, CAD to check the channel (the physical CSMA - below the noise floor RSSI is meaningless so the chip listens for LoRa symbols), FS while the PLL locks, half a second of TX, TxDone interrupt, back to RX. Bottom code: the region line that sets 902 to 928 MHz and the hash that picks the channel - both radios compute the same hash from the channel name, so the shared URL is simultaneously the encryption domain and the frequency agreement. Close by handing the physics forward: Victor will quantify what this silicon buys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01/14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INSIDE THE SX1262</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INSIDE THE TRANSCEIVER (DATASHEET REV 2.2)</a:t>
            </a:r>
            <a:endParaRPr lang="en-US" sz="2300" dirty="0"/>
          </a:p>
        </p:txBody>
      </p:sp>
      <p:pic>
        <p:nvPicPr>
          <p:cNvPr id="10" name="Image 0" descr="C:/Users/deogr/AppData/Local/Temp/claude/C--Users-deogr-Documents-Fall-Project-Off-Grid-Vehicle-dection-project/e8b2e8fa-1513-4aa8-a8f6-ce4fcd20e664/scratchpad/deck3/fig_block.png">    </p:cNvPr>
          <p:cNvPicPr>
            <a:picLocks noChangeAspect="1"/>
          </p:cNvPicPr>
          <p:nvPr/>
        </p:nvPicPr>
        <p:blipFill>
          <a:blip r:embed="rId1"/>
          <a:stretch>
            <a:fillRect/>
          </a:stretch>
        </p:blipFill>
        <p:spPr>
          <a:xfrm>
            <a:off x="457200" y="1051560"/>
            <a:ext cx="6720840" cy="3200400"/>
          </a:xfrm>
          <a:prstGeom prst="rect">
            <a:avLst/>
          </a:prstGeom>
        </p:spPr>
      </p:pic>
      <p:sp>
        <p:nvSpPr>
          <p:cNvPr id="11" name="Shape 8"/>
          <p:cNvSpPr/>
          <p:nvPr/>
        </p:nvSpPr>
        <p:spPr>
          <a:xfrm>
            <a:off x="457200" y="1051560"/>
            <a:ext cx="6720840" cy="3200400"/>
          </a:xfrm>
          <a:prstGeom prst="rect">
            <a:avLst/>
          </a:prstGeom>
          <a:ln w="12700">
            <a:solidFill>
              <a:srgbClr val="9AA7BE"/>
            </a:solidFill>
            <a:prstDash val="solid"/>
          </a:ln>
        </p:spPr>
      </p:sp>
      <p:sp>
        <p:nvSpPr>
          <p:cNvPr id="12" name="Text 9"/>
          <p:cNvSpPr txBox="1"/>
          <p:nvPr/>
        </p:nvSpPr>
        <p:spPr>
          <a:xfrm>
            <a:off x="457200" y="4297680"/>
            <a:ext cx="6720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SX1262 BLOCK DIAGRAM, DS FIG 4-1 p.23. TWO MODEMS SHARE ONE FRONT END; WE USE ONLY THE LoRa ONE.</a:t>
            </a:r>
            <a:endParaRPr lang="en-US" sz="800" dirty="0"/>
          </a:p>
        </p:txBody>
      </p:sp>
      <p:pic>
        <p:nvPicPr>
          <p:cNvPr id="13" name="Image 1" descr="C:/Users/deogr/AppData/Local/Temp/claude/C--Users-deogr-Documents-Fall-Project-Off-Grid-Vehicle-dection-project/e8b2e8fa-1513-4aa8-a8f6-ce4fcd20e664/scratchpad/deck3/fig_modes.png">    </p:cNvPr>
          <p:cNvPicPr>
            <a:picLocks noChangeAspect="1"/>
          </p:cNvPicPr>
          <p:nvPr/>
        </p:nvPicPr>
        <p:blipFill>
          <a:blip r:embed="rId2"/>
          <a:stretch>
            <a:fillRect/>
          </a:stretch>
        </p:blipFill>
        <p:spPr>
          <a:xfrm>
            <a:off x="7589520" y="1051560"/>
            <a:ext cx="3200400" cy="3200400"/>
          </a:xfrm>
          <a:prstGeom prst="rect">
            <a:avLst/>
          </a:prstGeom>
        </p:spPr>
      </p:pic>
      <p:sp>
        <p:nvSpPr>
          <p:cNvPr id="14" name="Shape 10"/>
          <p:cNvSpPr/>
          <p:nvPr/>
        </p:nvSpPr>
        <p:spPr>
          <a:xfrm>
            <a:off x="7589520" y="1051560"/>
            <a:ext cx="3200400" cy="3200400"/>
          </a:xfrm>
          <a:prstGeom prst="rect">
            <a:avLst/>
          </a:prstGeom>
          <a:ln w="12700">
            <a:solidFill>
              <a:srgbClr val="9AA7BE"/>
            </a:solidFill>
            <a:prstDash val="solid"/>
          </a:ln>
        </p:spPr>
      </p:sp>
      <p:sp>
        <p:nvSpPr>
          <p:cNvPr id="15" name="Text 11"/>
          <p:cNvSpPr txBox="1"/>
          <p:nvPr/>
        </p:nvSpPr>
        <p:spPr>
          <a:xfrm>
            <a:off x="7589520" y="4297680"/>
            <a:ext cx="320040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OPERATING MODES, DS FIG 9-1 p.64</a:t>
            </a:r>
            <a:endParaRPr lang="en-US" sz="800" dirty="0"/>
          </a:p>
        </p:txBody>
      </p:sp>
      <p:sp>
        <p:nvSpPr>
          <p:cNvPr id="16" name="Shape 12"/>
          <p:cNvSpPr/>
          <p:nvPr/>
        </p:nvSpPr>
        <p:spPr>
          <a:xfrm>
            <a:off x="457200" y="4663440"/>
            <a:ext cx="1691640" cy="621792"/>
          </a:xfrm>
          <a:prstGeom prst="rect">
            <a:avLst/>
          </a:prstGeom>
          <a:solidFill>
            <a:srgbClr val="F2F5FA"/>
          </a:solidFill>
          <a:ln w="15875">
            <a:solidFill>
              <a:srgbClr val="E58E1A"/>
            </a:solidFill>
            <a:prstDash val="solid"/>
          </a:ln>
        </p:spPr>
      </p:sp>
      <p:sp>
        <p:nvSpPr>
          <p:cNvPr id="17" name="Text 13"/>
          <p:cNvSpPr txBox="1"/>
          <p:nvPr/>
        </p:nvSpPr>
        <p:spPr>
          <a:xfrm>
            <a:off x="5120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always listening</a:t>
            </a:r>
            <a:endParaRPr lang="en-US" sz="1050" dirty="0"/>
          </a:p>
        </p:txBody>
      </p:sp>
      <p:sp>
        <p:nvSpPr>
          <p:cNvPr id="18" name="Shape 14"/>
          <p:cNvSpPr/>
          <p:nvPr/>
        </p:nvSpPr>
        <p:spPr>
          <a:xfrm>
            <a:off x="2148840" y="4974336"/>
            <a:ext cx="228600" cy="0"/>
          </a:xfrm>
          <a:prstGeom prst="line">
            <a:avLst/>
          </a:prstGeom>
          <a:noFill/>
          <a:ln w="28575">
            <a:solidFill>
              <a:srgbClr val="E58E1A"/>
            </a:solidFill>
            <a:prstDash val="solid"/>
            <a:tailEnd type="triangle"/>
          </a:ln>
        </p:spPr>
      </p:sp>
      <p:sp>
        <p:nvSpPr>
          <p:cNvPr id="19" name="Shape 15"/>
          <p:cNvSpPr/>
          <p:nvPr/>
        </p:nvSpPr>
        <p:spPr>
          <a:xfrm>
            <a:off x="2377440" y="4663440"/>
            <a:ext cx="1691640" cy="621792"/>
          </a:xfrm>
          <a:prstGeom prst="rect">
            <a:avLst/>
          </a:prstGeom>
          <a:solidFill>
            <a:srgbClr val="F2F5FA"/>
          </a:solidFill>
          <a:ln w="15875">
            <a:solidFill>
              <a:srgbClr val="E58E1A"/>
            </a:solidFill>
            <a:prstDash val="solid"/>
          </a:ln>
        </p:spPr>
      </p:sp>
      <p:sp>
        <p:nvSpPr>
          <p:cNvPr id="20" name="Text 16"/>
          <p:cNvSpPr txBox="1"/>
          <p:nvPr/>
        </p:nvSpPr>
        <p:spPr>
          <a:xfrm>
            <a:off x="243230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CAD</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channel clear? 6.1.5 p.41</a:t>
            </a:r>
            <a:endParaRPr lang="en-US" sz="1050" dirty="0"/>
          </a:p>
        </p:txBody>
      </p:sp>
      <p:sp>
        <p:nvSpPr>
          <p:cNvPr id="21" name="Shape 17"/>
          <p:cNvSpPr/>
          <p:nvPr/>
        </p:nvSpPr>
        <p:spPr>
          <a:xfrm>
            <a:off x="4069080" y="4974336"/>
            <a:ext cx="228600" cy="0"/>
          </a:xfrm>
          <a:prstGeom prst="line">
            <a:avLst/>
          </a:prstGeom>
          <a:noFill/>
          <a:ln w="28575">
            <a:solidFill>
              <a:srgbClr val="E58E1A"/>
            </a:solidFill>
            <a:prstDash val="solid"/>
            <a:tailEnd type="triangle"/>
          </a:ln>
        </p:spPr>
      </p:sp>
      <p:sp>
        <p:nvSpPr>
          <p:cNvPr id="22" name="Shape 18"/>
          <p:cNvSpPr/>
          <p:nvPr/>
        </p:nvSpPr>
        <p:spPr>
          <a:xfrm>
            <a:off x="4297680" y="4663440"/>
            <a:ext cx="1691640" cy="621792"/>
          </a:xfrm>
          <a:prstGeom prst="rect">
            <a:avLst/>
          </a:prstGeom>
          <a:solidFill>
            <a:srgbClr val="F2F5FA"/>
          </a:solidFill>
          <a:ln w="15875">
            <a:solidFill>
              <a:srgbClr val="E58E1A"/>
            </a:solidFill>
            <a:prstDash val="solid"/>
          </a:ln>
        </p:spPr>
      </p:sp>
      <p:sp>
        <p:nvSpPr>
          <p:cNvPr id="23" name="Text 19"/>
          <p:cNvSpPr txBox="1"/>
          <p:nvPr/>
        </p:nvSpPr>
        <p:spPr>
          <a:xfrm>
            <a:off x="435254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FS</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PLL locks channel</a:t>
            </a:r>
            <a:endParaRPr lang="en-US" sz="1050" dirty="0"/>
          </a:p>
        </p:txBody>
      </p:sp>
      <p:sp>
        <p:nvSpPr>
          <p:cNvPr id="24" name="Shape 20"/>
          <p:cNvSpPr/>
          <p:nvPr/>
        </p:nvSpPr>
        <p:spPr>
          <a:xfrm>
            <a:off x="5989320" y="4974336"/>
            <a:ext cx="228600" cy="0"/>
          </a:xfrm>
          <a:prstGeom prst="line">
            <a:avLst/>
          </a:prstGeom>
          <a:noFill/>
          <a:ln w="28575">
            <a:solidFill>
              <a:srgbClr val="E58E1A"/>
            </a:solidFill>
            <a:prstDash val="solid"/>
            <a:tailEnd type="triangle"/>
          </a:ln>
        </p:spPr>
      </p:sp>
      <p:sp>
        <p:nvSpPr>
          <p:cNvPr id="25" name="Shape 21"/>
          <p:cNvSpPr/>
          <p:nvPr/>
        </p:nvSpPr>
        <p:spPr>
          <a:xfrm>
            <a:off x="6217920" y="4663440"/>
            <a:ext cx="1691640" cy="621792"/>
          </a:xfrm>
          <a:prstGeom prst="rect">
            <a:avLst/>
          </a:prstGeom>
          <a:solidFill>
            <a:srgbClr val="F2F5FA"/>
          </a:solidFill>
          <a:ln w="15875">
            <a:solidFill>
              <a:srgbClr val="E58E1A"/>
            </a:solidFill>
            <a:prstDash val="solid"/>
          </a:ln>
        </p:spPr>
      </p:sp>
      <p:sp>
        <p:nvSpPr>
          <p:cNvPr id="26" name="Text 22"/>
          <p:cNvSpPr txBox="1"/>
          <p:nvPr/>
        </p:nvSpPr>
        <p:spPr>
          <a:xfrm>
            <a:off x="627278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chirps, ~0.5 s</a:t>
            </a:r>
            <a:endParaRPr lang="en-US" sz="1050" dirty="0"/>
          </a:p>
        </p:txBody>
      </p:sp>
      <p:sp>
        <p:nvSpPr>
          <p:cNvPr id="27" name="Shape 23"/>
          <p:cNvSpPr/>
          <p:nvPr/>
        </p:nvSpPr>
        <p:spPr>
          <a:xfrm>
            <a:off x="7909560" y="4974336"/>
            <a:ext cx="228600" cy="0"/>
          </a:xfrm>
          <a:prstGeom prst="line">
            <a:avLst/>
          </a:prstGeom>
          <a:noFill/>
          <a:ln w="28575">
            <a:solidFill>
              <a:srgbClr val="E58E1A"/>
            </a:solidFill>
            <a:prstDash val="solid"/>
            <a:tailEnd type="triangle"/>
          </a:ln>
        </p:spPr>
      </p:sp>
      <p:sp>
        <p:nvSpPr>
          <p:cNvPr id="28" name="Shape 24"/>
          <p:cNvSpPr/>
          <p:nvPr/>
        </p:nvSpPr>
        <p:spPr>
          <a:xfrm>
            <a:off x="8138160" y="4663440"/>
            <a:ext cx="1691640" cy="621792"/>
          </a:xfrm>
          <a:prstGeom prst="rect">
            <a:avLst/>
          </a:prstGeom>
          <a:solidFill>
            <a:srgbClr val="F2F5FA"/>
          </a:solidFill>
          <a:ln w="15875">
            <a:solidFill>
              <a:srgbClr val="E58E1A"/>
            </a:solidFill>
            <a:prstDash val="solid"/>
          </a:ln>
        </p:spPr>
      </p:sp>
      <p:sp>
        <p:nvSpPr>
          <p:cNvPr id="29" name="Text 25"/>
          <p:cNvSpPr txBox="1"/>
          <p:nvPr/>
        </p:nvSpPr>
        <p:spPr>
          <a:xfrm>
            <a:off x="819302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TxDone</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IRQ on DIO1</a:t>
            </a:r>
            <a:endParaRPr lang="en-US" sz="1050" dirty="0"/>
          </a:p>
        </p:txBody>
      </p:sp>
      <p:sp>
        <p:nvSpPr>
          <p:cNvPr id="30" name="Shape 26"/>
          <p:cNvSpPr/>
          <p:nvPr/>
        </p:nvSpPr>
        <p:spPr>
          <a:xfrm>
            <a:off x="9829800" y="4974336"/>
            <a:ext cx="228600" cy="0"/>
          </a:xfrm>
          <a:prstGeom prst="line">
            <a:avLst/>
          </a:prstGeom>
          <a:noFill/>
          <a:ln w="28575">
            <a:solidFill>
              <a:srgbClr val="E58E1A"/>
            </a:solidFill>
            <a:prstDash val="solid"/>
            <a:tailEnd type="triangle"/>
          </a:ln>
        </p:spPr>
      </p:sp>
      <p:sp>
        <p:nvSpPr>
          <p:cNvPr id="31" name="Shape 27"/>
          <p:cNvSpPr/>
          <p:nvPr/>
        </p:nvSpPr>
        <p:spPr>
          <a:xfrm>
            <a:off x="10058400" y="4663440"/>
            <a:ext cx="1691640" cy="621792"/>
          </a:xfrm>
          <a:prstGeom prst="rect">
            <a:avLst/>
          </a:prstGeom>
          <a:solidFill>
            <a:srgbClr val="F2F5FA"/>
          </a:solidFill>
          <a:ln w="15875">
            <a:solidFill>
              <a:srgbClr val="E58E1A"/>
            </a:solidFill>
            <a:prstDash val="solid"/>
          </a:ln>
        </p:spPr>
      </p:sp>
      <p:sp>
        <p:nvSpPr>
          <p:cNvPr id="32" name="Text 28"/>
          <p:cNvSpPr txBox="1"/>
          <p:nvPr/>
        </p:nvSpPr>
        <p:spPr>
          <a:xfrm>
            <a:off x="101132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back to listening</a:t>
            </a:r>
            <a:endParaRPr lang="en-US" sz="1050" dirty="0"/>
          </a:p>
        </p:txBody>
      </p:sp>
      <p:sp>
        <p:nvSpPr>
          <p:cNvPr id="33" name="Text 29"/>
          <p:cNvSpPr txBox="1"/>
          <p:nvPr/>
        </p:nvSpPr>
        <p:spPr>
          <a:xfrm>
            <a:off x="457200" y="5349240"/>
            <a:ext cx="11292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ONE POSITION BROADCAST TRACED ON THE STATE MACHINE. CAD IS THE PHYSICAL LISTEN-BEFORE-TALK: BELOW THE NOISE FLOOR RSSI IS USELESS, SO THE CHIP CORRELATES FOR LoRa SYMBOLS INSTEAD.</a:t>
            </a:r>
            <a:endParaRPr lang="en-US" sz="800" dirty="0"/>
          </a:p>
        </p:txBody>
      </p:sp>
      <p:sp>
        <p:nvSpPr>
          <p:cNvPr id="34" name="Shape 30"/>
          <p:cNvSpPr/>
          <p:nvPr/>
        </p:nvSpPr>
        <p:spPr>
          <a:xfrm>
            <a:off x="457200" y="5623560"/>
            <a:ext cx="7406640" cy="566928"/>
          </a:xfrm>
          <a:prstGeom prst="rect">
            <a:avLst/>
          </a:prstGeom>
          <a:solidFill>
            <a:srgbClr val="1B2440"/>
          </a:solidFill>
          <a:ln/>
        </p:spPr>
      </p:sp>
      <p:sp>
        <p:nvSpPr>
          <p:cNvPr id="35" name="Text 31"/>
          <p:cNvSpPr txBox="1"/>
          <p:nvPr/>
        </p:nvSpPr>
        <p:spPr>
          <a:xfrm>
            <a:off x="594360" y="5687568"/>
            <a:ext cx="713232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meshtastic RadioInterface.cpp  how region US becomes a frequency</a:t>
            </a:r>
            <a:endParaRPr lang="en-US" sz="1000" dirty="0"/>
          </a:p>
        </p:txBody>
      </p:sp>
      <p:sp>
        <p:nvSpPr>
          <p:cNvPr id="36" name="Text 32"/>
          <p:cNvSpPr txBox="1"/>
          <p:nvPr/>
        </p:nvSpPr>
        <p:spPr>
          <a:xfrm>
            <a:off x="594360" y="5943600"/>
            <a:ext cx="7132320" cy="155448"/>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RDEF(US, 902.0f, 928.0f, ...);  freq = start + bw/2000 + hash(name)*(bw/1000);</a:t>
            </a:r>
            <a:endParaRPr lang="en-US" sz="1000" dirty="0"/>
          </a:p>
        </p:txBody>
      </p:sp>
      <p:sp>
        <p:nvSpPr>
          <p:cNvPr id="37" name="Text 33"/>
          <p:cNvSpPr txBox="1"/>
          <p:nvPr/>
        </p:nvSpPr>
        <p:spPr>
          <a:xfrm>
            <a:off x="8001000" y="5623560"/>
            <a:ext cx="3749040" cy="566928"/>
          </a:xfrm>
          <a:prstGeom prst="rect">
            <a:avLst/>
          </a:prstGeom>
          <a:noFill/>
          <a:ln/>
        </p:spPr>
        <p:txBody>
          <a:bodyPr wrap="square" lIns="0" tIns="0" rIns="0" bIns="0" rtlCol="0" anchor="ctr"/>
          <a:lstStyle/>
          <a:p>
            <a:pPr indent="0" marL="0">
              <a:buNone/>
            </a:pPr>
            <a:r>
              <a:rPr lang="en-US" sz="850" dirty="0">
                <a:solidFill>
                  <a:srgbClr val="5E6B85"/>
                </a:solidFill>
                <a:latin typeface="Arial" pitchFamily="34" charset="0"/>
                <a:ea typeface="Arial" pitchFamily="34" charset="-122"/>
                <a:cs typeface="Arial" pitchFamily="34" charset="-120"/>
              </a:rPr>
              <a:t>Both radios hash the same channel name, so they meet on the same frequency with no coordination message. Full walkthrough: docs/RADIO_PHY_DEEP_DIVE.pdf</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sp>
        <p:nvSpPr>
          <p:cNvPr id="11" name="Text 9"/>
          <p:cNvSpPr txBox="1"/>
          <p:nvPr/>
        </p:nvSpPr>
        <p:spPr>
          <a:xfrm>
            <a:off x="457200" y="137160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6.1.1 p.39 + AN1200.22</a:t>
            </a:r>
            <a:endParaRPr lang="en-US" sz="800" dirty="0"/>
          </a:p>
        </p:txBody>
      </p:sp>
      <p:pic>
        <p:nvPicPr>
          <p:cNvPr id="12"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3" name="Text 10"/>
          <p:cNvSpPr txBox="1"/>
          <p:nvPr/>
        </p:nvSpPr>
        <p:spPr>
          <a:xfrm>
            <a:off x="457200" y="182880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sp>
        <p:nvSpPr>
          <p:cNvPr id="14" name="Text 11"/>
          <p:cNvSpPr txBox="1"/>
          <p:nvPr/>
        </p:nvSpPr>
        <p:spPr>
          <a:xfrm>
            <a:off x="457200" y="210312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Meshtastic docs, ~25% cap</a:t>
            </a:r>
            <a:endParaRPr lang="en-US" sz="800" dirty="0"/>
          </a:p>
        </p:txBody>
      </p:sp>
      <p:pic>
        <p:nvPicPr>
          <p:cNvPr id="15"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6" name="Text 12"/>
          <p:cNvSpPr txBox="1"/>
          <p:nvPr/>
        </p:nvSpPr>
        <p:spPr>
          <a:xfrm>
            <a:off x="457200" y="25603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sp>
        <p:nvSpPr>
          <p:cNvPr id="17" name="Text 13"/>
          <p:cNvSpPr txBox="1"/>
          <p:nvPr/>
        </p:nvSpPr>
        <p:spPr>
          <a:xfrm>
            <a:off x="457200" y="28346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Table 6-1 p.39, 3.5.3 p.20</a:t>
            </a:r>
            <a:endParaRPr lang="en-US" sz="800" dirty="0"/>
          </a:p>
        </p:txBody>
      </p:sp>
      <p:pic>
        <p:nvPicPr>
          <p:cNvPr id="18"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9" name="Text 14"/>
          <p:cNvSpPr txBox="1"/>
          <p:nvPr/>
        </p:nvSpPr>
        <p:spPr>
          <a:xfrm>
            <a:off x="457200" y="32461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sp>
        <p:nvSpPr>
          <p:cNvPr id="20" name="Text 15"/>
          <p:cNvSpPr txBox="1"/>
          <p:nvPr/>
        </p:nvSpPr>
        <p:spPr>
          <a:xfrm>
            <a:off x="457200" y="35204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6.1.4 p.41 (airtime term)</a:t>
            </a:r>
            <a:endParaRPr lang="en-US" sz="800" dirty="0"/>
          </a:p>
        </p:txBody>
      </p:sp>
      <p:pic>
        <p:nvPicPr>
          <p:cNvPr id="21"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22" name="Text 16"/>
          <p:cNvSpPr txBox="1"/>
          <p:nvPr/>
        </p:nvSpPr>
        <p:spPr>
          <a:xfrm>
            <a:off x="457200" y="39319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sp>
        <p:nvSpPr>
          <p:cNvPr id="23" name="Text 17"/>
          <p:cNvSpPr txBox="1"/>
          <p:nvPr/>
        </p:nvSpPr>
        <p:spPr>
          <a:xfrm>
            <a:off x="457200" y="42062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dead_reckon.c, 12/12 tests</a:t>
            </a:r>
            <a:endParaRPr lang="en-US" sz="800" dirty="0"/>
          </a:p>
        </p:txBody>
      </p:sp>
      <p:pic>
        <p:nvPicPr>
          <p:cNvPr id="24"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5" name="Shape 18"/>
          <p:cNvSpPr/>
          <p:nvPr/>
        </p:nvSpPr>
        <p:spPr>
          <a:xfrm>
            <a:off x="457200" y="4754880"/>
            <a:ext cx="11292840" cy="1371600"/>
          </a:xfrm>
          <a:prstGeom prst="rect">
            <a:avLst/>
          </a:prstGeom>
          <a:solidFill>
            <a:srgbClr val="16213D"/>
          </a:solidFill>
          <a:ln/>
        </p:spPr>
      </p:sp>
      <p:sp>
        <p:nvSpPr>
          <p:cNvPr id="26" name="Text 19"/>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The update-rate wall. Channel airtime versus broadcast interval for two vehicles at 0.5 s per packet. One second sits at 100 percent, physical collapse; our 10 second point uses 10 percent, comfortably under the 25 percent ceiling the firmware enforces.</a:t>
            </a:r>
            <a:endParaRPr lang="en-US" sz="105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What the driver would see. Holding the raw fix leaves the display up to 200 m behind a vehicle at 45 mph. Dead reckoning bounds the worst case near 25 m during a maneuver, and each real fix snaps the error back to zero.</a:t>
            </a:r>
            <a:endParaRPr lang="en-US" sz="105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12064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GPS to radio</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satellites acquired, fixes flowing over UART</a:t>
            </a:r>
            <a:endParaRPr lang="en-US" sz="1100" dirty="0"/>
          </a:p>
        </p:txBody>
      </p:sp>
      <p:sp>
        <p:nvSpPr>
          <p:cNvPr id="12" name="Text 10"/>
          <p:cNvSpPr txBox="1"/>
          <p:nvPr/>
        </p:nvSpPr>
        <p:spPr>
          <a:xfrm>
            <a:off x="3977640" y="1170432"/>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3" name="Text 11"/>
          <p:cNvSpPr txBox="1"/>
          <p:nvPr/>
        </p:nvSpPr>
        <p:spPr>
          <a:xfrm>
            <a:off x="3950208" y="1463040"/>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"own GPS: locked"</a:t>
            </a:r>
            <a:endParaRPr lang="en-US" sz="750" dirty="0"/>
          </a:p>
        </p:txBody>
      </p:sp>
      <p:sp>
        <p:nvSpPr>
          <p:cNvPr id="14" name="Shape 12"/>
          <p:cNvSpPr/>
          <p:nvPr/>
        </p:nvSpPr>
        <p:spPr>
          <a:xfrm>
            <a:off x="100584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12064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Radio to display</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BLE GATT link, automatic reconnect</a:t>
            </a:r>
            <a:endParaRPr lang="en-US" sz="1100" dirty="0"/>
          </a:p>
        </p:txBody>
      </p:sp>
      <p:sp>
        <p:nvSpPr>
          <p:cNvPr id="17" name="Text 15"/>
          <p:cNvSpPr txBox="1"/>
          <p:nvPr/>
        </p:nvSpPr>
        <p:spPr>
          <a:xfrm>
            <a:off x="3977640" y="2139696"/>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8" name="Text 16"/>
          <p:cNvSpPr txBox="1"/>
          <p:nvPr/>
        </p:nvSpPr>
        <p:spPr>
          <a:xfrm>
            <a:off x="3950208" y="2432304"/>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"radio link: connected"</a:t>
            </a:r>
            <a:endParaRPr lang="en-US" sz="750" dirty="0"/>
          </a:p>
        </p:txBody>
      </p:sp>
      <p:sp>
        <p:nvSpPr>
          <p:cNvPr id="19" name="Shape 17"/>
          <p:cNvSpPr/>
          <p:nvPr/>
        </p:nvSpPr>
        <p:spPr>
          <a:xfrm>
            <a:off x="100584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12064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Decode to TrackerState</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protobuf frames become live coordinates</a:t>
            </a:r>
            <a:endParaRPr lang="en-US" sz="1100" dirty="0"/>
          </a:p>
        </p:txBody>
      </p:sp>
      <p:sp>
        <p:nvSpPr>
          <p:cNvPr id="22" name="Text 20"/>
          <p:cNvSpPr txBox="1"/>
          <p:nvPr/>
        </p:nvSpPr>
        <p:spPr>
          <a:xfrm>
            <a:off x="3977640" y="3108960"/>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3" name="Text 21"/>
          <p:cNvSpPr txBox="1"/>
          <p:nvPr/>
        </p:nvSpPr>
        <p:spPr>
          <a:xfrm>
            <a:off x="3950208" y="3401568"/>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"ME 33.60719 -101.89643"</a:t>
            </a:r>
            <a:endParaRPr lang="en-US" sz="750" dirty="0"/>
          </a:p>
        </p:txBody>
      </p:sp>
      <p:sp>
        <p:nvSpPr>
          <p:cNvPr id="24" name="Shape 22"/>
          <p:cNvSpPr/>
          <p:nvPr/>
        </p:nvSpPr>
        <p:spPr>
          <a:xfrm>
            <a:off x="100584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12064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Navigation and UI</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state-driven pages, honest ages, local clock</a:t>
            </a:r>
            <a:endParaRPr lang="en-US" sz="1100" dirty="0"/>
          </a:p>
        </p:txBody>
      </p:sp>
      <p:sp>
        <p:nvSpPr>
          <p:cNvPr id="27" name="Text 25"/>
          <p:cNvSpPr txBox="1"/>
          <p:nvPr/>
        </p:nvSpPr>
        <p:spPr>
          <a:xfrm>
            <a:off x="3977640" y="4078224"/>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8" name="Text 26"/>
          <p:cNvSpPr txBox="1"/>
          <p:nvPr/>
        </p:nvSpPr>
        <p:spPr>
          <a:xfrm>
            <a:off x="3950208" y="4370832"/>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"6:59a CDT, age 55 s"</a:t>
            </a:r>
            <a:endParaRPr lang="en-US" sz="750" dirty="0"/>
          </a:p>
        </p:txBody>
      </p:sp>
      <p:sp>
        <p:nvSpPr>
          <p:cNvPr id="29" name="Shape 27"/>
          <p:cNvSpPr/>
          <p:nvPr/>
        </p:nvSpPr>
        <p:spPr>
          <a:xfrm>
            <a:off x="100584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12064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Partner over LoRa</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second radio joins the encrypted channel</a:t>
            </a:r>
            <a:endParaRPr lang="en-US" sz="1100" dirty="0"/>
          </a:p>
        </p:txBody>
      </p:sp>
      <p:sp>
        <p:nvSpPr>
          <p:cNvPr id="32" name="Text 30"/>
          <p:cNvSpPr txBox="1"/>
          <p:nvPr/>
        </p:nvSpPr>
        <p:spPr>
          <a:xfrm>
            <a:off x="3977640" y="5047488"/>
            <a:ext cx="777240" cy="274320"/>
          </a:xfrm>
          <a:prstGeom prst="rect">
            <a:avLst/>
          </a:prstGeom>
          <a:noFill/>
          <a:ln/>
        </p:spPr>
        <p:txBody>
          <a:bodyPr wrap="square" lIns="0" tIns="0" rIns="0" bIns="0" rtlCol="0" anchor="ctr"/>
          <a:lstStyle/>
          <a:p>
            <a:pPr algn="ctr" indent="0" marL="0">
              <a:buNone/>
            </a:pPr>
            <a:r>
              <a:rPr lang="en-US" sz="900" b="1" dirty="0">
                <a:solidFill>
                  <a:srgbClr val="B06207"/>
                </a:solidFill>
                <a:latin typeface="Courier New" pitchFamily="34" charset="0"/>
                <a:ea typeface="Courier New" pitchFamily="34" charset="-122"/>
                <a:cs typeface="Courier New" pitchFamily="34" charset="-120"/>
              </a:rPr>
              <a:t>NEXT</a:t>
            </a:r>
            <a:endParaRPr lang="en-US" sz="900" dirty="0"/>
          </a:p>
        </p:txBody>
      </p:sp>
      <p:sp>
        <p:nvSpPr>
          <p:cNvPr id="33" name="Text 31"/>
          <p:cNvSpPr txBox="1"/>
          <p:nvPr/>
        </p:nvSpPr>
        <p:spPr>
          <a:xfrm>
            <a:off x="3950208" y="5340096"/>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"PTR no partner heard yet"</a:t>
            </a:r>
            <a:endParaRPr lang="en-US" sz="75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852160" y="1097280"/>
            <a:ext cx="1783080" cy="1399032"/>
          </a:xfrm>
          <a:prstGeom prst="rect">
            <a:avLst/>
          </a:prstGeom>
        </p:spPr>
      </p:pic>
      <p:sp>
        <p:nvSpPr>
          <p:cNvPr id="35" name="Shape 32"/>
          <p:cNvSpPr/>
          <p:nvPr/>
        </p:nvSpPr>
        <p:spPr>
          <a:xfrm>
            <a:off x="5852160" y="1097280"/>
            <a:ext cx="1783080" cy="1399032"/>
          </a:xfrm>
          <a:prstGeom prst="rect">
            <a:avLst/>
          </a:prstGeom>
          <a:ln w="12700">
            <a:solidFill>
              <a:srgbClr val="9AA7BE"/>
            </a:solidFill>
            <a:prstDash val="solid"/>
          </a:ln>
        </p:spPr>
      </p:sp>
      <p:sp>
        <p:nvSpPr>
          <p:cNvPr id="36" name="Text 33"/>
          <p:cNvSpPr txBox="1"/>
          <p:nvPr/>
        </p:nvSpPr>
        <p:spPr>
          <a:xfrm>
            <a:off x="5852160" y="252374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link + GPS proven</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7772400" y="1097280"/>
            <a:ext cx="1920240" cy="1380744"/>
          </a:xfrm>
          <a:prstGeom prst="rect">
            <a:avLst/>
          </a:prstGeom>
        </p:spPr>
      </p:pic>
      <p:sp>
        <p:nvSpPr>
          <p:cNvPr id="38" name="Shape 34"/>
          <p:cNvSpPr/>
          <p:nvPr/>
        </p:nvSpPr>
        <p:spPr>
          <a:xfrm>
            <a:off x="7772400" y="1097280"/>
            <a:ext cx="1920240" cy="1380744"/>
          </a:xfrm>
          <a:prstGeom prst="rect">
            <a:avLst/>
          </a:prstGeom>
          <a:ln w="12700">
            <a:solidFill>
              <a:srgbClr val="9AA7BE"/>
            </a:solidFill>
            <a:prstDash val="solid"/>
          </a:ln>
        </p:spPr>
      </p:sp>
      <p:sp>
        <p:nvSpPr>
          <p:cNvPr id="39" name="Text 35"/>
          <p:cNvSpPr txBox="1"/>
          <p:nvPr/>
        </p:nvSpPr>
        <p:spPr>
          <a:xfrm>
            <a:off x="7772400" y="2505456"/>
            <a:ext cx="19202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ME 33.60719 -101.89643</a:t>
            </a:r>
            <a:endParaRPr lang="en-US" sz="950" dirty="0"/>
          </a:p>
        </p:txBody>
      </p:sp>
      <p:sp>
        <p:nvSpPr>
          <p:cNvPr id="40" name="Shape 36"/>
          <p:cNvSpPr/>
          <p:nvPr/>
        </p:nvSpPr>
        <p:spPr>
          <a:xfrm>
            <a:off x="9829800" y="1097280"/>
            <a:ext cx="1920240" cy="1828800"/>
          </a:xfrm>
          <a:prstGeom prst="rect">
            <a:avLst/>
          </a:prstGeom>
          <a:solidFill>
            <a:srgbClr val="F2F5FA"/>
          </a:solidFill>
          <a:ln w="15875">
            <a:solidFill>
              <a:srgbClr val="1F9D68"/>
            </a:solidFill>
            <a:prstDash val="solid"/>
          </a:ln>
        </p:spPr>
      </p:sp>
      <p:sp>
        <p:nvSpPr>
          <p:cNvPr id="41" name="Text 37"/>
          <p:cNvSpPr txBox="1"/>
          <p:nvPr/>
        </p:nvSpPr>
        <p:spPr>
          <a:xfrm>
            <a:off x="9939528" y="1188720"/>
            <a:ext cx="1737360" cy="457200"/>
          </a:xfrm>
          <a:prstGeom prst="rect">
            <a:avLst/>
          </a:prstGeom>
          <a:noFill/>
          <a:ln/>
        </p:spPr>
        <p:txBody>
          <a:bodyPr wrap="square" lIns="0" tIns="0" rIns="0" bIns="0" rtlCol="0" anchor="ctr"/>
          <a:lstStyle/>
          <a:p>
            <a:pPr indent="0" marL="0">
              <a:buNone/>
            </a:pPr>
            <a:r>
              <a:rPr lang="en-US" sz="1000" b="1" spc="100" kern="0" dirty="0">
                <a:solidFill>
                  <a:srgbClr val="1F9D68"/>
                </a:solidFill>
                <a:latin typeface="Arial" pitchFamily="34" charset="0"/>
                <a:ea typeface="Arial" pitchFamily="34" charset="-122"/>
                <a:cs typeface="Arial" pitchFamily="34" charset="-120"/>
              </a:rPr>
              <a:t>POSITION CROSS-CHECK</a:t>
            </a:r>
            <a:endParaRPr lang="en-US" sz="1000" dirty="0"/>
          </a:p>
        </p:txBody>
      </p:sp>
      <p:sp>
        <p:nvSpPr>
          <p:cNvPr id="42" name="Text 38"/>
          <p:cNvSpPr txBox="1"/>
          <p:nvPr/>
        </p:nvSpPr>
        <p:spPr>
          <a:xfrm>
            <a:off x="9939528" y="1627632"/>
            <a:ext cx="1719072" cy="1261872"/>
          </a:xfrm>
          <a:prstGeom prst="rect">
            <a:avLst/>
          </a:prstGeom>
          <a:noFill/>
          <a:ln/>
        </p:spPr>
        <p:txBody>
          <a:bodyPr wrap="square" lIns="0" tIns="0" rIns="0" bIns="0" rtlCol="0" anchor="ctr"/>
          <a:lstStyle/>
          <a:p>
            <a:pPr indent="0" marL="0">
              <a:buNone/>
            </a:pPr>
            <a:r>
              <a:rPr lang="en-US" sz="850" dirty="0">
                <a:solidFill>
                  <a:srgbClr val="222A3F"/>
                </a:solidFill>
                <a:latin typeface="Arial" pitchFamily="34" charset="0"/>
                <a:ea typeface="Arial" pitchFamily="34" charset="-122"/>
                <a:cs typeface="Arial" pitchFamily="34" charset="-120"/>
              </a:rPr>
              <a:t>Display and web-client marker show the same fix from the same radio, via two programs sharing no code. Independent agreement is the accuracy check.</a:t>
            </a:r>
            <a:endParaRPr lang="en-US" sz="850" dirty="0"/>
          </a:p>
        </p:txBody>
      </p:sp>
      <p:sp>
        <p:nvSpPr>
          <p:cNvPr id="43" name="Text 39"/>
          <p:cNvSpPr txBox="1"/>
          <p:nvPr/>
        </p:nvSpPr>
        <p:spPr>
          <a:xfrm>
            <a:off x="5852160" y="2999232"/>
            <a:ext cx="5897880" cy="219456"/>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4" name="Image 2" descr="C:/Users/deogr/AppData/Local/Temp/claude/C--Users-deogr-Documents-Fall-Project-Off-Grid-Vehicle-dection-project/e8b2e8fa-1513-4aa8-a8f6-ce4fcd20e664/scratchpad/deck3/p_map_zoom.png">    </p:cNvPr>
          <p:cNvPicPr>
            <a:picLocks noChangeAspect="1"/>
          </p:cNvPicPr>
          <p:nvPr/>
        </p:nvPicPr>
        <p:blipFill>
          <a:blip r:embed="rId3"/>
          <a:stretch>
            <a:fillRect/>
          </a:stretch>
        </p:blipFill>
        <p:spPr>
          <a:xfrm>
            <a:off x="5852160" y="3255264"/>
            <a:ext cx="3977640" cy="2935224"/>
          </a:xfrm>
          <a:prstGeom prst="rect">
            <a:avLst/>
          </a:prstGeom>
        </p:spPr>
      </p:pic>
      <p:sp>
        <p:nvSpPr>
          <p:cNvPr id="45" name="Shape 40"/>
          <p:cNvSpPr/>
          <p:nvPr/>
        </p:nvSpPr>
        <p:spPr>
          <a:xfrm>
            <a:off x="5852160" y="3255264"/>
            <a:ext cx="3977640" cy="2935224"/>
          </a:xfrm>
          <a:prstGeom prst="rect">
            <a:avLst/>
          </a:prstGeom>
          <a:ln w="12700">
            <a:solidFill>
              <a:srgbClr val="9AA7BE"/>
            </a:solidFill>
            <a:prstDash val="solid"/>
          </a:ln>
        </p:spPr>
      </p:sp>
      <p:sp>
        <p:nvSpPr>
          <p:cNvPr id="46" name="Text 41"/>
          <p:cNvSpPr txBox="1"/>
          <p:nvPr/>
        </p:nvSpPr>
        <p:spPr>
          <a:xfrm>
            <a:off x="10012680" y="3255264"/>
            <a:ext cx="1737360" cy="2935224"/>
          </a:xfrm>
          <a:prstGeom prst="rect">
            <a:avLst/>
          </a:prstGeom>
          <a:noFill/>
          <a:ln/>
        </p:spPr>
        <p:txBody>
          <a:bodyPr wrap="square" lIns="0" tIns="0" rIns="0" bIns="0" rtlCol="0" anchor="ctr"/>
          <a:lstStyle/>
          <a:p>
            <a:pPr indent="0" marL="0">
              <a:buNone/>
            </a:pPr>
            <a:r>
              <a:rPr lang="en-US" sz="900" dirty="0">
                <a:solidFill>
                  <a:srgbClr val="5E6B85"/>
                </a:solidFill>
                <a:latin typeface="Arial" pitchFamily="34" charset="0"/>
                <a:ea typeface="Arial" pitchFamily="34" charset="-122"/>
                <a:cs typeface="Arial" pitchFamily="34" charset="-120"/>
              </a:rPr>
              <a:t>One device proves four of five layers at zero coordination cost. Every bug found here never reaches the two-vehicle test. The dashed layer waits only for radio two; no display code changes.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08.</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meshtastic.org/docs/configuration/radio/lora  ·  /position</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ecfr.gov/current/title-47/part-15/section-15.247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itu.int/rec/R-REC-M.1371</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RADIO_PHY_DEEP_DIVE, hardware/README. Our link budget, architecture, silicon walkthrough,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dirty="0">
                <a:solidFill>
                  <a:srgbClr val="1199BD"/>
                </a:solidFill>
                <a:latin typeface="Courier New" pitchFamily="34" charset="0"/>
                <a:ea typeface="Courier New" pitchFamily="34" charset="-122"/>
                <a:cs typeface="Courier New" pitchFamily="34" charset="-120"/>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2026-09-07T22:16:13Z</dcterms:created>
  <dcterms:modified xsi:type="dcterms:W3CDTF">2026-09-07T22:16:13Z</dcterms:modified>
</cp:coreProperties>
</file>