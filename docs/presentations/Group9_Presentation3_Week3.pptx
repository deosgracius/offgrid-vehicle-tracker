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01/13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pic>
        <p:nvPicPr>
          <p:cNvPr id="11"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2" name="Text 9"/>
          <p:cNvSpPr txBox="1"/>
          <p:nvPr/>
        </p:nvSpPr>
        <p:spPr>
          <a:xfrm>
            <a:off x="457200" y="182880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pic>
        <p:nvPicPr>
          <p:cNvPr id="13"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4" name="Text 10"/>
          <p:cNvSpPr txBox="1"/>
          <p:nvPr/>
        </p:nvSpPr>
        <p:spPr>
          <a:xfrm>
            <a:off x="457200" y="25603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pic>
        <p:nvPicPr>
          <p:cNvPr id="15"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6" name="Text 11"/>
          <p:cNvSpPr txBox="1"/>
          <p:nvPr/>
        </p:nvSpPr>
        <p:spPr>
          <a:xfrm>
            <a:off x="457200" y="32461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pic>
        <p:nvPicPr>
          <p:cNvPr id="17"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18" name="Text 12"/>
          <p:cNvSpPr txBox="1"/>
          <p:nvPr/>
        </p:nvSpPr>
        <p:spPr>
          <a:xfrm>
            <a:off x="457200" y="39319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pic>
        <p:nvPicPr>
          <p:cNvPr id="19"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0" name="Shape 13"/>
          <p:cNvSpPr/>
          <p:nvPr/>
        </p:nvSpPr>
        <p:spPr>
          <a:xfrm>
            <a:off x="457200" y="4754880"/>
            <a:ext cx="11292840" cy="1371600"/>
          </a:xfrm>
          <a:prstGeom prst="rect">
            <a:avLst/>
          </a:prstGeom>
          <a:solidFill>
            <a:srgbClr val="16213D"/>
          </a:solidFill>
          <a:ln/>
        </p:spPr>
      </p:sp>
      <p:sp>
        <p:nvSpPr>
          <p:cNvPr id="21" name="Text 14"/>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76072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GPS to radio</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satellites acquired, fixes flowing over UART</a:t>
            </a:r>
            <a:endParaRPr lang="en-US" sz="1150" dirty="0"/>
          </a:p>
        </p:txBody>
      </p:sp>
      <p:sp>
        <p:nvSpPr>
          <p:cNvPr id="12" name="Text 10"/>
          <p:cNvSpPr txBox="1"/>
          <p:nvPr/>
        </p:nvSpPr>
        <p:spPr>
          <a:xfrm>
            <a:off x="4526280" y="1170432"/>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13" name="Text 11"/>
          <p:cNvSpPr txBox="1"/>
          <p:nvPr/>
        </p:nvSpPr>
        <p:spPr>
          <a:xfrm>
            <a:off x="4526280" y="1463040"/>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"own GPS: locked"</a:t>
            </a:r>
            <a:endParaRPr lang="en-US" sz="800" dirty="0"/>
          </a:p>
        </p:txBody>
      </p:sp>
      <p:sp>
        <p:nvSpPr>
          <p:cNvPr id="14" name="Shape 12"/>
          <p:cNvSpPr/>
          <p:nvPr/>
        </p:nvSpPr>
        <p:spPr>
          <a:xfrm>
            <a:off x="105156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76072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Radio to display</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BLE GATT link, automatic reconnect</a:t>
            </a:r>
            <a:endParaRPr lang="en-US" sz="1150" dirty="0"/>
          </a:p>
        </p:txBody>
      </p:sp>
      <p:sp>
        <p:nvSpPr>
          <p:cNvPr id="17" name="Text 15"/>
          <p:cNvSpPr txBox="1"/>
          <p:nvPr/>
        </p:nvSpPr>
        <p:spPr>
          <a:xfrm>
            <a:off x="4526280" y="2139696"/>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18" name="Text 16"/>
          <p:cNvSpPr txBox="1"/>
          <p:nvPr/>
        </p:nvSpPr>
        <p:spPr>
          <a:xfrm>
            <a:off x="4526280" y="2432304"/>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"radio link: connected"</a:t>
            </a:r>
            <a:endParaRPr lang="en-US" sz="800" dirty="0"/>
          </a:p>
        </p:txBody>
      </p:sp>
      <p:sp>
        <p:nvSpPr>
          <p:cNvPr id="19" name="Shape 17"/>
          <p:cNvSpPr/>
          <p:nvPr/>
        </p:nvSpPr>
        <p:spPr>
          <a:xfrm>
            <a:off x="105156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76072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Decode to TrackerState</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protobuf frames become live coordinates</a:t>
            </a:r>
            <a:endParaRPr lang="en-US" sz="1150" dirty="0"/>
          </a:p>
        </p:txBody>
      </p:sp>
      <p:sp>
        <p:nvSpPr>
          <p:cNvPr id="22" name="Text 20"/>
          <p:cNvSpPr txBox="1"/>
          <p:nvPr/>
        </p:nvSpPr>
        <p:spPr>
          <a:xfrm>
            <a:off x="4526280" y="3108960"/>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23" name="Text 21"/>
          <p:cNvSpPr txBox="1"/>
          <p:nvPr/>
        </p:nvSpPr>
        <p:spPr>
          <a:xfrm>
            <a:off x="4526280" y="3401568"/>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 33.60719 -101.89643"</a:t>
            </a:r>
            <a:endParaRPr lang="en-US" sz="800" dirty="0"/>
          </a:p>
        </p:txBody>
      </p:sp>
      <p:sp>
        <p:nvSpPr>
          <p:cNvPr id="24" name="Shape 22"/>
          <p:cNvSpPr/>
          <p:nvPr/>
        </p:nvSpPr>
        <p:spPr>
          <a:xfrm>
            <a:off x="105156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76072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Navigation and UI</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state-driven pages, honest ages, local clock</a:t>
            </a:r>
            <a:endParaRPr lang="en-US" sz="1150" dirty="0"/>
          </a:p>
        </p:txBody>
      </p:sp>
      <p:sp>
        <p:nvSpPr>
          <p:cNvPr id="27" name="Text 25"/>
          <p:cNvSpPr txBox="1"/>
          <p:nvPr/>
        </p:nvSpPr>
        <p:spPr>
          <a:xfrm>
            <a:off x="4526280" y="4078224"/>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28" name="Text 26"/>
          <p:cNvSpPr txBox="1"/>
          <p:nvPr/>
        </p:nvSpPr>
        <p:spPr>
          <a:xfrm>
            <a:off x="4526280" y="4370832"/>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"6:59a CDT, age 55 s"</a:t>
            </a:r>
            <a:endParaRPr lang="en-US" sz="800" dirty="0"/>
          </a:p>
        </p:txBody>
      </p:sp>
      <p:sp>
        <p:nvSpPr>
          <p:cNvPr id="29" name="Shape 27"/>
          <p:cNvSpPr/>
          <p:nvPr/>
        </p:nvSpPr>
        <p:spPr>
          <a:xfrm>
            <a:off x="105156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76072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Partner over LoRa</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second radio joins the encrypted channel</a:t>
            </a:r>
            <a:endParaRPr lang="en-US" sz="1150" dirty="0"/>
          </a:p>
        </p:txBody>
      </p:sp>
      <p:sp>
        <p:nvSpPr>
          <p:cNvPr id="32" name="Text 30"/>
          <p:cNvSpPr txBox="1"/>
          <p:nvPr/>
        </p:nvSpPr>
        <p:spPr>
          <a:xfrm>
            <a:off x="4526280" y="5047488"/>
            <a:ext cx="868680" cy="274320"/>
          </a:xfrm>
          <a:prstGeom prst="rect">
            <a:avLst/>
          </a:prstGeom>
          <a:noFill/>
          <a:ln/>
        </p:spPr>
        <p:txBody>
          <a:bodyPr wrap="square" lIns="0" tIns="0" rIns="0" bIns="0" rtlCol="0" anchor="ctr"/>
          <a:lstStyle/>
          <a:p>
            <a:pPr algn="ctr" indent="0" marL="0">
              <a:buNone/>
            </a:pPr>
            <a:r>
              <a:rPr lang="en-US" sz="950" b="1" dirty="0">
                <a:solidFill>
                  <a:srgbClr val="B06207"/>
                </a:solidFill>
                <a:latin typeface="Courier New" pitchFamily="34" charset="0"/>
                <a:ea typeface="Courier New" pitchFamily="34" charset="-122"/>
                <a:cs typeface="Courier New" pitchFamily="34" charset="-120"/>
              </a:rPr>
              <a:t>NEXT</a:t>
            </a:r>
            <a:endParaRPr lang="en-US" sz="950" dirty="0"/>
          </a:p>
        </p:txBody>
      </p:sp>
      <p:sp>
        <p:nvSpPr>
          <p:cNvPr id="33" name="Text 31"/>
          <p:cNvSpPr txBox="1"/>
          <p:nvPr/>
        </p:nvSpPr>
        <p:spPr>
          <a:xfrm>
            <a:off x="4526280" y="5340096"/>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"PTR no partner heard yet"</a:t>
            </a:r>
            <a:endParaRPr lang="en-US" sz="80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6537960" y="1097280"/>
            <a:ext cx="2468880" cy="1938528"/>
          </a:xfrm>
          <a:prstGeom prst="rect">
            <a:avLst/>
          </a:prstGeom>
        </p:spPr>
      </p:pic>
      <p:sp>
        <p:nvSpPr>
          <p:cNvPr id="35" name="Shape 32"/>
          <p:cNvSpPr/>
          <p:nvPr/>
        </p:nvSpPr>
        <p:spPr>
          <a:xfrm>
            <a:off x="6537960" y="1097280"/>
            <a:ext cx="2468880" cy="1938528"/>
          </a:xfrm>
          <a:prstGeom prst="rect">
            <a:avLst/>
          </a:prstGeom>
          <a:ln w="12700">
            <a:solidFill>
              <a:srgbClr val="9AA7BE"/>
            </a:solidFill>
            <a:prstDash val="solid"/>
          </a:ln>
        </p:spPr>
      </p:sp>
      <p:sp>
        <p:nvSpPr>
          <p:cNvPr id="36" name="Text 33"/>
          <p:cNvSpPr txBox="1"/>
          <p:nvPr/>
        </p:nvSpPr>
        <p:spPr>
          <a:xfrm>
            <a:off x="6537960" y="3063240"/>
            <a:ext cx="24688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state: link and GPS proven before any partner exists</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9189720" y="1097280"/>
            <a:ext cx="2560320" cy="1847088"/>
          </a:xfrm>
          <a:prstGeom prst="rect">
            <a:avLst/>
          </a:prstGeom>
        </p:spPr>
      </p:pic>
      <p:sp>
        <p:nvSpPr>
          <p:cNvPr id="38" name="Shape 34"/>
          <p:cNvSpPr/>
          <p:nvPr/>
        </p:nvSpPr>
        <p:spPr>
          <a:xfrm>
            <a:off x="9189720" y="1097280"/>
            <a:ext cx="2560320" cy="1847088"/>
          </a:xfrm>
          <a:prstGeom prst="rect">
            <a:avLst/>
          </a:prstGeom>
          <a:ln w="12700">
            <a:solidFill>
              <a:srgbClr val="9AA7BE"/>
            </a:solidFill>
            <a:prstDash val="solid"/>
          </a:ln>
        </p:spPr>
      </p:sp>
      <p:sp>
        <p:nvSpPr>
          <p:cNvPr id="39" name="Text 35"/>
          <p:cNvSpPr txBox="1"/>
          <p:nvPr/>
        </p:nvSpPr>
        <p:spPr>
          <a:xfrm>
            <a:off x="9189720" y="2971800"/>
            <a:ext cx="25603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Live self fix decoded end to end; the gap is labeled honestly</a:t>
            </a:r>
            <a:endParaRPr lang="en-US" sz="950" dirty="0"/>
          </a:p>
        </p:txBody>
      </p:sp>
      <p:sp>
        <p:nvSpPr>
          <p:cNvPr id="40" name="Shape 36"/>
          <p:cNvSpPr/>
          <p:nvPr/>
        </p:nvSpPr>
        <p:spPr>
          <a:xfrm>
            <a:off x="6537960" y="3566160"/>
            <a:ext cx="5212080" cy="2514600"/>
          </a:xfrm>
          <a:prstGeom prst="rect">
            <a:avLst/>
          </a:prstGeom>
          <a:solidFill>
            <a:srgbClr val="F2F5FA"/>
          </a:solidFill>
          <a:ln w="9525">
            <a:solidFill>
              <a:srgbClr val="9AA7BE"/>
            </a:solidFill>
            <a:prstDash val="solid"/>
          </a:ln>
        </p:spPr>
      </p:sp>
      <p:sp>
        <p:nvSpPr>
          <p:cNvPr id="41" name="Text 37"/>
          <p:cNvSpPr txBox="1"/>
          <p:nvPr/>
        </p:nvSpPr>
        <p:spPr>
          <a:xfrm>
            <a:off x="6720840" y="3703320"/>
            <a:ext cx="4846320" cy="274320"/>
          </a:xfrm>
          <a:prstGeom prst="rect">
            <a:avLst/>
          </a:prstGeom>
          <a:noFill/>
          <a:ln/>
        </p:spPr>
        <p:txBody>
          <a:bodyPr wrap="square" lIns="0" tIns="0" rIns="0" bIns="0" rtlCol="0" anchor="ctr"/>
          <a:lstStyle/>
          <a:p>
            <a:pPr indent="0" marL="0">
              <a:buNone/>
            </a:pPr>
            <a:r>
              <a:rPr lang="en-US" sz="1150" b="1" spc="100" kern="0" dirty="0">
                <a:solidFill>
                  <a:srgbClr val="16213D"/>
                </a:solidFill>
                <a:latin typeface="Arial" pitchFamily="34" charset="0"/>
                <a:ea typeface="Arial" pitchFamily="34" charset="-122"/>
                <a:cs typeface="Arial" pitchFamily="34" charset="-120"/>
              </a:rPr>
              <a:t>THE ONE-DEVICE TEST STRATEGY</a:t>
            </a:r>
            <a:endParaRPr lang="en-US" sz="1150" dirty="0"/>
          </a:p>
        </p:txBody>
      </p:sp>
      <p:sp>
        <p:nvSpPr>
          <p:cNvPr id="42" name="Text 38"/>
          <p:cNvSpPr txBox="1"/>
          <p:nvPr/>
        </p:nvSpPr>
        <p:spPr>
          <a:xfrm>
            <a:off x="6720840" y="4023360"/>
            <a:ext cx="4892040" cy="201168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222A3F"/>
                </a:solidFill>
                <a:latin typeface="Arial" pitchFamily="34" charset="0"/>
                <a:ea typeface="Arial" pitchFamily="34" charset="-122"/>
                <a:cs typeface="Arial" pitchFamily="34" charset="-120"/>
              </a:rPr>
              <a:t>These photos are the integration milestone: backend and frontend running as one firmware on real hardware, with every layer except the last one exercised.</a:t>
            </a:r>
            <a:endParaRPr lang="en-US" sz="1050" dirty="0"/>
          </a:p>
          <a:p>
            <a:pPr marL="342900" indent="-342900">
              <a:spcAft>
                <a:spcPts val="600"/>
              </a:spcAft>
              <a:buSzPct val="100000"/>
              <a:buChar char="▪"/>
            </a:pPr>
            <a:r>
              <a:rPr lang="en-US" sz="1050" dirty="0">
                <a:solidFill>
                  <a:srgbClr val="222A3F"/>
                </a:solidFill>
                <a:latin typeface="Arial" pitchFamily="34" charset="0"/>
                <a:ea typeface="Arial" pitchFamily="34" charset="-122"/>
                <a:cs typeface="Arial" pitchFamily="34" charset="-120"/>
              </a:rPr>
              <a:t>One device tracking itself proves four of the five layers with zero coordination cost. Every bug found here is a bug the two-vehicle test will not have to find.</a:t>
            </a:r>
            <a:endParaRPr lang="en-US" sz="1050" dirty="0"/>
          </a:p>
          <a:p>
            <a:pPr marL="342900" indent="-342900">
              <a:buSzPct val="100000"/>
              <a:buChar char="▪"/>
            </a:pPr>
            <a:r>
              <a:rPr lang="en-US" sz="1050" dirty="0">
                <a:solidFill>
                  <a:srgbClr val="222A3F"/>
                </a:solidFill>
                <a:latin typeface="Arial" pitchFamily="34" charset="0"/>
                <a:ea typeface="Arial" pitchFamily="34" charset="-122"/>
                <a:cs typeface="Arial" pitchFamily="34" charset="-120"/>
              </a:rPr>
              <a:t>When radio two joins the channel, the dashed layer closes and the same screens fill in with a real partner. Nothing else changes.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12/13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13/13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43000"/>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[1]</a:t>
            </a:r>
            <a:endParaRPr lang="en-US" sz="1050" dirty="0"/>
          </a:p>
        </p:txBody>
      </p:sp>
      <p:sp>
        <p:nvSpPr>
          <p:cNvPr id="9" name="Text 7"/>
          <p:cNvSpPr txBox="1"/>
          <p:nvPr/>
        </p:nvSpPr>
        <p:spPr>
          <a:xfrm>
            <a:off x="960120" y="1143000"/>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in the sensitivity calculation on sheet 08.</a:t>
            </a:r>
            <a:endParaRPr lang="en-US" sz="1000" dirty="0"/>
          </a:p>
        </p:txBody>
      </p:sp>
      <p:sp>
        <p:nvSpPr>
          <p:cNvPr id="10" name="Text 8"/>
          <p:cNvSpPr txBox="1"/>
          <p:nvPr/>
        </p:nvSpPr>
        <p:spPr>
          <a:xfrm>
            <a:off x="457200" y="2130552"/>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[2]</a:t>
            </a:r>
            <a:endParaRPr lang="en-US" sz="1050" dirty="0"/>
          </a:p>
        </p:txBody>
      </p:sp>
      <p:sp>
        <p:nvSpPr>
          <p:cNvPr id="11" name="Text 9"/>
          <p:cNvSpPr txBox="1"/>
          <p:nvPr/>
        </p:nvSpPr>
        <p:spPr>
          <a:xfrm>
            <a:off x="960120" y="2130552"/>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1000" dirty="0"/>
          </a:p>
        </p:txBody>
      </p:sp>
      <p:sp>
        <p:nvSpPr>
          <p:cNvPr id="12" name="Text 10"/>
          <p:cNvSpPr txBox="1"/>
          <p:nvPr/>
        </p:nvSpPr>
        <p:spPr>
          <a:xfrm>
            <a:off x="457200" y="3118104"/>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[3]</a:t>
            </a:r>
            <a:endParaRPr lang="en-US" sz="1050" dirty="0"/>
          </a:p>
        </p:txBody>
      </p:sp>
      <p:sp>
        <p:nvSpPr>
          <p:cNvPr id="13" name="Text 11"/>
          <p:cNvSpPr txBox="1"/>
          <p:nvPr/>
        </p:nvSpPr>
        <p:spPr>
          <a:xfrm>
            <a:off x="960120" y="3118104"/>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1000" dirty="0"/>
          </a:p>
        </p:txBody>
      </p:sp>
      <p:sp>
        <p:nvSpPr>
          <p:cNvPr id="14" name="Text 12"/>
          <p:cNvSpPr txBox="1"/>
          <p:nvPr/>
        </p:nvSpPr>
        <p:spPr>
          <a:xfrm>
            <a:off x="457200" y="4105656"/>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60120" y="4105656"/>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Meshtastic Project Documentation, LoRa and Position Configuration (meshtastic.org/docs). Modem presets, smart broadcast, position precision, and the ~25% channel-utilization transmit limit.</a:t>
            </a:r>
            <a:endParaRPr lang="en-US" sz="1000" dirty="0"/>
          </a:p>
        </p:txBody>
      </p:sp>
      <p:sp>
        <p:nvSpPr>
          <p:cNvPr id="16" name="Text 14"/>
          <p:cNvSpPr txBox="1"/>
          <p:nvPr/>
        </p:nvSpPr>
        <p:spPr>
          <a:xfrm>
            <a:off x="457200" y="5093208"/>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[5]</a:t>
            </a:r>
            <a:endParaRPr lang="en-US" sz="1050" dirty="0"/>
          </a:p>
        </p:txBody>
      </p:sp>
      <p:sp>
        <p:nvSpPr>
          <p:cNvPr id="17" name="Text 15"/>
          <p:cNvSpPr txBox="1"/>
          <p:nvPr/>
        </p:nvSpPr>
        <p:spPr>
          <a:xfrm>
            <a:off x="960120" y="5093208"/>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Meshtastic Protobufs Repository (github.com/meshtastic/protobufs). The published message schema our decoder is generated from, including Position field units.</a:t>
            </a:r>
            <a:endParaRPr lang="en-US" sz="1000" dirty="0"/>
          </a:p>
        </p:txBody>
      </p:sp>
      <p:sp>
        <p:nvSpPr>
          <p:cNvPr id="18" name="Text 16"/>
          <p:cNvSpPr txBox="1"/>
          <p:nvPr/>
        </p:nvSpPr>
        <p:spPr>
          <a:xfrm>
            <a:off x="6263640" y="1143000"/>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6766560" y="1143000"/>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FCC Rules, 47 CFR 15.247. Operation in the 902 to 928 MHz ISM band.</a:t>
            </a:r>
            <a:endParaRPr lang="en-US" sz="1000" dirty="0"/>
          </a:p>
        </p:txBody>
      </p:sp>
      <p:sp>
        <p:nvSpPr>
          <p:cNvPr id="20" name="Text 18"/>
          <p:cNvSpPr txBox="1"/>
          <p:nvPr/>
        </p:nvSpPr>
        <p:spPr>
          <a:xfrm>
            <a:off x="6263640" y="2130552"/>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[7]</a:t>
            </a:r>
            <a:endParaRPr lang="en-US" sz="1050" dirty="0"/>
          </a:p>
        </p:txBody>
      </p:sp>
      <p:sp>
        <p:nvSpPr>
          <p:cNvPr id="21" name="Text 19"/>
          <p:cNvSpPr txBox="1"/>
          <p:nvPr/>
        </p:nvSpPr>
        <p:spPr>
          <a:xfrm>
            <a:off x="6766560" y="2130552"/>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ITU-R Recommendation M.1371, Automatic Identification System (AIS). Vessel reporting intervals of 2 s to 3 min; the precedent for beacon-then-animate navigation displays.</a:t>
            </a:r>
            <a:endParaRPr lang="en-US" sz="1000" dirty="0"/>
          </a:p>
        </p:txBody>
      </p:sp>
      <p:sp>
        <p:nvSpPr>
          <p:cNvPr id="22" name="Text 20"/>
          <p:cNvSpPr txBox="1"/>
          <p:nvPr/>
        </p:nvSpPr>
        <p:spPr>
          <a:xfrm>
            <a:off x="6263640" y="3118104"/>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[8]</a:t>
            </a:r>
            <a:endParaRPr lang="en-US" sz="1050" dirty="0"/>
          </a:p>
        </p:txBody>
      </p:sp>
      <p:sp>
        <p:nvSpPr>
          <p:cNvPr id="23" name="Text 21"/>
          <p:cNvSpPr txBox="1"/>
          <p:nvPr/>
        </p:nvSpPr>
        <p:spPr>
          <a:xfrm>
            <a:off x="6766560" y="3118104"/>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R. W. Sinnott, Virtues of the Haversine, Sky &amp; Telescope, vol. 68, no. 2, p. 159, 1984. The great-circle distance formula used in nav.c.</a:t>
            </a:r>
            <a:endParaRPr lang="en-US" sz="1000" dirty="0"/>
          </a:p>
        </p:txBody>
      </p:sp>
      <p:sp>
        <p:nvSpPr>
          <p:cNvPr id="24" name="Text 22"/>
          <p:cNvSpPr txBox="1"/>
          <p:nvPr/>
        </p:nvSpPr>
        <p:spPr>
          <a:xfrm>
            <a:off x="6263640" y="4105656"/>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[9]</a:t>
            </a:r>
            <a:endParaRPr lang="en-US" sz="1050" dirty="0"/>
          </a:p>
        </p:txBody>
      </p:sp>
      <p:sp>
        <p:nvSpPr>
          <p:cNvPr id="25" name="Text 23"/>
          <p:cNvSpPr txBox="1"/>
          <p:nvPr/>
        </p:nvSpPr>
        <p:spPr>
          <a:xfrm>
            <a:off x="6766560" y="4105656"/>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1000" dirty="0"/>
          </a:p>
        </p:txBody>
      </p:sp>
      <p:sp>
        <p:nvSpPr>
          <p:cNvPr id="26" name="Text 24"/>
          <p:cNvSpPr txBox="1"/>
          <p:nvPr/>
        </p:nvSpPr>
        <p:spPr>
          <a:xfrm>
            <a:off x="6263640" y="5093208"/>
            <a:ext cx="457200" cy="274320"/>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[10]</a:t>
            </a:r>
            <a:endParaRPr lang="en-US" sz="1050" dirty="0"/>
          </a:p>
        </p:txBody>
      </p:sp>
      <p:sp>
        <p:nvSpPr>
          <p:cNvPr id="27" name="Text 25"/>
          <p:cNvSpPr txBox="1"/>
          <p:nvPr/>
        </p:nvSpPr>
        <p:spPr>
          <a:xfrm>
            <a:off x="6766560" y="5093208"/>
            <a:ext cx="5074920" cy="932688"/>
          </a:xfrm>
          <a:prstGeom prst="rect">
            <a:avLst/>
          </a:prstGeom>
          <a:noFill/>
          <a:ln/>
        </p:spPr>
        <p:txBody>
          <a:bodyPr wrap="square" lIns="0" tIns="0" rIns="0" bIns="0" rtlCol="0" anchor="ctr"/>
          <a:lstStyle/>
          <a:p>
            <a:pPr indent="0" marL="0">
              <a:buNone/>
            </a:pPr>
            <a:r>
              <a:rPr lang="en-US" sz="1000" dirty="0">
                <a:solidFill>
                  <a:srgbClr val="222A3F"/>
                </a:solidFill>
                <a:latin typeface="Arial" pitchFamily="34" charset="0"/>
                <a:ea typeface="Arial" pitchFamily="34" charset="-122"/>
                <a:cs typeface="Arial" pitchFamily="34" charset="-120"/>
              </a:rPr>
              <a:t>Group 9 repository: docs/TELECOM_ANALYSIS.md, docs/ARCHITECTURE.md, docs/BLE_LINK_WALKTHROUGH.md, hardware/README.md. The project's own link budget, architecture, protocol walkthrough, and provisioning recipe.</a:t>
            </a:r>
            <a:endParaRPr lang="en-US" sz="1000" dirty="0"/>
          </a:p>
        </p:txBody>
      </p:sp>
      <p:sp>
        <p:nvSpPr>
          <p:cNvPr id="28" name="Shape 26"/>
          <p:cNvSpPr/>
          <p:nvPr/>
        </p:nvSpPr>
        <p:spPr>
          <a:xfrm>
            <a:off x="457200" y="5989320"/>
            <a:ext cx="11292840" cy="0"/>
          </a:xfrm>
          <a:prstGeom prst="line">
            <a:avLst/>
          </a:prstGeom>
          <a:noFill/>
          <a:ln w="9525">
            <a:solidFill>
              <a:srgbClr val="9AA7BE"/>
            </a:solidFill>
            <a:prstDash val="solid"/>
          </a:ln>
        </p:spPr>
      </p:sp>
      <p:sp>
        <p:nvSpPr>
          <p:cNvPr id="29" name="Text 2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2026-09-07T12:10:41Z</dcterms:created>
  <dcterms:modified xsi:type="dcterms:W3CDTF">2026-09-07T12:10:41Z</dcterms:modified>
</cp:coreProperties>
</file>