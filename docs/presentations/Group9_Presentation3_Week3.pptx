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by Deo as the descent from the system map into the machine my protocol rides on. This sheet is the silicon-level story, all from the Semtech datasheet in our repo of references. Left: the block diagram - antenna, matching, LNA, mixer, ADC, then everything is digital: the LoRa modem correlates chirps (that is the processing gain), the protocol engine handles preamble, header, FEC and CRC, and a 256-byte buffer meets the ESP32 over SPI. Note the FSK modem sitting beside the LoRa modem: present, powered, and unused - FSK needs positive SNR, LoRa decodes at minus 17.5 dB. Right: the operating-mode state machine, and below it one of our broadcasts traced across it: park in RX, CAD to check the channel (the physical CSMA - below the noise floor RSSI is meaningless so the chip listens for LoRa symbols), FS while the PLL locks, half a second of TX, TxDone interrupt, back to RX. Bottom code: the region line that sets 902 to 928 MHz and the hash that picks the channel - both radios compute the same hash from the channel name, so the shared URL is simultaneously the encryption domain and the frequency agreement. Close by handing the physics forward: Victor will quantify what this silicon buys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pictures replace ten minutes of argument. Left graph: utilization is inversely proportional to the interval; the 1 s point is literally impossible and the dashed line is Meshtastic's own 25 percent duty limit; we sit at 10 percent. Right graph: the sawtooth is the display error over time at 45 mph; orange is what holding the raw fix would show, up to 200 meters stale; navy is dead reckoning with a worst-case maneuver assumption of 0.5 m/s^2, bounded near 25 meters and typically a few meters in steady driving. Sources are on this sheet's reference list in the notes: the SNR-per-spreading-factor table and airtime equations are from Semtech's datasheet and AN1200.22, the duty limit and configuration from the Meshtastic documentation, and the AIS precedent from ITU-R M.1371.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is the integration story: the two halves of the firmware are joined and running on real hardware. Walk the stack top to bottom, and point at the photo text that proves each layer: own GPS locked proves layer one, radio link connected proves layer two, the live coordinates prove decoding, and the clock reading Central time proves the navigation layer is deriving timezone from position. The dashed layer is the honest gap, and the display itself says it: no partner heard yet. The strategy: one device tracking itself exercises everything except the LoRa hop, so integration bugs get found cheaply before the two-vehicle test. Radio two closes the loop without changing a line of display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a number is challenged, the sources are: equations from Semtech [1][2], configuration behavior from Meshtastic docs [4], wire units from the protobuf schema itself [5], and the AIS precedent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semtech.com/products/wireless-rf/lora-connect/sx1276" TargetMode="External"/><Relationship Id="rId2" Type="http://schemas.openxmlformats.org/officeDocument/2006/relationships/hyperlink" Target="https://info.semtech.com/find-documentation" TargetMode="External"/><Relationship Id="rId3" Type="http://schemas.openxmlformats.org/officeDocument/2006/relationships/hyperlink" Target="https://www.semtech.com/products/wireless-rf/lora-connect/sx1262" TargetMode="External"/><Relationship Id="rId4" Type="http://schemas.openxmlformats.org/officeDocument/2006/relationships/hyperlink" Target="https://meshtastic.org/docs/configuration/radio/lora/" TargetMode="External"/><Relationship Id="rId5" Type="http://schemas.openxmlformats.org/officeDocument/2006/relationships/hyperlink" Target="https://github.com/meshtastic/protobufs" TargetMode="External"/><Relationship Id="rId6" Type="http://schemas.openxmlformats.org/officeDocument/2006/relationships/hyperlink" Target="https://www.law.cornell.edu/cfr/text/47/15.247" TargetMode="External"/><Relationship Id="rId7" Type="http://schemas.openxmlformats.org/officeDocument/2006/relationships/hyperlink" Target="https://www.itu.int/rec/R-REC-M.1371/en" TargetMode="External"/><Relationship Id="rId8" Type="http://schemas.openxmlformats.org/officeDocument/2006/relationships/hyperlink" Target="https://www.movable-type.co.uk/scripts/latlong.html" TargetMode="External"/><Relationship Id="rId9" Type="http://schemas.openxmlformats.org/officeDocument/2006/relationships/hyperlink" Target="https://www.bluetooth.com/specifications/specs/core-specification/" TargetMode="External"/><Relationship Id="rId10" Type="http://schemas.openxmlformats.org/officeDocument/2006/relationships/hyperlink" Target="https://github.com/deosgracius/offgrid-vehicle-tracker" TargetMode="External"/><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01/14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The display now shows a live vehicle: real packets, real navigation math, a screen that moves every second. Each section: architecture first, then the working hardware and its code.</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Left: one vehicle's hardware. GNSS feeds the radio; the radio drives the roof antenna.</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Right: the display firmware. Protocol writes TrackerState; navigation reads it. One writer, one reader.</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Bottom: the telecom view. A 40 byte payload on a PHY that decodes 15 dB below the noise.</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Vehicle B is an identical copy. No server, no master, no single point of failure.</a:t>
            </a:r>
            <a:endParaRPr lang="en-US" sz="130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50" dirty="0"/>
          </a:p>
          <a:p>
            <a:pPr indent="0" marL="0">
              <a:buNone/>
            </a:pPr>
            <a:r>
              <a:rPr lang="en-US" sz="1250" dirty="0">
                <a:solidFill>
                  <a:srgbClr val="FFFFFF"/>
                </a:solidFill>
                <a:latin typeface="Arial" pitchFamily="34" charset="0"/>
                <a:ea typeface="Arial" pitchFamily="34" charset="-122"/>
                <a:cs typeface="Arial" pitchFamily="34" charset="-120"/>
              </a:rPr>
              <a:t>Everything hard about long-range radio ships pre-tested in Meshtastic. The chains on the right are the only custom code, and they meet at one struct.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INSIDE THE SX1262</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INSIDE THE TRANSCEIVER (DATASHEET REV 2.2)</a:t>
            </a:r>
            <a:endParaRPr lang="en-US" sz="2300" dirty="0"/>
          </a:p>
        </p:txBody>
      </p:sp>
      <p:pic>
        <p:nvPicPr>
          <p:cNvPr id="10" name="Image 0" descr="C:/Users/deogr/AppData/Local/Temp/claude/C--Users-deogr-Documents-Fall-Project-Off-Grid-Vehicle-dection-project/e8b2e8fa-1513-4aa8-a8f6-ce4fcd20e664/scratchpad/deck3/fig_block.png">    </p:cNvPr>
          <p:cNvPicPr>
            <a:picLocks noChangeAspect="1"/>
          </p:cNvPicPr>
          <p:nvPr/>
        </p:nvPicPr>
        <p:blipFill>
          <a:blip r:embed="rId1"/>
          <a:stretch>
            <a:fillRect/>
          </a:stretch>
        </p:blipFill>
        <p:spPr>
          <a:xfrm>
            <a:off x="457200" y="1051560"/>
            <a:ext cx="6720840" cy="3200400"/>
          </a:xfrm>
          <a:prstGeom prst="rect">
            <a:avLst/>
          </a:prstGeom>
        </p:spPr>
      </p:pic>
      <p:sp>
        <p:nvSpPr>
          <p:cNvPr id="11" name="Shape 8"/>
          <p:cNvSpPr/>
          <p:nvPr/>
        </p:nvSpPr>
        <p:spPr>
          <a:xfrm>
            <a:off x="457200" y="1051560"/>
            <a:ext cx="6720840" cy="3200400"/>
          </a:xfrm>
          <a:prstGeom prst="rect">
            <a:avLst/>
          </a:prstGeom>
          <a:ln w="12700">
            <a:solidFill>
              <a:srgbClr val="9AA7BE"/>
            </a:solidFill>
            <a:prstDash val="solid"/>
          </a:ln>
        </p:spPr>
      </p:sp>
      <p:sp>
        <p:nvSpPr>
          <p:cNvPr id="12" name="Text 9"/>
          <p:cNvSpPr txBox="1"/>
          <p:nvPr/>
        </p:nvSpPr>
        <p:spPr>
          <a:xfrm>
            <a:off x="457200" y="4297680"/>
            <a:ext cx="6720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SX1262 BLOCK DIAGRAM, DS FIG 4-1 p.23. TWO MODEMS SHARE ONE FRONT END; WE USE ONLY THE LoRa ONE.</a:t>
            </a:r>
            <a:endParaRPr lang="en-US" sz="800" dirty="0"/>
          </a:p>
        </p:txBody>
      </p:sp>
      <p:pic>
        <p:nvPicPr>
          <p:cNvPr id="13" name="Image 1" descr="C:/Users/deogr/AppData/Local/Temp/claude/C--Users-deogr-Documents-Fall-Project-Off-Grid-Vehicle-dection-project/e8b2e8fa-1513-4aa8-a8f6-ce4fcd20e664/scratchpad/deck3/fig_modes.png">    </p:cNvPr>
          <p:cNvPicPr>
            <a:picLocks noChangeAspect="1"/>
          </p:cNvPicPr>
          <p:nvPr/>
        </p:nvPicPr>
        <p:blipFill>
          <a:blip r:embed="rId2"/>
          <a:stretch>
            <a:fillRect/>
          </a:stretch>
        </p:blipFill>
        <p:spPr>
          <a:xfrm>
            <a:off x="7589520" y="1051560"/>
            <a:ext cx="3200400" cy="3200400"/>
          </a:xfrm>
          <a:prstGeom prst="rect">
            <a:avLst/>
          </a:prstGeom>
        </p:spPr>
      </p:pic>
      <p:sp>
        <p:nvSpPr>
          <p:cNvPr id="14" name="Shape 10"/>
          <p:cNvSpPr/>
          <p:nvPr/>
        </p:nvSpPr>
        <p:spPr>
          <a:xfrm>
            <a:off x="7589520" y="1051560"/>
            <a:ext cx="3200400" cy="3200400"/>
          </a:xfrm>
          <a:prstGeom prst="rect">
            <a:avLst/>
          </a:prstGeom>
          <a:ln w="12700">
            <a:solidFill>
              <a:srgbClr val="9AA7BE"/>
            </a:solidFill>
            <a:prstDash val="solid"/>
          </a:ln>
        </p:spPr>
      </p:sp>
      <p:sp>
        <p:nvSpPr>
          <p:cNvPr id="15" name="Text 11"/>
          <p:cNvSpPr txBox="1"/>
          <p:nvPr/>
        </p:nvSpPr>
        <p:spPr>
          <a:xfrm>
            <a:off x="7589520" y="4297680"/>
            <a:ext cx="320040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OPERATING MODES, DS FIG 9-1 p.64</a:t>
            </a:r>
            <a:endParaRPr lang="en-US" sz="800" dirty="0"/>
          </a:p>
        </p:txBody>
      </p:sp>
      <p:sp>
        <p:nvSpPr>
          <p:cNvPr id="16" name="Shape 12"/>
          <p:cNvSpPr/>
          <p:nvPr/>
        </p:nvSpPr>
        <p:spPr>
          <a:xfrm>
            <a:off x="457200" y="4663440"/>
            <a:ext cx="1691640" cy="621792"/>
          </a:xfrm>
          <a:prstGeom prst="rect">
            <a:avLst/>
          </a:prstGeom>
          <a:solidFill>
            <a:srgbClr val="F2F5FA"/>
          </a:solidFill>
          <a:ln w="15875">
            <a:solidFill>
              <a:srgbClr val="E58E1A"/>
            </a:solidFill>
            <a:prstDash val="solid"/>
          </a:ln>
        </p:spPr>
      </p:sp>
      <p:sp>
        <p:nvSpPr>
          <p:cNvPr id="17" name="Text 13"/>
          <p:cNvSpPr txBox="1"/>
          <p:nvPr/>
        </p:nvSpPr>
        <p:spPr>
          <a:xfrm>
            <a:off x="5120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always listening</a:t>
            </a:r>
            <a:endParaRPr lang="en-US" sz="1050" dirty="0"/>
          </a:p>
        </p:txBody>
      </p:sp>
      <p:sp>
        <p:nvSpPr>
          <p:cNvPr id="18" name="Shape 14"/>
          <p:cNvSpPr/>
          <p:nvPr/>
        </p:nvSpPr>
        <p:spPr>
          <a:xfrm>
            <a:off x="2148840" y="4974336"/>
            <a:ext cx="228600" cy="0"/>
          </a:xfrm>
          <a:prstGeom prst="line">
            <a:avLst/>
          </a:prstGeom>
          <a:noFill/>
          <a:ln w="28575">
            <a:solidFill>
              <a:srgbClr val="E58E1A"/>
            </a:solidFill>
            <a:prstDash val="solid"/>
            <a:tailEnd type="triangle"/>
          </a:ln>
        </p:spPr>
      </p:sp>
      <p:sp>
        <p:nvSpPr>
          <p:cNvPr id="19" name="Shape 15"/>
          <p:cNvSpPr/>
          <p:nvPr/>
        </p:nvSpPr>
        <p:spPr>
          <a:xfrm>
            <a:off x="2377440" y="4663440"/>
            <a:ext cx="1691640" cy="621792"/>
          </a:xfrm>
          <a:prstGeom prst="rect">
            <a:avLst/>
          </a:prstGeom>
          <a:solidFill>
            <a:srgbClr val="F2F5FA"/>
          </a:solidFill>
          <a:ln w="15875">
            <a:solidFill>
              <a:srgbClr val="E58E1A"/>
            </a:solidFill>
            <a:prstDash val="solid"/>
          </a:ln>
        </p:spPr>
      </p:sp>
      <p:sp>
        <p:nvSpPr>
          <p:cNvPr id="20" name="Text 16"/>
          <p:cNvSpPr txBox="1"/>
          <p:nvPr/>
        </p:nvSpPr>
        <p:spPr>
          <a:xfrm>
            <a:off x="243230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CAD</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channel clear? 6.1.5 p.41</a:t>
            </a:r>
            <a:endParaRPr lang="en-US" sz="1050" dirty="0"/>
          </a:p>
        </p:txBody>
      </p:sp>
      <p:sp>
        <p:nvSpPr>
          <p:cNvPr id="21" name="Shape 17"/>
          <p:cNvSpPr/>
          <p:nvPr/>
        </p:nvSpPr>
        <p:spPr>
          <a:xfrm>
            <a:off x="4069080" y="4974336"/>
            <a:ext cx="228600" cy="0"/>
          </a:xfrm>
          <a:prstGeom prst="line">
            <a:avLst/>
          </a:prstGeom>
          <a:noFill/>
          <a:ln w="28575">
            <a:solidFill>
              <a:srgbClr val="E58E1A"/>
            </a:solidFill>
            <a:prstDash val="solid"/>
            <a:tailEnd type="triangle"/>
          </a:ln>
        </p:spPr>
      </p:sp>
      <p:sp>
        <p:nvSpPr>
          <p:cNvPr id="22" name="Shape 18"/>
          <p:cNvSpPr/>
          <p:nvPr/>
        </p:nvSpPr>
        <p:spPr>
          <a:xfrm>
            <a:off x="4297680" y="4663440"/>
            <a:ext cx="1691640" cy="621792"/>
          </a:xfrm>
          <a:prstGeom prst="rect">
            <a:avLst/>
          </a:prstGeom>
          <a:solidFill>
            <a:srgbClr val="F2F5FA"/>
          </a:solidFill>
          <a:ln w="15875">
            <a:solidFill>
              <a:srgbClr val="E58E1A"/>
            </a:solidFill>
            <a:prstDash val="solid"/>
          </a:ln>
        </p:spPr>
      </p:sp>
      <p:sp>
        <p:nvSpPr>
          <p:cNvPr id="23" name="Text 19"/>
          <p:cNvSpPr txBox="1"/>
          <p:nvPr/>
        </p:nvSpPr>
        <p:spPr>
          <a:xfrm>
            <a:off x="435254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FS</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PLL locks channel</a:t>
            </a:r>
            <a:endParaRPr lang="en-US" sz="1050" dirty="0"/>
          </a:p>
        </p:txBody>
      </p:sp>
      <p:sp>
        <p:nvSpPr>
          <p:cNvPr id="24" name="Shape 20"/>
          <p:cNvSpPr/>
          <p:nvPr/>
        </p:nvSpPr>
        <p:spPr>
          <a:xfrm>
            <a:off x="5989320" y="4974336"/>
            <a:ext cx="228600" cy="0"/>
          </a:xfrm>
          <a:prstGeom prst="line">
            <a:avLst/>
          </a:prstGeom>
          <a:noFill/>
          <a:ln w="28575">
            <a:solidFill>
              <a:srgbClr val="E58E1A"/>
            </a:solidFill>
            <a:prstDash val="solid"/>
            <a:tailEnd type="triangle"/>
          </a:ln>
        </p:spPr>
      </p:sp>
      <p:sp>
        <p:nvSpPr>
          <p:cNvPr id="25" name="Shape 21"/>
          <p:cNvSpPr/>
          <p:nvPr/>
        </p:nvSpPr>
        <p:spPr>
          <a:xfrm>
            <a:off x="6217920" y="4663440"/>
            <a:ext cx="1691640" cy="621792"/>
          </a:xfrm>
          <a:prstGeom prst="rect">
            <a:avLst/>
          </a:prstGeom>
          <a:solidFill>
            <a:srgbClr val="F2F5FA"/>
          </a:solidFill>
          <a:ln w="15875">
            <a:solidFill>
              <a:srgbClr val="E58E1A"/>
            </a:solidFill>
            <a:prstDash val="solid"/>
          </a:ln>
        </p:spPr>
      </p:sp>
      <p:sp>
        <p:nvSpPr>
          <p:cNvPr id="26" name="Text 22"/>
          <p:cNvSpPr txBox="1"/>
          <p:nvPr/>
        </p:nvSpPr>
        <p:spPr>
          <a:xfrm>
            <a:off x="627278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chirps, ~0.5 s</a:t>
            </a:r>
            <a:endParaRPr lang="en-US" sz="1050" dirty="0"/>
          </a:p>
        </p:txBody>
      </p:sp>
      <p:sp>
        <p:nvSpPr>
          <p:cNvPr id="27" name="Shape 23"/>
          <p:cNvSpPr/>
          <p:nvPr/>
        </p:nvSpPr>
        <p:spPr>
          <a:xfrm>
            <a:off x="7909560" y="4974336"/>
            <a:ext cx="228600" cy="0"/>
          </a:xfrm>
          <a:prstGeom prst="line">
            <a:avLst/>
          </a:prstGeom>
          <a:noFill/>
          <a:ln w="28575">
            <a:solidFill>
              <a:srgbClr val="E58E1A"/>
            </a:solidFill>
            <a:prstDash val="solid"/>
            <a:tailEnd type="triangle"/>
          </a:ln>
        </p:spPr>
      </p:sp>
      <p:sp>
        <p:nvSpPr>
          <p:cNvPr id="28" name="Shape 24"/>
          <p:cNvSpPr/>
          <p:nvPr/>
        </p:nvSpPr>
        <p:spPr>
          <a:xfrm>
            <a:off x="8138160" y="4663440"/>
            <a:ext cx="1691640" cy="621792"/>
          </a:xfrm>
          <a:prstGeom prst="rect">
            <a:avLst/>
          </a:prstGeom>
          <a:solidFill>
            <a:srgbClr val="F2F5FA"/>
          </a:solidFill>
          <a:ln w="15875">
            <a:solidFill>
              <a:srgbClr val="E58E1A"/>
            </a:solidFill>
            <a:prstDash val="solid"/>
          </a:ln>
        </p:spPr>
      </p:sp>
      <p:sp>
        <p:nvSpPr>
          <p:cNvPr id="29" name="Text 25"/>
          <p:cNvSpPr txBox="1"/>
          <p:nvPr/>
        </p:nvSpPr>
        <p:spPr>
          <a:xfrm>
            <a:off x="819302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TxDone</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IRQ on DIO1</a:t>
            </a:r>
            <a:endParaRPr lang="en-US" sz="1050" dirty="0"/>
          </a:p>
        </p:txBody>
      </p:sp>
      <p:sp>
        <p:nvSpPr>
          <p:cNvPr id="30" name="Shape 26"/>
          <p:cNvSpPr/>
          <p:nvPr/>
        </p:nvSpPr>
        <p:spPr>
          <a:xfrm>
            <a:off x="9829800" y="4974336"/>
            <a:ext cx="228600" cy="0"/>
          </a:xfrm>
          <a:prstGeom prst="line">
            <a:avLst/>
          </a:prstGeom>
          <a:noFill/>
          <a:ln w="28575">
            <a:solidFill>
              <a:srgbClr val="E58E1A"/>
            </a:solidFill>
            <a:prstDash val="solid"/>
            <a:tailEnd type="triangle"/>
          </a:ln>
        </p:spPr>
      </p:sp>
      <p:sp>
        <p:nvSpPr>
          <p:cNvPr id="31" name="Shape 27"/>
          <p:cNvSpPr/>
          <p:nvPr/>
        </p:nvSpPr>
        <p:spPr>
          <a:xfrm>
            <a:off x="10058400" y="4663440"/>
            <a:ext cx="1691640" cy="621792"/>
          </a:xfrm>
          <a:prstGeom prst="rect">
            <a:avLst/>
          </a:prstGeom>
          <a:solidFill>
            <a:srgbClr val="F2F5FA"/>
          </a:solidFill>
          <a:ln w="15875">
            <a:solidFill>
              <a:srgbClr val="E58E1A"/>
            </a:solidFill>
            <a:prstDash val="solid"/>
          </a:ln>
        </p:spPr>
      </p:sp>
      <p:sp>
        <p:nvSpPr>
          <p:cNvPr id="32" name="Text 28"/>
          <p:cNvSpPr txBox="1"/>
          <p:nvPr/>
        </p:nvSpPr>
        <p:spPr>
          <a:xfrm>
            <a:off x="10113264" y="4690872"/>
            <a:ext cx="1581912" cy="566928"/>
          </a:xfrm>
          <a:prstGeom prst="rect">
            <a:avLst/>
          </a:prstGeom>
          <a:noFill/>
          <a:ln/>
        </p:spPr>
        <p:txBody>
          <a:bodyPr wrap="square" lIns="0" tIns="0" rIns="0" bIns="0" rtlCol="0" anchor="ctr"/>
          <a:lstStyle/>
          <a:p>
            <a:pPr algn="ctr" indent="0" marL="0">
              <a:buNone/>
            </a:pPr>
            <a:r>
              <a:rPr lang="en-US" sz="1050" b="1" dirty="0">
                <a:solidFill>
                  <a:srgbClr val="16213D"/>
                </a:solidFill>
                <a:latin typeface="Courier New" pitchFamily="34" charset="0"/>
                <a:ea typeface="Courier New" pitchFamily="34" charset="-122"/>
                <a:cs typeface="Courier New" pitchFamily="34" charset="-120"/>
              </a:rPr>
              <a:t>RX</a:t>
            </a:r>
            <a:endParaRPr lang="en-US" sz="1050" dirty="0"/>
          </a:p>
          <a:p>
            <a:pPr algn="ctr" indent="0" marL="0">
              <a:buNone/>
            </a:pPr>
            <a:r>
              <a:rPr lang="en-US" sz="800" dirty="0">
                <a:solidFill>
                  <a:srgbClr val="5E6B85"/>
                </a:solidFill>
                <a:latin typeface="Arial" pitchFamily="34" charset="0"/>
                <a:ea typeface="Arial" pitchFamily="34" charset="-122"/>
                <a:cs typeface="Arial" pitchFamily="34" charset="-120"/>
              </a:rPr>
              <a:t>back to listening</a:t>
            </a:r>
            <a:endParaRPr lang="en-US" sz="1050" dirty="0"/>
          </a:p>
        </p:txBody>
      </p:sp>
      <p:sp>
        <p:nvSpPr>
          <p:cNvPr id="33" name="Text 29"/>
          <p:cNvSpPr txBox="1"/>
          <p:nvPr/>
        </p:nvSpPr>
        <p:spPr>
          <a:xfrm>
            <a:off x="457200" y="5349240"/>
            <a:ext cx="1129284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ONE POSITION BROADCAST TRACED ON THE STATE MACHINE. CAD IS THE PHYSICAL LISTEN-BEFORE-TALK: BELOW THE NOISE FLOOR RSSI IS USELESS, SO THE CHIP CORRELATES FOR LoRa SYMBOLS INSTEAD.</a:t>
            </a:r>
            <a:endParaRPr lang="en-US" sz="800" dirty="0"/>
          </a:p>
        </p:txBody>
      </p:sp>
      <p:sp>
        <p:nvSpPr>
          <p:cNvPr id="34" name="Shape 30"/>
          <p:cNvSpPr/>
          <p:nvPr/>
        </p:nvSpPr>
        <p:spPr>
          <a:xfrm>
            <a:off x="457200" y="5623560"/>
            <a:ext cx="7406640" cy="566928"/>
          </a:xfrm>
          <a:prstGeom prst="rect">
            <a:avLst/>
          </a:prstGeom>
          <a:solidFill>
            <a:srgbClr val="1B2440"/>
          </a:solidFill>
          <a:ln/>
        </p:spPr>
      </p:sp>
      <p:sp>
        <p:nvSpPr>
          <p:cNvPr id="35" name="Text 31"/>
          <p:cNvSpPr txBox="1"/>
          <p:nvPr/>
        </p:nvSpPr>
        <p:spPr>
          <a:xfrm>
            <a:off x="594360" y="5687568"/>
            <a:ext cx="713232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meshtastic RadioInterface.cpp  how region US becomes a frequency</a:t>
            </a:r>
            <a:endParaRPr lang="en-US" sz="1000" dirty="0"/>
          </a:p>
        </p:txBody>
      </p:sp>
      <p:sp>
        <p:nvSpPr>
          <p:cNvPr id="36" name="Text 32"/>
          <p:cNvSpPr txBox="1"/>
          <p:nvPr/>
        </p:nvSpPr>
        <p:spPr>
          <a:xfrm>
            <a:off x="594360" y="5943600"/>
            <a:ext cx="7132320" cy="155448"/>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RDEF(US, 902.0f, 928.0f, ...);  freq = start + bw/2000 + hash(name)*(bw/1000);</a:t>
            </a:r>
            <a:endParaRPr lang="en-US" sz="1000" dirty="0"/>
          </a:p>
        </p:txBody>
      </p:sp>
      <p:sp>
        <p:nvSpPr>
          <p:cNvPr id="37" name="Text 33"/>
          <p:cNvSpPr txBox="1"/>
          <p:nvPr/>
        </p:nvSpPr>
        <p:spPr>
          <a:xfrm>
            <a:off x="8001000" y="5623560"/>
            <a:ext cx="3749040" cy="566928"/>
          </a:xfrm>
          <a:prstGeom prst="rect">
            <a:avLst/>
          </a:prstGeom>
          <a:noFill/>
          <a:ln/>
        </p:spPr>
        <p:txBody>
          <a:bodyPr wrap="square" lIns="0" tIns="0" rIns="0" bIns="0" rtlCol="0" anchor="ctr"/>
          <a:lstStyle/>
          <a:p>
            <a:pPr indent="0" marL="0">
              <a:buNone/>
            </a:pPr>
            <a:r>
              <a:rPr lang="en-US" sz="850" dirty="0">
                <a:solidFill>
                  <a:srgbClr val="5E6B85"/>
                </a:solidFill>
                <a:latin typeface="Arial" pitchFamily="34" charset="0"/>
                <a:ea typeface="Arial" pitchFamily="34" charset="-122"/>
                <a:cs typeface="Arial" pitchFamily="34" charset="-120"/>
              </a:rPr>
              <a:t>Both radios hash the same channel name, so they meet on the same frequency with no coordination message. Full walkthrough: docs/RADIO_PHY_DEEP_DIVE.pdf</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434840"/>
            <a:ext cx="10972800" cy="14630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ble_link connects by remembered address, encrypts, subscribes, drains. proto_decode names the bytes. node_table keeps honest fixes and publishes TrackerState v2.</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Road-tested: the link reconnects itself, and stale re-broadcasts can no longer pose as fresh data.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736592"/>
            <a:ext cx="10744200" cy="1188720"/>
          </a:xfrm>
          <a:prstGeom prst="rect">
            <a:avLst/>
          </a:prstGeom>
          <a:noFill/>
          <a:ln/>
        </p:spPr>
        <p:txBody>
          <a:bodyPr wrap="square" lIns="0" tIns="0" rIns="0" bIns="0" rtlCol="0" anchor="ctr"/>
          <a:lstStyle/>
          <a:p>
            <a:pPr indent="0" marL="0">
              <a:spcAft>
                <a:spcPts val="700"/>
              </a:spcAft>
              <a:buNone/>
            </a:pPr>
            <a:r>
              <a:rPr lang="en-US" sz="1300" dirty="0">
                <a:solidFill>
                  <a:srgbClr val="222A3F"/>
                </a:solidFill>
                <a:latin typeface="Arial" pitchFamily="34" charset="0"/>
                <a:ea typeface="Arial" pitchFamily="34" charset="-122"/>
                <a:cs typeface="Arial" pitchFamily="34" charset="-120"/>
              </a:rPr>
              <a:t>Four files, one direction of flow, one struct. The halves meet only at the store functions; the mutex cannot be bypassed.</a:t>
            </a:r>
            <a:endParaRPr lang="en-US" sz="1300" dirty="0"/>
          </a:p>
          <a:p>
            <a:pPr indent="0" marL="0">
              <a:buNone/>
            </a:pPr>
            <a:r>
              <a:rPr lang="en-US" sz="1300" dirty="0">
                <a:solidFill>
                  <a:srgbClr val="222A3F"/>
                </a:solidFill>
                <a:latin typeface="Arial" pitchFamily="34" charset="0"/>
                <a:ea typeface="Arial" pitchFamily="34" charset="-122"/>
                <a:cs typeface="Arial" pitchFamily="34" charset="-120"/>
              </a:rPr>
              <a:t>Road hardening: km/h converted at the door, jitter deadband, duplicate detection, a clock that cannot run backwards.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840480"/>
            <a:ext cx="11292840" cy="132588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Heading from GPS course over ground: no magnetometer in a steel cab. Below 5 mph, north-up rose.</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Every element is a state machine on the struct: CHANGE COURSE, chevrons, STALE past 120 s, position-derived clock.</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Pure C, no hardware dependencies: 12 of 12 native tests pass on a laptop.</a:t>
            </a:r>
            <a:endParaRPr lang="en-US" sz="130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Measurements every 10 s. The display projects both vehicles every second, and each real fix snaps it back to truth.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No simulator: every value arrived by radio.</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Reflective panel: sharper in sunlight, built for a dash.</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age readout is the honesty metric.</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Banner, chevron, rose: state machines on live data.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LONG_FAST: SF11 over 250 kHz, FEC 4/5, 915 MHz ISM, private AES-256 channel, full precision.</a:t>
            </a:r>
            <a:endParaRPr lang="en-US" sz="1300" dirty="0"/>
          </a:p>
          <a:p>
            <a:pPr marL="342900" indent="-342900">
              <a:spcAft>
                <a:spcPts val="600"/>
              </a:spcAft>
              <a:buSzPct val="100000"/>
              <a:buChar char="▪"/>
            </a:pPr>
            <a:r>
              <a:rPr lang="en-US" sz="1300" dirty="0">
                <a:solidFill>
                  <a:srgbClr val="222A3F"/>
                </a:solidFill>
                <a:latin typeface="Arial" pitchFamily="34" charset="0"/>
                <a:ea typeface="Arial" pitchFamily="34" charset="-122"/>
                <a:cs typeface="Arial" pitchFamily="34" charset="-120"/>
              </a:rPr>
              <a:t>Smart broadcast 10 s / 20 m moving, 60 s parked. GPS refresh 10 s: every broadcast carries a new fix.</a:t>
            </a:r>
            <a:endParaRPr lang="en-US" sz="1300" dirty="0"/>
          </a:p>
          <a:p>
            <a:pPr marL="342900" indent="-342900">
              <a:buSzPct val="100000"/>
              <a:buChar char="▪"/>
            </a:pPr>
            <a:r>
              <a:rPr lang="en-US" sz="1300" dirty="0">
                <a:solidFill>
                  <a:srgbClr val="222A3F"/>
                </a:solidFill>
                <a:latin typeface="Arial" pitchFamily="34" charset="0"/>
                <a:ea typeface="Arial" pitchFamily="34" charset="-122"/>
                <a:cs typeface="Arial" pitchFamily="34" charset="-120"/>
              </a:rPr>
              <a:t>The OLED is the free field debugger: satellites, nodes, utilization, last RSSI.</a:t>
            </a:r>
            <a:endParaRPr lang="en-US" sz="130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Radio 2 joins with the exact channel URL (it carries the AES key). Verify every CLI write; always name the upload port.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sp>
        <p:nvSpPr>
          <p:cNvPr id="11" name="Text 9"/>
          <p:cNvSpPr txBox="1"/>
          <p:nvPr/>
        </p:nvSpPr>
        <p:spPr>
          <a:xfrm>
            <a:off x="457200" y="137160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6.1.1 p.39 + AN1200.22</a:t>
            </a:r>
            <a:endParaRPr lang="en-US" sz="800" dirty="0"/>
          </a:p>
        </p:txBody>
      </p:sp>
      <p:pic>
        <p:nvPicPr>
          <p:cNvPr id="12"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3" name="Text 10"/>
          <p:cNvSpPr txBox="1"/>
          <p:nvPr/>
        </p:nvSpPr>
        <p:spPr>
          <a:xfrm>
            <a:off x="457200" y="182880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sp>
        <p:nvSpPr>
          <p:cNvPr id="14" name="Text 11"/>
          <p:cNvSpPr txBox="1"/>
          <p:nvPr/>
        </p:nvSpPr>
        <p:spPr>
          <a:xfrm>
            <a:off x="457200" y="210312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Meshtastic docs, ~25% cap</a:t>
            </a:r>
            <a:endParaRPr lang="en-US" sz="800" dirty="0"/>
          </a:p>
        </p:txBody>
      </p:sp>
      <p:pic>
        <p:nvPicPr>
          <p:cNvPr id="15"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6" name="Text 12"/>
          <p:cNvSpPr txBox="1"/>
          <p:nvPr/>
        </p:nvSpPr>
        <p:spPr>
          <a:xfrm>
            <a:off x="457200" y="25603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sp>
        <p:nvSpPr>
          <p:cNvPr id="17" name="Text 13"/>
          <p:cNvSpPr txBox="1"/>
          <p:nvPr/>
        </p:nvSpPr>
        <p:spPr>
          <a:xfrm>
            <a:off x="457200" y="28346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Table 6-1 p.39, 3.5.3 p.20</a:t>
            </a:r>
            <a:endParaRPr lang="en-US" sz="800" dirty="0"/>
          </a:p>
        </p:txBody>
      </p:sp>
      <p:pic>
        <p:nvPicPr>
          <p:cNvPr id="18"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9" name="Text 14"/>
          <p:cNvSpPr txBox="1"/>
          <p:nvPr/>
        </p:nvSpPr>
        <p:spPr>
          <a:xfrm>
            <a:off x="457200" y="32461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sp>
        <p:nvSpPr>
          <p:cNvPr id="20" name="Text 15"/>
          <p:cNvSpPr txBox="1"/>
          <p:nvPr/>
        </p:nvSpPr>
        <p:spPr>
          <a:xfrm>
            <a:off x="457200" y="35204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DS 6.1.4 p.41 (airtime term)</a:t>
            </a:r>
            <a:endParaRPr lang="en-US" sz="800" dirty="0"/>
          </a:p>
        </p:txBody>
      </p:sp>
      <p:pic>
        <p:nvPicPr>
          <p:cNvPr id="21"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22" name="Text 16"/>
          <p:cNvSpPr txBox="1"/>
          <p:nvPr/>
        </p:nvSpPr>
        <p:spPr>
          <a:xfrm>
            <a:off x="457200" y="3931920"/>
            <a:ext cx="2468880" cy="292608"/>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sp>
        <p:nvSpPr>
          <p:cNvPr id="23" name="Text 17"/>
          <p:cNvSpPr txBox="1"/>
          <p:nvPr/>
        </p:nvSpPr>
        <p:spPr>
          <a:xfrm>
            <a:off x="457200" y="4206240"/>
            <a:ext cx="2468880" cy="219456"/>
          </a:xfrm>
          <a:prstGeom prst="rect">
            <a:avLst/>
          </a:prstGeom>
          <a:noFill/>
          <a:ln/>
        </p:spPr>
        <p:txBody>
          <a:bodyPr wrap="square" lIns="0" tIns="0" rIns="0" bIns="0" rtlCol="0" anchor="ctr"/>
          <a:lstStyle/>
          <a:p>
            <a:pPr indent="0" marL="0">
              <a:buNone/>
            </a:pPr>
            <a:r>
              <a:rPr lang="en-US" sz="800" dirty="0">
                <a:solidFill>
                  <a:srgbClr val="5E6B85"/>
                </a:solidFill>
                <a:latin typeface="Courier New" pitchFamily="34" charset="0"/>
                <a:ea typeface="Courier New" pitchFamily="34" charset="-122"/>
                <a:cs typeface="Courier New" pitchFamily="34" charset="-120"/>
              </a:rPr>
              <a:t>dead_reckon.c, 12/12 tests</a:t>
            </a:r>
            <a:endParaRPr lang="en-US" sz="800" dirty="0"/>
          </a:p>
        </p:txBody>
      </p:sp>
      <p:pic>
        <p:nvPicPr>
          <p:cNvPr id="24"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5" name="Shape 18"/>
          <p:cNvSpPr/>
          <p:nvPr/>
        </p:nvSpPr>
        <p:spPr>
          <a:xfrm>
            <a:off x="457200" y="4754880"/>
            <a:ext cx="11292840" cy="1371600"/>
          </a:xfrm>
          <a:prstGeom prst="rect">
            <a:avLst/>
          </a:prstGeom>
          <a:solidFill>
            <a:srgbClr val="16213D"/>
          </a:solidFill>
          <a:ln/>
        </p:spPr>
      </p:sp>
      <p:sp>
        <p:nvSpPr>
          <p:cNvPr id="26" name="Text 19"/>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Delivery is real time: about one second. Sampling is 10 s, because airtime is the currency and we bought range with it. Dead reckoning fills the gap at 1 Hz.</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BEHAVIOR, GRAPHED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SAME PHYSICS, GRAPHED</a:t>
            </a:r>
            <a:endParaRPr lang="en-US" sz="2300" dirty="0"/>
          </a:p>
        </p:txBody>
      </p:sp>
      <p:pic>
        <p:nvPicPr>
          <p:cNvPr id="10" name="Image 0" descr="C:/Users/deogr/AppData/Local/Temp/claude/C--Users-deogr-Documents-Fall-Project-Off-Grid-Vehicle-dection-project/e8b2e8fa-1513-4aa8-a8f6-ce4fcd20e664/scratchpad/deck3/g_utilization.png">    </p:cNvPr>
          <p:cNvPicPr>
            <a:picLocks noChangeAspect="1"/>
          </p:cNvPicPr>
          <p:nvPr/>
        </p:nvPicPr>
        <p:blipFill>
          <a:blip r:embed="rId1"/>
          <a:stretch>
            <a:fillRect/>
          </a:stretch>
        </p:blipFill>
        <p:spPr>
          <a:xfrm>
            <a:off x="457200" y="1024128"/>
            <a:ext cx="5394960" cy="3739896"/>
          </a:xfrm>
          <a:prstGeom prst="rect">
            <a:avLst/>
          </a:prstGeom>
        </p:spPr>
      </p:pic>
      <p:sp>
        <p:nvSpPr>
          <p:cNvPr id="11" name="Shape 8"/>
          <p:cNvSpPr/>
          <p:nvPr/>
        </p:nvSpPr>
        <p:spPr>
          <a:xfrm>
            <a:off x="457200" y="1024128"/>
            <a:ext cx="5394960" cy="3739896"/>
          </a:xfrm>
          <a:prstGeom prst="rect">
            <a:avLst/>
          </a:prstGeom>
          <a:ln w="12700">
            <a:solidFill>
              <a:srgbClr val="9AA7BE"/>
            </a:solidFill>
            <a:prstDash val="solid"/>
          </a:ln>
        </p:spPr>
      </p:sp>
      <p:pic>
        <p:nvPicPr>
          <p:cNvPr id="12" name="Image 1" descr="C:/Users/deogr/AppData/Local/Temp/claude/C--Users-deogr-Documents-Fall-Project-Off-Grid-Vehicle-dection-project/e8b2e8fa-1513-4aa8-a8f6-ce4fcd20e664/scratchpad/deck3/g_deadreckon.png">    </p:cNvPr>
          <p:cNvPicPr>
            <a:picLocks noChangeAspect="1"/>
          </p:cNvPicPr>
          <p:nvPr/>
        </p:nvPicPr>
        <p:blipFill>
          <a:blip r:embed="rId2"/>
          <a:stretch>
            <a:fillRect/>
          </a:stretch>
        </p:blipFill>
        <p:spPr>
          <a:xfrm>
            <a:off x="6309360" y="1024128"/>
            <a:ext cx="5394960" cy="3739896"/>
          </a:xfrm>
          <a:prstGeom prst="rect">
            <a:avLst/>
          </a:prstGeom>
        </p:spPr>
      </p:pic>
      <p:sp>
        <p:nvSpPr>
          <p:cNvPr id="13" name="Shape 9"/>
          <p:cNvSpPr/>
          <p:nvPr/>
        </p:nvSpPr>
        <p:spPr>
          <a:xfrm>
            <a:off x="6309360" y="1024128"/>
            <a:ext cx="5394960" cy="3739896"/>
          </a:xfrm>
          <a:prstGeom prst="rect">
            <a:avLst/>
          </a:prstGeom>
          <a:ln w="12700">
            <a:solidFill>
              <a:srgbClr val="9AA7BE"/>
            </a:solidFill>
            <a:prstDash val="solid"/>
          </a:ln>
        </p:spPr>
      </p:sp>
      <p:sp>
        <p:nvSpPr>
          <p:cNvPr id="14" name="Text 10"/>
          <p:cNvSpPr txBox="1"/>
          <p:nvPr/>
        </p:nvSpPr>
        <p:spPr>
          <a:xfrm>
            <a:off x="457200" y="4864608"/>
            <a:ext cx="5394960" cy="960120"/>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The update-rate wall: 1 s would take 100% of the channel. Our point: 10 s, 10%, under the enforced 25% ceiling.</a:t>
            </a:r>
            <a:endParaRPr lang="en-US" sz="1200" dirty="0"/>
          </a:p>
        </p:txBody>
      </p:sp>
      <p:sp>
        <p:nvSpPr>
          <p:cNvPr id="15" name="Text 11"/>
          <p:cNvSpPr txBox="1"/>
          <p:nvPr/>
        </p:nvSpPr>
        <p:spPr>
          <a:xfrm>
            <a:off x="6309360" y="4864608"/>
            <a:ext cx="5394960" cy="960120"/>
          </a:xfrm>
          <a:prstGeom prst="rect">
            <a:avLst/>
          </a:prstGeom>
          <a:noFill/>
          <a:ln/>
        </p:spPr>
        <p:txBody>
          <a:bodyPr wrap="square" lIns="0" tIns="0" rIns="0" bIns="0" rtlCol="0" anchor="ctr"/>
          <a:lstStyle/>
          <a:p>
            <a:pPr indent="0" marL="0">
              <a:buNone/>
            </a:pPr>
            <a:r>
              <a:rPr lang="en-US" sz="1200" dirty="0">
                <a:solidFill>
                  <a:srgbClr val="222A3F"/>
                </a:solidFill>
                <a:latin typeface="Arial" pitchFamily="34" charset="0"/>
                <a:ea typeface="Arial" pitchFamily="34" charset="-122"/>
                <a:cs typeface="Arial" pitchFamily="34" charset="-120"/>
              </a:rPr>
              <a:t>Raw fix: up to 200 m behind at 45 mph. Dead reckoning: bounded near 25 m, snapped to zero by each real fix.</a:t>
            </a:r>
            <a:endParaRPr lang="en-US" sz="1200" dirty="0"/>
          </a:p>
        </p:txBody>
      </p:sp>
      <p:sp>
        <p:nvSpPr>
          <p:cNvPr id="16" name="Shape 12"/>
          <p:cNvSpPr/>
          <p:nvPr/>
        </p:nvSpPr>
        <p:spPr>
          <a:xfrm>
            <a:off x="457200" y="5870448"/>
            <a:ext cx="11292840" cy="0"/>
          </a:xfrm>
          <a:prstGeom prst="line">
            <a:avLst/>
          </a:prstGeom>
          <a:noFill/>
          <a:ln w="9525">
            <a:solidFill>
              <a:srgbClr val="9AA7BE"/>
            </a:solidFill>
            <a:prstDash val="solid"/>
          </a:ln>
        </p:spPr>
      </p:sp>
      <p:sp>
        <p:nvSpPr>
          <p:cNvPr id="17" name="Text 13"/>
          <p:cNvSpPr txBox="1"/>
          <p:nvPr/>
        </p:nvSpPr>
        <p:spPr>
          <a:xfrm>
            <a:off x="457200" y="5943600"/>
            <a:ext cx="11292840" cy="274320"/>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SOURCES  [1] Semtech SX1276 datasheet, SNR limit per spreading factor   [2] Semtech AN1200.22, LoRa modulation and airtime   [3] Meshtastic docs, LoRa config and duty limit   [4] ITU-R M.1371, AIS reporting intervals   (full citations in the notes)</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ONE DEVICE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THE HALVES ARE JOINED</a:t>
            </a:r>
            <a:endParaRPr lang="en-US" sz="2300" dirty="0"/>
          </a:p>
        </p:txBody>
      </p:sp>
      <p:sp>
        <p:nvSpPr>
          <p:cNvPr id="10" name="Shape 8"/>
          <p:cNvSpPr/>
          <p:nvPr/>
        </p:nvSpPr>
        <p:spPr>
          <a:xfrm>
            <a:off x="457200" y="1097280"/>
            <a:ext cx="5120640" cy="804672"/>
          </a:xfrm>
          <a:prstGeom prst="rect">
            <a:avLst/>
          </a:prstGeom>
          <a:solidFill>
            <a:srgbClr val="F2F5FA"/>
          </a:solidFill>
          <a:ln w="15875">
            <a:solidFill>
              <a:srgbClr val="D9488C"/>
            </a:solidFill>
            <a:prstDash val="solid"/>
          </a:ln>
        </p:spPr>
      </p:sp>
      <p:sp>
        <p:nvSpPr>
          <p:cNvPr id="11" name="Text 9"/>
          <p:cNvSpPr txBox="1"/>
          <p:nvPr/>
        </p:nvSpPr>
        <p:spPr>
          <a:xfrm>
            <a:off x="594360" y="1152144"/>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GPS to radio</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satellites acquired, fixes flowing over UART</a:t>
            </a:r>
            <a:endParaRPr lang="en-US" sz="1100" dirty="0"/>
          </a:p>
        </p:txBody>
      </p:sp>
      <p:sp>
        <p:nvSpPr>
          <p:cNvPr id="12" name="Text 10"/>
          <p:cNvSpPr txBox="1"/>
          <p:nvPr/>
        </p:nvSpPr>
        <p:spPr>
          <a:xfrm>
            <a:off x="3977640" y="1170432"/>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3" name="Text 11"/>
          <p:cNvSpPr txBox="1"/>
          <p:nvPr/>
        </p:nvSpPr>
        <p:spPr>
          <a:xfrm>
            <a:off x="3950208" y="1463040"/>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"own GPS: locked"</a:t>
            </a:r>
            <a:endParaRPr lang="en-US" sz="750" dirty="0"/>
          </a:p>
        </p:txBody>
      </p:sp>
      <p:sp>
        <p:nvSpPr>
          <p:cNvPr id="14" name="Shape 12"/>
          <p:cNvSpPr/>
          <p:nvPr/>
        </p:nvSpPr>
        <p:spPr>
          <a:xfrm>
            <a:off x="1005840" y="1901952"/>
            <a:ext cx="0" cy="164592"/>
          </a:xfrm>
          <a:prstGeom prst="line">
            <a:avLst/>
          </a:prstGeom>
          <a:noFill/>
          <a:ln w="28575">
            <a:solidFill>
              <a:srgbClr val="D9488C"/>
            </a:solidFill>
            <a:prstDash val="solid"/>
            <a:tailEnd type="triangle"/>
          </a:ln>
        </p:spPr>
      </p:sp>
      <p:sp>
        <p:nvSpPr>
          <p:cNvPr id="15" name="Shape 13"/>
          <p:cNvSpPr/>
          <p:nvPr/>
        </p:nvSpPr>
        <p:spPr>
          <a:xfrm>
            <a:off x="457200" y="2066544"/>
            <a:ext cx="5120640" cy="804672"/>
          </a:xfrm>
          <a:prstGeom prst="rect">
            <a:avLst/>
          </a:prstGeom>
          <a:solidFill>
            <a:srgbClr val="F2F5FA"/>
          </a:solidFill>
          <a:ln w="15875">
            <a:solidFill>
              <a:srgbClr val="D9488C"/>
            </a:solidFill>
            <a:prstDash val="solid"/>
          </a:ln>
        </p:spPr>
      </p:sp>
      <p:sp>
        <p:nvSpPr>
          <p:cNvPr id="16" name="Text 14"/>
          <p:cNvSpPr txBox="1"/>
          <p:nvPr/>
        </p:nvSpPr>
        <p:spPr>
          <a:xfrm>
            <a:off x="594360" y="2121408"/>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Radio to display</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BLE GATT link, automatic reconnect</a:t>
            </a:r>
            <a:endParaRPr lang="en-US" sz="1100" dirty="0"/>
          </a:p>
        </p:txBody>
      </p:sp>
      <p:sp>
        <p:nvSpPr>
          <p:cNvPr id="17" name="Text 15"/>
          <p:cNvSpPr txBox="1"/>
          <p:nvPr/>
        </p:nvSpPr>
        <p:spPr>
          <a:xfrm>
            <a:off x="3977640" y="2139696"/>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18" name="Text 16"/>
          <p:cNvSpPr txBox="1"/>
          <p:nvPr/>
        </p:nvSpPr>
        <p:spPr>
          <a:xfrm>
            <a:off x="3950208" y="2432304"/>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"radio link: connected"</a:t>
            </a:r>
            <a:endParaRPr lang="en-US" sz="750" dirty="0"/>
          </a:p>
        </p:txBody>
      </p:sp>
      <p:sp>
        <p:nvSpPr>
          <p:cNvPr id="19" name="Shape 17"/>
          <p:cNvSpPr/>
          <p:nvPr/>
        </p:nvSpPr>
        <p:spPr>
          <a:xfrm>
            <a:off x="1005840" y="2871216"/>
            <a:ext cx="0" cy="164592"/>
          </a:xfrm>
          <a:prstGeom prst="line">
            <a:avLst/>
          </a:prstGeom>
          <a:noFill/>
          <a:ln w="28575">
            <a:solidFill>
              <a:srgbClr val="D9488C"/>
            </a:solidFill>
            <a:prstDash val="solid"/>
            <a:tailEnd type="triangle"/>
          </a:ln>
        </p:spPr>
      </p:sp>
      <p:sp>
        <p:nvSpPr>
          <p:cNvPr id="20" name="Shape 18"/>
          <p:cNvSpPr/>
          <p:nvPr/>
        </p:nvSpPr>
        <p:spPr>
          <a:xfrm>
            <a:off x="457200" y="3035808"/>
            <a:ext cx="5120640" cy="804672"/>
          </a:xfrm>
          <a:prstGeom prst="rect">
            <a:avLst/>
          </a:prstGeom>
          <a:solidFill>
            <a:srgbClr val="F2F5FA"/>
          </a:solidFill>
          <a:ln w="15875">
            <a:solidFill>
              <a:srgbClr val="D9488C"/>
            </a:solidFill>
            <a:prstDash val="solid"/>
          </a:ln>
        </p:spPr>
      </p:sp>
      <p:sp>
        <p:nvSpPr>
          <p:cNvPr id="21" name="Text 19"/>
          <p:cNvSpPr txBox="1"/>
          <p:nvPr/>
        </p:nvSpPr>
        <p:spPr>
          <a:xfrm>
            <a:off x="594360" y="3090672"/>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Decode to TrackerState</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protobuf frames become live coordinates</a:t>
            </a:r>
            <a:endParaRPr lang="en-US" sz="1100" dirty="0"/>
          </a:p>
        </p:txBody>
      </p:sp>
      <p:sp>
        <p:nvSpPr>
          <p:cNvPr id="22" name="Text 20"/>
          <p:cNvSpPr txBox="1"/>
          <p:nvPr/>
        </p:nvSpPr>
        <p:spPr>
          <a:xfrm>
            <a:off x="3977640" y="3108960"/>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3" name="Text 21"/>
          <p:cNvSpPr txBox="1"/>
          <p:nvPr/>
        </p:nvSpPr>
        <p:spPr>
          <a:xfrm>
            <a:off x="3950208" y="3401568"/>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"ME 33.60719 -101.89643"</a:t>
            </a:r>
            <a:endParaRPr lang="en-US" sz="750" dirty="0"/>
          </a:p>
        </p:txBody>
      </p:sp>
      <p:sp>
        <p:nvSpPr>
          <p:cNvPr id="24" name="Shape 22"/>
          <p:cNvSpPr/>
          <p:nvPr/>
        </p:nvSpPr>
        <p:spPr>
          <a:xfrm>
            <a:off x="1005840" y="3840480"/>
            <a:ext cx="0" cy="164592"/>
          </a:xfrm>
          <a:prstGeom prst="line">
            <a:avLst/>
          </a:prstGeom>
          <a:noFill/>
          <a:ln w="28575">
            <a:solidFill>
              <a:srgbClr val="D9488C"/>
            </a:solidFill>
            <a:prstDash val="solid"/>
            <a:tailEnd type="triangle"/>
          </a:ln>
        </p:spPr>
      </p:sp>
      <p:sp>
        <p:nvSpPr>
          <p:cNvPr id="25" name="Shape 23"/>
          <p:cNvSpPr/>
          <p:nvPr/>
        </p:nvSpPr>
        <p:spPr>
          <a:xfrm>
            <a:off x="457200" y="4005072"/>
            <a:ext cx="5120640" cy="804672"/>
          </a:xfrm>
          <a:prstGeom prst="rect">
            <a:avLst/>
          </a:prstGeom>
          <a:solidFill>
            <a:srgbClr val="F2F5FA"/>
          </a:solidFill>
          <a:ln w="15875">
            <a:solidFill>
              <a:srgbClr val="D9488C"/>
            </a:solidFill>
            <a:prstDash val="solid"/>
          </a:ln>
        </p:spPr>
      </p:sp>
      <p:sp>
        <p:nvSpPr>
          <p:cNvPr id="26" name="Text 24"/>
          <p:cNvSpPr txBox="1"/>
          <p:nvPr/>
        </p:nvSpPr>
        <p:spPr>
          <a:xfrm>
            <a:off x="594360" y="4059936"/>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Navigation and UI</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state-driven pages, honest ages, local clock</a:t>
            </a:r>
            <a:endParaRPr lang="en-US" sz="1100" dirty="0"/>
          </a:p>
        </p:txBody>
      </p:sp>
      <p:sp>
        <p:nvSpPr>
          <p:cNvPr id="27" name="Text 25"/>
          <p:cNvSpPr txBox="1"/>
          <p:nvPr/>
        </p:nvSpPr>
        <p:spPr>
          <a:xfrm>
            <a:off x="3977640" y="4078224"/>
            <a:ext cx="777240" cy="274320"/>
          </a:xfrm>
          <a:prstGeom prst="rect">
            <a:avLst/>
          </a:prstGeom>
          <a:noFill/>
          <a:ln/>
        </p:spPr>
        <p:txBody>
          <a:bodyPr wrap="square" lIns="0" tIns="0" rIns="0" bIns="0" rtlCol="0" anchor="ctr"/>
          <a:lstStyle/>
          <a:p>
            <a:pPr algn="ctr" indent="0" marL="0">
              <a:buNone/>
            </a:pPr>
            <a:r>
              <a:rPr lang="en-US" sz="900" b="1" dirty="0">
                <a:solidFill>
                  <a:srgbClr val="1F9D68"/>
                </a:solidFill>
                <a:latin typeface="Courier New" pitchFamily="34" charset="0"/>
                <a:ea typeface="Courier New" pitchFamily="34" charset="-122"/>
                <a:cs typeface="Courier New" pitchFamily="34" charset="-120"/>
              </a:rPr>
              <a:t>PROVEN</a:t>
            </a:r>
            <a:endParaRPr lang="en-US" sz="900" dirty="0"/>
          </a:p>
        </p:txBody>
      </p:sp>
      <p:sp>
        <p:nvSpPr>
          <p:cNvPr id="28" name="Text 26"/>
          <p:cNvSpPr txBox="1"/>
          <p:nvPr/>
        </p:nvSpPr>
        <p:spPr>
          <a:xfrm>
            <a:off x="3950208" y="4370832"/>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"6:59a CDT, age 55 s"</a:t>
            </a:r>
            <a:endParaRPr lang="en-US" sz="750" dirty="0"/>
          </a:p>
        </p:txBody>
      </p:sp>
      <p:sp>
        <p:nvSpPr>
          <p:cNvPr id="29" name="Shape 27"/>
          <p:cNvSpPr/>
          <p:nvPr/>
        </p:nvSpPr>
        <p:spPr>
          <a:xfrm>
            <a:off x="1005840" y="4809744"/>
            <a:ext cx="0" cy="164592"/>
          </a:xfrm>
          <a:prstGeom prst="line">
            <a:avLst/>
          </a:prstGeom>
          <a:noFill/>
          <a:ln w="28575">
            <a:solidFill>
              <a:srgbClr val="D9488C"/>
            </a:solidFill>
            <a:prstDash val="solid"/>
            <a:tailEnd type="triangle"/>
          </a:ln>
        </p:spPr>
      </p:sp>
      <p:sp>
        <p:nvSpPr>
          <p:cNvPr id="30" name="Shape 28"/>
          <p:cNvSpPr/>
          <p:nvPr/>
        </p:nvSpPr>
        <p:spPr>
          <a:xfrm>
            <a:off x="457200" y="4974336"/>
            <a:ext cx="5120640" cy="804672"/>
          </a:xfrm>
          <a:prstGeom prst="rect">
            <a:avLst/>
          </a:prstGeom>
          <a:solidFill>
            <a:srgbClr val="FFFFFF"/>
          </a:solidFill>
          <a:ln w="15875">
            <a:solidFill>
              <a:srgbClr val="E58E1A"/>
            </a:solidFill>
            <a:prstDash val="dash"/>
          </a:ln>
        </p:spPr>
      </p:sp>
      <p:sp>
        <p:nvSpPr>
          <p:cNvPr id="31" name="Text 29"/>
          <p:cNvSpPr txBox="1"/>
          <p:nvPr/>
        </p:nvSpPr>
        <p:spPr>
          <a:xfrm>
            <a:off x="594360" y="5029200"/>
            <a:ext cx="3291840" cy="713232"/>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Partner over LoRa</a:t>
            </a:r>
            <a:endParaRPr lang="en-US" sz="1100" dirty="0"/>
          </a:p>
          <a:p>
            <a:pPr indent="0" marL="0">
              <a:buNone/>
            </a:pPr>
            <a:r>
              <a:rPr lang="en-US" sz="900" dirty="0">
                <a:solidFill>
                  <a:srgbClr val="5E6B85"/>
                </a:solidFill>
                <a:latin typeface="Arial" pitchFamily="34" charset="0"/>
                <a:ea typeface="Arial" pitchFamily="34" charset="-122"/>
                <a:cs typeface="Arial" pitchFamily="34" charset="-120"/>
              </a:rPr>
              <a:t>second radio joins the encrypted channel</a:t>
            </a:r>
            <a:endParaRPr lang="en-US" sz="1100" dirty="0"/>
          </a:p>
        </p:txBody>
      </p:sp>
      <p:sp>
        <p:nvSpPr>
          <p:cNvPr id="32" name="Text 30"/>
          <p:cNvSpPr txBox="1"/>
          <p:nvPr/>
        </p:nvSpPr>
        <p:spPr>
          <a:xfrm>
            <a:off x="3977640" y="5047488"/>
            <a:ext cx="777240" cy="274320"/>
          </a:xfrm>
          <a:prstGeom prst="rect">
            <a:avLst/>
          </a:prstGeom>
          <a:noFill/>
          <a:ln/>
        </p:spPr>
        <p:txBody>
          <a:bodyPr wrap="square" lIns="0" tIns="0" rIns="0" bIns="0" rtlCol="0" anchor="ctr"/>
          <a:lstStyle/>
          <a:p>
            <a:pPr algn="ctr" indent="0" marL="0">
              <a:buNone/>
            </a:pPr>
            <a:r>
              <a:rPr lang="en-US" sz="900" b="1" dirty="0">
                <a:solidFill>
                  <a:srgbClr val="B06207"/>
                </a:solidFill>
                <a:latin typeface="Courier New" pitchFamily="34" charset="0"/>
                <a:ea typeface="Courier New" pitchFamily="34" charset="-122"/>
                <a:cs typeface="Courier New" pitchFamily="34" charset="-120"/>
              </a:rPr>
              <a:t>NEXT</a:t>
            </a:r>
            <a:endParaRPr lang="en-US" sz="900" dirty="0"/>
          </a:p>
        </p:txBody>
      </p:sp>
      <p:sp>
        <p:nvSpPr>
          <p:cNvPr id="33" name="Text 31"/>
          <p:cNvSpPr txBox="1"/>
          <p:nvPr/>
        </p:nvSpPr>
        <p:spPr>
          <a:xfrm>
            <a:off x="3950208" y="5340096"/>
            <a:ext cx="1572768" cy="384048"/>
          </a:xfrm>
          <a:prstGeom prst="rect">
            <a:avLst/>
          </a:prstGeom>
          <a:noFill/>
          <a:ln/>
        </p:spPr>
        <p:txBody>
          <a:bodyPr wrap="square" lIns="0" tIns="0" rIns="0" bIns="0" rtlCol="0" anchor="ctr"/>
          <a:lstStyle/>
          <a:p>
            <a:pPr indent="0" marL="0">
              <a:buNone/>
            </a:pPr>
            <a:r>
              <a:rPr lang="en-US" sz="750" dirty="0">
                <a:solidFill>
                  <a:srgbClr val="5E6B85"/>
                </a:solidFill>
                <a:latin typeface="Courier New" pitchFamily="34" charset="0"/>
                <a:ea typeface="Courier New" pitchFamily="34" charset="-122"/>
                <a:cs typeface="Courier New" pitchFamily="34" charset="-120"/>
              </a:rPr>
              <a:t>"PTR no partner heard yet"</a:t>
            </a:r>
            <a:endParaRPr lang="en-US" sz="750" dirty="0"/>
          </a:p>
        </p:txBody>
      </p:sp>
      <p:pic>
        <p:nvPicPr>
          <p:cNvPr id="34" name="Image 0" descr="C:/Users/deogr/AppData/Local/Temp/claude/C--Users-deogr-Documents-Fall-Project-Off-Grid-Vehicle-dection-project/e8b2e8fa-1513-4aa8-a8f6-ce4fcd20e664/scratchpad/deck3/p_search.jpg">    </p:cNvPr>
          <p:cNvPicPr>
            <a:picLocks noChangeAspect="1"/>
          </p:cNvPicPr>
          <p:nvPr/>
        </p:nvPicPr>
        <p:blipFill>
          <a:blip r:embed="rId1"/>
          <a:stretch>
            <a:fillRect/>
          </a:stretch>
        </p:blipFill>
        <p:spPr>
          <a:xfrm>
            <a:off x="5852160" y="1097280"/>
            <a:ext cx="1783080" cy="1399032"/>
          </a:xfrm>
          <a:prstGeom prst="rect">
            <a:avLst/>
          </a:prstGeom>
        </p:spPr>
      </p:pic>
      <p:sp>
        <p:nvSpPr>
          <p:cNvPr id="35" name="Shape 32"/>
          <p:cNvSpPr/>
          <p:nvPr/>
        </p:nvSpPr>
        <p:spPr>
          <a:xfrm>
            <a:off x="5852160" y="1097280"/>
            <a:ext cx="1783080" cy="1399032"/>
          </a:xfrm>
          <a:prstGeom prst="rect">
            <a:avLst/>
          </a:prstGeom>
          <a:ln w="12700">
            <a:solidFill>
              <a:srgbClr val="9AA7BE"/>
            </a:solidFill>
            <a:prstDash val="solid"/>
          </a:ln>
        </p:spPr>
      </p:sp>
      <p:sp>
        <p:nvSpPr>
          <p:cNvPr id="36" name="Text 33"/>
          <p:cNvSpPr txBox="1"/>
          <p:nvPr/>
        </p:nvSpPr>
        <p:spPr>
          <a:xfrm>
            <a:off x="5852160" y="252374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Boot: link + GPS proven</a:t>
            </a:r>
            <a:endParaRPr lang="en-US" sz="950" dirty="0"/>
          </a:p>
        </p:txBody>
      </p:sp>
      <p:pic>
        <p:nvPicPr>
          <p:cNvPr id="37" name="Image 1" descr="C:/Users/deogr/AppData/Local/Temp/claude/C--Users-deogr-Documents-Fall-Project-Off-Grid-Vehicle-dection-project/e8b2e8fa-1513-4aa8-a8f6-ce4fcd20e664/scratchpad/deck3/p_overall.jpg">    </p:cNvPr>
          <p:cNvPicPr>
            <a:picLocks noChangeAspect="1"/>
          </p:cNvPicPr>
          <p:nvPr/>
        </p:nvPicPr>
        <p:blipFill>
          <a:blip r:embed="rId2"/>
          <a:stretch>
            <a:fillRect/>
          </a:stretch>
        </p:blipFill>
        <p:spPr>
          <a:xfrm>
            <a:off x="7772400" y="1097280"/>
            <a:ext cx="1920240" cy="1380744"/>
          </a:xfrm>
          <a:prstGeom prst="rect">
            <a:avLst/>
          </a:prstGeom>
        </p:spPr>
      </p:pic>
      <p:sp>
        <p:nvSpPr>
          <p:cNvPr id="38" name="Shape 34"/>
          <p:cNvSpPr/>
          <p:nvPr/>
        </p:nvSpPr>
        <p:spPr>
          <a:xfrm>
            <a:off x="7772400" y="1097280"/>
            <a:ext cx="1920240" cy="1380744"/>
          </a:xfrm>
          <a:prstGeom prst="rect">
            <a:avLst/>
          </a:prstGeom>
          <a:ln w="12700">
            <a:solidFill>
              <a:srgbClr val="9AA7BE"/>
            </a:solidFill>
            <a:prstDash val="solid"/>
          </a:ln>
        </p:spPr>
      </p:sp>
      <p:sp>
        <p:nvSpPr>
          <p:cNvPr id="39" name="Text 35"/>
          <p:cNvSpPr txBox="1"/>
          <p:nvPr/>
        </p:nvSpPr>
        <p:spPr>
          <a:xfrm>
            <a:off x="7772400" y="2505456"/>
            <a:ext cx="19202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ME 33.60719 -101.89643</a:t>
            </a:r>
            <a:endParaRPr lang="en-US" sz="950" dirty="0"/>
          </a:p>
        </p:txBody>
      </p:sp>
      <p:sp>
        <p:nvSpPr>
          <p:cNvPr id="40" name="Shape 36"/>
          <p:cNvSpPr/>
          <p:nvPr/>
        </p:nvSpPr>
        <p:spPr>
          <a:xfrm>
            <a:off x="9829800" y="1097280"/>
            <a:ext cx="1920240" cy="1828800"/>
          </a:xfrm>
          <a:prstGeom prst="rect">
            <a:avLst/>
          </a:prstGeom>
          <a:solidFill>
            <a:srgbClr val="F2F5FA"/>
          </a:solidFill>
          <a:ln w="15875">
            <a:solidFill>
              <a:srgbClr val="1F9D68"/>
            </a:solidFill>
            <a:prstDash val="solid"/>
          </a:ln>
        </p:spPr>
      </p:sp>
      <p:sp>
        <p:nvSpPr>
          <p:cNvPr id="41" name="Text 37"/>
          <p:cNvSpPr txBox="1"/>
          <p:nvPr/>
        </p:nvSpPr>
        <p:spPr>
          <a:xfrm>
            <a:off x="9939528" y="1188720"/>
            <a:ext cx="1737360" cy="457200"/>
          </a:xfrm>
          <a:prstGeom prst="rect">
            <a:avLst/>
          </a:prstGeom>
          <a:noFill/>
          <a:ln/>
        </p:spPr>
        <p:txBody>
          <a:bodyPr wrap="square" lIns="0" tIns="0" rIns="0" bIns="0" rtlCol="0" anchor="ctr"/>
          <a:lstStyle/>
          <a:p>
            <a:pPr indent="0" marL="0">
              <a:buNone/>
            </a:pPr>
            <a:r>
              <a:rPr lang="en-US" sz="1000" b="1" spc="100" kern="0" dirty="0">
                <a:solidFill>
                  <a:srgbClr val="1F9D68"/>
                </a:solidFill>
                <a:latin typeface="Arial" pitchFamily="34" charset="0"/>
                <a:ea typeface="Arial" pitchFamily="34" charset="-122"/>
                <a:cs typeface="Arial" pitchFamily="34" charset="-120"/>
              </a:rPr>
              <a:t>POSITION CROSS-CHECK</a:t>
            </a:r>
            <a:endParaRPr lang="en-US" sz="1000" dirty="0"/>
          </a:p>
        </p:txBody>
      </p:sp>
      <p:sp>
        <p:nvSpPr>
          <p:cNvPr id="42" name="Text 38"/>
          <p:cNvSpPr txBox="1"/>
          <p:nvPr/>
        </p:nvSpPr>
        <p:spPr>
          <a:xfrm>
            <a:off x="9939528" y="1627632"/>
            <a:ext cx="1719072" cy="1261872"/>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Same fix, same radio, two programs sharing no code. Agreement is the accuracy check.</a:t>
            </a:r>
            <a:endParaRPr lang="en-US" sz="950" dirty="0"/>
          </a:p>
        </p:txBody>
      </p:sp>
      <p:sp>
        <p:nvSpPr>
          <p:cNvPr id="43" name="Text 39"/>
          <p:cNvSpPr txBox="1"/>
          <p:nvPr/>
        </p:nvSpPr>
        <p:spPr>
          <a:xfrm>
            <a:off x="5852160" y="2999232"/>
            <a:ext cx="5897880" cy="219456"/>
          </a:xfrm>
          <a:prstGeom prst="rect">
            <a:avLst/>
          </a:prstGeom>
          <a:noFill/>
          <a:ln/>
        </p:spPr>
        <p:txBody>
          <a:bodyPr wrap="square" lIns="0" tIns="0" rIns="0" bIns="0" rtlCol="0" anchor="ctr"/>
          <a:lstStyle/>
          <a:p>
            <a:pPr indent="0" marL="0">
              <a:buNone/>
            </a:pPr>
            <a:r>
              <a:rPr lang="en-US" sz="850" b="1" dirty="0">
                <a:solidFill>
                  <a:srgbClr val="5E6B85"/>
                </a:solidFill>
                <a:latin typeface="Courier New" pitchFamily="34" charset="0"/>
                <a:ea typeface="Courier New" pitchFamily="34" charset="-122"/>
                <a:cs typeface="Courier New" pitchFamily="34" charset="-120"/>
              </a:rPr>
              <a:t>INDEPENDENT CLIENT: MESHTASTIC WEB APP, SAME RADIO, NODE ead4 CONNECTED</a:t>
            </a:r>
            <a:endParaRPr lang="en-US" sz="850" dirty="0"/>
          </a:p>
        </p:txBody>
      </p:sp>
      <p:pic>
        <p:nvPicPr>
          <p:cNvPr id="44" name="Image 2" descr="C:/Users/deogr/AppData/Local/Temp/claude/C--Users-deogr-Documents-Fall-Project-Off-Grid-Vehicle-dection-project/e8b2e8fa-1513-4aa8-a8f6-ce4fcd20e664/scratchpad/deck3/p_map_zoom.png">    </p:cNvPr>
          <p:cNvPicPr>
            <a:picLocks noChangeAspect="1"/>
          </p:cNvPicPr>
          <p:nvPr/>
        </p:nvPicPr>
        <p:blipFill>
          <a:blip r:embed="rId3"/>
          <a:stretch>
            <a:fillRect/>
          </a:stretch>
        </p:blipFill>
        <p:spPr>
          <a:xfrm>
            <a:off x="5852160" y="3255264"/>
            <a:ext cx="3977640" cy="2935224"/>
          </a:xfrm>
          <a:prstGeom prst="rect">
            <a:avLst/>
          </a:prstGeom>
        </p:spPr>
      </p:pic>
      <p:sp>
        <p:nvSpPr>
          <p:cNvPr id="45" name="Shape 40"/>
          <p:cNvSpPr/>
          <p:nvPr/>
        </p:nvSpPr>
        <p:spPr>
          <a:xfrm>
            <a:off x="5852160" y="3255264"/>
            <a:ext cx="3977640" cy="2935224"/>
          </a:xfrm>
          <a:prstGeom prst="rect">
            <a:avLst/>
          </a:prstGeom>
          <a:ln w="12700">
            <a:solidFill>
              <a:srgbClr val="9AA7BE"/>
            </a:solidFill>
            <a:prstDash val="solid"/>
          </a:ln>
        </p:spPr>
      </p:sp>
      <p:sp>
        <p:nvSpPr>
          <p:cNvPr id="46" name="Text 41"/>
          <p:cNvSpPr txBox="1"/>
          <p:nvPr/>
        </p:nvSpPr>
        <p:spPr>
          <a:xfrm>
            <a:off x="10012680" y="3255264"/>
            <a:ext cx="1737360" cy="2935224"/>
          </a:xfrm>
          <a:prstGeom prst="rect">
            <a:avLst/>
          </a:prstGeom>
          <a:noFill/>
          <a:ln/>
        </p:spPr>
        <p:txBody>
          <a:bodyPr wrap="square" lIns="0" tIns="0" rIns="0" bIns="0" rtlCol="0" anchor="ctr"/>
          <a:lstStyle/>
          <a:p>
            <a:pPr indent="0" marL="0">
              <a:buNone/>
            </a:pPr>
            <a:r>
              <a:rPr lang="en-US" sz="1000" dirty="0">
                <a:solidFill>
                  <a:srgbClr val="5E6B85"/>
                </a:solidFill>
                <a:latin typeface="Arial" pitchFamily="34" charset="0"/>
                <a:ea typeface="Arial" pitchFamily="34" charset="-122"/>
                <a:cs typeface="Arial" pitchFamily="34" charset="-120"/>
              </a:rPr>
              <a:t>One device proves four of five layers. The dashed one waits only for radio two.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12/14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0.5 s airtime caps cadence at 10 s. Utilization under ~25%. No region, no transmit. Roof antenna is the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cold start takes minutes. Indoor multipath fakes phantom speed (deadbanded).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at boot: power both units together. One client at a time; a phone or USB session steals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One-bit reflective panel: no grayscale, needs ambient light at night (edge light planned). 2 Hz redraw budget.</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 USB adapters cut off on low draw: validate every adapter.</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Channel URL (the AES key) must match on every radio. Node IDs survive reflashes. Read back every write.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GPS fix to arrow, end to end, at 10 s cadence with 1 Hz projected motion.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Position-derived clock, honest ages, ghost re-broadcasts detected.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link reconnected itself after every drop, four drive tests running.</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Full radio recovery drill: flash, provision, verify, in minutes.</a:t>
            </a:r>
            <a:endParaRPr lang="en-US" sz="125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Victor: provision radio two from the recipe; first two-radio bench decode.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Cannon: constraints ledger becomes the drive-test protocol and logging harness.</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Deo and Josiah: partner selection in NVS; night readability.</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Then the milestone: the first two-vehicle drive test.</a:t>
            </a:r>
            <a:endParaRPr lang="en-US" sz="125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14/14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REFERENCES</a:t>
            </a:r>
            <a:endParaRPr lang="en-US" sz="2300" dirty="0"/>
          </a:p>
        </p:txBody>
      </p:sp>
      <p:sp>
        <p:nvSpPr>
          <p:cNvPr id="8" name="Text 6"/>
          <p:cNvSpPr txBox="1"/>
          <p:nvPr/>
        </p:nvSpPr>
        <p:spPr>
          <a:xfrm>
            <a:off x="45720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a:t>
            </a:r>
            <a:endParaRPr lang="en-US" sz="1000" dirty="0"/>
          </a:p>
        </p:txBody>
      </p:sp>
      <p:sp>
        <p:nvSpPr>
          <p:cNvPr id="9" name="Text 7"/>
          <p:cNvSpPr txBox="1"/>
          <p:nvPr/>
        </p:nvSpPr>
        <p:spPr>
          <a:xfrm>
            <a:off x="96012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SX1276/77/78/79 LoRa Transceiver Datasheet. Demodulator SNR limit per spreading factor (SF11 = -17.5 dB), used on sheet 09.</a:t>
            </a:r>
            <a:endParaRPr lang="en-US" sz="950" dirty="0"/>
          </a:p>
        </p:txBody>
      </p:sp>
      <p:sp>
        <p:nvSpPr>
          <p:cNvPr id="10" name="Text 8"/>
          <p:cNvSpPr txBox="1"/>
          <p:nvPr/>
        </p:nvSpPr>
        <p:spPr>
          <a:xfrm>
            <a:off x="96012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 invalidUrl="" action="" tgtFrame="" tooltip="https://www.semtech.com/products/wireless-rf/lora-connect/sx1276" history="1" highlightClick="0" endSnd="0">
                  <a:extLst>
                    <a:ext uri="{A12FA001-AC4F-418D-AE19-62706E023703}">
                      <ahyp:hlinkClr xmlns:ahyp="http://schemas.microsoft.com/office/drawing/2018/hyperlinkcolor" val="tx"/>
                    </a:ext>
                  </a:extLst>
                </a:hlinkClick>
              </a:rPr>
              <a:t>semtech.com/products/wireless-rf/lora-connect/sx1276</a:t>
            </a:r>
            <a:endParaRPr lang="en-US" sz="800" dirty="0"/>
          </a:p>
        </p:txBody>
      </p:sp>
      <p:sp>
        <p:nvSpPr>
          <p:cNvPr id="11" name="Text 9"/>
          <p:cNvSpPr txBox="1"/>
          <p:nvPr/>
        </p:nvSpPr>
        <p:spPr>
          <a:xfrm>
            <a:off x="45720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[2]</a:t>
            </a:r>
            <a:endParaRPr lang="en-US" sz="1000" dirty="0"/>
          </a:p>
        </p:txBody>
      </p:sp>
      <p:sp>
        <p:nvSpPr>
          <p:cNvPr id="12" name="Text 10"/>
          <p:cNvSpPr txBox="1"/>
          <p:nvPr/>
        </p:nvSpPr>
        <p:spPr>
          <a:xfrm>
            <a:off x="96012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AN1200.22, LoRa Modulation Basics. Symbol duration T_sym = 2^SF / BW, packet airtime, and processing gain.</a:t>
            </a:r>
            <a:endParaRPr lang="en-US" sz="950" dirty="0"/>
          </a:p>
        </p:txBody>
      </p:sp>
      <p:sp>
        <p:nvSpPr>
          <p:cNvPr id="13" name="Text 11"/>
          <p:cNvSpPr txBox="1"/>
          <p:nvPr/>
        </p:nvSpPr>
        <p:spPr>
          <a:xfrm>
            <a:off x="96012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2" invalidUrl="" action="" tgtFrame="" tooltip="https://info.semtech.com/find-documentation" history="1" highlightClick="0" endSnd="0">
                  <a:extLst>
                    <a:ext uri="{A12FA001-AC4F-418D-AE19-62706E023703}">
                      <ahyp:hlinkClr xmlns:ahyp="http://schemas.microsoft.com/office/drawing/2018/hyperlinkcolor" val="tx"/>
                    </a:ext>
                  </a:extLst>
                </a:hlinkClick>
              </a:rPr>
              <a:t>info.semtech.com/find-documentation (search AN1200.22)</a:t>
            </a:r>
            <a:endParaRPr lang="en-US" sz="800" dirty="0"/>
          </a:p>
        </p:txBody>
      </p:sp>
      <p:sp>
        <p:nvSpPr>
          <p:cNvPr id="14" name="Text 12"/>
          <p:cNvSpPr txBox="1"/>
          <p:nvPr/>
        </p:nvSpPr>
        <p:spPr>
          <a:xfrm>
            <a:off x="45720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[3]</a:t>
            </a:r>
            <a:endParaRPr lang="en-US" sz="1000" dirty="0"/>
          </a:p>
        </p:txBody>
      </p:sp>
      <p:sp>
        <p:nvSpPr>
          <p:cNvPr id="15" name="Text 13"/>
          <p:cNvSpPr txBox="1"/>
          <p:nvPr/>
        </p:nvSpPr>
        <p:spPr>
          <a:xfrm>
            <a:off x="96012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Semtech Corp., SX1261/2 Transceiver Datasheet. The radio IC on the Heltec V4; sensitivity and transmit specifications.</a:t>
            </a:r>
            <a:endParaRPr lang="en-US" sz="950" dirty="0"/>
          </a:p>
        </p:txBody>
      </p:sp>
      <p:sp>
        <p:nvSpPr>
          <p:cNvPr id="16" name="Text 14"/>
          <p:cNvSpPr txBox="1"/>
          <p:nvPr/>
        </p:nvSpPr>
        <p:spPr>
          <a:xfrm>
            <a:off x="96012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3" invalidUrl="" action="" tgtFrame="" tooltip="https://www.semtech.com/products/wireless-rf/lora-connect/sx1262" history="1" highlightClick="0" endSnd="0">
                  <a:extLst>
                    <a:ext uri="{A12FA001-AC4F-418D-AE19-62706E023703}">
                      <ahyp:hlinkClr xmlns:ahyp="http://schemas.microsoft.com/office/drawing/2018/hyperlinkcolor" val="tx"/>
                    </a:ext>
                  </a:extLst>
                </a:hlinkClick>
              </a:rPr>
              <a:t>semtech.com/products/wireless-rf/lora-connect/sx1262</a:t>
            </a:r>
            <a:endParaRPr lang="en-US" sz="800" dirty="0"/>
          </a:p>
        </p:txBody>
      </p:sp>
      <p:sp>
        <p:nvSpPr>
          <p:cNvPr id="17" name="Text 15"/>
          <p:cNvSpPr txBox="1"/>
          <p:nvPr/>
        </p:nvSpPr>
        <p:spPr>
          <a:xfrm>
            <a:off x="45720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[4]</a:t>
            </a:r>
            <a:endParaRPr lang="en-US" sz="1000" dirty="0"/>
          </a:p>
        </p:txBody>
      </p:sp>
      <p:sp>
        <p:nvSpPr>
          <p:cNvPr id="18" name="Text 16"/>
          <p:cNvSpPr txBox="1"/>
          <p:nvPr/>
        </p:nvSpPr>
        <p:spPr>
          <a:xfrm>
            <a:off x="96012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Project Documentation, LoRa and Position Configuration. Presets, smart broadcast, position precision, the ~25% utilization limit.</a:t>
            </a:r>
            <a:endParaRPr lang="en-US" sz="950" dirty="0"/>
          </a:p>
        </p:txBody>
      </p:sp>
      <p:sp>
        <p:nvSpPr>
          <p:cNvPr id="19" name="Text 17"/>
          <p:cNvSpPr txBox="1"/>
          <p:nvPr/>
        </p:nvSpPr>
        <p:spPr>
          <a:xfrm>
            <a:off x="96012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4" invalidUrl="" action="" tgtFrame="" tooltip="https://meshtastic.org/docs/configuration/radio/lora/" history="1" highlightClick="0" endSnd="0">
                  <a:extLst>
                    <a:ext uri="{A12FA001-AC4F-418D-AE19-62706E023703}">
                      <ahyp:hlinkClr xmlns:ahyp="http://schemas.microsoft.com/office/drawing/2018/hyperlinkcolor" val="tx"/>
                    </a:ext>
                  </a:extLst>
                </a:hlinkClick>
              </a:rPr>
              <a:t>meshtastic.org/docs/configuration/radio/lora</a:t>
            </a:r>
            <a:endParaRPr lang="en-US" sz="800" dirty="0"/>
          </a:p>
        </p:txBody>
      </p:sp>
      <p:sp>
        <p:nvSpPr>
          <p:cNvPr id="20" name="Text 18"/>
          <p:cNvSpPr txBox="1"/>
          <p:nvPr/>
        </p:nvSpPr>
        <p:spPr>
          <a:xfrm>
            <a:off x="45720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[5]</a:t>
            </a:r>
            <a:endParaRPr lang="en-US" sz="1000" dirty="0"/>
          </a:p>
        </p:txBody>
      </p:sp>
      <p:sp>
        <p:nvSpPr>
          <p:cNvPr id="21" name="Text 19"/>
          <p:cNvSpPr txBox="1"/>
          <p:nvPr/>
        </p:nvSpPr>
        <p:spPr>
          <a:xfrm>
            <a:off x="96012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Meshtastic Protobufs Repository. The published message schema our decoder is generated from, including Position field units.</a:t>
            </a:r>
            <a:endParaRPr lang="en-US" sz="950" dirty="0"/>
          </a:p>
        </p:txBody>
      </p:sp>
      <p:sp>
        <p:nvSpPr>
          <p:cNvPr id="22" name="Text 20"/>
          <p:cNvSpPr txBox="1"/>
          <p:nvPr/>
        </p:nvSpPr>
        <p:spPr>
          <a:xfrm>
            <a:off x="96012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5" invalidUrl="" action="" tgtFrame="" tooltip="https://github.com/meshtastic/protobufs" history="1" highlightClick="0" endSnd="0">
                  <a:extLst>
                    <a:ext uri="{A12FA001-AC4F-418D-AE19-62706E023703}">
                      <ahyp:hlinkClr xmlns:ahyp="http://schemas.microsoft.com/office/drawing/2018/hyperlinkcolor" val="tx"/>
                    </a:ext>
                  </a:extLst>
                </a:hlinkClick>
              </a:rPr>
              <a:t>github.com/meshtastic/protobufs</a:t>
            </a:r>
            <a:endParaRPr lang="en-US" sz="800" dirty="0"/>
          </a:p>
        </p:txBody>
      </p:sp>
      <p:sp>
        <p:nvSpPr>
          <p:cNvPr id="23" name="Text 21"/>
          <p:cNvSpPr txBox="1"/>
          <p:nvPr/>
        </p:nvSpPr>
        <p:spPr>
          <a:xfrm>
            <a:off x="6263640" y="1115568"/>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[6]</a:t>
            </a:r>
            <a:endParaRPr lang="en-US" sz="1000" dirty="0"/>
          </a:p>
        </p:txBody>
      </p:sp>
      <p:sp>
        <p:nvSpPr>
          <p:cNvPr id="24" name="Text 22"/>
          <p:cNvSpPr txBox="1"/>
          <p:nvPr/>
        </p:nvSpPr>
        <p:spPr>
          <a:xfrm>
            <a:off x="6766560" y="1115568"/>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FCC Rules, 47 CFR 15.247. Operation in the 902 to 928 MHz ISM band.</a:t>
            </a:r>
            <a:endParaRPr lang="en-US" sz="950" dirty="0"/>
          </a:p>
        </p:txBody>
      </p:sp>
      <p:sp>
        <p:nvSpPr>
          <p:cNvPr id="25" name="Text 23"/>
          <p:cNvSpPr txBox="1"/>
          <p:nvPr/>
        </p:nvSpPr>
        <p:spPr>
          <a:xfrm>
            <a:off x="6766560" y="1773936"/>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6" invalidUrl="" action="" tgtFrame="" tooltip="https://www.law.cornell.edu/cfr/text/47/15.247" history="1" highlightClick="0" endSnd="0">
                  <a:extLst>
                    <a:ext uri="{A12FA001-AC4F-418D-AE19-62706E023703}">
                      <ahyp:hlinkClr xmlns:ahyp="http://schemas.microsoft.com/office/drawing/2018/hyperlinkcolor" val="tx"/>
                    </a:ext>
                  </a:extLst>
                </a:hlinkClick>
              </a:rPr>
              <a:t>law.cornell.edu/cfr/text/47/15.247</a:t>
            </a:r>
            <a:endParaRPr lang="en-US" sz="800" dirty="0"/>
          </a:p>
        </p:txBody>
      </p:sp>
      <p:sp>
        <p:nvSpPr>
          <p:cNvPr id="26" name="Text 24"/>
          <p:cNvSpPr txBox="1"/>
          <p:nvPr/>
        </p:nvSpPr>
        <p:spPr>
          <a:xfrm>
            <a:off x="6263640" y="2084832"/>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[7]</a:t>
            </a:r>
            <a:endParaRPr lang="en-US" sz="1000" dirty="0"/>
          </a:p>
        </p:txBody>
      </p:sp>
      <p:sp>
        <p:nvSpPr>
          <p:cNvPr id="27" name="Text 25"/>
          <p:cNvSpPr txBox="1"/>
          <p:nvPr/>
        </p:nvSpPr>
        <p:spPr>
          <a:xfrm>
            <a:off x="6766560" y="2084832"/>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ITU-R Recommendation M.1371, Automatic Identification System (AIS). Reporting intervals of 2 s to 3 min; the beacon-then-animate precedent.</a:t>
            </a:r>
            <a:endParaRPr lang="en-US" sz="950" dirty="0"/>
          </a:p>
        </p:txBody>
      </p:sp>
      <p:sp>
        <p:nvSpPr>
          <p:cNvPr id="28" name="Text 26"/>
          <p:cNvSpPr txBox="1"/>
          <p:nvPr/>
        </p:nvSpPr>
        <p:spPr>
          <a:xfrm>
            <a:off x="6766560" y="2743200"/>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7" invalidUrl="" action="" tgtFrame="" tooltip="https://www.itu.int/rec/R-REC-M.1371/en" history="1" highlightClick="0" endSnd="0">
                  <a:extLst>
                    <a:ext uri="{A12FA001-AC4F-418D-AE19-62706E023703}">
                      <ahyp:hlinkClr xmlns:ahyp="http://schemas.microsoft.com/office/drawing/2018/hyperlinkcolor" val="tx"/>
                    </a:ext>
                  </a:extLst>
                </a:hlinkClick>
              </a:rPr>
              <a:t>itu.int/rec/R-REC-M.1371/en</a:t>
            </a:r>
            <a:endParaRPr lang="en-US" sz="800" dirty="0"/>
          </a:p>
        </p:txBody>
      </p:sp>
      <p:sp>
        <p:nvSpPr>
          <p:cNvPr id="29" name="Text 27"/>
          <p:cNvSpPr txBox="1"/>
          <p:nvPr/>
        </p:nvSpPr>
        <p:spPr>
          <a:xfrm>
            <a:off x="6263640" y="3054096"/>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[8]</a:t>
            </a:r>
            <a:endParaRPr lang="en-US" sz="1000" dirty="0"/>
          </a:p>
        </p:txBody>
      </p:sp>
      <p:sp>
        <p:nvSpPr>
          <p:cNvPr id="30" name="Text 28"/>
          <p:cNvSpPr txBox="1"/>
          <p:nvPr/>
        </p:nvSpPr>
        <p:spPr>
          <a:xfrm>
            <a:off x="6766560" y="3054096"/>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R. W. Sinnott, Virtues of the Haversine, Sky &amp; Telescope, vol. 68, no. 2, p. 159, 1984. The distance formula used in nav.c.</a:t>
            </a:r>
            <a:endParaRPr lang="en-US" sz="950" dirty="0"/>
          </a:p>
        </p:txBody>
      </p:sp>
      <p:sp>
        <p:nvSpPr>
          <p:cNvPr id="31" name="Text 29"/>
          <p:cNvSpPr txBox="1"/>
          <p:nvPr/>
        </p:nvSpPr>
        <p:spPr>
          <a:xfrm>
            <a:off x="6766560" y="3712464"/>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8" invalidUrl="" action="" tgtFrame="" tooltip="https://www.movable-type.co.uk/scripts/latlong.html" history="1" highlightClick="0" endSnd="0">
                  <a:extLst>
                    <a:ext uri="{A12FA001-AC4F-418D-AE19-62706E023703}">
                      <ahyp:hlinkClr xmlns:ahyp="http://schemas.microsoft.com/office/drawing/2018/hyperlinkcolor" val="tx"/>
                    </a:ext>
                  </a:extLst>
                </a:hlinkClick>
              </a:rPr>
              <a:t>movable-type.co.uk/scripts/latlong.html (implementation ref)</a:t>
            </a:r>
            <a:endParaRPr lang="en-US" sz="800" dirty="0"/>
          </a:p>
        </p:txBody>
      </p:sp>
      <p:sp>
        <p:nvSpPr>
          <p:cNvPr id="32" name="Text 30"/>
          <p:cNvSpPr txBox="1"/>
          <p:nvPr/>
        </p:nvSpPr>
        <p:spPr>
          <a:xfrm>
            <a:off x="6263640" y="4023360"/>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[9]</a:t>
            </a:r>
            <a:endParaRPr lang="en-US" sz="1000" dirty="0"/>
          </a:p>
        </p:txBody>
      </p:sp>
      <p:sp>
        <p:nvSpPr>
          <p:cNvPr id="33" name="Text 31"/>
          <p:cNvSpPr txBox="1"/>
          <p:nvPr/>
        </p:nvSpPr>
        <p:spPr>
          <a:xfrm>
            <a:off x="6766560" y="4023360"/>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Bluetooth SIG, Bluetooth Core Specification (GATT). The service and characteristic model behind the Meshtastic Client API.</a:t>
            </a:r>
            <a:endParaRPr lang="en-US" sz="950" dirty="0"/>
          </a:p>
        </p:txBody>
      </p:sp>
      <p:sp>
        <p:nvSpPr>
          <p:cNvPr id="34" name="Text 32"/>
          <p:cNvSpPr txBox="1"/>
          <p:nvPr/>
        </p:nvSpPr>
        <p:spPr>
          <a:xfrm>
            <a:off x="6766560" y="4681728"/>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9" invalidUrl="" action="" tgtFrame="" tooltip="https://www.bluetooth.com/specifications/specs/core-specification/" history="1" highlightClick="0" endSnd="0">
                  <a:extLst>
                    <a:ext uri="{A12FA001-AC4F-418D-AE19-62706E023703}">
                      <ahyp:hlinkClr xmlns:ahyp="http://schemas.microsoft.com/office/drawing/2018/hyperlinkcolor" val="tx"/>
                    </a:ext>
                  </a:extLst>
                </a:hlinkClick>
              </a:rPr>
              <a:t>bluetooth.com/specifications/specs/core-specification</a:t>
            </a:r>
            <a:endParaRPr lang="en-US" sz="800" dirty="0"/>
          </a:p>
        </p:txBody>
      </p:sp>
      <p:sp>
        <p:nvSpPr>
          <p:cNvPr id="35" name="Text 33"/>
          <p:cNvSpPr txBox="1"/>
          <p:nvPr/>
        </p:nvSpPr>
        <p:spPr>
          <a:xfrm>
            <a:off x="6263640" y="4992624"/>
            <a:ext cx="457200" cy="274320"/>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[10]</a:t>
            </a:r>
            <a:endParaRPr lang="en-US" sz="1000" dirty="0"/>
          </a:p>
        </p:txBody>
      </p:sp>
      <p:sp>
        <p:nvSpPr>
          <p:cNvPr id="36" name="Text 34"/>
          <p:cNvSpPr txBox="1"/>
          <p:nvPr/>
        </p:nvSpPr>
        <p:spPr>
          <a:xfrm>
            <a:off x="6766560" y="4992624"/>
            <a:ext cx="5074920" cy="658368"/>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Group 9 repository: TELECOM_ANALYSIS, ARCHITECTURE, BLE_LINK_WALKTHROUGH, RADIO_PHY_DEEP_DIVE, hardware/README. Our link budget, architecture, silicon walkthrough, and recipes.</a:t>
            </a:r>
            <a:endParaRPr lang="en-US" sz="950" dirty="0"/>
          </a:p>
        </p:txBody>
      </p:sp>
      <p:sp>
        <p:nvSpPr>
          <p:cNvPr id="37" name="Text 35"/>
          <p:cNvSpPr txBox="1"/>
          <p:nvPr/>
        </p:nvSpPr>
        <p:spPr>
          <a:xfrm>
            <a:off x="6766560" y="5650992"/>
            <a:ext cx="5074920" cy="219456"/>
          </a:xfrm>
          <a:prstGeom prst="rect">
            <a:avLst/>
          </a:prstGeom>
          <a:noFill/>
          <a:ln/>
        </p:spPr>
        <p:txBody>
          <a:bodyPr wrap="square" lIns="0" tIns="0" rIns="0" bIns="0" rtlCol="0" anchor="ctr"/>
          <a:lstStyle/>
          <a:p>
            <a:pPr indent="0" marL="0">
              <a:buNone/>
            </a:pPr>
            <a:r>
              <a:rPr lang="en-US" sz="800" u="sng" dirty="0">
                <a:solidFill>
                  <a:srgbClr val="1199BD"/>
                </a:solidFill>
                <a:latin typeface="Courier New" pitchFamily="34" charset="0"/>
                <a:ea typeface="Courier New" pitchFamily="34" charset="-122"/>
                <a:cs typeface="Courier New" pitchFamily="34" charset="-120"/>
                <a:hlinkClick r:id="rId10" invalidUrl="" action="" tgtFrame="" tooltip="https://github.com/deosgracius/offgrid-vehicle-tracker" history="1" highlightClick="0" endSnd="0">
                  <a:extLst>
                    <a:ext uri="{A12FA001-AC4F-418D-AE19-62706E023703}">
                      <ahyp:hlinkClr xmlns:ahyp="http://schemas.microsoft.com/office/drawing/2018/hyperlinkcolor" val="tx"/>
                    </a:ext>
                  </a:extLst>
                </a:hlinkClick>
              </a:rPr>
              <a:t>github.com/deosgracius/offgrid-vehicle-tracker</a:t>
            </a:r>
            <a:endParaRPr lang="en-US" sz="800" dirty="0"/>
          </a:p>
        </p:txBody>
      </p:sp>
      <p:sp>
        <p:nvSpPr>
          <p:cNvPr id="38" name="Shape 36"/>
          <p:cNvSpPr/>
          <p:nvPr/>
        </p:nvSpPr>
        <p:spPr>
          <a:xfrm>
            <a:off x="457200" y="5989320"/>
            <a:ext cx="11292840" cy="0"/>
          </a:xfrm>
          <a:prstGeom prst="line">
            <a:avLst/>
          </a:prstGeom>
          <a:noFill/>
          <a:ln w="9525">
            <a:solidFill>
              <a:srgbClr val="9AA7BE"/>
            </a:solidFill>
            <a:prstDash val="solid"/>
          </a:ln>
        </p:spPr>
      </p:sp>
      <p:sp>
        <p:nvSpPr>
          <p:cNvPr id="39" name="Text 37"/>
          <p:cNvSpPr txBox="1"/>
          <p:nvPr/>
        </p:nvSpPr>
        <p:spPr>
          <a:xfrm>
            <a:off x="457200" y="6035040"/>
            <a:ext cx="11292840" cy="237744"/>
          </a:xfrm>
          <a:prstGeom prst="rect">
            <a:avLst/>
          </a:prstGeom>
          <a:noFill/>
          <a:ln/>
        </p:spPr>
        <p:txBody>
          <a:bodyPr wrap="square" lIns="0" tIns="0" rIns="0" bIns="0" rtlCol="0" anchor="ctr"/>
          <a:lstStyle/>
          <a:p>
            <a:pPr indent="0" marL="0">
              <a:buNone/>
            </a:pPr>
            <a:r>
              <a:rPr lang="en-US" sz="850" dirty="0">
                <a:solidFill>
                  <a:srgbClr val="5E6B85"/>
                </a:solidFill>
                <a:latin typeface="Courier New" pitchFamily="34" charset="0"/>
                <a:ea typeface="Courier New" pitchFamily="34" charset="-122"/>
                <a:cs typeface="Courier New" pitchFamily="34" charset="-120"/>
              </a:rPr>
              <a:t>All firmware, documentation, logs, and this deck's generator are version controlled at github.com/deosgracius/offgrid-vehicle-tracker</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2026-09-07T23:17:26Z</dcterms:created>
  <dcterms:modified xsi:type="dcterms:W3CDTF">2026-09-07T23:17:26Z</dcterms:modified>
</cp:coreProperties>
</file>