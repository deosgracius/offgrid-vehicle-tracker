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one failure mode, investigated to the physical layer. Everything quantitative on these sheets was measured on the SF radio today or read from the vendor's source and datasheets; the sources are named on the sheets.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the sheet: the recruiter's suggestion is testable, and the four candidate causes are distinguishable by evidence we can actually collect with a USB cable.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in the scar catalog with its log evidence. Emphasise partial and varying: that detail matters for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stores: a tiny NVS and a 3.4 MB LittleFS partition holding six protobuf files. Red boxes are the policy weaknesses: no power gate on ESP32, one non-atomic file, ignored close result, and defaults installed and saved on any load failure.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vendor's code, not ours. The important asymmetry: the firmware refuses to write during its own low-battery shutdown, but has no voltage check on the ordinary save path that runs at every boot.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sector erase takes 50 ms. A 750 mA transmit pulse on a nearly flat cell can drop the rail through 2.7 V and back inside that window without ever reaching the 2.44 V reset. The datasheet forbids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the first. The maintainers' own reading matches ours. The nRF52 branch got a fix this year; the ESP32 branch, which we run, did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predictions before showing the data. That is what makes the result credible.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Reproducible by anyone with the repo: the scripts are archived under docs/src. Note the controls.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cluster of about a dozen unstable sectors low in the partition, plus a few singles. The live files happen not to be on them today.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exact about what is and is not claimed. Marginal cells exist in SF's settings partition today. Why they exist is the next sheet.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framing: the measurement proves marginal cells; the physics plus the incident timing make torn writes the most probable origin; one more test decides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sheet that settles the recruiter's question. Healthy cells, damaged by the conditions of the write. Say that the control sector behaved identically, which validates the method.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link is tagged with its evidence class: verified in source, measured on hardware, or inferred from datasheets. The one unmeasured link is the rail voltage during the event; a scope capture during a deliberate flat-battery test would close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 1 alone makes the failure invisible to the driver. Fix 2 attacks the cause. Fix 3 cleans up the damage already done. Fix 4 is the hardware-correct answer and the most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workaround the upstream community converged on. The security consideration is that the key is compiled into a binary that must stay in the private repository and never be published.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fix without a test is a hope. Step 4 is the one that would have caught this in September.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for the reviewer: the memory shows the scar, the power rail made it, the firmware made it permanent, and all three are fixable, in that order of effort.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5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81328"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3969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98063"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56431"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79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73167"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31535"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89903"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48271"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3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7"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2337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81744"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40112"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698480"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56848"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1521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4592" y="146304"/>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804672"/>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4592" y="1463040"/>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4592" y="2121408"/>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4592" y="2779776"/>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4592" y="3438144"/>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4592" y="4096511"/>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4592" y="4754879"/>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4592" y="5413247"/>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64592" y="6071615"/>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34" name="TextBox 33"/>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ROOT CAUSE INVESTIGATION</a:t>
            </a:r>
          </a:p>
        </p:txBody>
      </p:sp>
      <p:sp>
        <p:nvSpPr>
          <p:cNvPr id="35" name="TextBox 34"/>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01/18  REV A  2026-10-27</a:t>
            </a:r>
          </a:p>
        </p:txBody>
      </p:sp>
      <p:sp>
        <p:nvSpPr>
          <p:cNvPr id="36" name="TextBox 35"/>
          <p:cNvSpPr txBox="1"/>
          <p:nvPr/>
        </p:nvSpPr>
        <p:spPr>
          <a:xfrm>
            <a:off x="640080" y="914400"/>
            <a:ext cx="10881360" cy="822960"/>
          </a:xfrm>
          <a:prstGeom prst="rect">
            <a:avLst/>
          </a:prstGeom>
          <a:noFill/>
        </p:spPr>
        <p:txBody>
          <a:bodyPr wrap="square" lIns="0" rIns="0" tIns="0" bIns="0">
            <a:spAutoFit/>
          </a:bodyPr>
          <a:lstStyle/>
          <a:p>
            <a:pPr algn="l"/>
            <a:r>
              <a:rPr sz="4000" b="1" i="0" spc="300">
                <a:solidFill>
                  <a:srgbClr val="16213D"/>
                </a:solidFill>
                <a:latin typeface="Cambria"/>
              </a:rPr>
              <a:t>WHY THE RADIOS FORGET</a:t>
            </a:r>
          </a:p>
        </p:txBody>
      </p:sp>
      <p:sp>
        <p:nvSpPr>
          <p:cNvPr id="37" name="TextBox 36"/>
          <p:cNvSpPr txBox="1"/>
          <p:nvPr/>
        </p:nvSpPr>
        <p:spPr>
          <a:xfrm>
            <a:off x="658368" y="1755648"/>
            <a:ext cx="10881360" cy="411480"/>
          </a:xfrm>
          <a:prstGeom prst="rect">
            <a:avLst/>
          </a:prstGeom>
          <a:noFill/>
        </p:spPr>
        <p:txBody>
          <a:bodyPr wrap="square" lIns="0" rIns="0" tIns="0" bIns="0">
            <a:spAutoFit/>
          </a:bodyPr>
          <a:lstStyle/>
          <a:p>
            <a:pPr algn="l"/>
            <a:r>
              <a:rPr sz="1700" b="1" i="0" spc="100">
                <a:solidFill>
                  <a:srgbClr val="E58E1A"/>
                </a:solidFill>
                <a:latin typeface="Cambria"/>
              </a:rPr>
              <a:t>CONFIGURATION LOSS AFTER BATTERY DEATH: EVIDENCE, MECHANISM, AND FIX</a:t>
            </a:r>
          </a:p>
        </p:txBody>
      </p:sp>
      <p:sp>
        <p:nvSpPr>
          <p:cNvPr id="38" name="TextBox 37"/>
          <p:cNvSpPr txBox="1"/>
          <p:nvPr/>
        </p:nvSpPr>
        <p:spPr>
          <a:xfrm>
            <a:off x="658368" y="2331720"/>
            <a:ext cx="7589520" cy="1371600"/>
          </a:xfrm>
          <a:prstGeom prst="rect">
            <a:avLst/>
          </a:prstGeom>
          <a:noFill/>
        </p:spPr>
        <p:txBody>
          <a:bodyPr wrap="square" lIns="0" rIns="0" tIns="0" bIns="0">
            <a:spAutoFit/>
          </a:bodyPr>
          <a:lstStyle/>
          <a:p>
            <a:pPr algn="l"/>
            <a:r>
              <a:rPr sz="1300" b="0" i="0">
                <a:solidFill>
                  <a:srgbClr val="222A3F"/>
                </a:solidFill>
                <a:latin typeface="Cambria"/>
              </a:rPr>
              <a:t>Four times this semester a Meshtastic radio came back from a flat battery with factory settings. A reviewer asked whether the memory itself is at fault. This deck answers that question with measurements taken on the affected radio, the firmware's own source, and the parts' datasheets, and it ends with a fix plan that can be tested.</a:t>
            </a:r>
          </a:p>
        </p:txBody>
      </p:sp>
      <p:sp>
        <p:nvSpPr>
          <p:cNvPr id="39" name="TextBox 38"/>
          <p:cNvSpPr txBox="1"/>
          <p:nvPr/>
        </p:nvSpPr>
        <p:spPr>
          <a:xfrm>
            <a:off x="7589520" y="3657600"/>
            <a:ext cx="3931920" cy="2377440"/>
          </a:xfrm>
          <a:prstGeom prst="rect">
            <a:avLst/>
          </a:prstGeom>
          <a:noFill/>
        </p:spPr>
        <p:txBody>
          <a:bodyPr wrap="square" lIns="0" rIns="0" tIns="0" bIns="0">
            <a:spAutoFit/>
          </a:bodyPr>
          <a:lstStyle/>
          <a:p>
            <a:pPr algn="l"/>
            <a:r>
              <a:rPr sz="1300" b="0" i="0">
                <a:solidFill>
                  <a:srgbClr val="222A3F"/>
                </a:solidFill>
                <a:latin typeface="Courier New"/>
              </a:rPr>
              <a:t>Deo Grace Mwala
Josiah Horn
Victor Okwonna
Cannon Thomas
Sponsor: Dr. Richard Gale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QUESTION</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02/18  REV A  2026-10-27</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QUESTION AND WHAT COUNTS AS AN ANSWER</a:t>
            </a:r>
          </a:p>
        </p:txBody>
      </p:sp>
      <p:sp>
        <p:nvSpPr>
          <p:cNvPr id="8" name="Rectangle 7"/>
          <p:cNvSpPr/>
          <p:nvPr/>
        </p:nvSpPr>
        <p:spPr>
          <a:xfrm>
            <a:off x="502920" y="1234440"/>
            <a:ext cx="5486400" cy="214884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353312"/>
            <a:ext cx="5157216" cy="1911095"/>
          </a:xfrm>
          <a:prstGeom prst="rect">
            <a:avLst/>
          </a:prstGeom>
          <a:noFill/>
        </p:spPr>
        <p:txBody>
          <a:bodyPr wrap="square" lIns="0" rIns="0" tIns="0" bIns="0">
            <a:spAutoFit/>
          </a:bodyPr>
          <a:lstStyle/>
          <a:p>
            <a:r>
              <a:rPr sz="1350" b="1" spc="100">
                <a:solidFill>
                  <a:srgbClr val="16213D"/>
                </a:solidFill>
                <a:latin typeface="Cambria"/>
              </a:rPr>
              <a:t>THE HYPOTHESIS WE WERE HANDED</a:t>
            </a:r>
          </a:p>
          <a:p>
            <a:r>
              <a:rPr sz="1200">
                <a:solidFill>
                  <a:srgbClr val="222A3F"/>
                </a:solidFill>
                <a:latin typeface="Cambria"/>
              </a:rPr>
              <a:t>"It might be the memory itself." Taken seriously, this means one of three things: the flash chip is worn out (program/erase endurance exhausted), it has defective or marginal cells, or its contents are being corrupted by something outside the chip (a write performed under bad conditions). Each leaves a different fingerprint, and each has a different fix.</a:t>
            </a:r>
          </a:p>
        </p:txBody>
      </p:sp>
      <p:sp>
        <p:nvSpPr>
          <p:cNvPr id="10" name="Rectangle 9"/>
          <p:cNvSpPr/>
          <p:nvPr/>
        </p:nvSpPr>
        <p:spPr>
          <a:xfrm>
            <a:off x="6172200" y="1234440"/>
            <a:ext cx="5486400" cy="214884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353312"/>
            <a:ext cx="5157216" cy="1911095"/>
          </a:xfrm>
          <a:prstGeom prst="rect">
            <a:avLst/>
          </a:prstGeom>
          <a:noFill/>
        </p:spPr>
        <p:txBody>
          <a:bodyPr wrap="square" lIns="0" rIns="0" tIns="0" bIns="0">
            <a:spAutoFit/>
          </a:bodyPr>
          <a:lstStyle/>
          <a:p>
            <a:r>
              <a:rPr sz="1350" b="1" spc="100">
                <a:solidFill>
                  <a:srgbClr val="1F9D68"/>
                </a:solidFill>
                <a:latin typeface="Cambria"/>
              </a:rPr>
              <a:t>HOW WE DECIDED TO TEST IT</a:t>
            </a:r>
          </a:p>
          <a:p>
            <a:r>
              <a:rPr sz="1200">
                <a:solidFill>
                  <a:srgbClr val="222A3F"/>
                </a:solidFill>
                <a:latin typeface="Cambria"/>
              </a:rPr>
              <a:t>Not by opinion. We read the settings partition straight off the flash chip with the firmware stopped, several times in one session, and asked whether the chip returns the same bytes. We read the firmware's save and load code at the exact tag we run (2.7.26). We read the flash datasheet's supply limits and the brownout threshold the firmware is built with. Then we lined the four incidents up against all of it.</a:t>
            </a:r>
          </a:p>
        </p:txBody>
      </p:sp>
      <p:graphicFrame>
        <p:nvGraphicFramePr>
          <p:cNvPr id="12" name="Table 11"/>
          <p:cNvGraphicFramePr>
            <a:graphicFrameLocks noGrp="1"/>
          </p:cNvGraphicFramePr>
          <p:nvPr/>
        </p:nvGraphicFramePr>
        <p:xfrm>
          <a:off x="502920" y="3611880"/>
          <a:ext cx="11155680" cy="2377440"/>
        </p:xfrm>
        <a:graphic>
          <a:graphicData uri="http://schemas.openxmlformats.org/drawingml/2006/table">
            <a:tbl>
              <a:tblPr firstRow="1" bandRow="1">
                <a:tableStyleId>{5C22544A-7EE6-4342-B048-85BDC9FD1C3A}</a:tableStyleId>
              </a:tblPr>
              <a:tblGrid>
                <a:gridCol w="2377440"/>
                <a:gridCol w="4937760"/>
                <a:gridCol w="3840480"/>
              </a:tblGrid>
              <a:tr h="475488">
                <a:tc>
                  <a:txBody>
                    <a:bodyPr/>
                    <a:lstStyle/>
                    <a:p>
                      <a:r>
                        <a:rPr sz="1100" b="1">
                          <a:solidFill>
                            <a:srgbClr val="FFFFFF"/>
                          </a:solidFill>
                          <a:latin typeface="Cambria"/>
                        </a:rPr>
                        <a:t>If the cause is...</a:t>
                      </a:r>
                    </a:p>
                  </a:txBody>
                  <a:tcPr marL="73152" marR="73152" marT="27432" marB="27432">
                    <a:solidFill>
                      <a:srgbClr val="16213D"/>
                    </a:solidFill>
                  </a:tcPr>
                </a:tc>
                <a:tc>
                  <a:txBody>
                    <a:bodyPr/>
                    <a:lstStyle/>
                    <a:p>
                      <a:r>
                        <a:rPr sz="1100" b="1">
                          <a:solidFill>
                            <a:srgbClr val="FFFFFF"/>
                          </a:solidFill>
                          <a:latin typeface="Cambria"/>
                        </a:rPr>
                        <a:t>The fingerprint would be...</a:t>
                      </a:r>
                    </a:p>
                  </a:txBody>
                  <a:tcPr marL="73152" marR="73152" marT="27432" marB="27432">
                    <a:solidFill>
                      <a:srgbClr val="16213D"/>
                    </a:solidFill>
                  </a:tcPr>
                </a:tc>
                <a:tc>
                  <a:txBody>
                    <a:bodyPr/>
                    <a:lstStyle/>
                    <a:p>
                      <a:r>
                        <a:rPr sz="1100" b="1">
                          <a:solidFill>
                            <a:srgbClr val="FFFFFF"/>
                          </a:solidFill>
                          <a:latin typeface="Cambria"/>
                        </a:rPr>
                        <a:t>The fix would be...</a:t>
                      </a:r>
                    </a:p>
                  </a:txBody>
                  <a:tcPr marL="73152" marR="73152" marT="27432" marB="27432">
                    <a:solidFill>
                      <a:srgbClr val="16213D"/>
                    </a:solidFill>
                  </a:tcPr>
                </a:tc>
              </a:tr>
              <a:tr h="475488">
                <a:tc>
                  <a:txBody>
                    <a:bodyPr/>
                    <a:lstStyle/>
                    <a:p>
                      <a:r>
                        <a:rPr sz="1100" b="0">
                          <a:solidFill>
                            <a:srgbClr val="222A3F"/>
                          </a:solidFill>
                          <a:latin typeface="Cambria"/>
                        </a:rPr>
                        <a:t>Flash wear</a:t>
                      </a:r>
                    </a:p>
                  </a:txBody>
                  <a:tcPr marL="73152" marR="73152" marT="27432" marB="27432">
                    <a:solidFill>
                      <a:srgbClr val="F2F5FA"/>
                    </a:solidFill>
                  </a:tcPr>
                </a:tc>
                <a:tc>
                  <a:txBody>
                    <a:bodyPr/>
                    <a:lstStyle/>
                    <a:p>
                      <a:r>
                        <a:rPr sz="1100" b="0">
                          <a:solidFill>
                            <a:srgbClr val="222A3F"/>
                          </a:solidFill>
                          <a:latin typeface="Cambria"/>
                        </a:rPr>
                        <a:t>Failures spread across many sectors; write volume near 100k cycles per sector</a:t>
                      </a:r>
                    </a:p>
                  </a:txBody>
                  <a:tcPr marL="73152" marR="73152" marT="27432" marB="27432">
                    <a:solidFill>
                      <a:srgbClr val="F2F5FA"/>
                    </a:solidFill>
                  </a:tcPr>
                </a:tc>
                <a:tc>
                  <a:txBody>
                    <a:bodyPr/>
                    <a:lstStyle/>
                    <a:p>
                      <a:r>
                        <a:rPr sz="1100" b="0">
                          <a:solidFill>
                            <a:srgbClr val="222A3F"/>
                          </a:solidFill>
                          <a:latin typeface="Cambria"/>
                        </a:rPr>
                        <a:t>Replace the part; reduce write rate</a:t>
                      </a:r>
                    </a:p>
                  </a:txBody>
                  <a:tcPr marL="73152" marR="73152" marT="27432" marB="27432">
                    <a:solidFill>
                      <a:srgbClr val="F2F5FA"/>
                    </a:solidFill>
                  </a:tcPr>
                </a:tc>
              </a:tr>
              <a:tr h="475488">
                <a:tc>
                  <a:txBody>
                    <a:bodyPr/>
                    <a:lstStyle/>
                    <a:p>
                      <a:r>
                        <a:rPr sz="1100" b="0">
                          <a:solidFill>
                            <a:srgbClr val="222A3F"/>
                          </a:solidFill>
                          <a:latin typeface="Cambria"/>
                        </a:rPr>
                        <a:t>Defective / marginal cells</a:t>
                      </a:r>
                    </a:p>
                  </a:txBody>
                  <a:tcPr marL="73152" marR="73152" marT="27432" marB="27432">
                    <a:solidFill>
                      <a:srgbClr val="FFFFFF"/>
                    </a:solidFill>
                  </a:tcPr>
                </a:tc>
                <a:tc>
                  <a:txBody>
                    <a:bodyPr/>
                    <a:lstStyle/>
                    <a:p>
                      <a:r>
                        <a:rPr sz="1100" b="0">
                          <a:solidFill>
                            <a:srgbClr val="222A3F"/>
                          </a:solidFill>
                          <a:latin typeface="Cambria"/>
                        </a:rPr>
                        <a:t>The SAME sectors misread on every pass, with the chip otherwise healthy</a:t>
                      </a:r>
                    </a:p>
                  </a:txBody>
                  <a:tcPr marL="73152" marR="73152" marT="27432" marB="27432">
                    <a:solidFill>
                      <a:srgbClr val="FFFFFF"/>
                    </a:solidFill>
                  </a:tcPr>
                </a:tc>
                <a:tc>
                  <a:txBody>
                    <a:bodyPr/>
                    <a:lstStyle/>
                    <a:p>
                      <a:r>
                        <a:rPr sz="1100" b="0">
                          <a:solidFill>
                            <a:srgbClr val="222A3F"/>
                          </a:solidFill>
                          <a:latin typeface="Cambria"/>
                        </a:rPr>
                        <a:t>Avoid or re-form those sectors; or replace the radio</a:t>
                      </a:r>
                    </a:p>
                  </a:txBody>
                  <a:tcPr marL="73152" marR="73152" marT="27432" marB="27432">
                    <a:solidFill>
                      <a:srgbClr val="FFFFFF"/>
                    </a:solidFill>
                  </a:tcPr>
                </a:tc>
              </a:tr>
              <a:tr h="475488">
                <a:tc>
                  <a:txBody>
                    <a:bodyPr/>
                    <a:lstStyle/>
                    <a:p>
                      <a:r>
                        <a:rPr sz="1100" b="0">
                          <a:solidFill>
                            <a:srgbClr val="222A3F"/>
                          </a:solidFill>
                          <a:latin typeface="Cambria"/>
                        </a:rPr>
                        <a:t>Torn write (power loss mid-program)</a:t>
                      </a:r>
                    </a:p>
                  </a:txBody>
                  <a:tcPr marL="73152" marR="73152" marT="27432" marB="27432">
                    <a:solidFill>
                      <a:srgbClr val="F2F5FA"/>
                    </a:solidFill>
                  </a:tcPr>
                </a:tc>
                <a:tc>
                  <a:txBody>
                    <a:bodyPr/>
                    <a:lstStyle/>
                    <a:p>
                      <a:r>
                        <a:rPr sz="1100" b="0">
                          <a:solidFill>
                            <a:srgbClr val="222A3F"/>
                          </a:solidFill>
                          <a:latin typeface="Cambria"/>
                        </a:rPr>
                        <a:t>Failures only after power events; cells left half-programmed read unstably until re-erased</a:t>
                      </a:r>
                    </a:p>
                  </a:txBody>
                  <a:tcPr marL="73152" marR="73152" marT="27432" marB="27432">
                    <a:solidFill>
                      <a:srgbClr val="F2F5FA"/>
                    </a:solidFill>
                  </a:tcPr>
                </a:tc>
                <a:tc>
                  <a:txBody>
                    <a:bodyPr/>
                    <a:lstStyle/>
                    <a:p>
                      <a:r>
                        <a:rPr sz="1100" b="0">
                          <a:solidFill>
                            <a:srgbClr val="222A3F"/>
                          </a:solidFill>
                          <a:latin typeface="Cambria"/>
                        </a:rPr>
                        <a:t>Stop writing when the supply is low; make the fallback harmless</a:t>
                      </a:r>
                    </a:p>
                  </a:txBody>
                  <a:tcPr marL="73152" marR="73152" marT="27432" marB="27432">
                    <a:solidFill>
                      <a:srgbClr val="F2F5FA"/>
                    </a:solidFill>
                  </a:tcPr>
                </a:tc>
              </a:tr>
              <a:tr h="475488">
                <a:tc>
                  <a:txBody>
                    <a:bodyPr/>
                    <a:lstStyle/>
                    <a:p>
                      <a:r>
                        <a:rPr sz="1100" b="0">
                          <a:solidFill>
                            <a:srgbClr val="222A3F"/>
                          </a:solidFill>
                          <a:latin typeface="Cambria"/>
                        </a:rPr>
                        <a:t>Firmware policy</a:t>
                      </a:r>
                    </a:p>
                  </a:txBody>
                  <a:tcPr marL="73152" marR="73152" marT="27432" marB="27432">
                    <a:solidFill>
                      <a:srgbClr val="FFFFFF"/>
                    </a:solidFill>
                  </a:tcPr>
                </a:tc>
                <a:tc>
                  <a:txBody>
                    <a:bodyPr/>
                    <a:lstStyle/>
                    <a:p>
                      <a:r>
                        <a:rPr sz="1100" b="0">
                          <a:solidFill>
                            <a:srgbClr val="222A3F"/>
                          </a:solidFill>
                          <a:latin typeface="Cambria"/>
                        </a:rPr>
                        <a:t>Any read failure becomes a permanent factory reset; no backup consulted</a:t>
                      </a:r>
                    </a:p>
                  </a:txBody>
                  <a:tcPr marL="73152" marR="73152" marT="27432" marB="27432">
                    <a:solidFill>
                      <a:srgbClr val="FFFFFF"/>
                    </a:solidFill>
                  </a:tcPr>
                </a:tc>
                <a:tc>
                  <a:txBody>
                    <a:bodyPr/>
                    <a:lstStyle/>
                    <a:p>
                      <a:r>
                        <a:rPr sz="1100" b="0">
                          <a:solidFill>
                            <a:srgbClr val="222A3F"/>
                          </a:solidFill>
                          <a:latin typeface="Cambria"/>
                        </a:rPr>
                        <a:t>Change the defaults, add a backup, retry before resetting</a:t>
                      </a:r>
                    </a:p>
                  </a:txBody>
                  <a:tcPr marL="73152" marR="73152" marT="27432" marB="27432">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QUESTION</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03/18  REV A  2026-10-27</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RECORD: FOUR LOSSES, ONE PATTERN</a:t>
            </a:r>
          </a:p>
        </p:txBody>
      </p:sp>
      <p:graphicFrame>
        <p:nvGraphicFramePr>
          <p:cNvPr id="10" name="Table 9"/>
          <p:cNvGraphicFramePr>
            <a:graphicFrameLocks noGrp="1"/>
          </p:cNvGraphicFramePr>
          <p:nvPr/>
        </p:nvGraphicFramePr>
        <p:xfrm>
          <a:off x="502920" y="1188720"/>
          <a:ext cx="11155680" cy="2834640"/>
        </p:xfrm>
        <a:graphic>
          <a:graphicData uri="http://schemas.openxmlformats.org/drawingml/2006/table">
            <a:tbl>
              <a:tblPr firstRow="1" bandRow="1">
                <a:tableStyleId>{5C22544A-7EE6-4342-B048-85BDC9FD1C3A}</a:tableStyleId>
              </a:tblPr>
              <a:tblGrid>
                <a:gridCol w="822960"/>
                <a:gridCol w="1097280"/>
                <a:gridCol w="2834640"/>
                <a:gridCol w="4206240"/>
                <a:gridCol w="2194560"/>
              </a:tblGrid>
              <a:tr h="566928">
                <a:tc>
                  <a:txBody>
                    <a:bodyPr/>
                    <a:lstStyle/>
                    <a:p>
                      <a:r>
                        <a:rPr sz="1050" b="1">
                          <a:solidFill>
                            <a:srgbClr val="FFFFFF"/>
                          </a:solidFill>
                          <a:latin typeface="Cambria"/>
                        </a:rPr>
                        <a:t>Date</a:t>
                      </a:r>
                    </a:p>
                  </a:txBody>
                  <a:tcPr marL="73152" marR="73152" marT="27432" marB="27432">
                    <a:solidFill>
                      <a:srgbClr val="16213D"/>
                    </a:solidFill>
                  </a:tcPr>
                </a:tc>
                <a:tc>
                  <a:txBody>
                    <a:bodyPr/>
                    <a:lstStyle/>
                    <a:p>
                      <a:r>
                        <a:rPr sz="1050" b="1">
                          <a:solidFill>
                            <a:srgbClr val="FFFFFF"/>
                          </a:solidFill>
                          <a:latin typeface="Cambria"/>
                        </a:rPr>
                        <a:t>Radio</a:t>
                      </a:r>
                    </a:p>
                  </a:txBody>
                  <a:tcPr marL="73152" marR="73152" marT="27432" marB="27432">
                    <a:solidFill>
                      <a:srgbClr val="16213D"/>
                    </a:solidFill>
                  </a:tcPr>
                </a:tc>
                <a:tc>
                  <a:txBody>
                    <a:bodyPr/>
                    <a:lstStyle/>
                    <a:p>
                      <a:r>
                        <a:rPr sz="1050" b="1">
                          <a:solidFill>
                            <a:srgbClr val="FFFFFF"/>
                          </a:solidFill>
                          <a:latin typeface="Cambria"/>
                        </a:rPr>
                        <a:t>Preceded by</a:t>
                      </a:r>
                    </a:p>
                  </a:txBody>
                  <a:tcPr marL="73152" marR="73152" marT="27432" marB="27432">
                    <a:solidFill>
                      <a:srgbClr val="16213D"/>
                    </a:solidFill>
                  </a:tcPr>
                </a:tc>
                <a:tc>
                  <a:txBody>
                    <a:bodyPr/>
                    <a:lstStyle/>
                    <a:p>
                      <a:r>
                        <a:rPr sz="1050" b="1">
                          <a:solidFill>
                            <a:srgbClr val="FFFFFF"/>
                          </a:solidFill>
                          <a:latin typeface="Cambria"/>
                        </a:rPr>
                        <a:t>What came back as factory default</a:t>
                      </a:r>
                    </a:p>
                  </a:txBody>
                  <a:tcPr marL="73152" marR="73152" marT="27432" marB="27432">
                    <a:solidFill>
                      <a:srgbClr val="16213D"/>
                    </a:solidFill>
                  </a:tcPr>
                </a:tc>
                <a:tc>
                  <a:txBody>
                    <a:bodyPr/>
                    <a:lstStyle/>
                    <a:p>
                      <a:r>
                        <a:rPr sz="1050" b="1">
                          <a:solidFill>
                            <a:srgbClr val="FFFFFF"/>
                          </a:solidFill>
                          <a:latin typeface="Cambria"/>
                        </a:rPr>
                        <a:t>What survived</a:t>
                      </a:r>
                    </a:p>
                  </a:txBody>
                  <a:tcPr marL="73152" marR="73152" marT="27432" marB="27432">
                    <a:solidFill>
                      <a:srgbClr val="16213D"/>
                    </a:solidFill>
                  </a:tcPr>
                </a:tc>
              </a:tr>
              <a:tr h="566928">
                <a:tc>
                  <a:txBody>
                    <a:bodyPr/>
                    <a:lstStyle/>
                    <a:p>
                      <a:r>
                        <a:rPr sz="1050" b="0">
                          <a:solidFill>
                            <a:srgbClr val="222A3F"/>
                          </a:solidFill>
                          <a:latin typeface="Cambria"/>
                        </a:rPr>
                        <a:t>Sep 3</a:t>
                      </a:r>
                    </a:p>
                  </a:txBody>
                  <a:tcPr marL="73152" marR="73152" marT="27432" marB="27432">
                    <a:solidFill>
                      <a:srgbClr val="F2F5FA"/>
                    </a:solidFill>
                  </a:tcPr>
                </a:tc>
                <a:tc>
                  <a:txBody>
                    <a:bodyPr/>
                    <a:lstStyle/>
                    <a:p>
                      <a:r>
                        <a:rPr sz="1050" b="0">
                          <a:solidFill>
                            <a:srgbClr val="222A3F"/>
                          </a:solidFill>
                          <a:latin typeface="Cambria"/>
                        </a:rPr>
                        <a:t>SF</a:t>
                      </a:r>
                    </a:p>
                  </a:txBody>
                  <a:tcPr marL="73152" marR="73152" marT="27432" marB="27432">
                    <a:solidFill>
                      <a:srgbClr val="F2F5FA"/>
                    </a:solidFill>
                  </a:tcPr>
                </a:tc>
                <a:tc>
                  <a:txBody>
                    <a:bodyPr/>
                    <a:lstStyle/>
                    <a:p>
                      <a:r>
                        <a:rPr sz="1050" b="0">
                          <a:solidFill>
                            <a:srgbClr val="222A3F"/>
                          </a:solidFill>
                          <a:latin typeface="Cambria"/>
                        </a:rPr>
                        <a:t>CLI port-close reset mid-save (not a battery event)</a:t>
                      </a:r>
                    </a:p>
                  </a:txBody>
                  <a:tcPr marL="73152" marR="73152" marT="27432" marB="27432">
                    <a:solidFill>
                      <a:srgbClr val="F2F5FA"/>
                    </a:solidFill>
                  </a:tcPr>
                </a:tc>
                <a:tc>
                  <a:txBody>
                    <a:bodyPr/>
                    <a:lstStyle/>
                    <a:p>
                      <a:r>
                        <a:rPr sz="1050" b="0">
                          <a:solidFill>
                            <a:srgbClr val="222A3F"/>
                          </a:solidFill>
                          <a:latin typeface="Cambria"/>
                        </a:rPr>
                        <a:t>Reboot-triggering settings: region, Bluetooth mode</a:t>
                      </a:r>
                    </a:p>
                  </a:txBody>
                  <a:tcPr marL="73152" marR="73152" marT="27432" marB="27432">
                    <a:solidFill>
                      <a:srgbClr val="F2F5FA"/>
                    </a:solidFill>
                  </a:tcPr>
                </a:tc>
                <a:tc>
                  <a:txBody>
                    <a:bodyPr/>
                    <a:lstStyle/>
                    <a:p>
                      <a:r>
                        <a:rPr sz="1050" b="0">
                          <a:solidFill>
                            <a:srgbClr val="222A3F"/>
                          </a:solidFill>
                          <a:latin typeface="Cambria"/>
                        </a:rPr>
                        <a:t>Everything else</a:t>
                      </a:r>
                    </a:p>
                  </a:txBody>
                  <a:tcPr marL="73152" marR="73152" marT="27432" marB="27432">
                    <a:solidFill>
                      <a:srgbClr val="F2F5FA"/>
                    </a:solidFill>
                  </a:tcPr>
                </a:tc>
              </a:tr>
              <a:tr h="566928">
                <a:tc>
                  <a:txBody>
                    <a:bodyPr/>
                    <a:lstStyle/>
                    <a:p>
                      <a:r>
                        <a:rPr sz="1050" b="0">
                          <a:solidFill>
                            <a:srgbClr val="222A3F"/>
                          </a:solidFill>
                          <a:latin typeface="Cambria"/>
                        </a:rPr>
                        <a:t>Sep 30</a:t>
                      </a:r>
                    </a:p>
                  </a:txBody>
                  <a:tcPr marL="73152" marR="73152" marT="27432" marB="27432">
                    <a:solidFill>
                      <a:srgbClr val="FFFFFF"/>
                    </a:solidFill>
                  </a:tcPr>
                </a:tc>
                <a:tc>
                  <a:txBody>
                    <a:bodyPr/>
                    <a:lstStyle/>
                    <a:p>
                      <a:r>
                        <a:rPr sz="1050" b="0">
                          <a:solidFill>
                            <a:srgbClr val="222A3F"/>
                          </a:solidFill>
                          <a:latin typeface="Cambria"/>
                        </a:rPr>
                        <a:t>RG and SF</a:t>
                      </a:r>
                    </a:p>
                  </a:txBody>
                  <a:tcPr marL="73152" marR="73152" marT="27432" marB="27432">
                    <a:solidFill>
                      <a:srgbClr val="FFFFFF"/>
                    </a:solidFill>
                  </a:tcPr>
                </a:tc>
                <a:tc>
                  <a:txBody>
                    <a:bodyPr/>
                    <a:lstStyle/>
                    <a:p>
                      <a:r>
                        <a:rPr sz="1050" b="0">
                          <a:solidFill>
                            <a:srgbClr val="222A3F"/>
                          </a:solidFill>
                          <a:latin typeface="Cambria"/>
                        </a:rPr>
                        <a:t>Both batteries ran flat overnight</a:t>
                      </a:r>
                    </a:p>
                  </a:txBody>
                  <a:tcPr marL="73152" marR="73152" marT="27432" marB="27432">
                    <a:solidFill>
                      <a:srgbClr val="FFFFFF"/>
                    </a:solidFill>
                  </a:tcPr>
                </a:tc>
                <a:tc>
                  <a:txBody>
                    <a:bodyPr/>
                    <a:lstStyle/>
                    <a:p>
                      <a:r>
                        <a:rPr sz="1050" b="0">
                          <a:solidFill>
                            <a:srgbClr val="222A3F"/>
                          </a:solidFill>
                          <a:latin typeface="Cambria"/>
                        </a:rPr>
                        <a:t>RG: channels only. SF: channel + key, role, Bluetooth, telemetry, owner name</a:t>
                      </a:r>
                    </a:p>
                  </a:txBody>
                  <a:tcPr marL="73152" marR="73152" marT="27432" marB="27432">
                    <a:solidFill>
                      <a:srgbClr val="FFFFFF"/>
                    </a:solidFill>
                  </a:tcPr>
                </a:tc>
                <a:tc>
                  <a:txBody>
                    <a:bodyPr/>
                    <a:lstStyle/>
                    <a:p>
                      <a:r>
                        <a:rPr sz="1050" b="0">
                          <a:solidFill>
                            <a:srgbClr val="222A3F"/>
                          </a:solidFill>
                          <a:latin typeface="Cambria"/>
                        </a:rPr>
                        <a:t>RG: all but channels</a:t>
                      </a:r>
                    </a:p>
                  </a:txBody>
                  <a:tcPr marL="73152" marR="73152" marT="27432" marB="27432">
                    <a:solidFill>
                      <a:srgbClr val="FFFFFF"/>
                    </a:solidFill>
                  </a:tcPr>
                </a:tc>
              </a:tr>
              <a:tr h="566928">
                <a:tc>
                  <a:txBody>
                    <a:bodyPr/>
                    <a:lstStyle/>
                    <a:p>
                      <a:r>
                        <a:rPr sz="1050" b="0">
                          <a:solidFill>
                            <a:srgbClr val="222A3F"/>
                          </a:solidFill>
                          <a:latin typeface="Cambria"/>
                        </a:rPr>
                        <a:t>Oct 17</a:t>
                      </a:r>
                    </a:p>
                  </a:txBody>
                  <a:tcPr marL="73152" marR="73152" marT="27432" marB="27432">
                    <a:solidFill>
                      <a:srgbClr val="F2F5FA"/>
                    </a:solidFill>
                  </a:tcPr>
                </a:tc>
                <a:tc>
                  <a:txBody>
                    <a:bodyPr/>
                    <a:lstStyle/>
                    <a:p>
                      <a:r>
                        <a:rPr sz="1050" b="0">
                          <a:solidFill>
                            <a:srgbClr val="222A3F"/>
                          </a:solidFill>
                          <a:latin typeface="Cambria"/>
                        </a:rPr>
                        <a:t>SF</a:t>
                      </a:r>
                    </a:p>
                  </a:txBody>
                  <a:tcPr marL="73152" marR="73152" marT="27432" marB="27432">
                    <a:solidFill>
                      <a:srgbClr val="F2F5FA"/>
                    </a:solidFill>
                  </a:tcPr>
                </a:tc>
                <a:tc>
                  <a:txBody>
                    <a:bodyPr/>
                    <a:lstStyle/>
                    <a:p>
                      <a:r>
                        <a:rPr sz="1050" b="0">
                          <a:solidFill>
                            <a:srgbClr val="222A3F"/>
                          </a:solidFill>
                          <a:latin typeface="Cambria"/>
                        </a:rPr>
                        <a:t>About a week idle, battery flat</a:t>
                      </a:r>
                    </a:p>
                  </a:txBody>
                  <a:tcPr marL="73152" marR="73152" marT="27432" marB="27432">
                    <a:solidFill>
                      <a:srgbClr val="F2F5FA"/>
                    </a:solidFill>
                  </a:tcPr>
                </a:tc>
                <a:tc>
                  <a:txBody>
                    <a:bodyPr/>
                    <a:lstStyle/>
                    <a:p>
                      <a:r>
                        <a:rPr sz="1050" b="0">
                          <a:solidFill>
                            <a:srgbClr val="222A3F"/>
                          </a:solidFill>
                          <a:latin typeface="Cambria"/>
                        </a:rPr>
                        <a:t>Bluetooth mode, channel (back to 906.875 MHz), owner name</a:t>
                      </a:r>
                    </a:p>
                  </a:txBody>
                  <a:tcPr marL="73152" marR="73152" marT="27432" marB="27432">
                    <a:solidFill>
                      <a:srgbClr val="F2F5FA"/>
                    </a:solidFill>
                  </a:tcPr>
                </a:tc>
                <a:tc>
                  <a:txBody>
                    <a:bodyPr/>
                    <a:lstStyle/>
                    <a:p>
                      <a:r>
                        <a:rPr sz="1050" b="0">
                          <a:solidFill>
                            <a:srgbClr val="222A3F"/>
                          </a:solidFill>
                          <a:latin typeface="Cambria"/>
                        </a:rPr>
                        <a:t>Position cadence, role</a:t>
                      </a:r>
                    </a:p>
                  </a:txBody>
                  <a:tcPr marL="73152" marR="73152" marT="27432" marB="27432">
                    <a:solidFill>
                      <a:srgbClr val="F2F5FA"/>
                    </a:solidFill>
                  </a:tcPr>
                </a:tc>
              </a:tr>
              <a:tr h="566928">
                <a:tc>
                  <a:txBody>
                    <a:bodyPr/>
                    <a:lstStyle/>
                    <a:p>
                      <a:r>
                        <a:rPr sz="1050" b="0">
                          <a:solidFill>
                            <a:srgbClr val="222A3F"/>
                          </a:solidFill>
                          <a:latin typeface="Cambria"/>
                        </a:rPr>
                        <a:t>Oct 24</a:t>
                      </a:r>
                    </a:p>
                  </a:txBody>
                  <a:tcPr marL="73152" marR="73152" marT="27432" marB="27432">
                    <a:solidFill>
                      <a:srgbClr val="FFFFFF"/>
                    </a:solidFill>
                  </a:tcPr>
                </a:tc>
                <a:tc>
                  <a:txBody>
                    <a:bodyPr/>
                    <a:lstStyle/>
                    <a:p>
                      <a:r>
                        <a:rPr sz="1050" b="0">
                          <a:solidFill>
                            <a:srgbClr val="222A3F"/>
                          </a:solidFill>
                          <a:latin typeface="Cambria"/>
                        </a:rPr>
                        <a:t>SF</a:t>
                      </a:r>
                    </a:p>
                  </a:txBody>
                  <a:tcPr marL="73152" marR="73152" marT="27432" marB="27432">
                    <a:solidFill>
                      <a:srgbClr val="FFFFFF"/>
                    </a:solidFill>
                  </a:tcPr>
                </a:tc>
                <a:tc>
                  <a:txBody>
                    <a:bodyPr/>
                    <a:lstStyle/>
                    <a:p>
                      <a:r>
                        <a:rPr sz="1050" b="0">
                          <a:solidFill>
                            <a:srgbClr val="222A3F"/>
                          </a:solidFill>
                          <a:latin typeface="Cambria"/>
                        </a:rPr>
                        <a:t>Battery flat in transit</a:t>
                      </a:r>
                    </a:p>
                  </a:txBody>
                  <a:tcPr marL="73152" marR="73152" marT="27432" marB="27432">
                    <a:solidFill>
                      <a:srgbClr val="FFFFFF"/>
                    </a:solidFill>
                  </a:tcPr>
                </a:tc>
                <a:tc>
                  <a:txBody>
                    <a:bodyPr/>
                    <a:lstStyle/>
                    <a:p>
                      <a:r>
                        <a:rPr sz="1050" b="0">
                          <a:solidFill>
                            <a:srgbClr val="222A3F"/>
                          </a:solidFill>
                          <a:latin typeface="Cambria"/>
                        </a:rPr>
                        <a:t>Channel + key, position precision, Bluetooth, cadence, owner, canned messages, node database</a:t>
                      </a:r>
                    </a:p>
                  </a:txBody>
                  <a:tcPr marL="73152" marR="73152" marT="27432" marB="27432">
                    <a:solidFill>
                      <a:srgbClr val="FFFFFF"/>
                    </a:solidFill>
                  </a:tcPr>
                </a:tc>
                <a:tc>
                  <a:txBody>
                    <a:bodyPr/>
                    <a:lstStyle/>
                    <a:p>
                      <a:r>
                        <a:rPr sz="1050" b="0">
                          <a:solidFill>
                            <a:srgbClr val="222A3F"/>
                          </a:solidFill>
                          <a:latin typeface="Cambria"/>
                        </a:rPr>
                        <a:t>Role (as read back)</a:t>
                      </a:r>
                    </a:p>
                  </a:txBody>
                  <a:tcPr marL="73152" marR="73152" marT="27432" marB="27432">
                    <a:solidFill>
                      <a:srgbClr val="FFFFFF"/>
                    </a:solidFill>
                  </a:tcPr>
                </a:tc>
              </a:tr>
            </a:tbl>
          </a:graphicData>
        </a:graphic>
      </p:graphicFrame>
      <p:sp>
        <p:nvSpPr>
          <p:cNvPr id="11" name="Rectangle 10"/>
          <p:cNvSpPr/>
          <p:nvPr/>
        </p:nvSpPr>
        <p:spPr>
          <a:xfrm>
            <a:off x="502920" y="4206240"/>
            <a:ext cx="5486400" cy="178308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4325112"/>
            <a:ext cx="5157216" cy="1545336"/>
          </a:xfrm>
          <a:prstGeom prst="rect">
            <a:avLst/>
          </a:prstGeom>
          <a:noFill/>
        </p:spPr>
        <p:txBody>
          <a:bodyPr wrap="square" lIns="0" rIns="0" tIns="0" bIns="0">
            <a:spAutoFit/>
          </a:bodyPr>
          <a:lstStyle/>
          <a:p>
            <a:r>
              <a:rPr sz="1300" b="1" spc="100">
                <a:solidFill>
                  <a:srgbClr val="16213D"/>
                </a:solidFill>
                <a:latin typeface="Cambria"/>
              </a:rPr>
              <a:t>WHAT THE PATTERN SAYS</a:t>
            </a:r>
          </a:p>
          <a:p>
            <a:r>
              <a:rPr sz="1200">
                <a:solidFill>
                  <a:srgbClr val="222A3F"/>
                </a:solidFill>
                <a:latin typeface="Cambria"/>
              </a:rPr>
              <a:t>Three of four follow a flat battery; the fourth is a known reset-during-write race. SF accounts for three of four. The losses are partial and vary from event to event, which is what you expect if individual files, not the whole store, are being damaged.</a:t>
            </a:r>
          </a:p>
        </p:txBody>
      </p:sp>
      <p:sp>
        <p:nvSpPr>
          <p:cNvPr id="13" name="Rectangle 12"/>
          <p:cNvSpPr/>
          <p:nvPr/>
        </p:nvSpPr>
        <p:spPr>
          <a:xfrm>
            <a:off x="6172200" y="4206240"/>
            <a:ext cx="5486400" cy="178308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4325112"/>
            <a:ext cx="5157216" cy="1545336"/>
          </a:xfrm>
          <a:prstGeom prst="rect">
            <a:avLst/>
          </a:prstGeom>
          <a:noFill/>
        </p:spPr>
        <p:txBody>
          <a:bodyPr wrap="square" lIns="0" rIns="0" tIns="0" bIns="0">
            <a:spAutoFit/>
          </a:bodyPr>
          <a:lstStyle/>
          <a:p>
            <a:r>
              <a:rPr sz="1300" b="1" spc="100">
                <a:solidFill>
                  <a:srgbClr val="1F9D68"/>
                </a:solidFill>
                <a:latin typeface="Cambria"/>
              </a:rPr>
              <a:t>WHAT IT RULES OUT ALREADY</a:t>
            </a:r>
          </a:p>
          <a:p>
            <a:r>
              <a:rPr sz="1200">
                <a:solidFill>
                  <a:srgbClr val="222A3F"/>
                </a:solidFill>
                <a:latin typeface="Cambria"/>
              </a:rPr>
              <a:t>Not a single bad setting and not operator error: the same provisioning block was applied and read back each time. Not the display firmware: the displays only read from the radio over Bluetooth. Whatever this is lives between the radio's power rail and its flash.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HOW THE RADIO REMEMBERS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04/18  REV A  2026-10-27</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HOW THE RADIO STORES ITS SETTINGS</a:t>
            </a:r>
          </a:p>
        </p:txBody>
      </p:sp>
      <p:pic>
        <p:nvPicPr>
          <p:cNvPr id="10" name="Picture 9" descr="g_storage.png"/>
          <p:cNvPicPr>
            <a:picLocks noChangeAspect="1"/>
          </p:cNvPicPr>
          <p:nvPr/>
        </p:nvPicPr>
        <p:blipFill>
          <a:blip r:embed="rId2"/>
          <a:stretch>
            <a:fillRect/>
          </a:stretch>
        </p:blipFill>
        <p:spPr>
          <a:xfrm>
            <a:off x="502920" y="1143000"/>
            <a:ext cx="11155680" cy="4498258"/>
          </a:xfrm>
          <a:prstGeom prst="rect">
            <a:avLst/>
          </a:prstGeom>
        </p:spPr>
      </p:pic>
      <p:sp>
        <p:nvSpPr>
          <p:cNvPr id="11" name="TextBox 10"/>
          <p:cNvSpPr txBox="1"/>
          <p:nvPr/>
        </p:nvSpPr>
        <p:spPr>
          <a:xfrm>
            <a:off x="502920" y="5715000"/>
            <a:ext cx="11155680" cy="457200"/>
          </a:xfrm>
          <a:prstGeom prst="rect">
            <a:avLst/>
          </a:prstGeom>
          <a:noFill/>
        </p:spPr>
        <p:txBody>
          <a:bodyPr wrap="square" lIns="0" rIns="0" tIns="0" bIns="0">
            <a:spAutoFit/>
          </a:bodyPr>
          <a:lstStyle/>
          <a:p>
            <a:pPr algn="l"/>
            <a:r>
              <a:rPr sz="1050" b="0" i="0">
                <a:solidFill>
                  <a:srgbClr val="5E6B85"/>
                </a:solidFill>
                <a:latin typeface="Courier New"/>
              </a:rPr>
              <a:t>Partition table and file sizes read from the SF radio on 2026-10-27; save/load behaviour from meshtastic/firmware tag v2.7.26 (NodeDB.cpp, SafeFile.cpp, PowerHAL.cpp, PowerFSM.cpp, sleep.cpp).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HOW THE RADIO REMEMBERS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05/18  REV A  2026-10-27</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WHAT THE FIRMWARE DOES, VERIFIED AT TAG V2.7.26</a:t>
            </a:r>
          </a:p>
        </p:txBody>
      </p:sp>
      <p:graphicFrame>
        <p:nvGraphicFramePr>
          <p:cNvPr id="8" name="Table 7"/>
          <p:cNvGraphicFramePr>
            <a:graphicFrameLocks noGrp="1"/>
          </p:cNvGraphicFramePr>
          <p:nvPr/>
        </p:nvGraphicFramePr>
        <p:xfrm>
          <a:off x="502920" y="1188720"/>
          <a:ext cx="11155680" cy="4608576"/>
        </p:xfrm>
        <a:graphic>
          <a:graphicData uri="http://schemas.openxmlformats.org/drawingml/2006/table">
            <a:tbl>
              <a:tblPr firstRow="1" bandRow="1">
                <a:tableStyleId>{5C22544A-7EE6-4342-B048-85BDC9FD1C3A}</a:tableStyleId>
              </a:tblPr>
              <a:tblGrid>
                <a:gridCol w="3291840"/>
                <a:gridCol w="4206240"/>
                <a:gridCol w="3657600"/>
              </a:tblGrid>
              <a:tr h="512064">
                <a:tc>
                  <a:txBody>
                    <a:bodyPr/>
                    <a:lstStyle/>
                    <a:p>
                      <a:r>
                        <a:rPr sz="1050" b="1">
                          <a:solidFill>
                            <a:srgbClr val="FFFFFF"/>
                          </a:solidFill>
                          <a:latin typeface="Cambria"/>
                        </a:rPr>
                        <a:t>Behaviour</a:t>
                      </a:r>
                    </a:p>
                  </a:txBody>
                  <a:tcPr marL="73152" marR="73152" marT="27432" marB="27432">
                    <a:solidFill>
                      <a:srgbClr val="16213D"/>
                    </a:solidFill>
                  </a:tcPr>
                </a:tc>
                <a:tc>
                  <a:txBody>
                    <a:bodyPr/>
                    <a:lstStyle/>
                    <a:p>
                      <a:r>
                        <a:rPr sz="1050" b="1">
                          <a:solidFill>
                            <a:srgbClr val="FFFFFF"/>
                          </a:solidFill>
                          <a:latin typeface="Cambria"/>
                        </a:rPr>
                        <a:t>Source</a:t>
                      </a:r>
                    </a:p>
                  </a:txBody>
                  <a:tcPr marL="73152" marR="73152" marT="27432" marB="27432">
                    <a:solidFill>
                      <a:srgbClr val="16213D"/>
                    </a:solidFill>
                  </a:tcPr>
                </a:tc>
                <a:tc>
                  <a:txBody>
                    <a:bodyPr/>
                    <a:lstStyle/>
                    <a:p>
                      <a:r>
                        <a:rPr sz="1050" b="1">
                          <a:solidFill>
                            <a:srgbClr val="FFFFFF"/>
                          </a:solidFill>
                          <a:latin typeface="Cambria"/>
                        </a:rPr>
                        <a:t>Consequence for us</a:t>
                      </a:r>
                    </a:p>
                  </a:txBody>
                  <a:tcPr marL="73152" marR="73152" marT="27432" marB="27432">
                    <a:solidFill>
                      <a:srgbClr val="16213D"/>
                    </a:solidFill>
                  </a:tcPr>
                </a:tc>
              </a:tr>
              <a:tr h="512064">
                <a:tc>
                  <a:txBody>
                    <a:bodyPr/>
                    <a:lstStyle/>
                    <a:p>
                      <a:r>
                        <a:rPr sz="1050" b="0">
                          <a:solidFill>
                            <a:srgbClr val="222A3F"/>
                          </a:solidFill>
                          <a:latin typeface="Cambria"/>
                        </a:rPr>
                        <a:t>Every save is gated by powerHAL_isPowerLevelSafe()</a:t>
                      </a:r>
                    </a:p>
                  </a:txBody>
                  <a:tcPr marL="73152" marR="73152" marT="27432" marB="27432">
                    <a:solidFill>
                      <a:srgbClr val="F2F5FA"/>
                    </a:solidFill>
                  </a:tcPr>
                </a:tc>
                <a:tc>
                  <a:txBody>
                    <a:bodyPr/>
                    <a:lstStyle/>
                    <a:p>
                      <a:r>
                        <a:rPr sz="1050" b="0">
                          <a:solidFill>
                            <a:srgbClr val="222A3F"/>
                          </a:solidFill>
                          <a:latin typeface="Cambria"/>
                        </a:rPr>
                        <a:t>PowerHAL.cpp: weak default `return true;` no ESP32 override exists</a:t>
                      </a:r>
                    </a:p>
                  </a:txBody>
                  <a:tcPr marL="73152" marR="73152" marT="27432" marB="27432">
                    <a:solidFill>
                      <a:srgbClr val="F2F5FA"/>
                    </a:solidFill>
                  </a:tcPr>
                </a:tc>
                <a:tc>
                  <a:txBody>
                    <a:bodyPr/>
                    <a:lstStyle/>
                    <a:p>
                      <a:r>
                        <a:rPr sz="1050" b="0">
                          <a:solidFill>
                            <a:srgbClr val="222A3F"/>
                          </a:solidFill>
                          <a:latin typeface="Cambria"/>
                        </a:rPr>
                        <a:t>On our radios a save is never refused for low voltage</a:t>
                      </a:r>
                    </a:p>
                  </a:txBody>
                  <a:tcPr marL="73152" marR="73152" marT="27432" marB="27432">
                    <a:solidFill>
                      <a:srgbClr val="F2F5FA"/>
                    </a:solidFill>
                  </a:tcPr>
                </a:tc>
              </a:tr>
              <a:tr h="512064">
                <a:tc>
                  <a:txBody>
                    <a:bodyPr/>
                    <a:lstStyle/>
                    <a:p>
                      <a:r>
                        <a:rPr sz="1050" b="0">
                          <a:solidFill>
                            <a:srgbClr val="222A3F"/>
                          </a:solidFill>
                          <a:latin typeface="Cambria"/>
                        </a:rPr>
                        <a:t>Atomic save: write .tmp, re-read, 1-byte XOR check, rename</a:t>
                      </a:r>
                    </a:p>
                  </a:txBody>
                  <a:tcPr marL="73152" marR="73152" marT="27432" marB="27432">
                    <a:solidFill>
                      <a:srgbClr val="FFFFFF"/>
                    </a:solidFill>
                  </a:tcPr>
                </a:tc>
                <a:tc>
                  <a:txBody>
                    <a:bodyPr/>
                    <a:lstStyle/>
                    <a:p>
                      <a:r>
                        <a:rPr sz="1050" b="0">
                          <a:solidFill>
                            <a:srgbClr val="222A3F"/>
                          </a:solidFill>
                          <a:latin typeface="Cambria"/>
                        </a:rPr>
                        <a:t>SafeFile.cpp</a:t>
                      </a:r>
                    </a:p>
                  </a:txBody>
                  <a:tcPr marL="73152" marR="73152" marT="27432" marB="27432">
                    <a:solidFill>
                      <a:srgbClr val="FFFFFF"/>
                    </a:solidFill>
                  </a:tcPr>
                </a:tc>
                <a:tc>
                  <a:txBody>
                    <a:bodyPr/>
                    <a:lstStyle/>
                    <a:p>
                      <a:r>
                        <a:rPr sz="1050" b="0">
                          <a:solidFill>
                            <a:srgbClr val="222A3F"/>
                          </a:solidFill>
                          <a:latin typeface="Cambria"/>
                        </a:rPr>
                        <a:t>Protects against a torn write of the NEW copy, if the check runs</a:t>
                      </a:r>
                    </a:p>
                  </a:txBody>
                  <a:tcPr marL="73152" marR="73152" marT="27432" marB="27432">
                    <a:solidFill>
                      <a:srgbClr val="FFFFFF"/>
                    </a:solidFill>
                  </a:tcPr>
                </a:tc>
              </a:tr>
              <a:tr h="512064">
                <a:tc>
                  <a:txBody>
                    <a:bodyPr/>
                    <a:lstStyle/>
                    <a:p>
                      <a:r>
                        <a:rPr sz="1050" b="0">
                          <a:solidFill>
                            <a:srgbClr val="222A3F"/>
                          </a:solidFill>
                          <a:latin typeface="Cambria"/>
                        </a:rPr>
                        <a:t>nodes.proto saved with fullAtomic=false</a:t>
                      </a:r>
                    </a:p>
                  </a:txBody>
                  <a:tcPr marL="73152" marR="73152" marT="27432" marB="27432">
                    <a:solidFill>
                      <a:srgbClr val="F2F5FA"/>
                    </a:solidFill>
                  </a:tcPr>
                </a:tc>
                <a:tc>
                  <a:txBody>
                    <a:bodyPr/>
                    <a:lstStyle/>
                    <a:p>
                      <a:r>
                        <a:rPr sz="1050" b="0">
                          <a:solidFill>
                            <a:srgbClr val="222A3F"/>
                          </a:solidFill>
                          <a:latin typeface="Cambria"/>
                        </a:rPr>
                        <a:t>NodeDB.cpp saveNodeDatabaseToDisk</a:t>
                      </a:r>
                    </a:p>
                  </a:txBody>
                  <a:tcPr marL="73152" marR="73152" marT="27432" marB="27432">
                    <a:solidFill>
                      <a:srgbClr val="F2F5FA"/>
                    </a:solidFill>
                  </a:tcPr>
                </a:tc>
                <a:tc>
                  <a:txBody>
                    <a:bodyPr/>
                    <a:lstStyle/>
                    <a:p>
                      <a:r>
                        <a:rPr sz="1050" b="0">
                          <a:solidFill>
                            <a:srgbClr val="222A3F"/>
                          </a:solidFill>
                          <a:latin typeface="Cambria"/>
                        </a:rPr>
                        <a:t>Original deleted before the write: a reset mid-save leaves no node database (seen Oct 24)</a:t>
                      </a:r>
                    </a:p>
                  </a:txBody>
                  <a:tcPr marL="73152" marR="73152" marT="27432" marB="27432">
                    <a:solidFill>
                      <a:srgbClr val="F2F5FA"/>
                    </a:solidFill>
                  </a:tcPr>
                </a:tc>
              </a:tr>
              <a:tr h="512064">
                <a:tc>
                  <a:txBody>
                    <a:bodyPr/>
                    <a:lstStyle/>
                    <a:p>
                      <a:r>
                        <a:rPr sz="1050" b="0">
                          <a:solidFill>
                            <a:srgbClr val="222A3F"/>
                          </a:solidFill>
                          <a:latin typeface="Cambria"/>
                        </a:rPr>
                        <a:t>saveProto ignores the close() result</a:t>
                      </a:r>
                    </a:p>
                  </a:txBody>
                  <a:tcPr marL="73152" marR="73152" marT="27432" marB="27432">
                    <a:solidFill>
                      <a:srgbClr val="FFFFFF"/>
                    </a:solidFill>
                  </a:tcPr>
                </a:tc>
                <a:tc>
                  <a:txBody>
                    <a:bodyPr/>
                    <a:lstStyle/>
                    <a:p>
                      <a:r>
                        <a:rPr sz="1050" b="0">
                          <a:solidFill>
                            <a:srgbClr val="222A3F"/>
                          </a:solidFill>
                          <a:latin typeface="Cambria"/>
                        </a:rPr>
                        <a:t>NodeDB.cpp: logs 'Can't write prefs!' then returns okay</a:t>
                      </a:r>
                    </a:p>
                  </a:txBody>
                  <a:tcPr marL="73152" marR="73152" marT="27432" marB="27432">
                    <a:solidFill>
                      <a:srgbClr val="FFFFFF"/>
                    </a:solidFill>
                  </a:tcPr>
                </a:tc>
                <a:tc>
                  <a:txBody>
                    <a:bodyPr/>
                    <a:lstStyle/>
                    <a:p>
                      <a:r>
                        <a:rPr sz="1050" b="0">
                          <a:solidFill>
                            <a:srgbClr val="222A3F"/>
                          </a:solidFill>
                          <a:latin typeface="Cambria"/>
                        </a:rPr>
                        <a:t>A failed save is invisible to the caller</a:t>
                      </a:r>
                    </a:p>
                  </a:txBody>
                  <a:tcPr marL="73152" marR="73152" marT="27432" marB="27432">
                    <a:solidFill>
                      <a:srgbClr val="FFFFFF"/>
                    </a:solidFill>
                  </a:tcPr>
                </a:tc>
              </a:tr>
              <a:tr h="512064">
                <a:tc>
                  <a:txBody>
                    <a:bodyPr/>
                    <a:lstStyle/>
                    <a:p>
                      <a:r>
                        <a:rPr sz="1050" b="0">
                          <a:solidFill>
                            <a:srgbClr val="222A3F"/>
                          </a:solidFill>
                          <a:latin typeface="Cambria"/>
                        </a:rPr>
                        <a:t>device.proto is re-saved at every boot</a:t>
                      </a:r>
                    </a:p>
                  </a:txBody>
                  <a:tcPr marL="73152" marR="73152" marT="27432" marB="27432">
                    <a:solidFill>
                      <a:srgbClr val="F2F5FA"/>
                    </a:solidFill>
                  </a:tcPr>
                </a:tc>
                <a:tc>
                  <a:txBody>
                    <a:bodyPr/>
                    <a:lstStyle/>
                    <a:p>
                      <a:r>
                        <a:rPr sz="1050" b="0">
                          <a:solidFill>
                            <a:srgbClr val="222A3F"/>
                          </a:solidFill>
                          <a:latin typeface="Cambria"/>
                        </a:rPr>
                        <a:t>Our boot log: 'Opening /prefs/device.proto, fullAtomic=1 / Save'</a:t>
                      </a:r>
                    </a:p>
                  </a:txBody>
                  <a:tcPr marL="73152" marR="73152" marT="27432" marB="27432">
                    <a:solidFill>
                      <a:srgbClr val="F2F5FA"/>
                    </a:solidFill>
                  </a:tcPr>
                </a:tc>
                <a:tc>
                  <a:txBody>
                    <a:bodyPr/>
                    <a:lstStyle/>
                    <a:p>
                      <a:r>
                        <a:rPr sz="1050" b="0">
                          <a:solidFill>
                            <a:srgbClr val="222A3F"/>
                          </a:solidFill>
                          <a:latin typeface="Cambria"/>
                        </a:rPr>
                        <a:t>Every reboot of a dying battery is a flash write</a:t>
                      </a:r>
                    </a:p>
                  </a:txBody>
                  <a:tcPr marL="73152" marR="73152" marT="27432" marB="27432">
                    <a:solidFill>
                      <a:srgbClr val="F2F5FA"/>
                    </a:solidFill>
                  </a:tcPr>
                </a:tc>
              </a:tr>
              <a:tr h="512064">
                <a:tc>
                  <a:txBody>
                    <a:bodyPr/>
                    <a:lstStyle/>
                    <a:p>
                      <a:r>
                        <a:rPr sz="1050" b="0">
                          <a:solidFill>
                            <a:srgbClr val="222A3F"/>
                          </a:solidFill>
                          <a:latin typeface="Cambria"/>
                        </a:rPr>
                        <a:t>Load failure -&gt; installDefault*() and save</a:t>
                      </a:r>
                    </a:p>
                  </a:txBody>
                  <a:tcPr marL="73152" marR="73152" marT="27432" marB="27432">
                    <a:solidFill>
                      <a:srgbClr val="FFFFFF"/>
                    </a:solidFill>
                  </a:tcPr>
                </a:tc>
                <a:tc>
                  <a:txBody>
                    <a:bodyPr/>
                    <a:lstStyle/>
                    <a:p>
                      <a:r>
                        <a:rPr sz="1050" b="0">
                          <a:solidFill>
                            <a:srgbClr val="222A3F"/>
                          </a:solidFill>
                          <a:latin typeface="Cambria"/>
                        </a:rPr>
                        <a:t>NodeDB.cpp loadFromDisk; no backup consulted</a:t>
                      </a:r>
                    </a:p>
                  </a:txBody>
                  <a:tcPr marL="73152" marR="73152" marT="27432" marB="27432">
                    <a:solidFill>
                      <a:srgbClr val="FFFFFF"/>
                    </a:solidFill>
                  </a:tcPr>
                </a:tc>
                <a:tc>
                  <a:txBody>
                    <a:bodyPr/>
                    <a:lstStyle/>
                    <a:p>
                      <a:r>
                        <a:rPr sz="1050" b="0">
                          <a:solidFill>
                            <a:srgbClr val="222A3F"/>
                          </a:solidFill>
                          <a:latin typeface="Cambria"/>
                        </a:rPr>
                        <a:t>One unreadable file becomes a permanent factory reset</a:t>
                      </a:r>
                    </a:p>
                  </a:txBody>
                  <a:tcPr marL="73152" marR="73152" marT="27432" marB="27432">
                    <a:solidFill>
                      <a:srgbClr val="FFFFFF"/>
                    </a:solidFill>
                  </a:tcPr>
                </a:tc>
              </a:tr>
              <a:tr h="512064">
                <a:tc>
                  <a:txBody>
                    <a:bodyPr/>
                    <a:lstStyle/>
                    <a:p>
                      <a:r>
                        <a:rPr sz="1050" b="0">
                          <a:solidFill>
                            <a:srgbClr val="222A3F"/>
                          </a:solidFill>
                          <a:latin typeface="Cambria"/>
                        </a:rPr>
                        <a:t>Low-battery path: deep sleep with skipSaveNodeDb=true</a:t>
                      </a:r>
                    </a:p>
                  </a:txBody>
                  <a:tcPr marL="73152" marR="73152" marT="27432" marB="27432">
                    <a:solidFill>
                      <a:srgbClr val="F2F5FA"/>
                    </a:solidFill>
                  </a:tcPr>
                </a:tc>
                <a:tc>
                  <a:txBody>
                    <a:bodyPr/>
                    <a:lstStyle/>
                    <a:p>
                      <a:r>
                        <a:rPr sz="1050" b="0">
                          <a:solidFill>
                            <a:srgbClr val="222A3F"/>
                          </a:solidFill>
                          <a:latin typeface="Cambria"/>
                        </a:rPr>
                        <a:t>PowerFSM.cpp lowBattSDSEnter -&gt; sleep.cpp</a:t>
                      </a:r>
                    </a:p>
                  </a:txBody>
                  <a:tcPr marL="73152" marR="73152" marT="27432" marB="27432">
                    <a:solidFill>
                      <a:srgbClr val="F2F5FA"/>
                    </a:solidFill>
                  </a:tcPr>
                </a:tc>
                <a:tc>
                  <a:txBody>
                    <a:bodyPr/>
                    <a:lstStyle/>
                    <a:p>
                      <a:r>
                        <a:rPr sz="1050" b="0">
                          <a:solidFill>
                            <a:srgbClr val="222A3F"/>
                          </a:solidFill>
                          <a:latin typeface="Cambria"/>
                        </a:rPr>
                        <a:t>The clean shutdown does NOT write: the firmware already knows this is dangerous</a:t>
                      </a:r>
                    </a:p>
                  </a:txBody>
                  <a:tcPr marL="73152" marR="73152" marT="27432" marB="27432">
                    <a:solidFill>
                      <a:srgbClr val="F2F5FA"/>
                    </a:solidFill>
                  </a:tcPr>
                </a:tc>
              </a:tr>
              <a:tr h="512064">
                <a:tc>
                  <a:txBody>
                    <a:bodyPr/>
                    <a:lstStyle/>
                    <a:p>
                      <a:r>
                        <a:rPr sz="1050" b="0">
                          <a:solidFill>
                            <a:srgbClr val="222A3F"/>
                          </a:solidFill>
                          <a:latin typeface="Cambria"/>
                        </a:rPr>
                        <a:t>Brownout reset threshold</a:t>
                      </a:r>
                    </a:p>
                  </a:txBody>
                  <a:tcPr marL="73152" marR="73152" marT="27432" marB="27432">
                    <a:solidFill>
                      <a:srgbClr val="FFFFFF"/>
                    </a:solidFill>
                  </a:tcPr>
                </a:tc>
                <a:tc>
                  <a:txBody>
                    <a:bodyPr/>
                    <a:lstStyle/>
                    <a:p>
                      <a:r>
                        <a:rPr sz="1050" b="0">
                          <a:solidFill>
                            <a:srgbClr val="222A3F"/>
                          </a:solidFill>
                          <a:latin typeface="Cambria"/>
                        </a:rPr>
                        <a:t>Arduino-ESP32 core sdkconfig: CONFIG_ESP_BROWNOUT_DET_LVL=7 (2.44 V)</a:t>
                      </a:r>
                    </a:p>
                  </a:txBody>
                  <a:tcPr marL="73152" marR="73152" marT="27432" marB="27432">
                    <a:solidFill>
                      <a:srgbClr val="FFFFFF"/>
                    </a:solidFill>
                  </a:tcPr>
                </a:tc>
                <a:tc>
                  <a:txBody>
                    <a:bodyPr/>
                    <a:lstStyle/>
                    <a:p>
                      <a:r>
                        <a:rPr sz="1050" b="0">
                          <a:solidFill>
                            <a:srgbClr val="222A3F"/>
                          </a:solidFill>
                          <a:latin typeface="Cambria"/>
                        </a:rPr>
                        <a:t>CPU keeps running 260 mV below the flash's minimum supply</a:t>
                      </a:r>
                    </a:p>
                  </a:txBody>
                  <a:tcPr marL="73152" marR="73152"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HOW THE RADIO REMEMBERS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06/18  REV A  2026-10-27</a:t>
            </a:r>
          </a:p>
        </p:txBody>
      </p:sp>
      <p:sp>
        <p:nvSpPr>
          <p:cNvPr id="7" name="Rectangle 6"/>
          <p:cNvSpPr/>
          <p:nvPr/>
        </p:nvSpPr>
        <p:spPr>
          <a:xfrm>
            <a:off x="9646920" y="347472"/>
            <a:ext cx="2148840" cy="420624"/>
          </a:xfrm>
          <a:prstGeom prst="rect">
            <a:avLst/>
          </a:prstGeom>
          <a:solidFill>
            <a:srgbClr val="FFFFFF"/>
          </a:solidFill>
          <a:ln w="19050">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E58E1A"/>
                </a:solidFill>
                <a:latin typeface="Courier New"/>
              </a:rPr>
              <a:t>OWNER: VICTOR</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PHYSICS: A 260 MV WINDOW</a:t>
            </a:r>
          </a:p>
        </p:txBody>
      </p:sp>
      <p:pic>
        <p:nvPicPr>
          <p:cNvPr id="10" name="Picture 9" descr="g_voltage.png"/>
          <p:cNvPicPr>
            <a:picLocks noChangeAspect="1"/>
          </p:cNvPicPr>
          <p:nvPr/>
        </p:nvPicPr>
        <p:blipFill>
          <a:blip r:embed="rId2"/>
          <a:stretch>
            <a:fillRect/>
          </a:stretch>
        </p:blipFill>
        <p:spPr>
          <a:xfrm>
            <a:off x="502920" y="1143000"/>
            <a:ext cx="11155680" cy="4318328"/>
          </a:xfrm>
          <a:prstGeom prst="rect">
            <a:avLst/>
          </a:prstGeom>
        </p:spPr>
      </p:pic>
      <p:sp>
        <p:nvSpPr>
          <p:cNvPr id="11" name="TextBox 10"/>
          <p:cNvSpPr txBox="1"/>
          <p:nvPr/>
        </p:nvSpPr>
        <p:spPr>
          <a:xfrm>
            <a:off x="502920" y="5577840"/>
            <a:ext cx="11155680" cy="548640"/>
          </a:xfrm>
          <a:prstGeom prst="rect">
            <a:avLst/>
          </a:prstGeom>
          <a:noFill/>
        </p:spPr>
        <p:txBody>
          <a:bodyPr wrap="square" lIns="0" rIns="0" tIns="0" bIns="0">
            <a:spAutoFit/>
          </a:bodyPr>
          <a:lstStyle/>
          <a:p>
            <a:pPr algn="l"/>
            <a:r>
              <a:rPr sz="1050" b="0" i="0">
                <a:solidFill>
                  <a:srgbClr val="5E6B85"/>
                </a:solidFill>
                <a:latin typeface="Courier New"/>
              </a:rPr>
              <a:t>Flash: Boya BY25Q128AS (JEDEC 68 40 18, read from the chip), VCC 2.7 to 3.6 V, page program 0.6 ms typ, sector erase 50 ms typ, 100k cycles, 20-year retention. Board: Heltec V4 datasheet tables 3.2 and 3.4. Brownout level: ESP-IDF Kconfig for ESP32-S3.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HOW THE RADIO REMEMBERS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07/18  REV A  2026-10-27</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UPSTREAM ALREADY KNOWS THIS FAILURE</a:t>
            </a:r>
          </a:p>
        </p:txBody>
      </p:sp>
      <p:graphicFrame>
        <p:nvGraphicFramePr>
          <p:cNvPr id="8" name="Table 7"/>
          <p:cNvGraphicFramePr>
            <a:graphicFrameLocks noGrp="1"/>
          </p:cNvGraphicFramePr>
          <p:nvPr/>
        </p:nvGraphicFramePr>
        <p:xfrm>
          <a:off x="502920" y="1188720"/>
          <a:ext cx="11155680" cy="3401568"/>
        </p:xfrm>
        <a:graphic>
          <a:graphicData uri="http://schemas.openxmlformats.org/drawingml/2006/table">
            <a:tbl>
              <a:tblPr firstRow="1" bandRow="1">
                <a:tableStyleId>{5C22544A-7EE6-4342-B048-85BDC9FD1C3A}</a:tableStyleId>
              </a:tblPr>
              <a:tblGrid>
                <a:gridCol w="2103120"/>
                <a:gridCol w="2377440"/>
                <a:gridCol w="4480560"/>
                <a:gridCol w="2194560"/>
              </a:tblGrid>
              <a:tr h="566928">
                <a:tc>
                  <a:txBody>
                    <a:bodyPr/>
                    <a:lstStyle/>
                    <a:p>
                      <a:r>
                        <a:rPr sz="1050" b="1">
                          <a:solidFill>
                            <a:srgbClr val="FFFFFF"/>
                          </a:solidFill>
                          <a:latin typeface="Cambria"/>
                        </a:rPr>
                        <a:t>Reference</a:t>
                      </a:r>
                    </a:p>
                  </a:txBody>
                  <a:tcPr marL="73152" marR="73152" marT="27432" marB="27432">
                    <a:solidFill>
                      <a:srgbClr val="16213D"/>
                    </a:solidFill>
                  </a:tcPr>
                </a:tc>
                <a:tc>
                  <a:txBody>
                    <a:bodyPr/>
                    <a:lstStyle/>
                    <a:p>
                      <a:r>
                        <a:rPr sz="1050" b="1">
                          <a:solidFill>
                            <a:srgbClr val="FFFFFF"/>
                          </a:solidFill>
                          <a:latin typeface="Cambria"/>
                        </a:rPr>
                        <a:t>Boards / version</a:t>
                      </a:r>
                    </a:p>
                  </a:txBody>
                  <a:tcPr marL="73152" marR="73152" marT="27432" marB="27432">
                    <a:solidFill>
                      <a:srgbClr val="16213D"/>
                    </a:solidFill>
                  </a:tcPr>
                </a:tc>
                <a:tc>
                  <a:txBody>
                    <a:bodyPr/>
                    <a:lstStyle/>
                    <a:p>
                      <a:r>
                        <a:rPr sz="1050" b="1">
                          <a:solidFill>
                            <a:srgbClr val="FFFFFF"/>
                          </a:solidFill>
                          <a:latin typeface="Cambria"/>
                        </a:rPr>
                        <a:t>What it reports</a:t>
                      </a:r>
                    </a:p>
                  </a:txBody>
                  <a:tcPr marL="73152" marR="73152" marT="27432" marB="27432">
                    <a:solidFill>
                      <a:srgbClr val="16213D"/>
                    </a:solidFill>
                  </a:tcPr>
                </a:tc>
                <a:tc>
                  <a:txBody>
                    <a:bodyPr/>
                    <a:lstStyle/>
                    <a:p>
                      <a:r>
                        <a:rPr sz="1050" b="1">
                          <a:solidFill>
                            <a:srgbClr val="FFFFFF"/>
                          </a:solidFill>
                          <a:latin typeface="Cambria"/>
                        </a:rPr>
                        <a:t>Status</a:t>
                      </a:r>
                    </a:p>
                  </a:txBody>
                  <a:tcPr marL="73152" marR="73152" marT="27432" marB="27432">
                    <a:solidFill>
                      <a:srgbClr val="16213D"/>
                    </a:solidFill>
                  </a:tcPr>
                </a:tc>
              </a:tr>
              <a:tr h="566928">
                <a:tc>
                  <a:txBody>
                    <a:bodyPr/>
                    <a:lstStyle/>
                    <a:p>
                      <a:r>
                        <a:rPr sz="1050" b="0">
                          <a:solidFill>
                            <a:srgbClr val="222A3F"/>
                          </a:solidFill>
                          <a:latin typeface="Cambria"/>
                        </a:rPr>
                        <a:t>meshtastic/firmware #4555</a:t>
                      </a:r>
                    </a:p>
                  </a:txBody>
                  <a:tcPr marL="73152" marR="73152" marT="27432" marB="27432">
                    <a:solidFill>
                      <a:srgbClr val="F2F5FA"/>
                    </a:solidFill>
                  </a:tcPr>
                </a:tc>
                <a:tc>
                  <a:txBody>
                    <a:bodyPr/>
                    <a:lstStyle/>
                    <a:p>
                      <a:r>
                        <a:rPr sz="1050" b="0">
                          <a:solidFill>
                            <a:srgbClr val="222A3F"/>
                          </a:solidFill>
                          <a:latin typeface="Cambria"/>
                        </a:rPr>
                        <a:t>Heltec HT-CT62, V3, V4; 2.4 to 2.7.15</a:t>
                      </a:r>
                    </a:p>
                  </a:txBody>
                  <a:tcPr marL="73152" marR="73152" marT="27432" marB="27432">
                    <a:solidFill>
                      <a:srgbClr val="F2F5FA"/>
                    </a:solidFill>
                  </a:tcPr>
                </a:tc>
                <a:tc>
                  <a:txBody>
                    <a:bodyPr/>
                    <a:lstStyle/>
                    <a:p>
                      <a:r>
                        <a:rPr sz="1050" b="0">
                          <a:solidFill>
                            <a:srgbClr val="222A3F"/>
                          </a:solidFill>
                          <a:latin typeface="Cambria"/>
                        </a:rPr>
                        <a:t>Power loss during early boot resets configuration after 2-3 attempts; later only owner names (device.proto written at boot)</a:t>
                      </a:r>
                    </a:p>
                  </a:txBody>
                  <a:tcPr marL="73152" marR="73152" marT="27432" marB="27432">
                    <a:solidFill>
                      <a:srgbClr val="F2F5FA"/>
                    </a:solidFill>
                  </a:tcPr>
                </a:tc>
                <a:tc>
                  <a:txBody>
                    <a:bodyPr/>
                    <a:lstStyle/>
                    <a:p>
                      <a:r>
                        <a:rPr sz="1050" b="0">
                          <a:solidFill>
                            <a:srgbClr val="222A3F"/>
                          </a:solidFill>
                          <a:latin typeface="Cambria"/>
                        </a:rPr>
                        <a:t>Closed 'not planned' Oct 2025; still reported 2026</a:t>
                      </a:r>
                    </a:p>
                  </a:txBody>
                  <a:tcPr marL="73152" marR="73152" marT="27432" marB="27432">
                    <a:solidFill>
                      <a:srgbClr val="F2F5FA"/>
                    </a:solidFill>
                  </a:tcPr>
                </a:tc>
              </a:tr>
              <a:tr h="566928">
                <a:tc>
                  <a:txBody>
                    <a:bodyPr/>
                    <a:lstStyle/>
                    <a:p>
                      <a:r>
                        <a:rPr sz="1050" b="0">
                          <a:solidFill>
                            <a:srgbClr val="222A3F"/>
                          </a:solidFill>
                          <a:latin typeface="Cambria"/>
                        </a:rPr>
                        <a:t>#4622</a:t>
                      </a:r>
                    </a:p>
                  </a:txBody>
                  <a:tcPr marL="73152" marR="73152" marT="27432" marB="27432">
                    <a:solidFill>
                      <a:srgbClr val="FFFFFF"/>
                    </a:solidFill>
                  </a:tcPr>
                </a:tc>
                <a:tc>
                  <a:txBody>
                    <a:bodyPr/>
                    <a:lstStyle/>
                    <a:p>
                      <a:r>
                        <a:rPr sz="1050" b="0">
                          <a:solidFill>
                            <a:srgbClr val="222A3F"/>
                          </a:solidFill>
                          <a:latin typeface="Cambria"/>
                        </a:rPr>
                        <a:t>Heltec V3, 2.4.3</a:t>
                      </a:r>
                    </a:p>
                  </a:txBody>
                  <a:tcPr marL="73152" marR="73152" marT="27432" marB="27432">
                    <a:solidFill>
                      <a:srgbClr val="FFFFFF"/>
                    </a:solidFill>
                  </a:tcPr>
                </a:tc>
                <a:tc>
                  <a:txBody>
                    <a:bodyPr/>
                    <a:lstStyle/>
                    <a:p>
                      <a:r>
                        <a:rPr sz="1050" b="0">
                          <a:solidFill>
                            <a:srgbClr val="222A3F"/>
                          </a:solidFill>
                          <a:latin typeface="Cambria"/>
                        </a:rPr>
                        <a:t>Resets when the battery is empty</a:t>
                      </a:r>
                    </a:p>
                  </a:txBody>
                  <a:tcPr marL="73152" marR="73152" marT="27432" marB="27432">
                    <a:solidFill>
                      <a:srgbClr val="FFFFFF"/>
                    </a:solidFill>
                  </a:tcPr>
                </a:tc>
                <a:tc>
                  <a:txBody>
                    <a:bodyPr/>
                    <a:lstStyle/>
                    <a:p>
                      <a:r>
                        <a:rPr sz="1050" b="0">
                          <a:solidFill>
                            <a:srgbClr val="222A3F"/>
                          </a:solidFill>
                          <a:latin typeface="Cambria"/>
                        </a:rPr>
                        <a:t>Closed as duplicate of #4555</a:t>
                      </a:r>
                    </a:p>
                  </a:txBody>
                  <a:tcPr marL="73152" marR="73152" marT="27432" marB="27432">
                    <a:solidFill>
                      <a:srgbClr val="FFFFFF"/>
                    </a:solidFill>
                  </a:tcPr>
                </a:tc>
              </a:tr>
              <a:tr h="566928">
                <a:tc>
                  <a:txBody>
                    <a:bodyPr/>
                    <a:lstStyle/>
                    <a:p>
                      <a:r>
                        <a:rPr sz="1050" b="0">
                          <a:solidFill>
                            <a:srgbClr val="222A3F"/>
                          </a:solidFill>
                          <a:latin typeface="Cambria"/>
                        </a:rPr>
                        <a:t>#2936, #3260</a:t>
                      </a:r>
                    </a:p>
                  </a:txBody>
                  <a:tcPr marL="73152" marR="73152" marT="27432" marB="27432">
                    <a:solidFill>
                      <a:srgbClr val="F2F5FA"/>
                    </a:solidFill>
                  </a:tcPr>
                </a:tc>
                <a:tc>
                  <a:txBody>
                    <a:bodyPr/>
                    <a:lstStyle/>
                    <a:p>
                      <a:r>
                        <a:rPr sz="1050" b="0">
                          <a:solidFill>
                            <a:srgbClr val="222A3F"/>
                          </a:solidFill>
                          <a:latin typeface="Cambria"/>
                        </a:rPr>
                        <a:t>RAK4631, Heltec V2; 2.2.x</a:t>
                      </a:r>
                    </a:p>
                  </a:txBody>
                  <a:tcPr marL="73152" marR="73152" marT="27432" marB="27432">
                    <a:solidFill>
                      <a:srgbClr val="F2F5FA"/>
                    </a:solidFill>
                  </a:tcPr>
                </a:tc>
                <a:tc>
                  <a:txBody>
                    <a:bodyPr/>
                    <a:lstStyle/>
                    <a:p>
                      <a:r>
                        <a:rPr sz="1050" b="0">
                          <a:solidFill>
                            <a:srgbClr val="222A3F"/>
                          </a:solidFill>
                          <a:latin typeface="Cambria"/>
                        </a:rPr>
                        <a:t>Defaults (region UNSET) after the battery dies; prefs files missing at boot</a:t>
                      </a:r>
                    </a:p>
                  </a:txBody>
                  <a:tcPr marL="73152" marR="73152" marT="27432" marB="27432">
                    <a:solidFill>
                      <a:srgbClr val="F2F5FA"/>
                    </a:solidFill>
                  </a:tcPr>
                </a:tc>
                <a:tc>
                  <a:txBody>
                    <a:bodyPr/>
                    <a:lstStyle/>
                    <a:p>
                      <a:r>
                        <a:rPr sz="1050" b="0">
                          <a:solidFill>
                            <a:srgbClr val="222A3F"/>
                          </a:solidFill>
                          <a:latin typeface="Cambria"/>
                        </a:rPr>
                        <a:t>Older platform, same symptom</a:t>
                      </a:r>
                    </a:p>
                  </a:txBody>
                  <a:tcPr marL="73152" marR="73152" marT="27432" marB="27432">
                    <a:solidFill>
                      <a:srgbClr val="F2F5FA"/>
                    </a:solidFill>
                  </a:tcPr>
                </a:tc>
              </a:tr>
              <a:tr h="566928">
                <a:tc>
                  <a:txBody>
                    <a:bodyPr/>
                    <a:lstStyle/>
                    <a:p>
                      <a:r>
                        <a:rPr sz="1050" b="0">
                          <a:solidFill>
                            <a:srgbClr val="222A3F"/>
                          </a:solidFill>
                          <a:latin typeface="Cambria"/>
                        </a:rPr>
                        <a:t>#5259</a:t>
                      </a:r>
                    </a:p>
                  </a:txBody>
                  <a:tcPr marL="73152" marR="73152" marT="27432" marB="27432">
                    <a:solidFill>
                      <a:srgbClr val="FFFFFF"/>
                    </a:solidFill>
                  </a:tcPr>
                </a:tc>
                <a:tc>
                  <a:txBody>
                    <a:bodyPr/>
                    <a:lstStyle/>
                    <a:p>
                      <a:r>
                        <a:rPr sz="1050" b="0">
                          <a:solidFill>
                            <a:srgbClr val="222A3F"/>
                          </a:solidFill>
                          <a:latin typeface="Cambria"/>
                        </a:rPr>
                        <a:t>ESP32 boards, 2.5.x</a:t>
                      </a:r>
                    </a:p>
                  </a:txBody>
                  <a:tcPr marL="73152" marR="73152" marT="27432" marB="27432">
                    <a:solidFill>
                      <a:srgbClr val="FFFFFF"/>
                    </a:solidFill>
                  </a:tcPr>
                </a:tc>
                <a:tc>
                  <a:txBody>
                    <a:bodyPr/>
                    <a:lstStyle/>
                    <a:p>
                      <a:r>
                        <a:rPr sz="1050" b="0">
                          <a:solidFill>
                            <a:srgbClr val="222A3F"/>
                          </a:solidFill>
                          <a:latin typeface="Cambria"/>
                        </a:rPr>
                        <a:t>Low-voltage cutoff (3.10 V) is below what most LDOs need; asks for 3.42 or 3.53 V</a:t>
                      </a:r>
                    </a:p>
                  </a:txBody>
                  <a:tcPr marL="73152" marR="73152" marT="27432" marB="27432">
                    <a:solidFill>
                      <a:srgbClr val="FFFFFF"/>
                    </a:solidFill>
                  </a:tcPr>
                </a:tc>
                <a:tc>
                  <a:txBody>
                    <a:bodyPr/>
                    <a:lstStyle/>
                    <a:p>
                      <a:r>
                        <a:rPr sz="1050" b="0">
                          <a:solidFill>
                            <a:srgbClr val="222A3F"/>
                          </a:solidFill>
                          <a:latin typeface="Cambria"/>
                        </a:rPr>
                        <a:t>Open discussion</a:t>
                      </a:r>
                    </a:p>
                  </a:txBody>
                  <a:tcPr marL="73152" marR="73152" marT="27432" marB="27432">
                    <a:solidFill>
                      <a:srgbClr val="FFFFFF"/>
                    </a:solidFill>
                  </a:tcPr>
                </a:tc>
              </a:tr>
              <a:tr h="566928">
                <a:tc>
                  <a:txBody>
                    <a:bodyPr/>
                    <a:lstStyle/>
                    <a:p>
                      <a:r>
                        <a:rPr sz="1050" b="0">
                          <a:solidFill>
                            <a:srgbClr val="222A3F"/>
                          </a:solidFill>
                          <a:latin typeface="Cambria"/>
                        </a:rPr>
                        <a:t>PR #11872 (nRF52 only)</a:t>
                      </a:r>
                    </a:p>
                  </a:txBody>
                  <a:tcPr marL="73152" marR="73152" marT="27432" marB="27432">
                    <a:solidFill>
                      <a:srgbClr val="F2F5FA"/>
                    </a:solidFill>
                  </a:tcPr>
                </a:tc>
                <a:tc>
                  <a:txBody>
                    <a:bodyPr/>
                    <a:lstStyle/>
                    <a:p>
                      <a:r>
                        <a:rPr sz="1050" b="0">
                          <a:solidFill>
                            <a:srgbClr val="222A3F"/>
                          </a:solidFill>
                          <a:latin typeface="Cambria"/>
                        </a:rPr>
                        <a:t>nRF52</a:t>
                      </a:r>
                    </a:p>
                  </a:txBody>
                  <a:tcPr marL="73152" marR="73152" marT="27432" marB="27432">
                    <a:solidFill>
                      <a:srgbClr val="F2F5FA"/>
                    </a:solidFill>
                  </a:tcPr>
                </a:tc>
                <a:tc>
                  <a:txBody>
                    <a:bodyPr/>
                    <a:lstStyle/>
                    <a:p>
                      <a:r>
                        <a:rPr sz="1050" b="0">
                          <a:solidFill>
                            <a:srgbClr val="222A3F"/>
                          </a:solidFill>
                          <a:latin typeface="Cambria"/>
                        </a:rPr>
                        <a:t>Retry failed saves, check the power rail before retrying, stop formatting on a low rail</a:t>
                      </a:r>
                    </a:p>
                  </a:txBody>
                  <a:tcPr marL="73152" marR="73152" marT="27432" marB="27432">
                    <a:solidFill>
                      <a:srgbClr val="F2F5FA"/>
                    </a:solidFill>
                  </a:tcPr>
                </a:tc>
                <a:tc>
                  <a:txBody>
                    <a:bodyPr/>
                    <a:lstStyle/>
                    <a:p>
                      <a:r>
                        <a:rPr sz="1050" b="0">
                          <a:solidFill>
                            <a:srgbClr val="222A3F"/>
                          </a:solidFill>
                          <a:latin typeface="Cambria"/>
                        </a:rPr>
                        <a:t>Merged for nRF52; no ESP32 equivalent</a:t>
                      </a:r>
                    </a:p>
                  </a:txBody>
                  <a:tcPr marL="73152" marR="73152" marT="27432" marB="27432">
                    <a:solidFill>
                      <a:srgbClr val="F2F5FA"/>
                    </a:solidFill>
                  </a:tcPr>
                </a:tc>
              </a:tr>
            </a:tbl>
          </a:graphicData>
        </a:graphic>
      </p:graphicFrame>
      <p:sp>
        <p:nvSpPr>
          <p:cNvPr id="9" name="Rectangle 8"/>
          <p:cNvSpPr/>
          <p:nvPr/>
        </p:nvSpPr>
        <p:spPr>
          <a:xfrm>
            <a:off x="502920" y="4754880"/>
            <a:ext cx="11155680" cy="1234440"/>
          </a:xfrm>
          <a:prstGeom prst="rect">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4846320"/>
            <a:ext cx="10826496" cy="274320"/>
          </a:xfrm>
          <a:prstGeom prst="rect">
            <a:avLst/>
          </a:prstGeom>
          <a:noFill/>
        </p:spPr>
        <p:txBody>
          <a:bodyPr wrap="square" lIns="0" rIns="0" tIns="0" bIns="0">
            <a:spAutoFit/>
          </a:bodyPr>
          <a:lstStyle/>
          <a:p>
            <a:pPr algn="l"/>
            <a:r>
              <a:rPr sz="1000" b="1" i="0">
                <a:solidFill>
                  <a:srgbClr val="E58E1A"/>
                </a:solidFill>
                <a:latin typeface="Courier New"/>
              </a:rPr>
              <a:t>MAINTAINER'S OWN DIAGNOSIS IN #4555</a:t>
            </a:r>
          </a:p>
        </p:txBody>
      </p:sp>
      <p:sp>
        <p:nvSpPr>
          <p:cNvPr id="11" name="TextBox 10"/>
          <p:cNvSpPr txBox="1"/>
          <p:nvPr/>
        </p:nvSpPr>
        <p:spPr>
          <a:xfrm>
            <a:off x="667512" y="5138928"/>
            <a:ext cx="10826496" cy="777240"/>
          </a:xfrm>
          <a:prstGeom prst="rect">
            <a:avLst/>
          </a:prstGeom>
          <a:noFill/>
        </p:spPr>
        <p:txBody>
          <a:bodyPr wrap="square" lIns="0" rIns="0" tIns="0" bIns="0">
            <a:spAutoFit/>
          </a:bodyPr>
          <a:lstStyle/>
          <a:p>
            <a:r>
              <a:rPr sz="1050">
                <a:solidFill>
                  <a:srgbClr val="C9D8F0"/>
                </a:solidFill>
                <a:latin typeface="Courier New"/>
              </a:rPr>
              <a:t>"If the brownout circuit worked, it should hold the CPU in reset when voltage is too low for flash."</a:t>
            </a:r>
          </a:p>
          <a:p>
            <a:r>
              <a:rPr sz="1050">
                <a:solidFill>
                  <a:srgbClr val="5E6B85"/>
                </a:solidFill>
                <a:latin typeface="Courier New"/>
              </a:rPr>
              <a:t>Workarounds users adopted: hard-code the configuration in userPrefs.jsonc so the 'defaults' are the intended settings.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III - THE MEASUREMENT</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08/18  REV A  2026-10-27</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HYPOTHESES BEFORE THE MEASUREMENT</a:t>
            </a:r>
          </a:p>
        </p:txBody>
      </p:sp>
      <p:graphicFrame>
        <p:nvGraphicFramePr>
          <p:cNvPr id="10" name="Table 9"/>
          <p:cNvGraphicFramePr>
            <a:graphicFrameLocks noGrp="1"/>
          </p:cNvGraphicFramePr>
          <p:nvPr/>
        </p:nvGraphicFramePr>
        <p:xfrm>
          <a:off x="502920" y="1188720"/>
          <a:ext cx="11155680" cy="3401568"/>
        </p:xfrm>
        <a:graphic>
          <a:graphicData uri="http://schemas.openxmlformats.org/drawingml/2006/table">
            <a:tbl>
              <a:tblPr firstRow="1" bandRow="1">
                <a:tableStyleId>{5C22544A-7EE6-4342-B048-85BDC9FD1C3A}</a:tableStyleId>
              </a:tblPr>
              <a:tblGrid>
                <a:gridCol w="457200"/>
                <a:gridCol w="2743200"/>
                <a:gridCol w="3657600"/>
                <a:gridCol w="4297680"/>
              </a:tblGrid>
              <a:tr h="566928">
                <a:tc>
                  <a:txBody>
                    <a:bodyPr/>
                    <a:lstStyle/>
                    <a:p>
                      <a:r>
                        <a:rPr sz="1050" b="1">
                          <a:solidFill>
                            <a:srgbClr val="FFFFFF"/>
                          </a:solidFill>
                          <a:latin typeface="Cambria"/>
                        </a:rPr>
                        <a:t>#</a:t>
                      </a:r>
                    </a:p>
                  </a:txBody>
                  <a:tcPr marL="73152" marR="73152" marT="27432" marB="27432">
                    <a:solidFill>
                      <a:srgbClr val="16213D"/>
                    </a:solidFill>
                  </a:tcPr>
                </a:tc>
                <a:tc>
                  <a:txBody>
                    <a:bodyPr/>
                    <a:lstStyle/>
                    <a:p>
                      <a:r>
                        <a:rPr sz="1050" b="1">
                          <a:solidFill>
                            <a:srgbClr val="FFFFFF"/>
                          </a:solidFill>
                          <a:latin typeface="Cambria"/>
                        </a:rPr>
                        <a:t>Hypothesis</a:t>
                      </a:r>
                    </a:p>
                  </a:txBody>
                  <a:tcPr marL="73152" marR="73152" marT="27432" marB="27432">
                    <a:solidFill>
                      <a:srgbClr val="16213D"/>
                    </a:solidFill>
                  </a:tcPr>
                </a:tc>
                <a:tc>
                  <a:txBody>
                    <a:bodyPr/>
                    <a:lstStyle/>
                    <a:p>
                      <a:r>
                        <a:rPr sz="1050" b="1">
                          <a:solidFill>
                            <a:srgbClr val="FFFFFF"/>
                          </a:solidFill>
                          <a:latin typeface="Cambria"/>
                        </a:rPr>
                        <a:t>Predicts</a:t>
                      </a:r>
                    </a:p>
                  </a:txBody>
                  <a:tcPr marL="73152" marR="73152" marT="27432" marB="27432">
                    <a:solidFill>
                      <a:srgbClr val="16213D"/>
                    </a:solidFill>
                  </a:tcPr>
                </a:tc>
                <a:tc>
                  <a:txBody>
                    <a:bodyPr/>
                    <a:lstStyle/>
                    <a:p>
                      <a:r>
                        <a:rPr sz="1050" b="1">
                          <a:solidFill>
                            <a:srgbClr val="FFFFFF"/>
                          </a:solidFill>
                          <a:latin typeface="Cambria"/>
                        </a:rPr>
                        <a:t>Prior evidence</a:t>
                      </a:r>
                    </a:p>
                  </a:txBody>
                  <a:tcPr marL="73152" marR="73152" marT="27432" marB="27432">
                    <a:solidFill>
                      <a:srgbClr val="16213D"/>
                    </a:solidFill>
                  </a:tcPr>
                </a:tc>
              </a:tr>
              <a:tr h="566928">
                <a:tc>
                  <a:txBody>
                    <a:bodyPr/>
                    <a:lstStyle/>
                    <a:p>
                      <a:r>
                        <a:rPr sz="1050" b="0">
                          <a:solidFill>
                            <a:srgbClr val="222A3F"/>
                          </a:solidFill>
                          <a:latin typeface="Cambria"/>
                        </a:rPr>
                        <a:t>H1</a:t>
                      </a:r>
                    </a:p>
                  </a:txBody>
                  <a:tcPr marL="73152" marR="73152" marT="27432" marB="27432">
                    <a:solidFill>
                      <a:srgbClr val="F2F5FA"/>
                    </a:solidFill>
                  </a:tcPr>
                </a:tc>
                <a:tc>
                  <a:txBody>
                    <a:bodyPr/>
                    <a:lstStyle/>
                    <a:p>
                      <a:r>
                        <a:rPr sz="1050" b="0">
                          <a:solidFill>
                            <a:srgbClr val="222A3F"/>
                          </a:solidFill>
                          <a:latin typeface="Cambria"/>
                        </a:rPr>
                        <a:t>Flash wear-out</a:t>
                      </a:r>
                    </a:p>
                  </a:txBody>
                  <a:tcPr marL="73152" marR="73152" marT="27432" marB="27432">
                    <a:solidFill>
                      <a:srgbClr val="F2F5FA"/>
                    </a:solidFill>
                  </a:tcPr>
                </a:tc>
                <a:tc>
                  <a:txBody>
                    <a:bodyPr/>
                    <a:lstStyle/>
                    <a:p>
                      <a:r>
                        <a:rPr sz="1050" b="0">
                          <a:solidFill>
                            <a:srgbClr val="222A3F"/>
                          </a:solidFill>
                          <a:latin typeface="Cambria"/>
                        </a:rPr>
                        <a:t>Random sectors fail; write counts near endurance</a:t>
                      </a:r>
                    </a:p>
                  </a:txBody>
                  <a:tcPr marL="73152" marR="73152" marT="27432" marB="27432">
                    <a:solidFill>
                      <a:srgbClr val="F2F5FA"/>
                    </a:solidFill>
                  </a:tcPr>
                </a:tc>
                <a:tc>
                  <a:txBody>
                    <a:bodyPr/>
                    <a:lstStyle/>
                    <a:p>
                      <a:r>
                        <a:rPr sz="1050" b="0">
                          <a:solidFill>
                            <a:srgbClr val="222A3F"/>
                          </a:solidFill>
                          <a:latin typeface="Cambria"/>
                        </a:rPr>
                        <a:t>Against: 20 sectors per boot spread by wear-levelling over 864; 100k cycles = millions of boots</a:t>
                      </a:r>
                    </a:p>
                  </a:txBody>
                  <a:tcPr marL="73152" marR="73152" marT="27432" marB="27432">
                    <a:solidFill>
                      <a:srgbClr val="F2F5FA"/>
                    </a:solidFill>
                  </a:tcPr>
                </a:tc>
              </a:tr>
              <a:tr h="566928">
                <a:tc>
                  <a:txBody>
                    <a:bodyPr/>
                    <a:lstStyle/>
                    <a:p>
                      <a:r>
                        <a:rPr sz="1050" b="0">
                          <a:solidFill>
                            <a:srgbClr val="222A3F"/>
                          </a:solidFill>
                          <a:latin typeface="Cambria"/>
                        </a:rPr>
                        <a:t>H2</a:t>
                      </a:r>
                    </a:p>
                  </a:txBody>
                  <a:tcPr marL="73152" marR="73152" marT="27432" marB="27432">
                    <a:solidFill>
                      <a:srgbClr val="FFFFFF"/>
                    </a:solidFill>
                  </a:tcPr>
                </a:tc>
                <a:tc>
                  <a:txBody>
                    <a:bodyPr/>
                    <a:lstStyle/>
                    <a:p>
                      <a:r>
                        <a:rPr sz="1050" b="0">
                          <a:solidFill>
                            <a:srgbClr val="222A3F"/>
                          </a:solidFill>
                          <a:latin typeface="Cambria"/>
                        </a:rPr>
                        <a:t>Defective or marginal cells in the settings partition</a:t>
                      </a:r>
                    </a:p>
                  </a:txBody>
                  <a:tcPr marL="73152" marR="73152" marT="27432" marB="27432">
                    <a:solidFill>
                      <a:srgbClr val="FFFFFF"/>
                    </a:solidFill>
                  </a:tcPr>
                </a:tc>
                <a:tc>
                  <a:txBody>
                    <a:bodyPr/>
                    <a:lstStyle/>
                    <a:p>
                      <a:r>
                        <a:rPr sz="1050" b="0">
                          <a:solidFill>
                            <a:srgbClr val="222A3F"/>
                          </a:solidFill>
                          <a:latin typeface="Cambria"/>
                        </a:rPr>
                        <a:t>Same sectors misread on every pass while code partition reads clean</a:t>
                      </a:r>
                    </a:p>
                  </a:txBody>
                  <a:tcPr marL="73152" marR="73152" marT="27432" marB="27432">
                    <a:solidFill>
                      <a:srgbClr val="FFFFFF"/>
                    </a:solidFill>
                  </a:tcPr>
                </a:tc>
                <a:tc>
                  <a:txBody>
                    <a:bodyPr/>
                    <a:lstStyle/>
                    <a:p>
                      <a:r>
                        <a:rPr sz="1050" b="0">
                          <a:solidFill>
                            <a:srgbClr val="222A3F"/>
                          </a:solidFill>
                          <a:latin typeface="Cambria"/>
                        </a:rPr>
                        <a:t>Neutral: would explain why SF fails more than RG</a:t>
                      </a:r>
                    </a:p>
                  </a:txBody>
                  <a:tcPr marL="73152" marR="73152" marT="27432" marB="27432">
                    <a:solidFill>
                      <a:srgbClr val="FFFFFF"/>
                    </a:solidFill>
                  </a:tcPr>
                </a:tc>
              </a:tr>
              <a:tr h="566928">
                <a:tc>
                  <a:txBody>
                    <a:bodyPr/>
                    <a:lstStyle/>
                    <a:p>
                      <a:r>
                        <a:rPr sz="1050" b="0">
                          <a:solidFill>
                            <a:srgbClr val="222A3F"/>
                          </a:solidFill>
                          <a:latin typeface="Cambria"/>
                        </a:rPr>
                        <a:t>H3</a:t>
                      </a:r>
                    </a:p>
                  </a:txBody>
                  <a:tcPr marL="73152" marR="73152" marT="27432" marB="27432">
                    <a:solidFill>
                      <a:srgbClr val="F2F5FA"/>
                    </a:solidFill>
                  </a:tcPr>
                </a:tc>
                <a:tc>
                  <a:txBody>
                    <a:bodyPr/>
                    <a:lstStyle/>
                    <a:p>
                      <a:r>
                        <a:rPr sz="1050" b="0">
                          <a:solidFill>
                            <a:srgbClr val="222A3F"/>
                          </a:solidFill>
                          <a:latin typeface="Cambria"/>
                        </a:rPr>
                        <a:t>Torn write under low supply</a:t>
                      </a:r>
                    </a:p>
                  </a:txBody>
                  <a:tcPr marL="73152" marR="73152" marT="27432" marB="27432">
                    <a:solidFill>
                      <a:srgbClr val="F2F5FA"/>
                    </a:solidFill>
                  </a:tcPr>
                </a:tc>
                <a:tc>
                  <a:txBody>
                    <a:bodyPr/>
                    <a:lstStyle/>
                    <a:p>
                      <a:r>
                        <a:rPr sz="1050" b="0">
                          <a:solidFill>
                            <a:srgbClr val="222A3F"/>
                          </a:solidFill>
                          <a:latin typeface="Cambria"/>
                        </a:rPr>
                        <a:t>Losses follow power events; files, not the whole store, affected</a:t>
                      </a:r>
                    </a:p>
                  </a:txBody>
                  <a:tcPr marL="73152" marR="73152" marT="27432" marB="27432">
                    <a:solidFill>
                      <a:srgbClr val="F2F5FA"/>
                    </a:solidFill>
                  </a:tcPr>
                </a:tc>
                <a:tc>
                  <a:txBody>
                    <a:bodyPr/>
                    <a:lstStyle/>
                    <a:p>
                      <a:r>
                        <a:rPr sz="1050" b="0">
                          <a:solidFill>
                            <a:srgbClr val="222A3F"/>
                          </a:solidFill>
                          <a:latin typeface="Cambria"/>
                        </a:rPr>
                        <a:t>For: 3 of 4 events follow a flat battery; partial, varying losses</a:t>
                      </a:r>
                    </a:p>
                  </a:txBody>
                  <a:tcPr marL="73152" marR="73152" marT="27432" marB="27432">
                    <a:solidFill>
                      <a:srgbClr val="F2F5FA"/>
                    </a:solidFill>
                  </a:tcPr>
                </a:tc>
              </a:tr>
              <a:tr h="566928">
                <a:tc>
                  <a:txBody>
                    <a:bodyPr/>
                    <a:lstStyle/>
                    <a:p>
                      <a:r>
                        <a:rPr sz="1050" b="0">
                          <a:solidFill>
                            <a:srgbClr val="222A3F"/>
                          </a:solidFill>
                          <a:latin typeface="Cambria"/>
                        </a:rPr>
                        <a:t>H4</a:t>
                      </a:r>
                    </a:p>
                  </a:txBody>
                  <a:tcPr marL="73152" marR="73152" marT="27432" marB="27432">
                    <a:solidFill>
                      <a:srgbClr val="FFFFFF"/>
                    </a:solidFill>
                  </a:tcPr>
                </a:tc>
                <a:tc>
                  <a:txBody>
                    <a:bodyPr/>
                    <a:lstStyle/>
                    <a:p>
                      <a:r>
                        <a:rPr sz="1050" b="0">
                          <a:solidFill>
                            <a:srgbClr val="222A3F"/>
                          </a:solidFill>
                          <a:latin typeface="Cambria"/>
                        </a:rPr>
                        <a:t>Filesystem (LittleFS) bug</a:t>
                      </a:r>
                    </a:p>
                  </a:txBody>
                  <a:tcPr marL="73152" marR="73152" marT="27432" marB="27432">
                    <a:solidFill>
                      <a:srgbClr val="FFFFFF"/>
                    </a:solidFill>
                  </a:tcPr>
                </a:tc>
                <a:tc>
                  <a:txBody>
                    <a:bodyPr/>
                    <a:lstStyle/>
                    <a:p>
                      <a:r>
                        <a:rPr sz="1050" b="0">
                          <a:solidFill>
                            <a:srgbClr val="222A3F"/>
                          </a:solidFill>
                          <a:latin typeface="Cambria"/>
                        </a:rPr>
                        <a:t>Corrupted directory pairs, mount failures</a:t>
                      </a:r>
                    </a:p>
                  </a:txBody>
                  <a:tcPr marL="73152" marR="73152" marT="27432" marB="27432">
                    <a:solidFill>
                      <a:srgbClr val="FFFFFF"/>
                    </a:solidFill>
                  </a:tcPr>
                </a:tc>
                <a:tc>
                  <a:txBody>
                    <a:bodyPr/>
                    <a:lstStyle/>
                    <a:p>
                      <a:r>
                        <a:rPr sz="1050" b="0">
                          <a:solidFill>
                            <a:srgbClr val="222A3F"/>
                          </a:solidFill>
                          <a:latin typeface="Cambria"/>
                        </a:rPr>
                        <a:t>Against: LittleFS mounts cleanly; upstream reports the same loss on three filesystems</a:t>
                      </a:r>
                    </a:p>
                  </a:txBody>
                  <a:tcPr marL="73152" marR="73152" marT="27432" marB="27432">
                    <a:solidFill>
                      <a:srgbClr val="FFFFFF"/>
                    </a:solidFill>
                  </a:tcPr>
                </a:tc>
              </a:tr>
              <a:tr h="566928">
                <a:tc>
                  <a:txBody>
                    <a:bodyPr/>
                    <a:lstStyle/>
                    <a:p>
                      <a:r>
                        <a:rPr sz="1050" b="0">
                          <a:solidFill>
                            <a:srgbClr val="222A3F"/>
                          </a:solidFill>
                          <a:latin typeface="Cambria"/>
                        </a:rPr>
                        <a:t>H5</a:t>
                      </a:r>
                    </a:p>
                  </a:txBody>
                  <a:tcPr marL="73152" marR="73152" marT="27432" marB="27432">
                    <a:solidFill>
                      <a:srgbClr val="F2F5FA"/>
                    </a:solidFill>
                  </a:tcPr>
                </a:tc>
                <a:tc>
                  <a:txBody>
                    <a:bodyPr/>
                    <a:lstStyle/>
                    <a:p>
                      <a:r>
                        <a:rPr sz="1050" b="0">
                          <a:solidFill>
                            <a:srgbClr val="222A3F"/>
                          </a:solidFill>
                          <a:latin typeface="Cambria"/>
                        </a:rPr>
                        <a:t>Firmware policy turns any failure into a reset</a:t>
                      </a:r>
                    </a:p>
                  </a:txBody>
                  <a:tcPr marL="73152" marR="73152" marT="27432" marB="27432">
                    <a:solidFill>
                      <a:srgbClr val="F2F5FA"/>
                    </a:solidFill>
                  </a:tcPr>
                </a:tc>
                <a:tc>
                  <a:txBody>
                    <a:bodyPr/>
                    <a:lstStyle/>
                    <a:p>
                      <a:r>
                        <a:rPr sz="1050" b="0">
                          <a:solidFill>
                            <a:srgbClr val="222A3F"/>
                          </a:solidFill>
                          <a:latin typeface="Cambria"/>
                        </a:rPr>
                        <a:t>Loss is permanent and silent</a:t>
                      </a:r>
                    </a:p>
                  </a:txBody>
                  <a:tcPr marL="73152" marR="73152" marT="27432" marB="27432">
                    <a:solidFill>
                      <a:srgbClr val="F2F5FA"/>
                    </a:solidFill>
                  </a:tcPr>
                </a:tc>
                <a:tc>
                  <a:txBody>
                    <a:bodyPr/>
                    <a:lstStyle/>
                    <a:p>
                      <a:r>
                        <a:rPr sz="1050" b="0">
                          <a:solidFill>
                            <a:srgbClr val="222A3F"/>
                          </a:solidFill>
                          <a:latin typeface="Cambria"/>
                        </a:rPr>
                        <a:t>For: verified in source (sheet 5)</a:t>
                      </a:r>
                    </a:p>
                  </a:txBody>
                  <a:tcPr marL="73152" marR="73152" marT="27432" marB="27432">
                    <a:solidFill>
                      <a:srgbClr val="F2F5FA"/>
                    </a:solidFill>
                  </a:tcPr>
                </a:tc>
              </a:tr>
            </a:tbl>
          </a:graphicData>
        </a:graphic>
      </p:graphicFrame>
      <p:sp>
        <p:nvSpPr>
          <p:cNvPr id="11" name="Rectangle 10"/>
          <p:cNvSpPr/>
          <p:nvPr/>
        </p:nvSpPr>
        <p:spPr>
          <a:xfrm>
            <a:off x="502920" y="4709160"/>
            <a:ext cx="11155680" cy="128016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4828032"/>
            <a:ext cx="10826496" cy="1042415"/>
          </a:xfrm>
          <a:prstGeom prst="rect">
            <a:avLst/>
          </a:prstGeom>
          <a:noFill/>
        </p:spPr>
        <p:txBody>
          <a:bodyPr wrap="square" lIns="0" rIns="0" tIns="0" bIns="0">
            <a:spAutoFit/>
          </a:bodyPr>
          <a:lstStyle/>
          <a:p>
            <a:r>
              <a:rPr sz="1300" b="1" spc="100">
                <a:solidFill>
                  <a:srgbClr val="1F9D68"/>
                </a:solidFill>
                <a:latin typeface="Cambria"/>
              </a:rPr>
              <a:t>THE DISCRIMINATING EXPERIMENT</a:t>
            </a:r>
          </a:p>
          <a:p>
            <a:r>
              <a:rPr sz="1200">
                <a:solidFill>
                  <a:srgbClr val="222A3F"/>
                </a:solidFill>
                <a:latin typeface="Cambria"/>
              </a:rPr>
              <a:t>Read the settings partition from the chip, with the firmware halted, three times inside one open connection, at two serial speeds; read a megabyte of the program partition, the NVS partition and the bootloader the same way as controls. Identical reads everywhere: H2 falls. Repeating differences in fixed sectors: H2 or the residue of H3. Random differences everywhere: the test rig, not the chip.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III - THE MEASUREMENT</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09/18  REV A  2026-10-27</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METHOD: READING THE CHIP, FIRMWARE STOPPED</a:t>
            </a:r>
          </a:p>
        </p:txBody>
      </p:sp>
      <p:sp>
        <p:nvSpPr>
          <p:cNvPr id="10" name="Rectangle 9"/>
          <p:cNvSpPr/>
          <p:nvPr/>
        </p:nvSpPr>
        <p:spPr>
          <a:xfrm>
            <a:off x="502920" y="1188720"/>
            <a:ext cx="6766560" cy="2834640"/>
          </a:xfrm>
          <a:prstGeom prst="rect">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280160"/>
            <a:ext cx="6437376" cy="274320"/>
          </a:xfrm>
          <a:prstGeom prst="rect">
            <a:avLst/>
          </a:prstGeom>
          <a:noFill/>
        </p:spPr>
        <p:txBody>
          <a:bodyPr wrap="square" lIns="0" rIns="0" tIns="0" bIns="0">
            <a:spAutoFit/>
          </a:bodyPr>
          <a:lstStyle/>
          <a:p>
            <a:pPr algn="l"/>
            <a:r>
              <a:rPr sz="1000" b="1" i="0">
                <a:solidFill>
                  <a:srgbClr val="E58E1A"/>
                </a:solidFill>
                <a:latin typeface="Courier New"/>
              </a:rPr>
              <a:t>ESPTOOL STUB, ONE CONNECTION, NO RESET BETWEEN READS</a:t>
            </a:r>
          </a:p>
        </p:txBody>
      </p:sp>
      <p:sp>
        <p:nvSpPr>
          <p:cNvPr id="12" name="TextBox 11"/>
          <p:cNvSpPr txBox="1"/>
          <p:nvPr/>
        </p:nvSpPr>
        <p:spPr>
          <a:xfrm>
            <a:off x="667512" y="1572768"/>
            <a:ext cx="6437376" cy="2377440"/>
          </a:xfrm>
          <a:prstGeom prst="rect">
            <a:avLst/>
          </a:prstGeom>
          <a:noFill/>
        </p:spPr>
        <p:txBody>
          <a:bodyPr wrap="square" lIns="0" rIns="0" tIns="0" bIns="0">
            <a:spAutoFit/>
          </a:bodyPr>
          <a:lstStyle/>
          <a:p>
            <a:r>
              <a:rPr sz="1050">
                <a:solidFill>
                  <a:srgbClr val="C9D8F0"/>
                </a:solidFill>
                <a:latin typeface="Courier New"/>
              </a:rPr>
              <a:t>esp = detect_chip('COM4'); esp = esp.run_stub()</a:t>
            </a:r>
          </a:p>
          <a:p>
            <a:r>
              <a:rPr sz="1050">
                <a:solidFill>
                  <a:srgbClr val="C9D8F0"/>
                </a:solidFill>
                <a:latin typeface="Courier New"/>
              </a:rPr>
              <a:t>A = esp.read_flash(0xC90000, 0x360000)   # settings partition, 3.4 MB</a:t>
            </a:r>
          </a:p>
          <a:p>
            <a:r>
              <a:rPr sz="1050">
                <a:solidFill>
                  <a:srgbClr val="C9D8F0"/>
                </a:solidFill>
                <a:latin typeface="Courier New"/>
              </a:rPr>
              <a:t>B = esp.read_flash(0xC90000, 0x360000)</a:t>
            </a:r>
          </a:p>
          <a:p>
            <a:r>
              <a:rPr sz="1050">
                <a:solidFill>
                  <a:srgbClr val="C9D8F0"/>
                </a:solidFill>
                <a:latin typeface="Courier New"/>
              </a:rPr>
              <a:t>C = esp.read_flash(0xC90000, 0x360000)</a:t>
            </a:r>
          </a:p>
          <a:p>
            <a:r>
              <a:rPr sz="1050">
                <a:solidFill>
                  <a:srgbClr val="5E6B85"/>
                </a:solidFill>
                <a:latin typeface="Courier New"/>
              </a:rPr>
              <a:t>app = esp.read_flash(0x10000, 0x100000) x2   # control: program code</a:t>
            </a:r>
          </a:p>
          <a:p>
            <a:r>
              <a:rPr sz="1050">
                <a:solidFill>
                  <a:srgbClr val="5E6B85"/>
                </a:solidFill>
                <a:latin typeface="Courier New"/>
              </a:rPr>
              <a:t>nvs = esp.read_flash(0x9000, 0x5000) x2      # control: NVS</a:t>
            </a:r>
          </a:p>
          <a:p>
            <a:r>
              <a:rPr sz="1050">
                <a:solidFill>
                  <a:srgbClr val="E58E1A"/>
                </a:solidFill>
                <a:latin typeface="Courier New"/>
              </a:rPr>
              <a:t>A == B ?   B == C ?   app1 == app2 ?</a:t>
            </a:r>
          </a:p>
          <a:p>
            <a:r>
              <a:rPr sz="1050">
                <a:solidFill>
                  <a:srgbClr val="C9D8F0"/>
                </a:solidFill>
                <a:latin typeface="Courier New"/>
              </a:rPr>
              <a:t/>
            </a:r>
          </a:p>
          <a:p>
            <a:r>
              <a:rPr sz="1050">
                <a:solidFill>
                  <a:srgbClr val="5E6B85"/>
                </a:solidFill>
                <a:latin typeface="Courier New"/>
              </a:rPr>
              <a:t># every chunk is MD5-checked by the stub against what it read,</a:t>
            </a:r>
          </a:p>
          <a:p>
            <a:r>
              <a:rPr sz="1050">
                <a:solidFill>
                  <a:srgbClr val="5E6B85"/>
                </a:solidFill>
                <a:latin typeface="Courier New"/>
              </a:rPr>
              <a:t># so a transfer error raises; a changed byte means the chip returned it</a:t>
            </a:r>
          </a:p>
        </p:txBody>
      </p:sp>
      <p:sp>
        <p:nvSpPr>
          <p:cNvPr id="13" name="Rectangle 12"/>
          <p:cNvSpPr/>
          <p:nvPr/>
        </p:nvSpPr>
        <p:spPr>
          <a:xfrm>
            <a:off x="7452360" y="1188720"/>
            <a:ext cx="4206240" cy="283464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1307592"/>
            <a:ext cx="3877055" cy="2596896"/>
          </a:xfrm>
          <a:prstGeom prst="rect">
            <a:avLst/>
          </a:prstGeom>
          <a:noFill/>
        </p:spPr>
        <p:txBody>
          <a:bodyPr wrap="square" lIns="0" rIns="0" tIns="0" bIns="0">
            <a:spAutoFit/>
          </a:bodyPr>
          <a:lstStyle/>
          <a:p>
            <a:r>
              <a:rPr sz="1300" b="1" spc="100">
                <a:solidFill>
                  <a:srgbClr val="E58E1A"/>
                </a:solidFill>
                <a:latin typeface="Cambria"/>
              </a:rPr>
              <a:t>WHY THE FIRST TWO ATTEMPTS WERE THROWN AWAY</a:t>
            </a:r>
          </a:p>
          <a:p>
            <a:r>
              <a:rPr sz="1150">
                <a:solidFill>
                  <a:srgbClr val="222A3F"/>
                </a:solidFill>
                <a:latin typeface="Cambria"/>
              </a:rPr>
              <a:t>This board resets whenever the USB serial port closes, so two 'back-to-back' reads made with separate esptool commands had a boot, and a boot-time flash write, hidden between them. Only reads inside one open connection count. The pitfall is itself a finding: this radio writes to flash every time it starts.</a:t>
            </a:r>
          </a:p>
        </p:txBody>
      </p:sp>
      <p:sp>
        <p:nvSpPr>
          <p:cNvPr id="15" name="Rectangle 14"/>
          <p:cNvSpPr/>
          <p:nvPr/>
        </p:nvSpPr>
        <p:spPr>
          <a:xfrm>
            <a:off x="502920" y="4206240"/>
            <a:ext cx="11155680" cy="178308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4325112"/>
            <a:ext cx="10826496" cy="1545336"/>
          </a:xfrm>
          <a:prstGeom prst="rect">
            <a:avLst/>
          </a:prstGeom>
          <a:noFill/>
        </p:spPr>
        <p:txBody>
          <a:bodyPr wrap="square" lIns="0" rIns="0" tIns="0" bIns="0">
            <a:spAutoFit/>
          </a:bodyPr>
          <a:lstStyle/>
          <a:p>
            <a:r>
              <a:rPr sz="1300" b="1" spc="100">
                <a:solidFill>
                  <a:srgbClr val="16213D"/>
                </a:solidFill>
                <a:latin typeface="Cambria"/>
              </a:rPr>
              <a:t>WHAT ELSE WAS CAPTURED</a:t>
            </a:r>
          </a:p>
          <a:p>
            <a:r>
              <a:rPr sz="1200">
                <a:solidFill>
                  <a:srgbClr val="222A3F"/>
                </a:solidFill>
                <a:latin typeface="Cambria"/>
              </a:rPr>
              <a:t>The serial boot log (file names, sizes, 'Loaded ... successfully' for every file, 'Save /prefs/device.proto' at boot). The partition table and the flash JEDEC ID. The LittleFS image mounted on the laptop with littlefs-python and every settings file decoded with the Meshtastic protobufs, which also proved the configuration in flash today is correct: Group9, 32-byte key, precision 32, CLIENT_MUTE, No PIN, 60 / 10 / 20 / 10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III - THE MEASUREMENT</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10/18  REV A  2026-10-27</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RESULT: THE SAME SECTORS MISREAD ON EVERY PASS</a:t>
            </a:r>
          </a:p>
        </p:txBody>
      </p:sp>
      <p:pic>
        <p:nvPicPr>
          <p:cNvPr id="8" name="Picture 7" descr="g_sectormap.png"/>
          <p:cNvPicPr>
            <a:picLocks noChangeAspect="1"/>
          </p:cNvPicPr>
          <p:nvPr/>
        </p:nvPicPr>
        <p:blipFill>
          <a:blip r:embed="rId2"/>
          <a:stretch>
            <a:fillRect/>
          </a:stretch>
        </p:blipFill>
        <p:spPr>
          <a:xfrm>
            <a:off x="502920" y="1143000"/>
            <a:ext cx="11155680" cy="4408293"/>
          </a:xfrm>
          <a:prstGeom prst="rect">
            <a:avLst/>
          </a:prstGeom>
        </p:spPr>
      </p:pic>
      <p:sp>
        <p:nvSpPr>
          <p:cNvPr id="9" name="TextBox 8"/>
          <p:cNvSpPr txBox="1"/>
          <p:nvPr/>
        </p:nvSpPr>
        <p:spPr>
          <a:xfrm>
            <a:off x="502920" y="5715000"/>
            <a:ext cx="11155680" cy="457200"/>
          </a:xfrm>
          <a:prstGeom prst="rect">
            <a:avLst/>
          </a:prstGeom>
          <a:noFill/>
        </p:spPr>
        <p:txBody>
          <a:bodyPr wrap="square" lIns="0" rIns="0" tIns="0" bIns="0">
            <a:spAutoFit/>
          </a:bodyPr>
          <a:lstStyle/>
          <a:p>
            <a:pPr algn="ctr"/>
            <a:r>
              <a:rPr sz="1050" b="1" i="0">
                <a:solidFill>
                  <a:srgbClr val="5E6B85"/>
                </a:solidFill>
                <a:latin typeface="Courier New"/>
              </a:rPr>
              <a:t>SF RADIO, 2026-10-27. GREEN: WHERE THE LIVE CONFIG FILES SIT TODAY. RED: SECTORS WHOSE BYTES CHANGED BETWEEN CONSECUTIVE READS WITH NO FIRMWARE RUNNING.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III - THE MEASUREMENT</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11/18  REV A  2026-10-27</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RESULT: THE NUMBERS</a:t>
            </a:r>
          </a:p>
        </p:txBody>
      </p:sp>
      <p:pic>
        <p:nvPicPr>
          <p:cNvPr id="8" name="Picture 7" descr="g_unstable.png"/>
          <p:cNvPicPr>
            <a:picLocks noChangeAspect="1"/>
          </p:cNvPicPr>
          <p:nvPr/>
        </p:nvPicPr>
        <p:blipFill>
          <a:blip r:embed="rId2"/>
          <a:stretch>
            <a:fillRect/>
          </a:stretch>
        </p:blipFill>
        <p:spPr>
          <a:xfrm>
            <a:off x="502920" y="1143000"/>
            <a:ext cx="7315200" cy="2123768"/>
          </a:xfrm>
          <a:prstGeom prst="rect">
            <a:avLst/>
          </a:prstGeom>
        </p:spPr>
      </p:pic>
      <p:graphicFrame>
        <p:nvGraphicFramePr>
          <p:cNvPr id="9" name="Table 8"/>
          <p:cNvGraphicFramePr>
            <a:graphicFrameLocks noGrp="1"/>
          </p:cNvGraphicFramePr>
          <p:nvPr/>
        </p:nvGraphicFramePr>
        <p:xfrm>
          <a:off x="8001000" y="1188720"/>
          <a:ext cx="3703320" cy="4114800"/>
        </p:xfrm>
        <a:graphic>
          <a:graphicData uri="http://schemas.openxmlformats.org/drawingml/2006/table">
            <a:tbl>
              <a:tblPr firstRow="1" bandRow="1">
                <a:tableStyleId>{5C22544A-7EE6-4342-B048-85BDC9FD1C3A}</a:tableStyleId>
              </a:tblPr>
              <a:tblGrid>
                <a:gridCol w="2011680"/>
                <a:gridCol w="1691640"/>
              </a:tblGrid>
              <a:tr h="457200">
                <a:tc>
                  <a:txBody>
                    <a:bodyPr/>
                    <a:lstStyle/>
                    <a:p>
                      <a:r>
                        <a:rPr sz="950" b="1">
                          <a:solidFill>
                            <a:srgbClr val="FFFFFF"/>
                          </a:solidFill>
                          <a:latin typeface="Cambria"/>
                        </a:rPr>
                        <a:t>Measurement</a:t>
                      </a:r>
                    </a:p>
                  </a:txBody>
                  <a:tcPr marL="73152" marR="73152" marT="27432" marB="27432">
                    <a:solidFill>
                      <a:srgbClr val="16213D"/>
                    </a:solidFill>
                  </a:tcPr>
                </a:tc>
                <a:tc>
                  <a:txBody>
                    <a:bodyPr/>
                    <a:lstStyle/>
                    <a:p>
                      <a:r>
                        <a:rPr sz="950" b="1">
                          <a:solidFill>
                            <a:srgbClr val="FFFFFF"/>
                          </a:solidFill>
                          <a:latin typeface="Cambria"/>
                        </a:rPr>
                        <a:t>Value</a:t>
                      </a:r>
                    </a:p>
                  </a:txBody>
                  <a:tcPr marL="73152" marR="73152" marT="27432" marB="27432">
                    <a:solidFill>
                      <a:srgbClr val="16213D"/>
                    </a:solidFill>
                  </a:tcPr>
                </a:tc>
              </a:tr>
              <a:tr h="457200">
                <a:tc>
                  <a:txBody>
                    <a:bodyPr/>
                    <a:lstStyle/>
                    <a:p>
                      <a:r>
                        <a:rPr sz="950" b="0">
                          <a:solidFill>
                            <a:srgbClr val="222A3F"/>
                          </a:solidFill>
                          <a:latin typeface="Cambria"/>
                        </a:rPr>
                        <a:t>Settings partition, read 1 vs 2 / 2 vs 3</a:t>
                      </a:r>
                    </a:p>
                  </a:txBody>
                  <a:tcPr marL="73152" marR="73152" marT="27432" marB="27432">
                    <a:solidFill>
                      <a:srgbClr val="F2F5FA"/>
                    </a:solidFill>
                  </a:tcPr>
                </a:tc>
                <a:tc>
                  <a:txBody>
                    <a:bodyPr/>
                    <a:lstStyle/>
                    <a:p>
                      <a:r>
                        <a:rPr sz="950" b="0">
                          <a:solidFill>
                            <a:srgbClr val="222A3F"/>
                          </a:solidFill>
                          <a:latin typeface="Cambria"/>
                        </a:rPr>
                        <a:t>117 / 107 differing bytes</a:t>
                      </a:r>
                    </a:p>
                  </a:txBody>
                  <a:tcPr marL="73152" marR="73152" marT="27432" marB="27432">
                    <a:solidFill>
                      <a:srgbClr val="F2F5FA"/>
                    </a:solidFill>
                  </a:tcPr>
                </a:tc>
              </a:tr>
              <a:tr h="457200">
                <a:tc>
                  <a:txBody>
                    <a:bodyPr/>
                    <a:lstStyle/>
                    <a:p>
                      <a:r>
                        <a:rPr sz="950" b="0">
                          <a:solidFill>
                            <a:srgbClr val="222A3F"/>
                          </a:solidFill>
                          <a:latin typeface="Cambria"/>
                        </a:rPr>
                        <a:t>Bits flipped (1 vs 2)</a:t>
                      </a:r>
                    </a:p>
                  </a:txBody>
                  <a:tcPr marL="73152" marR="73152" marT="27432" marB="27432">
                    <a:solidFill>
                      <a:srgbClr val="FFFFFF"/>
                    </a:solidFill>
                  </a:tcPr>
                </a:tc>
                <a:tc>
                  <a:txBody>
                    <a:bodyPr/>
                    <a:lstStyle/>
                    <a:p>
                      <a:r>
                        <a:rPr sz="950" b="0">
                          <a:solidFill>
                            <a:srgbClr val="222A3F"/>
                          </a:solidFill>
                          <a:latin typeface="Cambria"/>
                        </a:rPr>
                        <a:t>118, in BOTH directions (0x02 to 0x00, 0x00 to 0x10)</a:t>
                      </a:r>
                    </a:p>
                  </a:txBody>
                  <a:tcPr marL="73152" marR="73152" marT="27432" marB="27432">
                    <a:solidFill>
                      <a:srgbClr val="FFFFFF"/>
                    </a:solidFill>
                  </a:tcPr>
                </a:tc>
              </a:tr>
              <a:tr h="457200">
                <a:tc>
                  <a:txBody>
                    <a:bodyPr/>
                    <a:lstStyle/>
                    <a:p>
                      <a:r>
                        <a:rPr sz="950" b="0">
                          <a:solidFill>
                            <a:srgbClr val="222A3F"/>
                          </a:solidFill>
                          <a:latin typeface="Cambria"/>
                        </a:rPr>
                        <a:t>Differing bytes inside erased (0xFF) areas</a:t>
                      </a:r>
                    </a:p>
                  </a:txBody>
                  <a:tcPr marL="73152" marR="73152" marT="27432" marB="27432">
                    <a:solidFill>
                      <a:srgbClr val="F2F5FA"/>
                    </a:solidFill>
                  </a:tcPr>
                </a:tc>
                <a:tc>
                  <a:txBody>
                    <a:bodyPr/>
                    <a:lstStyle/>
                    <a:p>
                      <a:r>
                        <a:rPr sz="950" b="0">
                          <a:solidFill>
                            <a:srgbClr val="222A3F"/>
                          </a:solidFill>
                          <a:latin typeface="Cambria"/>
                        </a:rPr>
                        <a:t>none: all in programmed data</a:t>
                      </a:r>
                    </a:p>
                  </a:txBody>
                  <a:tcPr marL="73152" marR="73152" marT="27432" marB="27432">
                    <a:solidFill>
                      <a:srgbClr val="F2F5FA"/>
                    </a:solidFill>
                  </a:tcPr>
                </a:tc>
              </a:tr>
              <a:tr h="457200">
                <a:tc>
                  <a:txBody>
                    <a:bodyPr/>
                    <a:lstStyle/>
                    <a:p>
                      <a:r>
                        <a:rPr sz="950" b="0">
                          <a:solidFill>
                            <a:srgbClr val="222A3F"/>
                          </a:solidFill>
                          <a:latin typeface="Cambria"/>
                        </a:rPr>
                        <a:t>Same at 115200 and 921600 baud</a:t>
                      </a:r>
                    </a:p>
                  </a:txBody>
                  <a:tcPr marL="73152" marR="73152" marT="27432" marB="27432">
                    <a:solidFill>
                      <a:srgbClr val="FFFFFF"/>
                    </a:solidFill>
                  </a:tcPr>
                </a:tc>
                <a:tc>
                  <a:txBody>
                    <a:bodyPr/>
                    <a:lstStyle/>
                    <a:p>
                      <a:r>
                        <a:rPr sz="950" b="0">
                          <a:solidFill>
                            <a:srgbClr val="222A3F"/>
                          </a:solidFill>
                          <a:latin typeface="Cambria"/>
                        </a:rPr>
                        <a:t>yes (16 KB window, 4 reads each)</a:t>
                      </a:r>
                    </a:p>
                  </a:txBody>
                  <a:tcPr marL="73152" marR="73152" marT="27432" marB="27432">
                    <a:solidFill>
                      <a:srgbClr val="FFFFFF"/>
                    </a:solidFill>
                  </a:tcPr>
                </a:tc>
              </a:tr>
              <a:tr h="457200">
                <a:tc>
                  <a:txBody>
                    <a:bodyPr/>
                    <a:lstStyle/>
                    <a:p>
                      <a:r>
                        <a:rPr sz="950" b="0">
                          <a:solidFill>
                            <a:srgbClr val="222A3F"/>
                          </a:solidFill>
                          <a:latin typeface="Cambria"/>
                        </a:rPr>
                        <a:t>Program partition, 1 MB, two reads</a:t>
                      </a:r>
                    </a:p>
                  </a:txBody>
                  <a:tcPr marL="73152" marR="73152" marT="27432" marB="27432">
                    <a:solidFill>
                      <a:srgbClr val="F2F5FA"/>
                    </a:solidFill>
                  </a:tcPr>
                </a:tc>
                <a:tc>
                  <a:txBody>
                    <a:bodyPr/>
                    <a:lstStyle/>
                    <a:p>
                      <a:r>
                        <a:rPr sz="950" b="0">
                          <a:solidFill>
                            <a:srgbClr val="222A3F"/>
                          </a:solidFill>
                          <a:latin typeface="Cambria"/>
                        </a:rPr>
                        <a:t>identical</a:t>
                      </a:r>
                    </a:p>
                  </a:txBody>
                  <a:tcPr marL="73152" marR="73152" marT="27432" marB="27432">
                    <a:solidFill>
                      <a:srgbClr val="F2F5FA"/>
                    </a:solidFill>
                  </a:tcPr>
                </a:tc>
              </a:tr>
              <a:tr h="457200">
                <a:tc>
                  <a:txBody>
                    <a:bodyPr/>
                    <a:lstStyle/>
                    <a:p>
                      <a:r>
                        <a:rPr sz="950" b="0">
                          <a:solidFill>
                            <a:srgbClr val="222A3F"/>
                          </a:solidFill>
                          <a:latin typeface="Cambria"/>
                        </a:rPr>
                        <a:t>NVS partition and bootloader, two reads</a:t>
                      </a:r>
                    </a:p>
                  </a:txBody>
                  <a:tcPr marL="73152" marR="73152" marT="27432" marB="27432">
                    <a:solidFill>
                      <a:srgbClr val="FFFFFF"/>
                    </a:solidFill>
                  </a:tcPr>
                </a:tc>
                <a:tc>
                  <a:txBody>
                    <a:bodyPr/>
                    <a:lstStyle/>
                    <a:p>
                      <a:r>
                        <a:rPr sz="950" b="0">
                          <a:solidFill>
                            <a:srgbClr val="222A3F"/>
                          </a:solidFill>
                          <a:latin typeface="Cambria"/>
                        </a:rPr>
                        <a:t>identical</a:t>
                      </a:r>
                    </a:p>
                  </a:txBody>
                  <a:tcPr marL="73152" marR="73152" marT="27432" marB="27432">
                    <a:solidFill>
                      <a:srgbClr val="FFFFFF"/>
                    </a:solidFill>
                  </a:tcPr>
                </a:tc>
              </a:tr>
              <a:tr h="457200">
                <a:tc>
                  <a:txBody>
                    <a:bodyPr/>
                    <a:lstStyle/>
                    <a:p>
                      <a:r>
                        <a:rPr sz="950" b="0">
                          <a:solidFill>
                            <a:srgbClr val="222A3F"/>
                          </a:solidFill>
                          <a:latin typeface="Cambria"/>
                        </a:rPr>
                        <a:t>LittleFS mount and all six files decoded</a:t>
                      </a:r>
                    </a:p>
                  </a:txBody>
                  <a:tcPr marL="73152" marR="73152" marT="27432" marB="27432">
                    <a:solidFill>
                      <a:srgbClr val="F2F5FA"/>
                    </a:solidFill>
                  </a:tcPr>
                </a:tc>
                <a:tc>
                  <a:txBody>
                    <a:bodyPr/>
                    <a:lstStyle/>
                    <a:p>
                      <a:r>
                        <a:rPr sz="950" b="0">
                          <a:solidFill>
                            <a:srgbClr val="222A3F"/>
                          </a:solidFill>
                          <a:latin typeface="Cambria"/>
                        </a:rPr>
                        <a:t>clean, configuration correct</a:t>
                      </a:r>
                    </a:p>
                  </a:txBody>
                  <a:tcPr marL="73152" marR="73152" marT="27432" marB="27432">
                    <a:solidFill>
                      <a:srgbClr val="F2F5FA"/>
                    </a:solidFill>
                  </a:tcPr>
                </a:tc>
              </a:tr>
              <a:tr h="457200">
                <a:tc>
                  <a:txBody>
                    <a:bodyPr/>
                    <a:lstStyle/>
                    <a:p>
                      <a:r>
                        <a:rPr sz="950" b="0">
                          <a:solidFill>
                            <a:srgbClr val="222A3F"/>
                          </a:solidFill>
                          <a:latin typeface="Cambria"/>
                        </a:rPr>
                        <a:t>Unstable sectors vs live-file sectors</a:t>
                      </a:r>
                    </a:p>
                  </a:txBody>
                  <a:tcPr marL="73152" marR="73152" marT="27432" marB="27432">
                    <a:solidFill>
                      <a:srgbClr val="FFFFFF"/>
                    </a:solidFill>
                  </a:tcPr>
                </a:tc>
                <a:tc>
                  <a:txBody>
                    <a:bodyPr/>
                    <a:lstStyle/>
                    <a:p>
                      <a:r>
                        <a:rPr sz="950" b="0">
                          <a:solidFill>
                            <a:srgbClr val="222A3F"/>
                          </a:solidFill>
                          <a:latin typeface="Cambria"/>
                        </a:rPr>
                        <a:t>no overlap today (25, 26, 470 are clean)</a:t>
                      </a:r>
                    </a:p>
                  </a:txBody>
                  <a:tcPr marL="73152" marR="73152" marT="27432" marB="27432">
                    <a:solidFill>
                      <a:srgbClr val="FFFFFF"/>
                    </a:solidFill>
                  </a:tcPr>
                </a:tc>
              </a:tr>
            </a:tbl>
          </a:graphicData>
        </a:graphic>
      </p:graphicFrame>
      <p:sp>
        <p:nvSpPr>
          <p:cNvPr id="10" name="Rectangle 9"/>
          <p:cNvSpPr/>
          <p:nvPr/>
        </p:nvSpPr>
        <p:spPr>
          <a:xfrm>
            <a:off x="502920" y="3657600"/>
            <a:ext cx="7315200" cy="2331720"/>
          </a:xfrm>
          <a:prstGeom prst="rect">
            <a:avLst/>
          </a:prstGeom>
          <a:solidFill>
            <a:srgbClr val="F2F5FA"/>
          </a:solidFill>
          <a:ln w="15875">
            <a:solidFill>
              <a:srgbClr val="C43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76472"/>
            <a:ext cx="6986016" cy="2093976"/>
          </a:xfrm>
          <a:prstGeom prst="rect">
            <a:avLst/>
          </a:prstGeom>
          <a:noFill/>
        </p:spPr>
        <p:txBody>
          <a:bodyPr wrap="square" lIns="0" rIns="0" tIns="0" bIns="0">
            <a:spAutoFit/>
          </a:bodyPr>
          <a:lstStyle/>
          <a:p>
            <a:r>
              <a:rPr sz="1350" b="1" spc="100">
                <a:solidFill>
                  <a:srgbClr val="C43A4B"/>
                </a:solidFill>
                <a:latin typeface="Cambria"/>
              </a:rPr>
              <a:t>READING THE RESULT</a:t>
            </a:r>
          </a:p>
          <a:p>
            <a:r>
              <a:rPr sz="1200">
                <a:solidFill>
                  <a:srgbClr val="222A3F"/>
                </a:solidFill>
                <a:latin typeface="Cambria"/>
              </a:rPr>
              <a:t>Bit flips confined to fixed sectors, in both directions, independent of transfer speed, with the code partition perfectly stable, is the signature of cells whose stored charge sits near the read threshold: marginal cells. It is not a serial artifact (the stub verifies each chunk), not wear (the pattern would be diffuse), and not a filesystem bug (the image mounts and decodes). The recruiter's intuition is confirmed in this narrow sense: today, part of SF's settings memory does not hold a definite value.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III - THE MEASUREMENT</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12/18  REV A  2026-10-27</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INTERPRETATION: MARGINAL CELLS AND THE LOSSES</a:t>
            </a:r>
          </a:p>
        </p:txBody>
      </p:sp>
      <p:sp>
        <p:nvSpPr>
          <p:cNvPr id="10" name="Rectangle 9"/>
          <p:cNvSpPr/>
          <p:nvPr/>
        </p:nvSpPr>
        <p:spPr>
          <a:xfrm>
            <a:off x="502920" y="1234440"/>
            <a:ext cx="5486400" cy="233172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353312"/>
            <a:ext cx="5157216" cy="2093976"/>
          </a:xfrm>
          <a:prstGeom prst="rect">
            <a:avLst/>
          </a:prstGeom>
          <a:noFill/>
        </p:spPr>
        <p:txBody>
          <a:bodyPr wrap="square" lIns="0" rIns="0" tIns="0" bIns="0">
            <a:spAutoFit/>
          </a:bodyPr>
          <a:lstStyle/>
          <a:p>
            <a:r>
              <a:rPr sz="1300" b="1" spc="100">
                <a:solidFill>
                  <a:srgbClr val="16213D"/>
                </a:solidFill>
                <a:latin typeface="Cambria"/>
              </a:rPr>
              <a:t>WHY THE LIVE FILES ARE SAFE TODAY AND NOT TOMORROW</a:t>
            </a:r>
          </a:p>
          <a:p>
            <a:r>
              <a:rPr sz="1150">
                <a:solidFill>
                  <a:srgbClr val="222A3F"/>
                </a:solidFill>
                <a:latin typeface="Cambria"/>
              </a:rPr>
              <a:t>LittleFS is copy-on-write with wear-levelling: every save lands on a new sector, and the allocator walks forward through all 864. The unstable sectors are stale copies now, but each boot's device.proto write and each node-table save moves the live data on. When a live file, or the directory metadata that points to it, lands on a marginal sector, the next boot reads garbage, the protobuf decode fails, and the firmware installs and saves factory defaults. Which file is hit decides what is lost: that is the partial, varying pattern in the record.</a:t>
            </a:r>
          </a:p>
        </p:txBody>
      </p:sp>
      <p:sp>
        <p:nvSpPr>
          <p:cNvPr id="12" name="Rectangle 11"/>
          <p:cNvSpPr/>
          <p:nvPr/>
        </p:nvSpPr>
        <p:spPr>
          <a:xfrm>
            <a:off x="6172200" y="1234440"/>
            <a:ext cx="5486400" cy="233172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1353312"/>
            <a:ext cx="5157216" cy="2093976"/>
          </a:xfrm>
          <a:prstGeom prst="rect">
            <a:avLst/>
          </a:prstGeom>
          <a:noFill/>
        </p:spPr>
        <p:txBody>
          <a:bodyPr wrap="square" lIns="0" rIns="0" tIns="0" bIns="0">
            <a:spAutoFit/>
          </a:bodyPr>
          <a:lstStyle/>
          <a:p>
            <a:r>
              <a:rPr sz="1300" b="1" spc="100">
                <a:solidFill>
                  <a:srgbClr val="E58E1A"/>
                </a:solidFill>
                <a:latin typeface="Cambria"/>
              </a:rPr>
              <a:t>WHY SF AND NOT RG</a:t>
            </a:r>
          </a:p>
          <a:p>
            <a:r>
              <a:rPr sz="1150">
                <a:solidFill>
                  <a:srgbClr val="222A3F"/>
                </a:solidFill>
                <a:latin typeface="Cambria"/>
              </a:rPr>
              <a:t>Marginal cells are specific to one chip and one history. SF is the carried, bench-tested unit that has been run flat most often; RG reverted once, on the night both died. The sector map is a property of SF's history, not of the design, which is exactly why a hardware hypothesis was worth testing rather than dismissing.</a:t>
            </a:r>
          </a:p>
        </p:txBody>
      </p:sp>
      <p:sp>
        <p:nvSpPr>
          <p:cNvPr id="14" name="Rectangle 13"/>
          <p:cNvSpPr/>
          <p:nvPr/>
        </p:nvSpPr>
        <p:spPr>
          <a:xfrm>
            <a:off x="502920" y="3749039"/>
            <a:ext cx="11155680" cy="224028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867911"/>
            <a:ext cx="10826496" cy="2002536"/>
          </a:xfrm>
          <a:prstGeom prst="rect">
            <a:avLst/>
          </a:prstGeom>
          <a:noFill/>
        </p:spPr>
        <p:txBody>
          <a:bodyPr wrap="square" lIns="0" rIns="0" tIns="0" bIns="0">
            <a:spAutoFit/>
          </a:bodyPr>
          <a:lstStyle/>
          <a:p>
            <a:r>
              <a:rPr sz="1300" b="1" spc="100">
                <a:solidFill>
                  <a:srgbClr val="1F9D68"/>
                </a:solidFill>
                <a:latin typeface="Cambria"/>
              </a:rPr>
              <a:t>WHERE THE MARGINAL CELLS MOST LIKELY CAME FROM</a:t>
            </a:r>
          </a:p>
          <a:p>
            <a:r>
              <a:rPr sz="1150">
                <a:solidFill>
                  <a:srgbClr val="222A3F"/>
                </a:solidFill>
                <a:latin typeface="Cambria"/>
              </a:rPr>
              <a:t>NOR cells are programmed and erased by moving charge with internal high-voltage pumps that need VCC within 2.7 to 3.6 V. If the rail sags into the 2.44 to 2.7 V window mid-operation (a transmit pulse on a flat cell, or a reboot loop while charging a flat pack), the operation completes with cells left between the two charge states. Those cells read differently from one access to the next until the sector is erased and programmed again under good voltage. That is hypothesis H3 leaving the fingerprint predicted for H2. Alternatively the cells are permanently weak. One short experiment separates the two.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III - THE MEASUREMENT</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13/18  REV A  2026-10-27</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DECISIVE TEST: DISTURBED, NOT DAMAGED</a:t>
            </a:r>
          </a:p>
        </p:txBody>
      </p:sp>
      <p:graphicFrame>
        <p:nvGraphicFramePr>
          <p:cNvPr id="10" name="Table 9"/>
          <p:cNvGraphicFramePr>
            <a:graphicFrameLocks noGrp="1"/>
          </p:cNvGraphicFramePr>
          <p:nvPr/>
        </p:nvGraphicFramePr>
        <p:xfrm>
          <a:off x="502920" y="1188720"/>
          <a:ext cx="11155680" cy="1828800"/>
        </p:xfrm>
        <a:graphic>
          <a:graphicData uri="http://schemas.openxmlformats.org/drawingml/2006/table">
            <a:tbl>
              <a:tblPr firstRow="1" bandRow="1">
                <a:tableStyleId>{5C22544A-7EE6-4342-B048-85BDC9FD1C3A}</a:tableStyleId>
              </a:tblPr>
              <a:tblGrid>
                <a:gridCol w="1554480"/>
                <a:gridCol w="2377440"/>
                <a:gridCol w="1371600"/>
                <a:gridCol w="1463040"/>
                <a:gridCol w="1463040"/>
                <a:gridCol w="1554480"/>
                <a:gridCol w="1371600"/>
              </a:tblGrid>
              <a:tr h="457200">
                <a:tc>
                  <a:txBody>
                    <a:bodyPr/>
                    <a:lstStyle/>
                    <a:p>
                      <a:r>
                        <a:rPr sz="1050" b="1">
                          <a:solidFill>
                            <a:srgbClr val="FFFFFF"/>
                          </a:solidFill>
                          <a:latin typeface="Cambria"/>
                        </a:rPr>
                        <a:t>Sector</a:t>
                      </a:r>
                    </a:p>
                  </a:txBody>
                  <a:tcPr marL="73152" marR="73152" marT="27432" marB="27432">
                    <a:solidFill>
                      <a:srgbClr val="16213D"/>
                    </a:solidFill>
                  </a:tcPr>
                </a:tc>
                <a:tc>
                  <a:txBody>
                    <a:bodyPr/>
                    <a:lstStyle/>
                    <a:p>
                      <a:r>
                        <a:rPr sz="1050" b="1">
                          <a:solidFill>
                            <a:srgbClr val="FFFFFF"/>
                          </a:solidFill>
                          <a:latin typeface="Cambria"/>
                        </a:rPr>
                        <a:t>As found (3 reads)</a:t>
                      </a:r>
                    </a:p>
                  </a:txBody>
                  <a:tcPr marL="73152" marR="73152" marT="27432" marB="27432">
                    <a:solidFill>
                      <a:srgbClr val="16213D"/>
                    </a:solidFill>
                  </a:tcPr>
                </a:tc>
                <a:tc>
                  <a:txBody>
                    <a:bodyPr/>
                    <a:lstStyle/>
                    <a:p>
                      <a:r>
                        <a:rPr sz="1050" b="1">
                          <a:solidFill>
                            <a:srgbClr val="FFFFFF"/>
                          </a:solidFill>
                          <a:latin typeface="Cambria"/>
                        </a:rPr>
                        <a:t>After erase</a:t>
                      </a:r>
                    </a:p>
                  </a:txBody>
                  <a:tcPr marL="73152" marR="73152" marT="27432" marB="27432">
                    <a:solidFill>
                      <a:srgbClr val="16213D"/>
                    </a:solidFill>
                  </a:tcPr>
                </a:tc>
                <a:tc>
                  <a:txBody>
                    <a:bodyPr/>
                    <a:lstStyle/>
                    <a:p>
                      <a:r>
                        <a:rPr sz="1050" b="1">
                          <a:solidFill>
                            <a:srgbClr val="FFFFFF"/>
                          </a:solidFill>
                          <a:latin typeface="Cambria"/>
                        </a:rPr>
                        <a:t>Programmed 0x00</a:t>
                      </a:r>
                    </a:p>
                  </a:txBody>
                  <a:tcPr marL="73152" marR="73152" marT="27432" marB="27432">
                    <a:solidFill>
                      <a:srgbClr val="16213D"/>
                    </a:solidFill>
                  </a:tcPr>
                </a:tc>
                <a:tc>
                  <a:txBody>
                    <a:bodyPr/>
                    <a:lstStyle/>
                    <a:p>
                      <a:r>
                        <a:rPr sz="1050" b="1">
                          <a:solidFill>
                            <a:srgbClr val="FFFFFF"/>
                          </a:solidFill>
                          <a:latin typeface="Cambria"/>
                        </a:rPr>
                        <a:t>Programmed A5/5A</a:t>
                      </a:r>
                    </a:p>
                  </a:txBody>
                  <a:tcPr marL="73152" marR="73152" marT="27432" marB="27432">
                    <a:solidFill>
                      <a:srgbClr val="16213D"/>
                    </a:solidFill>
                  </a:tcPr>
                </a:tc>
                <a:tc>
                  <a:txBody>
                    <a:bodyPr/>
                    <a:lstStyle/>
                    <a:p>
                      <a:r>
                        <a:rPr sz="1050" b="1">
                          <a:solidFill>
                            <a:srgbClr val="FFFFFF"/>
                          </a:solidFill>
                          <a:latin typeface="Cambria"/>
                        </a:rPr>
                        <a:t>Programmed random</a:t>
                      </a:r>
                    </a:p>
                  </a:txBody>
                  <a:tcPr marL="73152" marR="73152" marT="27432" marB="27432">
                    <a:solidFill>
                      <a:srgbClr val="16213D"/>
                    </a:solidFill>
                  </a:tcPr>
                </a:tc>
                <a:tc>
                  <a:txBody>
                    <a:bodyPr/>
                    <a:lstStyle/>
                    <a:p>
                      <a:r>
                        <a:rPr sz="1050" b="1">
                          <a:solidFill>
                            <a:srgbClr val="FFFFFF"/>
                          </a:solidFill>
                          <a:latin typeface="Cambria"/>
                        </a:rPr>
                        <a:t>Erased again</a:t>
                      </a:r>
                    </a:p>
                  </a:txBody>
                  <a:tcPr marL="73152" marR="73152" marT="27432" marB="27432">
                    <a:solidFill>
                      <a:srgbClr val="16213D"/>
                    </a:solidFill>
                  </a:tcPr>
                </a:tc>
              </a:tr>
              <a:tr h="457200">
                <a:tc>
                  <a:txBody>
                    <a:bodyPr/>
                    <a:lstStyle/>
                    <a:p>
                      <a:r>
                        <a:rPr sz="1050" b="0">
                          <a:solidFill>
                            <a:srgbClr val="222A3F"/>
                          </a:solidFill>
                          <a:latin typeface="Cambria"/>
                        </a:rPr>
                        <a:t>57 (worst)</a:t>
                      </a:r>
                    </a:p>
                  </a:txBody>
                  <a:tcPr marL="73152" marR="73152" marT="27432" marB="27432">
                    <a:solidFill>
                      <a:srgbClr val="F2F5FA"/>
                    </a:solidFill>
                  </a:tcPr>
                </a:tc>
                <a:tc>
                  <a:txBody>
                    <a:bodyPr/>
                    <a:lstStyle/>
                    <a:p>
                      <a:r>
                        <a:rPr sz="1050" b="0">
                          <a:solidFill>
                            <a:srgbClr val="222A3F"/>
                          </a:solidFill>
                          <a:latin typeface="Cambria"/>
                        </a:rPr>
                        <a:t>unstable: 27 bytes disagree</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r>
              <a:tr h="457200">
                <a:tc>
                  <a:txBody>
                    <a:bodyPr/>
                    <a:lstStyle/>
                    <a:p>
                      <a:r>
                        <a:rPr sz="1050" b="0">
                          <a:solidFill>
                            <a:srgbClr val="222A3F"/>
                          </a:solidFill>
                          <a:latin typeface="Cambria"/>
                        </a:rPr>
                        <a:t>31</a:t>
                      </a:r>
                    </a:p>
                  </a:txBody>
                  <a:tcPr marL="73152" marR="73152" marT="27432" marB="27432">
                    <a:solidFill>
                      <a:srgbClr val="FFFFFF"/>
                    </a:solidFill>
                  </a:tcPr>
                </a:tc>
                <a:tc>
                  <a:txBody>
                    <a:bodyPr/>
                    <a:lstStyle/>
                    <a:p>
                      <a:r>
                        <a:rPr sz="1050" b="0">
                          <a:solidFill>
                            <a:srgbClr val="222A3F"/>
                          </a:solidFill>
                          <a:latin typeface="Cambria"/>
                        </a:rPr>
                        <a:t>unstable: 20 bytes disagree</a:t>
                      </a:r>
                    </a:p>
                  </a:txBody>
                  <a:tcPr marL="73152" marR="73152" marT="27432" marB="27432">
                    <a:solidFill>
                      <a:srgbClr val="FFFFFF"/>
                    </a:solidFill>
                  </a:tcPr>
                </a:tc>
                <a:tc>
                  <a:txBody>
                    <a:bodyPr/>
                    <a:lstStyle/>
                    <a:p>
                      <a:r>
                        <a:rPr sz="1050" b="0">
                          <a:solidFill>
                            <a:srgbClr val="222A3F"/>
                          </a:solidFill>
                          <a:latin typeface="Cambria"/>
                        </a:rPr>
                        <a:t>5/5 clean</a:t>
                      </a:r>
                    </a:p>
                  </a:txBody>
                  <a:tcPr marL="73152" marR="73152" marT="27432" marB="27432">
                    <a:solidFill>
                      <a:srgbClr val="FFFFFF"/>
                    </a:solidFill>
                  </a:tcPr>
                </a:tc>
                <a:tc>
                  <a:txBody>
                    <a:bodyPr/>
                    <a:lstStyle/>
                    <a:p>
                      <a:r>
                        <a:rPr sz="1050" b="0">
                          <a:solidFill>
                            <a:srgbClr val="222A3F"/>
                          </a:solidFill>
                          <a:latin typeface="Cambria"/>
                        </a:rPr>
                        <a:t>5/5 clean</a:t>
                      </a:r>
                    </a:p>
                  </a:txBody>
                  <a:tcPr marL="73152" marR="73152" marT="27432" marB="27432">
                    <a:solidFill>
                      <a:srgbClr val="FFFFFF"/>
                    </a:solidFill>
                  </a:tcPr>
                </a:tc>
                <a:tc>
                  <a:txBody>
                    <a:bodyPr/>
                    <a:lstStyle/>
                    <a:p>
                      <a:r>
                        <a:rPr sz="1050" b="0">
                          <a:solidFill>
                            <a:srgbClr val="222A3F"/>
                          </a:solidFill>
                          <a:latin typeface="Cambria"/>
                        </a:rPr>
                        <a:t>5/5 clean</a:t>
                      </a:r>
                    </a:p>
                  </a:txBody>
                  <a:tcPr marL="73152" marR="73152" marT="27432" marB="27432">
                    <a:solidFill>
                      <a:srgbClr val="FFFFFF"/>
                    </a:solidFill>
                  </a:tcPr>
                </a:tc>
                <a:tc>
                  <a:txBody>
                    <a:bodyPr/>
                    <a:lstStyle/>
                    <a:p>
                      <a:r>
                        <a:rPr sz="1050" b="0">
                          <a:solidFill>
                            <a:srgbClr val="222A3F"/>
                          </a:solidFill>
                          <a:latin typeface="Cambria"/>
                        </a:rPr>
                        <a:t>5/5 clean</a:t>
                      </a:r>
                    </a:p>
                  </a:txBody>
                  <a:tcPr marL="73152" marR="73152" marT="27432" marB="27432">
                    <a:solidFill>
                      <a:srgbClr val="FFFFFF"/>
                    </a:solidFill>
                  </a:tcPr>
                </a:tc>
                <a:tc>
                  <a:txBody>
                    <a:bodyPr/>
                    <a:lstStyle/>
                    <a:p>
                      <a:r>
                        <a:rPr sz="1050" b="0">
                          <a:solidFill>
                            <a:srgbClr val="222A3F"/>
                          </a:solidFill>
                          <a:latin typeface="Cambria"/>
                        </a:rPr>
                        <a:t>5/5 clean</a:t>
                      </a:r>
                    </a:p>
                  </a:txBody>
                  <a:tcPr marL="73152" marR="73152" marT="27432" marB="27432">
                    <a:solidFill>
                      <a:srgbClr val="FFFFFF"/>
                    </a:solidFill>
                  </a:tcPr>
                </a:tc>
              </a:tr>
              <a:tr h="457200">
                <a:tc>
                  <a:txBody>
                    <a:bodyPr/>
                    <a:lstStyle/>
                    <a:p>
                      <a:r>
                        <a:rPr sz="1050" b="0">
                          <a:solidFill>
                            <a:srgbClr val="222A3F"/>
                          </a:solidFill>
                          <a:latin typeface="Cambria"/>
                        </a:rPr>
                        <a:t>200 (control, free)</a:t>
                      </a:r>
                    </a:p>
                  </a:txBody>
                  <a:tcPr marL="73152" marR="73152" marT="27432" marB="27432">
                    <a:solidFill>
                      <a:srgbClr val="F2F5FA"/>
                    </a:solidFill>
                  </a:tcPr>
                </a:tc>
                <a:tc>
                  <a:txBody>
                    <a:bodyPr/>
                    <a:lstStyle/>
                    <a:p>
                      <a:r>
                        <a:rPr sz="1050" b="0">
                          <a:solidFill>
                            <a:srgbClr val="222A3F"/>
                          </a:solidFill>
                          <a:latin typeface="Cambria"/>
                        </a:rPr>
                        <a:t>stable: 0</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c>
                  <a:txBody>
                    <a:bodyPr/>
                    <a:lstStyle/>
                    <a:p>
                      <a:r>
                        <a:rPr sz="1050" b="0">
                          <a:solidFill>
                            <a:srgbClr val="222A3F"/>
                          </a:solidFill>
                          <a:latin typeface="Cambria"/>
                        </a:rPr>
                        <a:t>5/5 clean</a:t>
                      </a:r>
                    </a:p>
                  </a:txBody>
                  <a:tcPr marL="73152" marR="73152" marT="27432" marB="27432">
                    <a:solidFill>
                      <a:srgbClr val="F2F5FA"/>
                    </a:solidFill>
                  </a:tcPr>
                </a:tc>
              </a:tr>
            </a:tbl>
          </a:graphicData>
        </a:graphic>
      </p:graphicFrame>
      <p:sp>
        <p:nvSpPr>
          <p:cNvPr id="11" name="Rectangle 10"/>
          <p:cNvSpPr/>
          <p:nvPr/>
        </p:nvSpPr>
        <p:spPr>
          <a:xfrm>
            <a:off x="502920" y="3200400"/>
            <a:ext cx="5486400" cy="278892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3319272"/>
            <a:ext cx="5157216" cy="2551176"/>
          </a:xfrm>
          <a:prstGeom prst="rect">
            <a:avLst/>
          </a:prstGeom>
          <a:noFill/>
        </p:spPr>
        <p:txBody>
          <a:bodyPr wrap="square" lIns="0" rIns="0" tIns="0" bIns="0">
            <a:spAutoFit/>
          </a:bodyPr>
          <a:lstStyle/>
          <a:p>
            <a:r>
              <a:rPr sz="1300" b="1" spc="100">
                <a:solidFill>
                  <a:srgbClr val="16213D"/>
                </a:solidFill>
                <a:latin typeface="Cambria"/>
              </a:rPr>
              <a:t>WHAT WAS DONE (SF, 2026-10-27, AUTHORISED)</a:t>
            </a:r>
          </a:p>
          <a:p>
            <a:r>
              <a:rPr sz="1150">
                <a:solidFill>
                  <a:srgbClr val="222A3F"/>
                </a:solidFill>
                <a:latin typeface="Cambria"/>
              </a:rPr>
              <a:t>Each sector: read three times as found; erase; program all-zeros and read five times; erase; program 0xA5/0x5A and read five times; erase; program a fixed random page and read five times; erase and leave free. Sector 200, which had never been written, served as the control. The sectors were free in LittleFS (its live data is in sectors 0, 1, 25, 26 and 470), so the configuration was untouched; the radio booted normally afterwards. Record: docs/src/flash_forensics/decisive_test_2026-10-27.json.</a:t>
            </a:r>
          </a:p>
        </p:txBody>
      </p:sp>
      <p:sp>
        <p:nvSpPr>
          <p:cNvPr id="13" name="Rectangle 12"/>
          <p:cNvSpPr/>
          <p:nvPr/>
        </p:nvSpPr>
        <p:spPr>
          <a:xfrm>
            <a:off x="6172200" y="3200400"/>
            <a:ext cx="5486400" cy="278892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3319272"/>
            <a:ext cx="5157216" cy="2551176"/>
          </a:xfrm>
          <a:prstGeom prst="rect">
            <a:avLst/>
          </a:prstGeom>
          <a:noFill/>
        </p:spPr>
        <p:txBody>
          <a:bodyPr wrap="square" lIns="0" rIns="0" tIns="0" bIns="0">
            <a:spAutoFit/>
          </a:bodyPr>
          <a:lstStyle/>
          <a:p>
            <a:r>
              <a:rPr sz="1300" b="1" spc="100">
                <a:solidFill>
                  <a:srgbClr val="1F9D68"/>
                </a:solidFill>
                <a:latin typeface="Cambria"/>
              </a:rPr>
              <a:t>WHAT IT MEANS</a:t>
            </a:r>
          </a:p>
          <a:p>
            <a:r>
              <a:rPr sz="1150">
                <a:solidFill>
                  <a:srgbClr val="222A3F"/>
                </a:solidFill>
                <a:latin typeface="Cambria"/>
              </a:rPr>
              <a:t>Outcome A. The cells program, erase and hold every pattern perfectly once written under a healthy supply: there is nothing wrong with the silicon. The instability we measured was the physical residue of earlier writes completed while the supply was outside the flash's operating range, exactly the mechanism the datasheet forbids and the firmware does not guard against. This closes the hardware question: not a defective or worn part, but a part that was written to under conditions in which no flash is specified to work. The repair for the sectors already affected is simple: one clean erase of the settings partition under USB power, then re-provision from the snapshot.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IV - THE FIX</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14/18  REV A  2026-10-27</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CHAIN OF CAUSATION</a:t>
            </a:r>
          </a:p>
        </p:txBody>
      </p:sp>
      <p:pic>
        <p:nvPicPr>
          <p:cNvPr id="8" name="Picture 7" descr="g_chain.png"/>
          <p:cNvPicPr>
            <a:picLocks noChangeAspect="1"/>
          </p:cNvPicPr>
          <p:nvPr/>
        </p:nvPicPr>
        <p:blipFill>
          <a:blip r:embed="rId2"/>
          <a:stretch>
            <a:fillRect/>
          </a:stretch>
        </p:blipFill>
        <p:spPr>
          <a:xfrm>
            <a:off x="502920" y="1188720"/>
            <a:ext cx="11155680" cy="2339094"/>
          </a:xfrm>
          <a:prstGeom prst="rect">
            <a:avLst/>
          </a:prstGeom>
        </p:spPr>
      </p:pic>
      <p:graphicFrame>
        <p:nvGraphicFramePr>
          <p:cNvPr id="9" name="Table 8"/>
          <p:cNvGraphicFramePr>
            <a:graphicFrameLocks noGrp="1"/>
          </p:cNvGraphicFramePr>
          <p:nvPr/>
        </p:nvGraphicFramePr>
        <p:xfrm>
          <a:off x="502920" y="3657600"/>
          <a:ext cx="11155680" cy="2304288"/>
        </p:xfrm>
        <a:graphic>
          <a:graphicData uri="http://schemas.openxmlformats.org/drawingml/2006/table">
            <a:tbl>
              <a:tblPr firstRow="1" bandRow="1">
                <a:tableStyleId>{5C22544A-7EE6-4342-B048-85BDC9FD1C3A}</a:tableStyleId>
              </a:tblPr>
              <a:tblGrid>
                <a:gridCol w="3291840"/>
                <a:gridCol w="5669280"/>
                <a:gridCol w="2194560"/>
              </a:tblGrid>
              <a:tr h="384048">
                <a:tc>
                  <a:txBody>
                    <a:bodyPr/>
                    <a:lstStyle/>
                    <a:p>
                      <a:r>
                        <a:rPr sz="1050" b="1">
                          <a:solidFill>
                            <a:srgbClr val="FFFFFF"/>
                          </a:solidFill>
                          <a:latin typeface="Cambria"/>
                        </a:rPr>
                        <a:t>Link</a:t>
                      </a:r>
                    </a:p>
                  </a:txBody>
                  <a:tcPr marL="73152" marR="73152" marT="27432" marB="27432">
                    <a:solidFill>
                      <a:srgbClr val="16213D"/>
                    </a:solidFill>
                  </a:tcPr>
                </a:tc>
                <a:tc>
                  <a:txBody>
                    <a:bodyPr/>
                    <a:lstStyle/>
                    <a:p>
                      <a:r>
                        <a:rPr sz="1050" b="1">
                          <a:solidFill>
                            <a:srgbClr val="FFFFFF"/>
                          </a:solidFill>
                          <a:latin typeface="Cambria"/>
                        </a:rPr>
                        <a:t>Evidence that it is real</a:t>
                      </a:r>
                    </a:p>
                  </a:txBody>
                  <a:tcPr marL="73152" marR="73152" marT="27432" marB="27432">
                    <a:solidFill>
                      <a:srgbClr val="16213D"/>
                    </a:solidFill>
                  </a:tcPr>
                </a:tc>
                <a:tc>
                  <a:txBody>
                    <a:bodyPr/>
                    <a:lstStyle/>
                    <a:p>
                      <a:r>
                        <a:rPr sz="1050" b="1">
                          <a:solidFill>
                            <a:srgbClr val="FFFFFF"/>
                          </a:solidFill>
                          <a:latin typeface="Cambria"/>
                        </a:rPr>
                        <a:t>Confidence</a:t>
                      </a:r>
                    </a:p>
                  </a:txBody>
                  <a:tcPr marL="73152" marR="73152" marT="27432" marB="27432">
                    <a:solidFill>
                      <a:srgbClr val="16213D"/>
                    </a:solidFill>
                  </a:tcPr>
                </a:tc>
              </a:tr>
              <a:tr h="384048">
                <a:tc>
                  <a:txBody>
                    <a:bodyPr/>
                    <a:lstStyle/>
                    <a:p>
                      <a:r>
                        <a:rPr sz="1050" b="0">
                          <a:solidFill>
                            <a:srgbClr val="222A3F"/>
                          </a:solidFill>
                          <a:latin typeface="Cambria"/>
                        </a:rPr>
                        <a:t>Battery flat, reboot churn on recovery</a:t>
                      </a:r>
                    </a:p>
                  </a:txBody>
                  <a:tcPr marL="73152" marR="73152" marT="27432" marB="27432">
                    <a:solidFill>
                      <a:srgbClr val="F2F5FA"/>
                    </a:solidFill>
                  </a:tcPr>
                </a:tc>
                <a:tc>
                  <a:txBody>
                    <a:bodyPr/>
                    <a:lstStyle/>
                    <a:p>
                      <a:r>
                        <a:rPr sz="1050" b="0">
                          <a:solidFill>
                            <a:srgbClr val="222A3F"/>
                          </a:solidFill>
                          <a:latin typeface="Cambria"/>
                        </a:rPr>
                        <a:t>Three of four incidents; #4555 reproduces by cutting power in early boot</a:t>
                      </a:r>
                    </a:p>
                  </a:txBody>
                  <a:tcPr marL="73152" marR="73152" marT="27432" marB="27432">
                    <a:solidFill>
                      <a:srgbClr val="F2F5FA"/>
                    </a:solidFill>
                  </a:tcPr>
                </a:tc>
                <a:tc>
                  <a:txBody>
                    <a:bodyPr/>
                    <a:lstStyle/>
                    <a:p>
                      <a:r>
                        <a:rPr sz="1050" b="0">
                          <a:solidFill>
                            <a:srgbClr val="222A3F"/>
                          </a:solidFill>
                          <a:latin typeface="Cambria"/>
                        </a:rPr>
                        <a:t>High</a:t>
                      </a:r>
                    </a:p>
                  </a:txBody>
                  <a:tcPr marL="73152" marR="73152" marT="27432" marB="27432">
                    <a:solidFill>
                      <a:srgbClr val="F2F5FA"/>
                    </a:solidFill>
                  </a:tcPr>
                </a:tc>
              </a:tr>
              <a:tr h="384048">
                <a:tc>
                  <a:txBody>
                    <a:bodyPr/>
                    <a:lstStyle/>
                    <a:p>
                      <a:r>
                        <a:rPr sz="1050" b="0">
                          <a:solidFill>
                            <a:srgbClr val="222A3F"/>
                          </a:solidFill>
                          <a:latin typeface="Cambria"/>
                        </a:rPr>
                        <a:t>Flash write on every boot, no voltage gate</a:t>
                      </a:r>
                    </a:p>
                  </a:txBody>
                  <a:tcPr marL="73152" marR="73152" marT="27432" marB="27432">
                    <a:solidFill>
                      <a:srgbClr val="FFFFFF"/>
                    </a:solidFill>
                  </a:tcPr>
                </a:tc>
                <a:tc>
                  <a:txBody>
                    <a:bodyPr/>
                    <a:lstStyle/>
                    <a:p>
                      <a:r>
                        <a:rPr sz="1050" b="0">
                          <a:solidFill>
                            <a:srgbClr val="222A3F"/>
                          </a:solidFill>
                          <a:latin typeface="Cambria"/>
                        </a:rPr>
                        <a:t>Boot log; PowerHAL.cpp weak stub; sheet 5</a:t>
                      </a:r>
                    </a:p>
                  </a:txBody>
                  <a:tcPr marL="73152" marR="73152" marT="27432" marB="27432">
                    <a:solidFill>
                      <a:srgbClr val="FFFFFF"/>
                    </a:solidFill>
                  </a:tcPr>
                </a:tc>
                <a:tc>
                  <a:txBody>
                    <a:bodyPr/>
                    <a:lstStyle/>
                    <a:p>
                      <a:r>
                        <a:rPr sz="1050" b="0">
                          <a:solidFill>
                            <a:srgbClr val="222A3F"/>
                          </a:solidFill>
                          <a:latin typeface="Cambria"/>
                        </a:rPr>
                        <a:t>Verified</a:t>
                      </a:r>
                    </a:p>
                  </a:txBody>
                  <a:tcPr marL="73152" marR="73152" marT="27432" marB="27432">
                    <a:solidFill>
                      <a:srgbClr val="FFFFFF"/>
                    </a:solidFill>
                  </a:tcPr>
                </a:tc>
              </a:tr>
              <a:tr h="384048">
                <a:tc>
                  <a:txBody>
                    <a:bodyPr/>
                    <a:lstStyle/>
                    <a:p>
                      <a:r>
                        <a:rPr sz="1050" b="0">
                          <a:solidFill>
                            <a:srgbClr val="222A3F"/>
                          </a:solidFill>
                          <a:latin typeface="Cambria"/>
                        </a:rPr>
                        <a:t>Rail can sit between 2.44 and 2.7 V</a:t>
                      </a:r>
                    </a:p>
                  </a:txBody>
                  <a:tcPr marL="73152" marR="73152" marT="27432" marB="27432">
                    <a:solidFill>
                      <a:srgbClr val="F2F5FA"/>
                    </a:solidFill>
                  </a:tcPr>
                </a:tc>
                <a:tc>
                  <a:txBody>
                    <a:bodyPr/>
                    <a:lstStyle/>
                    <a:p>
                      <a:r>
                        <a:rPr sz="1050" b="0">
                          <a:solidFill>
                            <a:srgbClr val="222A3F"/>
                          </a:solidFill>
                          <a:latin typeface="Cambria"/>
                        </a:rPr>
                        <a:t>Datasheets and sdkconfig; 750 mA TX pulses</a:t>
                      </a:r>
                    </a:p>
                  </a:txBody>
                  <a:tcPr marL="73152" marR="73152" marT="27432" marB="27432">
                    <a:solidFill>
                      <a:srgbClr val="F2F5FA"/>
                    </a:solidFill>
                  </a:tcPr>
                </a:tc>
                <a:tc>
                  <a:txBody>
                    <a:bodyPr/>
                    <a:lstStyle/>
                    <a:p>
                      <a:r>
                        <a:rPr sz="1050" b="0">
                          <a:solidFill>
                            <a:srgbClr val="222A3F"/>
                          </a:solidFill>
                          <a:latin typeface="Cambria"/>
                        </a:rPr>
                        <a:t>High (not oscilloscoped yet)</a:t>
                      </a:r>
                    </a:p>
                  </a:txBody>
                  <a:tcPr marL="73152" marR="73152" marT="27432" marB="27432">
                    <a:solidFill>
                      <a:srgbClr val="F2F5FA"/>
                    </a:solidFill>
                  </a:tcPr>
                </a:tc>
              </a:tr>
              <a:tr h="384048">
                <a:tc>
                  <a:txBody>
                    <a:bodyPr/>
                    <a:lstStyle/>
                    <a:p>
                      <a:r>
                        <a:rPr sz="1050" b="0">
                          <a:solidFill>
                            <a:srgbClr val="222A3F"/>
                          </a:solidFill>
                          <a:latin typeface="Cambria"/>
                        </a:rPr>
                        <a:t>Cells left marginal</a:t>
                      </a:r>
                    </a:p>
                  </a:txBody>
                  <a:tcPr marL="73152" marR="73152" marT="27432" marB="27432">
                    <a:solidFill>
                      <a:srgbClr val="FFFFFF"/>
                    </a:solidFill>
                  </a:tcPr>
                </a:tc>
                <a:tc>
                  <a:txBody>
                    <a:bodyPr/>
                    <a:lstStyle/>
                    <a:p>
                      <a:r>
                        <a:rPr sz="1050" b="0">
                          <a:solidFill>
                            <a:srgbClr val="222A3F"/>
                          </a:solidFill>
                          <a:latin typeface="Cambria"/>
                        </a:rPr>
                        <a:t>Measured on SF today: fixed unstable sectors</a:t>
                      </a:r>
                    </a:p>
                  </a:txBody>
                  <a:tcPr marL="73152" marR="73152" marT="27432" marB="27432">
                    <a:solidFill>
                      <a:srgbClr val="FFFFFF"/>
                    </a:solidFill>
                  </a:tcPr>
                </a:tc>
                <a:tc>
                  <a:txBody>
                    <a:bodyPr/>
                    <a:lstStyle/>
                    <a:p>
                      <a:r>
                        <a:rPr sz="1050" b="0">
                          <a:solidFill>
                            <a:srgbClr val="222A3F"/>
                          </a:solidFill>
                          <a:latin typeface="Cambria"/>
                        </a:rPr>
                        <a:t>Measured</a:t>
                      </a:r>
                    </a:p>
                  </a:txBody>
                  <a:tcPr marL="73152" marR="73152" marT="27432" marB="27432">
                    <a:solidFill>
                      <a:srgbClr val="FFFFFF"/>
                    </a:solidFill>
                  </a:tcPr>
                </a:tc>
              </a:tr>
              <a:tr h="384048">
                <a:tc>
                  <a:txBody>
                    <a:bodyPr/>
                    <a:lstStyle/>
                    <a:p>
                      <a:r>
                        <a:rPr sz="1050" b="0">
                          <a:solidFill>
                            <a:srgbClr val="222A3F"/>
                          </a:solidFill>
                          <a:latin typeface="Cambria"/>
                        </a:rPr>
                        <a:t>Decode fails -&gt; defaults installed and saved</a:t>
                      </a:r>
                    </a:p>
                  </a:txBody>
                  <a:tcPr marL="73152" marR="73152" marT="27432" marB="27432">
                    <a:solidFill>
                      <a:srgbClr val="F2F5FA"/>
                    </a:solidFill>
                  </a:tcPr>
                </a:tc>
                <a:tc>
                  <a:txBody>
                    <a:bodyPr/>
                    <a:lstStyle/>
                    <a:p>
                      <a:r>
                        <a:rPr sz="1050" b="0">
                          <a:solidFill>
                            <a:srgbClr val="222A3F"/>
                          </a:solidFill>
                          <a:latin typeface="Cambria"/>
                        </a:rPr>
                        <a:t>NodeDB.cpp; the losses themselves</a:t>
                      </a:r>
                    </a:p>
                  </a:txBody>
                  <a:tcPr marL="73152" marR="73152" marT="27432" marB="27432">
                    <a:solidFill>
                      <a:srgbClr val="F2F5FA"/>
                    </a:solidFill>
                  </a:tcPr>
                </a:tc>
                <a:tc>
                  <a:txBody>
                    <a:bodyPr/>
                    <a:lstStyle/>
                    <a:p>
                      <a:r>
                        <a:rPr sz="1050" b="0">
                          <a:solidFill>
                            <a:srgbClr val="222A3F"/>
                          </a:solidFill>
                          <a:latin typeface="Cambria"/>
                        </a:rPr>
                        <a:t>Verified</a:t>
                      </a:r>
                    </a:p>
                  </a:txBody>
                  <a:tcPr marL="73152" marR="73152" marT="27432" marB="27432">
                    <a:solidFill>
                      <a:srgbClr val="F2F5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IV - THE FIX</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15/18  REV A  2026-10-27</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FIX PLAN, RANKED BY LEVERAGE</a:t>
            </a:r>
          </a:p>
        </p:txBody>
      </p:sp>
      <p:graphicFrame>
        <p:nvGraphicFramePr>
          <p:cNvPr id="10" name="Table 9"/>
          <p:cNvGraphicFramePr>
            <a:graphicFrameLocks noGrp="1"/>
          </p:cNvGraphicFramePr>
          <p:nvPr/>
        </p:nvGraphicFramePr>
        <p:xfrm>
          <a:off x="502920" y="1188720"/>
          <a:ext cx="11155680" cy="4279392"/>
        </p:xfrm>
        <a:graphic>
          <a:graphicData uri="http://schemas.openxmlformats.org/drawingml/2006/table">
            <a:tbl>
              <a:tblPr firstRow="1" bandRow="1">
                <a:tableStyleId>{5C22544A-7EE6-4342-B048-85BDC9FD1C3A}</a:tableStyleId>
              </a:tblPr>
              <a:tblGrid>
                <a:gridCol w="365760"/>
                <a:gridCol w="2377440"/>
                <a:gridCol w="6035040"/>
                <a:gridCol w="1097280"/>
                <a:gridCol w="1280160"/>
              </a:tblGrid>
              <a:tr h="713232">
                <a:tc>
                  <a:txBody>
                    <a:bodyPr/>
                    <a:lstStyle/>
                    <a:p>
                      <a:r>
                        <a:rPr sz="1000" b="1">
                          <a:solidFill>
                            <a:srgbClr val="FFFFFF"/>
                          </a:solidFill>
                          <a:latin typeface="Cambria"/>
                        </a:rPr>
                        <a:t>#</a:t>
                      </a:r>
                    </a:p>
                  </a:txBody>
                  <a:tcPr marL="73152" marR="73152" marT="27432" marB="27432">
                    <a:solidFill>
                      <a:srgbClr val="16213D"/>
                    </a:solidFill>
                  </a:tcPr>
                </a:tc>
                <a:tc>
                  <a:txBody>
                    <a:bodyPr/>
                    <a:lstStyle/>
                    <a:p>
                      <a:r>
                        <a:rPr sz="1000" b="1">
                          <a:solidFill>
                            <a:srgbClr val="FFFFFF"/>
                          </a:solidFill>
                          <a:latin typeface="Cambria"/>
                        </a:rPr>
                        <a:t>Fix</a:t>
                      </a:r>
                    </a:p>
                  </a:txBody>
                  <a:tcPr marL="73152" marR="73152" marT="27432" marB="27432">
                    <a:solidFill>
                      <a:srgbClr val="16213D"/>
                    </a:solidFill>
                  </a:tcPr>
                </a:tc>
                <a:tc>
                  <a:txBody>
                    <a:bodyPr/>
                    <a:lstStyle/>
                    <a:p>
                      <a:r>
                        <a:rPr sz="1000" b="1">
                          <a:solidFill>
                            <a:srgbClr val="FFFFFF"/>
                          </a:solidFill>
                          <a:latin typeface="Cambria"/>
                        </a:rPr>
                        <a:t>What it does</a:t>
                      </a:r>
                    </a:p>
                  </a:txBody>
                  <a:tcPr marL="73152" marR="73152" marT="27432" marB="27432">
                    <a:solidFill>
                      <a:srgbClr val="16213D"/>
                    </a:solidFill>
                  </a:tcPr>
                </a:tc>
                <a:tc>
                  <a:txBody>
                    <a:bodyPr/>
                    <a:lstStyle/>
                    <a:p>
                      <a:r>
                        <a:rPr sz="1000" b="1">
                          <a:solidFill>
                            <a:srgbClr val="FFFFFF"/>
                          </a:solidFill>
                          <a:latin typeface="Cambria"/>
                        </a:rPr>
                        <a:t>Effort</a:t>
                      </a:r>
                    </a:p>
                  </a:txBody>
                  <a:tcPr marL="73152" marR="73152" marT="27432" marB="27432">
                    <a:solidFill>
                      <a:srgbClr val="16213D"/>
                    </a:solidFill>
                  </a:tcPr>
                </a:tc>
                <a:tc>
                  <a:txBody>
                    <a:bodyPr/>
                    <a:lstStyle/>
                    <a:p>
                      <a:r>
                        <a:rPr sz="1000" b="1">
                          <a:solidFill>
                            <a:srgbClr val="FFFFFF"/>
                          </a:solidFill>
                          <a:latin typeface="Cambria"/>
                        </a:rPr>
                        <a:t>Owner</a:t>
                      </a:r>
                    </a:p>
                  </a:txBody>
                  <a:tcPr marL="73152" marR="73152" marT="27432" marB="27432">
                    <a:solidFill>
                      <a:srgbClr val="16213D"/>
                    </a:solidFill>
                  </a:tcPr>
                </a:tc>
              </a:tr>
              <a:tr h="713232">
                <a:tc>
                  <a:txBody>
                    <a:bodyPr/>
                    <a:lstStyle/>
                    <a:p>
                      <a:r>
                        <a:rPr sz="1000" b="0">
                          <a:solidFill>
                            <a:srgbClr val="222A3F"/>
                          </a:solidFill>
                          <a:latin typeface="Cambria"/>
                        </a:rPr>
                        <a:t>1</a:t>
                      </a:r>
                    </a:p>
                  </a:txBody>
                  <a:tcPr marL="73152" marR="73152" marT="27432" marB="27432">
                    <a:solidFill>
                      <a:srgbClr val="F2F5FA"/>
                    </a:solidFill>
                  </a:tcPr>
                </a:tc>
                <a:tc>
                  <a:txBody>
                    <a:bodyPr/>
                    <a:lstStyle/>
                    <a:p>
                      <a:r>
                        <a:rPr sz="1000" b="0">
                          <a:solidFill>
                            <a:srgbClr val="222A3F"/>
                          </a:solidFill>
                          <a:latin typeface="Cambria"/>
                        </a:rPr>
                        <a:t>Make the defaults OUR configuration</a:t>
                      </a:r>
                    </a:p>
                  </a:txBody>
                  <a:tcPr marL="73152" marR="73152" marT="27432" marB="27432">
                    <a:solidFill>
                      <a:srgbClr val="F2F5FA"/>
                    </a:solidFill>
                  </a:tcPr>
                </a:tc>
                <a:tc>
                  <a:txBody>
                    <a:bodyPr/>
                    <a:lstStyle/>
                    <a:p>
                      <a:r>
                        <a:rPr sz="1000" b="0">
                          <a:solidFill>
                            <a:srgbClr val="222A3F"/>
                          </a:solidFill>
                          <a:latin typeface="Cambria"/>
                        </a:rPr>
                        <a:t>Build Meshtastic from source with userPrefs.jsonc: channel Group9 name + key + precision 32, region US, owner names, role CLIENT_MUTE; one-line patch for Bluetooth No PIN. A revert then restores the intended state instead of the factory one. The key lives only in the private build.</a:t>
                      </a:r>
                    </a:p>
                  </a:txBody>
                  <a:tcPr marL="73152" marR="73152" marT="27432" marB="27432">
                    <a:solidFill>
                      <a:srgbClr val="F2F5FA"/>
                    </a:solidFill>
                  </a:tcPr>
                </a:tc>
                <a:tc>
                  <a:txBody>
                    <a:bodyPr/>
                    <a:lstStyle/>
                    <a:p>
                      <a:r>
                        <a:rPr sz="1000" b="0">
                          <a:solidFill>
                            <a:srgbClr val="222A3F"/>
                          </a:solidFill>
                          <a:latin typeface="Cambria"/>
                        </a:rPr>
                        <a:t>1 day</a:t>
                      </a:r>
                    </a:p>
                  </a:txBody>
                  <a:tcPr marL="73152" marR="73152" marT="27432" marB="27432">
                    <a:solidFill>
                      <a:srgbClr val="F2F5FA"/>
                    </a:solidFill>
                  </a:tcPr>
                </a:tc>
                <a:tc>
                  <a:txBody>
                    <a:bodyPr/>
                    <a:lstStyle/>
                    <a:p>
                      <a:r>
                        <a:rPr sz="1000" b="0">
                          <a:solidFill>
                            <a:srgbClr val="222A3F"/>
                          </a:solidFill>
                          <a:latin typeface="Cambria"/>
                        </a:rPr>
                        <a:t>Deo</a:t>
                      </a:r>
                    </a:p>
                  </a:txBody>
                  <a:tcPr marL="73152" marR="73152" marT="27432" marB="27432">
                    <a:solidFill>
                      <a:srgbClr val="F2F5FA"/>
                    </a:solidFill>
                  </a:tcPr>
                </a:tc>
              </a:tr>
              <a:tr h="713232">
                <a:tc>
                  <a:txBody>
                    <a:bodyPr/>
                    <a:lstStyle/>
                    <a:p>
                      <a:r>
                        <a:rPr sz="1000" b="0">
                          <a:solidFill>
                            <a:srgbClr val="222A3F"/>
                          </a:solidFill>
                          <a:latin typeface="Cambria"/>
                        </a:rPr>
                        <a:t>2</a:t>
                      </a:r>
                    </a:p>
                  </a:txBody>
                  <a:tcPr marL="73152" marR="73152" marT="27432" marB="27432">
                    <a:solidFill>
                      <a:srgbClr val="FFFFFF"/>
                    </a:solidFill>
                  </a:tcPr>
                </a:tc>
                <a:tc>
                  <a:txBody>
                    <a:bodyPr/>
                    <a:lstStyle/>
                    <a:p>
                      <a:r>
                        <a:rPr sz="1000" b="0">
                          <a:solidFill>
                            <a:srgbClr val="222A3F"/>
                          </a:solidFill>
                          <a:latin typeface="Cambria"/>
                        </a:rPr>
                        <a:t>Refuse to write under low voltage</a:t>
                      </a:r>
                    </a:p>
                  </a:txBody>
                  <a:tcPr marL="73152" marR="73152" marT="27432" marB="27432">
                    <a:solidFill>
                      <a:srgbClr val="FFFFFF"/>
                    </a:solidFill>
                  </a:tcPr>
                </a:tc>
                <a:tc>
                  <a:txBody>
                    <a:bodyPr/>
                    <a:lstStyle/>
                    <a:p>
                      <a:r>
                        <a:rPr sz="1000" b="0">
                          <a:solidFill>
                            <a:srgbClr val="222A3F"/>
                          </a:solidFill>
                          <a:latin typeface="Cambria"/>
                        </a:rPr>
                        <a:t>Implement powerHAL_isPowerLevelSafe() for ESP32: return false below 3.5 V on battery with no USB; drop the boot-time device.proto rewrite (metala's proposal in #4555). Offer upstream.</a:t>
                      </a:r>
                    </a:p>
                  </a:txBody>
                  <a:tcPr marL="73152" marR="73152" marT="27432" marB="27432">
                    <a:solidFill>
                      <a:srgbClr val="FFFFFF"/>
                    </a:solidFill>
                  </a:tcPr>
                </a:tc>
                <a:tc>
                  <a:txBody>
                    <a:bodyPr/>
                    <a:lstStyle/>
                    <a:p>
                      <a:r>
                        <a:rPr sz="1000" b="0">
                          <a:solidFill>
                            <a:srgbClr val="222A3F"/>
                          </a:solidFill>
                          <a:latin typeface="Cambria"/>
                        </a:rPr>
                        <a:t>1 day + test</a:t>
                      </a:r>
                    </a:p>
                  </a:txBody>
                  <a:tcPr marL="73152" marR="73152" marT="27432" marB="27432">
                    <a:solidFill>
                      <a:srgbClr val="FFFFFF"/>
                    </a:solidFill>
                  </a:tcPr>
                </a:tc>
                <a:tc>
                  <a:txBody>
                    <a:bodyPr/>
                    <a:lstStyle/>
                    <a:p>
                      <a:r>
                        <a:rPr sz="1000" b="0">
                          <a:solidFill>
                            <a:srgbClr val="222A3F"/>
                          </a:solidFill>
                          <a:latin typeface="Cambria"/>
                        </a:rPr>
                        <a:t>Deo</a:t>
                      </a:r>
                    </a:p>
                  </a:txBody>
                  <a:tcPr marL="73152" marR="73152" marT="27432" marB="27432">
                    <a:solidFill>
                      <a:srgbClr val="FFFFFF"/>
                    </a:solidFill>
                  </a:tcPr>
                </a:tc>
              </a:tr>
              <a:tr h="713232">
                <a:tc>
                  <a:txBody>
                    <a:bodyPr/>
                    <a:lstStyle/>
                    <a:p>
                      <a:r>
                        <a:rPr sz="1000" b="0">
                          <a:solidFill>
                            <a:srgbClr val="222A3F"/>
                          </a:solidFill>
                          <a:latin typeface="Cambria"/>
                        </a:rPr>
                        <a:t>3</a:t>
                      </a:r>
                    </a:p>
                  </a:txBody>
                  <a:tcPr marL="73152" marR="73152" marT="27432" marB="27432">
                    <a:solidFill>
                      <a:srgbClr val="F2F5FA"/>
                    </a:solidFill>
                  </a:tcPr>
                </a:tc>
                <a:tc>
                  <a:txBody>
                    <a:bodyPr/>
                    <a:lstStyle/>
                    <a:p>
                      <a:r>
                        <a:rPr sz="1000" b="0">
                          <a:solidFill>
                            <a:srgbClr val="222A3F"/>
                          </a:solidFill>
                          <a:latin typeface="Cambria"/>
                        </a:rPr>
                        <a:t>Clear the marginal sectors (outcome A confirmed)</a:t>
                      </a:r>
                    </a:p>
                  </a:txBody>
                  <a:tcPr marL="73152" marR="73152" marT="27432" marB="27432">
                    <a:solidFill>
                      <a:srgbClr val="F2F5FA"/>
                    </a:solidFill>
                  </a:tcPr>
                </a:tc>
                <a:tc>
                  <a:txBody>
                    <a:bodyPr/>
                    <a:lstStyle/>
                    <a:p>
                      <a:r>
                        <a:rPr sz="1000" b="0">
                          <a:solidFill>
                            <a:srgbClr val="222A3F"/>
                          </a:solidFill>
                          <a:latin typeface="Cambria"/>
                        </a:rPr>
                        <a:t>One clean erase of the settings partition (0xC90000, 3.4 MB) on USB power, then re-provision from the config snapshot with --configure; re-measure the sector map afterwards. Repeat on RG after its baseline map.</a:t>
                      </a:r>
                    </a:p>
                  </a:txBody>
                  <a:tcPr marL="73152" marR="73152" marT="27432" marB="27432">
                    <a:solidFill>
                      <a:srgbClr val="F2F5FA"/>
                    </a:solidFill>
                  </a:tcPr>
                </a:tc>
                <a:tc>
                  <a:txBody>
                    <a:bodyPr/>
                    <a:lstStyle/>
                    <a:p>
                      <a:r>
                        <a:rPr sz="1000" b="0">
                          <a:solidFill>
                            <a:srgbClr val="222A3F"/>
                          </a:solidFill>
                          <a:latin typeface="Cambria"/>
                        </a:rPr>
                        <a:t>30 minutes per radio</a:t>
                      </a:r>
                    </a:p>
                  </a:txBody>
                  <a:tcPr marL="73152" marR="73152" marT="27432" marB="27432">
                    <a:solidFill>
                      <a:srgbClr val="F2F5FA"/>
                    </a:solidFill>
                  </a:tcPr>
                </a:tc>
                <a:tc>
                  <a:txBody>
                    <a:bodyPr/>
                    <a:lstStyle/>
                    <a:p>
                      <a:r>
                        <a:rPr sz="1000" b="0">
                          <a:solidFill>
                            <a:srgbClr val="222A3F"/>
                          </a:solidFill>
                          <a:latin typeface="Cambria"/>
                        </a:rPr>
                        <a:t>Deo</a:t>
                      </a:r>
                    </a:p>
                  </a:txBody>
                  <a:tcPr marL="73152" marR="73152" marT="27432" marB="27432">
                    <a:solidFill>
                      <a:srgbClr val="F2F5FA"/>
                    </a:solidFill>
                  </a:tcPr>
                </a:tc>
              </a:tr>
              <a:tr h="713232">
                <a:tc>
                  <a:txBody>
                    <a:bodyPr/>
                    <a:lstStyle/>
                    <a:p>
                      <a:r>
                        <a:rPr sz="1000" b="0">
                          <a:solidFill>
                            <a:srgbClr val="222A3F"/>
                          </a:solidFill>
                          <a:latin typeface="Cambria"/>
                        </a:rPr>
                        <a:t>4</a:t>
                      </a:r>
                    </a:p>
                  </a:txBody>
                  <a:tcPr marL="73152" marR="73152" marT="27432" marB="27432">
                    <a:solidFill>
                      <a:srgbClr val="FFFFFF"/>
                    </a:solidFill>
                  </a:tcPr>
                </a:tc>
                <a:tc>
                  <a:txBody>
                    <a:bodyPr/>
                    <a:lstStyle/>
                    <a:p>
                      <a:r>
                        <a:rPr sz="1000" b="0">
                          <a:solidFill>
                            <a:srgbClr val="222A3F"/>
                          </a:solidFill>
                          <a:latin typeface="Cambria"/>
                        </a:rPr>
                        <a:t>Raise the brownout threshold</a:t>
                      </a:r>
                    </a:p>
                  </a:txBody>
                  <a:tcPr marL="73152" marR="73152" marT="27432" marB="27432">
                    <a:solidFill>
                      <a:srgbClr val="FFFFFF"/>
                    </a:solidFill>
                  </a:tcPr>
                </a:tc>
                <a:tc>
                  <a:txBody>
                    <a:bodyPr/>
                    <a:lstStyle/>
                    <a:p>
                      <a:r>
                        <a:rPr sz="1000" b="0">
                          <a:solidFill>
                            <a:srgbClr val="222A3F"/>
                          </a:solidFill>
                          <a:latin typeface="Cambria"/>
                        </a:rPr>
                        <a:t>Rebuild the core with CONFIG_ESP_BROWNOUT_DET_LVL at 2.67 or 2.84 V so the CPU resets before the flash leaves spec. Needs the pioarduino libs rebuilt; validate it does not trip on TX pulses.</a:t>
                      </a:r>
                    </a:p>
                  </a:txBody>
                  <a:tcPr marL="73152" marR="73152" marT="27432" marB="27432">
                    <a:solidFill>
                      <a:srgbClr val="FFFFFF"/>
                    </a:solidFill>
                  </a:tcPr>
                </a:tc>
                <a:tc>
                  <a:txBody>
                    <a:bodyPr/>
                    <a:lstStyle/>
                    <a:p>
                      <a:r>
                        <a:rPr sz="1000" b="0">
                          <a:solidFill>
                            <a:srgbClr val="222A3F"/>
                          </a:solidFill>
                          <a:latin typeface="Cambria"/>
                        </a:rPr>
                        <a:t>2 days</a:t>
                      </a:r>
                    </a:p>
                  </a:txBody>
                  <a:tcPr marL="73152" marR="73152" marT="27432" marB="27432">
                    <a:solidFill>
                      <a:srgbClr val="FFFFFF"/>
                    </a:solidFill>
                  </a:tcPr>
                </a:tc>
                <a:tc>
                  <a:txBody>
                    <a:bodyPr/>
                    <a:lstStyle/>
                    <a:p>
                      <a:r>
                        <a:rPr sz="1000" b="0">
                          <a:solidFill>
                            <a:srgbClr val="222A3F"/>
                          </a:solidFill>
                          <a:latin typeface="Cambria"/>
                        </a:rPr>
                        <a:t>Victor</a:t>
                      </a:r>
                    </a:p>
                  </a:txBody>
                  <a:tcPr marL="73152" marR="73152" marT="27432" marB="27432">
                    <a:solidFill>
                      <a:srgbClr val="FFFFFF"/>
                    </a:solidFill>
                  </a:tcPr>
                </a:tc>
              </a:tr>
              <a:tr h="713232">
                <a:tc>
                  <a:txBody>
                    <a:bodyPr/>
                    <a:lstStyle/>
                    <a:p>
                      <a:r>
                        <a:rPr sz="1000" b="0">
                          <a:solidFill>
                            <a:srgbClr val="222A3F"/>
                          </a:solidFill>
                          <a:latin typeface="Cambria"/>
                        </a:rPr>
                        <a:t>5</a:t>
                      </a:r>
                    </a:p>
                  </a:txBody>
                  <a:tcPr marL="73152" marR="73152" marT="27432" marB="27432">
                    <a:solidFill>
                      <a:srgbClr val="F2F5FA"/>
                    </a:solidFill>
                  </a:tcPr>
                </a:tc>
                <a:tc>
                  <a:txBody>
                    <a:bodyPr/>
                    <a:lstStyle/>
                    <a:p>
                      <a:r>
                        <a:rPr sz="1000" b="0">
                          <a:solidFill>
                            <a:srgbClr val="222A3F"/>
                          </a:solidFill>
                          <a:latin typeface="Cambria"/>
                        </a:rPr>
                        <a:t>Operations, already in force</a:t>
                      </a:r>
                    </a:p>
                  </a:txBody>
                  <a:tcPr marL="73152" marR="73152" marT="27432" marB="27432">
                    <a:solidFill>
                      <a:srgbClr val="F2F5FA"/>
                    </a:solidFill>
                  </a:tcPr>
                </a:tc>
                <a:tc>
                  <a:txBody>
                    <a:bodyPr/>
                    <a:lstStyle/>
                    <a:p>
                      <a:r>
                        <a:rPr sz="1000" b="0">
                          <a:solidFill>
                            <a:srgbClr val="222A3F"/>
                          </a:solidFill>
                          <a:latin typeface="Cambria"/>
                        </a:rPr>
                        <a:t>Never store a radio flat; OLED pre-flight (912.875); config snapshots with --configure; phone-QR recovery (User Guide 12).</a:t>
                      </a:r>
                    </a:p>
                  </a:txBody>
                  <a:tcPr marL="73152" marR="73152" marT="27432" marB="27432">
                    <a:solidFill>
                      <a:srgbClr val="F2F5FA"/>
                    </a:solidFill>
                  </a:tcPr>
                </a:tc>
                <a:tc>
                  <a:txBody>
                    <a:bodyPr/>
                    <a:lstStyle/>
                    <a:p>
                      <a:r>
                        <a:rPr sz="1000" b="0">
                          <a:solidFill>
                            <a:srgbClr val="222A3F"/>
                          </a:solidFill>
                          <a:latin typeface="Cambria"/>
                        </a:rPr>
                        <a:t>done</a:t>
                      </a:r>
                    </a:p>
                  </a:txBody>
                  <a:tcPr marL="73152" marR="73152" marT="27432" marB="27432">
                    <a:solidFill>
                      <a:srgbClr val="F2F5FA"/>
                    </a:solidFill>
                  </a:tcPr>
                </a:tc>
                <a:tc>
                  <a:txBody>
                    <a:bodyPr/>
                    <a:lstStyle/>
                    <a:p>
                      <a:r>
                        <a:rPr sz="1000" b="0">
                          <a:solidFill>
                            <a:srgbClr val="222A3F"/>
                          </a:solidFill>
                          <a:latin typeface="Cambria"/>
                        </a:rPr>
                        <a:t>all</a:t>
                      </a:r>
                    </a:p>
                  </a:txBody>
                  <a:tcPr marL="73152" marR="73152" marT="27432" marB="27432">
                    <a:solidFill>
                      <a:srgbClr val="F2F5F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IV - THE FIX</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16/18  REV A  2026-10-27</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FIX 1: A REVERT THAT RESTORES OUR SETTINGS</a:t>
            </a:r>
          </a:p>
        </p:txBody>
      </p:sp>
      <p:sp>
        <p:nvSpPr>
          <p:cNvPr id="10" name="Rectangle 9"/>
          <p:cNvSpPr/>
          <p:nvPr/>
        </p:nvSpPr>
        <p:spPr>
          <a:xfrm>
            <a:off x="502920" y="1188720"/>
            <a:ext cx="6583680" cy="3017520"/>
          </a:xfrm>
          <a:prstGeom prst="rect">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280160"/>
            <a:ext cx="6254496" cy="274320"/>
          </a:xfrm>
          <a:prstGeom prst="rect">
            <a:avLst/>
          </a:prstGeom>
          <a:noFill/>
        </p:spPr>
        <p:txBody>
          <a:bodyPr wrap="square" lIns="0" rIns="0" tIns="0" bIns="0">
            <a:spAutoFit/>
          </a:bodyPr>
          <a:lstStyle/>
          <a:p>
            <a:pPr algn="l"/>
            <a:r>
              <a:rPr sz="1000" b="1" i="0">
                <a:solidFill>
                  <a:srgbClr val="E58E1A"/>
                </a:solidFill>
                <a:latin typeface="Courier New"/>
              </a:rPr>
              <a:t>userPrefs.jsonc (private repo only; values illustrative, key redacted)</a:t>
            </a:r>
          </a:p>
        </p:txBody>
      </p:sp>
      <p:sp>
        <p:nvSpPr>
          <p:cNvPr id="12" name="TextBox 11"/>
          <p:cNvSpPr txBox="1"/>
          <p:nvPr/>
        </p:nvSpPr>
        <p:spPr>
          <a:xfrm>
            <a:off x="667512" y="1572768"/>
            <a:ext cx="6254496" cy="2560320"/>
          </a:xfrm>
          <a:prstGeom prst="rect">
            <a:avLst/>
          </a:prstGeom>
          <a:noFill/>
        </p:spPr>
        <p:txBody>
          <a:bodyPr wrap="square" lIns="0" rIns="0" tIns="0" bIns="0">
            <a:spAutoFit/>
          </a:bodyPr>
          <a:lstStyle/>
          <a:p>
            <a:r>
              <a:rPr sz="1000">
                <a:solidFill>
                  <a:srgbClr val="C9D8F0"/>
                </a:solidFill>
                <a:latin typeface="Courier New"/>
              </a:rPr>
              <a:t>"USERPREFS_CHANNELS_TO_WRITE": 1,</a:t>
            </a:r>
          </a:p>
          <a:p>
            <a:r>
              <a:rPr sz="1000">
                <a:solidFill>
                  <a:srgbClr val="C9D8F0"/>
                </a:solidFill>
                <a:latin typeface="Courier New"/>
              </a:rPr>
              <a:t>"USERPREFS_CHANNEL_0_NAME": "Group9",</a:t>
            </a:r>
          </a:p>
          <a:p>
            <a:r>
              <a:rPr sz="1000">
                <a:solidFill>
                  <a:srgbClr val="C9D8F0"/>
                </a:solidFill>
                <a:latin typeface="Courier New"/>
              </a:rPr>
              <a:t>"USERPREFS_CHANNEL_0_PRECISION": 32,</a:t>
            </a:r>
          </a:p>
          <a:p>
            <a:r>
              <a:rPr sz="1000">
                <a:solidFill>
                  <a:srgbClr val="FF9AA8"/>
                </a:solidFill>
                <a:latin typeface="Courier New"/>
              </a:rPr>
              <a:t>"USERPREFS_CHANNEL_0_PSK": "{ 0x.., 0x.., ... 32 bytes }",</a:t>
            </a:r>
          </a:p>
          <a:p>
            <a:r>
              <a:rPr sz="1000">
                <a:solidFill>
                  <a:srgbClr val="C9D8F0"/>
                </a:solidFill>
                <a:latin typeface="Courier New"/>
              </a:rPr>
              <a:t>"USERPREFS_CONFIG_LORA_REGION": "meshtastic_Config_LoRaConfig_RegionCode_US",</a:t>
            </a:r>
          </a:p>
          <a:p>
            <a:r>
              <a:rPr sz="1000">
                <a:solidFill>
                  <a:srgbClr val="C9D8F0"/>
                </a:solidFill>
                <a:latin typeface="Courier New"/>
              </a:rPr>
              <a:t>"USERPREFS_CONFIG_OWNER_LONG_NAME": "SF",   "USERPREFS_CONFIG_OWNER_SHORT_NAME": "SF",</a:t>
            </a:r>
          </a:p>
          <a:p>
            <a:r>
              <a:rPr sz="1000">
                <a:solidFill>
                  <a:srgbClr val="C9D8F0"/>
                </a:solidFill>
                <a:latin typeface="Courier New"/>
              </a:rPr>
              <a:t>"USERPREFS_CONFIG_DEVICE_ROLE": "meshtastic_Config_DeviceConfig_Role_CLIENT_MUTE",</a:t>
            </a:r>
          </a:p>
          <a:p>
            <a:r>
              <a:rPr sz="1000">
                <a:solidFill>
                  <a:srgbClr val="C9D8F0"/>
                </a:solidFill>
                <a:latin typeface="Courier New"/>
              </a:rPr>
              <a:t>"USERPREFS_CONFIG_GPS_UPDATE_INTERVAL": 10,  "USERPREFS_CONFIG_POSITION_BROADCAST_INTERVAL": 60,</a:t>
            </a:r>
          </a:p>
          <a:p>
            <a:r>
              <a:rPr sz="1000">
                <a:solidFill>
                  <a:srgbClr val="E58E1A"/>
                </a:solidFill>
                <a:latin typeface="Courier New"/>
              </a:rPr>
              <a:t>// NodeDB.cpp installDefaultConfig(): bluetooth.mode = NO_PIN   (one-line patch)</a:t>
            </a:r>
          </a:p>
        </p:txBody>
      </p:sp>
      <p:sp>
        <p:nvSpPr>
          <p:cNvPr id="13" name="Rectangle 12"/>
          <p:cNvSpPr/>
          <p:nvPr/>
        </p:nvSpPr>
        <p:spPr>
          <a:xfrm>
            <a:off x="7269480" y="1188720"/>
            <a:ext cx="4389120" cy="301752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34072" y="1307592"/>
            <a:ext cx="4059935" cy="2779776"/>
          </a:xfrm>
          <a:prstGeom prst="rect">
            <a:avLst/>
          </a:prstGeom>
          <a:noFill/>
        </p:spPr>
        <p:txBody>
          <a:bodyPr wrap="square" lIns="0" rIns="0" tIns="0" bIns="0">
            <a:spAutoFit/>
          </a:bodyPr>
          <a:lstStyle/>
          <a:p>
            <a:r>
              <a:rPr sz="1300" b="1" spc="100">
                <a:solidFill>
                  <a:srgbClr val="1F9D68"/>
                </a:solidFill>
                <a:latin typeface="Cambria"/>
              </a:rPr>
              <a:t>WHY THIS IS THE HIGHEST-LEVERAGE CHANGE</a:t>
            </a:r>
          </a:p>
          <a:p>
            <a:r>
              <a:rPr sz="1150">
                <a:solidFill>
                  <a:srgbClr val="222A3F"/>
                </a:solidFill>
                <a:latin typeface="Cambria"/>
              </a:rPr>
              <a:t>Every mechanism on sheets 4 to 7 ends the same way: installDefault*(). Today that means the public frequency, a random PIN and a nameless radio. With the defaults set to our configuration, the same code path puts the radio back on 912.875 MHz with the right key, name and role. The failure still happens; nobody notices. Each radio gets its own build (SF / RG names), flashed once with the fleet procedure in the manual.</a:t>
            </a:r>
          </a:p>
        </p:txBody>
      </p:sp>
      <p:sp>
        <p:nvSpPr>
          <p:cNvPr id="15" name="Rectangle 14"/>
          <p:cNvSpPr/>
          <p:nvPr/>
        </p:nvSpPr>
        <p:spPr>
          <a:xfrm>
            <a:off x="502920" y="4434840"/>
            <a:ext cx="11155680" cy="155448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4553712"/>
            <a:ext cx="10826496" cy="1316736"/>
          </a:xfrm>
          <a:prstGeom prst="rect">
            <a:avLst/>
          </a:prstGeom>
          <a:noFill/>
        </p:spPr>
        <p:txBody>
          <a:bodyPr wrap="square" lIns="0" rIns="0" tIns="0" bIns="0">
            <a:spAutoFit/>
          </a:bodyPr>
          <a:lstStyle/>
          <a:p>
            <a:r>
              <a:rPr sz="1300" b="1" spc="100">
                <a:solidFill>
                  <a:srgbClr val="16213D"/>
                </a:solidFill>
                <a:latin typeface="Cambria"/>
              </a:rPr>
              <a:t>ACCEPTANCE TEST</a:t>
            </a:r>
          </a:p>
          <a:p>
            <a:r>
              <a:rPr sz="1200">
                <a:solidFill>
                  <a:srgbClr val="222A3F"/>
                </a:solidFill>
                <a:latin typeface="Cambria"/>
              </a:rPr>
              <a:t>Flash the build, provision nothing, power on: the radio must come up on Group9 at 912.875 MHz, CLIENT_MUTE, No PIN, named SF, and link to a display with no commands issued. Then delete /prefs over the CLI (meshtastic --factory-reset) and confirm it comes back identical. That is the proof that a future revert is harmless.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IV - THE FIX</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17/18  REV A  2026-10-27</a:t>
            </a:r>
          </a:p>
        </p:txBody>
      </p:sp>
      <p:sp>
        <p:nvSpPr>
          <p:cNvPr id="7" name="Rectangle 6"/>
          <p:cNvSpPr/>
          <p:nvPr/>
        </p:nvSpPr>
        <p:spPr>
          <a:xfrm>
            <a:off x="9646920" y="347472"/>
            <a:ext cx="2148840" cy="420624"/>
          </a:xfrm>
          <a:prstGeom prst="rect">
            <a:avLst/>
          </a:prstGeom>
          <a:solidFill>
            <a:srgbClr val="FFFFFF"/>
          </a:solidFill>
          <a:ln w="19050">
            <a:solidFill>
              <a:srgbClr val="D948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D9488C"/>
                </a:solidFill>
                <a:latin typeface="Courier New"/>
              </a:rPr>
              <a:t>OWNER: CANNON</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HOW WE WILL PROVE THE FIX</a:t>
            </a:r>
          </a:p>
        </p:txBody>
      </p:sp>
      <p:graphicFrame>
        <p:nvGraphicFramePr>
          <p:cNvPr id="10" name="Table 9"/>
          <p:cNvGraphicFramePr>
            <a:graphicFrameLocks noGrp="1"/>
          </p:cNvGraphicFramePr>
          <p:nvPr/>
        </p:nvGraphicFramePr>
        <p:xfrm>
          <a:off x="502920" y="1188720"/>
          <a:ext cx="11155680" cy="3584448"/>
        </p:xfrm>
        <a:graphic>
          <a:graphicData uri="http://schemas.openxmlformats.org/drawingml/2006/table">
            <a:tbl>
              <a:tblPr firstRow="1" bandRow="1">
                <a:tableStyleId>{5C22544A-7EE6-4342-B048-85BDC9FD1C3A}</a:tableStyleId>
              </a:tblPr>
              <a:tblGrid>
                <a:gridCol w="548640"/>
                <a:gridCol w="6583680"/>
                <a:gridCol w="4023360"/>
              </a:tblGrid>
              <a:tr h="512064">
                <a:tc>
                  <a:txBody>
                    <a:bodyPr/>
                    <a:lstStyle/>
                    <a:p>
                      <a:r>
                        <a:rPr sz="1050" b="1">
                          <a:solidFill>
                            <a:srgbClr val="FFFFFF"/>
                          </a:solidFill>
                          <a:latin typeface="Cambria"/>
                        </a:rPr>
                        <a:t>Step</a:t>
                      </a:r>
                    </a:p>
                  </a:txBody>
                  <a:tcPr marL="73152" marR="73152" marT="27432" marB="27432">
                    <a:solidFill>
                      <a:srgbClr val="16213D"/>
                    </a:solidFill>
                  </a:tcPr>
                </a:tc>
                <a:tc>
                  <a:txBody>
                    <a:bodyPr/>
                    <a:lstStyle/>
                    <a:p>
                      <a:r>
                        <a:rPr sz="1050" b="1">
                          <a:solidFill>
                            <a:srgbClr val="FFFFFF"/>
                          </a:solidFill>
                          <a:latin typeface="Cambria"/>
                        </a:rPr>
                        <a:t>Procedure</a:t>
                      </a:r>
                    </a:p>
                  </a:txBody>
                  <a:tcPr marL="73152" marR="73152" marT="27432" marB="27432">
                    <a:solidFill>
                      <a:srgbClr val="16213D"/>
                    </a:solidFill>
                  </a:tcPr>
                </a:tc>
                <a:tc>
                  <a:txBody>
                    <a:bodyPr/>
                    <a:lstStyle/>
                    <a:p>
                      <a:r>
                        <a:rPr sz="1050" b="1">
                          <a:solidFill>
                            <a:srgbClr val="FFFFFF"/>
                          </a:solidFill>
                          <a:latin typeface="Cambria"/>
                        </a:rPr>
                        <a:t>Pass criterion</a:t>
                      </a:r>
                    </a:p>
                  </a:txBody>
                  <a:tcPr marL="73152" marR="73152" marT="27432" marB="27432">
                    <a:solidFill>
                      <a:srgbClr val="16213D"/>
                    </a:solidFill>
                  </a:tcPr>
                </a:tc>
              </a:tr>
              <a:tr h="512064">
                <a:tc>
                  <a:txBody>
                    <a:bodyPr/>
                    <a:lstStyle/>
                    <a:p>
                      <a:r>
                        <a:rPr sz="1050" b="0">
                          <a:solidFill>
                            <a:srgbClr val="222A3F"/>
                          </a:solidFill>
                          <a:latin typeface="Cambria"/>
                        </a:rPr>
                        <a:t>1</a:t>
                      </a:r>
                    </a:p>
                  </a:txBody>
                  <a:tcPr marL="73152" marR="73152" marT="27432" marB="27432">
                    <a:solidFill>
                      <a:srgbClr val="F2F5FA"/>
                    </a:solidFill>
                  </a:tcPr>
                </a:tc>
                <a:tc>
                  <a:txBody>
                    <a:bodyPr/>
                    <a:lstStyle/>
                    <a:p>
                      <a:r>
                        <a:rPr sz="1050" b="0">
                          <a:solidFill>
                            <a:srgbClr val="222A3F"/>
                          </a:solidFill>
                          <a:latin typeface="Cambria"/>
                        </a:rPr>
                        <a:t>Baseline flash map on both radios (today's method), archived</a:t>
                      </a:r>
                    </a:p>
                  </a:txBody>
                  <a:tcPr marL="73152" marR="73152" marT="27432" marB="27432">
                    <a:solidFill>
                      <a:srgbClr val="F2F5FA"/>
                    </a:solidFill>
                  </a:tcPr>
                </a:tc>
                <a:tc>
                  <a:txBody>
                    <a:bodyPr/>
                    <a:lstStyle/>
                    <a:p>
                      <a:r>
                        <a:rPr sz="1050" b="0">
                          <a:solidFill>
                            <a:srgbClr val="222A3F"/>
                          </a:solidFill>
                          <a:latin typeface="Cambria"/>
                        </a:rPr>
                        <a:t>RG map recorded; SF map as on sheet 10</a:t>
                      </a:r>
                    </a:p>
                  </a:txBody>
                  <a:tcPr marL="73152" marR="73152" marT="27432" marB="27432">
                    <a:solidFill>
                      <a:srgbClr val="F2F5FA"/>
                    </a:solidFill>
                  </a:tcPr>
                </a:tc>
              </a:tr>
              <a:tr h="512064">
                <a:tc>
                  <a:txBody>
                    <a:bodyPr/>
                    <a:lstStyle/>
                    <a:p>
                      <a:r>
                        <a:rPr sz="1050" b="0">
                          <a:solidFill>
                            <a:srgbClr val="222A3F"/>
                          </a:solidFill>
                          <a:latin typeface="Cambria"/>
                        </a:rPr>
                        <a:t>2</a:t>
                      </a:r>
                    </a:p>
                  </a:txBody>
                  <a:tcPr marL="73152" marR="73152" marT="27432" marB="27432">
                    <a:solidFill>
                      <a:srgbClr val="FFFFFF"/>
                    </a:solidFill>
                  </a:tcPr>
                </a:tc>
                <a:tc>
                  <a:txBody>
                    <a:bodyPr/>
                    <a:lstStyle/>
                    <a:p>
                      <a:r>
                        <a:rPr sz="1050" b="0">
                          <a:solidFill>
                            <a:srgbClr val="222A3F"/>
                          </a:solidFill>
                          <a:latin typeface="Cambria"/>
                        </a:rPr>
                        <a:t>Decisive sector test on SF (sheet 13): done 2026-10-27</a:t>
                      </a:r>
                    </a:p>
                  </a:txBody>
                  <a:tcPr marL="73152" marR="73152" marT="27432" marB="27432">
                    <a:solidFill>
                      <a:srgbClr val="FFFFFF"/>
                    </a:solidFill>
                  </a:tcPr>
                </a:tc>
                <a:tc>
                  <a:txBody>
                    <a:bodyPr/>
                    <a:lstStyle/>
                    <a:p>
                      <a:r>
                        <a:rPr sz="1050" b="0">
                          <a:solidFill>
                            <a:srgbClr val="222A3F"/>
                          </a:solidFill>
                          <a:latin typeface="Cambria"/>
                        </a:rPr>
                        <a:t>Outcome A: cells healthy after rewrite; fix 3 = clean erase</a:t>
                      </a:r>
                    </a:p>
                  </a:txBody>
                  <a:tcPr marL="73152" marR="73152" marT="27432" marB="27432">
                    <a:solidFill>
                      <a:srgbClr val="FFFFFF"/>
                    </a:solidFill>
                  </a:tcPr>
                </a:tc>
              </a:tr>
              <a:tr h="512064">
                <a:tc>
                  <a:txBody>
                    <a:bodyPr/>
                    <a:lstStyle/>
                    <a:p>
                      <a:r>
                        <a:rPr sz="1050" b="0">
                          <a:solidFill>
                            <a:srgbClr val="222A3F"/>
                          </a:solidFill>
                          <a:latin typeface="Cambria"/>
                        </a:rPr>
                        <a:t>3</a:t>
                      </a:r>
                    </a:p>
                  </a:txBody>
                  <a:tcPr marL="73152" marR="73152" marT="27432" marB="27432">
                    <a:solidFill>
                      <a:srgbClr val="F2F5FA"/>
                    </a:solidFill>
                  </a:tcPr>
                </a:tc>
                <a:tc>
                  <a:txBody>
                    <a:bodyPr/>
                    <a:lstStyle/>
                    <a:p>
                      <a:r>
                        <a:rPr sz="1050" b="0">
                          <a:solidFill>
                            <a:srgbClr val="222A3F"/>
                          </a:solidFill>
                          <a:latin typeface="Cambria"/>
                        </a:rPr>
                        <a:t>Flash fix 1 (+2) builds; acceptance test on each radio</a:t>
                      </a:r>
                    </a:p>
                  </a:txBody>
                  <a:tcPr marL="73152" marR="73152" marT="27432" marB="27432">
                    <a:solidFill>
                      <a:srgbClr val="F2F5FA"/>
                    </a:solidFill>
                  </a:tcPr>
                </a:tc>
                <a:tc>
                  <a:txBody>
                    <a:bodyPr/>
                    <a:lstStyle/>
                    <a:p>
                      <a:r>
                        <a:rPr sz="1050" b="0">
                          <a:solidFill>
                            <a:srgbClr val="222A3F"/>
                          </a:solidFill>
                          <a:latin typeface="Cambria"/>
                        </a:rPr>
                        <a:t>Correct configuration with zero provisioning commands</a:t>
                      </a:r>
                    </a:p>
                  </a:txBody>
                  <a:tcPr marL="73152" marR="73152" marT="27432" marB="27432">
                    <a:solidFill>
                      <a:srgbClr val="F2F5FA"/>
                    </a:solidFill>
                  </a:tcPr>
                </a:tc>
              </a:tr>
              <a:tr h="512064">
                <a:tc>
                  <a:txBody>
                    <a:bodyPr/>
                    <a:lstStyle/>
                    <a:p>
                      <a:r>
                        <a:rPr sz="1050" b="0">
                          <a:solidFill>
                            <a:srgbClr val="222A3F"/>
                          </a:solidFill>
                          <a:latin typeface="Cambria"/>
                        </a:rPr>
                        <a:t>4</a:t>
                      </a:r>
                    </a:p>
                  </a:txBody>
                  <a:tcPr marL="73152" marR="73152" marT="27432" marB="27432">
                    <a:solidFill>
                      <a:srgbClr val="FFFFFF"/>
                    </a:solidFill>
                  </a:tcPr>
                </a:tc>
                <a:tc>
                  <a:txBody>
                    <a:bodyPr/>
                    <a:lstStyle/>
                    <a:p>
                      <a:r>
                        <a:rPr sz="1050" b="0">
                          <a:solidFill>
                            <a:srgbClr val="222A3F"/>
                          </a:solidFill>
                          <a:latin typeface="Cambria"/>
                        </a:rPr>
                        <a:t>Deliberate flat-battery campaign: run each radio to shutdown 5 times, recharge, boot, read config and flash map each cycle</a:t>
                      </a:r>
                    </a:p>
                  </a:txBody>
                  <a:tcPr marL="73152" marR="73152" marT="27432" marB="27432">
                    <a:solidFill>
                      <a:srgbClr val="FFFFFF"/>
                    </a:solidFill>
                  </a:tcPr>
                </a:tc>
                <a:tc>
                  <a:txBody>
                    <a:bodyPr/>
                    <a:lstStyle/>
                    <a:p>
                      <a:r>
                        <a:rPr sz="1050" b="0">
                          <a:solidFill>
                            <a:srgbClr val="222A3F"/>
                          </a:solidFill>
                          <a:latin typeface="Cambria"/>
                        </a:rPr>
                        <a:t>0 of 10 cycles lose configuration; no new unstable sectors</a:t>
                      </a:r>
                    </a:p>
                  </a:txBody>
                  <a:tcPr marL="73152" marR="73152" marT="27432" marB="27432">
                    <a:solidFill>
                      <a:srgbClr val="FFFFFF"/>
                    </a:solidFill>
                  </a:tcPr>
                </a:tc>
              </a:tr>
              <a:tr h="512064">
                <a:tc>
                  <a:txBody>
                    <a:bodyPr/>
                    <a:lstStyle/>
                    <a:p>
                      <a:r>
                        <a:rPr sz="1050" b="0">
                          <a:solidFill>
                            <a:srgbClr val="222A3F"/>
                          </a:solidFill>
                          <a:latin typeface="Cambria"/>
                        </a:rPr>
                        <a:t>5</a:t>
                      </a:r>
                    </a:p>
                  </a:txBody>
                  <a:tcPr marL="73152" marR="73152" marT="27432" marB="27432">
                    <a:solidFill>
                      <a:srgbClr val="F2F5FA"/>
                    </a:solidFill>
                  </a:tcPr>
                </a:tc>
                <a:tc>
                  <a:txBody>
                    <a:bodyPr/>
                    <a:lstStyle/>
                    <a:p>
                      <a:r>
                        <a:rPr sz="1050" b="0">
                          <a:solidFill>
                            <a:srgbClr val="222A3F"/>
                          </a:solidFill>
                          <a:latin typeface="Cambria"/>
                        </a:rPr>
                        <a:t>Rail capture: oscilloscope on the 3V3 pin during a TX burst at 3.4 V cell voltage</a:t>
                      </a:r>
                    </a:p>
                  </a:txBody>
                  <a:tcPr marL="73152" marR="73152" marT="27432" marB="27432">
                    <a:solidFill>
                      <a:srgbClr val="F2F5FA"/>
                    </a:solidFill>
                  </a:tcPr>
                </a:tc>
                <a:tc>
                  <a:txBody>
                    <a:bodyPr/>
                    <a:lstStyle/>
                    <a:p>
                      <a:r>
                        <a:rPr sz="1050" b="0">
                          <a:solidFill>
                            <a:srgbClr val="222A3F"/>
                          </a:solidFill>
                          <a:latin typeface="Cambria"/>
                        </a:rPr>
                        <a:t>Minimum rail voltage recorded; confirms or refutes the 2.7 V excursion</a:t>
                      </a:r>
                    </a:p>
                  </a:txBody>
                  <a:tcPr marL="73152" marR="73152" marT="27432" marB="27432">
                    <a:solidFill>
                      <a:srgbClr val="F2F5FA"/>
                    </a:solidFill>
                  </a:tcPr>
                </a:tc>
              </a:tr>
              <a:tr h="512064">
                <a:tc>
                  <a:txBody>
                    <a:bodyPr/>
                    <a:lstStyle/>
                    <a:p>
                      <a:r>
                        <a:rPr sz="1050" b="0">
                          <a:solidFill>
                            <a:srgbClr val="222A3F"/>
                          </a:solidFill>
                          <a:latin typeface="Cambria"/>
                        </a:rPr>
                        <a:t>6</a:t>
                      </a:r>
                    </a:p>
                  </a:txBody>
                  <a:tcPr marL="73152" marR="73152" marT="27432" marB="27432">
                    <a:solidFill>
                      <a:srgbClr val="FFFFFF"/>
                    </a:solidFill>
                  </a:tcPr>
                </a:tc>
                <a:tc>
                  <a:txBody>
                    <a:bodyPr/>
                    <a:lstStyle/>
                    <a:p>
                      <a:r>
                        <a:rPr sz="1050" b="0">
                          <a:solidFill>
                            <a:srgbClr val="222A3F"/>
                          </a:solidFill>
                          <a:latin typeface="Cambria"/>
                        </a:rPr>
                        <a:t>Documents: manual section 16 entry 2 rewritten with the mechanism; User Guide 12 kept as the operator recovery</a:t>
                      </a:r>
                    </a:p>
                  </a:txBody>
                  <a:tcPr marL="73152" marR="73152" marT="27432" marB="27432">
                    <a:solidFill>
                      <a:srgbClr val="FFFFFF"/>
                    </a:solidFill>
                  </a:tcPr>
                </a:tc>
                <a:tc>
                  <a:txBody>
                    <a:bodyPr/>
                    <a:lstStyle/>
                    <a:p>
                      <a:r>
                        <a:rPr sz="1050" b="0">
                          <a:solidFill>
                            <a:srgbClr val="222A3F"/>
                          </a:solidFill>
                          <a:latin typeface="Cambria"/>
                        </a:rPr>
                        <a:t>Both rebuilt and pushed</a:t>
                      </a:r>
                    </a:p>
                  </a:txBody>
                  <a:tcPr marL="73152" marR="73152" marT="27432" marB="27432">
                    <a:solidFill>
                      <a:srgbClr val="FFFFFF"/>
                    </a:solidFill>
                  </a:tcPr>
                </a:tc>
              </a:tr>
            </a:tbl>
          </a:graphicData>
        </a:graphic>
      </p:graphicFrame>
      <p:sp>
        <p:nvSpPr>
          <p:cNvPr id="11" name="Rectangle 10"/>
          <p:cNvSpPr/>
          <p:nvPr/>
        </p:nvSpPr>
        <p:spPr>
          <a:xfrm>
            <a:off x="502920" y="5029200"/>
            <a:ext cx="11155680" cy="96012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5148072"/>
            <a:ext cx="10826496" cy="722376"/>
          </a:xfrm>
          <a:prstGeom prst="rect">
            <a:avLst/>
          </a:prstGeom>
          <a:noFill/>
        </p:spPr>
        <p:txBody>
          <a:bodyPr wrap="square" lIns="0" rIns="0" tIns="0" bIns="0">
            <a:spAutoFit/>
          </a:bodyPr>
          <a:lstStyle/>
          <a:p>
            <a:r>
              <a:rPr sz="1300" b="1" spc="100">
                <a:solidFill>
                  <a:srgbClr val="16213D"/>
                </a:solidFill>
                <a:latin typeface="Cambria"/>
              </a:rPr>
              <a:t>WHAT THIS COSTS</a:t>
            </a:r>
          </a:p>
          <a:p>
            <a:r>
              <a:rPr sz="1200">
                <a:solidFill>
                  <a:srgbClr val="222A3F"/>
                </a:solidFill>
                <a:latin typeface="Cambria"/>
              </a:rPr>
              <a:t>About a week of Deo's time for the firmware builds and the campaign, one afternoon of Victor's for the rail capture, and no new hardware. The result is a radio whose worst case after a dead battery is the configuration we wanted anyway.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IV - THE FIX</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18/18  REV A  2026-10-27</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ANSWER</a:t>
            </a:r>
          </a:p>
        </p:txBody>
      </p:sp>
      <p:sp>
        <p:nvSpPr>
          <p:cNvPr id="8" name="Rectangle 7"/>
          <p:cNvSpPr/>
          <p:nvPr/>
        </p:nvSpPr>
        <p:spPr>
          <a:xfrm>
            <a:off x="502920" y="1234440"/>
            <a:ext cx="11155680" cy="210312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353312"/>
            <a:ext cx="10826496" cy="1865376"/>
          </a:xfrm>
          <a:prstGeom prst="rect">
            <a:avLst/>
          </a:prstGeom>
          <a:noFill/>
        </p:spPr>
        <p:txBody>
          <a:bodyPr wrap="square" lIns="0" rIns="0" tIns="0" bIns="0">
            <a:spAutoFit/>
          </a:bodyPr>
          <a:lstStyle/>
          <a:p>
            <a:r>
              <a:rPr sz="1500" b="1" spc="100">
                <a:solidFill>
                  <a:srgbClr val="16213D"/>
                </a:solidFill>
                <a:latin typeface="Cambria"/>
              </a:rPr>
              <a:t>IS IT THE MEMORY ITSELF?</a:t>
            </a:r>
          </a:p>
          <a:p>
            <a:r>
              <a:rPr sz="1300">
                <a:solidFill>
                  <a:srgbClr val="222A3F"/>
                </a:solidFill>
                <a:latin typeface="Cambria"/>
              </a:rPr>
              <a:t>Partly, and measurably, but not in the way the question implies. SF's settings partition held 21 sectors (12 heavily) whose cells did not return a definite value, while the program partition, NVS and bootloader were perfectly stable. Erasing and reprogramming those sectors under a healthy supply made them perfect again: the silicon is sound and not worn. The cells had been left half-written by operations completed while the supply was below the flash's 2.7 V minimum but above the 2.44 V reset point, a window the firmware never checks before writing and then punishes by installing factory defaults.</a:t>
            </a:r>
          </a:p>
        </p:txBody>
      </p:sp>
      <p:sp>
        <p:nvSpPr>
          <p:cNvPr id="10" name="Rectangle 9"/>
          <p:cNvSpPr/>
          <p:nvPr/>
        </p:nvSpPr>
        <p:spPr>
          <a:xfrm>
            <a:off x="502920" y="3566160"/>
            <a:ext cx="2788920" cy="1920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703320"/>
            <a:ext cx="2788920" cy="731520"/>
          </a:xfrm>
          <a:prstGeom prst="rect">
            <a:avLst/>
          </a:prstGeom>
          <a:noFill/>
        </p:spPr>
        <p:txBody>
          <a:bodyPr wrap="square" lIns="0" rIns="0" tIns="0" bIns="0">
            <a:spAutoFit/>
          </a:bodyPr>
          <a:lstStyle/>
          <a:p>
            <a:pPr algn="ctr"/>
            <a:r>
              <a:rPr sz="3000" b="1" i="0">
                <a:solidFill>
                  <a:srgbClr val="E58E1A"/>
                </a:solidFill>
                <a:latin typeface="Cambria"/>
              </a:rPr>
              <a:t>21 -&gt; 0</a:t>
            </a:r>
          </a:p>
        </p:txBody>
      </p:sp>
      <p:sp>
        <p:nvSpPr>
          <p:cNvPr id="12" name="TextBox 11"/>
          <p:cNvSpPr txBox="1"/>
          <p:nvPr/>
        </p:nvSpPr>
        <p:spPr>
          <a:xfrm>
            <a:off x="685800" y="4434840"/>
            <a:ext cx="2423160" cy="1005840"/>
          </a:xfrm>
          <a:prstGeom prst="rect">
            <a:avLst/>
          </a:prstGeom>
          <a:noFill/>
        </p:spPr>
        <p:txBody>
          <a:bodyPr wrap="square" lIns="0" rIns="0" tIns="0" bIns="0">
            <a:spAutoFit/>
          </a:bodyPr>
          <a:lstStyle/>
          <a:p>
            <a:pPr algn="ctr"/>
            <a:r>
              <a:rPr sz="1100" b="0" i="0">
                <a:solidFill>
                  <a:srgbClr val="222A3F"/>
                </a:solidFill>
                <a:latin typeface="Cambria"/>
              </a:rPr>
              <a:t>unstable sectors in SF's settings flash, before and after one clean erase and reprogram</a:t>
            </a:r>
          </a:p>
        </p:txBody>
      </p:sp>
      <p:sp>
        <p:nvSpPr>
          <p:cNvPr id="13" name="Rectangle 12"/>
          <p:cNvSpPr/>
          <p:nvPr/>
        </p:nvSpPr>
        <p:spPr>
          <a:xfrm>
            <a:off x="3291840" y="3566160"/>
            <a:ext cx="2788920" cy="1920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3703320"/>
            <a:ext cx="2788920" cy="731520"/>
          </a:xfrm>
          <a:prstGeom prst="rect">
            <a:avLst/>
          </a:prstGeom>
          <a:noFill/>
        </p:spPr>
        <p:txBody>
          <a:bodyPr wrap="square" lIns="0" rIns="0" tIns="0" bIns="0">
            <a:spAutoFit/>
          </a:bodyPr>
          <a:lstStyle/>
          <a:p>
            <a:pPr algn="ctr"/>
            <a:r>
              <a:rPr sz="3000" b="1" i="0">
                <a:solidFill>
                  <a:srgbClr val="E58E1A"/>
                </a:solidFill>
                <a:latin typeface="Cambria"/>
              </a:rPr>
              <a:t>2.44 V</a:t>
            </a:r>
          </a:p>
        </p:txBody>
      </p:sp>
      <p:sp>
        <p:nvSpPr>
          <p:cNvPr id="15" name="TextBox 14"/>
          <p:cNvSpPr txBox="1"/>
          <p:nvPr/>
        </p:nvSpPr>
        <p:spPr>
          <a:xfrm>
            <a:off x="3474720" y="4434840"/>
            <a:ext cx="2423160" cy="1005840"/>
          </a:xfrm>
          <a:prstGeom prst="rect">
            <a:avLst/>
          </a:prstGeom>
          <a:noFill/>
        </p:spPr>
        <p:txBody>
          <a:bodyPr wrap="square" lIns="0" rIns="0" tIns="0" bIns="0">
            <a:spAutoFit/>
          </a:bodyPr>
          <a:lstStyle/>
          <a:p>
            <a:pPr algn="ctr"/>
            <a:r>
              <a:rPr sz="1100" b="0" i="0">
                <a:solidFill>
                  <a:srgbClr val="222A3F"/>
                </a:solidFill>
                <a:latin typeface="Cambria"/>
              </a:rPr>
              <a:t>reset threshold the firmware is built with, against a 2.7 V flash minimum</a:t>
            </a:r>
          </a:p>
        </p:txBody>
      </p:sp>
      <p:sp>
        <p:nvSpPr>
          <p:cNvPr id="16" name="Rectangle 15"/>
          <p:cNvSpPr/>
          <p:nvPr/>
        </p:nvSpPr>
        <p:spPr>
          <a:xfrm>
            <a:off x="6080760" y="3566160"/>
            <a:ext cx="2788920" cy="1920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703320"/>
            <a:ext cx="2788920" cy="731520"/>
          </a:xfrm>
          <a:prstGeom prst="rect">
            <a:avLst/>
          </a:prstGeom>
          <a:noFill/>
        </p:spPr>
        <p:txBody>
          <a:bodyPr wrap="square" lIns="0" rIns="0" tIns="0" bIns="0">
            <a:spAutoFit/>
          </a:bodyPr>
          <a:lstStyle/>
          <a:p>
            <a:pPr algn="ctr"/>
            <a:r>
              <a:rPr sz="3000" b="1" i="0">
                <a:solidFill>
                  <a:srgbClr val="E58E1A"/>
                </a:solidFill>
                <a:latin typeface="Cambria"/>
              </a:rPr>
              <a:t>true</a:t>
            </a:r>
          </a:p>
        </p:txBody>
      </p:sp>
      <p:sp>
        <p:nvSpPr>
          <p:cNvPr id="18" name="TextBox 17"/>
          <p:cNvSpPr txBox="1"/>
          <p:nvPr/>
        </p:nvSpPr>
        <p:spPr>
          <a:xfrm>
            <a:off x="6263640" y="4434840"/>
            <a:ext cx="2423160" cy="1005840"/>
          </a:xfrm>
          <a:prstGeom prst="rect">
            <a:avLst/>
          </a:prstGeom>
          <a:noFill/>
        </p:spPr>
        <p:txBody>
          <a:bodyPr wrap="square" lIns="0" rIns="0" tIns="0" bIns="0">
            <a:spAutoFit/>
          </a:bodyPr>
          <a:lstStyle/>
          <a:p>
            <a:pPr algn="ctr"/>
            <a:r>
              <a:rPr sz="1100" b="0" i="0">
                <a:solidFill>
                  <a:srgbClr val="222A3F"/>
                </a:solidFill>
                <a:latin typeface="Cambria"/>
              </a:rPr>
              <a:t>what the firmware's 'is power safe to write?' check returns on ESP32, always</a:t>
            </a:r>
          </a:p>
        </p:txBody>
      </p:sp>
      <p:sp>
        <p:nvSpPr>
          <p:cNvPr id="19" name="Rectangle 18"/>
          <p:cNvSpPr/>
          <p:nvPr/>
        </p:nvSpPr>
        <p:spPr>
          <a:xfrm>
            <a:off x="8869680" y="3566160"/>
            <a:ext cx="2788920" cy="1920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3703320"/>
            <a:ext cx="2788920" cy="731520"/>
          </a:xfrm>
          <a:prstGeom prst="rect">
            <a:avLst/>
          </a:prstGeom>
          <a:noFill/>
        </p:spPr>
        <p:txBody>
          <a:bodyPr wrap="square" lIns="0" rIns="0" tIns="0" bIns="0">
            <a:spAutoFit/>
          </a:bodyPr>
          <a:lstStyle/>
          <a:p>
            <a:pPr algn="ctr"/>
            <a:r>
              <a:rPr sz="3000" b="1" i="0">
                <a:solidFill>
                  <a:srgbClr val="E58E1A"/>
                </a:solidFill>
                <a:latin typeface="Cambria"/>
              </a:rPr>
              <a:t>1 build</a:t>
            </a:r>
          </a:p>
        </p:txBody>
      </p:sp>
      <p:sp>
        <p:nvSpPr>
          <p:cNvPr id="21" name="TextBox 20"/>
          <p:cNvSpPr txBox="1"/>
          <p:nvPr/>
        </p:nvSpPr>
        <p:spPr>
          <a:xfrm>
            <a:off x="9052559" y="4434840"/>
            <a:ext cx="2423160" cy="1005840"/>
          </a:xfrm>
          <a:prstGeom prst="rect">
            <a:avLst/>
          </a:prstGeom>
          <a:noFill/>
        </p:spPr>
        <p:txBody>
          <a:bodyPr wrap="square" lIns="0" rIns="0" tIns="0" bIns="0">
            <a:spAutoFit/>
          </a:bodyPr>
          <a:lstStyle/>
          <a:p>
            <a:pPr algn="ctr"/>
            <a:r>
              <a:rPr sz="1100" b="0" i="0">
                <a:solidFill>
                  <a:srgbClr val="222A3F"/>
                </a:solidFill>
                <a:latin typeface="Cambria"/>
              </a:rPr>
              <a:t>makes a revert restore OUR configuration instead of the factory's</a:t>
            </a:r>
          </a:p>
        </p:txBody>
      </p:sp>
      <p:sp>
        <p:nvSpPr>
          <p:cNvPr id="22" name="Rectangle 21"/>
          <p:cNvSpPr/>
          <p:nvPr/>
        </p:nvSpPr>
        <p:spPr>
          <a:xfrm>
            <a:off x="502920" y="5669280"/>
            <a:ext cx="11155680" cy="384048"/>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733288"/>
            <a:ext cx="10698480" cy="274320"/>
          </a:xfrm>
          <a:prstGeom prst="rect">
            <a:avLst/>
          </a:prstGeom>
          <a:noFill/>
        </p:spPr>
        <p:txBody>
          <a:bodyPr wrap="square" lIns="0" rIns="0" tIns="0" bIns="0">
            <a:spAutoFit/>
          </a:bodyPr>
          <a:lstStyle/>
          <a:p>
            <a:pPr algn="ctr"/>
            <a:r>
              <a:rPr sz="1150" b="1" i="0">
                <a:solidFill>
                  <a:srgbClr val="FFFFFF"/>
                </a:solidFill>
                <a:latin typeface="Cambria"/>
              </a:rPr>
              <a:t>THE MEMORY BORE THE SCAR AND HEALS WHEN REWRITTEN; THE POWER RAIL MADE IT; THE FIRMWARE MADE IT PERMANENT. ALL THREE ARE FIXABLE.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