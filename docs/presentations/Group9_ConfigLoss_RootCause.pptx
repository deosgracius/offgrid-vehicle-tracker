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three numbers. Everything on these sheets was measured on SF or RG on 27 October, read from the Meshtastic v2.7.26 source at the exact tag we run, or taken from the Heltec, Boya and Espressif documents named on the sheets. The one-line answer: the memory bore the scar, the power rail made it, the firmware made it permanent, and all three are fixable.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recruiter's suggestion is a testable hypothesis, not an opinion to argue with. State the three readings of 'the memory itself', what each would look like in data, and what each would require as a fix. The rest of the deck collects exactly that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incident is in the scar catalog with its log evidence: Sep 3 CLI port-close reset (region, Bluetooth); Sep 30 both radios after flat batteries (RG channels only, SF everything); Oct 17 SF after a week idle (Bluetooth, channel back to 906.875, owner name); Oct 24 SF flat in transit (channel and key, precision, Bluetooth, cadence, owner, canned messages, node DB). Partial and varying is the detail that matters: files, not the store.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protobuf files on a 3.4 MB LittleFS partition. Red boxes are the policy weaknesses in the vendor's code: the power gate that always returns true on ESP32, the one non-atomic file, the ignored close() result, and the load-failure path that installs factory defaults and saves them with no backup consulted. The green line is the one protection that exists: the low-battery deep sleep skips the write. Sources: NodeDB.cpp, SafeFile.cpp, PowerHAL.cpp, PowerFSM.cpp, sleep.cpp at the tag.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asymmetry to point out: the firmware refuses to write during its own low-battery shutdown, which proves the authors knew the danger, but it has no voltage check on the ordinary save path, and that path runs on every boot. On ESP32 the gate function is a weak default; no platform override exists in src/platform/esp32.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sector erase takes 50 ms. A 750 mA transmit pulse on a nearly flat cell can pull the rail through 2.7 V and back inside that window without ever reaching the 2.44 V reset. The datasheet states that VCC must be held within range during all operations. Between 2.44 and 2.7 V the CPU is alive, the write proceeds, and the result is undefined.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maintainers' reading matches ours. The nRF52 branch received a fix in 2026; the ESP32 branch we run did not. The community workaround on the last line becomes our fix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predictions first, then the data. H2 and H3 both predict fixed unstable sectors; only the erase-and-reprogram test separates them, and it did.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by anyone with the repository: scripts under docs/src, records under docs/src/flash_forensics. The LittleFS image also proved the configuration in flash on measurement day was correct: Group9, 32-byte key, precision 32, CLIENT_MUTE, No PIN, 60/10/20/10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 117 and 107 differing bytes between consecutive reads, 118 bits flipped in both directions, none inside erased areas, confined to 21 sectors with 12 carrying almost all of it. RG: zero. The live files on SF sat in clean sectors 25, 26 and 470 that day, which is why the radio was working; LittleFS wear-levelling would have moved them onto the bad ones eventually.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exact: the measurement establishes marginal cells in SF's settings partition on that day. Why they were marginal is the next two sheets.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on 27 October with authorisation. Sectors 57 and 31 were free in LittleFS (live data in 0, 1, 25, 26, 470), so nothing was lost; the radio booted normally afterwards. Record: docs/src/flash_forensics/decisive_test_2026-10-27.json. The control sector behaving identically validates the method.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end to end. The two-pass behaviour is the same reset-during-write race as the Sep 3 incident, seen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link is inferred rather than measured: the rail voltage during the event. An oscilloscope on the 3V3 pin during a transmit burst at 3.4 V cell voltage closes it; it is step 5 of the proof plan.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is the community's own answer to #4555 and costs one build per radio. The key is compiled into a binary that lives only in the private repository. Fix 2 is a ten-line patch we would offer upstream.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security consideration: the channel key is compiled into the firmware image, which must stay in the private repository and never be published.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fix without a test is a hope. The flat-battery campaign is deliberately brutal: it reproduces the exact conditions of all three battery incidents, with the flash map read after every cycle.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sentence in the bar. Then the ask: approval to build fix 1 and fix 2 and to run the flat-battery campaign before the next field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ROOT CAUSE INVESTIGATION</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01/18  REV B  2026-10-27</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4000" b="1" i="0" spc="300">
                <a:solidFill>
                  <a:srgbClr val="16213D"/>
                </a:solidFill>
                <a:latin typeface="Cambria"/>
              </a:rPr>
              <a:t>WHY THE RADIOS FORGET</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700" b="1" i="0" spc="100">
                <a:solidFill>
                  <a:srgbClr val="E58E1A"/>
                </a:solidFill>
                <a:latin typeface="Cambria"/>
              </a:rPr>
              <a:t>CONFIGURATION LOSS AFTER BATTERY DEATH: EVIDENCE, MECHANISM, REPAIR</a:t>
            </a:r>
          </a:p>
        </p:txBody>
      </p:sp>
      <p:sp>
        <p:nvSpPr>
          <p:cNvPr id="38" name="TextBox 37"/>
          <p:cNvSpPr txBox="1"/>
          <p:nvPr/>
        </p:nvSpPr>
        <p:spPr>
          <a:xfrm>
            <a:off x="658368" y="2377440"/>
            <a:ext cx="7315200" cy="1097280"/>
          </a:xfrm>
          <a:prstGeom prst="rect">
            <a:avLst/>
          </a:prstGeom>
          <a:noFill/>
        </p:spPr>
        <p:txBody>
          <a:bodyPr wrap="square" lIns="0" rIns="0" tIns="0" bIns="0">
            <a:spAutoFit/>
          </a:bodyPr>
          <a:lstStyle/>
          <a:p>
            <a:pPr algn="l"/>
            <a:r>
              <a:rPr sz="1350" b="0" i="0">
                <a:solidFill>
                  <a:srgbClr val="222A3F"/>
                </a:solidFill>
                <a:latin typeface="Cambria"/>
              </a:rPr>
              <a:t>Four losses in one semester. One question from a reviewer: is it the memory itself? One answer, measured on the hardware and traced through the firmware and the datasheets.</a:t>
            </a:r>
          </a:p>
        </p:txBody>
      </p:sp>
      <p:sp>
        <p:nvSpPr>
          <p:cNvPr id="39" name="Rectangle 38"/>
          <p:cNvSpPr/>
          <p:nvPr/>
        </p:nvSpPr>
        <p:spPr>
          <a:xfrm>
            <a:off x="658368" y="3657600"/>
            <a:ext cx="2377440" cy="13716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3767328"/>
            <a:ext cx="2377440" cy="762000"/>
          </a:xfrm>
          <a:prstGeom prst="rect">
            <a:avLst/>
          </a:prstGeom>
          <a:noFill/>
        </p:spPr>
        <p:txBody>
          <a:bodyPr wrap="square" lIns="0" rIns="0" tIns="0" bIns="0">
            <a:spAutoFit/>
          </a:bodyPr>
          <a:lstStyle/>
          <a:p>
            <a:pPr algn="ctr"/>
            <a:r>
              <a:rPr sz="3000" b="1" i="0">
                <a:solidFill>
                  <a:srgbClr val="E58E1A"/>
                </a:solidFill>
                <a:latin typeface="Cambria"/>
              </a:rPr>
              <a:t>4</a:t>
            </a:r>
          </a:p>
        </p:txBody>
      </p:sp>
      <p:sp>
        <p:nvSpPr>
          <p:cNvPr id="41" name="TextBox 40"/>
          <p:cNvSpPr txBox="1"/>
          <p:nvPr/>
        </p:nvSpPr>
        <p:spPr>
          <a:xfrm>
            <a:off x="795528" y="4620767"/>
            <a:ext cx="2103120" cy="335279"/>
          </a:xfrm>
          <a:prstGeom prst="rect">
            <a:avLst/>
          </a:prstGeom>
          <a:noFill/>
        </p:spPr>
        <p:txBody>
          <a:bodyPr wrap="square" lIns="0" rIns="0" tIns="0" bIns="0">
            <a:spAutoFit/>
          </a:bodyPr>
          <a:lstStyle/>
          <a:p>
            <a:pPr algn="ctr"/>
            <a:r>
              <a:rPr sz="1100" b="0" i="0">
                <a:solidFill>
                  <a:srgbClr val="222A3F"/>
                </a:solidFill>
                <a:latin typeface="Cambria"/>
              </a:rPr>
              <a:t>configuration losses, Sep 3 to Oct 24</a:t>
            </a:r>
          </a:p>
        </p:txBody>
      </p:sp>
      <p:sp>
        <p:nvSpPr>
          <p:cNvPr id="42" name="Rectangle 41"/>
          <p:cNvSpPr/>
          <p:nvPr/>
        </p:nvSpPr>
        <p:spPr>
          <a:xfrm>
            <a:off x="3218688" y="3657600"/>
            <a:ext cx="2377440" cy="13716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218688" y="3767328"/>
            <a:ext cx="2377440" cy="762000"/>
          </a:xfrm>
          <a:prstGeom prst="rect">
            <a:avLst/>
          </a:prstGeom>
          <a:noFill/>
        </p:spPr>
        <p:txBody>
          <a:bodyPr wrap="square" lIns="0" rIns="0" tIns="0" bIns="0">
            <a:spAutoFit/>
          </a:bodyPr>
          <a:lstStyle/>
          <a:p>
            <a:pPr algn="ctr"/>
            <a:r>
              <a:rPr sz="3000" b="1" i="0">
                <a:solidFill>
                  <a:srgbClr val="E58E1A"/>
                </a:solidFill>
                <a:latin typeface="Cambria"/>
              </a:rPr>
              <a:t>21 -&gt; 0</a:t>
            </a:r>
          </a:p>
        </p:txBody>
      </p:sp>
      <p:sp>
        <p:nvSpPr>
          <p:cNvPr id="44" name="TextBox 43"/>
          <p:cNvSpPr txBox="1"/>
          <p:nvPr/>
        </p:nvSpPr>
        <p:spPr>
          <a:xfrm>
            <a:off x="3355848" y="4620767"/>
            <a:ext cx="2103120" cy="335279"/>
          </a:xfrm>
          <a:prstGeom prst="rect">
            <a:avLst/>
          </a:prstGeom>
          <a:noFill/>
        </p:spPr>
        <p:txBody>
          <a:bodyPr wrap="square" lIns="0" rIns="0" tIns="0" bIns="0">
            <a:spAutoFit/>
          </a:bodyPr>
          <a:lstStyle/>
          <a:p>
            <a:pPr algn="ctr"/>
            <a:r>
              <a:rPr sz="1100" b="0" i="0">
                <a:solidFill>
                  <a:srgbClr val="222A3F"/>
                </a:solidFill>
                <a:latin typeface="Cambria"/>
              </a:rPr>
              <a:t>unstable flash sectors on SF, before and after repair</a:t>
            </a:r>
          </a:p>
        </p:txBody>
      </p:sp>
      <p:sp>
        <p:nvSpPr>
          <p:cNvPr id="45" name="Rectangle 44"/>
          <p:cNvSpPr/>
          <p:nvPr/>
        </p:nvSpPr>
        <p:spPr>
          <a:xfrm>
            <a:off x="5779008" y="3657600"/>
            <a:ext cx="2377440" cy="13716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779008" y="3767328"/>
            <a:ext cx="2377440" cy="762000"/>
          </a:xfrm>
          <a:prstGeom prst="rect">
            <a:avLst/>
          </a:prstGeom>
          <a:noFill/>
        </p:spPr>
        <p:txBody>
          <a:bodyPr wrap="square" lIns="0" rIns="0" tIns="0" bIns="0">
            <a:spAutoFit/>
          </a:bodyPr>
          <a:lstStyle/>
          <a:p>
            <a:pPr algn="ctr"/>
            <a:r>
              <a:rPr sz="3000" b="1" i="0">
                <a:solidFill>
                  <a:srgbClr val="E58E1A"/>
                </a:solidFill>
                <a:latin typeface="Cambria"/>
              </a:rPr>
              <a:t>260 mV</a:t>
            </a:r>
          </a:p>
        </p:txBody>
      </p:sp>
      <p:sp>
        <p:nvSpPr>
          <p:cNvPr id="47" name="TextBox 46"/>
          <p:cNvSpPr txBox="1"/>
          <p:nvPr/>
        </p:nvSpPr>
        <p:spPr>
          <a:xfrm>
            <a:off x="5916168" y="4620767"/>
            <a:ext cx="2103120" cy="335279"/>
          </a:xfrm>
          <a:prstGeom prst="rect">
            <a:avLst/>
          </a:prstGeom>
          <a:noFill/>
        </p:spPr>
        <p:txBody>
          <a:bodyPr wrap="square" lIns="0" rIns="0" tIns="0" bIns="0">
            <a:spAutoFit/>
          </a:bodyPr>
          <a:lstStyle/>
          <a:p>
            <a:pPr algn="ctr"/>
            <a:r>
              <a:rPr sz="1100" b="0" i="0">
                <a:solidFill>
                  <a:srgbClr val="222A3F"/>
                </a:solidFill>
                <a:latin typeface="Cambria"/>
              </a:rPr>
              <a:t>window in which the CPU writes to a flash that is out of spec</a:t>
            </a:r>
          </a:p>
        </p:txBody>
      </p:sp>
      <p:sp>
        <p:nvSpPr>
          <p:cNvPr id="48" name="TextBox 47"/>
          <p:cNvSpPr txBox="1"/>
          <p:nvPr/>
        </p:nvSpPr>
        <p:spPr>
          <a:xfrm>
            <a:off x="8595360" y="3657600"/>
            <a:ext cx="3108960" cy="2377440"/>
          </a:xfrm>
          <a:prstGeom prst="rect">
            <a:avLst/>
          </a:prstGeom>
          <a:noFill/>
        </p:spPr>
        <p:txBody>
          <a:bodyPr wrap="square" lIns="0" rIns="0" tIns="0" bIns="0">
            <a:spAutoFit/>
          </a:bodyPr>
          <a:lstStyle/>
          <a:p>
            <a:pPr algn="l"/>
            <a:r>
              <a:rPr sz="1250" b="0" i="0">
                <a:solidFill>
                  <a:srgbClr val="222A3F"/>
                </a:solidFill>
                <a:latin typeface="Courier New"/>
              </a:rPr>
              <a:t>Deo Grace Mwala
Josiah Horn
Victor Okwonna
Cannon Thomas
Sponsor: Dr. Richard Gale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QUESTION</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02/18  REV B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ONE QUESTION, THREE POSSIBLE MEANINGS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"It might be the memory itself." Each meaning leaves a different fingerprint and needs a different fix.</a:t>
            </a:r>
          </a:p>
        </p:txBody>
      </p:sp>
      <p:sp>
        <p:nvSpPr>
          <p:cNvPr id="9" name="Rectangle 8"/>
          <p:cNvSpPr/>
          <p:nvPr/>
        </p:nvSpPr>
        <p:spPr>
          <a:xfrm>
            <a:off x="502920" y="1417320"/>
            <a:ext cx="3657600" cy="237744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536192"/>
            <a:ext cx="3328416" cy="2139696"/>
          </a:xfrm>
          <a:prstGeom prst="rect">
            <a:avLst/>
          </a:prstGeom>
          <a:noFill/>
        </p:spPr>
        <p:txBody>
          <a:bodyPr wrap="square" lIns="0" rIns="0" tIns="0" bIns="0">
            <a:spAutoFit/>
          </a:bodyPr>
          <a:lstStyle/>
          <a:p>
            <a:r>
              <a:rPr sz="1350" b="1" spc="100">
                <a:solidFill>
                  <a:srgbClr val="C43A4B"/>
                </a:solidFill>
                <a:latin typeface="Cambria"/>
              </a:rPr>
              <a:t>WORN OUT</a:t>
            </a:r>
          </a:p>
          <a:p>
            <a:pPr>
              <a:spcBef>
                <a:spcPts val="400"/>
              </a:spcBef>
            </a:pPr>
            <a:r>
              <a:rPr sz="1200">
                <a:solidFill>
                  <a:srgbClr val="222A3F"/>
                </a:solidFill>
                <a:latin typeface="Cambria"/>
              </a:rPr>
              <a:t>•  Endurance exhausted by write volume</a:t>
            </a:r>
          </a:p>
          <a:p>
            <a:pPr>
              <a:spcBef>
                <a:spcPts val="400"/>
              </a:spcBef>
            </a:pPr>
            <a:r>
              <a:rPr sz="1200">
                <a:solidFill>
                  <a:srgbClr val="222A3F"/>
                </a:solidFill>
                <a:latin typeface="Cambria"/>
              </a:rPr>
              <a:t>•  Fingerprint: diffuse failures, many sectors</a:t>
            </a:r>
          </a:p>
          <a:p>
            <a:pPr>
              <a:spcBef>
                <a:spcPts val="400"/>
              </a:spcBef>
            </a:pPr>
            <a:r>
              <a:rPr sz="1200">
                <a:solidFill>
                  <a:srgbClr val="222A3F"/>
                </a:solidFill>
                <a:latin typeface="Cambria"/>
              </a:rPr>
              <a:t>•  Fix: replace the part</a:t>
            </a:r>
          </a:p>
        </p:txBody>
      </p:sp>
      <p:sp>
        <p:nvSpPr>
          <p:cNvPr id="11" name="Rectangle 10"/>
          <p:cNvSpPr/>
          <p:nvPr/>
        </p:nvSpPr>
        <p:spPr>
          <a:xfrm>
            <a:off x="4251959" y="1417320"/>
            <a:ext cx="3657600" cy="237744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16551" y="1536192"/>
            <a:ext cx="3328416" cy="2139696"/>
          </a:xfrm>
          <a:prstGeom prst="rect">
            <a:avLst/>
          </a:prstGeom>
          <a:noFill/>
        </p:spPr>
        <p:txBody>
          <a:bodyPr wrap="square" lIns="0" rIns="0" tIns="0" bIns="0">
            <a:spAutoFit/>
          </a:bodyPr>
          <a:lstStyle/>
          <a:p>
            <a:r>
              <a:rPr sz="1350" b="1" spc="100">
                <a:solidFill>
                  <a:srgbClr val="E58E1A"/>
                </a:solidFill>
                <a:latin typeface="Cambria"/>
              </a:rPr>
              <a:t>DEFECTIVE OR MARGINAL CELLS</a:t>
            </a:r>
          </a:p>
          <a:p>
            <a:pPr>
              <a:spcBef>
                <a:spcPts val="400"/>
              </a:spcBef>
            </a:pPr>
            <a:r>
              <a:rPr sz="1200">
                <a:solidFill>
                  <a:srgbClr val="222A3F"/>
                </a:solidFill>
                <a:latin typeface="Cambria"/>
              </a:rPr>
              <a:t>•  Specific cells that will not hold a value</a:t>
            </a:r>
          </a:p>
          <a:p>
            <a:pPr>
              <a:spcBef>
                <a:spcPts val="400"/>
              </a:spcBef>
            </a:pPr>
            <a:r>
              <a:rPr sz="1200">
                <a:solidFill>
                  <a:srgbClr val="222A3F"/>
                </a:solidFill>
                <a:latin typeface="Cambria"/>
              </a:rPr>
              <a:t>•  Fingerprint: the same sectors misread, every pass</a:t>
            </a:r>
          </a:p>
          <a:p>
            <a:pPr>
              <a:spcBef>
                <a:spcPts val="400"/>
              </a:spcBef>
            </a:pPr>
            <a:r>
              <a:rPr sz="1200">
                <a:solidFill>
                  <a:srgbClr val="222A3F"/>
                </a:solidFill>
                <a:latin typeface="Cambria"/>
              </a:rPr>
              <a:t>•  Fix: avoid or re-form those sectors</a:t>
            </a:r>
          </a:p>
        </p:txBody>
      </p:sp>
      <p:sp>
        <p:nvSpPr>
          <p:cNvPr id="13" name="Rectangle 12"/>
          <p:cNvSpPr/>
          <p:nvPr/>
        </p:nvSpPr>
        <p:spPr>
          <a:xfrm>
            <a:off x="8001000" y="1417320"/>
            <a:ext cx="3657600" cy="23774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5592" y="1536192"/>
            <a:ext cx="3328416" cy="2139696"/>
          </a:xfrm>
          <a:prstGeom prst="rect">
            <a:avLst/>
          </a:prstGeom>
          <a:noFill/>
        </p:spPr>
        <p:txBody>
          <a:bodyPr wrap="square" lIns="0" rIns="0" tIns="0" bIns="0">
            <a:spAutoFit/>
          </a:bodyPr>
          <a:lstStyle/>
          <a:p>
            <a:r>
              <a:rPr sz="1350" b="1" spc="100">
                <a:solidFill>
                  <a:srgbClr val="1F9D68"/>
                </a:solidFill>
                <a:latin typeface="Cambria"/>
              </a:rPr>
              <a:t>CORRUPTED BY THE CONDITIONS OF A WRITE</a:t>
            </a:r>
          </a:p>
          <a:p>
            <a:pPr>
              <a:spcBef>
                <a:spcPts val="400"/>
              </a:spcBef>
            </a:pPr>
            <a:r>
              <a:rPr sz="1200">
                <a:solidFill>
                  <a:srgbClr val="222A3F"/>
                </a:solidFill>
                <a:latin typeface="Cambria"/>
              </a:rPr>
              <a:t>•  Healthy cells written while the supply was out of spec</a:t>
            </a:r>
          </a:p>
          <a:p>
            <a:pPr>
              <a:spcBef>
                <a:spcPts val="400"/>
              </a:spcBef>
            </a:pPr>
            <a:r>
              <a:rPr sz="1200">
                <a:solidFill>
                  <a:srgbClr val="222A3F"/>
                </a:solidFill>
                <a:latin typeface="Cambria"/>
              </a:rPr>
              <a:t>•  Fingerprint: follows power events; heals when rewritten</a:t>
            </a:r>
          </a:p>
          <a:p>
            <a:pPr>
              <a:spcBef>
                <a:spcPts val="400"/>
              </a:spcBef>
            </a:pPr>
            <a:r>
              <a:rPr sz="1200">
                <a:solidFill>
                  <a:srgbClr val="222A3F"/>
                </a:solidFill>
                <a:latin typeface="Cambria"/>
              </a:rPr>
              <a:t>•  Fix: never write under low voltage</a:t>
            </a:r>
          </a:p>
        </p:txBody>
      </p:sp>
      <p:sp>
        <p:nvSpPr>
          <p:cNvPr id="15" name="Rectangle 14"/>
          <p:cNvSpPr/>
          <p:nvPr/>
        </p:nvSpPr>
        <p:spPr>
          <a:xfrm>
            <a:off x="502920" y="4069080"/>
            <a:ext cx="11155680" cy="19202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187952"/>
            <a:ext cx="10826496" cy="1682496"/>
          </a:xfrm>
          <a:prstGeom prst="rect">
            <a:avLst/>
          </a:prstGeom>
          <a:noFill/>
        </p:spPr>
        <p:txBody>
          <a:bodyPr wrap="square" lIns="0" rIns="0" tIns="0" bIns="0">
            <a:spAutoFit/>
          </a:bodyPr>
          <a:lstStyle/>
          <a:p>
            <a:r>
              <a:rPr sz="1350" b="1" spc="100">
                <a:solidFill>
                  <a:srgbClr val="16213D"/>
                </a:solidFill>
                <a:latin typeface="Cambria"/>
              </a:rPr>
              <a:t>HOW WE TOLD THEM APART</a:t>
            </a:r>
          </a:p>
          <a:p>
            <a:pPr>
              <a:spcBef>
                <a:spcPts val="400"/>
              </a:spcBef>
            </a:pPr>
            <a:r>
              <a:rPr sz="1250">
                <a:solidFill>
                  <a:srgbClr val="222A3F"/>
                </a:solidFill>
                <a:latin typeface="Cambria"/>
              </a:rPr>
              <a:t>•  Read the settings partition straight off the chip, firmware halted, three times in one session</a:t>
            </a:r>
          </a:p>
          <a:p>
            <a:pPr>
              <a:spcBef>
                <a:spcPts val="400"/>
              </a:spcBef>
            </a:pPr>
            <a:r>
              <a:rPr sz="1250">
                <a:solidFill>
                  <a:srgbClr val="222A3F"/>
                </a:solidFill>
                <a:latin typeface="Cambria"/>
              </a:rPr>
              <a:t>•  Read the firmware's save and load code at tag v2.7.26</a:t>
            </a:r>
          </a:p>
          <a:p>
            <a:pPr>
              <a:spcBef>
                <a:spcPts val="400"/>
              </a:spcBef>
            </a:pPr>
            <a:r>
              <a:rPr sz="1250">
                <a:solidFill>
                  <a:srgbClr val="222A3F"/>
                </a:solidFill>
                <a:latin typeface="Cambria"/>
              </a:rPr>
              <a:t>•  Read the flash and board datasheets and the brownout level the firmware is built with</a:t>
            </a:r>
          </a:p>
          <a:p>
            <a:pPr>
              <a:spcBef>
                <a:spcPts val="400"/>
              </a:spcBef>
            </a:pPr>
            <a:r>
              <a:rPr sz="1250">
                <a:solidFill>
                  <a:srgbClr val="222A3F"/>
                </a:solidFill>
                <a:latin typeface="Cambria"/>
              </a:rPr>
              <a:t>•  Line the four incidents up against all of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QUESTION</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03/18  REV B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RECORD</a:t>
            </a:r>
          </a:p>
        </p:txBody>
      </p:sp>
      <p:pic>
        <p:nvPicPr>
          <p:cNvPr id="10" name="Picture 9" descr="g_events.png"/>
          <p:cNvPicPr>
            <a:picLocks noChangeAspect="1"/>
          </p:cNvPicPr>
          <p:nvPr/>
        </p:nvPicPr>
        <p:blipFill>
          <a:blip r:embed="rId2"/>
          <a:stretch>
            <a:fillRect/>
          </a:stretch>
        </p:blipFill>
        <p:spPr>
          <a:xfrm>
            <a:off x="502920" y="1143000"/>
            <a:ext cx="11155680" cy="2608990"/>
          </a:xfrm>
          <a:prstGeom prst="rect">
            <a:avLst/>
          </a:prstGeom>
        </p:spPr>
      </p:pic>
      <p:sp>
        <p:nvSpPr>
          <p:cNvPr id="11" name="Rectangle 10"/>
          <p:cNvSpPr/>
          <p:nvPr/>
        </p:nvSpPr>
        <p:spPr>
          <a:xfrm>
            <a:off x="502920" y="3977639"/>
            <a:ext cx="3611880" cy="19659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087368"/>
            <a:ext cx="3611880" cy="762000"/>
          </a:xfrm>
          <a:prstGeom prst="rect">
            <a:avLst/>
          </a:prstGeom>
          <a:noFill/>
        </p:spPr>
        <p:txBody>
          <a:bodyPr wrap="square" lIns="0" rIns="0" tIns="0" bIns="0">
            <a:spAutoFit/>
          </a:bodyPr>
          <a:lstStyle/>
          <a:p>
            <a:pPr algn="ctr"/>
            <a:r>
              <a:rPr sz="3000" b="1" i="0">
                <a:solidFill>
                  <a:srgbClr val="E58E1A"/>
                </a:solidFill>
                <a:latin typeface="Cambria"/>
              </a:rPr>
              <a:t>3 of 4</a:t>
            </a:r>
          </a:p>
        </p:txBody>
      </p:sp>
      <p:sp>
        <p:nvSpPr>
          <p:cNvPr id="13" name="TextBox 12"/>
          <p:cNvSpPr txBox="1"/>
          <p:nvPr/>
        </p:nvSpPr>
        <p:spPr>
          <a:xfrm>
            <a:off x="640080" y="4940807"/>
            <a:ext cx="3337560" cy="929640"/>
          </a:xfrm>
          <a:prstGeom prst="rect">
            <a:avLst/>
          </a:prstGeom>
          <a:noFill/>
        </p:spPr>
        <p:txBody>
          <a:bodyPr wrap="square" lIns="0" rIns="0" tIns="0" bIns="0">
            <a:spAutoFit/>
          </a:bodyPr>
          <a:lstStyle/>
          <a:p>
            <a:pPr algn="ctr"/>
            <a:r>
              <a:rPr sz="1100" b="0" i="0">
                <a:solidFill>
                  <a:srgbClr val="222A3F"/>
                </a:solidFill>
                <a:latin typeface="Cambria"/>
              </a:rPr>
              <a:t>losses followed a battery run flat; the fourth is a reset-during-write race</a:t>
            </a:r>
          </a:p>
        </p:txBody>
      </p:sp>
      <p:sp>
        <p:nvSpPr>
          <p:cNvPr id="14" name="Rectangle 13"/>
          <p:cNvSpPr/>
          <p:nvPr/>
        </p:nvSpPr>
        <p:spPr>
          <a:xfrm>
            <a:off x="4274820" y="3977639"/>
            <a:ext cx="3611880" cy="19659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4820" y="4087368"/>
            <a:ext cx="3611880" cy="762000"/>
          </a:xfrm>
          <a:prstGeom prst="rect">
            <a:avLst/>
          </a:prstGeom>
          <a:noFill/>
        </p:spPr>
        <p:txBody>
          <a:bodyPr wrap="square" lIns="0" rIns="0" tIns="0" bIns="0">
            <a:spAutoFit/>
          </a:bodyPr>
          <a:lstStyle/>
          <a:p>
            <a:pPr algn="ctr"/>
            <a:r>
              <a:rPr sz="3000" b="1" i="0">
                <a:solidFill>
                  <a:srgbClr val="E58E1A"/>
                </a:solidFill>
                <a:latin typeface="Cambria"/>
              </a:rPr>
              <a:t>3 : 1</a:t>
            </a:r>
          </a:p>
        </p:txBody>
      </p:sp>
      <p:sp>
        <p:nvSpPr>
          <p:cNvPr id="16" name="TextBox 15"/>
          <p:cNvSpPr txBox="1"/>
          <p:nvPr/>
        </p:nvSpPr>
        <p:spPr>
          <a:xfrm>
            <a:off x="4411980" y="4940807"/>
            <a:ext cx="3337560" cy="929640"/>
          </a:xfrm>
          <a:prstGeom prst="rect">
            <a:avLst/>
          </a:prstGeom>
          <a:noFill/>
        </p:spPr>
        <p:txBody>
          <a:bodyPr wrap="square" lIns="0" rIns="0" tIns="0" bIns="0">
            <a:spAutoFit/>
          </a:bodyPr>
          <a:lstStyle/>
          <a:p>
            <a:pPr algn="ctr"/>
            <a:r>
              <a:rPr sz="1100" b="0" i="0">
                <a:solidFill>
                  <a:srgbClr val="222A3F"/>
                </a:solidFill>
                <a:latin typeface="Cambria"/>
              </a:rPr>
              <a:t>SF to RG; the carried, bench-tested unit that is run flat most often</a:t>
            </a:r>
          </a:p>
        </p:txBody>
      </p:sp>
      <p:sp>
        <p:nvSpPr>
          <p:cNvPr id="17" name="Rectangle 16"/>
          <p:cNvSpPr/>
          <p:nvPr/>
        </p:nvSpPr>
        <p:spPr>
          <a:xfrm>
            <a:off x="8046720" y="3977639"/>
            <a:ext cx="3611880" cy="19659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4087368"/>
            <a:ext cx="3611880" cy="762000"/>
          </a:xfrm>
          <a:prstGeom prst="rect">
            <a:avLst/>
          </a:prstGeom>
          <a:noFill/>
        </p:spPr>
        <p:txBody>
          <a:bodyPr wrap="square" lIns="0" rIns="0" tIns="0" bIns="0">
            <a:spAutoFit/>
          </a:bodyPr>
          <a:lstStyle/>
          <a:p>
            <a:pPr algn="ctr"/>
            <a:r>
              <a:rPr sz="3000" b="1" i="0">
                <a:solidFill>
                  <a:srgbClr val="E58E1A"/>
                </a:solidFill>
                <a:latin typeface="Cambria"/>
              </a:rPr>
              <a:t>partial</a:t>
            </a:r>
          </a:p>
        </p:txBody>
      </p:sp>
      <p:sp>
        <p:nvSpPr>
          <p:cNvPr id="19" name="TextBox 18"/>
          <p:cNvSpPr txBox="1"/>
          <p:nvPr/>
        </p:nvSpPr>
        <p:spPr>
          <a:xfrm>
            <a:off x="8183880" y="4940807"/>
            <a:ext cx="3337560" cy="929640"/>
          </a:xfrm>
          <a:prstGeom prst="rect">
            <a:avLst/>
          </a:prstGeom>
          <a:noFill/>
        </p:spPr>
        <p:txBody>
          <a:bodyPr wrap="square" lIns="0" rIns="0" tIns="0" bIns="0">
            <a:spAutoFit/>
          </a:bodyPr>
          <a:lstStyle/>
          <a:p>
            <a:pPr algn="ctr"/>
            <a:r>
              <a:rPr sz="1100" b="0" i="0">
                <a:solidFill>
                  <a:srgbClr val="222A3F"/>
                </a:solidFill>
                <a:latin typeface="Cambria"/>
              </a:rPr>
              <a:t>and different each time: single files damaged, not the whole store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04/18  REV B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Partition table and file sizes read from SF; save and load behaviour from meshtastic/firmware v2.7.26.</a:t>
            </a:r>
          </a:p>
        </p:txBody>
      </p:sp>
      <p:pic>
        <p:nvPicPr>
          <p:cNvPr id="11" name="Picture 10" descr="g_storage.png"/>
          <p:cNvPicPr>
            <a:picLocks noChangeAspect="1"/>
          </p:cNvPicPr>
          <p:nvPr/>
        </p:nvPicPr>
        <p:blipFill>
          <a:blip r:embed="rId2"/>
          <a:stretch>
            <a:fillRect/>
          </a:stretch>
        </p:blipFill>
        <p:spPr>
          <a:xfrm>
            <a:off x="502920" y="1280160"/>
            <a:ext cx="11155680" cy="449825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05/18  REV B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WHAT THE FIRMWARE DOES AND DOES NOT DO</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Verified in source at tag v2.7.26; every line has a file name.</a:t>
            </a:r>
          </a:p>
        </p:txBody>
      </p:sp>
      <p:sp>
        <p:nvSpPr>
          <p:cNvPr id="9" name="Rectangle 8"/>
          <p:cNvSpPr/>
          <p:nvPr/>
        </p:nvSpPr>
        <p:spPr>
          <a:xfrm>
            <a:off x="502920" y="1371600"/>
            <a:ext cx="5486400" cy="30175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490472"/>
            <a:ext cx="5157216" cy="2779776"/>
          </a:xfrm>
          <a:prstGeom prst="rect">
            <a:avLst/>
          </a:prstGeom>
          <a:noFill/>
        </p:spPr>
        <p:txBody>
          <a:bodyPr wrap="square" lIns="0" rIns="0" tIns="0" bIns="0">
            <a:spAutoFit/>
          </a:bodyPr>
          <a:lstStyle/>
          <a:p>
            <a:r>
              <a:rPr sz="1350" b="1" spc="100">
                <a:solidFill>
                  <a:srgbClr val="16213D"/>
                </a:solidFill>
                <a:latin typeface="Cambria"/>
              </a:rPr>
              <a:t>DOES</a:t>
            </a:r>
          </a:p>
          <a:p>
            <a:pPr>
              <a:spcBef>
                <a:spcPts val="400"/>
              </a:spcBef>
            </a:pPr>
            <a:r>
              <a:rPr sz="1250">
                <a:solidFill>
                  <a:srgbClr val="222A3F"/>
                </a:solidFill>
                <a:latin typeface="Cambria"/>
              </a:rPr>
              <a:t>•  Write .tmp, re-read it, 1-byte XOR check, then rename (SafeFile.cpp)</a:t>
            </a:r>
          </a:p>
          <a:p>
            <a:pPr>
              <a:spcBef>
                <a:spcPts val="400"/>
              </a:spcBef>
            </a:pPr>
            <a:r>
              <a:rPr sz="1250">
                <a:solidFill>
                  <a:srgbClr val="222A3F"/>
                </a:solidFill>
                <a:latin typeface="Cambria"/>
              </a:rPr>
              <a:t>•  Re-save device.proto on every boot (our boot log)</a:t>
            </a:r>
          </a:p>
          <a:p>
            <a:pPr>
              <a:spcBef>
                <a:spcPts val="400"/>
              </a:spcBef>
            </a:pPr>
            <a:r>
              <a:rPr sz="1250">
                <a:solidFill>
                  <a:srgbClr val="222A3F"/>
                </a:solidFill>
                <a:latin typeface="Cambria"/>
              </a:rPr>
              <a:t>•  Install factory defaults when a file is missing or will not decode, then save them (NodeDB.cpp)</a:t>
            </a:r>
          </a:p>
          <a:p>
            <a:pPr>
              <a:spcBef>
                <a:spcPts val="400"/>
              </a:spcBef>
            </a:pPr>
            <a:r>
              <a:rPr sz="1250">
                <a:solidFill>
                  <a:srgbClr val="222A3F"/>
                </a:solidFill>
                <a:latin typeface="Cambria"/>
              </a:rPr>
              <a:t>•  Skip the flash write on its own low-battery deep sleep (PowerFSM.cpp, sleep.cpp)</a:t>
            </a:r>
          </a:p>
          <a:p>
            <a:pPr>
              <a:spcBef>
                <a:spcPts val="400"/>
              </a:spcBef>
            </a:pPr>
            <a:r>
              <a:rPr sz="1250">
                <a:solidFill>
                  <a:srgbClr val="222A3F"/>
                </a:solidFill>
                <a:latin typeface="Cambria"/>
              </a:rPr>
              <a:t>•  Reset the CPU only below 2.44 V (core sdkconfig, level 7)</a:t>
            </a:r>
          </a:p>
        </p:txBody>
      </p:sp>
      <p:sp>
        <p:nvSpPr>
          <p:cNvPr id="11" name="Rectangle 10"/>
          <p:cNvSpPr/>
          <p:nvPr/>
        </p:nvSpPr>
        <p:spPr>
          <a:xfrm>
            <a:off x="6172200" y="1371600"/>
            <a:ext cx="5486400" cy="30175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1490472"/>
            <a:ext cx="5157216" cy="2779776"/>
          </a:xfrm>
          <a:prstGeom prst="rect">
            <a:avLst/>
          </a:prstGeom>
          <a:noFill/>
        </p:spPr>
        <p:txBody>
          <a:bodyPr wrap="square" lIns="0" rIns="0" tIns="0" bIns="0">
            <a:spAutoFit/>
          </a:bodyPr>
          <a:lstStyle/>
          <a:p>
            <a:r>
              <a:rPr sz="1350" b="1" spc="100">
                <a:solidFill>
                  <a:srgbClr val="C43A4B"/>
                </a:solidFill>
                <a:latin typeface="Cambria"/>
              </a:rPr>
              <a:t>DOES NOT</a:t>
            </a:r>
          </a:p>
          <a:p>
            <a:pPr>
              <a:spcBef>
                <a:spcPts val="400"/>
              </a:spcBef>
            </a:pPr>
            <a:r>
              <a:rPr sz="1250">
                <a:solidFill>
                  <a:srgbClr val="222A3F"/>
                </a:solidFill>
                <a:latin typeface="Cambria"/>
              </a:rPr>
              <a:t>•  Check the supply before any save: powerHAL_isPowerLevelSafe() is a stub returning true on ESP32</a:t>
            </a:r>
          </a:p>
          <a:p>
            <a:pPr>
              <a:spcBef>
                <a:spcPts val="400"/>
              </a:spcBef>
            </a:pPr>
            <a:r>
              <a:rPr sz="1250">
                <a:solidFill>
                  <a:srgbClr val="222A3F"/>
                </a:solidFill>
                <a:latin typeface="Cambria"/>
              </a:rPr>
              <a:t>•  Keep nodes.proto atomic: the original is deleted before the new copy is written</a:t>
            </a:r>
          </a:p>
          <a:p>
            <a:pPr>
              <a:spcBef>
                <a:spcPts val="400"/>
              </a:spcBef>
            </a:pPr>
            <a:r>
              <a:rPr sz="1250">
                <a:solidFill>
                  <a:srgbClr val="222A3F"/>
                </a:solidFill>
                <a:latin typeface="Cambria"/>
              </a:rPr>
              <a:t>•  Act on a failed save: close() result discarded, 'Can't write prefs!' then return okay</a:t>
            </a:r>
          </a:p>
          <a:p>
            <a:pPr>
              <a:spcBef>
                <a:spcPts val="400"/>
              </a:spcBef>
            </a:pPr>
            <a:r>
              <a:rPr sz="1250">
                <a:solidFill>
                  <a:srgbClr val="222A3F"/>
                </a:solidFill>
                <a:latin typeface="Cambria"/>
              </a:rPr>
              <a:t>•  Consult the backup copy at boot: restorePreferences() runs only on operator command</a:t>
            </a:r>
          </a:p>
          <a:p>
            <a:pPr>
              <a:spcBef>
                <a:spcPts val="400"/>
              </a:spcBef>
            </a:pPr>
            <a:r>
              <a:rPr sz="1250">
                <a:solidFill>
                  <a:srgbClr val="222A3F"/>
                </a:solidFill>
                <a:latin typeface="Cambria"/>
              </a:rPr>
              <a:t>•  Retry before resetting: one unreadable file is a permanent factory reset</a:t>
            </a:r>
          </a:p>
        </p:txBody>
      </p:sp>
      <p:sp>
        <p:nvSpPr>
          <p:cNvPr id="13" name="Rectangle 12"/>
          <p:cNvSpPr/>
          <p:nvPr/>
        </p:nvSpPr>
        <p:spPr>
          <a:xfrm>
            <a:off x="502920" y="4572000"/>
            <a:ext cx="11155680" cy="137160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4663440"/>
            <a:ext cx="10826496" cy="274320"/>
          </a:xfrm>
          <a:prstGeom prst="rect">
            <a:avLst/>
          </a:prstGeom>
          <a:noFill/>
        </p:spPr>
        <p:txBody>
          <a:bodyPr wrap="square" lIns="0" rIns="0" tIns="0" bIns="0">
            <a:spAutoFit/>
          </a:bodyPr>
          <a:lstStyle/>
          <a:p>
            <a:pPr algn="l"/>
            <a:r>
              <a:rPr sz="1000" b="1" i="0">
                <a:solidFill>
                  <a:srgbClr val="E58E1A"/>
                </a:solidFill>
                <a:latin typeface="Courier New"/>
              </a:rPr>
              <a:t>src/power/PowerHAL.cpp, tag v2.7.26: THE GATE EVERY SAVE PASSES THROUGH ON OUR RADIOS</a:t>
            </a:r>
          </a:p>
        </p:txBody>
      </p:sp>
      <p:sp>
        <p:nvSpPr>
          <p:cNvPr id="15" name="TextBox 14"/>
          <p:cNvSpPr txBox="1"/>
          <p:nvPr/>
        </p:nvSpPr>
        <p:spPr>
          <a:xfrm>
            <a:off x="667512" y="4956048"/>
            <a:ext cx="10826496" cy="914400"/>
          </a:xfrm>
          <a:prstGeom prst="rect">
            <a:avLst/>
          </a:prstGeom>
          <a:noFill/>
        </p:spPr>
        <p:txBody>
          <a:bodyPr wrap="square" lIns="0" rIns="0" tIns="0" bIns="0">
            <a:spAutoFit/>
          </a:bodyPr>
          <a:lstStyle/>
          <a:p>
            <a:r>
              <a:rPr sz="1100">
                <a:solidFill>
                  <a:srgbClr val="C9D8F0"/>
                </a:solidFill>
                <a:latin typeface="Courier New"/>
              </a:rPr>
              <a:t>__attribute__((weak, noinline)) bool powerHAL_isPowerLevelSafe()</a:t>
            </a:r>
          </a:p>
          <a:p>
            <a:r>
              <a:rPr sz="1100">
                <a:solidFill>
                  <a:srgbClr val="C9D8F0"/>
                </a:solidFill>
                <a:latin typeface="Courier New"/>
              </a:rPr>
              <a:t>{</a:t>
            </a:r>
          </a:p>
          <a:p>
            <a:r>
              <a:rPr sz="1100">
                <a:solidFill>
                  <a:srgbClr val="FF9AA8"/>
                </a:solidFill>
                <a:latin typeface="Courier New"/>
              </a:rPr>
              <a:t>    return true;        // no ESP32 override exists in src/platform/esp32</a:t>
            </a:r>
          </a:p>
          <a:p>
            <a:r>
              <a:rPr sz="1100">
                <a:solidFill>
                  <a:srgbClr val="C9D8F0"/>
                </a:solidFill>
                <a:latin typeface="Courier New"/>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06/18  REV B  2026-10-27</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pic>
        <p:nvPicPr>
          <p:cNvPr id="10" name="Picture 9" descr="g_voltage.png"/>
          <p:cNvPicPr>
            <a:picLocks noChangeAspect="1"/>
          </p:cNvPicPr>
          <p:nvPr/>
        </p:nvPicPr>
        <p:blipFill>
          <a:blip r:embed="rId2"/>
          <a:stretch>
            <a:fillRect/>
          </a:stretch>
        </p:blipFill>
        <p:spPr>
          <a:xfrm>
            <a:off x="502920" y="1143000"/>
            <a:ext cx="11155680" cy="4318328"/>
          </a:xfrm>
          <a:prstGeom prst="rect">
            <a:avLst/>
          </a:prstGeom>
        </p:spPr>
      </p:pic>
      <p:sp>
        <p:nvSpPr>
          <p:cNvPr id="11" name="TextBox 10"/>
          <p:cNvSpPr txBox="1"/>
          <p:nvPr/>
        </p:nvSpPr>
        <p:spPr>
          <a:xfrm>
            <a:off x="502920" y="5623560"/>
            <a:ext cx="11155680" cy="457200"/>
          </a:xfrm>
          <a:prstGeom prst="rect">
            <a:avLst/>
          </a:prstGeom>
          <a:noFill/>
        </p:spPr>
        <p:txBody>
          <a:bodyPr wrap="square" lIns="0" rIns="0" tIns="0" bIns="0">
            <a:spAutoFit/>
          </a:bodyPr>
          <a:lstStyle/>
          <a:p>
            <a:pPr algn="l"/>
            <a:r>
              <a:rPr sz="1050" b="0" i="0">
                <a:solidFill>
                  <a:srgbClr val="5E6B85"/>
                </a:solidFill>
                <a:latin typeface="Courier New"/>
              </a:rPr>
              <a:t>Boya BY25Q128AS (JEDEC 68 40 18, read from the chip): VCC 2.7 to 3.6 V, page program 0.6 ms, sector erase 50 ms, 100k cycles. Heltec V4 datasheet tables 3.2 and 3.4. ESP-IDF Kconfig for ESP32-S3.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07/18  REV B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meshtastic/firmware issue tracker</a:t>
            </a:r>
          </a:p>
        </p:txBody>
      </p:sp>
      <p:graphicFrame>
        <p:nvGraphicFramePr>
          <p:cNvPr id="9" name="Table 8"/>
          <p:cNvGraphicFramePr>
            <a:graphicFrameLocks noGrp="1"/>
          </p:cNvGraphicFramePr>
          <p:nvPr/>
        </p:nvGraphicFramePr>
        <p:xfrm>
          <a:off x="502920" y="1371600"/>
          <a:ext cx="11155680" cy="2852928"/>
        </p:xfrm>
        <a:graphic>
          <a:graphicData uri="http://schemas.openxmlformats.org/drawingml/2006/table">
            <a:tbl>
              <a:tblPr firstRow="1" bandRow="1">
                <a:tableStyleId>{5C22544A-7EE6-4342-B048-85BDC9FD1C3A}</a:tableStyleId>
              </a:tblPr>
              <a:tblGrid>
                <a:gridCol w="1554480"/>
                <a:gridCol w="2286000"/>
                <a:gridCol w="4754880"/>
                <a:gridCol w="2560320"/>
              </a:tblGrid>
              <a:tr h="475488">
                <a:tc>
                  <a:txBody>
                    <a:bodyPr/>
                    <a:lstStyle/>
                    <a:p>
                      <a:r>
                        <a:rPr sz="1100" b="1">
                          <a:solidFill>
                            <a:srgbClr val="FFFFFF"/>
                          </a:solidFill>
                          <a:latin typeface="Cambria"/>
                        </a:rPr>
                        <a:t>Reference</a:t>
                      </a:r>
                    </a:p>
                  </a:txBody>
                  <a:tcPr marL="73152" marR="73152" marT="27432" marB="27432">
                    <a:solidFill>
                      <a:srgbClr val="16213D"/>
                    </a:solidFill>
                  </a:tcPr>
                </a:tc>
                <a:tc>
                  <a:txBody>
                    <a:bodyPr/>
                    <a:lstStyle/>
                    <a:p>
                      <a:r>
                        <a:rPr sz="1100" b="1">
                          <a:solidFill>
                            <a:srgbClr val="FFFFFF"/>
                          </a:solidFill>
                          <a:latin typeface="Cambria"/>
                        </a:rPr>
                        <a:t>Boards</a:t>
                      </a:r>
                    </a:p>
                  </a:txBody>
                  <a:tcPr marL="73152" marR="73152" marT="27432" marB="27432">
                    <a:solidFill>
                      <a:srgbClr val="16213D"/>
                    </a:solidFill>
                  </a:tcPr>
                </a:tc>
                <a:tc>
                  <a:txBody>
                    <a:bodyPr/>
                    <a:lstStyle/>
                    <a:p>
                      <a:r>
                        <a:rPr sz="1100" b="1">
                          <a:solidFill>
                            <a:srgbClr val="FFFFFF"/>
                          </a:solidFill>
                          <a:latin typeface="Cambria"/>
                        </a:rPr>
                        <a:t>Report</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475488">
                <a:tc>
                  <a:txBody>
                    <a:bodyPr/>
                    <a:lstStyle/>
                    <a:p>
                      <a:r>
                        <a:rPr sz="1100" b="0">
                          <a:solidFill>
                            <a:srgbClr val="222A3F"/>
                          </a:solidFill>
                          <a:latin typeface="Cambria"/>
                        </a:rPr>
                        <a:t>#4555</a:t>
                      </a:r>
                    </a:p>
                  </a:txBody>
                  <a:tcPr marL="73152" marR="73152" marT="27432" marB="27432">
                    <a:solidFill>
                      <a:srgbClr val="F2F5FA"/>
                    </a:solidFill>
                  </a:tcPr>
                </a:tc>
                <a:tc>
                  <a:txBody>
                    <a:bodyPr/>
                    <a:lstStyle/>
                    <a:p>
                      <a:r>
                        <a:rPr sz="1100" b="0">
                          <a:solidFill>
                            <a:srgbClr val="222A3F"/>
                          </a:solidFill>
                          <a:latin typeface="Cambria"/>
                        </a:rPr>
                        <a:t>Heltec HT-CT62, V3, V4</a:t>
                      </a:r>
                    </a:p>
                  </a:txBody>
                  <a:tcPr marL="73152" marR="73152" marT="27432" marB="27432">
                    <a:solidFill>
                      <a:srgbClr val="F2F5FA"/>
                    </a:solidFill>
                  </a:tcPr>
                </a:tc>
                <a:tc>
                  <a:txBody>
                    <a:bodyPr/>
                    <a:lstStyle/>
                    <a:p>
                      <a:r>
                        <a:rPr sz="1100" b="0">
                          <a:solidFill>
                            <a:srgbClr val="222A3F"/>
                          </a:solidFill>
                          <a:latin typeface="Cambria"/>
                        </a:rPr>
                        <a:t>Power loss in early boot resets configuration after 2 to 3 attempts</a:t>
                      </a:r>
                    </a:p>
                  </a:txBody>
                  <a:tcPr marL="73152" marR="73152" marT="27432" marB="27432">
                    <a:solidFill>
                      <a:srgbClr val="F2F5FA"/>
                    </a:solidFill>
                  </a:tcPr>
                </a:tc>
                <a:tc>
                  <a:txBody>
                    <a:bodyPr/>
                    <a:lstStyle/>
                    <a:p>
                      <a:r>
                        <a:rPr sz="1100" b="0">
                          <a:solidFill>
                            <a:srgbClr val="222A3F"/>
                          </a:solidFill>
                          <a:latin typeface="Cambria"/>
                        </a:rPr>
                        <a:t>Closed 'not planned' Oct 2025</a:t>
                      </a:r>
                    </a:p>
                  </a:txBody>
                  <a:tcPr marL="73152" marR="73152" marT="27432" marB="27432">
                    <a:solidFill>
                      <a:srgbClr val="F2F5FA"/>
                    </a:solidFill>
                  </a:tcPr>
                </a:tc>
              </a:tr>
              <a:tr h="475488">
                <a:tc>
                  <a:txBody>
                    <a:bodyPr/>
                    <a:lstStyle/>
                    <a:p>
                      <a:r>
                        <a:rPr sz="1100" b="0">
                          <a:solidFill>
                            <a:srgbClr val="222A3F"/>
                          </a:solidFill>
                          <a:latin typeface="Cambria"/>
                        </a:rPr>
                        <a:t>#4622</a:t>
                      </a:r>
                    </a:p>
                  </a:txBody>
                  <a:tcPr marL="73152" marR="73152" marT="27432" marB="27432">
                    <a:solidFill>
                      <a:srgbClr val="FFFFFF"/>
                    </a:solidFill>
                  </a:tcPr>
                </a:tc>
                <a:tc>
                  <a:txBody>
                    <a:bodyPr/>
                    <a:lstStyle/>
                    <a:p>
                      <a:r>
                        <a:rPr sz="1100" b="0">
                          <a:solidFill>
                            <a:srgbClr val="222A3F"/>
                          </a:solidFill>
                          <a:latin typeface="Cambria"/>
                        </a:rPr>
                        <a:t>Heltec V3</a:t>
                      </a:r>
                    </a:p>
                  </a:txBody>
                  <a:tcPr marL="73152" marR="73152" marT="27432" marB="27432">
                    <a:solidFill>
                      <a:srgbClr val="FFFFFF"/>
                    </a:solidFill>
                  </a:tcPr>
                </a:tc>
                <a:tc>
                  <a:txBody>
                    <a:bodyPr/>
                    <a:lstStyle/>
                    <a:p>
                      <a:r>
                        <a:rPr sz="1100" b="0">
                          <a:solidFill>
                            <a:srgbClr val="222A3F"/>
                          </a:solidFill>
                          <a:latin typeface="Cambria"/>
                        </a:rPr>
                        <a:t>Resets when the battery is empty</a:t>
                      </a:r>
                    </a:p>
                  </a:txBody>
                  <a:tcPr marL="73152" marR="73152" marT="27432" marB="27432">
                    <a:solidFill>
                      <a:srgbClr val="FFFFFF"/>
                    </a:solidFill>
                  </a:tcPr>
                </a:tc>
                <a:tc>
                  <a:txBody>
                    <a:bodyPr/>
                    <a:lstStyle/>
                    <a:p>
                      <a:r>
                        <a:rPr sz="1100" b="0">
                          <a:solidFill>
                            <a:srgbClr val="222A3F"/>
                          </a:solidFill>
                          <a:latin typeface="Cambria"/>
                        </a:rPr>
                        <a:t>Duplicate of #4555</a:t>
                      </a:r>
                    </a:p>
                  </a:txBody>
                  <a:tcPr marL="73152" marR="73152" marT="27432" marB="27432">
                    <a:solidFill>
                      <a:srgbClr val="FFFFFF"/>
                    </a:solidFill>
                  </a:tcPr>
                </a:tc>
              </a:tr>
              <a:tr h="475488">
                <a:tc>
                  <a:txBody>
                    <a:bodyPr/>
                    <a:lstStyle/>
                    <a:p>
                      <a:r>
                        <a:rPr sz="1100" b="0">
                          <a:solidFill>
                            <a:srgbClr val="222A3F"/>
                          </a:solidFill>
                          <a:latin typeface="Cambria"/>
                        </a:rPr>
                        <a:t>#2936, #3260</a:t>
                      </a:r>
                    </a:p>
                  </a:txBody>
                  <a:tcPr marL="73152" marR="73152" marT="27432" marB="27432">
                    <a:solidFill>
                      <a:srgbClr val="F2F5FA"/>
                    </a:solidFill>
                  </a:tcPr>
                </a:tc>
                <a:tc>
                  <a:txBody>
                    <a:bodyPr/>
                    <a:lstStyle/>
                    <a:p>
                      <a:r>
                        <a:rPr sz="1100" b="0">
                          <a:solidFill>
                            <a:srgbClr val="222A3F"/>
                          </a:solidFill>
                          <a:latin typeface="Cambria"/>
                        </a:rPr>
                        <a:t>RAK4631, Heltec V2</a:t>
                      </a:r>
                    </a:p>
                  </a:txBody>
                  <a:tcPr marL="73152" marR="73152" marT="27432" marB="27432">
                    <a:solidFill>
                      <a:srgbClr val="F2F5FA"/>
                    </a:solidFill>
                  </a:tcPr>
                </a:tc>
                <a:tc>
                  <a:txBody>
                    <a:bodyPr/>
                    <a:lstStyle/>
                    <a:p>
                      <a:r>
                        <a:rPr sz="1100" b="0">
                          <a:solidFill>
                            <a:srgbClr val="222A3F"/>
                          </a:solidFill>
                          <a:latin typeface="Cambria"/>
                        </a:rPr>
                        <a:t>Defaults after the battery dies; prefs files missing</a:t>
                      </a:r>
                    </a:p>
                  </a:txBody>
                  <a:tcPr marL="73152" marR="73152" marT="27432" marB="27432">
                    <a:solidFill>
                      <a:srgbClr val="F2F5FA"/>
                    </a:solidFill>
                  </a:tcPr>
                </a:tc>
                <a:tc>
                  <a:txBody>
                    <a:bodyPr/>
                    <a:lstStyle/>
                    <a:p>
                      <a:r>
                        <a:rPr sz="1100" b="0">
                          <a:solidFill>
                            <a:srgbClr val="222A3F"/>
                          </a:solidFill>
                          <a:latin typeface="Cambria"/>
                        </a:rPr>
                        <a:t>Older platform, same symptom</a:t>
                      </a:r>
                    </a:p>
                  </a:txBody>
                  <a:tcPr marL="73152" marR="73152" marT="27432" marB="27432">
                    <a:solidFill>
                      <a:srgbClr val="F2F5FA"/>
                    </a:solidFill>
                  </a:tcPr>
                </a:tc>
              </a:tr>
              <a:tr h="475488">
                <a:tc>
                  <a:txBody>
                    <a:bodyPr/>
                    <a:lstStyle/>
                    <a:p>
                      <a:r>
                        <a:rPr sz="1100" b="0">
                          <a:solidFill>
                            <a:srgbClr val="222A3F"/>
                          </a:solidFill>
                          <a:latin typeface="Cambria"/>
                        </a:rPr>
                        <a:t>#5259</a:t>
                      </a:r>
                    </a:p>
                  </a:txBody>
                  <a:tcPr marL="73152" marR="73152" marT="27432" marB="27432">
                    <a:solidFill>
                      <a:srgbClr val="FFFFFF"/>
                    </a:solidFill>
                  </a:tcPr>
                </a:tc>
                <a:tc>
                  <a:txBody>
                    <a:bodyPr/>
                    <a:lstStyle/>
                    <a:p>
                      <a:r>
                        <a:rPr sz="1100" b="0">
                          <a:solidFill>
                            <a:srgbClr val="222A3F"/>
                          </a:solidFill>
                          <a:latin typeface="Cambria"/>
                        </a:rPr>
                        <a:t>ESP32 boards</a:t>
                      </a:r>
                    </a:p>
                  </a:txBody>
                  <a:tcPr marL="73152" marR="73152" marT="27432" marB="27432">
                    <a:solidFill>
                      <a:srgbClr val="FFFFFF"/>
                    </a:solidFill>
                  </a:tcPr>
                </a:tc>
                <a:tc>
                  <a:txBody>
                    <a:bodyPr/>
                    <a:lstStyle/>
                    <a:p>
                      <a:r>
                        <a:rPr sz="1100" b="0">
                          <a:solidFill>
                            <a:srgbClr val="222A3F"/>
                          </a:solidFill>
                          <a:latin typeface="Cambria"/>
                        </a:rPr>
                        <a:t>3.10 V low-battery cutoff is below what the LDOs need</a:t>
                      </a:r>
                    </a:p>
                  </a:txBody>
                  <a:tcPr marL="73152" marR="73152" marT="27432" marB="27432">
                    <a:solidFill>
                      <a:srgbClr val="FFFFFF"/>
                    </a:solidFill>
                  </a:tcPr>
                </a:tc>
                <a:tc>
                  <a:txBody>
                    <a:bodyPr/>
                    <a:lstStyle/>
                    <a:p>
                      <a:r>
                        <a:rPr sz="1100" b="0">
                          <a:solidFill>
                            <a:srgbClr val="222A3F"/>
                          </a:solidFill>
                          <a:latin typeface="Cambria"/>
                        </a:rPr>
                        <a:t>Open</a:t>
                      </a:r>
                    </a:p>
                  </a:txBody>
                  <a:tcPr marL="73152" marR="73152" marT="27432" marB="27432">
                    <a:solidFill>
                      <a:srgbClr val="FFFFFF"/>
                    </a:solidFill>
                  </a:tcPr>
                </a:tc>
              </a:tr>
              <a:tr h="475488">
                <a:tc>
                  <a:txBody>
                    <a:bodyPr/>
                    <a:lstStyle/>
                    <a:p>
                      <a:r>
                        <a:rPr sz="1100" b="0">
                          <a:solidFill>
                            <a:srgbClr val="222A3F"/>
                          </a:solidFill>
                          <a:latin typeface="Cambria"/>
                        </a:rPr>
                        <a:t>PR #11872</a:t>
                      </a:r>
                    </a:p>
                  </a:txBody>
                  <a:tcPr marL="73152" marR="73152" marT="27432" marB="27432">
                    <a:solidFill>
                      <a:srgbClr val="F2F5FA"/>
                    </a:solidFill>
                  </a:tcPr>
                </a:tc>
                <a:tc>
                  <a:txBody>
                    <a:bodyPr/>
                    <a:lstStyle/>
                    <a:p>
                      <a:r>
                        <a:rPr sz="1100" b="0">
                          <a:solidFill>
                            <a:srgbClr val="222A3F"/>
                          </a:solidFill>
                          <a:latin typeface="Cambria"/>
                        </a:rPr>
                        <a:t>nRF52 only</a:t>
                      </a:r>
                    </a:p>
                  </a:txBody>
                  <a:tcPr marL="73152" marR="73152" marT="27432" marB="27432">
                    <a:solidFill>
                      <a:srgbClr val="F2F5FA"/>
                    </a:solidFill>
                  </a:tcPr>
                </a:tc>
                <a:tc>
                  <a:txBody>
                    <a:bodyPr/>
                    <a:lstStyle/>
                    <a:p>
                      <a:r>
                        <a:rPr sz="1100" b="0">
                          <a:solidFill>
                            <a:srgbClr val="222A3F"/>
                          </a:solidFill>
                          <a:latin typeface="Cambria"/>
                        </a:rPr>
                        <a:t>Retry saves, check the rail first, stop formatting on a low rail</a:t>
                      </a:r>
                    </a:p>
                  </a:txBody>
                  <a:tcPr marL="73152" marR="73152" marT="27432" marB="27432">
                    <a:solidFill>
                      <a:srgbClr val="F2F5FA"/>
                    </a:solidFill>
                  </a:tcPr>
                </a:tc>
                <a:tc>
                  <a:txBody>
                    <a:bodyPr/>
                    <a:lstStyle/>
                    <a:p>
                      <a:r>
                        <a:rPr sz="1100" b="0">
                          <a:solidFill>
                            <a:srgbClr val="222A3F"/>
                          </a:solidFill>
                          <a:latin typeface="Cambria"/>
                        </a:rPr>
                        <a:t>Merged; no ESP32 equivalent</a:t>
                      </a:r>
                    </a:p>
                  </a:txBody>
                  <a:tcPr marL="73152" marR="73152" marT="27432" marB="27432">
                    <a:solidFill>
                      <a:srgbClr val="F2F5FA"/>
                    </a:solidFill>
                  </a:tcPr>
                </a:tc>
              </a:tr>
            </a:tbl>
          </a:graphicData>
        </a:graphic>
      </p:graphicFrame>
      <p:sp>
        <p:nvSpPr>
          <p:cNvPr id="10" name="Rectangle 9"/>
          <p:cNvSpPr/>
          <p:nvPr/>
        </p:nvSpPr>
        <p:spPr>
          <a:xfrm>
            <a:off x="502920" y="4389120"/>
            <a:ext cx="11155680" cy="14630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4480559"/>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 IN #4555</a:t>
            </a:r>
          </a:p>
        </p:txBody>
      </p:sp>
      <p:sp>
        <p:nvSpPr>
          <p:cNvPr id="12" name="TextBox 11"/>
          <p:cNvSpPr txBox="1"/>
          <p:nvPr/>
        </p:nvSpPr>
        <p:spPr>
          <a:xfrm>
            <a:off x="667512" y="4773168"/>
            <a:ext cx="10826496" cy="1005840"/>
          </a:xfrm>
          <a:prstGeom prst="rect">
            <a:avLst/>
          </a:prstGeom>
          <a:noFill/>
        </p:spPr>
        <p:txBody>
          <a:bodyPr wrap="square" lIns="0" rIns="0" tIns="0" bIns="0">
            <a:spAutoFit/>
          </a:bodyPr>
          <a:lstStyle/>
          <a:p>
            <a:r>
              <a:rPr sz="1100">
                <a:solidFill>
                  <a:srgbClr val="C9D8F0"/>
                </a:solidFill>
                <a:latin typeface="Courier New"/>
              </a:rPr>
              <a:t>"If the brownout circuit worked, it should hold the CPU in reset when voltage is too low for flash."</a:t>
            </a:r>
          </a:p>
          <a:p>
            <a:r>
              <a:rPr sz="1100">
                <a:solidFill>
                  <a:srgbClr val="5E6B85"/>
                </a:solidFill>
                <a:latin typeface="Courier New"/>
              </a:rPr>
              <a:t>Community workaround: hard-code the configuration in userPrefs.jsonc so the defaults ARE the intended settings.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08/18  REV B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PREDICTIONS, VERDICTS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Predictions written before the measurement; verdicts after.</a:t>
            </a:r>
          </a:p>
        </p:txBody>
      </p:sp>
      <p:graphicFrame>
        <p:nvGraphicFramePr>
          <p:cNvPr id="11" name="Table 10"/>
          <p:cNvGraphicFramePr>
            <a:graphicFrameLocks noGrp="1"/>
          </p:cNvGraphicFramePr>
          <p:nvPr/>
        </p:nvGraphicFramePr>
        <p:xfrm>
          <a:off x="502920" y="1371600"/>
          <a:ext cx="11155680" cy="3291839"/>
        </p:xfrm>
        <a:graphic>
          <a:graphicData uri="http://schemas.openxmlformats.org/drawingml/2006/table">
            <a:tbl>
              <a:tblPr firstRow="1" bandRow="1">
                <a:tableStyleId>{5C22544A-7EE6-4342-B048-85BDC9FD1C3A}</a:tableStyleId>
              </a:tblPr>
              <a:tblGrid>
                <a:gridCol w="457200"/>
                <a:gridCol w="2377440"/>
                <a:gridCol w="4023360"/>
                <a:gridCol w="4297680"/>
              </a:tblGrid>
              <a:tr h="548639">
                <a:tc>
                  <a:txBody>
                    <a:bodyPr/>
                    <a:lstStyle/>
                    <a:p>
                      <a:r>
                        <a:rPr sz="1100" b="1">
                          <a:solidFill>
                            <a:srgbClr val="FFFFFF"/>
                          </a:solidFill>
                          <a:latin typeface="Cambria"/>
                        </a:rPr>
                        <a:t>#</a:t>
                      </a:r>
                    </a:p>
                  </a:txBody>
                  <a:tcPr marL="73152" marR="73152" marT="27432" marB="27432">
                    <a:solidFill>
                      <a:srgbClr val="16213D"/>
                    </a:solidFill>
                  </a:tcPr>
                </a:tc>
                <a:tc>
                  <a:txBody>
                    <a:bodyPr/>
                    <a:lstStyle/>
                    <a:p>
                      <a:r>
                        <a:rPr sz="1100" b="1">
                          <a:solidFill>
                            <a:srgbClr val="FFFFFF"/>
                          </a:solidFill>
                          <a:latin typeface="Cambria"/>
                        </a:rPr>
                        <a:t>Hypothesis</a:t>
                      </a:r>
                    </a:p>
                  </a:txBody>
                  <a:tcPr marL="73152" marR="73152" marT="27432" marB="27432">
                    <a:solidFill>
                      <a:srgbClr val="16213D"/>
                    </a:solidFill>
                  </a:tcPr>
                </a:tc>
                <a:tc>
                  <a:txBody>
                    <a:bodyPr/>
                    <a:lstStyle/>
                    <a:p>
                      <a:r>
                        <a:rPr sz="1100" b="1">
                          <a:solidFill>
                            <a:srgbClr val="FFFFFF"/>
                          </a:solidFill>
                          <a:latin typeface="Cambria"/>
                        </a:rPr>
                        <a:t>Would show</a:t>
                      </a:r>
                    </a:p>
                  </a:txBody>
                  <a:tcPr marL="73152" marR="73152" marT="27432" marB="27432">
                    <a:solidFill>
                      <a:srgbClr val="16213D"/>
                    </a:solidFill>
                  </a:tcPr>
                </a:tc>
                <a:tc>
                  <a:txBody>
                    <a:bodyPr/>
                    <a:lstStyle/>
                    <a:p>
                      <a:r>
                        <a:rPr sz="1100" b="1">
                          <a:solidFill>
                            <a:srgbClr val="FFFFFF"/>
                          </a:solidFill>
                          <a:latin typeface="Cambria"/>
                        </a:rPr>
                        <a:t>Verdict</a:t>
                      </a:r>
                    </a:p>
                  </a:txBody>
                  <a:tcPr marL="73152" marR="73152" marT="27432" marB="27432">
                    <a:solidFill>
                      <a:srgbClr val="16213D"/>
                    </a:solidFill>
                  </a:tcPr>
                </a:tc>
              </a:tr>
              <a:tr h="548639">
                <a:tc>
                  <a:txBody>
                    <a:bodyPr/>
                    <a:lstStyle/>
                    <a:p>
                      <a:r>
                        <a:rPr sz="1100" b="0">
                          <a:solidFill>
                            <a:srgbClr val="222A3F"/>
                          </a:solidFill>
                          <a:latin typeface="Cambria"/>
                        </a:rPr>
                        <a:t>H1</a:t>
                      </a:r>
                    </a:p>
                  </a:txBody>
                  <a:tcPr marL="73152" marR="73152" marT="27432" marB="27432">
                    <a:solidFill>
                      <a:srgbClr val="F2F5FA"/>
                    </a:solidFill>
                  </a:tcPr>
                </a:tc>
                <a:tc>
                  <a:txBody>
                    <a:bodyPr/>
                    <a:lstStyle/>
                    <a:p>
                      <a:r>
                        <a:rPr sz="1100" b="0">
                          <a:solidFill>
                            <a:srgbClr val="222A3F"/>
                          </a:solidFill>
                          <a:latin typeface="Cambria"/>
                        </a:rPr>
                        <a:t>Flash wear-out</a:t>
                      </a:r>
                    </a:p>
                  </a:txBody>
                  <a:tcPr marL="73152" marR="73152" marT="27432" marB="27432">
                    <a:solidFill>
                      <a:srgbClr val="F2F5FA"/>
                    </a:solidFill>
                  </a:tcPr>
                </a:tc>
                <a:tc>
                  <a:txBody>
                    <a:bodyPr/>
                    <a:lstStyle/>
                    <a:p>
                      <a:r>
                        <a:rPr sz="1100" b="0">
                          <a:solidFill>
                            <a:srgbClr val="222A3F"/>
                          </a:solidFill>
                          <a:latin typeface="Cambria"/>
                        </a:rPr>
                        <a:t>Diffuse failures; write counts near 100k per sector</a:t>
                      </a:r>
                    </a:p>
                  </a:txBody>
                  <a:tcPr marL="73152" marR="73152" marT="27432" marB="27432">
                    <a:solidFill>
                      <a:srgbClr val="F2F5FA"/>
                    </a:solidFill>
                  </a:tcPr>
                </a:tc>
                <a:tc>
                  <a:txBody>
                    <a:bodyPr/>
                    <a:lstStyle/>
                    <a:p>
                      <a:r>
                        <a:rPr sz="1100" b="0">
                          <a:solidFill>
                            <a:srgbClr val="222A3F"/>
                          </a:solidFill>
                          <a:latin typeface="Cambria"/>
                        </a:rPr>
                        <a:t>Rejected: 20 sectors per boot over 864 is millions of boots</a:t>
                      </a:r>
                    </a:p>
                  </a:txBody>
                  <a:tcPr marL="73152" marR="73152" marT="27432" marB="27432">
                    <a:solidFill>
                      <a:srgbClr val="F2F5FA"/>
                    </a:solidFill>
                  </a:tcPr>
                </a:tc>
              </a:tr>
              <a:tr h="548639">
                <a:tc>
                  <a:txBody>
                    <a:bodyPr/>
                    <a:lstStyle/>
                    <a:p>
                      <a:r>
                        <a:rPr sz="1100" b="0">
                          <a:solidFill>
                            <a:srgbClr val="222A3F"/>
                          </a:solidFill>
                          <a:latin typeface="Cambria"/>
                        </a:rPr>
                        <a:t>H2</a:t>
                      </a:r>
                    </a:p>
                  </a:txBody>
                  <a:tcPr marL="73152" marR="73152" marT="27432" marB="27432">
                    <a:solidFill>
                      <a:srgbClr val="FFFFFF"/>
                    </a:solidFill>
                  </a:tcPr>
                </a:tc>
                <a:tc>
                  <a:txBody>
                    <a:bodyPr/>
                    <a:lstStyle/>
                    <a:p>
                      <a:r>
                        <a:rPr sz="1100" b="0">
                          <a:solidFill>
                            <a:srgbClr val="222A3F"/>
                          </a:solidFill>
                          <a:latin typeface="Cambria"/>
                        </a:rPr>
                        <a:t>Defective cells</a:t>
                      </a:r>
                    </a:p>
                  </a:txBody>
                  <a:tcPr marL="73152" marR="73152" marT="27432" marB="27432">
                    <a:solidFill>
                      <a:srgbClr val="FFFFFF"/>
                    </a:solidFill>
                  </a:tcPr>
                </a:tc>
                <a:tc>
                  <a:txBody>
                    <a:bodyPr/>
                    <a:lstStyle/>
                    <a:p>
                      <a:r>
                        <a:rPr sz="1100" b="0">
                          <a:solidFill>
                            <a:srgbClr val="222A3F"/>
                          </a:solidFill>
                          <a:latin typeface="Cambria"/>
                        </a:rPr>
                        <a:t>Same sectors misread every pass; cells fail again after a rewrite</a:t>
                      </a:r>
                    </a:p>
                  </a:txBody>
                  <a:tcPr marL="73152" marR="73152" marT="27432" marB="27432">
                    <a:solidFill>
                      <a:srgbClr val="FFFFFF"/>
                    </a:solidFill>
                  </a:tcPr>
                </a:tc>
                <a:tc>
                  <a:txBody>
                    <a:bodyPr/>
                    <a:lstStyle/>
                    <a:p>
                      <a:r>
                        <a:rPr sz="1100" b="0">
                          <a:solidFill>
                            <a:srgbClr val="222A3F"/>
                          </a:solidFill>
                          <a:latin typeface="Cambria"/>
                        </a:rPr>
                        <a:t>Rejected: unstable sectors became perfect once rewritten</a:t>
                      </a:r>
                    </a:p>
                  </a:txBody>
                  <a:tcPr marL="73152" marR="73152" marT="27432" marB="27432">
                    <a:solidFill>
                      <a:srgbClr val="FFFFFF"/>
                    </a:solidFill>
                  </a:tcPr>
                </a:tc>
              </a:tr>
              <a:tr h="548639">
                <a:tc>
                  <a:txBody>
                    <a:bodyPr/>
                    <a:lstStyle/>
                    <a:p>
                      <a:r>
                        <a:rPr sz="1100" b="0">
                          <a:solidFill>
                            <a:srgbClr val="222A3F"/>
                          </a:solidFill>
                          <a:latin typeface="Cambria"/>
                        </a:rPr>
                        <a:t>H3</a:t>
                      </a:r>
                    </a:p>
                  </a:txBody>
                  <a:tcPr marL="73152" marR="73152" marT="27432" marB="27432">
                    <a:solidFill>
                      <a:srgbClr val="F2F5FA"/>
                    </a:solidFill>
                  </a:tcPr>
                </a:tc>
                <a:tc>
                  <a:txBody>
                    <a:bodyPr/>
                    <a:lstStyle/>
                    <a:p>
                      <a:r>
                        <a:rPr sz="1100" b="0">
                          <a:solidFill>
                            <a:srgbClr val="222A3F"/>
                          </a:solidFill>
                          <a:latin typeface="Cambria"/>
                        </a:rPr>
                        <a:t>Torn writes under low supply</a:t>
                      </a:r>
                    </a:p>
                  </a:txBody>
                  <a:tcPr marL="73152" marR="73152" marT="27432" marB="27432">
                    <a:solidFill>
                      <a:srgbClr val="F2F5FA"/>
                    </a:solidFill>
                  </a:tcPr>
                </a:tc>
                <a:tc>
                  <a:txBody>
                    <a:bodyPr/>
                    <a:lstStyle/>
                    <a:p>
                      <a:r>
                        <a:rPr sz="1100" b="0">
                          <a:solidFill>
                            <a:srgbClr val="222A3F"/>
                          </a:solidFill>
                          <a:latin typeface="Cambria"/>
                        </a:rPr>
                        <a:t>Follows power events; fixed sectors unstable until erased and reprogrammed</a:t>
                      </a:r>
                    </a:p>
                  </a:txBody>
                  <a:tcPr marL="73152" marR="73152" marT="27432" marB="27432">
                    <a:solidFill>
                      <a:srgbClr val="F2F5FA"/>
                    </a:solidFill>
                  </a:tcPr>
                </a:tc>
                <a:tc>
                  <a:txBody>
                    <a:bodyPr/>
                    <a:lstStyle/>
                    <a:p>
                      <a:r>
                        <a:rPr sz="1100" b="0">
                          <a:solidFill>
                            <a:srgbClr val="222A3F"/>
                          </a:solidFill>
                          <a:latin typeface="Cambria"/>
                        </a:rPr>
                        <a:t>Confirmed: measured on SF, repaired by a rewrite</a:t>
                      </a:r>
                    </a:p>
                  </a:txBody>
                  <a:tcPr marL="73152" marR="73152" marT="27432" marB="27432">
                    <a:solidFill>
                      <a:srgbClr val="F2F5FA"/>
                    </a:solidFill>
                  </a:tcPr>
                </a:tc>
              </a:tr>
              <a:tr h="548639">
                <a:tc>
                  <a:txBody>
                    <a:bodyPr/>
                    <a:lstStyle/>
                    <a:p>
                      <a:r>
                        <a:rPr sz="1100" b="0">
                          <a:solidFill>
                            <a:srgbClr val="222A3F"/>
                          </a:solidFill>
                          <a:latin typeface="Cambria"/>
                        </a:rPr>
                        <a:t>H4</a:t>
                      </a:r>
                    </a:p>
                  </a:txBody>
                  <a:tcPr marL="73152" marR="73152" marT="27432" marB="27432">
                    <a:solidFill>
                      <a:srgbClr val="FFFFFF"/>
                    </a:solidFill>
                  </a:tcPr>
                </a:tc>
                <a:tc>
                  <a:txBody>
                    <a:bodyPr/>
                    <a:lstStyle/>
                    <a:p>
                      <a:r>
                        <a:rPr sz="1100" b="0">
                          <a:solidFill>
                            <a:srgbClr val="222A3F"/>
                          </a:solidFill>
                          <a:latin typeface="Cambria"/>
                        </a:rPr>
                        <a:t>LittleFS bug</a:t>
                      </a:r>
                    </a:p>
                  </a:txBody>
                  <a:tcPr marL="73152" marR="73152" marT="27432" marB="27432">
                    <a:solidFill>
                      <a:srgbClr val="FFFFFF"/>
                    </a:solidFill>
                  </a:tcPr>
                </a:tc>
                <a:tc>
                  <a:txBody>
                    <a:bodyPr/>
                    <a:lstStyle/>
                    <a:p>
                      <a:r>
                        <a:rPr sz="1100" b="0">
                          <a:solidFill>
                            <a:srgbClr val="222A3F"/>
                          </a:solidFill>
                          <a:latin typeface="Cambria"/>
                        </a:rPr>
                        <a:t>Mount failures, corrupted directory pairs</a:t>
                      </a:r>
                    </a:p>
                  </a:txBody>
                  <a:tcPr marL="73152" marR="73152" marT="27432" marB="27432">
                    <a:solidFill>
                      <a:srgbClr val="FFFFFF"/>
                    </a:solidFill>
                  </a:tcPr>
                </a:tc>
                <a:tc>
                  <a:txBody>
                    <a:bodyPr/>
                    <a:lstStyle/>
                    <a:p>
                      <a:r>
                        <a:rPr sz="1100" b="0">
                          <a:solidFill>
                            <a:srgbClr val="222A3F"/>
                          </a:solidFill>
                          <a:latin typeface="Cambria"/>
                        </a:rPr>
                        <a:t>Rejected: mounts and decodes cleanly on both radios</a:t>
                      </a:r>
                    </a:p>
                  </a:txBody>
                  <a:tcPr marL="73152" marR="73152" marT="27432" marB="27432">
                    <a:solidFill>
                      <a:srgbClr val="FFFFFF"/>
                    </a:solidFill>
                  </a:tcPr>
                </a:tc>
              </a:tr>
              <a:tr h="548644">
                <a:tc>
                  <a:txBody>
                    <a:bodyPr/>
                    <a:lstStyle/>
                    <a:p>
                      <a:r>
                        <a:rPr sz="1100" b="0">
                          <a:solidFill>
                            <a:srgbClr val="222A3F"/>
                          </a:solidFill>
                          <a:latin typeface="Cambria"/>
                        </a:rPr>
                        <a:t>H5</a:t>
                      </a:r>
                    </a:p>
                  </a:txBody>
                  <a:tcPr marL="73152" marR="73152" marT="27432" marB="27432">
                    <a:solidFill>
                      <a:srgbClr val="F2F5FA"/>
                    </a:solidFill>
                  </a:tcPr>
                </a:tc>
                <a:tc>
                  <a:txBody>
                    <a:bodyPr/>
                    <a:lstStyle/>
                    <a:p>
                      <a:r>
                        <a:rPr sz="1100" b="0">
                          <a:solidFill>
                            <a:srgbClr val="222A3F"/>
                          </a:solidFill>
                          <a:latin typeface="Cambria"/>
                        </a:rPr>
                        <a:t>Firmware turns any failure into a reset</a:t>
                      </a:r>
                    </a:p>
                  </a:txBody>
                  <a:tcPr marL="73152" marR="73152" marT="27432" marB="27432">
                    <a:solidFill>
                      <a:srgbClr val="F2F5FA"/>
                    </a:solidFill>
                  </a:tcPr>
                </a:tc>
                <a:tc>
                  <a:txBody>
                    <a:bodyPr/>
                    <a:lstStyle/>
                    <a:p>
                      <a:r>
                        <a:rPr sz="1100" b="0">
                          <a:solidFill>
                            <a:srgbClr val="222A3F"/>
                          </a:solidFill>
                          <a:latin typeface="Cambria"/>
                        </a:rPr>
                        <a:t>Loss is permanent and silent</a:t>
                      </a:r>
                    </a:p>
                  </a:txBody>
                  <a:tcPr marL="73152" marR="73152" marT="27432" marB="27432">
                    <a:solidFill>
                      <a:srgbClr val="F2F5FA"/>
                    </a:solidFill>
                  </a:tcPr>
                </a:tc>
                <a:tc>
                  <a:txBody>
                    <a:bodyPr/>
                    <a:lstStyle/>
                    <a:p>
                      <a:r>
                        <a:rPr sz="1100" b="0">
                          <a:solidFill>
                            <a:srgbClr val="222A3F"/>
                          </a:solidFill>
                          <a:latin typeface="Cambria"/>
                        </a:rPr>
                        <a:t>Confirmed in source</a:t>
                      </a:r>
                    </a:p>
                  </a:txBody>
                  <a:tcPr marL="73152" marR="73152" marT="27432" marB="27432">
                    <a:solidFill>
                      <a:srgbClr val="F2F5FA"/>
                    </a:solidFill>
                  </a:tcPr>
                </a:tc>
              </a:tr>
            </a:tbl>
          </a:graphicData>
        </a:graphic>
      </p:graphicFrame>
      <p:sp>
        <p:nvSpPr>
          <p:cNvPr id="12" name="Rectangle 11"/>
          <p:cNvSpPr/>
          <p:nvPr/>
        </p:nvSpPr>
        <p:spPr>
          <a:xfrm>
            <a:off x="502920" y="4846320"/>
            <a:ext cx="11155680" cy="11430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965192"/>
            <a:ext cx="10826496" cy="905256"/>
          </a:xfrm>
          <a:prstGeom prst="rect">
            <a:avLst/>
          </a:prstGeom>
          <a:noFill/>
        </p:spPr>
        <p:txBody>
          <a:bodyPr wrap="square" lIns="0" rIns="0" tIns="0" bIns="0">
            <a:spAutoFit/>
          </a:bodyPr>
          <a:lstStyle/>
          <a:p>
            <a:r>
              <a:rPr sz="1350" b="1" spc="100">
                <a:solidFill>
                  <a:srgbClr val="1F9D68"/>
                </a:solidFill>
                <a:latin typeface="Cambria"/>
              </a:rPr>
              <a:t>THE DISCRIMINATING EXPERIMENT</a:t>
            </a:r>
          </a:p>
          <a:p>
            <a:pPr>
              <a:spcBef>
                <a:spcPts val="400"/>
              </a:spcBef>
            </a:pPr>
            <a:r>
              <a:rPr sz="1250">
                <a:solidFill>
                  <a:srgbClr val="222A3F"/>
                </a:solidFill>
                <a:latin typeface="Cambria"/>
              </a:rPr>
              <a:t>Three reads of the settings partition in one open connection with the firmware halted, at two serial speeds; a megabyte of program code, the NVS partition and the bootloader read the same way as controls.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09/18  REV B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280160"/>
            <a:ext cx="6766560" cy="265176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7160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664207"/>
            <a:ext cx="6437376" cy="2194560"/>
          </a:xfrm>
          <a:prstGeom prst="rect">
            <a:avLst/>
          </a:prstGeom>
          <a:noFill/>
        </p:spPr>
        <p:txBody>
          <a:bodyPr wrap="square" lIns="0" rIns="0" tIns="0" bIns="0">
            <a:spAutoFit/>
          </a:bodyPr>
          <a:lstStyle/>
          <a:p>
            <a:r>
              <a:rPr sz="1050">
                <a:solidFill>
                  <a:srgbClr val="C9D8F0"/>
                </a:solidFill>
                <a:latin typeface="Courier New"/>
              </a:rPr>
              <a:t>esp = detect_chip('COM4'); esp = esp.run_stub()</a:t>
            </a:r>
          </a:p>
          <a:p>
            <a:r>
              <a:rPr sz="1050">
                <a:solidFill>
                  <a:srgbClr val="C9D8F0"/>
                </a:solidFill>
                <a:latin typeface="Courier New"/>
              </a:rPr>
              <a:t>A = esp.read_flash(0xC90000, 0x360000)   # settings, 3.4 MB</a:t>
            </a:r>
          </a:p>
          <a:p>
            <a:r>
              <a:rPr sz="1050">
                <a:solidFill>
                  <a:srgbClr val="C9D8F0"/>
                </a:solidFill>
                <a:latin typeface="Courier New"/>
              </a:rPr>
              <a:t>B = esp.read_flash(0xC90000, 0x360000)</a:t>
            </a:r>
          </a:p>
          <a:p>
            <a:r>
              <a:rPr sz="1050">
                <a:solidFill>
                  <a:srgbClr val="C9D8F0"/>
                </a:solidFill>
                <a:latin typeface="Courier New"/>
              </a:rPr>
              <a:t>C = esp.read_flash(0xC90000, 0x360000)</a:t>
            </a:r>
          </a:p>
          <a:p>
            <a:r>
              <a:rPr sz="1050">
                <a:solidFill>
                  <a:srgbClr val="5E6B85"/>
                </a:solidFill>
                <a:latin typeface="Courier New"/>
              </a:rPr>
              <a:t>app = esp.read_flash(0x10000, 0x100000) x2   # control</a:t>
            </a:r>
          </a:p>
          <a:p>
            <a:r>
              <a:rPr sz="1050">
                <a:solidFill>
                  <a:srgbClr val="E58E1A"/>
                </a:solidFill>
                <a:latin typeface="Courier New"/>
              </a:rPr>
              <a:t>A == B ?   B == C ?   app1 == app2 ?</a:t>
            </a:r>
          </a:p>
          <a:p>
            <a:r>
              <a:rPr sz="1050">
                <a:solidFill>
                  <a:srgbClr val="5E6B85"/>
                </a:solidFill>
                <a:latin typeface="Courier New"/>
              </a:rPr>
              <a:t># each chunk is MD5-checked by the stub: a transfer error raises,</a:t>
            </a:r>
          </a:p>
          <a:p>
            <a:r>
              <a:rPr sz="1050">
                <a:solidFill>
                  <a:srgbClr val="5E6B85"/>
                </a:solidFill>
                <a:latin typeface="Courier New"/>
              </a:rPr>
              <a:t># a changed byte is what the chip returned</a:t>
            </a:r>
          </a:p>
        </p:txBody>
      </p:sp>
      <p:sp>
        <p:nvSpPr>
          <p:cNvPr id="13" name="Rectangle 12"/>
          <p:cNvSpPr/>
          <p:nvPr/>
        </p:nvSpPr>
        <p:spPr>
          <a:xfrm>
            <a:off x="7452360" y="1280160"/>
            <a:ext cx="4206240" cy="265176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99031"/>
            <a:ext cx="3877055" cy="2414015"/>
          </a:xfrm>
          <a:prstGeom prst="rect">
            <a:avLst/>
          </a:prstGeom>
          <a:noFill/>
        </p:spPr>
        <p:txBody>
          <a:bodyPr wrap="square" lIns="0" rIns="0" tIns="0" bIns="0">
            <a:spAutoFit/>
          </a:bodyPr>
          <a:lstStyle/>
          <a:p>
            <a:r>
              <a:rPr sz="1350" b="1" spc="100">
                <a:solidFill>
                  <a:srgbClr val="1F9D68"/>
                </a:solidFill>
                <a:latin typeface="Cambria"/>
              </a:rPr>
              <a:t>CONTROLS</a:t>
            </a:r>
          </a:p>
          <a:p>
            <a:pPr>
              <a:spcBef>
                <a:spcPts val="400"/>
              </a:spcBef>
            </a:pPr>
            <a:r>
              <a:rPr sz="1200">
                <a:solidFill>
                  <a:srgbClr val="222A3F"/>
                </a:solidFill>
                <a:latin typeface="Cambria"/>
              </a:rPr>
              <a:t>•  Program partition, 1 MB, twice</a:t>
            </a:r>
          </a:p>
          <a:p>
            <a:pPr>
              <a:spcBef>
                <a:spcPts val="400"/>
              </a:spcBef>
            </a:pPr>
            <a:r>
              <a:rPr sz="1200">
                <a:solidFill>
                  <a:srgbClr val="222A3F"/>
                </a:solidFill>
                <a:latin typeface="Cambria"/>
              </a:rPr>
              <a:t>•  NVS partition and bootloader, twice</a:t>
            </a:r>
          </a:p>
          <a:p>
            <a:pPr>
              <a:spcBef>
                <a:spcPts val="400"/>
              </a:spcBef>
            </a:pPr>
            <a:r>
              <a:rPr sz="1200">
                <a:solidFill>
                  <a:srgbClr val="222A3F"/>
                </a:solidFill>
                <a:latin typeface="Cambria"/>
              </a:rPr>
              <a:t>•  16 KB window, four reads, at 115200 and at 921600 baud</a:t>
            </a:r>
          </a:p>
          <a:p>
            <a:pPr>
              <a:spcBef>
                <a:spcPts val="400"/>
              </a:spcBef>
            </a:pPr>
            <a:r>
              <a:rPr sz="1200">
                <a:solidFill>
                  <a:srgbClr val="222A3F"/>
                </a:solidFill>
                <a:latin typeface="Cambria"/>
              </a:rPr>
              <a:t>•  LittleFS image mounted and every file decoded on the laptop</a:t>
            </a:r>
          </a:p>
        </p:txBody>
      </p:sp>
      <p:sp>
        <p:nvSpPr>
          <p:cNvPr id="15" name="Rectangle 14"/>
          <p:cNvSpPr/>
          <p:nvPr/>
        </p:nvSpPr>
        <p:spPr>
          <a:xfrm>
            <a:off x="502920" y="4160520"/>
            <a:ext cx="11155680" cy="178308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279392"/>
            <a:ext cx="10826496" cy="1545336"/>
          </a:xfrm>
          <a:prstGeom prst="rect">
            <a:avLst/>
          </a:prstGeom>
          <a:noFill/>
        </p:spPr>
        <p:txBody>
          <a:bodyPr wrap="square" lIns="0" rIns="0" tIns="0" bIns="0">
            <a:spAutoFit/>
          </a:bodyPr>
          <a:lstStyle/>
          <a:p>
            <a:r>
              <a:rPr sz="1350" b="1" spc="100">
                <a:solidFill>
                  <a:srgbClr val="E58E1A"/>
                </a:solidFill>
                <a:latin typeface="Cambria"/>
              </a:rPr>
              <a:t>THE PITFALL THAT COST TWO ATTEMPTS</a:t>
            </a:r>
          </a:p>
          <a:p>
            <a:pPr>
              <a:spcBef>
                <a:spcPts val="400"/>
              </a:spcBef>
            </a:pPr>
            <a:r>
              <a:rPr sz="1250">
                <a:solidFill>
                  <a:srgbClr val="222A3F"/>
                </a:solidFill>
                <a:latin typeface="Cambria"/>
              </a:rPr>
              <a:t>•  This board resets whenever the USB serial port closes: separate esptool commands hide a boot, and a boot-time flash write, between 'back-to-back' reads</a:t>
            </a:r>
          </a:p>
          <a:p>
            <a:pPr>
              <a:spcBef>
                <a:spcPts val="400"/>
              </a:spcBef>
            </a:pPr>
            <a:r>
              <a:rPr sz="1250">
                <a:solidFill>
                  <a:srgbClr val="222A3F"/>
                </a:solidFill>
                <a:latin typeface="Cambria"/>
              </a:rPr>
              <a:t>•  Only reads inside one open connection count; the pitfall is itself evidence that the radio writes flash every time it starts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10/18  REV B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EVERY PASS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SF against RG, same day, same method</a:t>
            </a:r>
          </a:p>
        </p:txBody>
      </p:sp>
      <p:pic>
        <p:nvPicPr>
          <p:cNvPr id="9" name="Picture 8" descr="g_maps_compare.png"/>
          <p:cNvPicPr>
            <a:picLocks noChangeAspect="1"/>
          </p:cNvPicPr>
          <p:nvPr/>
        </p:nvPicPr>
        <p:blipFill>
          <a:blip r:embed="rId2"/>
          <a:stretch>
            <a:fillRect/>
          </a:stretch>
        </p:blipFill>
        <p:spPr>
          <a:xfrm>
            <a:off x="502920" y="1280160"/>
            <a:ext cx="11155680" cy="3238746"/>
          </a:xfrm>
          <a:prstGeom prst="rect">
            <a:avLst/>
          </a:prstGeom>
        </p:spPr>
      </p:pic>
      <p:sp>
        <p:nvSpPr>
          <p:cNvPr id="10" name="TextBox 9"/>
          <p:cNvSpPr txBox="1"/>
          <p:nvPr/>
        </p:nvSpPr>
        <p:spPr>
          <a:xfrm>
            <a:off x="502920" y="4572000"/>
            <a:ext cx="11155680" cy="548640"/>
          </a:xfrm>
          <a:prstGeom prst="rect">
            <a:avLst/>
          </a:prstGeom>
          <a:noFill/>
        </p:spPr>
        <p:txBody>
          <a:bodyPr wrap="square" lIns="0" rIns="0" tIns="0" bIns="0">
            <a:spAutoFit/>
          </a:bodyPr>
          <a:lstStyle/>
          <a:p>
            <a:pPr algn="l"/>
            <a:r>
              <a:rPr sz="1250" b="0" i="0">
                <a:solidFill>
                  <a:srgbClr val="222A3F"/>
                </a:solidFill>
                <a:latin typeface="Cambria"/>
              </a:rPr>
              <a:t>Red sectors changed between consecutive reads with no firmware running: the same sectors on every pass, at both serial speeds, while the program partition read identically.</a:t>
            </a:r>
          </a:p>
        </p:txBody>
      </p:sp>
      <p:sp>
        <p:nvSpPr>
          <p:cNvPr id="11" name="Rectangle 10"/>
          <p:cNvSpPr/>
          <p:nvPr/>
        </p:nvSpPr>
        <p:spPr>
          <a:xfrm>
            <a:off x="502920" y="5120640"/>
            <a:ext cx="3611880" cy="10058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230368"/>
            <a:ext cx="3611880" cy="558800"/>
          </a:xfrm>
          <a:prstGeom prst="rect">
            <a:avLst/>
          </a:prstGeom>
          <a:noFill/>
        </p:spPr>
        <p:txBody>
          <a:bodyPr wrap="square" lIns="0" rIns="0" tIns="0" bIns="0">
            <a:spAutoFit/>
          </a:bodyPr>
          <a:lstStyle/>
          <a:p>
            <a:pPr algn="ctr"/>
            <a:r>
              <a:rPr sz="2200" b="1" i="0">
                <a:solidFill>
                  <a:srgbClr val="C43A4B"/>
                </a:solidFill>
                <a:latin typeface="Cambria"/>
              </a:rPr>
              <a:t>21</a:t>
            </a:r>
          </a:p>
        </p:txBody>
      </p:sp>
      <p:sp>
        <p:nvSpPr>
          <p:cNvPr id="13" name="TextBox 12"/>
          <p:cNvSpPr txBox="1"/>
          <p:nvPr/>
        </p:nvSpPr>
        <p:spPr>
          <a:xfrm>
            <a:off x="640080" y="5880608"/>
            <a:ext cx="3337560" cy="172720"/>
          </a:xfrm>
          <a:prstGeom prst="rect">
            <a:avLst/>
          </a:prstGeom>
          <a:noFill/>
        </p:spPr>
        <p:txBody>
          <a:bodyPr wrap="square" lIns="0" rIns="0" tIns="0" bIns="0">
            <a:spAutoFit/>
          </a:bodyPr>
          <a:lstStyle/>
          <a:p>
            <a:pPr algn="ctr"/>
            <a:r>
              <a:rPr sz="1100" b="0" i="0">
                <a:solidFill>
                  <a:srgbClr val="222A3F"/>
                </a:solidFill>
                <a:latin typeface="Cambria"/>
              </a:rPr>
              <a:t>unstable sectors on SF, 12 heavily</a:t>
            </a:r>
          </a:p>
        </p:txBody>
      </p:sp>
      <p:sp>
        <p:nvSpPr>
          <p:cNvPr id="14" name="Rectangle 13"/>
          <p:cNvSpPr/>
          <p:nvPr/>
        </p:nvSpPr>
        <p:spPr>
          <a:xfrm>
            <a:off x="4274820" y="5120640"/>
            <a:ext cx="3611880" cy="10058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4820" y="5230368"/>
            <a:ext cx="3611880" cy="558800"/>
          </a:xfrm>
          <a:prstGeom prst="rect">
            <a:avLst/>
          </a:prstGeom>
          <a:noFill/>
        </p:spPr>
        <p:txBody>
          <a:bodyPr wrap="square" lIns="0" rIns="0" tIns="0" bIns="0">
            <a:spAutoFit/>
          </a:bodyPr>
          <a:lstStyle/>
          <a:p>
            <a:pPr algn="ctr"/>
            <a:r>
              <a:rPr sz="2200" b="1" i="0">
                <a:solidFill>
                  <a:srgbClr val="1F9D68"/>
                </a:solidFill>
                <a:latin typeface="Cambria"/>
              </a:rPr>
              <a:t>0</a:t>
            </a:r>
          </a:p>
        </p:txBody>
      </p:sp>
      <p:sp>
        <p:nvSpPr>
          <p:cNvPr id="16" name="TextBox 15"/>
          <p:cNvSpPr txBox="1"/>
          <p:nvPr/>
        </p:nvSpPr>
        <p:spPr>
          <a:xfrm>
            <a:off x="4411980" y="5880608"/>
            <a:ext cx="3337560" cy="172720"/>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17" name="Rectangle 16"/>
          <p:cNvSpPr/>
          <p:nvPr/>
        </p:nvSpPr>
        <p:spPr>
          <a:xfrm>
            <a:off x="8046720" y="5120640"/>
            <a:ext cx="3611880" cy="10058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5230368"/>
            <a:ext cx="3611880" cy="558800"/>
          </a:xfrm>
          <a:prstGeom prst="rect">
            <a:avLst/>
          </a:prstGeom>
          <a:noFill/>
        </p:spPr>
        <p:txBody>
          <a:bodyPr wrap="square" lIns="0" rIns="0" tIns="0" bIns="0">
            <a:spAutoFit/>
          </a:bodyPr>
          <a:lstStyle/>
          <a:p>
            <a:pPr algn="ctr"/>
            <a:r>
              <a:rPr sz="2200" b="1" i="0">
                <a:solidFill>
                  <a:srgbClr val="1F9D68"/>
                </a:solidFill>
                <a:latin typeface="Cambria"/>
              </a:rPr>
              <a:t>0</a:t>
            </a:r>
          </a:p>
        </p:txBody>
      </p:sp>
      <p:sp>
        <p:nvSpPr>
          <p:cNvPr id="19" name="TextBox 18"/>
          <p:cNvSpPr txBox="1"/>
          <p:nvPr/>
        </p:nvSpPr>
        <p:spPr>
          <a:xfrm>
            <a:off x="8183880" y="5880608"/>
            <a:ext cx="3337560" cy="172720"/>
          </a:xfrm>
          <a:prstGeom prst="rect">
            <a:avLst/>
          </a:prstGeom>
          <a:noFill/>
        </p:spPr>
        <p:txBody>
          <a:bodyPr wrap="square" lIns="0" rIns="0" tIns="0" bIns="0">
            <a:spAutoFit/>
          </a:bodyPr>
          <a:lstStyle/>
          <a:p>
            <a:pPr algn="ctr"/>
            <a:r>
              <a:rPr sz="1100" b="0" i="0">
                <a:solidFill>
                  <a:srgbClr val="222A3F"/>
                </a:solidFill>
                <a:latin typeface="Cambria"/>
              </a:rPr>
              <a:t>differences in program code, NVS, bootloader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11/18  REV B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NUMBERS</a:t>
            </a:r>
          </a:p>
        </p:txBody>
      </p:sp>
      <p:pic>
        <p:nvPicPr>
          <p:cNvPr id="8" name="Picture 7" descr="g_unstable.png"/>
          <p:cNvPicPr>
            <a:picLocks noChangeAspect="1"/>
          </p:cNvPicPr>
          <p:nvPr/>
        </p:nvPicPr>
        <p:blipFill>
          <a:blip r:embed="rId2"/>
          <a:stretch>
            <a:fillRect/>
          </a:stretch>
        </p:blipFill>
        <p:spPr>
          <a:xfrm>
            <a:off x="502920" y="1188720"/>
            <a:ext cx="7223760" cy="2097221"/>
          </a:xfrm>
          <a:prstGeom prst="rect">
            <a:avLst/>
          </a:prstGeom>
        </p:spPr>
      </p:pic>
      <p:sp>
        <p:nvSpPr>
          <p:cNvPr id="9" name="Rectangle 8"/>
          <p:cNvSpPr/>
          <p:nvPr/>
        </p:nvSpPr>
        <p:spPr>
          <a:xfrm>
            <a:off x="8001000" y="1188720"/>
            <a:ext cx="1783080" cy="13258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298448"/>
            <a:ext cx="1783080" cy="508000"/>
          </a:xfrm>
          <a:prstGeom prst="rect">
            <a:avLst/>
          </a:prstGeom>
          <a:noFill/>
        </p:spPr>
        <p:txBody>
          <a:bodyPr wrap="square" lIns="0" rIns="0" tIns="0" bIns="0">
            <a:spAutoFit/>
          </a:bodyPr>
          <a:lstStyle/>
          <a:p>
            <a:pPr algn="ctr"/>
            <a:r>
              <a:rPr sz="2000" b="1" i="0">
                <a:solidFill>
                  <a:srgbClr val="E58E1A"/>
                </a:solidFill>
                <a:latin typeface="Cambria"/>
              </a:rPr>
              <a:t>117 / 107</a:t>
            </a:r>
          </a:p>
        </p:txBody>
      </p:sp>
      <p:sp>
        <p:nvSpPr>
          <p:cNvPr id="11" name="TextBox 10"/>
          <p:cNvSpPr txBox="1"/>
          <p:nvPr/>
        </p:nvSpPr>
        <p:spPr>
          <a:xfrm>
            <a:off x="8138160" y="1897888"/>
            <a:ext cx="1508760" cy="543559"/>
          </a:xfrm>
          <a:prstGeom prst="rect">
            <a:avLst/>
          </a:prstGeom>
          <a:noFill/>
        </p:spPr>
        <p:txBody>
          <a:bodyPr wrap="square" lIns="0" rIns="0" tIns="0" bIns="0">
            <a:spAutoFit/>
          </a:bodyPr>
          <a:lstStyle/>
          <a:p>
            <a:pPr algn="ctr"/>
            <a:r>
              <a:rPr sz="1100" b="0" i="0">
                <a:solidFill>
                  <a:srgbClr val="222A3F"/>
                </a:solidFill>
                <a:latin typeface="Cambria"/>
              </a:rPr>
              <a:t>differing bytes, reads 1v2 and 2v3</a:t>
            </a:r>
          </a:p>
        </p:txBody>
      </p:sp>
      <p:sp>
        <p:nvSpPr>
          <p:cNvPr id="12" name="Rectangle 11"/>
          <p:cNvSpPr/>
          <p:nvPr/>
        </p:nvSpPr>
        <p:spPr>
          <a:xfrm>
            <a:off x="9921240" y="1188720"/>
            <a:ext cx="1783080" cy="13258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1298448"/>
            <a:ext cx="1783080" cy="508000"/>
          </a:xfrm>
          <a:prstGeom prst="rect">
            <a:avLst/>
          </a:prstGeom>
          <a:noFill/>
        </p:spPr>
        <p:txBody>
          <a:bodyPr wrap="square" lIns="0" rIns="0" tIns="0" bIns="0">
            <a:spAutoFit/>
          </a:bodyPr>
          <a:lstStyle/>
          <a:p>
            <a:pPr algn="ctr"/>
            <a:r>
              <a:rPr sz="2000" b="1" i="0">
                <a:solidFill>
                  <a:srgbClr val="E58E1A"/>
                </a:solidFill>
                <a:latin typeface="Cambria"/>
              </a:rPr>
              <a:t>118</a:t>
            </a:r>
          </a:p>
        </p:txBody>
      </p:sp>
      <p:sp>
        <p:nvSpPr>
          <p:cNvPr id="14" name="TextBox 13"/>
          <p:cNvSpPr txBox="1"/>
          <p:nvPr/>
        </p:nvSpPr>
        <p:spPr>
          <a:xfrm>
            <a:off x="10058400" y="1897888"/>
            <a:ext cx="1508760" cy="543559"/>
          </a:xfrm>
          <a:prstGeom prst="rect">
            <a:avLst/>
          </a:prstGeom>
          <a:noFill/>
        </p:spPr>
        <p:txBody>
          <a:bodyPr wrap="square" lIns="0" rIns="0" tIns="0" bIns="0">
            <a:spAutoFit/>
          </a:bodyPr>
          <a:lstStyle/>
          <a:p>
            <a:pPr algn="ctr"/>
            <a:r>
              <a:rPr sz="1100" b="0" i="0">
                <a:solidFill>
                  <a:srgbClr val="222A3F"/>
                </a:solidFill>
                <a:latin typeface="Cambria"/>
              </a:rPr>
              <a:t>bits flipped, both directions</a:t>
            </a:r>
          </a:p>
        </p:txBody>
      </p:sp>
      <p:sp>
        <p:nvSpPr>
          <p:cNvPr id="15" name="Rectangle 14"/>
          <p:cNvSpPr/>
          <p:nvPr/>
        </p:nvSpPr>
        <p:spPr>
          <a:xfrm>
            <a:off x="8001000" y="2651760"/>
            <a:ext cx="1783080" cy="13258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01000" y="2761488"/>
            <a:ext cx="17830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7" name="TextBox 16"/>
          <p:cNvSpPr txBox="1"/>
          <p:nvPr/>
        </p:nvSpPr>
        <p:spPr>
          <a:xfrm>
            <a:off x="8138160" y="3360928"/>
            <a:ext cx="1508760" cy="543559"/>
          </a:xfrm>
          <a:prstGeom prst="rect">
            <a:avLst/>
          </a:prstGeom>
          <a:noFill/>
        </p:spPr>
        <p:txBody>
          <a:bodyPr wrap="square" lIns="0" rIns="0" tIns="0" bIns="0">
            <a:spAutoFit/>
          </a:bodyPr>
          <a:lstStyle/>
          <a:p>
            <a:pPr algn="ctr"/>
            <a:r>
              <a:rPr sz="1100" b="0" i="0">
                <a:solidFill>
                  <a:srgbClr val="222A3F"/>
                </a:solidFill>
                <a:latin typeface="Cambria"/>
              </a:rPr>
              <a:t>differences in 1 MB of program code</a:t>
            </a:r>
          </a:p>
        </p:txBody>
      </p:sp>
      <p:sp>
        <p:nvSpPr>
          <p:cNvPr id="18" name="Rectangle 17"/>
          <p:cNvSpPr/>
          <p:nvPr/>
        </p:nvSpPr>
        <p:spPr>
          <a:xfrm>
            <a:off x="9921240" y="2651760"/>
            <a:ext cx="1783080" cy="13258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21240" y="2761488"/>
            <a:ext cx="17830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20" name="TextBox 19"/>
          <p:cNvSpPr txBox="1"/>
          <p:nvPr/>
        </p:nvSpPr>
        <p:spPr>
          <a:xfrm>
            <a:off x="10058400" y="3360928"/>
            <a:ext cx="1508760" cy="543559"/>
          </a:xfrm>
          <a:prstGeom prst="rect">
            <a:avLst/>
          </a:prstGeom>
          <a:noFill/>
        </p:spPr>
        <p:txBody>
          <a:bodyPr wrap="square" lIns="0" rIns="0" tIns="0" bIns="0">
            <a:spAutoFit/>
          </a:bodyPr>
          <a:lstStyle/>
          <a:p>
            <a:pPr algn="ctr"/>
            <a:r>
              <a:rPr sz="1100" b="0" i="0">
                <a:solidFill>
                  <a:srgbClr val="222A3F"/>
                </a:solidFill>
                <a:latin typeface="Cambria"/>
              </a:rPr>
              <a:t>differences in NVS and bootloader</a:t>
            </a:r>
          </a:p>
        </p:txBody>
      </p:sp>
      <p:sp>
        <p:nvSpPr>
          <p:cNvPr id="21" name="Rectangle 20"/>
          <p:cNvSpPr/>
          <p:nvPr/>
        </p:nvSpPr>
        <p:spPr>
          <a:xfrm>
            <a:off x="502920" y="4206240"/>
            <a:ext cx="11155680" cy="173736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325112"/>
            <a:ext cx="10826496" cy="1499616"/>
          </a:xfrm>
          <a:prstGeom prst="rect">
            <a:avLst/>
          </a:prstGeom>
          <a:noFill/>
        </p:spPr>
        <p:txBody>
          <a:bodyPr wrap="square" lIns="0" rIns="0" tIns="0" bIns="0">
            <a:spAutoFit/>
          </a:bodyPr>
          <a:lstStyle/>
          <a:p>
            <a:r>
              <a:rPr sz="1350" b="1" spc="100">
                <a:solidFill>
                  <a:srgbClr val="C43A4B"/>
                </a:solidFill>
                <a:latin typeface="Cambria"/>
              </a:rPr>
              <a:t>READING IT</a:t>
            </a:r>
          </a:p>
          <a:p>
            <a:pPr>
              <a:spcBef>
                <a:spcPts val="400"/>
              </a:spcBef>
            </a:pPr>
            <a:r>
              <a:rPr sz="1250">
                <a:solidFill>
                  <a:srgbClr val="222A3F"/>
                </a:solidFill>
                <a:latin typeface="Cambria"/>
              </a:rPr>
              <a:t>•  Fixed sectors, both bit directions, speed-independent, code partition stable: cells whose stored charge sits at the read threshold</a:t>
            </a:r>
          </a:p>
          <a:p>
            <a:pPr>
              <a:spcBef>
                <a:spcPts val="400"/>
              </a:spcBef>
            </a:pPr>
            <a:r>
              <a:rPr sz="1250">
                <a:solidFill>
                  <a:srgbClr val="222A3F"/>
                </a:solidFill>
                <a:latin typeface="Cambria"/>
              </a:rPr>
              <a:t>•  Not a serial artifact (chunks are verified), not wear (the pattern would be diffuse), not a filesystem bug (the image mounts and decodes)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12/18  REV B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DECISIVE TEST: DISTURBED, NOT DAMAGED</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Erase, program three patterns, read five times each. Free sectors only; configuration untouched.</a:t>
            </a:r>
          </a:p>
        </p:txBody>
      </p:sp>
      <p:graphicFrame>
        <p:nvGraphicFramePr>
          <p:cNvPr id="11" name="Table 10"/>
          <p:cNvGraphicFramePr>
            <a:graphicFrameLocks noGrp="1"/>
          </p:cNvGraphicFramePr>
          <p:nvPr/>
        </p:nvGraphicFramePr>
        <p:xfrm>
          <a:off x="502920" y="1463040"/>
          <a:ext cx="11155680" cy="1828800"/>
        </p:xfrm>
        <a:graphic>
          <a:graphicData uri="http://schemas.openxmlformats.org/drawingml/2006/table">
            <a:tbl>
              <a:tblPr firstRow="1" bandRow="1">
                <a:tableStyleId>{5C22544A-7EE6-4342-B048-85BDC9FD1C3A}</a:tableStyleId>
              </a:tblPr>
              <a:tblGrid>
                <a:gridCol w="2011680"/>
                <a:gridCol w="2377440"/>
                <a:gridCol w="1691640"/>
                <a:gridCol w="1691640"/>
                <a:gridCol w="1691640"/>
                <a:gridCol w="1691640"/>
              </a:tblGrid>
              <a:tr h="457200">
                <a:tc>
                  <a:txBody>
                    <a:bodyPr/>
                    <a:lstStyle/>
                    <a:p>
                      <a:r>
                        <a:rPr sz="1200" b="1">
                          <a:solidFill>
                            <a:srgbClr val="FFFFFF"/>
                          </a:solidFill>
                          <a:latin typeface="Cambria"/>
                        </a:rPr>
                        <a:t>Sector</a:t>
                      </a:r>
                    </a:p>
                  </a:txBody>
                  <a:tcPr marL="73152" marR="73152" marT="27432" marB="27432">
                    <a:solidFill>
                      <a:srgbClr val="16213D"/>
                    </a:solidFill>
                  </a:tcPr>
                </a:tc>
                <a:tc>
                  <a:txBody>
                    <a:bodyPr/>
                    <a:lstStyle/>
                    <a:p>
                      <a:r>
                        <a:rPr sz="1200" b="1">
                          <a:solidFill>
                            <a:srgbClr val="FFFFFF"/>
                          </a:solidFill>
                          <a:latin typeface="Cambria"/>
                        </a:rPr>
                        <a:t>As found</a:t>
                      </a:r>
                    </a:p>
                  </a:txBody>
                  <a:tcPr marL="73152" marR="73152" marT="27432" marB="27432">
                    <a:solidFill>
                      <a:srgbClr val="16213D"/>
                    </a:solidFill>
                  </a:tcPr>
                </a:tc>
                <a:tc>
                  <a:txBody>
                    <a:bodyPr/>
                    <a:lstStyle/>
                    <a:p>
                      <a:r>
                        <a:rPr sz="1200" b="1">
                          <a:solidFill>
                            <a:srgbClr val="FFFFFF"/>
                          </a:solidFill>
                          <a:latin typeface="Cambria"/>
                        </a:rPr>
                        <a:t>0x00 x5</a:t>
                      </a:r>
                    </a:p>
                  </a:txBody>
                  <a:tcPr marL="73152" marR="73152" marT="27432" marB="27432">
                    <a:solidFill>
                      <a:srgbClr val="16213D"/>
                    </a:solidFill>
                  </a:tcPr>
                </a:tc>
                <a:tc>
                  <a:txBody>
                    <a:bodyPr/>
                    <a:lstStyle/>
                    <a:p>
                      <a:r>
                        <a:rPr sz="1200" b="1">
                          <a:solidFill>
                            <a:srgbClr val="FFFFFF"/>
                          </a:solidFill>
                          <a:latin typeface="Cambria"/>
                        </a:rPr>
                        <a:t>A5/5A x5</a:t>
                      </a:r>
                    </a:p>
                  </a:txBody>
                  <a:tcPr marL="73152" marR="73152" marT="27432" marB="27432">
                    <a:solidFill>
                      <a:srgbClr val="16213D"/>
                    </a:solidFill>
                  </a:tcPr>
                </a:tc>
                <a:tc>
                  <a:txBody>
                    <a:bodyPr/>
                    <a:lstStyle/>
                    <a:p>
                      <a:r>
                        <a:rPr sz="1200" b="1">
                          <a:solidFill>
                            <a:srgbClr val="FFFFFF"/>
                          </a:solidFill>
                          <a:latin typeface="Cambria"/>
                        </a:rPr>
                        <a:t>random x5</a:t>
                      </a:r>
                    </a:p>
                  </a:txBody>
                  <a:tcPr marL="73152" marR="73152" marT="27432" marB="27432">
                    <a:solidFill>
                      <a:srgbClr val="16213D"/>
                    </a:solidFill>
                  </a:tcPr>
                </a:tc>
                <a:tc>
                  <a:txBody>
                    <a:bodyPr/>
                    <a:lstStyle/>
                    <a:p>
                      <a:r>
                        <a:rPr sz="1200" b="1">
                          <a:solidFill>
                            <a:srgbClr val="FFFFFF"/>
                          </a:solidFill>
                          <a:latin typeface="Cambria"/>
                        </a:rPr>
                        <a:t>Erased x5</a:t>
                      </a:r>
                    </a:p>
                  </a:txBody>
                  <a:tcPr marL="73152" marR="73152" marT="27432" marB="27432">
                    <a:solidFill>
                      <a:srgbClr val="16213D"/>
                    </a:solidFill>
                  </a:tcPr>
                </a:tc>
              </a:tr>
              <a:tr h="457200">
                <a:tc>
                  <a:txBody>
                    <a:bodyPr/>
                    <a:lstStyle/>
                    <a:p>
                      <a:r>
                        <a:rPr sz="1200" b="0">
                          <a:solidFill>
                            <a:srgbClr val="222A3F"/>
                          </a:solidFill>
                          <a:latin typeface="Cambria"/>
                        </a:rPr>
                        <a:t>57 (worst)</a:t>
                      </a:r>
                    </a:p>
                  </a:txBody>
                  <a:tcPr marL="73152" marR="73152" marT="27432" marB="27432">
                    <a:solidFill>
                      <a:srgbClr val="F2F5FA"/>
                    </a:solidFill>
                  </a:tcPr>
                </a:tc>
                <a:tc>
                  <a:txBody>
                    <a:bodyPr/>
                    <a:lstStyle/>
                    <a:p>
                      <a:r>
                        <a:rPr sz="1200" b="0">
                          <a:solidFill>
                            <a:srgbClr val="222A3F"/>
                          </a:solidFill>
                          <a:latin typeface="Cambria"/>
                        </a:rPr>
                        <a:t>27 bytes disagree</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r>
              <a:tr h="457200">
                <a:tc>
                  <a:txBody>
                    <a:bodyPr/>
                    <a:lstStyle/>
                    <a:p>
                      <a:r>
                        <a:rPr sz="1200" b="0">
                          <a:solidFill>
                            <a:srgbClr val="222A3F"/>
                          </a:solidFill>
                          <a:latin typeface="Cambria"/>
                        </a:rPr>
                        <a:t>31</a:t>
                      </a:r>
                    </a:p>
                  </a:txBody>
                  <a:tcPr marL="73152" marR="73152" marT="27432" marB="27432">
                    <a:solidFill>
                      <a:srgbClr val="FFFFFF"/>
                    </a:solidFill>
                  </a:tcPr>
                </a:tc>
                <a:tc>
                  <a:txBody>
                    <a:bodyPr/>
                    <a:lstStyle/>
                    <a:p>
                      <a:r>
                        <a:rPr sz="1200" b="0">
                          <a:solidFill>
                            <a:srgbClr val="222A3F"/>
                          </a:solidFill>
                          <a:latin typeface="Cambria"/>
                        </a:rPr>
                        <a:t>20 bytes disagree</a:t>
                      </a:r>
                    </a:p>
                  </a:txBody>
                  <a:tcPr marL="73152" marR="73152" marT="27432" marB="27432">
                    <a:solidFill>
                      <a:srgbClr val="FFFFFF"/>
                    </a:solidFill>
                  </a:tcPr>
                </a:tc>
                <a:tc>
                  <a:txBody>
                    <a:bodyPr/>
                    <a:lstStyle/>
                    <a:p>
                      <a:r>
                        <a:rPr sz="1200" b="0">
                          <a:solidFill>
                            <a:srgbClr val="222A3F"/>
                          </a:solidFill>
                          <a:latin typeface="Cambria"/>
                        </a:rPr>
                        <a:t>clean</a:t>
                      </a:r>
                    </a:p>
                  </a:txBody>
                  <a:tcPr marL="73152" marR="73152" marT="27432" marB="27432">
                    <a:solidFill>
                      <a:srgbClr val="FFFFFF"/>
                    </a:solidFill>
                  </a:tcPr>
                </a:tc>
                <a:tc>
                  <a:txBody>
                    <a:bodyPr/>
                    <a:lstStyle/>
                    <a:p>
                      <a:r>
                        <a:rPr sz="1200" b="0">
                          <a:solidFill>
                            <a:srgbClr val="222A3F"/>
                          </a:solidFill>
                          <a:latin typeface="Cambria"/>
                        </a:rPr>
                        <a:t>clean</a:t>
                      </a:r>
                    </a:p>
                  </a:txBody>
                  <a:tcPr marL="73152" marR="73152" marT="27432" marB="27432">
                    <a:solidFill>
                      <a:srgbClr val="FFFFFF"/>
                    </a:solidFill>
                  </a:tcPr>
                </a:tc>
                <a:tc>
                  <a:txBody>
                    <a:bodyPr/>
                    <a:lstStyle/>
                    <a:p>
                      <a:r>
                        <a:rPr sz="1200" b="0">
                          <a:solidFill>
                            <a:srgbClr val="222A3F"/>
                          </a:solidFill>
                          <a:latin typeface="Cambria"/>
                        </a:rPr>
                        <a:t>clean</a:t>
                      </a:r>
                    </a:p>
                  </a:txBody>
                  <a:tcPr marL="73152" marR="73152" marT="27432" marB="27432">
                    <a:solidFill>
                      <a:srgbClr val="FFFFFF"/>
                    </a:solidFill>
                  </a:tcPr>
                </a:tc>
                <a:tc>
                  <a:txBody>
                    <a:bodyPr/>
                    <a:lstStyle/>
                    <a:p>
                      <a:r>
                        <a:rPr sz="1200" b="0">
                          <a:solidFill>
                            <a:srgbClr val="222A3F"/>
                          </a:solidFill>
                          <a:latin typeface="Cambria"/>
                        </a:rPr>
                        <a:t>clean</a:t>
                      </a:r>
                    </a:p>
                  </a:txBody>
                  <a:tcPr marL="73152" marR="73152" marT="27432" marB="27432">
                    <a:solidFill>
                      <a:srgbClr val="FFFFFF"/>
                    </a:solidFill>
                  </a:tcPr>
                </a:tc>
              </a:tr>
              <a:tr h="457200">
                <a:tc>
                  <a:txBody>
                    <a:bodyPr/>
                    <a:lstStyle/>
                    <a:p>
                      <a:r>
                        <a:rPr sz="1200" b="0">
                          <a:solidFill>
                            <a:srgbClr val="222A3F"/>
                          </a:solidFill>
                          <a:latin typeface="Cambria"/>
                        </a:rPr>
                        <a:t>200 (control)</a:t>
                      </a:r>
                    </a:p>
                  </a:txBody>
                  <a:tcPr marL="73152" marR="73152" marT="27432" marB="27432">
                    <a:solidFill>
                      <a:srgbClr val="F2F5FA"/>
                    </a:solidFill>
                  </a:tcPr>
                </a:tc>
                <a:tc>
                  <a:txBody>
                    <a:bodyPr/>
                    <a:lstStyle/>
                    <a:p>
                      <a:r>
                        <a:rPr sz="1200" b="0">
                          <a:solidFill>
                            <a:srgbClr val="222A3F"/>
                          </a:solidFill>
                          <a:latin typeface="Cambria"/>
                        </a:rPr>
                        <a:t>stable</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r>
            </a:tbl>
          </a:graphicData>
        </a:graphic>
      </p:graphicFrame>
      <p:sp>
        <p:nvSpPr>
          <p:cNvPr id="12" name="Rectangle 11"/>
          <p:cNvSpPr/>
          <p:nvPr/>
        </p:nvSpPr>
        <p:spPr>
          <a:xfrm>
            <a:off x="502920" y="3566160"/>
            <a:ext cx="3611880" cy="20116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675887"/>
            <a:ext cx="3611880" cy="1016000"/>
          </a:xfrm>
          <a:prstGeom prst="rect">
            <a:avLst/>
          </a:prstGeom>
          <a:noFill/>
        </p:spPr>
        <p:txBody>
          <a:bodyPr wrap="square" lIns="0" rIns="0" tIns="0" bIns="0">
            <a:spAutoFit/>
          </a:bodyPr>
          <a:lstStyle/>
          <a:p>
            <a:pPr algn="ctr"/>
            <a:r>
              <a:rPr sz="4000" b="1" i="0">
                <a:solidFill>
                  <a:srgbClr val="1F9D68"/>
                </a:solidFill>
                <a:latin typeface="Cambria"/>
              </a:rPr>
              <a:t>0</a:t>
            </a:r>
          </a:p>
        </p:txBody>
      </p:sp>
      <p:sp>
        <p:nvSpPr>
          <p:cNvPr id="14" name="TextBox 13"/>
          <p:cNvSpPr txBox="1"/>
          <p:nvPr/>
        </p:nvSpPr>
        <p:spPr>
          <a:xfrm>
            <a:off x="640080" y="4783328"/>
            <a:ext cx="3337560" cy="721360"/>
          </a:xfrm>
          <a:prstGeom prst="rect">
            <a:avLst/>
          </a:prstGeom>
          <a:noFill/>
        </p:spPr>
        <p:txBody>
          <a:bodyPr wrap="square" lIns="0" rIns="0" tIns="0" bIns="0">
            <a:spAutoFit/>
          </a:bodyPr>
          <a:lstStyle/>
          <a:p>
            <a:pPr algn="ctr"/>
            <a:r>
              <a:rPr sz="1100" b="0" i="0">
                <a:solidFill>
                  <a:srgbClr val="222A3F"/>
                </a:solidFill>
                <a:latin typeface="Cambria"/>
              </a:rPr>
              <a:t>mismatches in 45 reads of three patterns across two scarred sectors</a:t>
            </a:r>
          </a:p>
        </p:txBody>
      </p:sp>
      <p:sp>
        <p:nvSpPr>
          <p:cNvPr id="15" name="Rectangle 14"/>
          <p:cNvSpPr/>
          <p:nvPr/>
        </p:nvSpPr>
        <p:spPr>
          <a:xfrm>
            <a:off x="4297680" y="3566160"/>
            <a:ext cx="7360920" cy="20116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3685032"/>
            <a:ext cx="7031736" cy="1773936"/>
          </a:xfrm>
          <a:prstGeom prst="rect">
            <a:avLst/>
          </a:prstGeom>
          <a:noFill/>
        </p:spPr>
        <p:txBody>
          <a:bodyPr wrap="square" lIns="0" rIns="0" tIns="0" bIns="0">
            <a:spAutoFit/>
          </a:bodyPr>
          <a:lstStyle/>
          <a:p>
            <a:r>
              <a:rPr sz="1350" b="1" spc="100">
                <a:solidFill>
                  <a:srgbClr val="1F9D68"/>
                </a:solidFill>
                <a:latin typeface="Cambria"/>
              </a:rPr>
              <a:t>VERDICT</a:t>
            </a:r>
          </a:p>
          <a:p>
            <a:pPr>
              <a:spcBef>
                <a:spcPts val="400"/>
              </a:spcBef>
            </a:pPr>
            <a:r>
              <a:rPr sz="1250">
                <a:solidFill>
                  <a:srgbClr val="222A3F"/>
                </a:solidFill>
                <a:latin typeface="Cambria"/>
              </a:rPr>
              <a:t>•  The silicon is sound: it programs, erases and holds every pattern once written under a healthy supply</a:t>
            </a:r>
          </a:p>
          <a:p>
            <a:pPr>
              <a:spcBef>
                <a:spcPts val="400"/>
              </a:spcBef>
            </a:pPr>
            <a:r>
              <a:rPr sz="1250">
                <a:solidFill>
                  <a:srgbClr val="222A3F"/>
                </a:solidFill>
                <a:latin typeface="Cambria"/>
              </a:rPr>
              <a:t>•  The instability was the residue of earlier writes completed with the supply outside the flash's range</a:t>
            </a:r>
          </a:p>
          <a:p>
            <a:pPr>
              <a:spcBef>
                <a:spcPts val="400"/>
              </a:spcBef>
            </a:pPr>
            <a:r>
              <a:rPr sz="1250">
                <a:solidFill>
                  <a:srgbClr val="222A3F"/>
                </a:solidFill>
                <a:latin typeface="Cambria"/>
              </a:rPr>
              <a:t>•  H2 falls; H3 stands. The hardware question is closed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13/18  REV B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REPAIR, SAME DAY</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Clean erase of the settings partition on USB power, then the snapshot.</a:t>
            </a:r>
          </a:p>
        </p:txBody>
      </p:sp>
      <p:sp>
        <p:nvSpPr>
          <p:cNvPr id="11" name="Rectangle 10"/>
          <p:cNvSpPr/>
          <p:nvPr/>
        </p:nvSpPr>
        <p:spPr>
          <a:xfrm>
            <a:off x="502920" y="1371600"/>
            <a:ext cx="361188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81328"/>
            <a:ext cx="3611880" cy="914400"/>
          </a:xfrm>
          <a:prstGeom prst="rect">
            <a:avLst/>
          </a:prstGeom>
          <a:noFill/>
        </p:spPr>
        <p:txBody>
          <a:bodyPr wrap="square" lIns="0" rIns="0" tIns="0" bIns="0">
            <a:spAutoFit/>
          </a:bodyPr>
          <a:lstStyle/>
          <a:p>
            <a:pPr algn="ctr"/>
            <a:r>
              <a:rPr sz="3600" b="1" i="0">
                <a:solidFill>
                  <a:srgbClr val="1F9D68"/>
                </a:solidFill>
                <a:latin typeface="Cambria"/>
              </a:rPr>
              <a:t>21 -&gt; 0</a:t>
            </a:r>
          </a:p>
        </p:txBody>
      </p:sp>
      <p:sp>
        <p:nvSpPr>
          <p:cNvPr id="13" name="TextBox 12"/>
          <p:cNvSpPr txBox="1"/>
          <p:nvPr/>
        </p:nvSpPr>
        <p:spPr>
          <a:xfrm>
            <a:off x="640080" y="2487168"/>
            <a:ext cx="3337560" cy="731520"/>
          </a:xfrm>
          <a:prstGeom prst="rect">
            <a:avLst/>
          </a:prstGeom>
          <a:noFill/>
        </p:spPr>
        <p:txBody>
          <a:bodyPr wrap="square" lIns="0" rIns="0" tIns="0" bIns="0">
            <a:spAutoFit/>
          </a:bodyPr>
          <a:lstStyle/>
          <a:p>
            <a:pPr algn="ctr"/>
            <a:r>
              <a:rPr sz="1100" b="0" i="0">
                <a:solidFill>
                  <a:srgbClr val="222A3F"/>
                </a:solidFill>
                <a:latin typeface="Cambria"/>
              </a:rPr>
              <a:t>unstable sectors on SF, measured before and after</a:t>
            </a:r>
          </a:p>
        </p:txBody>
      </p:sp>
      <p:sp>
        <p:nvSpPr>
          <p:cNvPr id="14" name="Rectangle 13"/>
          <p:cNvSpPr/>
          <p:nvPr/>
        </p:nvSpPr>
        <p:spPr>
          <a:xfrm>
            <a:off x="4274820" y="1371600"/>
            <a:ext cx="361188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4820" y="1481328"/>
            <a:ext cx="3611880" cy="914400"/>
          </a:xfrm>
          <a:prstGeom prst="rect">
            <a:avLst/>
          </a:prstGeom>
          <a:noFill/>
        </p:spPr>
        <p:txBody>
          <a:bodyPr wrap="square" lIns="0" rIns="0" tIns="0" bIns="0">
            <a:spAutoFit/>
          </a:bodyPr>
          <a:lstStyle/>
          <a:p>
            <a:pPr algn="ctr"/>
            <a:r>
              <a:rPr sz="3600" b="1" i="0">
                <a:solidFill>
                  <a:srgbClr val="E58E1A"/>
                </a:solidFill>
                <a:latin typeface="Cambria"/>
              </a:rPr>
              <a:t>2 passes</a:t>
            </a:r>
          </a:p>
        </p:txBody>
      </p:sp>
      <p:sp>
        <p:nvSpPr>
          <p:cNvPr id="16" name="TextBox 15"/>
          <p:cNvSpPr txBox="1"/>
          <p:nvPr/>
        </p:nvSpPr>
        <p:spPr>
          <a:xfrm>
            <a:off x="4411980" y="2487168"/>
            <a:ext cx="3337560" cy="731520"/>
          </a:xfrm>
          <a:prstGeom prst="rect">
            <a:avLst/>
          </a:prstGeom>
          <a:noFill/>
        </p:spPr>
        <p:txBody>
          <a:bodyPr wrap="square" lIns="0" rIns="0" tIns="0" bIns="0">
            <a:spAutoFit/>
          </a:bodyPr>
          <a:lstStyle/>
          <a:p>
            <a:pPr algn="ctr"/>
            <a:r>
              <a:rPr sz="1100" b="0" i="0">
                <a:solidFill>
                  <a:srgbClr val="222A3F"/>
                </a:solidFill>
                <a:latin typeface="Cambria"/>
              </a:rPr>
              <a:t>of --configure: the region write reboots the radio mid-transaction</a:t>
            </a:r>
          </a:p>
        </p:txBody>
      </p:sp>
      <p:sp>
        <p:nvSpPr>
          <p:cNvPr id="17" name="Rectangle 16"/>
          <p:cNvSpPr/>
          <p:nvPr/>
        </p:nvSpPr>
        <p:spPr>
          <a:xfrm>
            <a:off x="8046720" y="1371600"/>
            <a:ext cx="361188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1481328"/>
            <a:ext cx="3611880" cy="914400"/>
          </a:xfrm>
          <a:prstGeom prst="rect">
            <a:avLst/>
          </a:prstGeom>
          <a:noFill/>
        </p:spPr>
        <p:txBody>
          <a:bodyPr wrap="square" lIns="0" rIns="0" tIns="0" bIns="0">
            <a:spAutoFit/>
          </a:bodyPr>
          <a:lstStyle/>
          <a:p>
            <a:pPr algn="ctr"/>
            <a:r>
              <a:rPr sz="3600" b="1" i="0">
                <a:solidFill>
                  <a:srgbClr val="16213D"/>
                </a:solidFill>
                <a:latin typeface="Cambria"/>
              </a:rPr>
              <a:t>same key</a:t>
            </a:r>
          </a:p>
        </p:txBody>
      </p:sp>
      <p:sp>
        <p:nvSpPr>
          <p:cNvPr id="19" name="TextBox 18"/>
          <p:cNvSpPr txBox="1"/>
          <p:nvPr/>
        </p:nvSpPr>
        <p:spPr>
          <a:xfrm>
            <a:off x="8183880" y="2487168"/>
            <a:ext cx="3337560" cy="731520"/>
          </a:xfrm>
          <a:prstGeom prst="rect">
            <a:avLst/>
          </a:prstGeom>
          <a:noFill/>
        </p:spPr>
        <p:txBody>
          <a:bodyPr wrap="square" lIns="0" rIns="0" tIns="0" bIns="0">
            <a:spAutoFit/>
          </a:bodyPr>
          <a:lstStyle/>
          <a:p>
            <a:pPr algn="ctr"/>
            <a:r>
              <a:rPr sz="1100" b="0" i="0">
                <a:solidFill>
                  <a:srgbClr val="222A3F"/>
                </a:solidFill>
                <a:latin typeface="Cambria"/>
              </a:rPr>
              <a:t>node key pair preserved; RG's node table stays valid</a:t>
            </a:r>
          </a:p>
        </p:txBody>
      </p:sp>
      <p:sp>
        <p:nvSpPr>
          <p:cNvPr id="20" name="Rectangle 19"/>
          <p:cNvSpPr/>
          <p:nvPr/>
        </p:nvSpPr>
        <p:spPr>
          <a:xfrm>
            <a:off x="502920" y="3566160"/>
            <a:ext cx="5486400" cy="23774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685032"/>
            <a:ext cx="5157216" cy="2139696"/>
          </a:xfrm>
          <a:prstGeom prst="rect">
            <a:avLst/>
          </a:prstGeom>
          <a:noFill/>
        </p:spPr>
        <p:txBody>
          <a:bodyPr wrap="square" lIns="0" rIns="0" tIns="0" bIns="0">
            <a:spAutoFit/>
          </a:bodyPr>
          <a:lstStyle/>
          <a:p>
            <a:r>
              <a:rPr sz="1350" b="1" spc="100">
                <a:solidFill>
                  <a:srgbClr val="16213D"/>
                </a:solidFill>
                <a:latin typeface="Cambria"/>
              </a:rPr>
              <a:t>STEPS</a:t>
            </a:r>
          </a:p>
          <a:p>
            <a:pPr>
              <a:spcBef>
                <a:spcPts val="400"/>
              </a:spcBef>
            </a:pPr>
            <a:r>
              <a:rPr sz="1200">
                <a:solidFill>
                  <a:srgbClr val="222A3F"/>
                </a:solidFill>
                <a:latin typeface="Cambria"/>
              </a:rPr>
              <a:t>•  esptool erase_region 0xC90000 0x360000 (USB powered)</a:t>
            </a:r>
          </a:p>
          <a:p>
            <a:pPr>
              <a:spcBef>
                <a:spcPts val="400"/>
              </a:spcBef>
            </a:pPr>
            <a:r>
              <a:rPr sz="1200">
                <a:solidFill>
                  <a:srgbClr val="222A3F"/>
                </a:solidFill>
                <a:latin typeface="Cambria"/>
              </a:rPr>
              <a:t>•  First boot: 'Failed to initialize LittleFS', format, factory defaults</a:t>
            </a:r>
          </a:p>
          <a:p>
            <a:pPr>
              <a:spcBef>
                <a:spcPts val="400"/>
              </a:spcBef>
            </a:pPr>
            <a:r>
              <a:rPr sz="1200">
                <a:solidFill>
                  <a:srgbClr val="222A3F"/>
                </a:solidFill>
                <a:latin typeface="Cambria"/>
              </a:rPr>
              <a:t>•  meshtastic --configure sf-config.yaml, twice, 20 s apart</a:t>
            </a:r>
          </a:p>
          <a:p>
            <a:pPr>
              <a:spcBef>
                <a:spcPts val="400"/>
              </a:spcBef>
            </a:pPr>
            <a:r>
              <a:rPr sz="1200">
                <a:solidFill>
                  <a:srgbClr val="222A3F"/>
                </a:solidFill>
                <a:latin typeface="Cambria"/>
              </a:rPr>
              <a:t>•  Read back, reset, read back again: identical</a:t>
            </a:r>
          </a:p>
          <a:p>
            <a:pPr>
              <a:spcBef>
                <a:spcPts val="400"/>
              </a:spcBef>
            </a:pPr>
            <a:r>
              <a:rPr sz="1200">
                <a:solidFill>
                  <a:srgbClr val="222A3F"/>
                </a:solidFill>
                <a:latin typeface="Cambria"/>
              </a:rPr>
              <a:t>•  Three reads of the partition: 0 differing bytes</a:t>
            </a:r>
          </a:p>
        </p:txBody>
      </p:sp>
      <p:sp>
        <p:nvSpPr>
          <p:cNvPr id="22" name="Rectangle 21"/>
          <p:cNvSpPr/>
          <p:nvPr/>
        </p:nvSpPr>
        <p:spPr>
          <a:xfrm>
            <a:off x="6172200" y="3566160"/>
            <a:ext cx="5486400" cy="237744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36792" y="3685032"/>
            <a:ext cx="5157216" cy="2139696"/>
          </a:xfrm>
          <a:prstGeom prst="rect">
            <a:avLst/>
          </a:prstGeom>
          <a:noFill/>
        </p:spPr>
        <p:txBody>
          <a:bodyPr wrap="square" lIns="0" rIns="0" tIns="0" bIns="0">
            <a:spAutoFit/>
          </a:bodyPr>
          <a:lstStyle/>
          <a:p>
            <a:r>
              <a:rPr sz="1350" b="1" spc="100">
                <a:solidFill>
                  <a:srgbClr val="E58E1A"/>
                </a:solidFill>
                <a:latin typeface="Cambria"/>
              </a:rPr>
              <a:t>WHAT THE FIRST PASS TAUGHT</a:t>
            </a:r>
          </a:p>
          <a:p>
            <a:pPr>
              <a:spcBef>
                <a:spcPts val="400"/>
              </a:spcBef>
            </a:pPr>
            <a:r>
              <a:rPr sz="1200">
                <a:solidFill>
                  <a:srgbClr val="222A3F"/>
                </a:solidFill>
                <a:latin typeface="Cambria"/>
              </a:rPr>
              <a:t>•  Pass 1 restored Bluetooth, region and the presets; owner, role, channel and cadence were lost in the reboot the region write triggers</a:t>
            </a:r>
          </a:p>
          <a:p>
            <a:pPr>
              <a:spcBef>
                <a:spcPts val="400"/>
              </a:spcBef>
            </a:pPr>
            <a:r>
              <a:rPr sz="1200">
                <a:solidFill>
                  <a:srgbClr val="222A3F"/>
                </a:solidFill>
                <a:latin typeface="Cambria"/>
              </a:rPr>
              <a:t>•  Now a rule in User Guide 12.2: run the command twice</a:t>
            </a:r>
          </a:p>
          <a:p>
            <a:pPr>
              <a:spcBef>
                <a:spcPts val="400"/>
              </a:spcBef>
            </a:pPr>
            <a:r>
              <a:rPr sz="1200">
                <a:solidFill>
                  <a:srgbClr val="222A3F"/>
                </a:solidFill>
                <a:latin typeface="Cambria"/>
              </a:rPr>
              <a:t>•  RG needs no repair today; its baseline is clean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14/18  REV B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Every link tagged with its class of evidence.</a:t>
            </a:r>
          </a:p>
        </p:txBody>
      </p:sp>
      <p:pic>
        <p:nvPicPr>
          <p:cNvPr id="9" name="Picture 8" descr="g_chain.png"/>
          <p:cNvPicPr>
            <a:picLocks noChangeAspect="1"/>
          </p:cNvPicPr>
          <p:nvPr/>
        </p:nvPicPr>
        <p:blipFill>
          <a:blip r:embed="rId2"/>
          <a:stretch>
            <a:fillRect/>
          </a:stretch>
        </p:blipFill>
        <p:spPr>
          <a:xfrm>
            <a:off x="502920" y="1280160"/>
            <a:ext cx="11155680" cy="2339094"/>
          </a:xfrm>
          <a:prstGeom prst="rect">
            <a:avLst/>
          </a:prstGeom>
        </p:spPr>
      </p:pic>
      <p:graphicFrame>
        <p:nvGraphicFramePr>
          <p:cNvPr id="10" name="Table 9"/>
          <p:cNvGraphicFramePr>
            <a:graphicFrameLocks noGrp="1"/>
          </p:cNvGraphicFramePr>
          <p:nvPr/>
        </p:nvGraphicFramePr>
        <p:xfrm>
          <a:off x="502920" y="3749039"/>
          <a:ext cx="11155680" cy="2304288"/>
        </p:xfrm>
        <a:graphic>
          <a:graphicData uri="http://schemas.openxmlformats.org/drawingml/2006/table">
            <a:tbl>
              <a:tblPr firstRow="1" bandRow="1">
                <a:tableStyleId>{5C22544A-7EE6-4342-B048-85BDC9FD1C3A}</a:tableStyleId>
              </a:tblPr>
              <a:tblGrid>
                <a:gridCol w="3657600"/>
                <a:gridCol w="4754880"/>
                <a:gridCol w="2743200"/>
              </a:tblGrid>
              <a:tr h="384048">
                <a:tc>
                  <a:txBody>
                    <a:bodyPr/>
                    <a:lstStyle/>
                    <a:p>
                      <a:r>
                        <a:rPr sz="1100" b="1">
                          <a:solidFill>
                            <a:srgbClr val="FFFFFF"/>
                          </a:solidFill>
                          <a:latin typeface="Cambria"/>
                        </a:rPr>
                        <a:t>Link</a:t>
                      </a:r>
                    </a:p>
                  </a:txBody>
                  <a:tcPr marL="73152" marR="73152" marT="27432" marB="27432">
                    <a:solidFill>
                      <a:srgbClr val="16213D"/>
                    </a:solidFill>
                  </a:tcPr>
                </a:tc>
                <a:tc>
                  <a:txBody>
                    <a:bodyPr/>
                    <a:lstStyle/>
                    <a:p>
                      <a:r>
                        <a:rPr sz="1100" b="1">
                          <a:solidFill>
                            <a:srgbClr val="FFFFFF"/>
                          </a:solidFill>
                          <a:latin typeface="Cambria"/>
                        </a:rPr>
                        <a:t>Evidence</a:t>
                      </a:r>
                    </a:p>
                  </a:txBody>
                  <a:tcPr marL="73152" marR="73152" marT="27432" marB="27432">
                    <a:solidFill>
                      <a:srgbClr val="16213D"/>
                    </a:solidFill>
                  </a:tcPr>
                </a:tc>
                <a:tc>
                  <a:txBody>
                    <a:bodyPr/>
                    <a:lstStyle/>
                    <a:p>
                      <a:r>
                        <a:rPr sz="1100" b="1">
                          <a:solidFill>
                            <a:srgbClr val="FFFFFF"/>
                          </a:solidFill>
                          <a:latin typeface="Cambria"/>
                        </a:rPr>
                        <a:t>Class</a:t>
                      </a:r>
                    </a:p>
                  </a:txBody>
                  <a:tcPr marL="73152" marR="73152" marT="27432" marB="27432">
                    <a:solidFill>
                      <a:srgbClr val="16213D"/>
                    </a:solidFill>
                  </a:tcPr>
                </a:tc>
              </a:tr>
              <a:tr h="384048">
                <a:tc>
                  <a:txBody>
                    <a:bodyPr/>
                    <a:lstStyle/>
                    <a:p>
                      <a:r>
                        <a:rPr sz="1100" b="0">
                          <a:solidFill>
                            <a:srgbClr val="222A3F"/>
                          </a:solidFill>
                          <a:latin typeface="Cambria"/>
                        </a:rPr>
                        <a:t>Flat battery, reboot churn on recovery</a:t>
                      </a:r>
                    </a:p>
                  </a:txBody>
                  <a:tcPr marL="73152" marR="73152" marT="27432" marB="27432">
                    <a:solidFill>
                      <a:srgbClr val="F2F5FA"/>
                    </a:solidFill>
                  </a:tcPr>
                </a:tc>
                <a:tc>
                  <a:txBody>
                    <a:bodyPr/>
                    <a:lstStyle/>
                    <a:p>
                      <a:r>
                        <a:rPr sz="1100" b="0">
                          <a:solidFill>
                            <a:srgbClr val="222A3F"/>
                          </a:solidFill>
                          <a:latin typeface="Cambria"/>
                        </a:rPr>
                        <a:t>3 of 4 incidents; #4555 reproduces it</a:t>
                      </a:r>
                    </a:p>
                  </a:txBody>
                  <a:tcPr marL="73152" marR="73152" marT="27432" marB="27432">
                    <a:solidFill>
                      <a:srgbClr val="F2F5FA"/>
                    </a:solidFill>
                  </a:tcPr>
                </a:tc>
                <a:tc>
                  <a:txBody>
                    <a:bodyPr/>
                    <a:lstStyle/>
                    <a:p>
                      <a:r>
                        <a:rPr sz="1100" b="0">
                          <a:solidFill>
                            <a:srgbClr val="222A3F"/>
                          </a:solidFill>
                          <a:latin typeface="Cambria"/>
                        </a:rPr>
                        <a:t>Observed</a:t>
                      </a:r>
                    </a:p>
                  </a:txBody>
                  <a:tcPr marL="73152" marR="73152" marT="27432" marB="27432">
                    <a:solidFill>
                      <a:srgbClr val="F2F5FA"/>
                    </a:solidFill>
                  </a:tcPr>
                </a:tc>
              </a:tr>
              <a:tr h="384048">
                <a:tc>
                  <a:txBody>
                    <a:bodyPr/>
                    <a:lstStyle/>
                    <a:p>
                      <a:r>
                        <a:rPr sz="1100" b="0">
                          <a:solidFill>
                            <a:srgbClr val="222A3F"/>
                          </a:solidFill>
                          <a:latin typeface="Cambria"/>
                        </a:rPr>
                        <a:t>Flash write on every boot, no voltage gate</a:t>
                      </a:r>
                    </a:p>
                  </a:txBody>
                  <a:tcPr marL="73152" marR="73152" marT="27432" marB="27432">
                    <a:solidFill>
                      <a:srgbClr val="FFFFFF"/>
                    </a:solidFill>
                  </a:tcPr>
                </a:tc>
                <a:tc>
                  <a:txBody>
                    <a:bodyPr/>
                    <a:lstStyle/>
                    <a:p>
                      <a:r>
                        <a:rPr sz="1100" b="0">
                          <a:solidFill>
                            <a:srgbClr val="222A3F"/>
                          </a:solidFill>
                          <a:latin typeface="Cambria"/>
                        </a:rPr>
                        <a:t>Boot log; PowerHAL.cpp stub</a:t>
                      </a:r>
                    </a:p>
                  </a:txBody>
                  <a:tcPr marL="73152" marR="73152" marT="27432" marB="27432">
                    <a:solidFill>
                      <a:srgbClr val="FFFFFF"/>
                    </a:solidFill>
                  </a:tcPr>
                </a:tc>
                <a:tc>
                  <a:txBody>
                    <a:bodyPr/>
                    <a:lstStyle/>
                    <a:p>
                      <a:r>
                        <a:rPr sz="1100" b="0">
                          <a:solidFill>
                            <a:srgbClr val="222A3F"/>
                          </a:solidFill>
                          <a:latin typeface="Cambria"/>
                        </a:rPr>
                        <a:t>Verified in source</a:t>
                      </a:r>
                    </a:p>
                  </a:txBody>
                  <a:tcPr marL="73152" marR="73152" marT="27432" marB="27432">
                    <a:solidFill>
                      <a:srgbClr val="FFFFFF"/>
                    </a:solidFill>
                  </a:tcPr>
                </a:tc>
              </a:tr>
              <a:tr h="384048">
                <a:tc>
                  <a:txBody>
                    <a:bodyPr/>
                    <a:lstStyle/>
                    <a:p>
                      <a:r>
                        <a:rPr sz="1100" b="0">
                          <a:solidFill>
                            <a:srgbClr val="222A3F"/>
                          </a:solidFill>
                          <a:latin typeface="Cambria"/>
                        </a:rPr>
                        <a:t>Rail between 2.44 and 2.7 V during a write</a:t>
                      </a:r>
                    </a:p>
                  </a:txBody>
                  <a:tcPr marL="73152" marR="73152" marT="27432" marB="27432">
                    <a:solidFill>
                      <a:srgbClr val="F2F5FA"/>
                    </a:solidFill>
                  </a:tcPr>
                </a:tc>
                <a:tc>
                  <a:txBody>
                    <a:bodyPr/>
                    <a:lstStyle/>
                    <a:p>
                      <a:r>
                        <a:rPr sz="1100" b="0">
                          <a:solidFill>
                            <a:srgbClr val="222A3F"/>
                          </a:solidFill>
                          <a:latin typeface="Cambria"/>
                        </a:rPr>
                        <a:t>Datasheets, sdkconfig, 750 mA TX pulses</a:t>
                      </a:r>
                    </a:p>
                  </a:txBody>
                  <a:tcPr marL="73152" marR="73152" marT="27432" marB="27432">
                    <a:solidFill>
                      <a:srgbClr val="F2F5FA"/>
                    </a:solidFill>
                  </a:tcPr>
                </a:tc>
                <a:tc>
                  <a:txBody>
                    <a:bodyPr/>
                    <a:lstStyle/>
                    <a:p>
                      <a:r>
                        <a:rPr sz="1100" b="0">
                          <a:solidFill>
                            <a:srgbClr val="222A3F"/>
                          </a:solidFill>
                          <a:latin typeface="Cambria"/>
                        </a:rPr>
                        <a:t>Inferred (scope capture pending)</a:t>
                      </a:r>
                    </a:p>
                  </a:txBody>
                  <a:tcPr marL="73152" marR="73152" marT="27432" marB="27432">
                    <a:solidFill>
                      <a:srgbClr val="F2F5FA"/>
                    </a:solidFill>
                  </a:tcPr>
                </a:tc>
              </a:tr>
              <a:tr h="384048">
                <a:tc>
                  <a:txBody>
                    <a:bodyPr/>
                    <a:lstStyle/>
                    <a:p>
                      <a:r>
                        <a:rPr sz="1100" b="0">
                          <a:solidFill>
                            <a:srgbClr val="222A3F"/>
                          </a:solidFill>
                          <a:latin typeface="Cambria"/>
                        </a:rPr>
                        <a:t>Cells left half-programmed</a:t>
                      </a:r>
                    </a:p>
                  </a:txBody>
                  <a:tcPr marL="73152" marR="73152" marT="27432" marB="27432">
                    <a:solidFill>
                      <a:srgbClr val="FFFFFF"/>
                    </a:solidFill>
                  </a:tcPr>
                </a:tc>
                <a:tc>
                  <a:txBody>
                    <a:bodyPr/>
                    <a:lstStyle/>
                    <a:p>
                      <a:r>
                        <a:rPr sz="1100" b="0">
                          <a:solidFill>
                            <a:srgbClr val="222A3F"/>
                          </a:solidFill>
                          <a:latin typeface="Cambria"/>
                        </a:rPr>
                        <a:t>SF sector map; healed by rewrite</a:t>
                      </a:r>
                    </a:p>
                  </a:txBody>
                  <a:tcPr marL="73152" marR="73152" marT="27432" marB="27432">
                    <a:solidFill>
                      <a:srgbClr val="FFFFFF"/>
                    </a:solidFill>
                  </a:tcPr>
                </a:tc>
                <a:tc>
                  <a:txBody>
                    <a:bodyPr/>
                    <a:lstStyle/>
                    <a:p>
                      <a:r>
                        <a:rPr sz="1100" b="0">
                          <a:solidFill>
                            <a:srgbClr val="222A3F"/>
                          </a:solidFill>
                          <a:latin typeface="Cambria"/>
                        </a:rPr>
                        <a:t>Measured</a:t>
                      </a:r>
                    </a:p>
                  </a:txBody>
                  <a:tcPr marL="73152" marR="73152" marT="27432" marB="27432">
                    <a:solidFill>
                      <a:srgbClr val="FFFFFF"/>
                    </a:solidFill>
                  </a:tcPr>
                </a:tc>
              </a:tr>
              <a:tr h="384048">
                <a:tc>
                  <a:txBody>
                    <a:bodyPr/>
                    <a:lstStyle/>
                    <a:p>
                      <a:r>
                        <a:rPr sz="1100" b="0">
                          <a:solidFill>
                            <a:srgbClr val="222A3F"/>
                          </a:solidFill>
                          <a:latin typeface="Cambria"/>
                        </a:rPr>
                        <a:t>Decode fails, defaults installed and saved</a:t>
                      </a:r>
                    </a:p>
                  </a:txBody>
                  <a:tcPr marL="73152" marR="73152" marT="27432" marB="27432">
                    <a:solidFill>
                      <a:srgbClr val="F2F5FA"/>
                    </a:solidFill>
                  </a:tcPr>
                </a:tc>
                <a:tc>
                  <a:txBody>
                    <a:bodyPr/>
                    <a:lstStyle/>
                    <a:p>
                      <a:r>
                        <a:rPr sz="1100" b="0">
                          <a:solidFill>
                            <a:srgbClr val="222A3F"/>
                          </a:solidFill>
                          <a:latin typeface="Cambria"/>
                        </a:rPr>
                        <a:t>NodeDB.cpp; the losses themselves</a:t>
                      </a:r>
                    </a:p>
                  </a:txBody>
                  <a:tcPr marL="73152" marR="73152" marT="27432" marB="27432">
                    <a:solidFill>
                      <a:srgbClr val="F2F5FA"/>
                    </a:solidFill>
                  </a:tcPr>
                </a:tc>
                <a:tc>
                  <a:txBody>
                    <a:bodyPr/>
                    <a:lstStyle/>
                    <a:p>
                      <a:r>
                        <a:rPr sz="1100" b="0">
                          <a:solidFill>
                            <a:srgbClr val="222A3F"/>
                          </a:solidFill>
                          <a:latin typeface="Cambria"/>
                        </a:rPr>
                        <a:t>Verified in source</a:t>
                      </a:r>
                    </a:p>
                  </a:txBody>
                  <a:tcPr marL="73152" marR="73152" marT="27432" marB="27432">
                    <a:solidFill>
                      <a:srgbClr val="F2F5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15/18  REV B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PLAN, RANKED BY LEVERAGE</a:t>
            </a:r>
          </a:p>
        </p:txBody>
      </p:sp>
      <p:graphicFrame>
        <p:nvGraphicFramePr>
          <p:cNvPr id="10" name="Table 9"/>
          <p:cNvGraphicFramePr>
            <a:graphicFrameLocks noGrp="1"/>
          </p:cNvGraphicFramePr>
          <p:nvPr/>
        </p:nvGraphicFramePr>
        <p:xfrm>
          <a:off x="502920" y="1280160"/>
          <a:ext cx="11155679" cy="3950208"/>
        </p:xfrm>
        <a:graphic>
          <a:graphicData uri="http://schemas.openxmlformats.org/drawingml/2006/table">
            <a:tbl>
              <a:tblPr firstRow="1" bandRow="1">
                <a:tableStyleId>{5C22544A-7EE6-4342-B048-85BDC9FD1C3A}</a:tableStyleId>
              </a:tblPr>
              <a:tblGrid>
                <a:gridCol w="365760"/>
                <a:gridCol w="4572000"/>
                <a:gridCol w="3749039"/>
                <a:gridCol w="1188720"/>
                <a:gridCol w="1280160"/>
              </a:tblGrid>
              <a:tr h="658368">
                <a:tc>
                  <a:txBody>
                    <a:bodyPr/>
                    <a:lstStyle/>
                    <a:p>
                      <a:r>
                        <a:rPr sz="1100" b="1">
                          <a:solidFill>
                            <a:srgbClr val="FFFFFF"/>
                          </a:solidFill>
                          <a:latin typeface="Cambria"/>
                        </a:rPr>
                        <a:t>#</a:t>
                      </a:r>
                    </a:p>
                  </a:txBody>
                  <a:tcPr marL="73152" marR="73152" marT="27432" marB="27432">
                    <a:solidFill>
                      <a:srgbClr val="16213D"/>
                    </a:solidFill>
                  </a:tcPr>
                </a:tc>
                <a:tc>
                  <a:txBody>
                    <a:bodyPr/>
                    <a:lstStyle/>
                    <a:p>
                      <a:r>
                        <a:rPr sz="1100" b="1">
                          <a:solidFill>
                            <a:srgbClr val="FFFFFF"/>
                          </a:solidFill>
                          <a:latin typeface="Cambria"/>
                        </a:rPr>
                        <a:t>Fix</a:t>
                      </a:r>
                    </a:p>
                  </a:txBody>
                  <a:tcPr marL="73152" marR="73152" marT="27432" marB="27432">
                    <a:solidFill>
                      <a:srgbClr val="16213D"/>
                    </a:solidFill>
                  </a:tcPr>
                </a:tc>
                <a:tc>
                  <a:txBody>
                    <a:bodyPr/>
                    <a:lstStyle/>
                    <a:p>
                      <a:r>
                        <a:rPr sz="1100" b="1">
                          <a:solidFill>
                            <a:srgbClr val="FFFFFF"/>
                          </a:solidFill>
                          <a:latin typeface="Cambria"/>
                        </a:rPr>
                        <a:t>Effect</a:t>
                      </a:r>
                    </a:p>
                  </a:txBody>
                  <a:tcPr marL="73152" marR="73152" marT="27432" marB="27432">
                    <a:solidFill>
                      <a:srgbClr val="16213D"/>
                    </a:solidFill>
                  </a:tcPr>
                </a:tc>
                <a:tc>
                  <a:txBody>
                    <a:bodyPr/>
                    <a:lstStyle/>
                    <a:p>
                      <a:r>
                        <a:rPr sz="1100" b="1">
                          <a:solidFill>
                            <a:srgbClr val="FFFFFF"/>
                          </a:solidFill>
                          <a:latin typeface="Cambria"/>
                        </a:rPr>
                        <a:t>Effort</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658368">
                <a:tc>
                  <a:txBody>
                    <a:bodyPr/>
                    <a:lstStyle/>
                    <a:p>
                      <a:r>
                        <a:rPr sz="1100" b="0">
                          <a:solidFill>
                            <a:srgbClr val="222A3F"/>
                          </a:solidFill>
                          <a:latin typeface="Cambria"/>
                        </a:rPr>
                        <a:t>1</a:t>
                      </a:r>
                    </a:p>
                  </a:txBody>
                  <a:tcPr marL="73152" marR="73152" marT="27432" marB="27432">
                    <a:solidFill>
                      <a:srgbClr val="F2F5FA"/>
                    </a:solidFill>
                  </a:tcPr>
                </a:tc>
                <a:tc>
                  <a:txBody>
                    <a:bodyPr/>
                    <a:lstStyle/>
                    <a:p>
                      <a:r>
                        <a:rPr sz="1100" b="0">
                          <a:solidFill>
                            <a:srgbClr val="222A3F"/>
                          </a:solidFill>
                          <a:latin typeface="Cambria"/>
                        </a:rPr>
                        <a:t>Build with our configuration as the defaults (userPrefs.jsonc + NO_PIN patch)</a:t>
                      </a:r>
                    </a:p>
                  </a:txBody>
                  <a:tcPr marL="73152" marR="73152" marT="27432" marB="27432">
                    <a:solidFill>
                      <a:srgbClr val="F2F5FA"/>
                    </a:solidFill>
                  </a:tcPr>
                </a:tc>
                <a:tc>
                  <a:txBody>
                    <a:bodyPr/>
                    <a:lstStyle/>
                    <a:p>
                      <a:r>
                        <a:rPr sz="1100" b="0">
                          <a:solidFill>
                            <a:srgbClr val="222A3F"/>
                          </a:solidFill>
                          <a:latin typeface="Cambria"/>
                        </a:rPr>
                        <a:t>A revert restores the intended state; the failure becomes invisible</a:t>
                      </a:r>
                    </a:p>
                  </a:txBody>
                  <a:tcPr marL="73152" marR="73152" marT="27432" marB="27432">
                    <a:solidFill>
                      <a:srgbClr val="F2F5FA"/>
                    </a:solidFill>
                  </a:tcPr>
                </a:tc>
                <a:tc>
                  <a:txBody>
                    <a:bodyPr/>
                    <a:lstStyle/>
                    <a:p>
                      <a:r>
                        <a:rPr sz="1100" b="0">
                          <a:solidFill>
                            <a:srgbClr val="222A3F"/>
                          </a:solidFill>
                          <a:latin typeface="Cambria"/>
                        </a:rPr>
                        <a:t>1 day</a:t>
                      </a:r>
                    </a:p>
                  </a:txBody>
                  <a:tcPr marL="73152" marR="73152" marT="27432" marB="27432">
                    <a:solidFill>
                      <a:srgbClr val="F2F5FA"/>
                    </a:solidFill>
                  </a:tcPr>
                </a:tc>
                <a:tc>
                  <a:txBody>
                    <a:bodyPr/>
                    <a:lstStyle/>
                    <a:p>
                      <a:r>
                        <a:rPr sz="1100" b="0">
                          <a:solidFill>
                            <a:srgbClr val="222A3F"/>
                          </a:solidFill>
                          <a:latin typeface="Cambria"/>
                        </a:rPr>
                        <a:t>next</a:t>
                      </a:r>
                    </a:p>
                  </a:txBody>
                  <a:tcPr marL="73152" marR="73152" marT="27432" marB="27432">
                    <a:solidFill>
                      <a:srgbClr val="F2F5FA"/>
                    </a:solidFill>
                  </a:tcPr>
                </a:tc>
              </a:tr>
              <a:tr h="658368">
                <a:tc>
                  <a:txBody>
                    <a:bodyPr/>
                    <a:lstStyle/>
                    <a:p>
                      <a:r>
                        <a:rPr sz="1100" b="0">
                          <a:solidFill>
                            <a:srgbClr val="222A3F"/>
                          </a:solidFill>
                          <a:latin typeface="Cambria"/>
                        </a:rPr>
                        <a:t>2</a:t>
                      </a:r>
                    </a:p>
                  </a:txBody>
                  <a:tcPr marL="73152" marR="73152" marT="27432" marB="27432">
                    <a:solidFill>
                      <a:srgbClr val="FFFFFF"/>
                    </a:solidFill>
                  </a:tcPr>
                </a:tc>
                <a:tc>
                  <a:txBody>
                    <a:bodyPr/>
                    <a:lstStyle/>
                    <a:p>
                      <a:r>
                        <a:rPr sz="1100" b="0">
                          <a:solidFill>
                            <a:srgbClr val="222A3F"/>
                          </a:solidFill>
                          <a:latin typeface="Cambria"/>
                        </a:rPr>
                        <a:t>ESP32 power gate: refuse saves below 3.5 V on battery; drop the boot-time device.proto rewrite</a:t>
                      </a:r>
                    </a:p>
                  </a:txBody>
                  <a:tcPr marL="73152" marR="73152" marT="27432" marB="27432">
                    <a:solidFill>
                      <a:srgbClr val="FFFFFF"/>
                    </a:solidFill>
                  </a:tcPr>
                </a:tc>
                <a:tc>
                  <a:txBody>
                    <a:bodyPr/>
                    <a:lstStyle/>
                    <a:p>
                      <a:r>
                        <a:rPr sz="1100" b="0">
                          <a:solidFill>
                            <a:srgbClr val="222A3F"/>
                          </a:solidFill>
                          <a:latin typeface="Cambria"/>
                        </a:rPr>
                        <a:t>Removes the write that happens at the worst moment</a:t>
                      </a:r>
                    </a:p>
                  </a:txBody>
                  <a:tcPr marL="73152" marR="73152" marT="27432" marB="27432">
                    <a:solidFill>
                      <a:srgbClr val="FFFFFF"/>
                    </a:solidFill>
                  </a:tcPr>
                </a:tc>
                <a:tc>
                  <a:txBody>
                    <a:bodyPr/>
                    <a:lstStyle/>
                    <a:p>
                      <a:r>
                        <a:rPr sz="1100" b="0">
                          <a:solidFill>
                            <a:srgbClr val="222A3F"/>
                          </a:solidFill>
                          <a:latin typeface="Cambria"/>
                        </a:rPr>
                        <a:t>1 day + test</a:t>
                      </a:r>
                    </a:p>
                  </a:txBody>
                  <a:tcPr marL="73152" marR="73152" marT="27432" marB="27432">
                    <a:solidFill>
                      <a:srgbClr val="FFFFFF"/>
                    </a:solidFill>
                  </a:tcPr>
                </a:tc>
                <a:tc>
                  <a:txBody>
                    <a:bodyPr/>
                    <a:lstStyle/>
                    <a:p>
                      <a:r>
                        <a:rPr sz="1100" b="0">
                          <a:solidFill>
                            <a:srgbClr val="222A3F"/>
                          </a:solidFill>
                          <a:latin typeface="Cambria"/>
                        </a:rPr>
                        <a:t>next</a:t>
                      </a:r>
                    </a:p>
                  </a:txBody>
                  <a:tcPr marL="73152" marR="73152" marT="27432" marB="27432">
                    <a:solidFill>
                      <a:srgbClr val="FFFFFF"/>
                    </a:solidFill>
                  </a:tcPr>
                </a:tc>
              </a:tr>
              <a:tr h="658368">
                <a:tc>
                  <a:txBody>
                    <a:bodyPr/>
                    <a:lstStyle/>
                    <a:p>
                      <a:r>
                        <a:rPr sz="1100" b="0">
                          <a:solidFill>
                            <a:srgbClr val="222A3F"/>
                          </a:solidFill>
                          <a:latin typeface="Cambria"/>
                        </a:rPr>
                        <a:t>3</a:t>
                      </a:r>
                    </a:p>
                  </a:txBody>
                  <a:tcPr marL="73152" marR="73152" marT="27432" marB="27432">
                    <a:solidFill>
                      <a:srgbClr val="F2F5FA"/>
                    </a:solidFill>
                  </a:tcPr>
                </a:tc>
                <a:tc>
                  <a:txBody>
                    <a:bodyPr/>
                    <a:lstStyle/>
                    <a:p>
                      <a:r>
                        <a:rPr sz="1100" b="0">
                          <a:solidFill>
                            <a:srgbClr val="222A3F"/>
                          </a:solidFill>
                          <a:latin typeface="Cambria"/>
                        </a:rPr>
                        <a:t>Clean erase and re-provision of scarred partitions</a:t>
                      </a:r>
                    </a:p>
                  </a:txBody>
                  <a:tcPr marL="73152" marR="73152" marT="27432" marB="27432">
                    <a:solidFill>
                      <a:srgbClr val="F2F5FA"/>
                    </a:solidFill>
                  </a:tcPr>
                </a:tc>
                <a:tc>
                  <a:txBody>
                    <a:bodyPr/>
                    <a:lstStyle/>
                    <a:p>
                      <a:r>
                        <a:rPr sz="1100" b="0">
                          <a:solidFill>
                            <a:srgbClr val="222A3F"/>
                          </a:solidFill>
                          <a:latin typeface="Cambria"/>
                        </a:rPr>
                        <a:t>Removes residue already present</a:t>
                      </a:r>
                    </a:p>
                  </a:txBody>
                  <a:tcPr marL="73152" marR="73152" marT="27432" marB="27432">
                    <a:solidFill>
                      <a:srgbClr val="F2F5FA"/>
                    </a:solidFill>
                  </a:tcPr>
                </a:tc>
                <a:tc>
                  <a:txBody>
                    <a:bodyPr/>
                    <a:lstStyle/>
                    <a:p>
                      <a:r>
                        <a:rPr sz="1100" b="0">
                          <a:solidFill>
                            <a:srgbClr val="222A3F"/>
                          </a:solidFill>
                          <a:latin typeface="Cambria"/>
                        </a:rPr>
                        <a:t>30 min / radio</a:t>
                      </a:r>
                    </a:p>
                  </a:txBody>
                  <a:tcPr marL="73152" marR="73152" marT="27432" marB="27432">
                    <a:solidFill>
                      <a:srgbClr val="F2F5FA"/>
                    </a:solidFill>
                  </a:tcPr>
                </a:tc>
                <a:tc>
                  <a:txBody>
                    <a:bodyPr/>
                    <a:lstStyle/>
                    <a:p>
                      <a:r>
                        <a:rPr sz="1100" b="0">
                          <a:solidFill>
                            <a:srgbClr val="222A3F"/>
                          </a:solidFill>
                          <a:latin typeface="Cambria"/>
                        </a:rPr>
                        <a:t>done: SF</a:t>
                      </a:r>
                    </a:p>
                  </a:txBody>
                  <a:tcPr marL="73152" marR="73152" marT="27432" marB="27432">
                    <a:solidFill>
                      <a:srgbClr val="F2F5FA"/>
                    </a:solidFill>
                  </a:tcPr>
                </a:tc>
              </a:tr>
              <a:tr h="658368">
                <a:tc>
                  <a:txBody>
                    <a:bodyPr/>
                    <a:lstStyle/>
                    <a:p>
                      <a:r>
                        <a:rPr sz="1100" b="0">
                          <a:solidFill>
                            <a:srgbClr val="222A3F"/>
                          </a:solidFill>
                          <a:latin typeface="Cambria"/>
                        </a:rPr>
                        <a:t>4</a:t>
                      </a:r>
                    </a:p>
                  </a:txBody>
                  <a:tcPr marL="73152" marR="73152" marT="27432" marB="27432">
                    <a:solidFill>
                      <a:srgbClr val="FFFFFF"/>
                    </a:solidFill>
                  </a:tcPr>
                </a:tc>
                <a:tc>
                  <a:txBody>
                    <a:bodyPr/>
                    <a:lstStyle/>
                    <a:p>
                      <a:r>
                        <a:rPr sz="1100" b="0">
                          <a:solidFill>
                            <a:srgbClr val="222A3F"/>
                          </a:solidFill>
                          <a:latin typeface="Cambria"/>
                        </a:rPr>
                        <a:t>Raise the brownout reset to 2.67 or 2.84 V (core rebuild)</a:t>
                      </a:r>
                    </a:p>
                  </a:txBody>
                  <a:tcPr marL="73152" marR="73152" marT="27432" marB="27432">
                    <a:solidFill>
                      <a:srgbClr val="FFFFFF"/>
                    </a:solidFill>
                  </a:tcPr>
                </a:tc>
                <a:tc>
                  <a:txBody>
                    <a:bodyPr/>
                    <a:lstStyle/>
                    <a:p>
                      <a:r>
                        <a:rPr sz="1100" b="0">
                          <a:solidFill>
                            <a:srgbClr val="222A3F"/>
                          </a:solidFill>
                          <a:latin typeface="Cambria"/>
                        </a:rPr>
                        <a:t>CPU resets before the flash leaves spec</a:t>
                      </a:r>
                    </a:p>
                  </a:txBody>
                  <a:tcPr marL="73152" marR="73152" marT="27432" marB="27432">
                    <a:solidFill>
                      <a:srgbClr val="FFFFFF"/>
                    </a:solidFill>
                  </a:tcPr>
                </a:tc>
                <a:tc>
                  <a:txBody>
                    <a:bodyPr/>
                    <a:lstStyle/>
                    <a:p>
                      <a:r>
                        <a:rPr sz="1100" b="0">
                          <a:solidFill>
                            <a:srgbClr val="222A3F"/>
                          </a:solidFill>
                          <a:latin typeface="Cambria"/>
                        </a:rPr>
                        <a:t>2 days</a:t>
                      </a:r>
                    </a:p>
                  </a:txBody>
                  <a:tcPr marL="73152" marR="73152" marT="27432" marB="27432">
                    <a:solidFill>
                      <a:srgbClr val="FFFFFF"/>
                    </a:solidFill>
                  </a:tcPr>
                </a:tc>
                <a:tc>
                  <a:txBody>
                    <a:bodyPr/>
                    <a:lstStyle/>
                    <a:p>
                      <a:r>
                        <a:rPr sz="1100" b="0">
                          <a:solidFill>
                            <a:srgbClr val="222A3F"/>
                          </a:solidFill>
                          <a:latin typeface="Cambria"/>
                        </a:rPr>
                        <a:t>planned</a:t>
                      </a:r>
                    </a:p>
                  </a:txBody>
                  <a:tcPr marL="73152" marR="73152" marT="27432" marB="27432">
                    <a:solidFill>
                      <a:srgbClr val="FFFFFF"/>
                    </a:solidFill>
                  </a:tcPr>
                </a:tc>
              </a:tr>
              <a:tr h="658368">
                <a:tc>
                  <a:txBody>
                    <a:bodyPr/>
                    <a:lstStyle/>
                    <a:p>
                      <a:r>
                        <a:rPr sz="1100" b="0">
                          <a:solidFill>
                            <a:srgbClr val="222A3F"/>
                          </a:solidFill>
                          <a:latin typeface="Cambria"/>
                        </a:rPr>
                        <a:t>5</a:t>
                      </a:r>
                    </a:p>
                  </a:txBody>
                  <a:tcPr marL="73152" marR="73152" marT="27432" marB="27432">
                    <a:solidFill>
                      <a:srgbClr val="F2F5FA"/>
                    </a:solidFill>
                  </a:tcPr>
                </a:tc>
                <a:tc>
                  <a:txBody>
                    <a:bodyPr/>
                    <a:lstStyle/>
                    <a:p>
                      <a:r>
                        <a:rPr sz="1100" b="0">
                          <a:solidFill>
                            <a:srgbClr val="222A3F"/>
                          </a:solidFill>
                          <a:latin typeface="Cambria"/>
                        </a:rPr>
                        <a:t>Operations: never store flat, OLED pre-flight, config snapshots, phone-QR recovery</a:t>
                      </a:r>
                    </a:p>
                  </a:txBody>
                  <a:tcPr marL="73152" marR="73152" marT="27432" marB="27432">
                    <a:solidFill>
                      <a:srgbClr val="F2F5FA"/>
                    </a:solidFill>
                  </a:tcPr>
                </a:tc>
                <a:tc>
                  <a:txBody>
                    <a:bodyPr/>
                    <a:lstStyle/>
                    <a:p>
                      <a:r>
                        <a:rPr sz="1100" b="0">
                          <a:solidFill>
                            <a:srgbClr val="222A3F"/>
                          </a:solidFill>
                          <a:latin typeface="Cambria"/>
                        </a:rPr>
                        <a:t>Detection in 2 s, recovery in 90 s</a:t>
                      </a:r>
                    </a:p>
                  </a:txBody>
                  <a:tcPr marL="73152" marR="73152" marT="27432" marB="27432">
                    <a:solidFill>
                      <a:srgbClr val="F2F5FA"/>
                    </a:solidFill>
                  </a:tcPr>
                </a:tc>
                <a:tc>
                  <a:txBody>
                    <a:bodyPr/>
                    <a:lstStyle/>
                    <a:p>
                      <a:r>
                        <a:rPr sz="1100" b="0">
                          <a:solidFill>
                            <a:srgbClr val="222A3F"/>
                          </a:solidFill>
                          <a:latin typeface="Cambria"/>
                        </a:rPr>
                        <a:t>in force</a:t>
                      </a:r>
                    </a:p>
                  </a:txBody>
                  <a:tcPr marL="73152" marR="73152" marT="27432" marB="27432">
                    <a:solidFill>
                      <a:srgbClr val="F2F5FA"/>
                    </a:solidFill>
                  </a:tcPr>
                </a:tc>
                <a:tc>
                  <a:txBody>
                    <a:bodyPr/>
                    <a:lstStyle/>
                    <a:p>
                      <a:r>
                        <a:rPr sz="1100" b="0">
                          <a:solidFill>
                            <a:srgbClr val="222A3F"/>
                          </a:solidFill>
                          <a:latin typeface="Cambria"/>
                        </a:rPr>
                        <a:t>done</a:t>
                      </a:r>
                    </a:p>
                  </a:txBody>
                  <a:tcPr marL="73152" marR="73152" marT="27432" marB="27432">
                    <a:solidFill>
                      <a:srgbClr val="F2F5FA"/>
                    </a:solidFill>
                  </a:tcPr>
                </a:tc>
              </a:tr>
            </a:tbl>
          </a:graphicData>
        </a:graphic>
      </p:graphicFrame>
      <p:sp>
        <p:nvSpPr>
          <p:cNvPr id="11" name="Rectangle 10"/>
          <p:cNvSpPr/>
          <p:nvPr/>
        </p:nvSpPr>
        <p:spPr>
          <a:xfrm>
            <a:off x="502920" y="5349240"/>
            <a:ext cx="11155680" cy="6400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5468112"/>
            <a:ext cx="10826496" cy="402335"/>
          </a:xfrm>
          <a:prstGeom prst="rect">
            <a:avLst/>
          </a:prstGeom>
          <a:noFill/>
        </p:spPr>
        <p:txBody>
          <a:bodyPr wrap="square" lIns="0" rIns="0" tIns="0" bIns="0">
            <a:spAutoFit/>
          </a:bodyPr>
          <a:lstStyle/>
          <a:p>
            <a:r>
              <a:rPr sz="1250" b="1" spc="100">
                <a:solidFill>
                  <a:srgbClr val="16213D"/>
                </a:solidFill>
                <a:latin typeface="Cambria"/>
              </a:rPr>
              <a:t>ORDER OF VALUE</a:t>
            </a:r>
          </a:p>
          <a:p>
            <a:pPr>
              <a:spcBef>
                <a:spcPts val="400"/>
              </a:spcBef>
            </a:pPr>
            <a:r>
              <a:rPr sz="1200">
                <a:solidFill>
                  <a:srgbClr val="222A3F"/>
                </a:solidFill>
                <a:latin typeface="Cambria"/>
              </a:rPr>
              <a:t>Fix 1 hides the failure from the driver; fix 2 removes its cause; fix 3 cleans up the past; fix 4 is the hardware-correct answer and the most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16/18  REV B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1: A REVERT THAT RESTORES OUR SETTINGS</a:t>
            </a:r>
          </a:p>
        </p:txBody>
      </p:sp>
      <p:sp>
        <p:nvSpPr>
          <p:cNvPr id="10" name="Rectangle 9"/>
          <p:cNvSpPr/>
          <p:nvPr/>
        </p:nvSpPr>
        <p:spPr>
          <a:xfrm>
            <a:off x="502920" y="1280160"/>
            <a:ext cx="6583680" cy="251460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71600"/>
            <a:ext cx="6254496" cy="274320"/>
          </a:xfrm>
          <a:prstGeom prst="rect">
            <a:avLst/>
          </a:prstGeom>
          <a:noFill/>
        </p:spPr>
        <p:txBody>
          <a:bodyPr wrap="square" lIns="0" rIns="0" tIns="0" bIns="0">
            <a:spAutoFit/>
          </a:bodyPr>
          <a:lstStyle/>
          <a:p>
            <a:pPr algn="l"/>
            <a:r>
              <a:rPr sz="1000" b="1" i="0">
                <a:solidFill>
                  <a:srgbClr val="E58E1A"/>
                </a:solidFill>
                <a:latin typeface="Courier New"/>
              </a:rPr>
              <a:t>userPrefs.jsonc (private repo; key redacted)</a:t>
            </a:r>
          </a:p>
        </p:txBody>
      </p:sp>
      <p:sp>
        <p:nvSpPr>
          <p:cNvPr id="12" name="TextBox 11"/>
          <p:cNvSpPr txBox="1"/>
          <p:nvPr/>
        </p:nvSpPr>
        <p:spPr>
          <a:xfrm>
            <a:off x="667512" y="1664207"/>
            <a:ext cx="6254496" cy="2057400"/>
          </a:xfrm>
          <a:prstGeom prst="rect">
            <a:avLst/>
          </a:prstGeom>
          <a:noFill/>
        </p:spPr>
        <p:txBody>
          <a:bodyPr wrap="square" lIns="0" rIns="0" tIns="0" bIns="0">
            <a:spAutoFit/>
          </a:bodyPr>
          <a:lstStyle/>
          <a:p>
            <a:r>
              <a:rPr sz="1000">
                <a:solidFill>
                  <a:srgbClr val="C9D8F0"/>
                </a:solidFill>
                <a:latin typeface="Courier New"/>
              </a:rPr>
              <a:t>"USERPREFS_CHANNELS_TO_WRITE": 1,</a:t>
            </a:r>
          </a:p>
          <a:p>
            <a:r>
              <a:rPr sz="1000">
                <a:solidFill>
                  <a:srgbClr val="C9D8F0"/>
                </a:solidFill>
                <a:latin typeface="Courier New"/>
              </a:rPr>
              <a:t>"USERPREFS_CHANNEL_0_NAME": "Group9",</a:t>
            </a:r>
          </a:p>
          <a:p>
            <a:r>
              <a:rPr sz="1000">
                <a:solidFill>
                  <a:srgbClr val="C9D8F0"/>
                </a:solidFill>
                <a:latin typeface="Courier New"/>
              </a:rPr>
              <a:t>"USERPREFS_CHANNEL_0_PRECISION": 32,</a:t>
            </a:r>
          </a:p>
          <a:p>
            <a:r>
              <a:rPr sz="1000">
                <a:solidFill>
                  <a:srgbClr val="FF9AA8"/>
                </a:solidFill>
                <a:latin typeface="Courier New"/>
              </a:rPr>
              <a:t>"USERPREFS_CHANNEL_0_PSK": "{ 0x.., ... 32 bytes }",</a:t>
            </a:r>
          </a:p>
          <a:p>
            <a:r>
              <a:rPr sz="1000">
                <a:solidFill>
                  <a:srgbClr val="C9D8F0"/>
                </a:solidFill>
                <a:latin typeface="Courier New"/>
              </a:rPr>
              <a:t>"USERPREFS_CONFIG_LORA_REGION": "..._RegionCode_US",</a:t>
            </a:r>
          </a:p>
          <a:p>
            <a:r>
              <a:rPr sz="1000">
                <a:solidFill>
                  <a:srgbClr val="C9D8F0"/>
                </a:solidFill>
                <a:latin typeface="Courier New"/>
              </a:rPr>
              <a:t>"USERPREFS_CONFIG_OWNER_LONG_NAME": "SF", "..._SHORT_NAME": "SF",</a:t>
            </a:r>
          </a:p>
          <a:p>
            <a:r>
              <a:rPr sz="1000">
                <a:solidFill>
                  <a:srgbClr val="C9D8F0"/>
                </a:solidFill>
                <a:latin typeface="Courier New"/>
              </a:rPr>
              <a:t>"USERPREFS_CONFIG_DEVICE_ROLE": "..._Role_CLIENT_MUTE",</a:t>
            </a:r>
          </a:p>
          <a:p>
            <a:r>
              <a:rPr sz="1000">
                <a:solidFill>
                  <a:srgbClr val="C9D8F0"/>
                </a:solidFill>
                <a:latin typeface="Courier New"/>
              </a:rPr>
              <a:t>"USERPREFS_CONFIG_GPS_UPDATE_INTERVAL": 10, "..._POSITION_BROADCAST_INTERVAL": 60,</a:t>
            </a:r>
          </a:p>
          <a:p>
            <a:r>
              <a:rPr sz="1000">
                <a:solidFill>
                  <a:srgbClr val="E58E1A"/>
                </a:solidFill>
                <a:latin typeface="Courier New"/>
              </a:rPr>
              <a:t>// NodeDB.cpp installDefaultConfig(): bluetooth.mode = NO_PIN   (one line)</a:t>
            </a:r>
          </a:p>
        </p:txBody>
      </p:sp>
      <p:sp>
        <p:nvSpPr>
          <p:cNvPr id="13" name="Rectangle 12"/>
          <p:cNvSpPr/>
          <p:nvPr/>
        </p:nvSpPr>
        <p:spPr>
          <a:xfrm>
            <a:off x="7269480" y="1280160"/>
            <a:ext cx="4389120" cy="25146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4072" y="1399031"/>
            <a:ext cx="4059935" cy="2276856"/>
          </a:xfrm>
          <a:prstGeom prst="rect">
            <a:avLst/>
          </a:prstGeom>
          <a:noFill/>
        </p:spPr>
        <p:txBody>
          <a:bodyPr wrap="square" lIns="0" rIns="0" tIns="0" bIns="0">
            <a:spAutoFit/>
          </a:bodyPr>
          <a:lstStyle/>
          <a:p>
            <a:r>
              <a:rPr sz="1350" b="1" spc="100">
                <a:solidFill>
                  <a:srgbClr val="1F9D68"/>
                </a:solidFill>
                <a:latin typeface="Cambria"/>
              </a:rPr>
              <a:t>WHY IT IS FIRST</a:t>
            </a:r>
          </a:p>
          <a:p>
            <a:pPr>
              <a:spcBef>
                <a:spcPts val="400"/>
              </a:spcBef>
            </a:pPr>
            <a:r>
              <a:rPr sz="1200">
                <a:solidFill>
                  <a:srgbClr val="222A3F"/>
                </a:solidFill>
                <a:latin typeface="Cambria"/>
              </a:rPr>
              <a:t>•  Every failure path ends in installDefault*()</a:t>
            </a:r>
          </a:p>
          <a:p>
            <a:pPr>
              <a:spcBef>
                <a:spcPts val="400"/>
              </a:spcBef>
            </a:pPr>
            <a:r>
              <a:rPr sz="1200">
                <a:solidFill>
                  <a:srgbClr val="222A3F"/>
                </a:solidFill>
                <a:latin typeface="Cambria"/>
              </a:rPr>
              <a:t>•  Today that means 906.875 MHz, a random PIN, a nameless radio</a:t>
            </a:r>
          </a:p>
          <a:p>
            <a:pPr>
              <a:spcBef>
                <a:spcPts val="400"/>
              </a:spcBef>
            </a:pPr>
            <a:r>
              <a:rPr sz="1200">
                <a:solidFill>
                  <a:srgbClr val="222A3F"/>
                </a:solidFill>
                <a:latin typeface="Cambria"/>
              </a:rPr>
              <a:t>•  With these defaults it means Group9 at 912.875, No PIN, SF or RG</a:t>
            </a:r>
          </a:p>
          <a:p>
            <a:pPr>
              <a:spcBef>
                <a:spcPts val="400"/>
              </a:spcBef>
            </a:pPr>
            <a:r>
              <a:rPr sz="1200">
                <a:solidFill>
                  <a:srgbClr val="222A3F"/>
                </a:solidFill>
                <a:latin typeface="Cambria"/>
              </a:rPr>
              <a:t>•  One build per radio, flashed with the fleet procedure</a:t>
            </a:r>
          </a:p>
        </p:txBody>
      </p:sp>
      <p:sp>
        <p:nvSpPr>
          <p:cNvPr id="15" name="Rectangle 14"/>
          <p:cNvSpPr/>
          <p:nvPr/>
        </p:nvSpPr>
        <p:spPr>
          <a:xfrm>
            <a:off x="502920" y="4023360"/>
            <a:ext cx="11155680" cy="14630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142232"/>
            <a:ext cx="10826496" cy="1225296"/>
          </a:xfrm>
          <a:prstGeom prst="rect">
            <a:avLst/>
          </a:prstGeom>
          <a:noFill/>
        </p:spPr>
        <p:txBody>
          <a:bodyPr wrap="square" lIns="0" rIns="0" tIns="0" bIns="0">
            <a:spAutoFit/>
          </a:bodyPr>
          <a:lstStyle/>
          <a:p>
            <a:r>
              <a:rPr sz="1350" b="1" spc="100">
                <a:solidFill>
                  <a:srgbClr val="16213D"/>
                </a:solidFill>
                <a:latin typeface="Cambria"/>
              </a:rPr>
              <a:t>ACCEPTANCE TEST</a:t>
            </a:r>
          </a:p>
          <a:p>
            <a:pPr>
              <a:spcBef>
                <a:spcPts val="400"/>
              </a:spcBef>
            </a:pPr>
            <a:r>
              <a:rPr sz="1250">
                <a:solidFill>
                  <a:srgbClr val="222A3F"/>
                </a:solidFill>
                <a:latin typeface="Cambria"/>
              </a:rPr>
              <a:t>•  Flash, provision nothing, power on: Group9 at 912.875 MHz, CLIENT_MUTE, No PIN, named, linked to a display with zero commands</a:t>
            </a:r>
          </a:p>
          <a:p>
            <a:pPr>
              <a:spcBef>
                <a:spcPts val="400"/>
              </a:spcBef>
            </a:pPr>
            <a:r>
              <a:rPr sz="1250">
                <a:solidFill>
                  <a:srgbClr val="222A3F"/>
                </a:solidFill>
                <a:latin typeface="Cambria"/>
              </a:rPr>
              <a:t>•  meshtastic --factory-reset, power-cycle: comes back identical. That is the proof a future revert is harmless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17/18  REV B  2026-10-27</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WE PROVE IT</a:t>
            </a:r>
          </a:p>
        </p:txBody>
      </p:sp>
      <p:graphicFrame>
        <p:nvGraphicFramePr>
          <p:cNvPr id="10" name="Table 9"/>
          <p:cNvGraphicFramePr>
            <a:graphicFrameLocks noGrp="1"/>
          </p:cNvGraphicFramePr>
          <p:nvPr/>
        </p:nvGraphicFramePr>
        <p:xfrm>
          <a:off x="502920" y="1280160"/>
          <a:ext cx="11155680" cy="3712463"/>
        </p:xfrm>
        <a:graphic>
          <a:graphicData uri="http://schemas.openxmlformats.org/drawingml/2006/table">
            <a:tbl>
              <a:tblPr firstRow="1" bandRow="1">
                <a:tableStyleId>{5C22544A-7EE6-4342-B048-85BDC9FD1C3A}</a:tableStyleId>
              </a:tblPr>
              <a:tblGrid>
                <a:gridCol w="548640"/>
                <a:gridCol w="5120640"/>
                <a:gridCol w="3657600"/>
                <a:gridCol w="1828800"/>
              </a:tblGrid>
              <a:tr h="530351">
                <a:tc>
                  <a:txBody>
                    <a:bodyPr/>
                    <a:lstStyle/>
                    <a:p>
                      <a:r>
                        <a:rPr sz="1100" b="1">
                          <a:solidFill>
                            <a:srgbClr val="FFFFFF"/>
                          </a:solidFill>
                          <a:latin typeface="Cambria"/>
                        </a:rPr>
                        <a:t>Step</a:t>
                      </a:r>
                    </a:p>
                  </a:txBody>
                  <a:tcPr marL="73152" marR="73152" marT="27432" marB="27432">
                    <a:solidFill>
                      <a:srgbClr val="16213D"/>
                    </a:solidFill>
                  </a:tcPr>
                </a:tc>
                <a:tc>
                  <a:txBody>
                    <a:bodyPr/>
                    <a:lstStyle/>
                    <a:p>
                      <a:r>
                        <a:rPr sz="1100" b="1">
                          <a:solidFill>
                            <a:srgbClr val="FFFFFF"/>
                          </a:solidFill>
                          <a:latin typeface="Cambria"/>
                        </a:rPr>
                        <a:t>Procedure</a:t>
                      </a:r>
                    </a:p>
                  </a:txBody>
                  <a:tcPr marL="73152" marR="73152" marT="27432" marB="27432">
                    <a:solidFill>
                      <a:srgbClr val="16213D"/>
                    </a:solidFill>
                  </a:tcPr>
                </a:tc>
                <a:tc>
                  <a:txBody>
                    <a:bodyPr/>
                    <a:lstStyle/>
                    <a:p>
                      <a:r>
                        <a:rPr sz="1100" b="1">
                          <a:solidFill>
                            <a:srgbClr val="FFFFFF"/>
                          </a:solidFill>
                          <a:latin typeface="Cambria"/>
                        </a:rPr>
                        <a:t>Pass criterion</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530351">
                <a:tc>
                  <a:txBody>
                    <a:bodyPr/>
                    <a:lstStyle/>
                    <a:p>
                      <a:r>
                        <a:rPr sz="1100" b="0">
                          <a:solidFill>
                            <a:srgbClr val="222A3F"/>
                          </a:solidFill>
                          <a:latin typeface="Cambria"/>
                        </a:rPr>
                        <a:t>1</a:t>
                      </a:r>
                    </a:p>
                  </a:txBody>
                  <a:tcPr marL="73152" marR="73152" marT="27432" marB="27432">
                    <a:solidFill>
                      <a:srgbClr val="F2F5FA"/>
                    </a:solidFill>
                  </a:tcPr>
                </a:tc>
                <a:tc>
                  <a:txBody>
                    <a:bodyPr/>
                    <a:lstStyle/>
                    <a:p>
                      <a:r>
                        <a:rPr sz="1100" b="0">
                          <a:solidFill>
                            <a:srgbClr val="222A3F"/>
                          </a:solidFill>
                          <a:latin typeface="Cambria"/>
                        </a:rPr>
                        <a:t>Baseline flash map on both radios</a:t>
                      </a:r>
                    </a:p>
                  </a:txBody>
                  <a:tcPr marL="73152" marR="73152" marT="27432" marB="27432">
                    <a:solidFill>
                      <a:srgbClr val="F2F5FA"/>
                    </a:solidFill>
                  </a:tcPr>
                </a:tc>
                <a:tc>
                  <a:txBody>
                    <a:bodyPr/>
                    <a:lstStyle/>
                    <a:p>
                      <a:r>
                        <a:rPr sz="1100" b="0">
                          <a:solidFill>
                            <a:srgbClr val="222A3F"/>
                          </a:solidFill>
                          <a:latin typeface="Cambria"/>
                        </a:rPr>
                        <a:t>Recorded</a:t>
                      </a:r>
                    </a:p>
                  </a:txBody>
                  <a:tcPr marL="73152" marR="73152" marT="27432" marB="27432">
                    <a:solidFill>
                      <a:srgbClr val="F2F5FA"/>
                    </a:solidFill>
                  </a:tcPr>
                </a:tc>
                <a:tc>
                  <a:txBody>
                    <a:bodyPr/>
                    <a:lstStyle/>
                    <a:p>
                      <a:r>
                        <a:rPr sz="1100" b="0">
                          <a:solidFill>
                            <a:srgbClr val="222A3F"/>
                          </a:solidFill>
                          <a:latin typeface="Cambria"/>
                        </a:rPr>
                        <a:t>done: SF 21, RG 0</a:t>
                      </a:r>
                    </a:p>
                  </a:txBody>
                  <a:tcPr marL="73152" marR="73152" marT="27432" marB="27432">
                    <a:solidFill>
                      <a:srgbClr val="F2F5FA"/>
                    </a:solidFill>
                  </a:tcPr>
                </a:tc>
              </a:tr>
              <a:tr h="530351">
                <a:tc>
                  <a:txBody>
                    <a:bodyPr/>
                    <a:lstStyle/>
                    <a:p>
                      <a:r>
                        <a:rPr sz="1100" b="0">
                          <a:solidFill>
                            <a:srgbClr val="222A3F"/>
                          </a:solidFill>
                          <a:latin typeface="Cambria"/>
                        </a:rPr>
                        <a:t>2</a:t>
                      </a:r>
                    </a:p>
                  </a:txBody>
                  <a:tcPr marL="73152" marR="73152" marT="27432" marB="27432">
                    <a:solidFill>
                      <a:srgbClr val="FFFFFF"/>
                    </a:solidFill>
                  </a:tcPr>
                </a:tc>
                <a:tc>
                  <a:txBody>
                    <a:bodyPr/>
                    <a:lstStyle/>
                    <a:p>
                      <a:r>
                        <a:rPr sz="1100" b="0">
                          <a:solidFill>
                            <a:srgbClr val="222A3F"/>
                          </a:solidFill>
                          <a:latin typeface="Cambria"/>
                        </a:rPr>
                        <a:t>Decisive sector test; clean erase and re-provision</a:t>
                      </a:r>
                    </a:p>
                  </a:txBody>
                  <a:tcPr marL="73152" marR="73152" marT="27432" marB="27432">
                    <a:solidFill>
                      <a:srgbClr val="FFFFFF"/>
                    </a:solidFill>
                  </a:tcPr>
                </a:tc>
                <a:tc>
                  <a:txBody>
                    <a:bodyPr/>
                    <a:lstStyle/>
                    <a:p>
                      <a:r>
                        <a:rPr sz="1100" b="0">
                          <a:solidFill>
                            <a:srgbClr val="222A3F"/>
                          </a:solidFill>
                          <a:latin typeface="Cambria"/>
                        </a:rPr>
                        <a:t>Outcome recorded; 0 unstable after</a:t>
                      </a:r>
                    </a:p>
                  </a:txBody>
                  <a:tcPr marL="73152" marR="73152" marT="27432" marB="27432">
                    <a:solidFill>
                      <a:srgbClr val="FFFFFF"/>
                    </a:solidFill>
                  </a:tcPr>
                </a:tc>
                <a:tc>
                  <a:txBody>
                    <a:bodyPr/>
                    <a:lstStyle/>
                    <a:p>
                      <a:r>
                        <a:rPr sz="1100" b="0">
                          <a:solidFill>
                            <a:srgbClr val="222A3F"/>
                          </a:solidFill>
                          <a:latin typeface="Cambria"/>
                        </a:rPr>
                        <a:t>done: SF</a:t>
                      </a:r>
                    </a:p>
                  </a:txBody>
                  <a:tcPr marL="73152" marR="73152" marT="27432" marB="27432">
                    <a:solidFill>
                      <a:srgbClr val="FFFFFF"/>
                    </a:solidFill>
                  </a:tcPr>
                </a:tc>
              </a:tr>
              <a:tr h="530351">
                <a:tc>
                  <a:txBody>
                    <a:bodyPr/>
                    <a:lstStyle/>
                    <a:p>
                      <a:r>
                        <a:rPr sz="1100" b="0">
                          <a:solidFill>
                            <a:srgbClr val="222A3F"/>
                          </a:solidFill>
                          <a:latin typeface="Cambria"/>
                        </a:rPr>
                        <a:t>3</a:t>
                      </a:r>
                    </a:p>
                  </a:txBody>
                  <a:tcPr marL="73152" marR="73152" marT="27432" marB="27432">
                    <a:solidFill>
                      <a:srgbClr val="F2F5FA"/>
                    </a:solidFill>
                  </a:tcPr>
                </a:tc>
                <a:tc>
                  <a:txBody>
                    <a:bodyPr/>
                    <a:lstStyle/>
                    <a:p>
                      <a:r>
                        <a:rPr sz="1100" b="0">
                          <a:solidFill>
                            <a:srgbClr val="222A3F"/>
                          </a:solidFill>
                          <a:latin typeface="Cambria"/>
                        </a:rPr>
                        <a:t>Fix 1 (+2) builds; acceptance test on each radio</a:t>
                      </a:r>
                    </a:p>
                  </a:txBody>
                  <a:tcPr marL="73152" marR="73152" marT="27432" marB="27432">
                    <a:solidFill>
                      <a:srgbClr val="F2F5FA"/>
                    </a:solidFill>
                  </a:tcPr>
                </a:tc>
                <a:tc>
                  <a:txBody>
                    <a:bodyPr/>
                    <a:lstStyle/>
                    <a:p>
                      <a:r>
                        <a:rPr sz="1100" b="0">
                          <a:solidFill>
                            <a:srgbClr val="222A3F"/>
                          </a:solidFill>
                          <a:latin typeface="Cambria"/>
                        </a:rPr>
                        <a:t>Correct configuration with zero provisioning</a:t>
                      </a:r>
                    </a:p>
                  </a:txBody>
                  <a:tcPr marL="73152" marR="73152" marT="27432" marB="27432">
                    <a:solidFill>
                      <a:srgbClr val="F2F5FA"/>
                    </a:solidFill>
                  </a:tcPr>
                </a:tc>
                <a:tc>
                  <a:txBody>
                    <a:bodyPr/>
                    <a:lstStyle/>
                    <a:p>
                      <a:r>
                        <a:rPr sz="1100" b="0">
                          <a:solidFill>
                            <a:srgbClr val="222A3F"/>
                          </a:solidFill>
                          <a:latin typeface="Cambria"/>
                        </a:rPr>
                        <a:t>next</a:t>
                      </a:r>
                    </a:p>
                  </a:txBody>
                  <a:tcPr marL="73152" marR="73152" marT="27432" marB="27432">
                    <a:solidFill>
                      <a:srgbClr val="F2F5FA"/>
                    </a:solidFill>
                  </a:tcPr>
                </a:tc>
              </a:tr>
              <a:tr h="530351">
                <a:tc>
                  <a:txBody>
                    <a:bodyPr/>
                    <a:lstStyle/>
                    <a:p>
                      <a:r>
                        <a:rPr sz="1100" b="0">
                          <a:solidFill>
                            <a:srgbClr val="222A3F"/>
                          </a:solidFill>
                          <a:latin typeface="Cambria"/>
                        </a:rPr>
                        <a:t>4</a:t>
                      </a:r>
                    </a:p>
                  </a:txBody>
                  <a:tcPr marL="73152" marR="73152" marT="27432" marB="27432">
                    <a:solidFill>
                      <a:srgbClr val="FFFFFF"/>
                    </a:solidFill>
                  </a:tcPr>
                </a:tc>
                <a:tc>
                  <a:txBody>
                    <a:bodyPr/>
                    <a:lstStyle/>
                    <a:p>
                      <a:r>
                        <a:rPr sz="1100" b="0">
                          <a:solidFill>
                            <a:srgbClr val="222A3F"/>
                          </a:solidFill>
                          <a:latin typeface="Cambria"/>
                        </a:rPr>
                        <a:t>Flat-battery campaign: 5 full discharges per radio, read config and flash map each cycle</a:t>
                      </a:r>
                    </a:p>
                  </a:txBody>
                  <a:tcPr marL="73152" marR="73152" marT="27432" marB="27432">
                    <a:solidFill>
                      <a:srgbClr val="FFFFFF"/>
                    </a:solidFill>
                  </a:tcPr>
                </a:tc>
                <a:tc>
                  <a:txBody>
                    <a:bodyPr/>
                    <a:lstStyle/>
                    <a:p>
                      <a:r>
                        <a:rPr sz="1100" b="0">
                          <a:solidFill>
                            <a:srgbClr val="222A3F"/>
                          </a:solidFill>
                          <a:latin typeface="Cambria"/>
                        </a:rPr>
                        <a:t>0 of 10 cycles lose configuration; no new unstable sectors</a:t>
                      </a:r>
                    </a:p>
                  </a:txBody>
                  <a:tcPr marL="73152" marR="73152" marT="27432" marB="27432">
                    <a:solidFill>
                      <a:srgbClr val="FFFFFF"/>
                    </a:solidFill>
                  </a:tcPr>
                </a:tc>
                <a:tc>
                  <a:txBody>
                    <a:bodyPr/>
                    <a:lstStyle/>
                    <a:p>
                      <a:r>
                        <a:rPr sz="1100" b="0">
                          <a:solidFill>
                            <a:srgbClr val="222A3F"/>
                          </a:solidFill>
                          <a:latin typeface="Cambria"/>
                        </a:rPr>
                        <a:t>planned</a:t>
                      </a:r>
                    </a:p>
                  </a:txBody>
                  <a:tcPr marL="73152" marR="73152" marT="27432" marB="27432">
                    <a:solidFill>
                      <a:srgbClr val="FFFFFF"/>
                    </a:solidFill>
                  </a:tcPr>
                </a:tc>
              </a:tr>
              <a:tr h="530351">
                <a:tc>
                  <a:txBody>
                    <a:bodyPr/>
                    <a:lstStyle/>
                    <a:p>
                      <a:r>
                        <a:rPr sz="1100" b="0">
                          <a:solidFill>
                            <a:srgbClr val="222A3F"/>
                          </a:solidFill>
                          <a:latin typeface="Cambria"/>
                        </a:rPr>
                        <a:t>5</a:t>
                      </a:r>
                    </a:p>
                  </a:txBody>
                  <a:tcPr marL="73152" marR="73152" marT="27432" marB="27432">
                    <a:solidFill>
                      <a:srgbClr val="F2F5FA"/>
                    </a:solidFill>
                  </a:tcPr>
                </a:tc>
                <a:tc>
                  <a:txBody>
                    <a:bodyPr/>
                    <a:lstStyle/>
                    <a:p>
                      <a:r>
                        <a:rPr sz="1100" b="0">
                          <a:solidFill>
                            <a:srgbClr val="222A3F"/>
                          </a:solidFill>
                          <a:latin typeface="Cambria"/>
                        </a:rPr>
                        <a:t>Oscilloscope on the 3V3 pin during a TX burst at 3.4 V cell</a:t>
                      </a:r>
                    </a:p>
                  </a:txBody>
                  <a:tcPr marL="73152" marR="73152" marT="27432" marB="27432">
                    <a:solidFill>
                      <a:srgbClr val="F2F5FA"/>
                    </a:solidFill>
                  </a:tcPr>
                </a:tc>
                <a:tc>
                  <a:txBody>
                    <a:bodyPr/>
                    <a:lstStyle/>
                    <a:p>
                      <a:r>
                        <a:rPr sz="1100" b="0">
                          <a:solidFill>
                            <a:srgbClr val="222A3F"/>
                          </a:solidFill>
                          <a:latin typeface="Cambria"/>
                        </a:rPr>
                        <a:t>Minimum rail recorded; confirms or refutes the 2.7 V excursion</a:t>
                      </a:r>
                    </a:p>
                  </a:txBody>
                  <a:tcPr marL="73152" marR="73152" marT="27432" marB="27432">
                    <a:solidFill>
                      <a:srgbClr val="F2F5FA"/>
                    </a:solidFill>
                  </a:tcPr>
                </a:tc>
                <a:tc>
                  <a:txBody>
                    <a:bodyPr/>
                    <a:lstStyle/>
                    <a:p>
                      <a:r>
                        <a:rPr sz="1100" b="0">
                          <a:solidFill>
                            <a:srgbClr val="222A3F"/>
                          </a:solidFill>
                          <a:latin typeface="Cambria"/>
                        </a:rPr>
                        <a:t>planned</a:t>
                      </a:r>
                    </a:p>
                  </a:txBody>
                  <a:tcPr marL="73152" marR="73152" marT="27432" marB="27432">
                    <a:solidFill>
                      <a:srgbClr val="F2F5FA"/>
                    </a:solidFill>
                  </a:tcPr>
                </a:tc>
              </a:tr>
              <a:tr h="530357">
                <a:tc>
                  <a:txBody>
                    <a:bodyPr/>
                    <a:lstStyle/>
                    <a:p>
                      <a:r>
                        <a:rPr sz="1100" b="0">
                          <a:solidFill>
                            <a:srgbClr val="222A3F"/>
                          </a:solidFill>
                          <a:latin typeface="Cambria"/>
                        </a:rPr>
                        <a:t>6</a:t>
                      </a:r>
                    </a:p>
                  </a:txBody>
                  <a:tcPr marL="73152" marR="73152" marT="27432" marB="27432">
                    <a:solidFill>
                      <a:srgbClr val="FFFFFF"/>
                    </a:solidFill>
                  </a:tcPr>
                </a:tc>
                <a:tc>
                  <a:txBody>
                    <a:bodyPr/>
                    <a:lstStyle/>
                    <a:p>
                      <a:r>
                        <a:rPr sz="1100" b="0">
                          <a:solidFill>
                            <a:srgbClr val="222A3F"/>
                          </a:solidFill>
                          <a:latin typeface="Cambria"/>
                        </a:rPr>
                        <a:t>Documents: manual 16, User Guide 12</a:t>
                      </a:r>
                    </a:p>
                  </a:txBody>
                  <a:tcPr marL="73152" marR="73152" marT="27432" marB="27432">
                    <a:solidFill>
                      <a:srgbClr val="FFFFFF"/>
                    </a:solidFill>
                  </a:tcPr>
                </a:tc>
                <a:tc>
                  <a:txBody>
                    <a:bodyPr/>
                    <a:lstStyle/>
                    <a:p>
                      <a:r>
                        <a:rPr sz="1100" b="0">
                          <a:solidFill>
                            <a:srgbClr val="222A3F"/>
                          </a:solidFill>
                          <a:latin typeface="Cambria"/>
                        </a:rPr>
                        <a:t>Rebuilt and pushed</a:t>
                      </a:r>
                    </a:p>
                  </a:txBody>
                  <a:tcPr marL="73152" marR="73152" marT="27432" marB="27432">
                    <a:solidFill>
                      <a:srgbClr val="FFFFFF"/>
                    </a:solidFill>
                  </a:tcPr>
                </a:tc>
                <a:tc>
                  <a:txBody>
                    <a:bodyPr/>
                    <a:lstStyle/>
                    <a:p>
                      <a:r>
                        <a:rPr sz="1100" b="0">
                          <a:solidFill>
                            <a:srgbClr val="222A3F"/>
                          </a:solidFill>
                          <a:latin typeface="Cambria"/>
                        </a:rPr>
                        <a:t>done</a:t>
                      </a:r>
                    </a:p>
                  </a:txBody>
                  <a:tcPr marL="73152" marR="73152" marT="27432" marB="27432">
                    <a:solidFill>
                      <a:srgbClr val="FFFFFF"/>
                    </a:solidFill>
                  </a:tcPr>
                </a:tc>
              </a:tr>
            </a:tbl>
          </a:graphicData>
        </a:graphic>
      </p:graphicFrame>
      <p:sp>
        <p:nvSpPr>
          <p:cNvPr id="11" name="Rectangle 10"/>
          <p:cNvSpPr/>
          <p:nvPr/>
        </p:nvSpPr>
        <p:spPr>
          <a:xfrm>
            <a:off x="502920" y="5120640"/>
            <a:ext cx="11155680" cy="8229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5239512"/>
            <a:ext cx="10826496" cy="585216"/>
          </a:xfrm>
          <a:prstGeom prst="rect">
            <a:avLst/>
          </a:prstGeom>
          <a:noFill/>
        </p:spPr>
        <p:txBody>
          <a:bodyPr wrap="square" lIns="0" rIns="0" tIns="0" bIns="0">
            <a:spAutoFit/>
          </a:bodyPr>
          <a:lstStyle/>
          <a:p>
            <a:r>
              <a:rPr sz="1250" b="1" spc="100">
                <a:solidFill>
                  <a:srgbClr val="16213D"/>
                </a:solidFill>
                <a:latin typeface="Cambria"/>
              </a:rPr>
              <a:t>COST</a:t>
            </a:r>
          </a:p>
          <a:p>
            <a:pPr>
              <a:spcBef>
                <a:spcPts val="400"/>
              </a:spcBef>
            </a:pPr>
            <a:r>
              <a:rPr sz="1200">
                <a:solidFill>
                  <a:srgbClr val="222A3F"/>
                </a:solidFill>
                <a:latin typeface="Cambria"/>
              </a:rPr>
              <a:t>About a week of firmware work and one afternoon with a scope; no new hardware. Step 4 is the test that would have caught this in September.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18/18  REV B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a:t>
            </a:r>
          </a:p>
        </p:txBody>
      </p:sp>
      <p:sp>
        <p:nvSpPr>
          <p:cNvPr id="8" name="Rectangle 7"/>
          <p:cNvSpPr/>
          <p:nvPr/>
        </p:nvSpPr>
        <p:spPr>
          <a:xfrm>
            <a:off x="502920" y="1325880"/>
            <a:ext cx="11155680" cy="14630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44752"/>
            <a:ext cx="10826496" cy="1225296"/>
          </a:xfrm>
          <a:prstGeom prst="rect">
            <a:avLst/>
          </a:prstGeom>
          <a:noFill/>
        </p:spPr>
        <p:txBody>
          <a:bodyPr wrap="square" lIns="0" rIns="0" tIns="0" bIns="0">
            <a:spAutoFit/>
          </a:bodyPr>
          <a:lstStyle/>
          <a:p>
            <a:r>
              <a:rPr sz="1500" b="1" spc="100">
                <a:solidFill>
                  <a:srgbClr val="16213D"/>
                </a:solidFill>
                <a:latin typeface="Cambria"/>
              </a:rPr>
              <a:t>IS IT THE MEMORY ITSELF?</a:t>
            </a:r>
          </a:p>
          <a:p>
            <a:pPr>
              <a:spcBef>
                <a:spcPts val="400"/>
              </a:spcBef>
            </a:pPr>
            <a:r>
              <a:rPr sz="1300">
                <a:solidFill>
                  <a:srgbClr val="222A3F"/>
                </a:solidFill>
                <a:latin typeface="Cambria"/>
              </a:rPr>
              <a:t>Partly, and measurably, but not in the way the question implies. SF's settings flash carried 21 sectors that would not hold a value; the same sectors became perfect once rewritten under a healthy supply. The chip is sound and not worn. The cells had been left half-written by operations completed below the flash's 2.7 V minimum but above the 2.44 V reset point, a window the firmware never checks and then punishes with factory defaults.</a:t>
            </a:r>
          </a:p>
        </p:txBody>
      </p:sp>
      <p:sp>
        <p:nvSpPr>
          <p:cNvPr id="10" name="Rectangle 9"/>
          <p:cNvSpPr/>
          <p:nvPr/>
        </p:nvSpPr>
        <p:spPr>
          <a:xfrm>
            <a:off x="502920" y="3154680"/>
            <a:ext cx="2697480" cy="21031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264408"/>
            <a:ext cx="2697480" cy="762000"/>
          </a:xfrm>
          <a:prstGeom prst="rect">
            <a:avLst/>
          </a:prstGeom>
          <a:noFill/>
        </p:spPr>
        <p:txBody>
          <a:bodyPr wrap="square" lIns="0" rIns="0" tIns="0" bIns="0">
            <a:spAutoFit/>
          </a:bodyPr>
          <a:lstStyle/>
          <a:p>
            <a:pPr algn="ctr"/>
            <a:r>
              <a:rPr sz="3000" b="1" i="0">
                <a:solidFill>
                  <a:srgbClr val="E58E1A"/>
                </a:solidFill>
                <a:latin typeface="Cambria"/>
              </a:rPr>
              <a:t>21 -&gt; 0</a:t>
            </a:r>
          </a:p>
        </p:txBody>
      </p:sp>
      <p:sp>
        <p:nvSpPr>
          <p:cNvPr id="12" name="TextBox 11"/>
          <p:cNvSpPr txBox="1"/>
          <p:nvPr/>
        </p:nvSpPr>
        <p:spPr>
          <a:xfrm>
            <a:off x="640080" y="4117848"/>
            <a:ext cx="2423160" cy="1066799"/>
          </a:xfrm>
          <a:prstGeom prst="rect">
            <a:avLst/>
          </a:prstGeom>
          <a:noFill/>
        </p:spPr>
        <p:txBody>
          <a:bodyPr wrap="square" lIns="0" rIns="0" tIns="0" bIns="0">
            <a:spAutoFit/>
          </a:bodyPr>
          <a:lstStyle/>
          <a:p>
            <a:pPr algn="ctr"/>
            <a:r>
              <a:rPr sz="1100" b="0" i="0">
                <a:solidFill>
                  <a:srgbClr val="222A3F"/>
                </a:solidFill>
                <a:latin typeface="Cambria"/>
              </a:rPr>
              <a:t>unstable sectors on SF, before and after one clean rewrite</a:t>
            </a:r>
          </a:p>
        </p:txBody>
      </p:sp>
      <p:sp>
        <p:nvSpPr>
          <p:cNvPr id="13" name="Rectangle 12"/>
          <p:cNvSpPr/>
          <p:nvPr/>
        </p:nvSpPr>
        <p:spPr>
          <a:xfrm>
            <a:off x="3319272" y="3154680"/>
            <a:ext cx="2697480" cy="21031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19272" y="3264408"/>
            <a:ext cx="2697480" cy="762000"/>
          </a:xfrm>
          <a:prstGeom prst="rect">
            <a:avLst/>
          </a:prstGeom>
          <a:noFill/>
        </p:spPr>
        <p:txBody>
          <a:bodyPr wrap="square" lIns="0" rIns="0" tIns="0" bIns="0">
            <a:spAutoFit/>
          </a:bodyPr>
          <a:lstStyle/>
          <a:p>
            <a:pPr algn="ctr"/>
            <a:r>
              <a:rPr sz="3000" b="1" i="0">
                <a:solidFill>
                  <a:srgbClr val="E58E1A"/>
                </a:solidFill>
                <a:latin typeface="Cambria"/>
              </a:rPr>
              <a:t>0</a:t>
            </a:r>
          </a:p>
        </p:txBody>
      </p:sp>
      <p:sp>
        <p:nvSpPr>
          <p:cNvPr id="15" name="TextBox 14"/>
          <p:cNvSpPr txBox="1"/>
          <p:nvPr/>
        </p:nvSpPr>
        <p:spPr>
          <a:xfrm>
            <a:off x="3456432" y="4117848"/>
            <a:ext cx="2423160" cy="1066799"/>
          </a:xfrm>
          <a:prstGeom prst="rect">
            <a:avLst/>
          </a:prstGeom>
          <a:noFill/>
        </p:spPr>
        <p:txBody>
          <a:bodyPr wrap="square" lIns="0" rIns="0" tIns="0" bIns="0">
            <a:spAutoFit/>
          </a:bodyPr>
          <a:lstStyle/>
          <a:p>
            <a:pPr algn="ctr"/>
            <a:r>
              <a:rPr sz="1100" b="0" i="0">
                <a:solidFill>
                  <a:srgbClr val="222A3F"/>
                </a:solidFill>
                <a:latin typeface="Cambria"/>
              </a:rPr>
              <a:t>unstable sectors on RG, the radio that reverted once</a:t>
            </a:r>
          </a:p>
        </p:txBody>
      </p:sp>
      <p:sp>
        <p:nvSpPr>
          <p:cNvPr id="16" name="Rectangle 15"/>
          <p:cNvSpPr/>
          <p:nvPr/>
        </p:nvSpPr>
        <p:spPr>
          <a:xfrm>
            <a:off x="6135624" y="3154680"/>
            <a:ext cx="2697480" cy="21031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35624" y="3264408"/>
            <a:ext cx="2697480" cy="762000"/>
          </a:xfrm>
          <a:prstGeom prst="rect">
            <a:avLst/>
          </a:prstGeom>
          <a:noFill/>
        </p:spPr>
        <p:txBody>
          <a:bodyPr wrap="square" lIns="0" rIns="0" tIns="0" bIns="0">
            <a:spAutoFit/>
          </a:bodyPr>
          <a:lstStyle/>
          <a:p>
            <a:pPr algn="ctr"/>
            <a:r>
              <a:rPr sz="3000" b="1" i="0">
                <a:solidFill>
                  <a:srgbClr val="E58E1A"/>
                </a:solidFill>
                <a:latin typeface="Cambria"/>
              </a:rPr>
              <a:t>true</a:t>
            </a:r>
          </a:p>
        </p:txBody>
      </p:sp>
      <p:sp>
        <p:nvSpPr>
          <p:cNvPr id="18" name="TextBox 17"/>
          <p:cNvSpPr txBox="1"/>
          <p:nvPr/>
        </p:nvSpPr>
        <p:spPr>
          <a:xfrm>
            <a:off x="6272784" y="4117848"/>
            <a:ext cx="2423160" cy="1066799"/>
          </a:xfrm>
          <a:prstGeom prst="rect">
            <a:avLst/>
          </a:prstGeom>
          <a:noFill/>
        </p:spPr>
        <p:txBody>
          <a:bodyPr wrap="square" lIns="0" rIns="0" tIns="0" bIns="0">
            <a:spAutoFit/>
          </a:bodyPr>
          <a:lstStyle/>
          <a:p>
            <a:pPr algn="ctr"/>
            <a:r>
              <a:rPr sz="1100" b="0" i="0">
                <a:solidFill>
                  <a:srgbClr val="222A3F"/>
                </a:solidFill>
                <a:latin typeface="Cambria"/>
              </a:rPr>
              <a:t>what the firmware's 'is power safe to write?' returns on ESP32, always</a:t>
            </a:r>
          </a:p>
        </p:txBody>
      </p:sp>
      <p:sp>
        <p:nvSpPr>
          <p:cNvPr id="19" name="Rectangle 18"/>
          <p:cNvSpPr/>
          <p:nvPr/>
        </p:nvSpPr>
        <p:spPr>
          <a:xfrm>
            <a:off x="8951976" y="3154680"/>
            <a:ext cx="2697480" cy="21031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51976" y="3264408"/>
            <a:ext cx="2697480" cy="762000"/>
          </a:xfrm>
          <a:prstGeom prst="rect">
            <a:avLst/>
          </a:prstGeom>
          <a:noFill/>
        </p:spPr>
        <p:txBody>
          <a:bodyPr wrap="square" lIns="0" rIns="0" tIns="0" bIns="0">
            <a:spAutoFit/>
          </a:bodyPr>
          <a:lstStyle/>
          <a:p>
            <a:pPr algn="ctr"/>
            <a:r>
              <a:rPr sz="3000" b="1" i="0">
                <a:solidFill>
                  <a:srgbClr val="E58E1A"/>
                </a:solidFill>
                <a:latin typeface="Cambria"/>
              </a:rPr>
              <a:t>1 build</a:t>
            </a:r>
          </a:p>
        </p:txBody>
      </p:sp>
      <p:sp>
        <p:nvSpPr>
          <p:cNvPr id="21" name="TextBox 20"/>
          <p:cNvSpPr txBox="1"/>
          <p:nvPr/>
        </p:nvSpPr>
        <p:spPr>
          <a:xfrm>
            <a:off x="9089136" y="4117848"/>
            <a:ext cx="2423160" cy="1066799"/>
          </a:xfrm>
          <a:prstGeom prst="rect">
            <a:avLst/>
          </a:prstGeom>
          <a:noFill/>
        </p:spPr>
        <p:txBody>
          <a:bodyPr wrap="square" lIns="0" rIns="0" tIns="0" bIns="0">
            <a:spAutoFit/>
          </a:bodyPr>
          <a:lstStyle/>
          <a:p>
            <a:pPr algn="ctr"/>
            <a:r>
              <a:rPr sz="1100" b="0" i="0">
                <a:solidFill>
                  <a:srgbClr val="222A3F"/>
                </a:solidFill>
                <a:latin typeface="Cambria"/>
              </a:rPr>
              <a:t>makes a future revert restore our configuration, not the factory's</a:t>
            </a:r>
          </a:p>
        </p:txBody>
      </p:sp>
      <p:sp>
        <p:nvSpPr>
          <p:cNvPr id="22" name="Rectangle 21"/>
          <p:cNvSpPr/>
          <p:nvPr/>
        </p:nvSpPr>
        <p:spPr>
          <a:xfrm>
            <a:off x="502920" y="5486400"/>
            <a:ext cx="11155680" cy="4572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68696"/>
            <a:ext cx="10698480" cy="320040"/>
          </a:xfrm>
          <a:prstGeom prst="rect">
            <a:avLst/>
          </a:prstGeom>
          <a:noFill/>
        </p:spPr>
        <p:txBody>
          <a:bodyPr wrap="square" lIns="0" rIns="0" tIns="0" bIns="0">
            <a:spAutoFit/>
          </a:bodyPr>
          <a:lstStyle/>
          <a:p>
            <a:pPr algn="ctr"/>
            <a:r>
              <a:rPr sz="1150" b="1" i="0">
                <a:solidFill>
                  <a:srgbClr val="FFFFFF"/>
                </a:solidFill>
                <a:latin typeface="Cambria"/>
              </a:rPr>
              <a:t>THE MEMORY BORE THE SCAR; THE POWER RAIL MADE IT; THE FIRMWARE MADE IT PERMANENT; A REWRITE HEALS IT. ALL THREE ARE FIXABLE.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