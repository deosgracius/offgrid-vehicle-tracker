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Pre-dawn two-vehicle test in caprock canyon terrain. The question: what does the tracker do when rock, not distance, breaks the link?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RG held the rim; SF drove away down-canyon and back. Every data point is read from video of the live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 schematic of the whole test: out, stale behind rock, 7 minutes of silence, one packet through a gap, self-healing return. Let it play; each step is captioned.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clip shows the actual transition: data aging past the 2-minute threshold and the DATA STALE banner appearing live. Right: the deepest point. Staleness happened from 1.29 mi whenever rock intervened.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 stale, green live. At 4.28 miles the age RESET while nominally out of contact: a single ridge-top packet. The link is intermittent, not binary - and the display never pretends.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Stale onset: 0.5 mi town, 1.29 mi canyon rock, 3.75 mi open road - same hardware. Counterpoint: with one antenna elevated on the rim, line-of-sight stretches held to 4.7 miles. Measured envelope: 0.5 to 4.7 mi, terrain and antenna height controlling.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longest outage was SEVEN minutes. The left clip shows the healing moment live: the age chip collapses from 7m to 15s the instant geometry opens, at 3.5 miles. Drive toward last-known and it heals - the designed fallback, proven.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Post-test audit: both radios verified on every setting; link at 6.25 dB SNR against the -17.5 dB decode limit. LoRa fails as a cliff, not a fade - clear until the instant it is gone. That is why the fixes are geometric.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= already done: the LINK LOST alarm shipped this week (identity, duration, last-known location, flashing, at 3 minutes), and last-known guidance is road-proven. Orange = next deployment: the rim repeater, justified by this test's elevation finding. The rest are hardware moves that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7.jpg"/><Relationship Id="rId5" Type="http://schemas.microsoft.com/office/2007/relationships/media" Target="../media/media3.mp4"/><Relationship Id="rId6" Type="http://schemas.openxmlformats.org/officeDocument/2006/relationships/video" Target="../media/media3.mp4"/><Relationship Id="rId7" Type="http://schemas.openxmlformats.org/officeDocument/2006/relationships/image" Target="../media/image8.jp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12.jpg"/><Relationship Id="rId5" Type="http://schemas.microsoft.com/office/2007/relationships/media" Target="../media/media6.mp4"/><Relationship Id="rId6" Type="http://schemas.openxmlformats.org/officeDocument/2006/relationships/video" Target="../media/media6.mp4"/><Relationship Id="rId7" Type="http://schemas.openxmlformats.org/officeDocument/2006/relationships/image" Target="../media/image13.jpg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hatsApp Image 2026-10-18 at 8.00.56 AM (2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0"/>
            <a:ext cx="5143500" cy="6858000"/>
          </a:xfrm>
          <a:prstGeom prst="rect">
            <a:avLst/>
          </a:prstGeom>
        </p:spPr>
      </p:pic>
      <p:pic>
        <p:nvPicPr>
          <p:cNvPr id="4" name="Picture 3" descr="WhatsApp Image 2026-10-18 at 8.00.55 AM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0"/>
            <a:ext cx="5143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2286000"/>
            <a:ext cx="12191695" cy="1920240"/>
          </a:xfrm>
          <a:prstGeom prst="rect">
            <a:avLst/>
          </a:prstGeom>
          <a:solidFill>
            <a:srgbClr val="16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Canyon Range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015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C9D8F0"/>
                </a:solidFill>
                <a:latin typeface="Calibri"/>
              </a:rPr>
              <a:t>Palo Duro canyon country  ·  October 18, 2026  ·  Group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6213D"/>
                </a:solidFill>
                <a:latin typeface="Calibri"/>
              </a:rPr>
              <a:t>The Test</a:t>
            </a:r>
          </a:p>
        </p:txBody>
      </p:sp>
      <p:pic>
        <p:nvPicPr>
          <p:cNvPr id="3" name="Picture 2" descr="WhatsApp Image 2026-10-18 at 8.00.56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3154680" cy="4206240"/>
          </a:xfrm>
          <a:prstGeom prst="rect">
            <a:avLst/>
          </a:prstGeom>
        </p:spPr>
      </p:pic>
      <p:pic>
        <p:nvPicPr>
          <p:cNvPr id="4" name="Picture 3" descr="WhatsApp Image 2026-10-18 at 8.00.56 AM (3)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234440"/>
            <a:ext cx="3154680" cy="4206240"/>
          </a:xfrm>
          <a:prstGeom prst="rect">
            <a:avLst/>
          </a:prstGeom>
        </p:spPr>
      </p:pic>
      <p:pic>
        <p:nvPicPr>
          <p:cNvPr id="5" name="Picture 4" descr="WhatsApp Image 2026-10-18 at 8.00.56 AM (4)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234440"/>
            <a:ext cx="315468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E6B85"/>
                </a:solidFill>
                <a:latin typeface="Calibri"/>
              </a:rPr>
              <a:t>Two vehicles, pre-dawn  ·  RG parked on the rim at 1102 m  ·  SF driving down-canyon  ·  antennas inside the cars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6213D"/>
                </a:solidFill>
                <a:latin typeface="Calibri"/>
              </a:rPr>
              <a:t>What Happened, Step by Step</a:t>
            </a:r>
          </a:p>
        </p:txBody>
      </p:sp>
      <p:pic>
        <p:nvPicPr>
          <p:cNvPr id="3" name="anim_walkthroug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4168" y="960120"/>
            <a:ext cx="9509760" cy="5349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E6B85"/>
                </a:solidFill>
                <a:latin typeface="Calibri"/>
              </a:rPr>
              <a:t>36-second animated reconstruction of the full run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6213D"/>
                </a:solidFill>
                <a:latin typeface="Calibri"/>
              </a:rPr>
              <a:t>Watch It Go Stale</a:t>
            </a:r>
          </a:p>
        </p:txBody>
      </p:sp>
      <p:pic>
        <p:nvPicPr>
          <p:cNvPr id="3" name="n1_goingstal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377440" y="1188720"/>
            <a:ext cx="2518074" cy="4480560"/>
          </a:xfrm>
          <a:prstGeom prst="rect">
            <a:avLst/>
          </a:prstGeom>
        </p:spPr>
      </p:pic>
      <p:pic>
        <p:nvPicPr>
          <p:cNvPr id="4" name="n2_deepest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223760" y="1188720"/>
            <a:ext cx="2518074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E6B85"/>
                </a:solidFill>
                <a:latin typeface="Calibri"/>
              </a:rPr>
              <a:t>The banner APPEARS on camera: age 1m to 2m, STALE at 2.7 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E6B85"/>
                </a:solidFill>
                <a:latin typeface="Calibri"/>
              </a:rPr>
              <a:t>Deepest point: 4.46 mi, minutes of silence behind rock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6213D"/>
                </a:solidFill>
                <a:latin typeface="Calibri"/>
              </a:rPr>
              <a:t>The Key Finding</a:t>
            </a:r>
          </a:p>
        </p:txBody>
      </p:sp>
      <p:pic>
        <p:nvPicPr>
          <p:cNvPr id="3" name="Picture 2" descr="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7680960" cy="3840480"/>
          </a:xfrm>
          <a:prstGeom prst="rect">
            <a:avLst/>
          </a:prstGeom>
        </p:spPr>
      </p:pic>
      <p:pic>
        <p:nvPicPr>
          <p:cNvPr id="4" name="n3_gappacke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686800" y="1051560"/>
            <a:ext cx="2749326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60350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E6B85"/>
                </a:solidFill>
                <a:latin typeface="Calibri"/>
              </a:rPr>
              <a:t>4.23 mi: age drops to 1m - one packet through a terrain gap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6213D"/>
                </a:solidFill>
                <a:latin typeface="Calibri"/>
              </a:rPr>
              <a:t>Three Environments, One Lesson</a:t>
            </a:r>
          </a:p>
        </p:txBody>
      </p:sp>
      <p:pic>
        <p:nvPicPr>
          <p:cNvPr id="3" name="Picture 2" descr="g_on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371600"/>
            <a:ext cx="9784080" cy="41475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97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5E6B85"/>
                </a:solidFill>
                <a:latin typeface="Calibri"/>
              </a:rPr>
              <a:t>Line of sight sets the range - and elevation extends it: the rim antenna held 4.7 mi, past the flat-ground edge.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6213D"/>
                </a:solidFill>
                <a:latin typeface="Calibri"/>
              </a:rPr>
              <a:t>Watch It Heal: 7 Minutes to 15 Seconds</a:t>
            </a:r>
          </a:p>
        </p:txBody>
      </p:sp>
      <p:pic>
        <p:nvPicPr>
          <p:cNvPr id="3" name="n4_recover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377440" y="1188720"/>
            <a:ext cx="2518074" cy="4480560"/>
          </a:xfrm>
          <a:prstGeom prst="rect">
            <a:avLst/>
          </a:prstGeom>
        </p:spPr>
      </p:pic>
      <p:pic>
        <p:nvPicPr>
          <p:cNvPr id="4" name="n5_approach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223760" y="1188720"/>
            <a:ext cx="2518074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E6B85"/>
                </a:solidFill>
                <a:latin typeface="Calibri"/>
              </a:rPr>
              <a:t>On camera: age 7m, then ONE packet - age 15s. No buttons.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E6B85"/>
                </a:solidFill>
                <a:latin typeface="Calibri"/>
              </a:rPr>
              <a:t>CHANGE COURSE chevrons guide the last mile home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6213D"/>
                </a:solidFill>
                <a:latin typeface="Calibri"/>
              </a:rPr>
              <a:t>Both Radios, Analyzed After the Test</a:t>
            </a:r>
          </a:p>
        </p:txBody>
      </p:sp>
      <p:pic>
        <p:nvPicPr>
          <p:cNvPr id="3" name="Picture 2" descr="g_rad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10515600" cy="43477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5E6B85"/>
                </a:solidFill>
                <a:latin typeface="Calibri"/>
              </a:rPr>
              <a:t>The stalls were terrain, not hardware: every setting verified on both radios, 23.75 dB of link margin in hand.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6213D"/>
                </a:solidFill>
                <a:latin typeface="Calibri"/>
              </a:rPr>
              <a:t>Making It Reach Farther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234440"/>
            <a:ext cx="3703320" cy="2286000"/>
          </a:xfrm>
          <a:prstGeom prst="roundRect">
            <a:avLst/>
          </a:prstGeom>
          <a:solidFill>
            <a:srgbClr val="F4F6FA"/>
          </a:solidFill>
          <a:ln w="22225">
            <a:solidFill>
              <a:srgbClr val="E58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362456"/>
            <a:ext cx="337413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58E1A"/>
                </a:solidFill>
                <a:latin typeface="Calibri"/>
              </a:rPr>
              <a:t>Repeater on high ground</a:t>
            </a:r>
          </a:p>
          <a:p>
            <a:r>
              <a:rPr sz="1350">
                <a:solidFill>
                  <a:srgbClr val="333A48"/>
                </a:solidFill>
                <a:latin typeface="Calibri"/>
              </a:rPr>
              <a:t>One node on the rim relays both arms of the canyon. Cars stay CLIENT_MUTE; recipe ready in docs/REPEATER_RECIPE.md.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61688" y="1234440"/>
            <a:ext cx="3703320" cy="2286000"/>
          </a:xfrm>
          <a:prstGeom prst="roundRect">
            <a:avLst/>
          </a:prstGeom>
          <a:solidFill>
            <a:srgbClr val="F4F6FA"/>
          </a:solidFill>
          <a:ln w="22225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79" y="1362456"/>
            <a:ext cx="337413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6213D"/>
                </a:solidFill>
                <a:latin typeface="Calibri"/>
              </a:rPr>
              <a:t>Roof-mounted antennas</a:t>
            </a:r>
          </a:p>
          <a:p>
            <a:r>
              <a:rPr sz="1350">
                <a:solidFill>
                  <a:srgbClr val="333A48"/>
                </a:solidFill>
                <a:latin typeface="Calibri"/>
              </a:rPr>
              <a:t>Raises the horizon; roughly doubles open-road range and shrinks every canyon shadow. Pure hardware swap.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57616" y="1234440"/>
            <a:ext cx="3703320" cy="2286000"/>
          </a:xfrm>
          <a:prstGeom prst="roundRect">
            <a:avLst/>
          </a:prstGeom>
          <a:solidFill>
            <a:srgbClr val="F4F6FA"/>
          </a:solidFill>
          <a:ln w="22225">
            <a:solidFill>
              <a:srgbClr val="16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22208" y="1362456"/>
            <a:ext cx="337413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6213D"/>
                </a:solidFill>
                <a:latin typeface="Calibri"/>
              </a:rPr>
              <a:t>Third vehicle as relay</a:t>
            </a:r>
          </a:p>
          <a:p>
            <a:r>
              <a:rPr sz="1350">
                <a:solidFill>
                  <a:srgbClr val="333A48"/>
                </a:solidFill>
                <a:latin typeface="Calibri"/>
              </a:rPr>
              <a:t>Same mechanism as the repeater, opportunistic instead of placed - the mesh already supports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40864" y="3794760"/>
            <a:ext cx="3703320" cy="2286000"/>
          </a:xfrm>
          <a:prstGeom prst="roundRect">
            <a:avLst/>
          </a:prstGeom>
          <a:solidFill>
            <a:srgbClr val="F4F6FA"/>
          </a:solidFill>
          <a:ln w="22225">
            <a:solidFill>
              <a:srgbClr val="1F9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5456" y="3922776"/>
            <a:ext cx="337413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F9D68"/>
                </a:solidFill>
                <a:latin typeface="Calibri"/>
              </a:rPr>
              <a:t>LINK LOST alarm  (shipped)</a:t>
            </a:r>
          </a:p>
          <a:p>
            <a:r>
              <a:rPr sz="1350">
                <a:solidFill>
                  <a:srgbClr val="333A48"/>
                </a:solidFill>
                <a:latin typeface="Calibri"/>
              </a:rPr>
              <a:t>New firmware: after 3 minutes of silence the display flashes who was lost, for how long, and where they last were.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792" y="3794760"/>
            <a:ext cx="3703320" cy="2286000"/>
          </a:xfrm>
          <a:prstGeom prst="roundRect">
            <a:avLst/>
          </a:prstGeom>
          <a:solidFill>
            <a:srgbClr val="F4F6FA"/>
          </a:solidFill>
          <a:ln w="22225">
            <a:solidFill>
              <a:srgbClr val="1F9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3" y="3922776"/>
            <a:ext cx="337413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F9D68"/>
                </a:solidFill>
                <a:latin typeface="Calibri"/>
              </a:rPr>
              <a:t>Last-known guidance  (proven)</a:t>
            </a:r>
          </a:p>
          <a:p>
            <a:r>
              <a:rPr sz="1350">
                <a:solidFill>
                  <a:srgbClr val="333A48"/>
                </a:solidFill>
                <a:latin typeface="Calibri"/>
              </a:rPr>
              <a:t>Every blackout becomes drive toward where they were. Healed every outage in this test without a button.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