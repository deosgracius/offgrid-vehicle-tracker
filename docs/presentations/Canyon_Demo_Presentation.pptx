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78" r:id="rId9"/>
    <p:sldId id="279" r:id="rId10"/>
    <p:sldId id="266" r:id="rId11"/>
    <p:sldId id="267" r:id="rId12"/>
    <p:sldId id="272" r:id="rId13"/>
    <p:sldId id="273" r:id="rId14"/>
    <p:sldId id="274" r:id="rId15"/>
    <p:sldId id="275" r:id="rId16"/>
    <p:sldId id="276" r:id="rId17"/>
    <p:sldId id="277"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p:scale>
          <a:sx n="71" d="100"/>
          <a:sy n="71" d="100"/>
        </p:scale>
        <p:origin x="463" y="2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619211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kits powered at the podium as you begin (demo beat 1). One sentence: every test before this one was friendly terrain - this is the morning we took the tracker where radio is supposed to fail.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 the stakes: this is the validation test for the semester. If honesty survives seven minutes of silence, the design thesis survives.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minute maximum. Emphasize the third card - honesty - because the canyon is about to attack exactly that.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Tell it as a story: the night before the biggest test, nothing turned on. The punchline is the bottom card - the scar catalog paid for itself.</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engineering lesson: the failure signature was diagnosable from one serial line because the pairing design is explicit. Recovery rule now in the manual: never fix one setting - re-run the entire provisioning block and verify on the radio's own screen.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actual maps. The route IS the experiment: folds attack line of sight at short range, plains restore it at long range. If range were about distance, near would be easy and far would be hard. Watch what actually happens.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makes it an experiment rather than a drive: declared instrumentation, configuration control on both ends, and a success criterion written before leaving. We did not promise the impossible; we promised honesty and recovery.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Play once through; captioned. Matches sheet 6's maps. Seven steps: live out, stale behind rock, seven minutes of silence, one packet through a gap, self-healing return, guided arrival.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timeline, opposite frame: camera rides with SF, the canyon scrolls past, and the edge chevron with live distance is exactly the display's dart. Key insight: at the stale moment NOTHING visibly changes from the driver's seat - the land simply closed behind them. That is why the display's honesty matters.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Identical radios, four geometries, factor of nine worst-to-best. Dwell on the green bar: RG's accidental elevation out-ranged two car-height antennas - the quantitative case for sheet 20.</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comparison completing the range story. Same radios in both campaigns; only geometry changed. Reacquire-by is farther in the canyon because healing happens where geometry opens, not at a fixed radius.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Closing the loop on sheet 7's protocol: the audit. Left panel: why no signal bar can warn you - flawless at 17.4 dB below the noise, absent at 17.6. The cliff is why every fix on the next sheets is geometric.</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Green: already done - the alarm shipped this week. Orange: next deployment, justified by the green bar on sheet 17. Nothing speculative; each item has a measured number behind it.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fix as a mechanism, in order of leverage: the repeater's two green hops; the side view of the ray clearing terrain as the antenna rises; the mobile relay in motion; the shipped fallback healing seven minutes with one packet.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 on predictions - predictions are what make it engineering. If demo beat 3 is running, hold up the flashing display as you deliver the closing line.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jpg"/><Relationship Id="rId4"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jpg"/><Relationship Id="rId4"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7.xml"/><Relationship Id="rId4" Type="http://schemas.openxmlformats.org/officeDocument/2006/relationships/image" Target="../media/image9.jpg"/></Relationships>
</file>

<file path=ppt/slides/_rels/slide10.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7.xml"/><Relationship Id="rId4" Type="http://schemas.openxmlformats.org/officeDocument/2006/relationships/notesSlide" Target="../notesSlides/notesSlide9.xml"/><Relationship Id="rId5" Type="http://schemas.openxmlformats.org/officeDocument/2006/relationships/image" Target="../media/image10.jpg"/></Relationships>
</file>

<file path=ppt/slides/_rels/slide11.xml.rels><?xml version='1.0' encoding='UTF-8' standalone='yes'?>
<Relationships xmlns="http://schemas.openxmlformats.org/package/2006/relationships"><Relationship Id="rId1" Type="http://schemas.microsoft.com/office/2007/relationships/media" Target="../media/media3.mp4"/><Relationship Id="rId2" Type="http://schemas.openxmlformats.org/officeDocument/2006/relationships/video" Target="../media/media3.mp4"/><Relationship Id="rId3" Type="http://schemas.openxmlformats.org/officeDocument/2006/relationships/slideLayout" Target="../slideLayouts/slideLayout7.xml"/><Relationship Id="rId4" Type="http://schemas.openxmlformats.org/officeDocument/2006/relationships/notesSlide" Target="../notesSlides/notesSlide10.xml"/><Relationship Id="rId5"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microsoft.com/office/2007/relationships/media" Target="../media/media4.mp4"/><Relationship Id="rId2" Type="http://schemas.openxmlformats.org/officeDocument/2006/relationships/video" Target="../media/media4.mp4"/><Relationship Id="rId3" Type="http://schemas.openxmlformats.org/officeDocument/2006/relationships/slideLayout" Target="../slideLayouts/slideLayout7.xml"/><Relationship Id="rId4" Type="http://schemas.openxmlformats.org/officeDocument/2006/relationships/notesSlide" Target="../notesSlides/notesSlide15.xml"/><Relationship Id="rId5" Type="http://schemas.openxmlformats.org/officeDocument/2006/relationships/image" Target="../media/image1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34" name="TextBox 33"/>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THE CETA CANYON TEST</a:t>
            </a:r>
          </a:p>
        </p:txBody>
      </p:sp>
      <p:sp>
        <p:nvSpPr>
          <p:cNvPr id="35" name="TextBox 34"/>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01/16  REV A  2026-10-19</a:t>
            </a:r>
          </a:p>
        </p:txBody>
      </p:sp>
      <p:sp>
        <p:nvSpPr>
          <p:cNvPr id="36" name="TextBox 35"/>
          <p:cNvSpPr txBox="1"/>
          <p:nvPr/>
        </p:nvSpPr>
        <p:spPr>
          <a:xfrm>
            <a:off x="649223" y="783363"/>
            <a:ext cx="10881360" cy="677108"/>
          </a:xfrm>
          <a:prstGeom prst="rect">
            <a:avLst/>
          </a:prstGeom>
          <a:noFill/>
        </p:spPr>
        <p:txBody>
          <a:bodyPr wrap="square" lIns="0" tIns="0" rIns="0" bIns="0">
            <a:spAutoFit/>
          </a:bodyPr>
          <a:lstStyle/>
          <a:p>
            <a:pPr algn="ctr"/>
            <a:r>
              <a:rPr sz="4400" b="1" i="0" spc="300" dirty="0">
                <a:solidFill>
                  <a:srgbClr val="16213D"/>
                </a:solidFill>
                <a:latin typeface="Cambria"/>
              </a:rPr>
              <a:t>THE CETA CANYON TEST</a:t>
            </a:r>
          </a:p>
        </p:txBody>
      </p:sp>
      <p:sp>
        <p:nvSpPr>
          <p:cNvPr id="37" name="TextBox 36"/>
          <p:cNvSpPr txBox="1"/>
          <p:nvPr/>
        </p:nvSpPr>
        <p:spPr>
          <a:xfrm>
            <a:off x="658368" y="1755648"/>
            <a:ext cx="10881360" cy="261610"/>
          </a:xfrm>
          <a:prstGeom prst="rect">
            <a:avLst/>
          </a:prstGeom>
          <a:noFill/>
        </p:spPr>
        <p:txBody>
          <a:bodyPr wrap="square" lIns="0" tIns="0" rIns="0" bIns="0">
            <a:spAutoFit/>
          </a:bodyPr>
          <a:lstStyle/>
          <a:p>
            <a:pPr algn="l"/>
            <a:r>
              <a:rPr sz="1700" b="1" i="0" spc="100" dirty="0">
                <a:solidFill>
                  <a:srgbClr val="E58E1A"/>
                </a:solidFill>
                <a:latin typeface="Cambria"/>
              </a:rPr>
              <a:t>RANGE CAMPAIGN </a:t>
            </a:r>
            <a:r>
              <a:rPr lang="en-US" sz="1700" b="1" i="0" spc="100" dirty="0">
                <a:solidFill>
                  <a:srgbClr val="E58E1A"/>
                </a:solidFill>
                <a:latin typeface="Cambria"/>
              </a:rPr>
              <a:t>1</a:t>
            </a:r>
            <a:r>
              <a:rPr sz="1700" b="1" i="0" spc="100" dirty="0">
                <a:solidFill>
                  <a:srgbClr val="E58E1A"/>
                </a:solidFill>
                <a:latin typeface="Cambria"/>
              </a:rPr>
              <a:t>: WHERE ROCK BEATS RADIO</a:t>
            </a:r>
          </a:p>
        </p:txBody>
      </p:sp>
      <p:sp>
        <p:nvSpPr>
          <p:cNvPr id="38" name="TextBox 37"/>
          <p:cNvSpPr txBox="1"/>
          <p:nvPr/>
        </p:nvSpPr>
        <p:spPr>
          <a:xfrm>
            <a:off x="658368" y="2286000"/>
            <a:ext cx="6675120" cy="1005840"/>
          </a:xfrm>
          <a:prstGeom prst="rect">
            <a:avLst/>
          </a:prstGeom>
          <a:noFill/>
        </p:spPr>
        <p:txBody>
          <a:bodyPr wrap="square" lIns="0" tIns="0" rIns="0" bIns="0">
            <a:spAutoFit/>
          </a:bodyPr>
          <a:lstStyle/>
          <a:p>
            <a:pPr algn="l"/>
            <a:r>
              <a:rPr sz="1300" b="0" i="0">
                <a:solidFill>
                  <a:srgbClr val="222A3F"/>
                </a:solidFill>
                <a:latin typeface="Cambria"/>
              </a:rPr>
              <a:t>One morning on the Palo Duro escarpment: the hardest radio question we could ask the tracker, answered on camera. Pre-test failures included, because they are part of the test.</a:t>
            </a:r>
          </a:p>
        </p:txBody>
      </p:sp>
      <p:pic>
        <p:nvPicPr>
          <p:cNvPr id="39" name="Picture 38" descr="WhatsApp Image 2026-10-18 at 8.00.56 AM (2).jpeg"/>
          <p:cNvPicPr>
            <a:picLocks noChangeAspect="1"/>
          </p:cNvPicPr>
          <p:nvPr/>
        </p:nvPicPr>
        <p:blipFill>
          <a:blip r:embed="rId3"/>
          <a:stretch>
            <a:fillRect/>
          </a:stretch>
        </p:blipFill>
        <p:spPr>
          <a:xfrm>
            <a:off x="646429" y="2880359"/>
            <a:ext cx="2278126" cy="3037501"/>
          </a:xfrm>
          <a:prstGeom prst="rect">
            <a:avLst/>
          </a:prstGeom>
        </p:spPr>
      </p:pic>
      <p:pic>
        <p:nvPicPr>
          <p:cNvPr id="40" name="Picture 39" descr="WhatsApp Image 2026-10-18 at 8.00.55 AM.jpeg"/>
          <p:cNvPicPr>
            <a:picLocks noChangeAspect="1"/>
          </p:cNvPicPr>
          <p:nvPr/>
        </p:nvPicPr>
        <p:blipFill>
          <a:blip r:embed="rId4"/>
          <a:stretch>
            <a:fillRect/>
          </a:stretch>
        </p:blipFill>
        <p:spPr>
          <a:xfrm>
            <a:off x="3051808" y="2880360"/>
            <a:ext cx="2278125" cy="3037500"/>
          </a:xfrm>
          <a:prstGeom prst="rect">
            <a:avLst/>
          </a:prstGeom>
        </p:spPr>
      </p:pic>
      <p:sp>
        <p:nvSpPr>
          <p:cNvPr id="41" name="Rectangle 40"/>
          <p:cNvSpPr/>
          <p:nvPr/>
        </p:nvSpPr>
        <p:spPr>
          <a:xfrm>
            <a:off x="658368" y="2880360"/>
            <a:ext cx="2260348" cy="303750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3060444" y="2893060"/>
            <a:ext cx="2256788" cy="302480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58368" y="5998464"/>
            <a:ext cx="3840480" cy="274320"/>
          </a:xfrm>
          <a:prstGeom prst="rect">
            <a:avLst/>
          </a:prstGeom>
          <a:noFill/>
        </p:spPr>
        <p:txBody>
          <a:bodyPr wrap="square" lIns="0" tIns="0" rIns="0" bIns="0">
            <a:spAutoFit/>
          </a:bodyPr>
          <a:lstStyle/>
          <a:p>
            <a:pPr algn="ctr"/>
            <a:r>
              <a:rPr sz="1200" b="0" i="0" dirty="0">
                <a:solidFill>
                  <a:srgbClr val="5E6B85"/>
                </a:solidFill>
                <a:latin typeface="Cambria"/>
              </a:rPr>
              <a:t>CETA CANYON AT FIRST LIGHT, 2026-10-18</a:t>
            </a:r>
          </a:p>
        </p:txBody>
      </p:sp>
      <p:sp>
        <p:nvSpPr>
          <p:cNvPr id="44" name="TextBox 43"/>
          <p:cNvSpPr txBox="1"/>
          <p:nvPr/>
        </p:nvSpPr>
        <p:spPr>
          <a:xfrm>
            <a:off x="8219693" y="5030690"/>
            <a:ext cx="3931920" cy="1000274"/>
          </a:xfrm>
          <a:prstGeom prst="rect">
            <a:avLst/>
          </a:prstGeom>
          <a:noFill/>
        </p:spPr>
        <p:txBody>
          <a:bodyPr wrap="square" lIns="0" tIns="0" rIns="0" bIns="0">
            <a:spAutoFit/>
          </a:bodyPr>
          <a:lstStyle/>
          <a:p>
            <a:pPr algn="l"/>
            <a:r>
              <a:rPr sz="1300" b="1" i="0" dirty="0">
                <a:solidFill>
                  <a:srgbClr val="222A3F"/>
                </a:solidFill>
                <a:latin typeface="Courier New"/>
              </a:rPr>
              <a:t>GROUP 9
Deo · Josiah · Victor · Cannon
Sponsor: Dr. Richard Gale
October 18,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 - BEFORE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02/16  REV A  2026-10-19</a:t>
            </a:r>
          </a:p>
        </p:txBody>
      </p:sp>
      <p:sp>
        <p:nvSpPr>
          <p:cNvPr id="7" name="TextBox 6"/>
          <p:cNvSpPr txBox="1"/>
          <p:nvPr/>
        </p:nvSpPr>
        <p:spPr>
          <a:xfrm>
            <a:off x="457199" y="329184"/>
            <a:ext cx="11290151" cy="353943"/>
          </a:xfrm>
          <a:prstGeom prst="rect">
            <a:avLst/>
          </a:prstGeom>
          <a:noFill/>
        </p:spPr>
        <p:txBody>
          <a:bodyPr wrap="square" lIns="0" tIns="0" rIns="0" bIns="0">
            <a:spAutoFit/>
          </a:bodyPr>
          <a:lstStyle/>
          <a:p>
            <a:pPr algn="ctr"/>
            <a:r>
              <a:rPr sz="2300" b="1" i="0" spc="200" dirty="0">
                <a:solidFill>
                  <a:srgbClr val="16213D"/>
                </a:solidFill>
                <a:latin typeface="Cambria"/>
              </a:rPr>
              <a:t>WHY THIS TEST MATTERED MOST</a:t>
            </a:r>
          </a:p>
        </p:txBody>
      </p:sp>
      <p:sp>
        <p:nvSpPr>
          <p:cNvPr id="8" name="Rectangle 7"/>
          <p:cNvSpPr/>
          <p:nvPr/>
        </p:nvSpPr>
        <p:spPr>
          <a:xfrm>
            <a:off x="502920" y="1019078"/>
            <a:ext cx="644652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67511" y="1446799"/>
            <a:ext cx="6163055" cy="577081"/>
          </a:xfrm>
          <a:prstGeom prst="rect">
            <a:avLst/>
          </a:prstGeom>
          <a:noFill/>
        </p:spPr>
        <p:txBody>
          <a:bodyPr wrap="square" lIns="0" tIns="0" rIns="0" bIns="0">
            <a:spAutoFit/>
          </a:bodyPr>
          <a:lstStyle/>
          <a:p>
            <a:r>
              <a:rPr sz="1450" b="1" spc="100" dirty="0">
                <a:solidFill>
                  <a:srgbClr val="16213D"/>
                </a:solidFill>
                <a:latin typeface="Cambria"/>
              </a:rPr>
              <a:t>THE MISSION IS THE HARD CASE</a:t>
            </a:r>
          </a:p>
          <a:p>
            <a:r>
              <a:rPr sz="1150" dirty="0">
                <a:solidFill>
                  <a:srgbClr val="222A3F"/>
                </a:solidFill>
                <a:latin typeface="Cambria"/>
              </a:rPr>
              <a:t>This system exists for places with no infrastructure - mountain valleys, desert trails, canyon country. </a:t>
            </a:r>
            <a:r>
              <a:rPr sz="1150" dirty="0">
                <a:solidFill>
                  <a:srgbClr val="222A3F"/>
                </a:solidFill>
                <a:highlight>
                  <a:srgbClr val="FFFF00"/>
                </a:highlight>
                <a:latin typeface="Cambria"/>
              </a:rPr>
              <a:t>A tracker that only works where radio is easy is a toy</a:t>
            </a:r>
            <a:r>
              <a:rPr sz="1150" dirty="0">
                <a:solidFill>
                  <a:srgbClr val="222A3F"/>
                </a:solidFill>
                <a:latin typeface="Cambria"/>
              </a:rPr>
              <a:t>.</a:t>
            </a:r>
          </a:p>
        </p:txBody>
      </p:sp>
      <p:sp>
        <p:nvSpPr>
          <p:cNvPr id="10" name="Rectangle 9"/>
          <p:cNvSpPr/>
          <p:nvPr/>
        </p:nvSpPr>
        <p:spPr>
          <a:xfrm>
            <a:off x="502920" y="2772679"/>
            <a:ext cx="644652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67513" y="3189415"/>
            <a:ext cx="6088290" cy="577081"/>
          </a:xfrm>
          <a:prstGeom prst="rect">
            <a:avLst/>
          </a:prstGeom>
          <a:noFill/>
        </p:spPr>
        <p:txBody>
          <a:bodyPr wrap="square" lIns="0" tIns="0" rIns="0" bIns="0">
            <a:spAutoFit/>
          </a:bodyPr>
          <a:lstStyle/>
          <a:p>
            <a:r>
              <a:rPr sz="1450" b="1" spc="100" dirty="0">
                <a:solidFill>
                  <a:srgbClr val="16213D"/>
                </a:solidFill>
                <a:latin typeface="Cambria"/>
              </a:rPr>
              <a:t>EVERY PRIOR RESULT WAS FRIENDLY</a:t>
            </a:r>
          </a:p>
          <a:p>
            <a:r>
              <a:rPr sz="1150" dirty="0">
                <a:solidFill>
                  <a:srgbClr val="222A3F"/>
                </a:solidFill>
                <a:latin typeface="Cambria"/>
              </a:rPr>
              <a:t>Bench, town, and one flat road. Our range claims and our honesty design had never met terrain that fights back.</a:t>
            </a:r>
          </a:p>
        </p:txBody>
      </p:sp>
      <p:sp>
        <p:nvSpPr>
          <p:cNvPr id="12" name="Rectangle 11"/>
          <p:cNvSpPr/>
          <p:nvPr/>
        </p:nvSpPr>
        <p:spPr>
          <a:xfrm>
            <a:off x="502920" y="4526280"/>
            <a:ext cx="644652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7512" y="4887468"/>
            <a:ext cx="6163055" cy="1243584"/>
          </a:xfrm>
          <a:prstGeom prst="rect">
            <a:avLst/>
          </a:prstGeom>
          <a:noFill/>
        </p:spPr>
        <p:txBody>
          <a:bodyPr wrap="square" lIns="0" tIns="0" rIns="0" bIns="0">
            <a:spAutoFit/>
          </a:bodyPr>
          <a:lstStyle/>
          <a:p>
            <a:r>
              <a:rPr sz="1450" b="1" spc="100" dirty="0">
                <a:solidFill>
                  <a:srgbClr val="16213D"/>
                </a:solidFill>
                <a:latin typeface="Cambria"/>
              </a:rPr>
              <a:t>TWO CLAIMS ON TRIAL AT ONCE</a:t>
            </a:r>
          </a:p>
          <a:p>
            <a:r>
              <a:rPr sz="1150" dirty="0">
                <a:solidFill>
                  <a:srgbClr val="222A3F"/>
                </a:solidFill>
                <a:latin typeface="Cambria"/>
              </a:rPr>
              <a:t>The physics claim: the link budget's 20 dB terrain reserve. The design claim: when the link breaks, the display never lies about it.</a:t>
            </a:r>
          </a:p>
        </p:txBody>
      </p:sp>
      <p:pic>
        <p:nvPicPr>
          <p:cNvPr id="14" name="Picture 13" descr="WhatsApp Image 2026-10-18 at 8.00.56 AM (4).jpeg"/>
          <p:cNvPicPr>
            <a:picLocks noChangeAspect="1"/>
          </p:cNvPicPr>
          <p:nvPr/>
        </p:nvPicPr>
        <p:blipFill>
          <a:blip r:embed="rId3"/>
          <a:stretch>
            <a:fillRect/>
          </a:stretch>
        </p:blipFill>
        <p:spPr>
          <a:xfrm>
            <a:off x="7498079" y="1019078"/>
            <a:ext cx="3732363" cy="4976484"/>
          </a:xfrm>
          <a:prstGeom prst="rect">
            <a:avLst/>
          </a:prstGeom>
        </p:spPr>
      </p:pic>
      <p:sp>
        <p:nvSpPr>
          <p:cNvPr id="15" name="Rectangle 14"/>
          <p:cNvSpPr/>
          <p:nvPr/>
        </p:nvSpPr>
        <p:spPr>
          <a:xfrm>
            <a:off x="7498079" y="1019078"/>
            <a:ext cx="3732362" cy="4963784"/>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 - BEFORE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03/16  REV A  2026-10-19</a:t>
            </a:r>
          </a:p>
        </p:txBody>
      </p:sp>
      <p:sp>
        <p:nvSpPr>
          <p:cNvPr id="7" name="TextBox 6"/>
          <p:cNvSpPr txBox="1"/>
          <p:nvPr/>
        </p:nvSpPr>
        <p:spPr>
          <a:xfrm>
            <a:off x="1568196" y="456414"/>
            <a:ext cx="9052560" cy="353943"/>
          </a:xfrm>
          <a:prstGeom prst="rect">
            <a:avLst/>
          </a:prstGeom>
          <a:noFill/>
        </p:spPr>
        <p:txBody>
          <a:bodyPr wrap="square" lIns="0" tIns="0" rIns="0" bIns="0">
            <a:spAutoFit/>
          </a:bodyPr>
          <a:lstStyle/>
          <a:p>
            <a:pPr algn="ctr"/>
            <a:r>
              <a:rPr sz="2300" b="1" i="0" spc="200" dirty="0">
                <a:solidFill>
                  <a:srgbClr val="16213D"/>
                </a:solidFill>
                <a:latin typeface="Cambria"/>
              </a:rPr>
              <a:t>THE SYSTEM UNDER TEST</a:t>
            </a:r>
          </a:p>
        </p:txBody>
      </p:sp>
      <p:pic>
        <p:nvPicPr>
          <p:cNvPr id="8" name="Picture 7" descr="system-diagram.png"/>
          <p:cNvPicPr>
            <a:picLocks noChangeAspect="1"/>
          </p:cNvPicPr>
          <p:nvPr/>
        </p:nvPicPr>
        <p:blipFill>
          <a:blip r:embed="rId3"/>
          <a:stretch>
            <a:fillRect/>
          </a:stretch>
        </p:blipFill>
        <p:spPr>
          <a:xfrm>
            <a:off x="968188" y="1162842"/>
            <a:ext cx="5018442" cy="5041695"/>
          </a:xfrm>
          <a:prstGeom prst="rect">
            <a:avLst/>
          </a:prstGeom>
        </p:spPr>
      </p:pic>
      <p:sp>
        <p:nvSpPr>
          <p:cNvPr id="9" name="Rectangle 8"/>
          <p:cNvSpPr/>
          <p:nvPr/>
        </p:nvSpPr>
        <p:spPr>
          <a:xfrm>
            <a:off x="7520940" y="1252728"/>
            <a:ext cx="3977639" cy="142646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85531" y="1549908"/>
            <a:ext cx="3648456" cy="1188720"/>
          </a:xfrm>
          <a:prstGeom prst="rect">
            <a:avLst/>
          </a:prstGeom>
          <a:noFill/>
        </p:spPr>
        <p:txBody>
          <a:bodyPr wrap="square" lIns="0" tIns="0" rIns="0" bIns="0">
            <a:spAutoFit/>
          </a:bodyPr>
          <a:lstStyle/>
          <a:p>
            <a:r>
              <a:rPr sz="1450" b="1" spc="100" dirty="0">
                <a:solidFill>
                  <a:srgbClr val="16213D"/>
                </a:solidFill>
                <a:latin typeface="Cambria"/>
              </a:rPr>
              <a:t>NO PHONE, NO TOWER, NO INTERNET</a:t>
            </a:r>
          </a:p>
          <a:p>
            <a:r>
              <a:rPr sz="1150" dirty="0">
                <a:solidFill>
                  <a:srgbClr val="222A3F"/>
                </a:solidFill>
                <a:latin typeface="Cambria"/>
              </a:rPr>
              <a:t>Two vehicles exchange GPS over a private 915 MHz LoRa channel, AES-256 encrypted.</a:t>
            </a:r>
          </a:p>
        </p:txBody>
      </p:sp>
      <p:sp>
        <p:nvSpPr>
          <p:cNvPr id="11" name="Rectangle 10"/>
          <p:cNvSpPr/>
          <p:nvPr/>
        </p:nvSpPr>
        <p:spPr>
          <a:xfrm>
            <a:off x="7520940" y="2852928"/>
            <a:ext cx="3977639" cy="142646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685532" y="3203956"/>
            <a:ext cx="3648456" cy="1188720"/>
          </a:xfrm>
          <a:prstGeom prst="rect">
            <a:avLst/>
          </a:prstGeom>
          <a:noFill/>
        </p:spPr>
        <p:txBody>
          <a:bodyPr wrap="square" lIns="0" tIns="0" rIns="0" bIns="0">
            <a:spAutoFit/>
          </a:bodyPr>
          <a:lstStyle/>
          <a:p>
            <a:r>
              <a:rPr sz="1450" b="1" spc="100" dirty="0">
                <a:solidFill>
                  <a:srgbClr val="16213D"/>
                </a:solidFill>
                <a:latin typeface="Cambria"/>
              </a:rPr>
              <a:t>STOCK RADIOS, CUSTOM GLASS</a:t>
            </a:r>
          </a:p>
          <a:p>
            <a:r>
              <a:rPr sz="1150" dirty="0" err="1">
                <a:solidFill>
                  <a:srgbClr val="222A3F"/>
                </a:solidFill>
                <a:latin typeface="Cambria"/>
              </a:rPr>
              <a:t>Meshtastic</a:t>
            </a:r>
            <a:r>
              <a:rPr sz="1150" dirty="0">
                <a:solidFill>
                  <a:srgbClr val="222A3F"/>
                </a:solidFill>
                <a:latin typeface="Cambria"/>
              </a:rPr>
              <a:t> radios untouched; our firmware drives a sunlight-readable display over BLE.</a:t>
            </a:r>
          </a:p>
        </p:txBody>
      </p:sp>
      <p:sp>
        <p:nvSpPr>
          <p:cNvPr id="13" name="Rectangle 12"/>
          <p:cNvSpPr/>
          <p:nvPr/>
        </p:nvSpPr>
        <p:spPr>
          <a:xfrm>
            <a:off x="7520940" y="4453128"/>
            <a:ext cx="3977639" cy="142646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85532" y="4785868"/>
            <a:ext cx="3648456" cy="1188720"/>
          </a:xfrm>
          <a:prstGeom prst="rect">
            <a:avLst/>
          </a:prstGeom>
          <a:noFill/>
        </p:spPr>
        <p:txBody>
          <a:bodyPr wrap="square" lIns="0" tIns="0" rIns="0" bIns="0">
            <a:spAutoFit/>
          </a:bodyPr>
          <a:lstStyle/>
          <a:p>
            <a:r>
              <a:rPr sz="1450" b="1" spc="100" dirty="0">
                <a:solidFill>
                  <a:srgbClr val="16213D"/>
                </a:solidFill>
                <a:latin typeface="Cambria"/>
              </a:rPr>
              <a:t>HONESTY AS A FEATURE</a:t>
            </a:r>
          </a:p>
          <a:p>
            <a:r>
              <a:rPr sz="1150" dirty="0">
                <a:solidFill>
                  <a:srgbClr val="222A3F"/>
                </a:solidFill>
                <a:latin typeface="Cambria"/>
              </a:rPr>
              <a:t>Every number on screen carries its age. Estimates are drawn hollow. The display never pretends.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 - BEFORE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04/16  REV A  2026-10-19</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646920" y="451552"/>
            <a:ext cx="2148840" cy="310896"/>
          </a:xfrm>
          <a:prstGeom prst="rect">
            <a:avLst/>
          </a:prstGeom>
          <a:noFill/>
        </p:spPr>
        <p:txBody>
          <a:bodyPr wrap="square" lIns="0" tIns="0" rIns="0" bIns="0">
            <a:spAutoFit/>
          </a:bodyPr>
          <a:lstStyle/>
          <a:p>
            <a:pPr algn="ctr"/>
            <a:r>
              <a:rPr sz="1100" b="1" i="0" dirty="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tIns="0" rIns="0" bIns="0">
            <a:spAutoFit/>
          </a:bodyPr>
          <a:lstStyle/>
          <a:p>
            <a:pPr algn="l"/>
            <a:r>
              <a:rPr sz="2300" b="1" i="0" spc="200">
                <a:solidFill>
                  <a:srgbClr val="16213D"/>
                </a:solidFill>
                <a:latin typeface="Cambria"/>
              </a:rPr>
              <a:t>T-MINUS TWELVE HOURS: EVERYTHING WAS BROKEN</a:t>
            </a:r>
          </a:p>
        </p:txBody>
      </p:sp>
      <p:sp>
        <p:nvSpPr>
          <p:cNvPr id="10" name="TextBox 9"/>
          <p:cNvSpPr txBox="1"/>
          <p:nvPr/>
        </p:nvSpPr>
        <p:spPr>
          <a:xfrm>
            <a:off x="502920" y="1115568"/>
            <a:ext cx="11155680" cy="192360"/>
          </a:xfrm>
          <a:prstGeom prst="rect">
            <a:avLst/>
          </a:prstGeom>
          <a:noFill/>
        </p:spPr>
        <p:txBody>
          <a:bodyPr wrap="square" lIns="0" tIns="0" rIns="0" bIns="0">
            <a:spAutoFit/>
          </a:bodyPr>
          <a:lstStyle/>
          <a:p>
            <a:pPr algn="ctr"/>
            <a:r>
              <a:rPr sz="1250" b="0" i="0" dirty="0">
                <a:solidFill>
                  <a:srgbClr val="5E6B85"/>
                </a:solidFill>
                <a:latin typeface="Cambria"/>
              </a:rPr>
              <a:t>Real field tests begin before the field. The evening before, the system would not come up at all - three independent faults, found in one sitting.</a:t>
            </a:r>
          </a:p>
        </p:txBody>
      </p:sp>
      <p:sp>
        <p:nvSpPr>
          <p:cNvPr id="11" name="Rectangle 10"/>
          <p:cNvSpPr/>
          <p:nvPr/>
        </p:nvSpPr>
        <p:spPr>
          <a:xfrm>
            <a:off x="502920" y="1783080"/>
            <a:ext cx="3657600" cy="2331720"/>
          </a:xfrm>
          <a:prstGeom prst="rect">
            <a:avLst/>
          </a:prstGeom>
          <a:solidFill>
            <a:srgbClr val="F2F5FA"/>
          </a:solidFill>
          <a:ln w="15875">
            <a:solidFill>
              <a:srgbClr val="5E6B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62940" y="2386584"/>
            <a:ext cx="3328416" cy="2093976"/>
          </a:xfrm>
          <a:prstGeom prst="rect">
            <a:avLst/>
          </a:prstGeom>
          <a:noFill/>
        </p:spPr>
        <p:txBody>
          <a:bodyPr wrap="square" lIns="0" tIns="0" rIns="0" bIns="0">
            <a:spAutoFit/>
          </a:bodyPr>
          <a:lstStyle/>
          <a:p>
            <a:r>
              <a:rPr sz="1450" b="1" spc="100" dirty="0">
                <a:solidFill>
                  <a:srgbClr val="5E6B85"/>
                </a:solidFill>
                <a:latin typeface="Cambria"/>
              </a:rPr>
              <a:t>DISPLAY 1: “DEAD”</a:t>
            </a:r>
          </a:p>
          <a:p>
            <a:r>
              <a:rPr sz="1150" dirty="0">
                <a:solidFill>
                  <a:srgbClr val="222A3F"/>
                </a:solidFill>
                <a:latin typeface="Cambria"/>
              </a:rPr>
              <a:t>Actually fine. The power source was the fault: power banks shut off under the display's milliwatt draw, and a reflective screen in a dim room reads as off.</a:t>
            </a:r>
          </a:p>
        </p:txBody>
      </p:sp>
      <p:sp>
        <p:nvSpPr>
          <p:cNvPr id="13" name="Rectangle 12"/>
          <p:cNvSpPr/>
          <p:nvPr/>
        </p:nvSpPr>
        <p:spPr>
          <a:xfrm>
            <a:off x="4325112" y="1783080"/>
            <a:ext cx="3657600" cy="233172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89704" y="2386584"/>
            <a:ext cx="3328416" cy="931024"/>
          </a:xfrm>
          <a:prstGeom prst="rect">
            <a:avLst/>
          </a:prstGeom>
          <a:noFill/>
        </p:spPr>
        <p:txBody>
          <a:bodyPr wrap="square" lIns="0" tIns="0" rIns="0" bIns="0">
            <a:spAutoFit/>
          </a:bodyPr>
          <a:lstStyle/>
          <a:p>
            <a:r>
              <a:rPr sz="1450" b="1" spc="100" dirty="0">
                <a:solidFill>
                  <a:srgbClr val="E58E1A"/>
                </a:solidFill>
                <a:latin typeface="Cambria"/>
              </a:rPr>
              <a:t>DISPLAY 2: HALF-DEAD USB-C</a:t>
            </a:r>
          </a:p>
          <a:p>
            <a:r>
              <a:rPr lang="en-US" sz="1150" dirty="0">
                <a:solidFill>
                  <a:srgbClr val="222A3F"/>
                </a:solidFill>
                <a:latin typeface="Cambria"/>
              </a:rPr>
              <a:t>Actually fine. The power source was the fault: power banks shut off under the display's milliwatt draw, and a reflective screen in a dim room reads as off.</a:t>
            </a:r>
          </a:p>
        </p:txBody>
      </p:sp>
      <p:sp>
        <p:nvSpPr>
          <p:cNvPr id="15" name="Rectangle 14"/>
          <p:cNvSpPr/>
          <p:nvPr/>
        </p:nvSpPr>
        <p:spPr>
          <a:xfrm>
            <a:off x="8147304" y="1783080"/>
            <a:ext cx="3657600" cy="233172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11896" y="2382012"/>
            <a:ext cx="3328416" cy="2093976"/>
          </a:xfrm>
          <a:prstGeom prst="rect">
            <a:avLst/>
          </a:prstGeom>
          <a:noFill/>
        </p:spPr>
        <p:txBody>
          <a:bodyPr wrap="square" lIns="0" tIns="0" rIns="0" bIns="0">
            <a:spAutoFit/>
          </a:bodyPr>
          <a:lstStyle/>
          <a:p>
            <a:r>
              <a:rPr sz="1450" b="1" spc="100" dirty="0">
                <a:solidFill>
                  <a:srgbClr val="C43A4B"/>
                </a:solidFill>
                <a:latin typeface="Cambria"/>
              </a:rPr>
              <a:t>RADIO EA:D4: CONFIG REVERT</a:t>
            </a:r>
          </a:p>
          <a:p>
            <a:r>
              <a:rPr sz="1150" dirty="0">
                <a:solidFill>
                  <a:srgbClr val="222A3F"/>
                </a:solidFill>
                <a:latin typeface="Cambria"/>
              </a:rPr>
              <a:t>A week idle and its NVS reverted THREE settings: Bluetooth mode (locked its display out), the channel (906.875 - wrong frequency), and its own name.</a:t>
            </a:r>
          </a:p>
        </p:txBody>
      </p:sp>
      <p:sp>
        <p:nvSpPr>
          <p:cNvPr id="17" name="Rectangle 16"/>
          <p:cNvSpPr/>
          <p:nvPr/>
        </p:nvSpPr>
        <p:spPr>
          <a:xfrm>
            <a:off x="502920" y="4389120"/>
            <a:ext cx="11155680" cy="128016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0664" y="4700017"/>
            <a:ext cx="10826496" cy="1042415"/>
          </a:xfrm>
          <a:prstGeom prst="rect">
            <a:avLst/>
          </a:prstGeom>
          <a:noFill/>
        </p:spPr>
        <p:txBody>
          <a:bodyPr wrap="square" lIns="0" tIns="0" rIns="0" bIns="0">
            <a:spAutoFit/>
          </a:bodyPr>
          <a:lstStyle/>
          <a:p>
            <a:r>
              <a:rPr sz="1350" b="1" spc="100" dirty="0">
                <a:solidFill>
                  <a:srgbClr val="16213D"/>
                </a:solidFill>
                <a:latin typeface="Cambria"/>
              </a:rPr>
              <a:t>WHY THIS SHEET IS IN THE SET</a:t>
            </a:r>
          </a:p>
          <a:p>
            <a:r>
              <a:rPr sz="1150" dirty="0">
                <a:solidFill>
                  <a:srgbClr val="222A3F"/>
                </a:solidFill>
                <a:latin typeface="Cambria"/>
              </a:rPr>
              <a:t>Because it is part of the test. Field equipment fails between outings; a system is only deployable if its failures are diagnosable. Ours were - in about forty minutes - because every past failure had been written down in the scar catalog.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 - BEFORE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05/16  REV A  2026-10-19</a:t>
            </a:r>
          </a:p>
        </p:txBody>
      </p:sp>
      <p:sp>
        <p:nvSpPr>
          <p:cNvPr id="9" name="TextBox 8"/>
          <p:cNvSpPr txBox="1"/>
          <p:nvPr/>
        </p:nvSpPr>
        <p:spPr>
          <a:xfrm>
            <a:off x="502920" y="485214"/>
            <a:ext cx="9052560" cy="353943"/>
          </a:xfrm>
          <a:prstGeom prst="rect">
            <a:avLst/>
          </a:prstGeom>
          <a:noFill/>
        </p:spPr>
        <p:txBody>
          <a:bodyPr wrap="square" lIns="0" tIns="0" rIns="0" bIns="0">
            <a:spAutoFit/>
          </a:bodyPr>
          <a:lstStyle/>
          <a:p>
            <a:pPr algn="ctr"/>
            <a:r>
              <a:rPr sz="2300" b="1" i="0" spc="200" dirty="0">
                <a:solidFill>
                  <a:srgbClr val="16213D"/>
                </a:solidFill>
                <a:latin typeface="Cambria"/>
              </a:rPr>
              <a:t>THE FORTY-MINUTE DIAGNOSIS</a:t>
            </a:r>
          </a:p>
        </p:txBody>
      </p:sp>
      <p:sp>
        <p:nvSpPr>
          <p:cNvPr id="10" name="Rectangle 9"/>
          <p:cNvSpPr/>
          <p:nvPr/>
        </p:nvSpPr>
        <p:spPr>
          <a:xfrm>
            <a:off x="478715" y="1611631"/>
            <a:ext cx="5943600" cy="265176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61595" y="1721359"/>
            <a:ext cx="5577840" cy="274320"/>
          </a:xfrm>
          <a:prstGeom prst="rect">
            <a:avLst/>
          </a:prstGeom>
          <a:noFill/>
        </p:spPr>
        <p:txBody>
          <a:bodyPr wrap="square" lIns="0" tIns="0" rIns="0" bIns="0">
            <a:spAutoFit/>
          </a:bodyPr>
          <a:lstStyle/>
          <a:p>
            <a:pPr algn="l"/>
            <a:r>
              <a:rPr sz="1000" b="1" i="0">
                <a:solidFill>
                  <a:srgbClr val="E58E1A"/>
                </a:solidFill>
                <a:latin typeface="Courier New"/>
              </a:rPr>
              <a:t>DISPLAY SERIAL LOG</a:t>
            </a:r>
          </a:p>
        </p:txBody>
      </p:sp>
      <p:sp>
        <p:nvSpPr>
          <p:cNvPr id="12" name="TextBox 11"/>
          <p:cNvSpPr txBox="1"/>
          <p:nvPr/>
        </p:nvSpPr>
        <p:spPr>
          <a:xfrm>
            <a:off x="661595" y="2023111"/>
            <a:ext cx="5577840" cy="2103120"/>
          </a:xfrm>
          <a:prstGeom prst="rect">
            <a:avLst/>
          </a:prstGeom>
          <a:noFill/>
        </p:spPr>
        <p:txBody>
          <a:bodyPr wrap="square" lIns="0" tIns="0" rIns="0" bIns="0">
            <a:spAutoFit/>
          </a:bodyPr>
          <a:lstStyle/>
          <a:p>
            <a:r>
              <a:rPr sz="1200">
                <a:solidFill>
                  <a:srgbClr val="C9D8F0"/>
                </a:solidFill>
                <a:latin typeface="Courier New"/>
              </a:rPr>
              <a:t>[ble] connected</a:t>
            </a:r>
          </a:p>
          <a:p>
            <a:r>
              <a:rPr sz="1200">
                <a:solidFill>
                  <a:srgbClr val="C9D8F0"/>
                </a:solidFill>
                <a:latin typeface="Courier New"/>
              </a:rPr>
              <a:t>[ble] auth complete: encrypted=1 bonded=0</a:t>
            </a:r>
          </a:p>
          <a:p>
            <a:r>
              <a:rPr sz="1200">
                <a:solidFill>
                  <a:srgbClr val="FF9AA8"/>
                </a:solidFill>
                <a:latin typeface="Courier New"/>
              </a:rPr>
              <a:t>Write complete; status=261</a:t>
            </a:r>
          </a:p>
          <a:p>
            <a:r>
              <a:rPr sz="1200">
                <a:solidFill>
                  <a:srgbClr val="FF9AA8"/>
                </a:solidFill>
                <a:latin typeface="Courier New"/>
              </a:rPr>
              <a:t>[ble] want_config write failed</a:t>
            </a:r>
          </a:p>
          <a:p>
            <a:r>
              <a:rPr sz="1200">
                <a:solidFill>
                  <a:srgbClr val="C9D8F0"/>
                </a:solidFill>
                <a:latin typeface="Courier New"/>
              </a:rPr>
              <a:t>[ble] disconnected (reason 534)</a:t>
            </a:r>
          </a:p>
          <a:p>
            <a:r>
              <a:rPr sz="1200">
                <a:solidFill>
                  <a:srgbClr val="C9D8F0"/>
                </a:solidFill>
                <a:latin typeface="Courier New"/>
              </a:rPr>
              <a:t>... loop forever ...</a:t>
            </a:r>
          </a:p>
        </p:txBody>
      </p:sp>
      <p:sp>
        <p:nvSpPr>
          <p:cNvPr id="13" name="TextBox 12"/>
          <p:cNvSpPr txBox="1"/>
          <p:nvPr/>
        </p:nvSpPr>
        <p:spPr>
          <a:xfrm>
            <a:off x="2636968" y="4921758"/>
            <a:ext cx="7204934" cy="176972"/>
          </a:xfrm>
          <a:prstGeom prst="rect">
            <a:avLst/>
          </a:prstGeom>
          <a:noFill/>
        </p:spPr>
        <p:txBody>
          <a:bodyPr wrap="square" lIns="0" tIns="0" rIns="0" bIns="0">
            <a:spAutoFit/>
          </a:bodyPr>
          <a:lstStyle/>
          <a:p>
            <a:pPr algn="l"/>
            <a:r>
              <a:rPr sz="1150" b="0" i="0" dirty="0">
                <a:solidFill>
                  <a:srgbClr val="5E6B85"/>
                </a:solidFill>
                <a:latin typeface="Cambria"/>
              </a:rPr>
              <a:t>Error 261 = insufficient authentication. One line named the fault: the radio was no longer in NO_PIN mode.</a:t>
            </a:r>
          </a:p>
        </p:txBody>
      </p:sp>
      <p:sp>
        <p:nvSpPr>
          <p:cNvPr id="14" name="Rectangle 13"/>
          <p:cNvSpPr/>
          <p:nvPr/>
        </p:nvSpPr>
        <p:spPr>
          <a:xfrm>
            <a:off x="6858000" y="1604772"/>
            <a:ext cx="411480" cy="41148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858000" y="1673353"/>
            <a:ext cx="411480" cy="320040"/>
          </a:xfrm>
          <a:prstGeom prst="rect">
            <a:avLst/>
          </a:prstGeom>
          <a:noFill/>
        </p:spPr>
        <p:txBody>
          <a:bodyPr wrap="square" lIns="0" tIns="0" rIns="0" bIns="0">
            <a:spAutoFit/>
          </a:bodyPr>
          <a:lstStyle/>
          <a:p>
            <a:pPr algn="ctr"/>
            <a:r>
              <a:rPr sz="1500" b="1" i="0" dirty="0">
                <a:solidFill>
                  <a:srgbClr val="FFFFFF"/>
                </a:solidFill>
                <a:latin typeface="Courier New"/>
              </a:rPr>
              <a:t>1</a:t>
            </a:r>
          </a:p>
        </p:txBody>
      </p:sp>
      <p:sp>
        <p:nvSpPr>
          <p:cNvPr id="16" name="TextBox 15"/>
          <p:cNvSpPr txBox="1"/>
          <p:nvPr/>
        </p:nvSpPr>
        <p:spPr>
          <a:xfrm>
            <a:off x="7452360" y="1549908"/>
            <a:ext cx="4251960" cy="1417320"/>
          </a:xfrm>
          <a:prstGeom prst="rect">
            <a:avLst/>
          </a:prstGeom>
          <a:noFill/>
        </p:spPr>
        <p:txBody>
          <a:bodyPr wrap="square" lIns="0" tIns="0" rIns="0" bIns="0">
            <a:spAutoFit/>
          </a:bodyPr>
          <a:lstStyle/>
          <a:p>
            <a:r>
              <a:rPr sz="1300" b="1" spc="100" dirty="0">
                <a:solidFill>
                  <a:srgbClr val="16213D"/>
                </a:solidFill>
                <a:latin typeface="Cambria"/>
              </a:rPr>
              <a:t>READ THE SIGNATURE</a:t>
            </a:r>
          </a:p>
          <a:p>
            <a:r>
              <a:rPr sz="1100" dirty="0">
                <a:solidFill>
                  <a:srgbClr val="222A3F"/>
                </a:solidFill>
                <a:latin typeface="Cambria"/>
              </a:rPr>
              <a:t>The loop above says the radio demands security the display, by design, cannot give.</a:t>
            </a:r>
          </a:p>
        </p:txBody>
      </p:sp>
      <p:sp>
        <p:nvSpPr>
          <p:cNvPr id="17" name="Rectangle 16"/>
          <p:cNvSpPr/>
          <p:nvPr/>
        </p:nvSpPr>
        <p:spPr>
          <a:xfrm>
            <a:off x="6858000" y="2670589"/>
            <a:ext cx="411480" cy="41148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858000" y="2725453"/>
            <a:ext cx="411480" cy="320040"/>
          </a:xfrm>
          <a:prstGeom prst="rect">
            <a:avLst/>
          </a:prstGeom>
          <a:noFill/>
        </p:spPr>
        <p:txBody>
          <a:bodyPr wrap="square" lIns="0" tIns="0" rIns="0" bIns="0">
            <a:spAutoFit/>
          </a:bodyPr>
          <a:lstStyle/>
          <a:p>
            <a:pPr algn="ctr"/>
            <a:r>
              <a:rPr sz="1500" b="1" i="0">
                <a:solidFill>
                  <a:srgbClr val="FFFFFF"/>
                </a:solidFill>
                <a:latin typeface="Courier New"/>
              </a:rPr>
              <a:t>2</a:t>
            </a:r>
          </a:p>
        </p:txBody>
      </p:sp>
      <p:sp>
        <p:nvSpPr>
          <p:cNvPr id="19" name="TextBox 18"/>
          <p:cNvSpPr txBox="1"/>
          <p:nvPr/>
        </p:nvSpPr>
        <p:spPr>
          <a:xfrm>
            <a:off x="7452360" y="2615725"/>
            <a:ext cx="4251960" cy="1417320"/>
          </a:xfrm>
          <a:prstGeom prst="rect">
            <a:avLst/>
          </a:prstGeom>
          <a:noFill/>
        </p:spPr>
        <p:txBody>
          <a:bodyPr wrap="square" lIns="0" tIns="0" rIns="0" bIns="0">
            <a:spAutoFit/>
          </a:bodyPr>
          <a:lstStyle/>
          <a:p>
            <a:r>
              <a:rPr sz="1300" b="1" spc="100">
                <a:solidFill>
                  <a:srgbClr val="16213D"/>
                </a:solidFill>
                <a:latin typeface="Cambria"/>
              </a:rPr>
              <a:t>TRUST THE OLED, NOT THE CLI</a:t>
            </a:r>
          </a:p>
          <a:p>
            <a:r>
              <a:rPr sz="1100">
                <a:solidFill>
                  <a:srgbClr val="222A3F"/>
                </a:solidFill>
                <a:latin typeface="Cambria"/>
              </a:rPr>
              <a:t>The radio's screen read 906.875 MHz - the default channel. Ground truth beats config read-back.</a:t>
            </a:r>
          </a:p>
        </p:txBody>
      </p:sp>
      <p:sp>
        <p:nvSpPr>
          <p:cNvPr id="20" name="Rectangle 19"/>
          <p:cNvSpPr/>
          <p:nvPr/>
        </p:nvSpPr>
        <p:spPr>
          <a:xfrm>
            <a:off x="6858000" y="3785617"/>
            <a:ext cx="411480" cy="41148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858000" y="3840481"/>
            <a:ext cx="411480" cy="320040"/>
          </a:xfrm>
          <a:prstGeom prst="rect">
            <a:avLst/>
          </a:prstGeom>
          <a:noFill/>
        </p:spPr>
        <p:txBody>
          <a:bodyPr wrap="square" lIns="0" tIns="0" rIns="0" bIns="0">
            <a:spAutoFit/>
          </a:bodyPr>
          <a:lstStyle/>
          <a:p>
            <a:pPr algn="ctr"/>
            <a:r>
              <a:rPr sz="1500" b="1" i="0">
                <a:solidFill>
                  <a:srgbClr val="FFFFFF"/>
                </a:solidFill>
                <a:latin typeface="Courier New"/>
              </a:rPr>
              <a:t>3</a:t>
            </a:r>
          </a:p>
        </p:txBody>
      </p:sp>
      <p:sp>
        <p:nvSpPr>
          <p:cNvPr id="22" name="TextBox 21"/>
          <p:cNvSpPr txBox="1"/>
          <p:nvPr/>
        </p:nvSpPr>
        <p:spPr>
          <a:xfrm>
            <a:off x="7452360" y="3730753"/>
            <a:ext cx="4251960" cy="1417320"/>
          </a:xfrm>
          <a:prstGeom prst="rect">
            <a:avLst/>
          </a:prstGeom>
          <a:noFill/>
        </p:spPr>
        <p:txBody>
          <a:bodyPr wrap="square" lIns="0" tIns="0" rIns="0" bIns="0">
            <a:spAutoFit/>
          </a:bodyPr>
          <a:lstStyle/>
          <a:p>
            <a:r>
              <a:rPr sz="1300" b="1" spc="100" dirty="0">
                <a:solidFill>
                  <a:srgbClr val="16213D"/>
                </a:solidFill>
                <a:latin typeface="Cambria"/>
              </a:rPr>
              <a:t>RE-RUN THE WHOLE RECIPE</a:t>
            </a:r>
          </a:p>
          <a:p>
            <a:r>
              <a:rPr sz="1100" dirty="0">
                <a:solidFill>
                  <a:srgbClr val="222A3F"/>
                </a:solidFill>
                <a:latin typeface="Cambria"/>
              </a:rPr>
              <a:t>Reverts come in batches: channel, Bluetooth, cadence, owner. Re-provision all, verify each by read-back, power-cycle, verify again.</a:t>
            </a:r>
          </a:p>
        </p:txBody>
      </p:sp>
      <p:sp>
        <p:nvSpPr>
          <p:cNvPr id="23" name="TextBox 22"/>
          <p:cNvSpPr txBox="1"/>
          <p:nvPr/>
        </p:nvSpPr>
        <p:spPr>
          <a:xfrm>
            <a:off x="1594821" y="5271516"/>
            <a:ext cx="11155680" cy="365760"/>
          </a:xfrm>
          <a:prstGeom prst="rect">
            <a:avLst/>
          </a:prstGeom>
          <a:noFill/>
        </p:spPr>
        <p:txBody>
          <a:bodyPr wrap="square" lIns="0" tIns="0" rIns="0" bIns="0">
            <a:spAutoFit/>
          </a:bodyPr>
          <a:lstStyle/>
          <a:p>
            <a:pPr algn="l"/>
            <a:r>
              <a:rPr sz="1250" b="1" i="0" dirty="0">
                <a:solidFill>
                  <a:srgbClr val="1F9D68"/>
                </a:solidFill>
                <a:latin typeface="Courier New"/>
              </a:rPr>
              <a:t>BY MIDNIGHT: BOTH DISPLAYS ALIVE, BOTH RADIOS ON 912.875 MHZ, PRE-FLIGHT PASSED. THE TEST WAS 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06/16  REV A  2026-10-19</a:t>
            </a:r>
          </a:p>
        </p:txBody>
      </p:sp>
      <p:sp>
        <p:nvSpPr>
          <p:cNvPr id="7" name="TextBox 6"/>
          <p:cNvSpPr txBox="1"/>
          <p:nvPr/>
        </p:nvSpPr>
        <p:spPr>
          <a:xfrm>
            <a:off x="457199" y="329184"/>
            <a:ext cx="11290151" cy="353943"/>
          </a:xfrm>
          <a:prstGeom prst="rect">
            <a:avLst/>
          </a:prstGeom>
          <a:noFill/>
        </p:spPr>
        <p:txBody>
          <a:bodyPr wrap="square" lIns="0" tIns="0" rIns="0" bIns="0">
            <a:spAutoFit/>
          </a:bodyPr>
          <a:lstStyle/>
          <a:p>
            <a:pPr algn="ctr"/>
            <a:r>
              <a:rPr sz="2300" b="1" i="0" spc="200" dirty="0">
                <a:solidFill>
                  <a:srgbClr val="16213D"/>
                </a:solidFill>
                <a:latin typeface="Cambria"/>
              </a:rPr>
              <a:t>THE PLACE: CETA CANYON, PALO DURO ESCARPMENT</a:t>
            </a:r>
          </a:p>
        </p:txBody>
      </p:sp>
      <p:pic>
        <p:nvPicPr>
          <p:cNvPr id="8" name="Picture 7" descr="map_rg.jpg"/>
          <p:cNvPicPr>
            <a:picLocks noChangeAspect="1"/>
          </p:cNvPicPr>
          <p:nvPr/>
        </p:nvPicPr>
        <p:blipFill>
          <a:blip r:embed="rId3"/>
          <a:stretch>
            <a:fillRect/>
          </a:stretch>
        </p:blipFill>
        <p:spPr>
          <a:xfrm>
            <a:off x="2306151" y="1110996"/>
            <a:ext cx="3336504" cy="4160520"/>
          </a:xfrm>
          <a:prstGeom prst="rect">
            <a:avLst/>
          </a:prstGeom>
        </p:spPr>
      </p:pic>
      <p:pic>
        <p:nvPicPr>
          <p:cNvPr id="9" name="Picture 8" descr="map_route.jpg"/>
          <p:cNvPicPr>
            <a:picLocks noChangeAspect="1"/>
          </p:cNvPicPr>
          <p:nvPr/>
        </p:nvPicPr>
        <p:blipFill>
          <a:blip r:embed="rId4"/>
          <a:stretch>
            <a:fillRect/>
          </a:stretch>
        </p:blipFill>
        <p:spPr>
          <a:xfrm>
            <a:off x="7437122" y="1110996"/>
            <a:ext cx="1917740" cy="4160520"/>
          </a:xfrm>
          <a:prstGeom prst="rect">
            <a:avLst/>
          </a:prstGeom>
        </p:spPr>
      </p:pic>
      <p:sp>
        <p:nvSpPr>
          <p:cNvPr id="10" name="Rectangle 9"/>
          <p:cNvSpPr/>
          <p:nvPr/>
        </p:nvSpPr>
        <p:spPr>
          <a:xfrm>
            <a:off x="2306151" y="1110996"/>
            <a:ext cx="3336504" cy="416052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7437122" y="1110996"/>
            <a:ext cx="1917739" cy="416052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688403" y="5420240"/>
            <a:ext cx="4572000" cy="274320"/>
          </a:xfrm>
          <a:prstGeom prst="rect">
            <a:avLst/>
          </a:prstGeom>
          <a:noFill/>
        </p:spPr>
        <p:txBody>
          <a:bodyPr wrap="square" lIns="0" tIns="0" rIns="0" bIns="0">
            <a:spAutoFit/>
          </a:bodyPr>
          <a:lstStyle/>
          <a:p>
            <a:pPr algn="ctr"/>
            <a:r>
              <a:rPr sz="1200" b="0" i="0" dirty="0">
                <a:solidFill>
                  <a:srgbClr val="5E6B85"/>
                </a:solidFill>
                <a:latin typeface="Cambria"/>
              </a:rPr>
              <a:t>RG STATION: RIM POINT ABOVE GARRISON RETREAT LODGE</a:t>
            </a:r>
          </a:p>
        </p:txBody>
      </p:sp>
      <p:sp>
        <p:nvSpPr>
          <p:cNvPr id="13" name="TextBox 12"/>
          <p:cNvSpPr txBox="1"/>
          <p:nvPr/>
        </p:nvSpPr>
        <p:spPr>
          <a:xfrm>
            <a:off x="5835671" y="5411096"/>
            <a:ext cx="5120640" cy="274320"/>
          </a:xfrm>
          <a:prstGeom prst="rect">
            <a:avLst/>
          </a:prstGeom>
          <a:noFill/>
        </p:spPr>
        <p:txBody>
          <a:bodyPr wrap="square" lIns="0" tIns="0" rIns="0" bIns="0">
            <a:spAutoFit/>
          </a:bodyPr>
          <a:lstStyle/>
          <a:p>
            <a:pPr algn="ctr"/>
            <a:r>
              <a:rPr sz="1200" b="0" i="0" dirty="0">
                <a:solidFill>
                  <a:srgbClr val="5E6B85"/>
                </a:solidFill>
                <a:latin typeface="Cambria"/>
              </a:rPr>
              <a:t>SF ROUTE: DOWN FM 1721, WEST ONTO THE CAPROCK PLAINS</a:t>
            </a:r>
          </a:p>
        </p:txBody>
      </p:sp>
      <p:sp>
        <p:nvSpPr>
          <p:cNvPr id="14" name="TextBox 13"/>
          <p:cNvSpPr txBox="1"/>
          <p:nvPr/>
        </p:nvSpPr>
        <p:spPr>
          <a:xfrm>
            <a:off x="502920" y="5897880"/>
            <a:ext cx="11155680" cy="365760"/>
          </a:xfrm>
          <a:prstGeom prst="rect">
            <a:avLst/>
          </a:prstGeom>
          <a:noFill/>
        </p:spPr>
        <p:txBody>
          <a:bodyPr wrap="square" lIns="0" tIns="0" rIns="0" bIns="0">
            <a:spAutoFit/>
          </a:bodyPr>
          <a:lstStyle/>
          <a:p>
            <a:pPr algn="ctr"/>
            <a:r>
              <a:rPr sz="1200" b="0" i="0" dirty="0">
                <a:solidFill>
                  <a:srgbClr val="5E6B85"/>
                </a:solidFill>
                <a:latin typeface="Cambria"/>
              </a:rPr>
              <a:t>Two opposite radio worlds in one route, chosen deliberately: shadowed folds close in, line-of-sight plains far out.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07/16  REV A  2026-10-19</a:t>
            </a:r>
          </a:p>
        </p:txBody>
      </p:sp>
      <p:sp>
        <p:nvSpPr>
          <p:cNvPr id="9" name="TextBox 8"/>
          <p:cNvSpPr txBox="1"/>
          <p:nvPr/>
        </p:nvSpPr>
        <p:spPr>
          <a:xfrm>
            <a:off x="1325880" y="645988"/>
            <a:ext cx="9052560" cy="353943"/>
          </a:xfrm>
          <a:prstGeom prst="rect">
            <a:avLst/>
          </a:prstGeom>
          <a:noFill/>
        </p:spPr>
        <p:txBody>
          <a:bodyPr wrap="square" lIns="0" tIns="0" rIns="0" bIns="0">
            <a:spAutoFit/>
          </a:bodyPr>
          <a:lstStyle/>
          <a:p>
            <a:pPr algn="ctr"/>
            <a:r>
              <a:rPr sz="2300" b="1" i="0" spc="200" dirty="0">
                <a:solidFill>
                  <a:srgbClr val="16213D"/>
                </a:solidFill>
                <a:latin typeface="Cambria"/>
              </a:rPr>
              <a:t>INSTRUMENTATION AND PROTOCOL</a:t>
            </a:r>
          </a:p>
        </p:txBody>
      </p:sp>
      <p:sp>
        <p:nvSpPr>
          <p:cNvPr id="10" name="Rectangle 9"/>
          <p:cNvSpPr/>
          <p:nvPr/>
        </p:nvSpPr>
        <p:spPr>
          <a:xfrm>
            <a:off x="502920" y="1325880"/>
            <a:ext cx="1115568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67512" y="1815084"/>
            <a:ext cx="10826496" cy="1179576"/>
          </a:xfrm>
          <a:prstGeom prst="rect">
            <a:avLst/>
          </a:prstGeom>
          <a:noFill/>
        </p:spPr>
        <p:txBody>
          <a:bodyPr wrap="square" lIns="0" tIns="0" rIns="0" bIns="0">
            <a:spAutoFit/>
          </a:bodyPr>
          <a:lstStyle/>
          <a:p>
            <a:r>
              <a:rPr sz="1450" b="1" spc="100" dirty="0">
                <a:solidFill>
                  <a:srgbClr val="16213D"/>
                </a:solidFill>
                <a:latin typeface="Cambria"/>
              </a:rPr>
              <a:t>TIMEBASE</a:t>
            </a:r>
          </a:p>
          <a:p>
            <a:r>
              <a:rPr sz="1150" dirty="0">
                <a:solidFill>
                  <a:srgbClr val="222A3F"/>
                </a:solidFill>
                <a:latin typeface="Cambria"/>
              </a:rPr>
              <a:t>Every data point is read from video of the live screens; the display's own clock and uptime counter stamp each frame. No logs to trust - the evidence is the glass itself.</a:t>
            </a:r>
          </a:p>
        </p:txBody>
      </p:sp>
      <p:sp>
        <p:nvSpPr>
          <p:cNvPr id="12" name="Rectangle 11"/>
          <p:cNvSpPr/>
          <p:nvPr/>
        </p:nvSpPr>
        <p:spPr>
          <a:xfrm>
            <a:off x="502920" y="2907791"/>
            <a:ext cx="1115568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7512" y="3300984"/>
            <a:ext cx="10826496" cy="1179576"/>
          </a:xfrm>
          <a:prstGeom prst="rect">
            <a:avLst/>
          </a:prstGeom>
          <a:noFill/>
        </p:spPr>
        <p:txBody>
          <a:bodyPr wrap="square" lIns="0" tIns="0" rIns="0" bIns="0">
            <a:spAutoFit/>
          </a:bodyPr>
          <a:lstStyle/>
          <a:p>
            <a:r>
              <a:rPr sz="1450" b="1" spc="100" dirty="0">
                <a:solidFill>
                  <a:srgbClr val="16213D"/>
                </a:solidFill>
                <a:latin typeface="Cambria"/>
              </a:rPr>
              <a:t>CONFIGURATION CONTROL</a:t>
            </a:r>
          </a:p>
          <a:p>
            <a:r>
              <a:rPr sz="1150" dirty="0">
                <a:solidFill>
                  <a:srgbClr val="222A3F"/>
                </a:solidFill>
                <a:latin typeface="Cambria"/>
              </a:rPr>
              <a:t>Full pre-flight before rollout (both OLEDs on 912.875), and a complete audit of every setting on both radios after the run - so results attribute to terrain, not configuration.</a:t>
            </a:r>
          </a:p>
        </p:txBody>
      </p:sp>
      <p:sp>
        <p:nvSpPr>
          <p:cNvPr id="14" name="Rectangle 13"/>
          <p:cNvSpPr/>
          <p:nvPr/>
        </p:nvSpPr>
        <p:spPr>
          <a:xfrm>
            <a:off x="502920" y="4489704"/>
            <a:ext cx="1115568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67512" y="4904680"/>
            <a:ext cx="10826496" cy="1179576"/>
          </a:xfrm>
          <a:prstGeom prst="rect">
            <a:avLst/>
          </a:prstGeom>
          <a:noFill/>
        </p:spPr>
        <p:txBody>
          <a:bodyPr wrap="square" lIns="0" tIns="0" rIns="0" bIns="0">
            <a:spAutoFit/>
          </a:bodyPr>
          <a:lstStyle/>
          <a:p>
            <a:r>
              <a:rPr sz="1450" b="1" spc="100" dirty="0">
                <a:solidFill>
                  <a:srgbClr val="16213D"/>
                </a:solidFill>
                <a:latin typeface="Cambria"/>
              </a:rPr>
              <a:t>SUCCESS CRITERION, DECLARED IN ADVANCE</a:t>
            </a:r>
          </a:p>
          <a:p>
            <a:r>
              <a:rPr sz="1150" dirty="0">
                <a:solidFill>
                  <a:srgbClr val="222A3F"/>
                </a:solidFill>
                <a:latin typeface="Cambria"/>
              </a:rPr>
              <a:t>Not unbroken contact - that is impossible behind rock. Success = every outage flagged honestly, recovery without operator action, and range numbers that fit the link-budget model.</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a:solidFill>
                  <a:srgbClr val="5E6B85"/>
                </a:solidFill>
                <a:latin typeface="Courier New"/>
              </a:rPr>
              <a:t>SHEET 08/16  REV A  2026-10-19</a:t>
            </a:r>
          </a:p>
        </p:txBody>
      </p:sp>
      <p:sp>
        <p:nvSpPr>
          <p:cNvPr id="7" name="TextBox 6"/>
          <p:cNvSpPr txBox="1"/>
          <p:nvPr/>
        </p:nvSpPr>
        <p:spPr>
          <a:xfrm>
            <a:off x="4744122" y="442139"/>
            <a:ext cx="9052560" cy="566928"/>
          </a:xfrm>
          <a:prstGeom prst="rect">
            <a:avLst/>
          </a:prstGeom>
          <a:noFill/>
        </p:spPr>
        <p:txBody>
          <a:bodyPr wrap="square" lIns="0" tIns="0" rIns="0" bIns="0">
            <a:spAutoFit/>
          </a:bodyPr>
          <a:lstStyle/>
          <a:p>
            <a:pPr algn="l"/>
            <a:r>
              <a:rPr sz="2300" b="1" spc="200" dirty="0">
                <a:solidFill>
                  <a:srgbClr val="16213D"/>
                </a:solidFill>
                <a:latin typeface="Cambria"/>
              </a:rPr>
              <a:t>THE TEST, ON FILM</a:t>
            </a:r>
          </a:p>
        </p:txBody>
      </p:sp>
      <p:pic>
        <p:nvPicPr>
          <p:cNvPr id="10" name="Picture 9" descr="WhatsApp Image 2026-10-18 at 8.00.56 AM.jpeg"/>
          <p:cNvPicPr>
            <a:picLocks noChangeAspect="1"/>
          </p:cNvPicPr>
          <p:nvPr/>
        </p:nvPicPr>
        <p:blipFill>
          <a:blip r:embed="rId3"/>
          <a:stretch>
            <a:fillRect/>
          </a:stretch>
        </p:blipFill>
        <p:spPr>
          <a:xfrm>
            <a:off x="2880360" y="1172583"/>
            <a:ext cx="3154680" cy="4206240"/>
          </a:xfrm>
          <a:prstGeom prst="rect">
            <a:avLst/>
          </a:prstGeom>
        </p:spPr>
      </p:pic>
      <p:pic>
        <p:nvPicPr>
          <p:cNvPr id="11" name="Picture 10" descr="WhatsApp Image 2026-10-18 at 8.00.56 AM (3).jpeg"/>
          <p:cNvPicPr>
            <a:picLocks noChangeAspect="1"/>
          </p:cNvPicPr>
          <p:nvPr/>
        </p:nvPicPr>
        <p:blipFill>
          <a:blip r:embed="rId4"/>
          <a:stretch>
            <a:fillRect/>
          </a:stretch>
        </p:blipFill>
        <p:spPr>
          <a:xfrm>
            <a:off x="6355080" y="1172583"/>
            <a:ext cx="3154680" cy="4206240"/>
          </a:xfrm>
          <a:prstGeom prst="rect">
            <a:avLst/>
          </a:prstGeom>
        </p:spPr>
      </p:pic>
      <p:sp>
        <p:nvSpPr>
          <p:cNvPr id="12" name="Rectangle 11"/>
          <p:cNvSpPr/>
          <p:nvPr/>
        </p:nvSpPr>
        <p:spPr>
          <a:xfrm>
            <a:off x="2880360" y="1172583"/>
            <a:ext cx="3154680" cy="420624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355080" y="1172583"/>
            <a:ext cx="3154680" cy="420624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880360" y="5515983"/>
            <a:ext cx="6629400" cy="274320"/>
          </a:xfrm>
          <a:prstGeom prst="rect">
            <a:avLst/>
          </a:prstGeom>
          <a:noFill/>
        </p:spPr>
        <p:txBody>
          <a:bodyPr wrap="square" lIns="0" tIns="0" rIns="0" bIns="0">
            <a:spAutoFit/>
          </a:bodyPr>
          <a:lstStyle/>
          <a:p>
            <a:pPr algn="ctr"/>
            <a:r>
              <a:rPr sz="1200" b="0">
                <a:solidFill>
                  <a:srgbClr val="5E6B85"/>
                </a:solidFill>
                <a:latin typeface="Cambria"/>
              </a:rPr>
              <a:t>FIRST LIGHT ON THE CAPROCK: THE TERRAIN THE LINK HAD TO CROSS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test_film.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4194585" y="51487"/>
            <a:ext cx="3802829" cy="6755025"/>
          </a:xfrm>
          <a:prstGeom prst="rect">
            <a:avLst/>
          </a:prstGeom>
        </p:spPr>
      </p:pic>
      <p:sp>
        <p:nvSpPr>
          <p:cNvPr id="3" name="Rectangle 2">
            <a:extLst>
              <a:ext uri="{FF2B5EF4-FFF2-40B4-BE49-F238E27FC236}">
                <a16:creationId xmlns:a16="http://schemas.microsoft.com/office/drawing/2014/main" id="{88DDD683-5B18-A7DD-A034-0AE20162600E}"/>
              </a:ext>
            </a:extLst>
          </p:cNvPr>
          <p:cNvSpPr/>
          <p:nvPr/>
        </p:nvSpPr>
        <p:spPr>
          <a:xfrm>
            <a:off x="4194585" y="51486"/>
            <a:ext cx="3802828" cy="6755025"/>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7FBAFDF4-5BD8-70E9-C8D5-487A14189525}"/>
              </a:ext>
            </a:extLst>
          </p:cNvPr>
          <p:cNvSpPr txBox="1"/>
          <p:nvPr/>
        </p:nvSpPr>
        <p:spPr>
          <a:xfrm>
            <a:off x="3920265" y="107964"/>
            <a:ext cx="4553386" cy="146194"/>
          </a:xfrm>
          <a:prstGeom prst="rect">
            <a:avLst/>
          </a:prstGeom>
          <a:noFill/>
        </p:spPr>
        <p:txBody>
          <a:bodyPr wrap="square" lIns="0" tIns="0" rIns="0" bIns="0">
            <a:spAutoFit/>
          </a:bodyPr>
          <a:lstStyle/>
          <a:p>
            <a:pPr algn="ctr"/>
            <a:r>
              <a:rPr sz="1200" b="0" dirty="0">
                <a:solidFill>
                  <a:schemeClr val="accent3">
                    <a:lumMod val="40000"/>
                    <a:lumOff val="60000"/>
                  </a:schemeClr>
                </a:solidFill>
                <a:latin typeface="Cambria"/>
              </a:rPr>
              <a:t>FIVE-MINUTE FIELD CUT (SILENT)</a:t>
            </a:r>
          </a:p>
        </p:txBody>
      </p:sp>
    </p:spTree>
    <p:extLst>
      <p:ext uri="{BB962C8B-B14F-4D97-AF65-F5344CB8AC3E}">
        <p14:creationId xmlns:p14="http://schemas.microsoft.com/office/powerpoint/2010/main" val="4061340867"/>
      </p:ext>
    </p:extLst>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09/16  REV A  2026-10-19</a:t>
            </a:r>
          </a:p>
        </p:txBody>
      </p:sp>
      <p:pic>
        <p:nvPicPr>
          <p:cNvPr id="8" name="anim_walkthrough.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777240" y="221610"/>
            <a:ext cx="10634472" cy="5968326"/>
          </a:xfrm>
          <a:prstGeom prst="rect">
            <a:avLst/>
          </a:prstGeom>
        </p:spPr>
      </p:pic>
      <p:sp>
        <p:nvSpPr>
          <p:cNvPr id="9" name="Rectangle 8"/>
          <p:cNvSpPr/>
          <p:nvPr/>
        </p:nvSpPr>
        <p:spPr>
          <a:xfrm>
            <a:off x="777240" y="228064"/>
            <a:ext cx="10634472" cy="5961871"/>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10/16  REV A  2026-10-19</a:t>
            </a:r>
          </a:p>
        </p:txBody>
      </p:sp>
      <p:pic>
        <p:nvPicPr>
          <p:cNvPr id="8" name="anim_sfview.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731520" y="222914"/>
            <a:ext cx="10725912" cy="6019644"/>
          </a:xfrm>
          <a:prstGeom prst="rect">
            <a:avLst/>
          </a:prstGeom>
        </p:spPr>
      </p:pic>
      <p:sp>
        <p:nvSpPr>
          <p:cNvPr id="9" name="Rectangle 8"/>
          <p:cNvSpPr/>
          <p:nvPr/>
        </p:nvSpPr>
        <p:spPr>
          <a:xfrm>
            <a:off x="731520" y="222914"/>
            <a:ext cx="10725912" cy="6019644"/>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11/16  REV A  2026-10-19</a:t>
            </a:r>
          </a:p>
        </p:txBody>
      </p:sp>
      <p:sp>
        <p:nvSpPr>
          <p:cNvPr id="7" name="TextBox 6"/>
          <p:cNvSpPr txBox="1"/>
          <p:nvPr/>
        </p:nvSpPr>
        <p:spPr>
          <a:xfrm>
            <a:off x="457200" y="329184"/>
            <a:ext cx="9052560" cy="566928"/>
          </a:xfrm>
          <a:prstGeom prst="rect">
            <a:avLst/>
          </a:prstGeom>
          <a:noFill/>
        </p:spPr>
        <p:txBody>
          <a:bodyPr wrap="square" lIns="0" tIns="0" rIns="0" bIns="0">
            <a:spAutoFit/>
          </a:bodyPr>
          <a:lstStyle/>
          <a:p>
            <a:pPr algn="l"/>
            <a:r>
              <a:rPr sz="2300" b="1" i="0" spc="200">
                <a:solidFill>
                  <a:srgbClr val="16213D"/>
                </a:solidFill>
                <a:latin typeface="Cambria"/>
              </a:rPr>
              <a:t>FOUR GEOMETRIES, ONE LESSON</a:t>
            </a:r>
          </a:p>
        </p:txBody>
      </p:sp>
      <p:pic>
        <p:nvPicPr>
          <p:cNvPr id="8" name="Picture 7" descr="g_onset4.png"/>
          <p:cNvPicPr>
            <a:picLocks noChangeAspect="1"/>
          </p:cNvPicPr>
          <p:nvPr/>
        </p:nvPicPr>
        <p:blipFill>
          <a:blip r:embed="rId3"/>
          <a:stretch>
            <a:fillRect/>
          </a:stretch>
        </p:blipFill>
        <p:spPr>
          <a:xfrm>
            <a:off x="1554480" y="1280160"/>
            <a:ext cx="9052560" cy="4054792"/>
          </a:xfrm>
          <a:prstGeom prst="rect">
            <a:avLst/>
          </a:prstGeom>
        </p:spPr>
      </p:pic>
      <p:sp>
        <p:nvSpPr>
          <p:cNvPr id="9" name="TextBox 8"/>
          <p:cNvSpPr txBox="1"/>
          <p:nvPr/>
        </p:nvSpPr>
        <p:spPr>
          <a:xfrm>
            <a:off x="502920" y="5852160"/>
            <a:ext cx="11155680" cy="365760"/>
          </a:xfrm>
          <a:prstGeom prst="rect">
            <a:avLst/>
          </a:prstGeom>
          <a:noFill/>
        </p:spPr>
        <p:txBody>
          <a:bodyPr wrap="square" lIns="0" tIns="0" rIns="0" bIns="0">
            <a:spAutoFit/>
          </a:bodyPr>
          <a:lstStyle/>
          <a:p>
            <a:pPr algn="ctr"/>
            <a:r>
              <a:rPr sz="1200" b="1" i="0">
                <a:solidFill>
                  <a:srgbClr val="5E6B85"/>
                </a:solidFill>
                <a:latin typeface="Cambria"/>
              </a:rPr>
              <a:t>LINE OF SIGHT SETS THE RANGE; ELEVATION EXTENDS IT. ONE PARKING SPOT BEAT THE FLAT-GROUND EDGE BY A MILE.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12/16  REV A  2026-10-19</a:t>
            </a:r>
          </a:p>
        </p:txBody>
      </p:sp>
      <p:sp>
        <p:nvSpPr>
          <p:cNvPr id="7" name="TextBox 6"/>
          <p:cNvSpPr txBox="1"/>
          <p:nvPr/>
        </p:nvSpPr>
        <p:spPr>
          <a:xfrm>
            <a:off x="457200" y="329184"/>
            <a:ext cx="9052560" cy="566928"/>
          </a:xfrm>
          <a:prstGeom prst="rect">
            <a:avLst/>
          </a:prstGeom>
          <a:noFill/>
        </p:spPr>
        <p:txBody>
          <a:bodyPr wrap="square" lIns="0" tIns="0" rIns="0" bIns="0">
            <a:spAutoFit/>
          </a:bodyPr>
          <a:lstStyle/>
          <a:p>
            <a:pPr algn="l"/>
            <a:r>
              <a:rPr sz="2300" b="1" i="0" spc="200">
                <a:solidFill>
                  <a:srgbClr val="16213D"/>
                </a:solidFill>
                <a:latin typeface="Cambria"/>
              </a:rPr>
              <a:t>TWO CAMPAIGNS, SIDE BY SIDE</a:t>
            </a:r>
          </a:p>
        </p:txBody>
      </p:sp>
      <p:pic>
        <p:nvPicPr>
          <p:cNvPr id="8" name="Picture 7" descr="g_compare.png"/>
          <p:cNvPicPr>
            <a:picLocks noChangeAspect="1"/>
          </p:cNvPicPr>
          <p:nvPr/>
        </p:nvPicPr>
        <p:blipFill>
          <a:blip r:embed="rId3"/>
          <a:stretch>
            <a:fillRect/>
          </a:stretch>
        </p:blipFill>
        <p:spPr>
          <a:xfrm>
            <a:off x="1280160" y="1280160"/>
            <a:ext cx="9601200" cy="3985404"/>
          </a:xfrm>
          <a:prstGeom prst="rect">
            <a:avLst/>
          </a:prstGeom>
        </p:spPr>
      </p:pic>
      <p:sp>
        <p:nvSpPr>
          <p:cNvPr id="9" name="TextBox 8"/>
          <p:cNvSpPr txBox="1"/>
          <p:nvPr/>
        </p:nvSpPr>
        <p:spPr>
          <a:xfrm>
            <a:off x="502920" y="5852160"/>
            <a:ext cx="11155680" cy="365760"/>
          </a:xfrm>
          <a:prstGeom prst="rect">
            <a:avLst/>
          </a:prstGeom>
          <a:noFill/>
        </p:spPr>
        <p:txBody>
          <a:bodyPr wrap="square" lIns="0" tIns="0" rIns="0" bIns="0">
            <a:spAutoFit/>
          </a:bodyPr>
          <a:lstStyle/>
          <a:p>
            <a:pPr algn="ctr"/>
            <a:r>
              <a:rPr sz="1200" b="1" i="0">
                <a:solidFill>
                  <a:srgbClr val="5E6B85"/>
                </a:solidFill>
                <a:latin typeface="Cambria"/>
              </a:rPr>
              <a:t>THE CANYON TRADES EARLY STALENESS AND LONGER SILENCES FOR A HIGHER LINE-OF-SIGHT CEILING.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13/16  REV A  2026-10-19</a:t>
            </a:r>
          </a:p>
        </p:txBody>
      </p:sp>
      <p:sp>
        <p:nvSpPr>
          <p:cNvPr id="9" name="TextBox 8"/>
          <p:cNvSpPr txBox="1"/>
          <p:nvPr/>
        </p:nvSpPr>
        <p:spPr>
          <a:xfrm>
            <a:off x="1568196" y="740664"/>
            <a:ext cx="9052560" cy="566928"/>
          </a:xfrm>
          <a:prstGeom prst="rect">
            <a:avLst/>
          </a:prstGeom>
          <a:noFill/>
        </p:spPr>
        <p:txBody>
          <a:bodyPr wrap="square" lIns="0" tIns="0" rIns="0" bIns="0">
            <a:spAutoFit/>
          </a:bodyPr>
          <a:lstStyle/>
          <a:p>
            <a:pPr algn="l"/>
            <a:r>
              <a:rPr sz="2300" b="1" i="0" spc="200" dirty="0">
                <a:solidFill>
                  <a:srgbClr val="16213D"/>
                </a:solidFill>
                <a:latin typeface="Cambria"/>
              </a:rPr>
              <a:t>POST-TEST AUDIT: TERRAIN, NOT HARDWARE</a:t>
            </a:r>
          </a:p>
        </p:txBody>
      </p:sp>
      <p:pic>
        <p:nvPicPr>
          <p:cNvPr id="10" name="Picture 9" descr="g_radios.png"/>
          <p:cNvPicPr>
            <a:picLocks noChangeAspect="1"/>
          </p:cNvPicPr>
          <p:nvPr/>
        </p:nvPicPr>
        <p:blipFill>
          <a:blip r:embed="rId3"/>
          <a:stretch>
            <a:fillRect/>
          </a:stretch>
        </p:blipFill>
        <p:spPr>
          <a:xfrm>
            <a:off x="960120" y="1280160"/>
            <a:ext cx="10241280" cy="4234375"/>
          </a:xfrm>
          <a:prstGeom prst="rect">
            <a:avLst/>
          </a:prstGeom>
        </p:spPr>
      </p:pic>
      <p:sp>
        <p:nvSpPr>
          <p:cNvPr id="11" name="TextBox 10"/>
          <p:cNvSpPr txBox="1"/>
          <p:nvPr/>
        </p:nvSpPr>
        <p:spPr>
          <a:xfrm>
            <a:off x="502920" y="5852160"/>
            <a:ext cx="11155680" cy="365760"/>
          </a:xfrm>
          <a:prstGeom prst="rect">
            <a:avLst/>
          </a:prstGeom>
          <a:noFill/>
        </p:spPr>
        <p:txBody>
          <a:bodyPr wrap="square" lIns="0" tIns="0" rIns="0" bIns="0">
            <a:spAutoFit/>
          </a:bodyPr>
          <a:lstStyle/>
          <a:p>
            <a:pPr algn="ctr"/>
            <a:r>
              <a:rPr sz="1200" b="1" i="0">
                <a:solidFill>
                  <a:srgbClr val="5E6B85"/>
                </a:solidFill>
                <a:latin typeface="Cambria"/>
              </a:rPr>
              <a:t>EVERY SETTING VERIFIED ON BOTH RADIOS; 23.75 DB OF MARGIN IN HAND. LORA FAILS AS A CLIFF, NOT A FADE.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14/16  REV A  2026-10-19</a:t>
            </a:r>
          </a:p>
        </p:txBody>
      </p:sp>
      <p:sp>
        <p:nvSpPr>
          <p:cNvPr id="7" name="TextBox 6"/>
          <p:cNvSpPr txBox="1"/>
          <p:nvPr/>
        </p:nvSpPr>
        <p:spPr>
          <a:xfrm>
            <a:off x="2148840" y="474942"/>
            <a:ext cx="9052560" cy="353943"/>
          </a:xfrm>
          <a:prstGeom prst="rect">
            <a:avLst/>
          </a:prstGeom>
          <a:noFill/>
        </p:spPr>
        <p:txBody>
          <a:bodyPr wrap="square" lIns="0" tIns="0" rIns="0" bIns="0">
            <a:spAutoFit/>
          </a:bodyPr>
          <a:lstStyle/>
          <a:p>
            <a:pPr algn="ctr"/>
            <a:r>
              <a:rPr sz="2300" b="1" i="0" spc="200" dirty="0">
                <a:solidFill>
                  <a:srgbClr val="16213D"/>
                </a:solidFill>
                <a:latin typeface="Cambria"/>
              </a:rPr>
              <a:t>WHAT FIXES IT: CHANGE THE GEOMETRY</a:t>
            </a:r>
          </a:p>
        </p:txBody>
      </p:sp>
      <p:sp>
        <p:nvSpPr>
          <p:cNvPr id="8" name="Rectangle 7"/>
          <p:cNvSpPr/>
          <p:nvPr/>
        </p:nvSpPr>
        <p:spPr>
          <a:xfrm>
            <a:off x="365760" y="1234440"/>
            <a:ext cx="3703320" cy="2042668"/>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3796" y="1917021"/>
            <a:ext cx="3374136" cy="2002536"/>
          </a:xfrm>
          <a:prstGeom prst="rect">
            <a:avLst/>
          </a:prstGeom>
          <a:noFill/>
        </p:spPr>
        <p:txBody>
          <a:bodyPr wrap="square" lIns="0" tIns="0" rIns="0" bIns="0">
            <a:spAutoFit/>
          </a:bodyPr>
          <a:lstStyle/>
          <a:p>
            <a:r>
              <a:rPr sz="1350" b="1" spc="100" dirty="0">
                <a:solidFill>
                  <a:srgbClr val="E58E1A"/>
                </a:solidFill>
                <a:latin typeface="Cambria"/>
              </a:rPr>
              <a:t>REPEATER ON HIGH GROUND</a:t>
            </a:r>
          </a:p>
          <a:p>
            <a:r>
              <a:rPr sz="1100" dirty="0">
                <a:solidFill>
                  <a:srgbClr val="222A3F"/>
                </a:solidFill>
                <a:latin typeface="Cambria"/>
              </a:rPr>
              <a:t>One ROUTER node on the rim relays both canyon arms. Cars stay CLIENT_MUTE; recipe ready in docs/REPEATER_RECIPE.md.</a:t>
            </a:r>
          </a:p>
        </p:txBody>
      </p:sp>
      <p:sp>
        <p:nvSpPr>
          <p:cNvPr id="10" name="Rectangle 9"/>
          <p:cNvSpPr/>
          <p:nvPr/>
        </p:nvSpPr>
        <p:spPr>
          <a:xfrm>
            <a:off x="4242816" y="1244768"/>
            <a:ext cx="3703320" cy="204266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625342" y="1917021"/>
            <a:ext cx="3374136" cy="2002536"/>
          </a:xfrm>
          <a:prstGeom prst="rect">
            <a:avLst/>
          </a:prstGeom>
          <a:noFill/>
        </p:spPr>
        <p:txBody>
          <a:bodyPr wrap="square" lIns="0" tIns="0" rIns="0" bIns="0">
            <a:spAutoFit/>
          </a:bodyPr>
          <a:lstStyle/>
          <a:p>
            <a:r>
              <a:rPr sz="1350" b="1" spc="100" dirty="0">
                <a:solidFill>
                  <a:srgbClr val="16213D"/>
                </a:solidFill>
                <a:latin typeface="Cambria"/>
              </a:rPr>
              <a:t>ROOF-MOUNTED ANTENNAS</a:t>
            </a:r>
          </a:p>
          <a:p>
            <a:r>
              <a:rPr sz="1100" dirty="0">
                <a:solidFill>
                  <a:srgbClr val="222A3F"/>
                </a:solidFill>
                <a:latin typeface="Cambria"/>
              </a:rPr>
              <a:t>1 m to 3 m of height is worth ~19 dB - more than the whole TX power budget. A pure hardware swap.</a:t>
            </a:r>
          </a:p>
        </p:txBody>
      </p:sp>
      <p:sp>
        <p:nvSpPr>
          <p:cNvPr id="12" name="Rectangle 11"/>
          <p:cNvSpPr/>
          <p:nvPr/>
        </p:nvSpPr>
        <p:spPr>
          <a:xfrm>
            <a:off x="8133588" y="1244768"/>
            <a:ext cx="3703320" cy="204266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24851" y="1917021"/>
            <a:ext cx="3374136" cy="2002536"/>
          </a:xfrm>
          <a:prstGeom prst="rect">
            <a:avLst/>
          </a:prstGeom>
          <a:noFill/>
        </p:spPr>
        <p:txBody>
          <a:bodyPr wrap="square" lIns="0" tIns="0" rIns="0" bIns="0">
            <a:spAutoFit/>
          </a:bodyPr>
          <a:lstStyle/>
          <a:p>
            <a:r>
              <a:rPr sz="1350" b="1" spc="100" dirty="0">
                <a:solidFill>
                  <a:srgbClr val="16213D"/>
                </a:solidFill>
                <a:latin typeface="Cambria"/>
              </a:rPr>
              <a:t>THIRD VEHICLE AS RELAY</a:t>
            </a:r>
          </a:p>
          <a:p>
            <a:r>
              <a:rPr sz="1100" dirty="0">
                <a:solidFill>
                  <a:srgbClr val="222A3F"/>
                </a:solidFill>
                <a:latin typeface="Cambria"/>
              </a:rPr>
              <a:t>The repeater, opportunistic: the mesh relays through any node on the channel, zero configuration.</a:t>
            </a:r>
          </a:p>
        </p:txBody>
      </p:sp>
      <p:sp>
        <p:nvSpPr>
          <p:cNvPr id="14" name="Rectangle 13"/>
          <p:cNvSpPr/>
          <p:nvPr/>
        </p:nvSpPr>
        <p:spPr>
          <a:xfrm>
            <a:off x="2340864" y="3703320"/>
            <a:ext cx="3703320" cy="1951736"/>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5407" y="4380522"/>
            <a:ext cx="3374136" cy="2002536"/>
          </a:xfrm>
          <a:prstGeom prst="rect">
            <a:avLst/>
          </a:prstGeom>
          <a:noFill/>
        </p:spPr>
        <p:txBody>
          <a:bodyPr wrap="square" lIns="0" tIns="0" rIns="0" bIns="0">
            <a:spAutoFit/>
          </a:bodyPr>
          <a:lstStyle/>
          <a:p>
            <a:r>
              <a:rPr sz="1350" b="1" spc="100" dirty="0">
                <a:solidFill>
                  <a:srgbClr val="1F9D68"/>
                </a:solidFill>
                <a:latin typeface="Cambria"/>
              </a:rPr>
              <a:t>LINK LOST ALARM (SHIPPED)</a:t>
            </a:r>
          </a:p>
          <a:p>
            <a:r>
              <a:rPr sz="1100" dirty="0">
                <a:solidFill>
                  <a:srgbClr val="222A3F"/>
                </a:solidFill>
                <a:latin typeface="Cambria"/>
              </a:rPr>
              <a:t>At 3 minutes of silence the display flashes who, how long, and where last seen - the recovery action, on glass.</a:t>
            </a:r>
          </a:p>
        </p:txBody>
      </p:sp>
      <p:sp>
        <p:nvSpPr>
          <p:cNvPr id="16" name="Rectangle 15"/>
          <p:cNvSpPr/>
          <p:nvPr/>
        </p:nvSpPr>
        <p:spPr>
          <a:xfrm>
            <a:off x="6336792" y="3703320"/>
            <a:ext cx="3703320" cy="1951736"/>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52483" y="4313174"/>
            <a:ext cx="3374136" cy="2002536"/>
          </a:xfrm>
          <a:prstGeom prst="rect">
            <a:avLst/>
          </a:prstGeom>
          <a:noFill/>
        </p:spPr>
        <p:txBody>
          <a:bodyPr wrap="square" lIns="0" tIns="0" rIns="0" bIns="0">
            <a:spAutoFit/>
          </a:bodyPr>
          <a:lstStyle/>
          <a:p>
            <a:r>
              <a:rPr sz="1350" b="1" spc="100" dirty="0">
                <a:solidFill>
                  <a:srgbClr val="1F9D68"/>
                </a:solidFill>
                <a:latin typeface="Cambria"/>
              </a:rPr>
              <a:t>LAST-KNOWN GUIDANCE (PROVEN)</a:t>
            </a:r>
          </a:p>
          <a:p>
            <a:r>
              <a:rPr sz="1100" dirty="0">
                <a:solidFill>
                  <a:srgbClr val="222A3F"/>
                </a:solidFill>
                <a:latin typeface="Cambria"/>
              </a:rPr>
              <a:t>Every blackout becomes drive toward where they were. Healed every outage in both campaigns.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15/16  REV A  2026-10-19</a:t>
            </a:r>
          </a:p>
        </p:txBody>
      </p:sp>
      <p:pic>
        <p:nvPicPr>
          <p:cNvPr id="8" name="anim_solution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736365" y="192561"/>
            <a:ext cx="10763564" cy="6040776"/>
          </a:xfrm>
          <a:prstGeom prst="rect">
            <a:avLst/>
          </a:prstGeom>
        </p:spPr>
      </p:pic>
      <p:sp>
        <p:nvSpPr>
          <p:cNvPr id="9" name="Rectangle 8"/>
          <p:cNvSpPr/>
          <p:nvPr/>
        </p:nvSpPr>
        <p:spPr>
          <a:xfrm>
            <a:off x="736365" y="192561"/>
            <a:ext cx="10763564" cy="6028076"/>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16/16  REV A  2026-10-19</a:t>
            </a:r>
          </a:p>
        </p:txBody>
      </p:sp>
      <p:sp>
        <p:nvSpPr>
          <p:cNvPr id="7" name="TextBox 6"/>
          <p:cNvSpPr txBox="1"/>
          <p:nvPr/>
        </p:nvSpPr>
        <p:spPr>
          <a:xfrm>
            <a:off x="1554480" y="502920"/>
            <a:ext cx="9052560" cy="566928"/>
          </a:xfrm>
          <a:prstGeom prst="rect">
            <a:avLst/>
          </a:prstGeom>
          <a:noFill/>
        </p:spPr>
        <p:txBody>
          <a:bodyPr wrap="square" lIns="0" tIns="0" rIns="0" bIns="0">
            <a:spAutoFit/>
          </a:bodyPr>
          <a:lstStyle/>
          <a:p>
            <a:pPr algn="l"/>
            <a:r>
              <a:rPr sz="2300" b="1" i="0" spc="200" dirty="0">
                <a:solidFill>
                  <a:srgbClr val="16213D"/>
                </a:solidFill>
                <a:latin typeface="Cambria"/>
              </a:rPr>
              <a:t>THE PROPOSITION: COMPLETING THE TEST PROGRAM</a:t>
            </a:r>
          </a:p>
        </p:txBody>
      </p:sp>
      <p:sp>
        <p:nvSpPr>
          <p:cNvPr id="8" name="Rectangle 7"/>
          <p:cNvSpPr/>
          <p:nvPr/>
        </p:nvSpPr>
        <p:spPr>
          <a:xfrm>
            <a:off x="502920" y="1234440"/>
            <a:ext cx="11155680" cy="12801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1581912"/>
            <a:ext cx="4937760" cy="1097280"/>
          </a:xfrm>
          <a:prstGeom prst="rect">
            <a:avLst/>
          </a:prstGeom>
          <a:noFill/>
        </p:spPr>
        <p:txBody>
          <a:bodyPr wrap="square" lIns="0" tIns="0" rIns="0" bIns="0">
            <a:spAutoFit/>
          </a:bodyPr>
          <a:lstStyle/>
          <a:p>
            <a:r>
              <a:rPr sz="1350" b="1" spc="100" dirty="0">
                <a:solidFill>
                  <a:srgbClr val="16213D"/>
                </a:solidFill>
                <a:latin typeface="Cambria"/>
              </a:rPr>
              <a:t>EXPERIMENT A - NEW MEXICO MAXIMUM</a:t>
            </a:r>
          </a:p>
          <a:p>
            <a:r>
              <a:rPr sz="1100" dirty="0">
                <a:solidFill>
                  <a:srgbClr val="222A3F"/>
                </a:solidFill>
                <a:latin typeface="Cambria"/>
              </a:rPr>
              <a:t>Flat highway, clear Fresnel zone, drive until the catches stop.</a:t>
            </a:r>
          </a:p>
        </p:txBody>
      </p:sp>
      <p:sp>
        <p:nvSpPr>
          <p:cNvPr id="10" name="TextBox 9"/>
          <p:cNvSpPr txBox="1"/>
          <p:nvPr/>
        </p:nvSpPr>
        <p:spPr>
          <a:xfrm>
            <a:off x="5943600" y="1593745"/>
            <a:ext cx="5486400" cy="868680"/>
          </a:xfrm>
          <a:prstGeom prst="rect">
            <a:avLst/>
          </a:prstGeom>
          <a:noFill/>
        </p:spPr>
        <p:txBody>
          <a:bodyPr wrap="square" lIns="0" tIns="0" rIns="0" bIns="0">
            <a:spAutoFit/>
          </a:bodyPr>
          <a:lstStyle/>
          <a:p>
            <a:pPr algn="l"/>
            <a:r>
              <a:rPr sz="1050" b="0" i="0" dirty="0">
                <a:solidFill>
                  <a:srgbClr val="1F9D68"/>
                </a:solidFill>
                <a:latin typeface="Courier New"/>
              </a:rPr>
              <a:t>PREDICTION: beats 3.75 mi; with any elevation on one end, approaches the 4.7 mi rim figure or better.</a:t>
            </a:r>
          </a:p>
        </p:txBody>
      </p:sp>
      <p:sp>
        <p:nvSpPr>
          <p:cNvPr id="11" name="Rectangle 10"/>
          <p:cNvSpPr/>
          <p:nvPr/>
        </p:nvSpPr>
        <p:spPr>
          <a:xfrm>
            <a:off x="502920" y="2679192"/>
            <a:ext cx="11155680" cy="12801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20" y="3054095"/>
            <a:ext cx="4937760" cy="1097280"/>
          </a:xfrm>
          <a:prstGeom prst="rect">
            <a:avLst/>
          </a:prstGeom>
          <a:noFill/>
        </p:spPr>
        <p:txBody>
          <a:bodyPr wrap="square" lIns="0" tIns="0" rIns="0" bIns="0">
            <a:spAutoFit/>
          </a:bodyPr>
          <a:lstStyle/>
          <a:p>
            <a:r>
              <a:rPr sz="1350" b="1" spc="100" dirty="0">
                <a:solidFill>
                  <a:srgbClr val="16213D"/>
                </a:solidFill>
                <a:latin typeface="Cambria"/>
              </a:rPr>
              <a:t>EXPERIMENT B - RIM REPEATER TRIAL</a:t>
            </a:r>
          </a:p>
          <a:p>
            <a:r>
              <a:rPr sz="1100" dirty="0">
                <a:solidFill>
                  <a:srgbClr val="222A3F"/>
                </a:solidFill>
                <a:latin typeface="Cambria"/>
              </a:rPr>
              <a:t>Return to Ceta Canyon with a third node on the rim, per the ready recipe.</a:t>
            </a:r>
          </a:p>
        </p:txBody>
      </p:sp>
      <p:sp>
        <p:nvSpPr>
          <p:cNvPr id="13" name="TextBox 12"/>
          <p:cNvSpPr txBox="1"/>
          <p:nvPr/>
        </p:nvSpPr>
        <p:spPr>
          <a:xfrm>
            <a:off x="5943600" y="3037153"/>
            <a:ext cx="5486400" cy="868680"/>
          </a:xfrm>
          <a:prstGeom prst="rect">
            <a:avLst/>
          </a:prstGeom>
          <a:noFill/>
        </p:spPr>
        <p:txBody>
          <a:bodyPr wrap="square" lIns="0" tIns="0" rIns="0" bIns="0">
            <a:spAutoFit/>
          </a:bodyPr>
          <a:lstStyle/>
          <a:p>
            <a:pPr algn="l"/>
            <a:r>
              <a:rPr sz="1050" b="0" i="0" dirty="0">
                <a:solidFill>
                  <a:srgbClr val="1F9D68"/>
                </a:solidFill>
                <a:latin typeface="Courier New"/>
              </a:rPr>
              <a:t>PREDICTION: the 1.29 mi canyon stalls largely disappear; utilization stays under 15%.</a:t>
            </a:r>
          </a:p>
        </p:txBody>
      </p:sp>
      <p:sp>
        <p:nvSpPr>
          <p:cNvPr id="14" name="Rectangle 13"/>
          <p:cNvSpPr/>
          <p:nvPr/>
        </p:nvSpPr>
        <p:spPr>
          <a:xfrm>
            <a:off x="502920" y="4123944"/>
            <a:ext cx="11155680" cy="12801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4498848"/>
            <a:ext cx="4937760" cy="1097280"/>
          </a:xfrm>
          <a:prstGeom prst="rect">
            <a:avLst/>
          </a:prstGeom>
          <a:noFill/>
        </p:spPr>
        <p:txBody>
          <a:bodyPr wrap="square" lIns="0" tIns="0" rIns="0" bIns="0">
            <a:spAutoFit/>
          </a:bodyPr>
          <a:lstStyle/>
          <a:p>
            <a:r>
              <a:rPr sz="1350" b="1" spc="100" dirty="0">
                <a:solidFill>
                  <a:srgbClr val="16213D"/>
                </a:solidFill>
                <a:latin typeface="Cambria"/>
              </a:rPr>
              <a:t>EXPERIMENT C - ROOF ANTENNA A/B</a:t>
            </a:r>
          </a:p>
          <a:p>
            <a:r>
              <a:rPr sz="1100" dirty="0">
                <a:solidFill>
                  <a:srgbClr val="222A3F"/>
                </a:solidFill>
                <a:latin typeface="Cambria"/>
              </a:rPr>
              <a:t>Same route, in-cabin vs magnetic roof mount, alternating runs.</a:t>
            </a:r>
          </a:p>
        </p:txBody>
      </p:sp>
      <p:sp>
        <p:nvSpPr>
          <p:cNvPr id="16" name="TextBox 15"/>
          <p:cNvSpPr txBox="1"/>
          <p:nvPr/>
        </p:nvSpPr>
        <p:spPr>
          <a:xfrm>
            <a:off x="5930153" y="4498848"/>
            <a:ext cx="5486400" cy="868680"/>
          </a:xfrm>
          <a:prstGeom prst="rect">
            <a:avLst/>
          </a:prstGeom>
          <a:noFill/>
        </p:spPr>
        <p:txBody>
          <a:bodyPr wrap="square" lIns="0" tIns="0" rIns="0" bIns="0">
            <a:spAutoFit/>
          </a:bodyPr>
          <a:lstStyle/>
          <a:p>
            <a:pPr algn="l"/>
            <a:r>
              <a:rPr sz="1050" b="0" i="0" dirty="0">
                <a:solidFill>
                  <a:srgbClr val="1F9D68"/>
                </a:solidFill>
                <a:latin typeface="Courier New"/>
              </a:rPr>
              <a:t>PREDICTION: ~2x open-road range; prices the car-body penalty the model puts at 10-20 </a:t>
            </a:r>
            <a:r>
              <a:rPr sz="1050" b="0" i="0" dirty="0" err="1">
                <a:solidFill>
                  <a:srgbClr val="1F9D68"/>
                </a:solidFill>
                <a:latin typeface="Courier New"/>
              </a:rPr>
              <a:t>dB.</a:t>
            </a:r>
            <a:endParaRPr sz="1050" b="0" i="0" dirty="0">
              <a:solidFill>
                <a:srgbClr val="1F9D68"/>
              </a:solidFill>
              <a:latin typeface="Courier New"/>
            </a:endParaRPr>
          </a:p>
        </p:txBody>
      </p:sp>
      <p:sp>
        <p:nvSpPr>
          <p:cNvPr id="17" name="Rectangle 16"/>
          <p:cNvSpPr/>
          <p:nvPr/>
        </p:nvSpPr>
        <p:spPr>
          <a:xfrm>
            <a:off x="502920" y="5577840"/>
            <a:ext cx="11155680" cy="566928"/>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31520" y="5696712"/>
            <a:ext cx="10698480" cy="384048"/>
          </a:xfrm>
          <a:prstGeom prst="rect">
            <a:avLst/>
          </a:prstGeom>
          <a:noFill/>
        </p:spPr>
        <p:txBody>
          <a:bodyPr wrap="square" lIns="0" tIns="0" rIns="0" bIns="0">
            <a:spAutoFit/>
          </a:bodyPr>
          <a:lstStyle/>
          <a:p>
            <a:pPr algn="ctr"/>
            <a:r>
              <a:rPr sz="1300" b="1" i="0">
                <a:solidFill>
                  <a:srgbClr val="FFFFFF"/>
                </a:solidFill>
                <a:latin typeface="Cambria"/>
              </a:rPr>
              <a:t>THE SYSTEM NEVER PROMISED UNBREAKABLE RADIO. IT PROMISED TO NEVER LIE ABOUT IT - AND THE CANYON COULD NOT MAKE IT LIE.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73</TotalTime>
  <Words>1969</Words>
  <Application>Microsoft Office PowerPoint</Application>
  <PresentationFormat>Widescreen</PresentationFormat>
  <Paragraphs>154</Paragraphs>
  <Slides>17</Slides>
  <Notes>16</Notes>
  <HiddenSlides>0</HiddenSlides>
  <MMClips>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Deo Mwala</dc:creator>
  <cp:keywords/>
  <dc:description>generated using python-pptx</dc:description>
  <cp:lastModifiedBy>Mwala, Deo</cp:lastModifiedBy>
  <cp:revision>3</cp:revision>
  <dcterms:created xsi:type="dcterms:W3CDTF">2013-01-27T09:14:16Z</dcterms:created>
  <dcterms:modified xsi:type="dcterms:W3CDTF">2026-10-19T23:18:58Z</dcterms:modified>
  <cp:category/>
</cp:coreProperties>
</file>