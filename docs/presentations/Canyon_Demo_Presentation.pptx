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kits are powered at the podium as you begin (demo beat 1). One sentence to open: every test before this one was friendly terrain - today is about the morning we took the tracker somewhere radio is supposed to fail.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 the stakes: this is the validation test for the whole semester. If the canyon result is good, the range story is complete (town, open road, canyon). If honesty survives seven minutes of silence, the design thesis survives.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minute maximum. The right-hand card to emphasize is the third - honesty - because the canyon is about to attack exactly that.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Tell it as a story: the night before the biggest test, nothing turned on. Two 'dead' displays and a radio that had quietly rewritten its own configuration while sitting in a drawer. The punchline is the bottom card - the scar catalog paid for itself.</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engineering lesson: the failure signature was diagnosable from one serial line because the pairing design is explicit. And the recovery rule that now lives in the manual: never fix one setting - reverts come in batches, so re-run the entire provisioning block and verify on the radio's own screen.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actual maps. The route is the experiment: the folds attack line of sight at SHORT range, the plains restore it at LONG range. If range were about distance, the near stretch would be easy and the far stretch hard. Watch what actually happens.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what makes it an experiment rather than a drive: declared instrumentation, configuration control on both ends, and a success criterion written down before leaving. Note the third row - we did not promise the impossible, we promised honesty and recovery.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decision that shaped the whole dataset, made casually: RG parked at the rim because it was a good overlook. That accident gave one antenna elevation - and by the end of the morning it had measured the single most valuable number of the test. Let the clip pan the terrain.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Ignition-on is the product flow: both units powered together, the display catches the radio's boot window and the link just holds. No pairing ceremony in the dark - it had already found its radio before the headlights hit the canyon road.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the trouble: this is nominal operation. Distance climbing, age in seconds, CHANGE COURSE chevrons tracking the geometry, closing/apart speeds correct with both cars moving. Every feature from the earlier drive tests, working at speed.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 once through; it is captioned. Matches the maps from slide 6. Seven steps: live out, stale behind rock, seven minutes of silence at the far point, one packet through a gap, self-healing return, guided arrival.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transition itself, live: data aging past the two-minute threshold, banner up. The display cannot know WHY packets stopped - rock, range, or a dead partner - so it reports what is true in every case: how long the silence, and the last known position, hollow.</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run on one graph. The moment that matters: 7:30, nominally out of contact at 4.28 miles, and the age RESETS - a single ridge-top packet. The link in canyon country flickers with geometry; it is not a circle on a map. This finding reframes what 'range' even means.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I got back to it: drove toward where the display said RG last was. At 3.5 miles the land opened and the age collapsed from seven minutes to fifteen seconds in a single packet. The chevrons then steered the final mile to the rim. Recovery requires no buttons - that is the designed fallback, proven on camera. DEMO BEAT 3: unplug RG's radio quietly now.</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numbers carrying the whole engineering story: two of physics, one of airtime economics, one of deliberate under-use, and the two this test measured.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Identical radios, four geometries, a factor of nine between worst and best. The green bar is the one to dwell on: RG's accidental elevation out-ranged two car-height antennas on open road. That is the quantitative case for everything on slide 19.</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comparison that completes the range story. Canyon staleness starts three times closer and the silences run three times longer - but the rim's elevation pushed the reliable ceiling PAST the open-road figure. Same radios in both campaigns; only geometry changed. Reacquire-by is farther in the canyon because healing happens where geometry opens, not at a fixed radius.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the loop on slide 7's protocol: the audit. Every setting green on both radios, so the stalls attribute to terrain. Left panel: why no 'signal bar' can warn you - the link is flawless at 17.4 dB below the noise and absent at 17.6. That cliff is why the fixes on the next slide are all geometric.</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Green: already done. The alarm shipped this week - it is what the podium display is doing right now if you ran demo beat 3. Orange: the next deployment, justified by the green bar on slide 16. Nothing here is speculative; each item has a measured number behind it.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fix shown as a mechanism, in order of leverage. Chapter 1: the repeater's two green hops replacing the blocked direct path - note the cars never change configuration. Chapter 2: the side view of why height wins - watch the ray clear the terrain as the antenna rises 1 m to 3 m. Chapter 3: a third vehicle relaying opportunistically while moving. Chapter 4: the already-shipped fallback - the flashing LINK LOST alarm steering the driver to last-known until one packet heals everything.</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on predictions, because predictions are what make it engineering: each proposed experiment has a number it must beat, derived from this test. Then the closing line - and if demo beat 3 is running, hold up the flashing display as you say it. The alarm fired exactly as designed.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6.jp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7.jpg"/><Relationship Id="rId5" Type="http://schemas.openxmlformats.org/officeDocument/2006/relationships/image" Target="../media/image8.jpg"/><Relationship Id="rId6" Type="http://schemas.openxmlformats.org/officeDocument/2006/relationships/image" Target="../media/image9.jpg"/><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2.mp4"/><Relationship Id="rId3" Type="http://schemas.openxmlformats.org/officeDocument/2006/relationships/video" Target="../media/media2.mp4"/><Relationship Id="rId4" Type="http://schemas.openxmlformats.org/officeDocument/2006/relationships/image" Target="../media/image10.jpg"/><Relationship Id="rId5" Type="http://schemas.microsoft.com/office/2007/relationships/media" Target="../media/media3.mp4"/><Relationship Id="rId6" Type="http://schemas.openxmlformats.org/officeDocument/2006/relationships/video" Target="../media/media3.mp4"/><Relationship Id="rId7" Type="http://schemas.openxmlformats.org/officeDocument/2006/relationships/image" Target="../media/image11.jpg"/><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4.mp4"/><Relationship Id="rId3" Type="http://schemas.openxmlformats.org/officeDocument/2006/relationships/video" Target="../media/media4.mp4"/><Relationship Id="rId4" Type="http://schemas.openxmlformats.org/officeDocument/2006/relationships/image" Target="../media/image12.jpg"/><Relationship Id="rId5" Type="http://schemas.microsoft.com/office/2007/relationships/media" Target="../media/media5.mp4"/><Relationship Id="rId6" Type="http://schemas.openxmlformats.org/officeDocument/2006/relationships/video" Target="../media/media5.mp4"/><Relationship Id="rId7" Type="http://schemas.openxmlformats.org/officeDocument/2006/relationships/image" Target="../media/image13.jpg"/><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6.mp4"/><Relationship Id="rId3" Type="http://schemas.openxmlformats.org/officeDocument/2006/relationships/video" Target="../media/media6.mp4"/><Relationship Id="rId4" Type="http://schemas.openxmlformats.org/officeDocument/2006/relationships/image" Target="../media/image14.jpg"/><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7.mp4"/><Relationship Id="rId3" Type="http://schemas.openxmlformats.org/officeDocument/2006/relationships/video" Target="../media/media7.mp4"/><Relationship Id="rId4" Type="http://schemas.openxmlformats.org/officeDocument/2006/relationships/image" Target="../media/image15.jpg"/><Relationship Id="rId5" Type="http://schemas.microsoft.com/office/2007/relationships/media" Target="../media/media8.mp4"/><Relationship Id="rId6" Type="http://schemas.openxmlformats.org/officeDocument/2006/relationships/video" Target="../media/media8.mp4"/><Relationship Id="rId7" Type="http://schemas.openxmlformats.org/officeDocument/2006/relationships/image" Target="../media/image16.jpg"/><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microsoft.com/office/2007/relationships/media" Target="../media/media9.mp4"/><Relationship Id="rId4" Type="http://schemas.openxmlformats.org/officeDocument/2006/relationships/video" Target="../media/media9.mp4"/><Relationship Id="rId5" Type="http://schemas.openxmlformats.org/officeDocument/2006/relationships/image" Target="../media/image18.jpg"/><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0.mp4"/><Relationship Id="rId3" Type="http://schemas.openxmlformats.org/officeDocument/2006/relationships/video" Target="../media/media10.mp4"/><Relationship Id="rId4" Type="http://schemas.openxmlformats.org/officeDocument/2006/relationships/image" Target="../media/image19.jpg"/><Relationship Id="rId5" Type="http://schemas.microsoft.com/office/2007/relationships/media" Target="../media/media11.mp4"/><Relationship Id="rId6" Type="http://schemas.openxmlformats.org/officeDocument/2006/relationships/video" Target="../media/media11.mp4"/><Relationship Id="rId7" Type="http://schemas.openxmlformats.org/officeDocument/2006/relationships/image" Target="../media/image20.jpg"/><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2.mp4"/><Relationship Id="rId3" Type="http://schemas.openxmlformats.org/officeDocument/2006/relationships/video" Target="../media/media12.mp4"/><Relationship Id="rId4" Type="http://schemas.openxmlformats.org/officeDocument/2006/relationships/image" Target="../media/image24.jpg"/><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WhatsApp Image 2026-10-18 at 8.00.56 AM (2).jpeg"/>
          <p:cNvPicPr>
            <a:picLocks noChangeAspect="1"/>
          </p:cNvPicPr>
          <p:nvPr/>
        </p:nvPicPr>
        <p:blipFill>
          <a:blip r:embed="rId2"/>
          <a:stretch>
            <a:fillRect/>
          </a:stretch>
        </p:blipFill>
        <p:spPr>
          <a:xfrm>
            <a:off x="630936" y="0"/>
            <a:ext cx="5143500" cy="6858000"/>
          </a:xfrm>
          <a:prstGeom prst="rect">
            <a:avLst/>
          </a:prstGeom>
        </p:spPr>
      </p:pic>
      <p:pic>
        <p:nvPicPr>
          <p:cNvPr id="4" name="Picture 3" descr="WhatsApp Image 2026-10-18 at 8.00.55 AM.jpeg"/>
          <p:cNvPicPr>
            <a:picLocks noChangeAspect="1"/>
          </p:cNvPicPr>
          <p:nvPr/>
        </p:nvPicPr>
        <p:blipFill>
          <a:blip r:embed="rId3"/>
          <a:stretch>
            <a:fillRect/>
          </a:stretch>
        </p:blipFill>
        <p:spPr>
          <a:xfrm>
            <a:off x="6400800" y="0"/>
            <a:ext cx="5143500" cy="6858000"/>
          </a:xfrm>
          <a:prstGeom prst="rect">
            <a:avLst/>
          </a:prstGeom>
        </p:spPr>
      </p:pic>
      <p:sp>
        <p:nvSpPr>
          <p:cNvPr id="5" name="Rectangle 4"/>
          <p:cNvSpPr/>
          <p:nvPr/>
        </p:nvSpPr>
        <p:spPr>
          <a:xfrm>
            <a:off x="0" y="2194560"/>
            <a:ext cx="12191695" cy="2194560"/>
          </a:xfrm>
          <a:prstGeom prst="rect">
            <a:avLst/>
          </a:prstGeom>
          <a:solidFill>
            <a:srgbClr val="16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395728"/>
            <a:ext cx="11277295" cy="914400"/>
          </a:xfrm>
          <a:prstGeom prst="rect">
            <a:avLst/>
          </a:prstGeom>
          <a:noFill/>
        </p:spPr>
        <p:txBody>
          <a:bodyPr wrap="square">
            <a:spAutoFit/>
          </a:bodyPr>
          <a:lstStyle/>
          <a:p>
            <a:pPr algn="ctr"/>
            <a:r>
              <a:rPr sz="4500" b="1">
                <a:solidFill>
                  <a:srgbClr val="FFFFFF"/>
                </a:solidFill>
                <a:latin typeface="Cambria"/>
              </a:rPr>
              <a:t>The Ceta Canyon Test</a:t>
            </a:r>
          </a:p>
        </p:txBody>
      </p:sp>
      <p:sp>
        <p:nvSpPr>
          <p:cNvPr id="7" name="TextBox 6"/>
          <p:cNvSpPr txBox="1"/>
          <p:nvPr/>
        </p:nvSpPr>
        <p:spPr>
          <a:xfrm>
            <a:off x="457200" y="3291840"/>
            <a:ext cx="11277295" cy="548640"/>
          </a:xfrm>
          <a:prstGeom prst="rect">
            <a:avLst/>
          </a:prstGeom>
          <a:noFill/>
        </p:spPr>
        <p:txBody>
          <a:bodyPr wrap="square">
            <a:spAutoFit/>
          </a:bodyPr>
          <a:lstStyle/>
          <a:p>
            <a:pPr algn="ctr"/>
            <a:r>
              <a:rPr sz="1900" b="0">
                <a:solidFill>
                  <a:srgbClr val="C9D8F0"/>
                </a:solidFill>
                <a:latin typeface="Calibri"/>
              </a:rPr>
              <a:t>One morning, one canyon, and the hardest question we could ask our tracker</a:t>
            </a:r>
          </a:p>
        </p:txBody>
      </p:sp>
      <p:sp>
        <p:nvSpPr>
          <p:cNvPr id="8" name="TextBox 7"/>
          <p:cNvSpPr txBox="1"/>
          <p:nvPr/>
        </p:nvSpPr>
        <p:spPr>
          <a:xfrm>
            <a:off x="457200" y="3840480"/>
            <a:ext cx="11277295" cy="457200"/>
          </a:xfrm>
          <a:prstGeom prst="rect">
            <a:avLst/>
          </a:prstGeom>
          <a:noFill/>
        </p:spPr>
        <p:txBody>
          <a:bodyPr wrap="square">
            <a:spAutoFit/>
          </a:bodyPr>
          <a:lstStyle/>
          <a:p>
            <a:pPr algn="ctr"/>
            <a:r>
              <a:rPr sz="1400" b="0">
                <a:solidFill>
                  <a:srgbClr val="C9D8F0"/>
                </a:solidFill>
                <a:latin typeface="Calibri"/>
              </a:rPr>
              <a:t>Palo Duro escarpment, Texas  ·  October 18, 2026  ·  Group 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5486400" cy="365760"/>
          </a:xfrm>
          <a:prstGeom prst="rect">
            <a:avLst/>
          </a:prstGeom>
          <a:noFill/>
        </p:spPr>
        <p:txBody>
          <a:bodyPr wrap="square">
            <a:spAutoFit/>
          </a:bodyPr>
          <a:lstStyle/>
          <a:p>
            <a:pPr algn="l"/>
            <a:r>
              <a:rPr sz="1250" b="1">
                <a:solidFill>
                  <a:srgbClr val="E58E1A"/>
                </a:solidFill>
                <a:latin typeface="Calibri"/>
              </a:rPr>
              <a:t>PART I  ·  BEFORE THE TEST</a:t>
            </a:r>
          </a:p>
        </p:txBody>
      </p:sp>
      <p:sp>
        <p:nvSpPr>
          <p:cNvPr id="3" name="TextBox 2"/>
          <p:cNvSpPr txBox="1"/>
          <p:nvPr/>
        </p:nvSpPr>
        <p:spPr>
          <a:xfrm>
            <a:off x="502920" y="457200"/>
            <a:ext cx="11185855" cy="777240"/>
          </a:xfrm>
          <a:prstGeom prst="rect">
            <a:avLst/>
          </a:prstGeom>
          <a:noFill/>
        </p:spPr>
        <p:txBody>
          <a:bodyPr wrap="square">
            <a:spAutoFit/>
          </a:bodyPr>
          <a:lstStyle/>
          <a:p>
            <a:pPr algn="l"/>
            <a:r>
              <a:rPr sz="3100" b="1">
                <a:solidFill>
                  <a:srgbClr val="16213D"/>
                </a:solidFill>
                <a:latin typeface="Cambria"/>
              </a:rPr>
              <a:t>Why This Test Mattered More Than Any Other</a:t>
            </a:r>
          </a:p>
        </p:txBody>
      </p:sp>
      <p:sp>
        <p:nvSpPr>
          <p:cNvPr id="4" name="Rounded Rectangle 3"/>
          <p:cNvSpPr/>
          <p:nvPr/>
        </p:nvSpPr>
        <p:spPr>
          <a:xfrm>
            <a:off x="502920" y="1417320"/>
            <a:ext cx="6492240" cy="1481328"/>
          </a:xfrm>
          <a:prstGeom prst="roundRect">
            <a:avLst/>
          </a:prstGeom>
          <a:solidFill>
            <a:srgbClr val="F4F6FA"/>
          </a:solidFill>
          <a:ln w="19050">
            <a:solidFill>
              <a:srgbClr val="162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67512" y="1536192"/>
            <a:ext cx="6163055" cy="1243584"/>
          </a:xfrm>
          <a:prstGeom prst="rect">
            <a:avLst/>
          </a:prstGeom>
          <a:noFill/>
        </p:spPr>
        <p:txBody>
          <a:bodyPr wrap="square">
            <a:spAutoFit/>
          </a:bodyPr>
          <a:lstStyle/>
          <a:p>
            <a:r>
              <a:rPr sz="1650" b="1">
                <a:solidFill>
                  <a:srgbClr val="16213D"/>
                </a:solidFill>
                <a:latin typeface="Cambria"/>
              </a:rPr>
              <a:t>The mission is the hard case</a:t>
            </a:r>
          </a:p>
          <a:p>
            <a:r>
              <a:rPr sz="1300">
                <a:solidFill>
                  <a:srgbClr val="2B313D"/>
                </a:solidFill>
                <a:latin typeface="Calibri"/>
              </a:rPr>
              <a:t>This system exists for places with no infrastructure - mountain valleys, desert trails, canyon country. A tracker that only works where radio is easy is a toy.</a:t>
            </a:r>
          </a:p>
        </p:txBody>
      </p:sp>
      <p:sp>
        <p:nvSpPr>
          <p:cNvPr id="6" name="Rounded Rectangle 5"/>
          <p:cNvSpPr/>
          <p:nvPr/>
        </p:nvSpPr>
        <p:spPr>
          <a:xfrm>
            <a:off x="502920" y="3081528"/>
            <a:ext cx="6492240" cy="1481328"/>
          </a:xfrm>
          <a:prstGeom prst="roundRect">
            <a:avLst/>
          </a:prstGeom>
          <a:solidFill>
            <a:srgbClr val="F4F6FA"/>
          </a:solidFill>
          <a:ln w="19050">
            <a:solidFill>
              <a:srgbClr val="162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 y="3200400"/>
            <a:ext cx="6163055" cy="1243584"/>
          </a:xfrm>
          <a:prstGeom prst="rect">
            <a:avLst/>
          </a:prstGeom>
          <a:noFill/>
        </p:spPr>
        <p:txBody>
          <a:bodyPr wrap="square">
            <a:spAutoFit/>
          </a:bodyPr>
          <a:lstStyle/>
          <a:p>
            <a:r>
              <a:rPr sz="1650" b="1">
                <a:solidFill>
                  <a:srgbClr val="16213D"/>
                </a:solidFill>
                <a:latin typeface="Cambria"/>
              </a:rPr>
              <a:t>Every prior result was friendly</a:t>
            </a:r>
          </a:p>
          <a:p>
            <a:r>
              <a:rPr sz="1300">
                <a:solidFill>
                  <a:srgbClr val="2B313D"/>
                </a:solidFill>
                <a:latin typeface="Calibri"/>
              </a:rPr>
              <a:t>Bench, town, and one flat road. Our range claims and our honesty design had never met terrain that fights back.</a:t>
            </a:r>
          </a:p>
        </p:txBody>
      </p:sp>
      <p:sp>
        <p:nvSpPr>
          <p:cNvPr id="8" name="Rounded Rectangle 7"/>
          <p:cNvSpPr/>
          <p:nvPr/>
        </p:nvSpPr>
        <p:spPr>
          <a:xfrm>
            <a:off x="502920" y="4745736"/>
            <a:ext cx="6492240" cy="1481328"/>
          </a:xfrm>
          <a:prstGeom prst="roundRect">
            <a:avLst/>
          </a:prstGeom>
          <a:solidFill>
            <a:srgbClr val="F4F6FA"/>
          </a:solidFill>
          <a:ln w="19050">
            <a:solidFill>
              <a:srgbClr val="162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4864608"/>
            <a:ext cx="6163055" cy="1243584"/>
          </a:xfrm>
          <a:prstGeom prst="rect">
            <a:avLst/>
          </a:prstGeom>
          <a:noFill/>
        </p:spPr>
        <p:txBody>
          <a:bodyPr wrap="square">
            <a:spAutoFit/>
          </a:bodyPr>
          <a:lstStyle/>
          <a:p>
            <a:r>
              <a:rPr sz="1650" b="1">
                <a:solidFill>
                  <a:srgbClr val="16213D"/>
                </a:solidFill>
                <a:latin typeface="Cambria"/>
              </a:rPr>
              <a:t>Two claims on trial at once</a:t>
            </a:r>
          </a:p>
          <a:p>
            <a:r>
              <a:rPr sz="1300">
                <a:solidFill>
                  <a:srgbClr val="2B313D"/>
                </a:solidFill>
                <a:latin typeface="Calibri"/>
              </a:rPr>
              <a:t>The physics claim: the link budget's 20 dB terrain reserve. The design claim: when the link breaks, the display never lies about it.</a:t>
            </a:r>
          </a:p>
        </p:txBody>
      </p:sp>
      <p:pic>
        <p:nvPicPr>
          <p:cNvPr id="10" name="Picture 9" descr="WhatsApp Image 2026-10-18 at 8.00.56 AM (4).jpeg"/>
          <p:cNvPicPr>
            <a:picLocks noChangeAspect="1"/>
          </p:cNvPicPr>
          <p:nvPr/>
        </p:nvPicPr>
        <p:blipFill>
          <a:blip r:embed="rId2"/>
          <a:stretch>
            <a:fillRect/>
          </a:stretch>
        </p:blipFill>
        <p:spPr>
          <a:xfrm>
            <a:off x="7406640" y="1417320"/>
            <a:ext cx="3703320" cy="493776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5486400" cy="365760"/>
          </a:xfrm>
          <a:prstGeom prst="rect">
            <a:avLst/>
          </a:prstGeom>
          <a:noFill/>
        </p:spPr>
        <p:txBody>
          <a:bodyPr wrap="square">
            <a:spAutoFit/>
          </a:bodyPr>
          <a:lstStyle/>
          <a:p>
            <a:pPr algn="l"/>
            <a:r>
              <a:rPr sz="1250" b="1">
                <a:solidFill>
                  <a:srgbClr val="E58E1A"/>
                </a:solidFill>
                <a:latin typeface="Calibri"/>
              </a:rPr>
              <a:t>PART I  ·  BEFORE THE TEST</a:t>
            </a:r>
          </a:p>
        </p:txBody>
      </p:sp>
      <p:sp>
        <p:nvSpPr>
          <p:cNvPr id="3" name="TextBox 2"/>
          <p:cNvSpPr txBox="1"/>
          <p:nvPr/>
        </p:nvSpPr>
        <p:spPr>
          <a:xfrm>
            <a:off x="502920" y="457200"/>
            <a:ext cx="11185855" cy="777240"/>
          </a:xfrm>
          <a:prstGeom prst="rect">
            <a:avLst/>
          </a:prstGeom>
          <a:noFill/>
        </p:spPr>
        <p:txBody>
          <a:bodyPr wrap="square">
            <a:spAutoFit/>
          </a:bodyPr>
          <a:lstStyle/>
          <a:p>
            <a:pPr algn="l"/>
            <a:r>
              <a:rPr sz="3100" b="1">
                <a:solidFill>
                  <a:srgbClr val="16213D"/>
                </a:solidFill>
                <a:latin typeface="Cambria"/>
              </a:rPr>
              <a:t>The System Under Test, in Sixty Seconds</a:t>
            </a:r>
          </a:p>
        </p:txBody>
      </p:sp>
      <p:pic>
        <p:nvPicPr>
          <p:cNvPr id="4" name="Picture 3" descr="system-diagram.png"/>
          <p:cNvPicPr>
            <a:picLocks noChangeAspect="1"/>
          </p:cNvPicPr>
          <p:nvPr/>
        </p:nvPicPr>
        <p:blipFill>
          <a:blip r:embed="rId2"/>
          <a:stretch>
            <a:fillRect/>
          </a:stretch>
        </p:blipFill>
        <p:spPr>
          <a:xfrm>
            <a:off x="548640" y="1371600"/>
            <a:ext cx="6858000" cy="6889777"/>
          </a:xfrm>
          <a:prstGeom prst="rect">
            <a:avLst/>
          </a:prstGeom>
        </p:spPr>
      </p:pic>
      <p:sp>
        <p:nvSpPr>
          <p:cNvPr id="5" name="Rounded Rectangle 4"/>
          <p:cNvSpPr/>
          <p:nvPr/>
        </p:nvSpPr>
        <p:spPr>
          <a:xfrm>
            <a:off x="7772400" y="1463040"/>
            <a:ext cx="3977639" cy="1444752"/>
          </a:xfrm>
          <a:prstGeom prst="roundRect">
            <a:avLst/>
          </a:prstGeom>
          <a:solidFill>
            <a:srgbClr val="F4F6FA"/>
          </a:solidFill>
          <a:ln w="19050">
            <a:solidFill>
              <a:srgbClr val="162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36992" y="1581912"/>
            <a:ext cx="3648456" cy="1207008"/>
          </a:xfrm>
          <a:prstGeom prst="rect">
            <a:avLst/>
          </a:prstGeom>
          <a:noFill/>
        </p:spPr>
        <p:txBody>
          <a:bodyPr wrap="square">
            <a:spAutoFit/>
          </a:bodyPr>
          <a:lstStyle/>
          <a:p>
            <a:r>
              <a:rPr sz="1500" b="1">
                <a:solidFill>
                  <a:srgbClr val="16213D"/>
                </a:solidFill>
                <a:latin typeface="Cambria"/>
              </a:rPr>
              <a:t>No phone. No tower. No internet.</a:t>
            </a:r>
          </a:p>
          <a:p>
            <a:r>
              <a:rPr sz="1250">
                <a:solidFill>
                  <a:srgbClr val="2B313D"/>
                </a:solidFill>
                <a:latin typeface="Calibri"/>
              </a:rPr>
              <a:t>Two vehicles exchange GPS over a private 915 MHz LoRa channel, AES-256 encrypted.</a:t>
            </a:r>
          </a:p>
        </p:txBody>
      </p:sp>
      <p:sp>
        <p:nvSpPr>
          <p:cNvPr id="7" name="Rounded Rectangle 6"/>
          <p:cNvSpPr/>
          <p:nvPr/>
        </p:nvSpPr>
        <p:spPr>
          <a:xfrm>
            <a:off x="7772400" y="3090672"/>
            <a:ext cx="3977639" cy="1444752"/>
          </a:xfrm>
          <a:prstGeom prst="roundRect">
            <a:avLst/>
          </a:prstGeom>
          <a:solidFill>
            <a:srgbClr val="F4F6FA"/>
          </a:solidFill>
          <a:ln w="19050">
            <a:solidFill>
              <a:srgbClr val="162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36992" y="3209544"/>
            <a:ext cx="3648456" cy="1207008"/>
          </a:xfrm>
          <a:prstGeom prst="rect">
            <a:avLst/>
          </a:prstGeom>
          <a:noFill/>
        </p:spPr>
        <p:txBody>
          <a:bodyPr wrap="square">
            <a:spAutoFit/>
          </a:bodyPr>
          <a:lstStyle/>
          <a:p>
            <a:r>
              <a:rPr sz="1500" b="1">
                <a:solidFill>
                  <a:srgbClr val="16213D"/>
                </a:solidFill>
                <a:latin typeface="Cambria"/>
              </a:rPr>
              <a:t>Stock radios, custom glass.</a:t>
            </a:r>
          </a:p>
          <a:p>
            <a:r>
              <a:rPr sz="1250">
                <a:solidFill>
                  <a:srgbClr val="2B313D"/>
                </a:solidFill>
                <a:latin typeface="Calibri"/>
              </a:rPr>
              <a:t>Meshtastic radios untouched; our firmware drives a sunlight-readable display over BLE.</a:t>
            </a:r>
          </a:p>
        </p:txBody>
      </p:sp>
      <p:sp>
        <p:nvSpPr>
          <p:cNvPr id="9" name="Rounded Rectangle 8"/>
          <p:cNvSpPr/>
          <p:nvPr/>
        </p:nvSpPr>
        <p:spPr>
          <a:xfrm>
            <a:off x="7772400" y="4718304"/>
            <a:ext cx="3977639" cy="1444752"/>
          </a:xfrm>
          <a:prstGeom prst="roundRect">
            <a:avLst/>
          </a:prstGeom>
          <a:solidFill>
            <a:srgbClr val="F4F6FA"/>
          </a:solidFill>
          <a:ln w="19050">
            <a:solidFill>
              <a:srgbClr val="162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36992" y="4837176"/>
            <a:ext cx="3648456" cy="1207008"/>
          </a:xfrm>
          <a:prstGeom prst="rect">
            <a:avLst/>
          </a:prstGeom>
          <a:noFill/>
        </p:spPr>
        <p:txBody>
          <a:bodyPr wrap="square">
            <a:spAutoFit/>
          </a:bodyPr>
          <a:lstStyle/>
          <a:p>
            <a:r>
              <a:rPr sz="1500" b="1">
                <a:solidFill>
                  <a:srgbClr val="16213D"/>
                </a:solidFill>
                <a:latin typeface="Cambria"/>
              </a:rPr>
              <a:t>Honesty as a feature.</a:t>
            </a:r>
          </a:p>
          <a:p>
            <a:r>
              <a:rPr sz="1250">
                <a:solidFill>
                  <a:srgbClr val="2B313D"/>
                </a:solidFill>
                <a:latin typeface="Calibri"/>
              </a:rPr>
              <a:t>Every number on screen carries its age. Estimates are drawn hollow. The display never pretends.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5486400" cy="365760"/>
          </a:xfrm>
          <a:prstGeom prst="rect">
            <a:avLst/>
          </a:prstGeom>
          <a:noFill/>
        </p:spPr>
        <p:txBody>
          <a:bodyPr wrap="square">
            <a:spAutoFit/>
          </a:bodyPr>
          <a:lstStyle/>
          <a:p>
            <a:pPr algn="l"/>
            <a:r>
              <a:rPr sz="1250" b="1">
                <a:solidFill>
                  <a:srgbClr val="E58E1A"/>
                </a:solidFill>
                <a:latin typeface="Calibri"/>
              </a:rPr>
              <a:t>PART I  ·  BEFORE THE TEST</a:t>
            </a:r>
          </a:p>
        </p:txBody>
      </p:sp>
      <p:sp>
        <p:nvSpPr>
          <p:cNvPr id="3" name="TextBox 2"/>
          <p:cNvSpPr txBox="1"/>
          <p:nvPr/>
        </p:nvSpPr>
        <p:spPr>
          <a:xfrm>
            <a:off x="502920" y="457200"/>
            <a:ext cx="11185855" cy="777240"/>
          </a:xfrm>
          <a:prstGeom prst="rect">
            <a:avLst/>
          </a:prstGeom>
          <a:noFill/>
        </p:spPr>
        <p:txBody>
          <a:bodyPr wrap="square">
            <a:spAutoFit/>
          </a:bodyPr>
          <a:lstStyle/>
          <a:p>
            <a:pPr algn="l"/>
            <a:r>
              <a:rPr sz="3100" b="1">
                <a:solidFill>
                  <a:srgbClr val="16213D"/>
                </a:solidFill>
                <a:latin typeface="Cambria"/>
              </a:rPr>
              <a:t>T-Minus Twelve Hours: Everything Was Broken</a:t>
            </a:r>
          </a:p>
        </p:txBody>
      </p:sp>
      <p:sp>
        <p:nvSpPr>
          <p:cNvPr id="4" name="TextBox 3"/>
          <p:cNvSpPr txBox="1"/>
          <p:nvPr/>
        </p:nvSpPr>
        <p:spPr>
          <a:xfrm>
            <a:off x="502920" y="1280160"/>
            <a:ext cx="11155680" cy="548640"/>
          </a:xfrm>
          <a:prstGeom prst="rect">
            <a:avLst/>
          </a:prstGeom>
          <a:noFill/>
        </p:spPr>
        <p:txBody>
          <a:bodyPr wrap="square">
            <a:spAutoFit/>
          </a:bodyPr>
          <a:lstStyle/>
          <a:p>
            <a:pPr algn="l"/>
            <a:r>
              <a:rPr sz="1450" b="0">
                <a:solidFill>
                  <a:srgbClr val="5E6B85"/>
                </a:solidFill>
                <a:latin typeface="Calibri"/>
              </a:rPr>
              <a:t>Real field tests begin before the field. The evening before, the system would not come up at all - three independent faults, found in one sitting.</a:t>
            </a:r>
          </a:p>
        </p:txBody>
      </p:sp>
      <p:sp>
        <p:nvSpPr>
          <p:cNvPr id="5" name="Rounded Rectangle 4"/>
          <p:cNvSpPr/>
          <p:nvPr/>
        </p:nvSpPr>
        <p:spPr>
          <a:xfrm>
            <a:off x="502920" y="2057400"/>
            <a:ext cx="3657600" cy="2377440"/>
          </a:xfrm>
          <a:prstGeom prst="roundRect">
            <a:avLst/>
          </a:prstGeom>
          <a:solidFill>
            <a:srgbClr val="F4F6FA"/>
          </a:solidFill>
          <a:ln w="19050">
            <a:solidFill>
              <a:srgbClr val="5E6B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 y="2176272"/>
            <a:ext cx="3328416" cy="2139696"/>
          </a:xfrm>
          <a:prstGeom prst="rect">
            <a:avLst/>
          </a:prstGeom>
          <a:noFill/>
        </p:spPr>
        <p:txBody>
          <a:bodyPr wrap="square">
            <a:spAutoFit/>
          </a:bodyPr>
          <a:lstStyle/>
          <a:p>
            <a:r>
              <a:rPr sz="1550" b="1">
                <a:solidFill>
                  <a:srgbClr val="5E6B85"/>
                </a:solidFill>
                <a:latin typeface="Cambria"/>
              </a:rPr>
              <a:t>Display 1: “dead”</a:t>
            </a:r>
          </a:p>
          <a:p>
            <a:r>
              <a:rPr sz="1250">
                <a:solidFill>
                  <a:srgbClr val="2B313D"/>
                </a:solidFill>
                <a:latin typeface="Calibri"/>
              </a:rPr>
              <a:t>Actually fine. The power source was the fault: power banks shut off under the display's milliwatt draw, and a reflective screen in a dim room reads as off.</a:t>
            </a:r>
          </a:p>
        </p:txBody>
      </p:sp>
      <p:sp>
        <p:nvSpPr>
          <p:cNvPr id="7" name="Rounded Rectangle 6"/>
          <p:cNvSpPr/>
          <p:nvPr/>
        </p:nvSpPr>
        <p:spPr>
          <a:xfrm>
            <a:off x="4325112" y="2057400"/>
            <a:ext cx="3657600" cy="2377440"/>
          </a:xfrm>
          <a:prstGeom prst="roundRect">
            <a:avLst/>
          </a:prstGeom>
          <a:solidFill>
            <a:srgbClr val="F4F6FA"/>
          </a:solidFill>
          <a:ln w="19050">
            <a:solidFill>
              <a:srgbClr val="E58E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89703" y="2176272"/>
            <a:ext cx="3328416" cy="2139696"/>
          </a:xfrm>
          <a:prstGeom prst="rect">
            <a:avLst/>
          </a:prstGeom>
          <a:noFill/>
        </p:spPr>
        <p:txBody>
          <a:bodyPr wrap="square">
            <a:spAutoFit/>
          </a:bodyPr>
          <a:lstStyle/>
          <a:p>
            <a:r>
              <a:rPr sz="1550" b="1">
                <a:solidFill>
                  <a:srgbClr val="E58E1A"/>
                </a:solidFill>
                <a:latin typeface="Cambria"/>
              </a:rPr>
              <a:t>Display 2: half-dead USB-C</a:t>
            </a:r>
          </a:p>
          <a:p>
            <a:r>
              <a:rPr sz="1250">
                <a:solidFill>
                  <a:srgbClr val="2B313D"/>
                </a:solidFill>
                <a:latin typeface="Calibri"/>
              </a:rPr>
              <a:t>Powers in ONE plug orientation only - damaged pins on one side of the connector. A coin-flip failure every time anyone plugged it in. Fix: mark the working orientation.</a:t>
            </a:r>
          </a:p>
        </p:txBody>
      </p:sp>
      <p:sp>
        <p:nvSpPr>
          <p:cNvPr id="9" name="Rounded Rectangle 8"/>
          <p:cNvSpPr/>
          <p:nvPr/>
        </p:nvSpPr>
        <p:spPr>
          <a:xfrm>
            <a:off x="8147304" y="2057400"/>
            <a:ext cx="3657600" cy="2377440"/>
          </a:xfrm>
          <a:prstGeom prst="roundRect">
            <a:avLst/>
          </a:prstGeom>
          <a:solidFill>
            <a:srgbClr val="F4F6FA"/>
          </a:solidFill>
          <a:ln w="19050">
            <a:solidFill>
              <a:srgbClr val="C43A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11896" y="2176272"/>
            <a:ext cx="3328416" cy="2139696"/>
          </a:xfrm>
          <a:prstGeom prst="rect">
            <a:avLst/>
          </a:prstGeom>
          <a:noFill/>
        </p:spPr>
        <p:txBody>
          <a:bodyPr wrap="square">
            <a:spAutoFit/>
          </a:bodyPr>
          <a:lstStyle/>
          <a:p>
            <a:r>
              <a:rPr sz="1550" b="1">
                <a:solidFill>
                  <a:srgbClr val="C43A4B"/>
                </a:solidFill>
                <a:latin typeface="Cambria"/>
              </a:rPr>
              <a:t>Radio EA:D4: silent config revert</a:t>
            </a:r>
          </a:p>
          <a:p>
            <a:r>
              <a:rPr sz="1250">
                <a:solidFill>
                  <a:srgbClr val="2B313D"/>
                </a:solidFill>
                <a:latin typeface="Calibri"/>
              </a:rPr>
              <a:t>A week idle and its NVS reverted THREE settings: Bluetooth mode (locked its display out), the channel (906.875 - wrong frequency), and its own name.</a:t>
            </a:r>
          </a:p>
        </p:txBody>
      </p:sp>
      <p:sp>
        <p:nvSpPr>
          <p:cNvPr id="11" name="Rounded Rectangle 10"/>
          <p:cNvSpPr/>
          <p:nvPr/>
        </p:nvSpPr>
        <p:spPr>
          <a:xfrm>
            <a:off x="502920" y="4709160"/>
            <a:ext cx="11155680" cy="1234440"/>
          </a:xfrm>
          <a:prstGeom prst="roundRect">
            <a:avLst/>
          </a:prstGeom>
          <a:solidFill>
            <a:srgbClr val="F4F6FA"/>
          </a:solidFill>
          <a:ln w="19050">
            <a:solidFill>
              <a:srgbClr val="162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7512" y="4828032"/>
            <a:ext cx="10826496" cy="996696"/>
          </a:xfrm>
          <a:prstGeom prst="rect">
            <a:avLst/>
          </a:prstGeom>
          <a:noFill/>
        </p:spPr>
        <p:txBody>
          <a:bodyPr wrap="square">
            <a:spAutoFit/>
          </a:bodyPr>
          <a:lstStyle/>
          <a:p>
            <a:r>
              <a:rPr sz="1500" b="1">
                <a:solidFill>
                  <a:srgbClr val="16213D"/>
                </a:solidFill>
                <a:latin typeface="Cambria"/>
              </a:rPr>
              <a:t>Why this slide is in the deck</a:t>
            </a:r>
          </a:p>
          <a:p>
            <a:r>
              <a:rPr sz="1250">
                <a:solidFill>
                  <a:srgbClr val="2B313D"/>
                </a:solidFill>
                <a:latin typeface="Calibri"/>
              </a:rPr>
              <a:t>Because it is part of the test. Field equipment fails between outings; a system is only deployable if its failures are diagnosable. Ours were - in about forty minutes - because every past failure had been written down.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5486400" cy="365760"/>
          </a:xfrm>
          <a:prstGeom prst="rect">
            <a:avLst/>
          </a:prstGeom>
          <a:noFill/>
        </p:spPr>
        <p:txBody>
          <a:bodyPr wrap="square">
            <a:spAutoFit/>
          </a:bodyPr>
          <a:lstStyle/>
          <a:p>
            <a:pPr algn="l"/>
            <a:r>
              <a:rPr sz="1250" b="1">
                <a:solidFill>
                  <a:srgbClr val="E58E1A"/>
                </a:solidFill>
                <a:latin typeface="Calibri"/>
              </a:rPr>
              <a:t>PART I  ·  BEFORE THE TEST</a:t>
            </a:r>
          </a:p>
        </p:txBody>
      </p:sp>
      <p:sp>
        <p:nvSpPr>
          <p:cNvPr id="3" name="TextBox 2"/>
          <p:cNvSpPr txBox="1"/>
          <p:nvPr/>
        </p:nvSpPr>
        <p:spPr>
          <a:xfrm>
            <a:off x="502920" y="457200"/>
            <a:ext cx="11185855" cy="777240"/>
          </a:xfrm>
          <a:prstGeom prst="rect">
            <a:avLst/>
          </a:prstGeom>
          <a:noFill/>
        </p:spPr>
        <p:txBody>
          <a:bodyPr wrap="square">
            <a:spAutoFit/>
          </a:bodyPr>
          <a:lstStyle/>
          <a:p>
            <a:pPr algn="l"/>
            <a:r>
              <a:rPr sz="3100" b="1">
                <a:solidFill>
                  <a:srgbClr val="16213D"/>
                </a:solidFill>
                <a:latin typeface="Cambria"/>
              </a:rPr>
              <a:t>The Forty-Minute Diagnosis</a:t>
            </a:r>
          </a:p>
        </p:txBody>
      </p:sp>
      <p:sp>
        <p:nvSpPr>
          <p:cNvPr id="4" name="Rounded Rectangle 3"/>
          <p:cNvSpPr/>
          <p:nvPr/>
        </p:nvSpPr>
        <p:spPr>
          <a:xfrm>
            <a:off x="502920" y="1371600"/>
            <a:ext cx="5943600" cy="2743200"/>
          </a:xfrm>
          <a:prstGeom prst="roundRect">
            <a:avLst/>
          </a:prstGeom>
          <a:solidFill>
            <a:srgbClr val="F2F2F2"/>
          </a:solidFill>
          <a:ln w="12700">
            <a:solidFill>
              <a:srgbClr val="5E6B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536192"/>
            <a:ext cx="5486400" cy="2468880"/>
          </a:xfrm>
          <a:prstGeom prst="rect">
            <a:avLst/>
          </a:prstGeom>
          <a:noFill/>
        </p:spPr>
        <p:txBody>
          <a:bodyPr wrap="square">
            <a:spAutoFit/>
          </a:bodyPr>
          <a:lstStyle/>
          <a:p>
            <a:r>
              <a:rPr sz="1300">
                <a:solidFill>
                  <a:srgbClr val="2B313D"/>
                </a:solidFill>
                <a:latin typeface="Courier New"/>
              </a:rPr>
              <a:t>[ble] connected</a:t>
            </a:r>
          </a:p>
          <a:p>
            <a:r>
              <a:rPr sz="1300">
                <a:solidFill>
                  <a:srgbClr val="2B313D"/>
                </a:solidFill>
                <a:latin typeface="Courier New"/>
              </a:rPr>
              <a:t>[ble] auth complete: encrypted=1 bonded=0</a:t>
            </a:r>
          </a:p>
          <a:p>
            <a:r>
              <a:rPr sz="1300">
                <a:solidFill>
                  <a:srgbClr val="C43A4B"/>
                </a:solidFill>
                <a:latin typeface="Courier New"/>
              </a:rPr>
              <a:t>Write complete; status=261</a:t>
            </a:r>
          </a:p>
          <a:p>
            <a:r>
              <a:rPr sz="1300">
                <a:solidFill>
                  <a:srgbClr val="C43A4B"/>
                </a:solidFill>
                <a:latin typeface="Courier New"/>
              </a:rPr>
              <a:t>[ble] want_config write failed</a:t>
            </a:r>
          </a:p>
          <a:p>
            <a:r>
              <a:rPr sz="1300">
                <a:solidFill>
                  <a:srgbClr val="2B313D"/>
                </a:solidFill>
                <a:latin typeface="Courier New"/>
              </a:rPr>
              <a:t>[ble] disconnected (reason 534)</a:t>
            </a:r>
          </a:p>
          <a:p>
            <a:r>
              <a:rPr sz="1300">
                <a:solidFill>
                  <a:srgbClr val="2B313D"/>
                </a:solidFill>
                <a:latin typeface="Courier New"/>
              </a:rPr>
              <a:t>... loop forever ...</a:t>
            </a:r>
          </a:p>
        </p:txBody>
      </p:sp>
      <p:sp>
        <p:nvSpPr>
          <p:cNvPr id="6" name="TextBox 5"/>
          <p:cNvSpPr txBox="1"/>
          <p:nvPr/>
        </p:nvSpPr>
        <p:spPr>
          <a:xfrm>
            <a:off x="502920" y="4206240"/>
            <a:ext cx="5943600" cy="457200"/>
          </a:xfrm>
          <a:prstGeom prst="rect">
            <a:avLst/>
          </a:prstGeom>
          <a:noFill/>
        </p:spPr>
        <p:txBody>
          <a:bodyPr wrap="square">
            <a:spAutoFit/>
          </a:bodyPr>
          <a:lstStyle/>
          <a:p>
            <a:pPr algn="l"/>
            <a:r>
              <a:rPr sz="1300" b="0">
                <a:solidFill>
                  <a:srgbClr val="5E6B85"/>
                </a:solidFill>
                <a:latin typeface="Calibri"/>
              </a:rPr>
              <a:t>The display's serial log: error 261 = “insufficient authentication.” One line named the fault: the radio was no longer in NO_PIN mode.</a:t>
            </a:r>
          </a:p>
        </p:txBody>
      </p:sp>
      <p:sp>
        <p:nvSpPr>
          <p:cNvPr id="7" name="Oval 6"/>
          <p:cNvSpPr/>
          <p:nvPr/>
        </p:nvSpPr>
        <p:spPr>
          <a:xfrm>
            <a:off x="6858000" y="1463040"/>
            <a:ext cx="475488" cy="475488"/>
          </a:xfrm>
          <a:prstGeom prst="ellipse">
            <a:avLst/>
          </a:prstGeom>
          <a:solidFill>
            <a:srgbClr val="16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0" y="1517904"/>
            <a:ext cx="475488" cy="365760"/>
          </a:xfrm>
          <a:prstGeom prst="rect">
            <a:avLst/>
          </a:prstGeom>
          <a:noFill/>
        </p:spPr>
        <p:txBody>
          <a:bodyPr wrap="square">
            <a:spAutoFit/>
          </a:bodyPr>
          <a:lstStyle/>
          <a:p>
            <a:pPr algn="ctr"/>
            <a:r>
              <a:rPr sz="1700" b="1">
                <a:solidFill>
                  <a:srgbClr val="FFFFFF"/>
                </a:solidFill>
                <a:latin typeface="Calibri"/>
              </a:rPr>
              <a:t>1</a:t>
            </a:r>
          </a:p>
        </p:txBody>
      </p:sp>
      <p:sp>
        <p:nvSpPr>
          <p:cNvPr id="9" name="TextBox 8"/>
          <p:cNvSpPr txBox="1"/>
          <p:nvPr/>
        </p:nvSpPr>
        <p:spPr>
          <a:xfrm>
            <a:off x="7498079" y="1371600"/>
            <a:ext cx="4206240" cy="1463040"/>
          </a:xfrm>
          <a:prstGeom prst="rect">
            <a:avLst/>
          </a:prstGeom>
          <a:noFill/>
        </p:spPr>
        <p:txBody>
          <a:bodyPr wrap="square">
            <a:spAutoFit/>
          </a:bodyPr>
          <a:lstStyle/>
          <a:p>
            <a:r>
              <a:rPr sz="1500" b="1">
                <a:solidFill>
                  <a:srgbClr val="16213D"/>
                </a:solidFill>
                <a:latin typeface="Cambria"/>
              </a:rPr>
              <a:t>Read the signature</a:t>
            </a:r>
          </a:p>
          <a:p>
            <a:r>
              <a:rPr sz="1200">
                <a:solidFill>
                  <a:srgbClr val="2B313D"/>
                </a:solidFill>
                <a:latin typeface="Calibri"/>
              </a:rPr>
              <a:t>The BLE loop above says the radio demands security the display, by design, cannot give.</a:t>
            </a:r>
          </a:p>
        </p:txBody>
      </p:sp>
      <p:sp>
        <p:nvSpPr>
          <p:cNvPr id="10" name="Oval 9"/>
          <p:cNvSpPr/>
          <p:nvPr/>
        </p:nvSpPr>
        <p:spPr>
          <a:xfrm>
            <a:off x="6858000" y="3063240"/>
            <a:ext cx="475488" cy="475488"/>
          </a:xfrm>
          <a:prstGeom prst="ellipse">
            <a:avLst/>
          </a:prstGeom>
          <a:solidFill>
            <a:srgbClr val="16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0" y="3118104"/>
            <a:ext cx="475488" cy="365760"/>
          </a:xfrm>
          <a:prstGeom prst="rect">
            <a:avLst/>
          </a:prstGeom>
          <a:noFill/>
        </p:spPr>
        <p:txBody>
          <a:bodyPr wrap="square">
            <a:spAutoFit/>
          </a:bodyPr>
          <a:lstStyle/>
          <a:p>
            <a:pPr algn="ctr"/>
            <a:r>
              <a:rPr sz="1700" b="1">
                <a:solidFill>
                  <a:srgbClr val="FFFFFF"/>
                </a:solidFill>
                <a:latin typeface="Calibri"/>
              </a:rPr>
              <a:t>2</a:t>
            </a:r>
          </a:p>
        </p:txBody>
      </p:sp>
      <p:sp>
        <p:nvSpPr>
          <p:cNvPr id="12" name="TextBox 11"/>
          <p:cNvSpPr txBox="1"/>
          <p:nvPr/>
        </p:nvSpPr>
        <p:spPr>
          <a:xfrm>
            <a:off x="7498079" y="2971800"/>
            <a:ext cx="4206240" cy="1463040"/>
          </a:xfrm>
          <a:prstGeom prst="rect">
            <a:avLst/>
          </a:prstGeom>
          <a:noFill/>
        </p:spPr>
        <p:txBody>
          <a:bodyPr wrap="square">
            <a:spAutoFit/>
          </a:bodyPr>
          <a:lstStyle/>
          <a:p>
            <a:r>
              <a:rPr sz="1500" b="1">
                <a:solidFill>
                  <a:srgbClr val="16213D"/>
                </a:solidFill>
                <a:latin typeface="Cambria"/>
              </a:rPr>
              <a:t>Trust the OLED, not the CLI</a:t>
            </a:r>
          </a:p>
          <a:p>
            <a:r>
              <a:rPr sz="1200">
                <a:solidFill>
                  <a:srgbClr val="2B313D"/>
                </a:solidFill>
                <a:latin typeface="Calibri"/>
              </a:rPr>
              <a:t>The radio's screen read 906.875 MHz - the default channel. Ground truth beats config read-back.</a:t>
            </a:r>
          </a:p>
        </p:txBody>
      </p:sp>
      <p:sp>
        <p:nvSpPr>
          <p:cNvPr id="13" name="Oval 12"/>
          <p:cNvSpPr/>
          <p:nvPr/>
        </p:nvSpPr>
        <p:spPr>
          <a:xfrm>
            <a:off x="6858000" y="4663440"/>
            <a:ext cx="475488" cy="475488"/>
          </a:xfrm>
          <a:prstGeom prst="ellipse">
            <a:avLst/>
          </a:prstGeom>
          <a:solidFill>
            <a:srgbClr val="16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0" y="4718304"/>
            <a:ext cx="475488" cy="365760"/>
          </a:xfrm>
          <a:prstGeom prst="rect">
            <a:avLst/>
          </a:prstGeom>
          <a:noFill/>
        </p:spPr>
        <p:txBody>
          <a:bodyPr wrap="square">
            <a:spAutoFit/>
          </a:bodyPr>
          <a:lstStyle/>
          <a:p>
            <a:pPr algn="ctr"/>
            <a:r>
              <a:rPr sz="1700" b="1">
                <a:solidFill>
                  <a:srgbClr val="FFFFFF"/>
                </a:solidFill>
                <a:latin typeface="Calibri"/>
              </a:rPr>
              <a:t>3</a:t>
            </a:r>
          </a:p>
        </p:txBody>
      </p:sp>
      <p:sp>
        <p:nvSpPr>
          <p:cNvPr id="15" name="TextBox 14"/>
          <p:cNvSpPr txBox="1"/>
          <p:nvPr/>
        </p:nvSpPr>
        <p:spPr>
          <a:xfrm>
            <a:off x="7498079" y="4572000"/>
            <a:ext cx="4206240" cy="1463040"/>
          </a:xfrm>
          <a:prstGeom prst="rect">
            <a:avLst/>
          </a:prstGeom>
          <a:noFill/>
        </p:spPr>
        <p:txBody>
          <a:bodyPr wrap="square">
            <a:spAutoFit/>
          </a:bodyPr>
          <a:lstStyle/>
          <a:p>
            <a:r>
              <a:rPr sz="1500" b="1">
                <a:solidFill>
                  <a:srgbClr val="16213D"/>
                </a:solidFill>
                <a:latin typeface="Cambria"/>
              </a:rPr>
              <a:t>Re-run the WHOLE recipe</a:t>
            </a:r>
          </a:p>
          <a:p>
            <a:r>
              <a:rPr sz="1200">
                <a:solidFill>
                  <a:srgbClr val="2B313D"/>
                </a:solidFill>
                <a:latin typeface="Calibri"/>
              </a:rPr>
              <a:t>Reverts come in batches. Channel, Bluetooth, cadence, owner - re-provision all of it, verify each by read-back, then power-cycle and verify again.</a:t>
            </a:r>
          </a:p>
        </p:txBody>
      </p:sp>
      <p:sp>
        <p:nvSpPr>
          <p:cNvPr id="16" name="TextBox 15"/>
          <p:cNvSpPr txBox="1"/>
          <p:nvPr/>
        </p:nvSpPr>
        <p:spPr>
          <a:xfrm>
            <a:off x="502920" y="6172200"/>
            <a:ext cx="11155680" cy="457200"/>
          </a:xfrm>
          <a:prstGeom prst="rect">
            <a:avLst/>
          </a:prstGeom>
          <a:noFill/>
        </p:spPr>
        <p:txBody>
          <a:bodyPr wrap="square">
            <a:spAutoFit/>
          </a:bodyPr>
          <a:lstStyle/>
          <a:p>
            <a:pPr algn="l"/>
            <a:r>
              <a:rPr sz="1450" b="1">
                <a:solidFill>
                  <a:srgbClr val="1F9D68"/>
                </a:solidFill>
                <a:latin typeface="Calibri"/>
              </a:rPr>
              <a:t>By midnight: both displays alive, both radios on 912.875 MHz, full pre-flight passed. The test was 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5486400" cy="365760"/>
          </a:xfrm>
          <a:prstGeom prst="rect">
            <a:avLst/>
          </a:prstGeom>
          <a:noFill/>
        </p:spPr>
        <p:txBody>
          <a:bodyPr wrap="square">
            <a:spAutoFit/>
          </a:bodyPr>
          <a:lstStyle/>
          <a:p>
            <a:pPr algn="l"/>
            <a:r>
              <a:rPr sz="1250" b="1">
                <a:solidFill>
                  <a:srgbClr val="E58E1A"/>
                </a:solidFill>
                <a:latin typeface="Calibri"/>
              </a:rPr>
              <a:t>PART II  ·  THE TEST</a:t>
            </a:r>
          </a:p>
        </p:txBody>
      </p:sp>
      <p:sp>
        <p:nvSpPr>
          <p:cNvPr id="3" name="TextBox 2"/>
          <p:cNvSpPr txBox="1"/>
          <p:nvPr/>
        </p:nvSpPr>
        <p:spPr>
          <a:xfrm>
            <a:off x="502920" y="457200"/>
            <a:ext cx="11185855" cy="777240"/>
          </a:xfrm>
          <a:prstGeom prst="rect">
            <a:avLst/>
          </a:prstGeom>
          <a:noFill/>
        </p:spPr>
        <p:txBody>
          <a:bodyPr wrap="square">
            <a:spAutoFit/>
          </a:bodyPr>
          <a:lstStyle/>
          <a:p>
            <a:pPr algn="l"/>
            <a:r>
              <a:rPr sz="3100" b="1">
                <a:solidFill>
                  <a:srgbClr val="16213D"/>
                </a:solidFill>
                <a:latin typeface="Cambria"/>
              </a:rPr>
              <a:t>The Place: Ceta Canyon, Palo Duro Escarpment</a:t>
            </a:r>
          </a:p>
        </p:txBody>
      </p:sp>
      <p:pic>
        <p:nvPicPr>
          <p:cNvPr id="4" name="Picture 3" descr="map_rg.jpg"/>
          <p:cNvPicPr>
            <a:picLocks noChangeAspect="1"/>
          </p:cNvPicPr>
          <p:nvPr/>
        </p:nvPicPr>
        <p:blipFill>
          <a:blip r:embed="rId2"/>
          <a:stretch>
            <a:fillRect/>
          </a:stretch>
        </p:blipFill>
        <p:spPr>
          <a:xfrm>
            <a:off x="914400" y="1371600"/>
            <a:ext cx="3373169" cy="4206240"/>
          </a:xfrm>
          <a:prstGeom prst="rect">
            <a:avLst/>
          </a:prstGeom>
        </p:spPr>
      </p:pic>
      <p:pic>
        <p:nvPicPr>
          <p:cNvPr id="5" name="Picture 4" descr="map_route.jpg"/>
          <p:cNvPicPr>
            <a:picLocks noChangeAspect="1"/>
          </p:cNvPicPr>
          <p:nvPr/>
        </p:nvPicPr>
        <p:blipFill>
          <a:blip r:embed="rId3"/>
          <a:stretch>
            <a:fillRect/>
          </a:stretch>
        </p:blipFill>
        <p:spPr>
          <a:xfrm>
            <a:off x="5943600" y="1371600"/>
            <a:ext cx="1938814" cy="4206240"/>
          </a:xfrm>
          <a:prstGeom prst="rect">
            <a:avLst/>
          </a:prstGeom>
        </p:spPr>
      </p:pic>
      <p:sp>
        <p:nvSpPr>
          <p:cNvPr id="6" name="TextBox 5"/>
          <p:cNvSpPr txBox="1"/>
          <p:nvPr/>
        </p:nvSpPr>
        <p:spPr>
          <a:xfrm>
            <a:off x="640080" y="5669280"/>
            <a:ext cx="4572000" cy="548640"/>
          </a:xfrm>
          <a:prstGeom prst="rect">
            <a:avLst/>
          </a:prstGeom>
          <a:noFill/>
        </p:spPr>
        <p:txBody>
          <a:bodyPr wrap="square">
            <a:spAutoFit/>
          </a:bodyPr>
          <a:lstStyle/>
          <a:p>
            <a:pPr algn="ctr"/>
            <a:r>
              <a:rPr sz="1450" b="0">
                <a:solidFill>
                  <a:srgbClr val="5E6B85"/>
                </a:solidFill>
                <a:latin typeface="Calibri"/>
              </a:rPr>
              <a:t>RG's station: the rim point above Garrison Retreat Lodge</a:t>
            </a:r>
          </a:p>
        </p:txBody>
      </p:sp>
      <p:sp>
        <p:nvSpPr>
          <p:cNvPr id="7" name="TextBox 6"/>
          <p:cNvSpPr txBox="1"/>
          <p:nvPr/>
        </p:nvSpPr>
        <p:spPr>
          <a:xfrm>
            <a:off x="5669280" y="5669280"/>
            <a:ext cx="5120640" cy="548640"/>
          </a:xfrm>
          <a:prstGeom prst="rect">
            <a:avLst/>
          </a:prstGeom>
          <a:noFill/>
        </p:spPr>
        <p:txBody>
          <a:bodyPr wrap="square">
            <a:spAutoFit/>
          </a:bodyPr>
          <a:lstStyle/>
          <a:p>
            <a:pPr algn="ctr"/>
            <a:r>
              <a:rPr sz="1450" b="0">
                <a:solidFill>
                  <a:srgbClr val="5E6B85"/>
                </a:solidFill>
                <a:latin typeface="Calibri"/>
              </a:rPr>
              <a:t>SF's route: down FM 1721, then west onto the caprock plains</a:t>
            </a:r>
          </a:p>
        </p:txBody>
      </p:sp>
      <p:sp>
        <p:nvSpPr>
          <p:cNvPr id="8" name="TextBox 7"/>
          <p:cNvSpPr txBox="1"/>
          <p:nvPr/>
        </p:nvSpPr>
        <p:spPr>
          <a:xfrm>
            <a:off x="502920" y="6217920"/>
            <a:ext cx="11155680" cy="457200"/>
          </a:xfrm>
          <a:prstGeom prst="rect">
            <a:avLst/>
          </a:prstGeom>
          <a:noFill/>
        </p:spPr>
        <p:txBody>
          <a:bodyPr wrap="square">
            <a:spAutoFit/>
          </a:bodyPr>
          <a:lstStyle/>
          <a:p>
            <a:pPr algn="ctr"/>
            <a:r>
              <a:rPr sz="1400" b="0">
                <a:solidFill>
                  <a:srgbClr val="5E6B85"/>
                </a:solidFill>
                <a:latin typeface="Calibri"/>
              </a:rPr>
              <a:t>Two opposite radio worlds in one route: shadowed canyon folds close in, flat line-of-sight plains far out — chosen deliberately.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5486400" cy="365760"/>
          </a:xfrm>
          <a:prstGeom prst="rect">
            <a:avLst/>
          </a:prstGeom>
          <a:noFill/>
        </p:spPr>
        <p:txBody>
          <a:bodyPr wrap="square">
            <a:spAutoFit/>
          </a:bodyPr>
          <a:lstStyle/>
          <a:p>
            <a:pPr algn="l"/>
            <a:r>
              <a:rPr sz="1250" b="1">
                <a:solidFill>
                  <a:srgbClr val="E58E1A"/>
                </a:solidFill>
                <a:latin typeface="Calibri"/>
              </a:rPr>
              <a:t>PART II  ·  THE TEST</a:t>
            </a:r>
          </a:p>
        </p:txBody>
      </p:sp>
      <p:sp>
        <p:nvSpPr>
          <p:cNvPr id="3" name="TextBox 2"/>
          <p:cNvSpPr txBox="1"/>
          <p:nvPr/>
        </p:nvSpPr>
        <p:spPr>
          <a:xfrm>
            <a:off x="502920" y="457200"/>
            <a:ext cx="11185855" cy="777240"/>
          </a:xfrm>
          <a:prstGeom prst="rect">
            <a:avLst/>
          </a:prstGeom>
          <a:noFill/>
        </p:spPr>
        <p:txBody>
          <a:bodyPr wrap="square">
            <a:spAutoFit/>
          </a:bodyPr>
          <a:lstStyle/>
          <a:p>
            <a:pPr algn="l"/>
            <a:r>
              <a:rPr sz="3100" b="1">
                <a:solidFill>
                  <a:srgbClr val="16213D"/>
                </a:solidFill>
                <a:latin typeface="Cambria"/>
              </a:rPr>
              <a:t>Instrumentation and Protocol</a:t>
            </a:r>
          </a:p>
        </p:txBody>
      </p:sp>
      <p:sp>
        <p:nvSpPr>
          <p:cNvPr id="4" name="Rounded Rectangle 3"/>
          <p:cNvSpPr/>
          <p:nvPr/>
        </p:nvSpPr>
        <p:spPr>
          <a:xfrm>
            <a:off x="502920" y="1463040"/>
            <a:ext cx="11155680" cy="1417320"/>
          </a:xfrm>
          <a:prstGeom prst="roundRect">
            <a:avLst/>
          </a:prstGeom>
          <a:solidFill>
            <a:srgbClr val="F4F6FA"/>
          </a:solidFill>
          <a:ln w="19050">
            <a:solidFill>
              <a:srgbClr val="162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67512" y="1581912"/>
            <a:ext cx="10826496" cy="1179576"/>
          </a:xfrm>
          <a:prstGeom prst="rect">
            <a:avLst/>
          </a:prstGeom>
          <a:noFill/>
        </p:spPr>
        <p:txBody>
          <a:bodyPr wrap="square">
            <a:spAutoFit/>
          </a:bodyPr>
          <a:lstStyle/>
          <a:p>
            <a:r>
              <a:rPr sz="1550" b="1">
                <a:solidFill>
                  <a:srgbClr val="16213D"/>
                </a:solidFill>
                <a:latin typeface="Cambria"/>
              </a:rPr>
              <a:t>Timebase</a:t>
            </a:r>
          </a:p>
          <a:p>
            <a:r>
              <a:rPr sz="1300">
                <a:solidFill>
                  <a:srgbClr val="2B313D"/>
                </a:solidFill>
                <a:latin typeface="Calibri"/>
              </a:rPr>
              <a:t>Every data point is read from video of the live screens; the display's own clock and uptime counter stamp each frame. No logs to trust - the evidence is the glass itself.</a:t>
            </a:r>
          </a:p>
        </p:txBody>
      </p:sp>
      <p:sp>
        <p:nvSpPr>
          <p:cNvPr id="6" name="Rounded Rectangle 5"/>
          <p:cNvSpPr/>
          <p:nvPr/>
        </p:nvSpPr>
        <p:spPr>
          <a:xfrm>
            <a:off x="502920" y="3035808"/>
            <a:ext cx="11155680" cy="1417320"/>
          </a:xfrm>
          <a:prstGeom prst="roundRect">
            <a:avLst/>
          </a:prstGeom>
          <a:solidFill>
            <a:srgbClr val="F4F6FA"/>
          </a:solidFill>
          <a:ln w="19050">
            <a:solidFill>
              <a:srgbClr val="162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 y="3154680"/>
            <a:ext cx="10826496" cy="1179576"/>
          </a:xfrm>
          <a:prstGeom prst="rect">
            <a:avLst/>
          </a:prstGeom>
          <a:noFill/>
        </p:spPr>
        <p:txBody>
          <a:bodyPr wrap="square">
            <a:spAutoFit/>
          </a:bodyPr>
          <a:lstStyle/>
          <a:p>
            <a:r>
              <a:rPr sz="1550" b="1">
                <a:solidFill>
                  <a:srgbClr val="16213D"/>
                </a:solidFill>
                <a:latin typeface="Cambria"/>
              </a:rPr>
              <a:t>Configuration control</a:t>
            </a:r>
          </a:p>
          <a:p>
            <a:r>
              <a:rPr sz="1300">
                <a:solidFill>
                  <a:srgbClr val="2B313D"/>
                </a:solidFill>
                <a:latin typeface="Calibri"/>
              </a:rPr>
              <a:t>Full pre-flight before rollout (both OLEDs on 912.875), and a complete audit of every setting on both radios after the run - so results attribute to terrain, not configuration.</a:t>
            </a:r>
          </a:p>
        </p:txBody>
      </p:sp>
      <p:sp>
        <p:nvSpPr>
          <p:cNvPr id="8" name="Rounded Rectangle 7"/>
          <p:cNvSpPr/>
          <p:nvPr/>
        </p:nvSpPr>
        <p:spPr>
          <a:xfrm>
            <a:off x="502920" y="4608576"/>
            <a:ext cx="11155680" cy="1417320"/>
          </a:xfrm>
          <a:prstGeom prst="roundRect">
            <a:avLst/>
          </a:prstGeom>
          <a:solidFill>
            <a:srgbClr val="F4F6FA"/>
          </a:solidFill>
          <a:ln w="19050">
            <a:solidFill>
              <a:srgbClr val="162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4727448"/>
            <a:ext cx="10826496" cy="1179576"/>
          </a:xfrm>
          <a:prstGeom prst="rect">
            <a:avLst/>
          </a:prstGeom>
          <a:noFill/>
        </p:spPr>
        <p:txBody>
          <a:bodyPr wrap="square">
            <a:spAutoFit/>
          </a:bodyPr>
          <a:lstStyle/>
          <a:p>
            <a:r>
              <a:rPr sz="1550" b="1">
                <a:solidFill>
                  <a:srgbClr val="16213D"/>
                </a:solidFill>
                <a:latin typeface="Cambria"/>
              </a:rPr>
              <a:t>What counts as success</a:t>
            </a:r>
          </a:p>
          <a:p>
            <a:r>
              <a:rPr sz="1300">
                <a:solidFill>
                  <a:srgbClr val="2B313D"/>
                </a:solidFill>
                <a:latin typeface="Calibri"/>
              </a:rPr>
              <a:t>Not unbroken contact - that is physically impossible behind rock. Success = every outage flagged honestly, recovery without operator action, and range numbers that fit the link-budget model.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5486400" cy="365760"/>
          </a:xfrm>
          <a:prstGeom prst="rect">
            <a:avLst/>
          </a:prstGeom>
          <a:noFill/>
        </p:spPr>
        <p:txBody>
          <a:bodyPr wrap="square">
            <a:spAutoFit/>
          </a:bodyPr>
          <a:lstStyle/>
          <a:p>
            <a:pPr algn="l"/>
            <a:r>
              <a:rPr sz="1250" b="1">
                <a:solidFill>
                  <a:srgbClr val="E58E1A"/>
                </a:solidFill>
                <a:latin typeface="Calibri"/>
              </a:rPr>
              <a:t>PART II  ·  THE TEST</a:t>
            </a:r>
          </a:p>
        </p:txBody>
      </p:sp>
      <p:sp>
        <p:nvSpPr>
          <p:cNvPr id="3" name="TextBox 2"/>
          <p:cNvSpPr txBox="1"/>
          <p:nvPr/>
        </p:nvSpPr>
        <p:spPr>
          <a:xfrm>
            <a:off x="502920" y="457200"/>
            <a:ext cx="11185855" cy="777240"/>
          </a:xfrm>
          <a:prstGeom prst="rect">
            <a:avLst/>
          </a:prstGeom>
          <a:noFill/>
        </p:spPr>
        <p:txBody>
          <a:bodyPr wrap="square">
            <a:spAutoFit/>
          </a:bodyPr>
          <a:lstStyle/>
          <a:p>
            <a:pPr algn="l"/>
            <a:r>
              <a:rPr sz="3100" b="1">
                <a:solidFill>
                  <a:srgbClr val="16213D"/>
                </a:solidFill>
                <a:latin typeface="Cambria"/>
              </a:rPr>
              <a:t>Dawn: Stationing the Rim Radio</a:t>
            </a:r>
          </a:p>
        </p:txBody>
      </p:sp>
      <p:pic>
        <p:nvPicPr>
          <p:cNvPr id="4" name="c_setup.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2194560" y="1325880"/>
            <a:ext cx="2440990" cy="4343400"/>
          </a:xfrm>
          <a:prstGeom prst="rect">
            <a:avLst/>
          </a:prstGeom>
        </p:spPr>
      </p:pic>
      <p:pic>
        <p:nvPicPr>
          <p:cNvPr id="5" name="Picture 4" descr="WhatsApp Image 2026-10-18 at 8.00.56 AM.jpeg"/>
          <p:cNvPicPr>
            <a:picLocks noChangeAspect="1"/>
          </p:cNvPicPr>
          <p:nvPr/>
        </p:nvPicPr>
        <p:blipFill>
          <a:blip r:embed="rId5"/>
          <a:stretch>
            <a:fillRect/>
          </a:stretch>
        </p:blipFill>
        <p:spPr>
          <a:xfrm>
            <a:off x="5760720" y="1325880"/>
            <a:ext cx="3257550" cy="4343400"/>
          </a:xfrm>
          <a:prstGeom prst="rect">
            <a:avLst/>
          </a:prstGeom>
        </p:spPr>
      </p:pic>
      <p:pic>
        <p:nvPicPr>
          <p:cNvPr id="6" name="Picture 5" descr="WhatsApp Image 2026-10-18 at 8.00.56 AM (3).jpeg"/>
          <p:cNvPicPr>
            <a:picLocks noChangeAspect="1"/>
          </p:cNvPicPr>
          <p:nvPr/>
        </p:nvPicPr>
        <p:blipFill>
          <a:blip r:embed="rId6"/>
          <a:stretch>
            <a:fillRect/>
          </a:stretch>
        </p:blipFill>
        <p:spPr>
          <a:xfrm>
            <a:off x="9098280" y="1325880"/>
            <a:ext cx="3257550" cy="4343400"/>
          </a:xfrm>
          <a:prstGeom prst="rect">
            <a:avLst/>
          </a:prstGeom>
        </p:spPr>
      </p:pic>
      <p:sp>
        <p:nvSpPr>
          <p:cNvPr id="7" name="TextBox 6"/>
          <p:cNvSpPr txBox="1"/>
          <p:nvPr/>
        </p:nvSpPr>
        <p:spPr>
          <a:xfrm>
            <a:off x="1097280" y="5788152"/>
            <a:ext cx="4572000" cy="548640"/>
          </a:xfrm>
          <a:prstGeom prst="rect">
            <a:avLst/>
          </a:prstGeom>
          <a:noFill/>
        </p:spPr>
        <p:txBody>
          <a:bodyPr wrap="square">
            <a:spAutoFit/>
          </a:bodyPr>
          <a:lstStyle/>
          <a:p>
            <a:pPr algn="ctr"/>
            <a:r>
              <a:rPr sz="1450" b="0">
                <a:solidFill>
                  <a:srgbClr val="5E6B85"/>
                </a:solidFill>
                <a:latin typeface="Calibri"/>
              </a:rPr>
              <a:t>RG parked at the rim, ~1,100 m — the whole canyon below its antenna</a:t>
            </a:r>
          </a:p>
        </p:txBody>
      </p:sp>
      <p:sp>
        <p:nvSpPr>
          <p:cNvPr id="8" name="TextBox 7"/>
          <p:cNvSpPr txBox="1"/>
          <p:nvPr/>
        </p:nvSpPr>
        <p:spPr>
          <a:xfrm>
            <a:off x="5943600" y="5788152"/>
            <a:ext cx="5486400" cy="548640"/>
          </a:xfrm>
          <a:prstGeom prst="rect">
            <a:avLst/>
          </a:prstGeom>
          <a:noFill/>
        </p:spPr>
        <p:txBody>
          <a:bodyPr wrap="square">
            <a:spAutoFit/>
          </a:bodyPr>
          <a:lstStyle/>
          <a:p>
            <a:pPr algn="ctr"/>
            <a:r>
              <a:rPr sz="1450" b="0">
                <a:solidFill>
                  <a:srgbClr val="5E6B85"/>
                </a:solidFill>
                <a:latin typeface="Calibri"/>
              </a:rPr>
              <a:t>First light on the caprock: the terrain the link must cross</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4"/>
                </p:tgtEl>
              </p:cMediaNode>
            </p:video>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5486400" cy="365760"/>
          </a:xfrm>
          <a:prstGeom prst="rect">
            <a:avLst/>
          </a:prstGeom>
          <a:noFill/>
        </p:spPr>
        <p:txBody>
          <a:bodyPr wrap="square">
            <a:spAutoFit/>
          </a:bodyPr>
          <a:lstStyle/>
          <a:p>
            <a:pPr algn="l"/>
            <a:r>
              <a:rPr sz="1250" b="1">
                <a:solidFill>
                  <a:srgbClr val="E58E1A"/>
                </a:solidFill>
                <a:latin typeface="Calibri"/>
              </a:rPr>
              <a:t>PART II  ·  THE TEST</a:t>
            </a:r>
          </a:p>
        </p:txBody>
      </p:sp>
      <p:sp>
        <p:nvSpPr>
          <p:cNvPr id="3" name="TextBox 2"/>
          <p:cNvSpPr txBox="1"/>
          <p:nvPr/>
        </p:nvSpPr>
        <p:spPr>
          <a:xfrm>
            <a:off x="502920" y="457200"/>
            <a:ext cx="11185855" cy="777240"/>
          </a:xfrm>
          <a:prstGeom prst="rect">
            <a:avLst/>
          </a:prstGeom>
          <a:noFill/>
        </p:spPr>
        <p:txBody>
          <a:bodyPr wrap="square">
            <a:spAutoFit/>
          </a:bodyPr>
          <a:lstStyle/>
          <a:p>
            <a:pPr algn="l"/>
            <a:r>
              <a:rPr sz="3100" b="1">
                <a:solidFill>
                  <a:srgbClr val="16213D"/>
                </a:solidFill>
                <a:latin typeface="Cambria"/>
              </a:rPr>
              <a:t>Rolling Out Before Sunrise</a:t>
            </a:r>
          </a:p>
        </p:txBody>
      </p:sp>
      <p:pic>
        <p:nvPicPr>
          <p:cNvPr id="4" name="c_night.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2377440" y="1325880"/>
            <a:ext cx="2440990" cy="4343400"/>
          </a:xfrm>
          <a:prstGeom prst="rect">
            <a:avLst/>
          </a:prstGeom>
        </p:spPr>
      </p:pic>
      <p:pic>
        <p:nvPicPr>
          <p:cNvPr id="5" name="c_canyondawn.mp4">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7"/>
          <a:stretch>
            <a:fillRect/>
          </a:stretch>
        </p:blipFill>
        <p:spPr>
          <a:xfrm>
            <a:off x="7223760" y="1325880"/>
            <a:ext cx="2440990" cy="4343400"/>
          </a:xfrm>
          <a:prstGeom prst="rect">
            <a:avLst/>
          </a:prstGeom>
        </p:spPr>
      </p:pic>
      <p:sp>
        <p:nvSpPr>
          <p:cNvPr id="6" name="TextBox 5"/>
          <p:cNvSpPr txBox="1"/>
          <p:nvPr/>
        </p:nvSpPr>
        <p:spPr>
          <a:xfrm>
            <a:off x="1188720" y="5788152"/>
            <a:ext cx="4846320" cy="548640"/>
          </a:xfrm>
          <a:prstGeom prst="rect">
            <a:avLst/>
          </a:prstGeom>
          <a:noFill/>
        </p:spPr>
        <p:txBody>
          <a:bodyPr wrap="square">
            <a:spAutoFit/>
          </a:bodyPr>
          <a:lstStyle/>
          <a:p>
            <a:pPr algn="ctr"/>
            <a:r>
              <a:rPr sz="1450" b="0">
                <a:solidFill>
                  <a:srgbClr val="5E6B85"/>
                </a:solidFill>
                <a:latin typeface="Calibri"/>
              </a:rPr>
              <a:t>Pre-dawn start: display live on the dash from ignition</a:t>
            </a:r>
          </a:p>
        </p:txBody>
      </p:sp>
      <p:sp>
        <p:nvSpPr>
          <p:cNvPr id="7" name="TextBox 6"/>
          <p:cNvSpPr txBox="1"/>
          <p:nvPr/>
        </p:nvSpPr>
        <p:spPr>
          <a:xfrm>
            <a:off x="6126480" y="5788152"/>
            <a:ext cx="4846320" cy="548640"/>
          </a:xfrm>
          <a:prstGeom prst="rect">
            <a:avLst/>
          </a:prstGeom>
          <a:noFill/>
        </p:spPr>
        <p:txBody>
          <a:bodyPr wrap="square">
            <a:spAutoFit/>
          </a:bodyPr>
          <a:lstStyle/>
          <a:p>
            <a:pPr algn="ctr"/>
            <a:r>
              <a:rPr sz="1450" b="0">
                <a:solidFill>
                  <a:srgbClr val="5E6B85"/>
                </a:solidFill>
                <a:latin typeface="Calibri"/>
              </a:rPr>
              <a:t>Down FM 1721 through the canyon at first light</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4"/>
                </p:tgtEl>
              </p:cMediaNode>
            </p:video>
            <p:video>
              <p:cMediaNode vol="80000">
                <p:cTn id="3" fill="hold" display="0">
                  <p:stCondLst>
                    <p:cond delay="indefinite"/>
                  </p:stCondLst>
                </p:cTn>
                <p:tgtEl>
                  <p:spTgt spid="5"/>
                </p:tgtEl>
              </p:cMediaNode>
            </p:video>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5486400" cy="365760"/>
          </a:xfrm>
          <a:prstGeom prst="rect">
            <a:avLst/>
          </a:prstGeom>
          <a:noFill/>
        </p:spPr>
        <p:txBody>
          <a:bodyPr wrap="square">
            <a:spAutoFit/>
          </a:bodyPr>
          <a:lstStyle/>
          <a:p>
            <a:pPr algn="l"/>
            <a:r>
              <a:rPr sz="1250" b="1">
                <a:solidFill>
                  <a:srgbClr val="E58E1A"/>
                </a:solidFill>
                <a:latin typeface="Calibri"/>
              </a:rPr>
              <a:t>PART II  ·  THE TEST</a:t>
            </a:r>
          </a:p>
        </p:txBody>
      </p:sp>
      <p:sp>
        <p:nvSpPr>
          <p:cNvPr id="3" name="TextBox 2"/>
          <p:cNvSpPr txBox="1"/>
          <p:nvPr/>
        </p:nvSpPr>
        <p:spPr>
          <a:xfrm>
            <a:off x="502920" y="457200"/>
            <a:ext cx="11185855" cy="777240"/>
          </a:xfrm>
          <a:prstGeom prst="rect">
            <a:avLst/>
          </a:prstGeom>
          <a:noFill/>
        </p:spPr>
        <p:txBody>
          <a:bodyPr wrap="square">
            <a:spAutoFit/>
          </a:bodyPr>
          <a:lstStyle/>
          <a:p>
            <a:pPr algn="l"/>
            <a:r>
              <a:rPr sz="3100" b="1">
                <a:solidFill>
                  <a:srgbClr val="16213D"/>
                </a:solidFill>
                <a:latin typeface="Cambria"/>
              </a:rPr>
              <a:t>Outbound: the Link Working as Designed</a:t>
            </a:r>
          </a:p>
        </p:txBody>
      </p:sp>
      <p:pic>
        <p:nvPicPr>
          <p:cNvPr id="4" name="c_outbound.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2377440" y="1325880"/>
            <a:ext cx="2440990" cy="4343400"/>
          </a:xfrm>
          <a:prstGeom prst="rect">
            <a:avLst/>
          </a:prstGeom>
        </p:spPr>
      </p:pic>
      <p:pic>
        <p:nvPicPr>
          <p:cNvPr id="5" name="c_plains.mp4">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7"/>
          <a:stretch>
            <a:fillRect/>
          </a:stretch>
        </p:blipFill>
        <p:spPr>
          <a:xfrm>
            <a:off x="7223760" y="1325880"/>
            <a:ext cx="2440990" cy="4343400"/>
          </a:xfrm>
          <a:prstGeom prst="rect">
            <a:avLst/>
          </a:prstGeom>
        </p:spPr>
      </p:pic>
      <p:sp>
        <p:nvSpPr>
          <p:cNvPr id="6" name="TextBox 5"/>
          <p:cNvSpPr txBox="1"/>
          <p:nvPr/>
        </p:nvSpPr>
        <p:spPr>
          <a:xfrm>
            <a:off x="1188720" y="5788152"/>
            <a:ext cx="4846320" cy="548640"/>
          </a:xfrm>
          <a:prstGeom prst="rect">
            <a:avLst/>
          </a:prstGeom>
          <a:noFill/>
        </p:spPr>
        <p:txBody>
          <a:bodyPr wrap="square">
            <a:spAutoFit/>
          </a:bodyPr>
          <a:lstStyle/>
          <a:p>
            <a:pPr algn="ctr"/>
            <a:r>
              <a:rPr sz="1450" b="0">
                <a:solidFill>
                  <a:srgbClr val="5E6B85"/>
                </a:solidFill>
                <a:latin typeface="Calibri"/>
              </a:rPr>
              <a:t>2.09 mi, age 45 s, course guidance up — separating at 46 mph</a:t>
            </a:r>
          </a:p>
        </p:txBody>
      </p:sp>
      <p:sp>
        <p:nvSpPr>
          <p:cNvPr id="7" name="TextBox 6"/>
          <p:cNvSpPr txBox="1"/>
          <p:nvPr/>
        </p:nvSpPr>
        <p:spPr>
          <a:xfrm>
            <a:off x="6126480" y="5788152"/>
            <a:ext cx="4846320" cy="548640"/>
          </a:xfrm>
          <a:prstGeom prst="rect">
            <a:avLst/>
          </a:prstGeom>
          <a:noFill/>
        </p:spPr>
        <p:txBody>
          <a:bodyPr wrap="square">
            <a:spAutoFit/>
          </a:bodyPr>
          <a:lstStyle/>
          <a:p>
            <a:pPr algn="ctr"/>
            <a:r>
              <a:rPr sz="1450" b="0">
                <a:solidFill>
                  <a:srgbClr val="5E6B85"/>
                </a:solidFill>
                <a:latin typeface="Calibri"/>
              </a:rPr>
              <a:t>Out onto the plains at sunrise, counting up the miles</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4"/>
                </p:tgtEl>
              </p:cMediaNode>
            </p:video>
            <p:video>
              <p:cMediaNode vol="80000">
                <p:cTn id="3" fill="hold" display="0">
                  <p:stCondLst>
                    <p:cond delay="indefinite"/>
                  </p:stCondLst>
                </p:cTn>
                <p:tgtEl>
                  <p:spTgt spid="5"/>
                </p:tgtEl>
              </p:cMediaNode>
            </p:video>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5486400" cy="365760"/>
          </a:xfrm>
          <a:prstGeom prst="rect">
            <a:avLst/>
          </a:prstGeom>
          <a:noFill/>
        </p:spPr>
        <p:txBody>
          <a:bodyPr wrap="square">
            <a:spAutoFit/>
          </a:bodyPr>
          <a:lstStyle/>
          <a:p>
            <a:pPr algn="l"/>
            <a:r>
              <a:rPr sz="1250" b="1">
                <a:solidFill>
                  <a:srgbClr val="E58E1A"/>
                </a:solidFill>
                <a:latin typeface="Calibri"/>
              </a:rPr>
              <a:t>PART II  ·  THE TEST</a:t>
            </a:r>
          </a:p>
        </p:txBody>
      </p:sp>
      <p:sp>
        <p:nvSpPr>
          <p:cNvPr id="3" name="TextBox 2"/>
          <p:cNvSpPr txBox="1"/>
          <p:nvPr/>
        </p:nvSpPr>
        <p:spPr>
          <a:xfrm>
            <a:off x="502920" y="457200"/>
            <a:ext cx="11185855" cy="777240"/>
          </a:xfrm>
          <a:prstGeom prst="rect">
            <a:avLst/>
          </a:prstGeom>
          <a:noFill/>
        </p:spPr>
        <p:txBody>
          <a:bodyPr wrap="square">
            <a:spAutoFit/>
          </a:bodyPr>
          <a:lstStyle/>
          <a:p>
            <a:pPr algn="l"/>
            <a:r>
              <a:rPr sz="3100" b="1">
                <a:solidFill>
                  <a:srgbClr val="16213D"/>
                </a:solidFill>
                <a:latin typeface="Cambria"/>
              </a:rPr>
              <a:t>The Whole Run, Reconstructed</a:t>
            </a:r>
          </a:p>
        </p:txBody>
      </p:sp>
      <p:pic>
        <p:nvPicPr>
          <p:cNvPr id="4" name="anim_walkthrough.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1527048" y="1280160"/>
            <a:ext cx="9144000" cy="5120640"/>
          </a:xfrm>
          <a:prstGeom prst="rect">
            <a:avLst/>
          </a:prstGeom>
        </p:spPr>
      </p:pic>
      <p:sp>
        <p:nvSpPr>
          <p:cNvPr id="5" name="TextBox 4"/>
          <p:cNvSpPr txBox="1"/>
          <p:nvPr/>
        </p:nvSpPr>
        <p:spPr>
          <a:xfrm>
            <a:off x="502920" y="6446520"/>
            <a:ext cx="11155680" cy="365760"/>
          </a:xfrm>
          <a:prstGeom prst="rect">
            <a:avLst/>
          </a:prstGeom>
          <a:noFill/>
        </p:spPr>
        <p:txBody>
          <a:bodyPr wrap="square">
            <a:spAutoFit/>
          </a:bodyPr>
          <a:lstStyle/>
          <a:p>
            <a:pPr algn="ctr"/>
            <a:r>
              <a:rPr sz="1250" b="0">
                <a:solidFill>
                  <a:srgbClr val="5E6B85"/>
                </a:solidFill>
                <a:latin typeface="Calibri"/>
              </a:rPr>
              <a:t>36-second reconstruction on the true route geometry — rim station, canyon folds, plains road</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4"/>
                </p:tgtEl>
              </p:cMediaNode>
            </p:video>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5486400" cy="365760"/>
          </a:xfrm>
          <a:prstGeom prst="rect">
            <a:avLst/>
          </a:prstGeom>
          <a:noFill/>
        </p:spPr>
        <p:txBody>
          <a:bodyPr wrap="square">
            <a:spAutoFit/>
          </a:bodyPr>
          <a:lstStyle/>
          <a:p>
            <a:pPr algn="l"/>
            <a:r>
              <a:rPr sz="1250" b="1">
                <a:solidFill>
                  <a:srgbClr val="E58E1A"/>
                </a:solidFill>
                <a:latin typeface="Calibri"/>
              </a:rPr>
              <a:t>PART II  ·  THE TEST</a:t>
            </a:r>
          </a:p>
        </p:txBody>
      </p:sp>
      <p:sp>
        <p:nvSpPr>
          <p:cNvPr id="3" name="TextBox 2"/>
          <p:cNvSpPr txBox="1"/>
          <p:nvPr/>
        </p:nvSpPr>
        <p:spPr>
          <a:xfrm>
            <a:off x="502920" y="457200"/>
            <a:ext cx="11185855" cy="777240"/>
          </a:xfrm>
          <a:prstGeom prst="rect">
            <a:avLst/>
          </a:prstGeom>
          <a:noFill/>
        </p:spPr>
        <p:txBody>
          <a:bodyPr wrap="square">
            <a:spAutoFit/>
          </a:bodyPr>
          <a:lstStyle/>
          <a:p>
            <a:pPr algn="l"/>
            <a:r>
              <a:rPr sz="3100" b="1">
                <a:solidFill>
                  <a:srgbClr val="16213D"/>
                </a:solidFill>
                <a:latin typeface="Cambria"/>
              </a:rPr>
              <a:t>Watch It Go Stale</a:t>
            </a:r>
          </a:p>
        </p:txBody>
      </p:sp>
      <p:pic>
        <p:nvPicPr>
          <p:cNvPr id="4" name="n1_goingstale.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2377440" y="1325880"/>
            <a:ext cx="2440990" cy="4343400"/>
          </a:xfrm>
          <a:prstGeom prst="rect">
            <a:avLst/>
          </a:prstGeom>
        </p:spPr>
      </p:pic>
      <p:pic>
        <p:nvPicPr>
          <p:cNvPr id="5" name="n2_deepest.mp4">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7"/>
          <a:stretch>
            <a:fillRect/>
          </a:stretch>
        </p:blipFill>
        <p:spPr>
          <a:xfrm>
            <a:off x="7223760" y="1325880"/>
            <a:ext cx="2440990" cy="4343400"/>
          </a:xfrm>
          <a:prstGeom prst="rect">
            <a:avLst/>
          </a:prstGeom>
        </p:spPr>
      </p:pic>
      <p:sp>
        <p:nvSpPr>
          <p:cNvPr id="6" name="TextBox 5"/>
          <p:cNvSpPr txBox="1"/>
          <p:nvPr/>
        </p:nvSpPr>
        <p:spPr>
          <a:xfrm>
            <a:off x="1188720" y="5788152"/>
            <a:ext cx="4846320" cy="548640"/>
          </a:xfrm>
          <a:prstGeom prst="rect">
            <a:avLst/>
          </a:prstGeom>
          <a:noFill/>
        </p:spPr>
        <p:txBody>
          <a:bodyPr wrap="square">
            <a:spAutoFit/>
          </a:bodyPr>
          <a:lstStyle/>
          <a:p>
            <a:pPr algn="ctr"/>
            <a:r>
              <a:rPr sz="1450" b="0">
                <a:solidFill>
                  <a:srgbClr val="5E6B85"/>
                </a:solidFill>
                <a:latin typeface="Calibri"/>
              </a:rPr>
              <a:t>On camera: age 1m → 2m, and the banner appears at 2.7 mi</a:t>
            </a:r>
          </a:p>
        </p:txBody>
      </p:sp>
      <p:sp>
        <p:nvSpPr>
          <p:cNvPr id="7" name="TextBox 6"/>
          <p:cNvSpPr txBox="1"/>
          <p:nvPr/>
        </p:nvSpPr>
        <p:spPr>
          <a:xfrm>
            <a:off x="6126480" y="5788152"/>
            <a:ext cx="4846320" cy="548640"/>
          </a:xfrm>
          <a:prstGeom prst="rect">
            <a:avLst/>
          </a:prstGeom>
          <a:noFill/>
        </p:spPr>
        <p:txBody>
          <a:bodyPr wrap="square">
            <a:spAutoFit/>
          </a:bodyPr>
          <a:lstStyle/>
          <a:p>
            <a:pPr algn="ctr"/>
            <a:r>
              <a:rPr sz="1450" b="0">
                <a:solidFill>
                  <a:srgbClr val="5E6B85"/>
                </a:solidFill>
                <a:latin typeface="Calibri"/>
              </a:rPr>
              <a:t>The deepest point: 4.46 mi, minutes of silence behind rock</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4"/>
                </p:tgtEl>
              </p:cMediaNode>
            </p:video>
            <p:video>
              <p:cMediaNode vol="80000">
                <p:cTn id="3" fill="hold" display="0">
                  <p:stCondLst>
                    <p:cond delay="indefinite"/>
                  </p:stCondLst>
                </p:cTn>
                <p:tgtEl>
                  <p:spTgt spid="5"/>
                </p:tgtEl>
              </p:cMediaNode>
            </p:video>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5486400" cy="365760"/>
          </a:xfrm>
          <a:prstGeom prst="rect">
            <a:avLst/>
          </a:prstGeom>
          <a:noFill/>
        </p:spPr>
        <p:txBody>
          <a:bodyPr wrap="square">
            <a:spAutoFit/>
          </a:bodyPr>
          <a:lstStyle/>
          <a:p>
            <a:pPr algn="l"/>
            <a:r>
              <a:rPr sz="1250" b="1">
                <a:solidFill>
                  <a:srgbClr val="E58E1A"/>
                </a:solidFill>
                <a:latin typeface="Calibri"/>
              </a:rPr>
              <a:t>PART II  ·  THE TEST</a:t>
            </a:r>
          </a:p>
        </p:txBody>
      </p:sp>
      <p:sp>
        <p:nvSpPr>
          <p:cNvPr id="3" name="TextBox 2"/>
          <p:cNvSpPr txBox="1"/>
          <p:nvPr/>
        </p:nvSpPr>
        <p:spPr>
          <a:xfrm>
            <a:off x="502920" y="457200"/>
            <a:ext cx="11185855" cy="777240"/>
          </a:xfrm>
          <a:prstGeom prst="rect">
            <a:avLst/>
          </a:prstGeom>
          <a:noFill/>
        </p:spPr>
        <p:txBody>
          <a:bodyPr wrap="square">
            <a:spAutoFit/>
          </a:bodyPr>
          <a:lstStyle/>
          <a:p>
            <a:pPr algn="l"/>
            <a:r>
              <a:rPr sz="3100" b="1">
                <a:solidFill>
                  <a:srgbClr val="16213D"/>
                </a:solidFill>
                <a:latin typeface="Cambria"/>
              </a:rPr>
              <a:t>The Key Finding: Intermittent, Not Binary</a:t>
            </a:r>
          </a:p>
        </p:txBody>
      </p:sp>
      <p:pic>
        <p:nvPicPr>
          <p:cNvPr id="4" name="Picture 3" descr="g_timeline.png"/>
          <p:cNvPicPr>
            <a:picLocks noChangeAspect="1"/>
          </p:cNvPicPr>
          <p:nvPr/>
        </p:nvPicPr>
        <p:blipFill>
          <a:blip r:embed="rId2"/>
          <a:stretch>
            <a:fillRect/>
          </a:stretch>
        </p:blipFill>
        <p:spPr>
          <a:xfrm>
            <a:off x="502920" y="1325880"/>
            <a:ext cx="7589520" cy="3794760"/>
          </a:xfrm>
          <a:prstGeom prst="rect">
            <a:avLst/>
          </a:prstGeom>
        </p:spPr>
      </p:pic>
      <p:pic>
        <p:nvPicPr>
          <p:cNvPr id="5" name="n3_gappacket.mp4">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8641080" y="1325880"/>
            <a:ext cx="2672242" cy="4754880"/>
          </a:xfrm>
          <a:prstGeom prst="rect">
            <a:avLst/>
          </a:prstGeom>
        </p:spPr>
      </p:pic>
      <p:sp>
        <p:nvSpPr>
          <p:cNvPr id="6" name="TextBox 5"/>
          <p:cNvSpPr txBox="1"/>
          <p:nvPr/>
        </p:nvSpPr>
        <p:spPr>
          <a:xfrm>
            <a:off x="8321040" y="6172200"/>
            <a:ext cx="3566160" cy="548640"/>
          </a:xfrm>
          <a:prstGeom prst="rect">
            <a:avLst/>
          </a:prstGeom>
          <a:noFill/>
        </p:spPr>
        <p:txBody>
          <a:bodyPr wrap="square">
            <a:spAutoFit/>
          </a:bodyPr>
          <a:lstStyle/>
          <a:p>
            <a:pPr algn="l"/>
            <a:r>
              <a:rPr sz="1250" b="0">
                <a:solidFill>
                  <a:srgbClr val="5E6B85"/>
                </a:solidFill>
                <a:latin typeface="Calibri"/>
              </a:rPr>
              <a:t>4.23 mi: age resets to 1m — one packet through a terrain gap</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5"/>
                </p:tgtEl>
              </p:cMediaNode>
            </p:video>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5486400" cy="365760"/>
          </a:xfrm>
          <a:prstGeom prst="rect">
            <a:avLst/>
          </a:prstGeom>
          <a:noFill/>
        </p:spPr>
        <p:txBody>
          <a:bodyPr wrap="square">
            <a:spAutoFit/>
          </a:bodyPr>
          <a:lstStyle/>
          <a:p>
            <a:pPr algn="l"/>
            <a:r>
              <a:rPr sz="1250" b="1">
                <a:solidFill>
                  <a:srgbClr val="E58E1A"/>
                </a:solidFill>
                <a:latin typeface="Calibri"/>
              </a:rPr>
              <a:t>PART II  ·  THE TEST</a:t>
            </a:r>
          </a:p>
        </p:txBody>
      </p:sp>
      <p:sp>
        <p:nvSpPr>
          <p:cNvPr id="3" name="TextBox 2"/>
          <p:cNvSpPr txBox="1"/>
          <p:nvPr/>
        </p:nvSpPr>
        <p:spPr>
          <a:xfrm>
            <a:off x="502920" y="457200"/>
            <a:ext cx="11185855" cy="777240"/>
          </a:xfrm>
          <a:prstGeom prst="rect">
            <a:avLst/>
          </a:prstGeom>
          <a:noFill/>
        </p:spPr>
        <p:txBody>
          <a:bodyPr wrap="square">
            <a:spAutoFit/>
          </a:bodyPr>
          <a:lstStyle/>
          <a:p>
            <a:pPr algn="l"/>
            <a:r>
              <a:rPr sz="3100" b="1">
                <a:solidFill>
                  <a:srgbClr val="16213D"/>
                </a:solidFill>
                <a:latin typeface="Cambria"/>
              </a:rPr>
              <a:t>The Return: Seven Minutes of Silence, Healed by One Packet</a:t>
            </a:r>
          </a:p>
        </p:txBody>
      </p:sp>
      <p:pic>
        <p:nvPicPr>
          <p:cNvPr id="4" name="n4_recovery.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2377440" y="1325880"/>
            <a:ext cx="2440990" cy="4343400"/>
          </a:xfrm>
          <a:prstGeom prst="rect">
            <a:avLst/>
          </a:prstGeom>
        </p:spPr>
      </p:pic>
      <p:pic>
        <p:nvPicPr>
          <p:cNvPr id="5" name="n5_approach.mp4">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7"/>
          <a:stretch>
            <a:fillRect/>
          </a:stretch>
        </p:blipFill>
        <p:spPr>
          <a:xfrm>
            <a:off x="7223760" y="1325880"/>
            <a:ext cx="2440990" cy="4343400"/>
          </a:xfrm>
          <a:prstGeom prst="rect">
            <a:avLst/>
          </a:prstGeom>
        </p:spPr>
      </p:pic>
      <p:sp>
        <p:nvSpPr>
          <p:cNvPr id="6" name="TextBox 5"/>
          <p:cNvSpPr txBox="1"/>
          <p:nvPr/>
        </p:nvSpPr>
        <p:spPr>
          <a:xfrm>
            <a:off x="1188720" y="5788152"/>
            <a:ext cx="4846320" cy="548640"/>
          </a:xfrm>
          <a:prstGeom prst="rect">
            <a:avLst/>
          </a:prstGeom>
          <a:noFill/>
        </p:spPr>
        <p:txBody>
          <a:bodyPr wrap="square">
            <a:spAutoFit/>
          </a:bodyPr>
          <a:lstStyle/>
          <a:p>
            <a:pPr algn="ctr"/>
            <a:r>
              <a:rPr sz="1450" b="0">
                <a:solidFill>
                  <a:srgbClr val="5E6B85"/>
                </a:solidFill>
                <a:latin typeface="Calibri"/>
              </a:rPr>
              <a:t>Live: age 7m, then ONE packet — age 15 s. Nobody touched anything</a:t>
            </a:r>
          </a:p>
        </p:txBody>
      </p:sp>
      <p:sp>
        <p:nvSpPr>
          <p:cNvPr id="7" name="TextBox 6"/>
          <p:cNvSpPr txBox="1"/>
          <p:nvPr/>
        </p:nvSpPr>
        <p:spPr>
          <a:xfrm>
            <a:off x="6126480" y="5788152"/>
            <a:ext cx="4846320" cy="548640"/>
          </a:xfrm>
          <a:prstGeom prst="rect">
            <a:avLst/>
          </a:prstGeom>
          <a:noFill/>
        </p:spPr>
        <p:txBody>
          <a:bodyPr wrap="square">
            <a:spAutoFit/>
          </a:bodyPr>
          <a:lstStyle/>
          <a:p>
            <a:pPr algn="ctr"/>
            <a:r>
              <a:rPr sz="1450" b="0">
                <a:solidFill>
                  <a:srgbClr val="5E6B85"/>
                </a:solidFill>
                <a:latin typeface="Calibri"/>
              </a:rPr>
              <a:t>Guided by last-known direction, back to the rim: 0.35 mi and closing</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4"/>
                </p:tgtEl>
              </p:cMediaNode>
            </p:video>
            <p:video>
              <p:cMediaNode vol="80000">
                <p:cTn id="3" fill="hold" display="0">
                  <p:stCondLst>
                    <p:cond delay="indefinite"/>
                  </p:stCondLst>
                </p:cTn>
                <p:tgtEl>
                  <p:spTgt spid="5"/>
                </p:tgtEl>
              </p:cMediaNode>
            </p:video>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5486400" cy="365760"/>
          </a:xfrm>
          <a:prstGeom prst="rect">
            <a:avLst/>
          </a:prstGeom>
          <a:noFill/>
        </p:spPr>
        <p:txBody>
          <a:bodyPr wrap="square">
            <a:spAutoFit/>
          </a:bodyPr>
          <a:lstStyle/>
          <a:p>
            <a:pPr algn="l"/>
            <a:r>
              <a:rPr sz="1250" b="1">
                <a:solidFill>
                  <a:srgbClr val="E58E1A"/>
                </a:solidFill>
                <a:latin typeface="Calibri"/>
              </a:rPr>
              <a:t>PART III  ·  WHAT IT MEANS</a:t>
            </a:r>
          </a:p>
        </p:txBody>
      </p:sp>
      <p:sp>
        <p:nvSpPr>
          <p:cNvPr id="3" name="TextBox 2"/>
          <p:cNvSpPr txBox="1"/>
          <p:nvPr/>
        </p:nvSpPr>
        <p:spPr>
          <a:xfrm>
            <a:off x="502920" y="457200"/>
            <a:ext cx="11185855" cy="777240"/>
          </a:xfrm>
          <a:prstGeom prst="rect">
            <a:avLst/>
          </a:prstGeom>
          <a:noFill/>
        </p:spPr>
        <p:txBody>
          <a:bodyPr wrap="square">
            <a:spAutoFit/>
          </a:bodyPr>
          <a:lstStyle/>
          <a:p>
            <a:pPr algn="l"/>
            <a:r>
              <a:rPr sz="3100" b="1">
                <a:solidFill>
                  <a:srgbClr val="16213D"/>
                </a:solidFill>
                <a:latin typeface="Cambria"/>
              </a:rPr>
              <a:t>Numbers Worth Remembering</a:t>
            </a:r>
          </a:p>
        </p:txBody>
      </p:sp>
      <p:sp>
        <p:nvSpPr>
          <p:cNvPr id="4" name="Rounded Rectangle 3"/>
          <p:cNvSpPr/>
          <p:nvPr/>
        </p:nvSpPr>
        <p:spPr>
          <a:xfrm>
            <a:off x="502920" y="1371600"/>
            <a:ext cx="3337560" cy="2240280"/>
          </a:xfrm>
          <a:prstGeom prst="roundRect">
            <a:avLst/>
          </a:prstGeom>
          <a:solidFill>
            <a:srgbClr val="F4F6FA"/>
          </a:solidFill>
          <a:ln w="15875">
            <a:solidFill>
              <a:srgbClr val="162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572768"/>
            <a:ext cx="3337560" cy="914400"/>
          </a:xfrm>
          <a:prstGeom prst="rect">
            <a:avLst/>
          </a:prstGeom>
          <a:noFill/>
        </p:spPr>
        <p:txBody>
          <a:bodyPr wrap="square">
            <a:spAutoFit/>
          </a:bodyPr>
          <a:lstStyle/>
          <a:p>
            <a:pPr algn="ctr"/>
            <a:r>
              <a:rPr sz="3800" b="1">
                <a:solidFill>
                  <a:srgbClr val="E58E1A"/>
                </a:solidFill>
                <a:latin typeface="Cambria"/>
              </a:rPr>
              <a:t>17.5 dB</a:t>
            </a:r>
          </a:p>
        </p:txBody>
      </p:sp>
      <p:sp>
        <p:nvSpPr>
          <p:cNvPr id="6" name="TextBox 5"/>
          <p:cNvSpPr txBox="1"/>
          <p:nvPr/>
        </p:nvSpPr>
        <p:spPr>
          <a:xfrm>
            <a:off x="731520" y="2450591"/>
            <a:ext cx="2880360" cy="1051560"/>
          </a:xfrm>
          <a:prstGeom prst="rect">
            <a:avLst/>
          </a:prstGeom>
          <a:noFill/>
        </p:spPr>
        <p:txBody>
          <a:bodyPr wrap="square">
            <a:spAutoFit/>
          </a:bodyPr>
          <a:lstStyle/>
          <a:p>
            <a:pPr algn="ctr"/>
            <a:r>
              <a:rPr sz="1250" b="0">
                <a:solidFill>
                  <a:srgbClr val="2B313D"/>
                </a:solidFill>
                <a:latin typeface="Calibri"/>
              </a:rPr>
              <a:t>below the noise floor and still decoding — a whisper under a jet engine</a:t>
            </a:r>
          </a:p>
        </p:txBody>
      </p:sp>
      <p:sp>
        <p:nvSpPr>
          <p:cNvPr id="7" name="Rounded Rectangle 6"/>
          <p:cNvSpPr/>
          <p:nvPr/>
        </p:nvSpPr>
        <p:spPr>
          <a:xfrm>
            <a:off x="4434840" y="1371600"/>
            <a:ext cx="3337560" cy="2240280"/>
          </a:xfrm>
          <a:prstGeom prst="roundRect">
            <a:avLst/>
          </a:prstGeom>
          <a:solidFill>
            <a:srgbClr val="F4F6FA"/>
          </a:solidFill>
          <a:ln w="15875">
            <a:solidFill>
              <a:srgbClr val="162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34840" y="1572768"/>
            <a:ext cx="3337560" cy="914400"/>
          </a:xfrm>
          <a:prstGeom prst="rect">
            <a:avLst/>
          </a:prstGeom>
          <a:noFill/>
        </p:spPr>
        <p:txBody>
          <a:bodyPr wrap="square">
            <a:spAutoFit/>
          </a:bodyPr>
          <a:lstStyle/>
          <a:p>
            <a:pPr algn="ctr"/>
            <a:r>
              <a:rPr sz="3800" b="1">
                <a:solidFill>
                  <a:srgbClr val="E58E1A"/>
                </a:solidFill>
                <a:latin typeface="Cambria"/>
              </a:rPr>
              <a:t>2,048</a:t>
            </a:r>
          </a:p>
        </p:txBody>
      </p:sp>
      <p:sp>
        <p:nvSpPr>
          <p:cNvPr id="9" name="TextBox 8"/>
          <p:cNvSpPr txBox="1"/>
          <p:nvPr/>
        </p:nvSpPr>
        <p:spPr>
          <a:xfrm>
            <a:off x="4663440" y="2450591"/>
            <a:ext cx="2880360" cy="1051560"/>
          </a:xfrm>
          <a:prstGeom prst="rect">
            <a:avLst/>
          </a:prstGeom>
          <a:noFill/>
        </p:spPr>
        <p:txBody>
          <a:bodyPr wrap="square">
            <a:spAutoFit/>
          </a:bodyPr>
          <a:lstStyle/>
          <a:p>
            <a:pPr algn="ctr"/>
            <a:r>
              <a:rPr sz="1250" b="0">
                <a:solidFill>
                  <a:srgbClr val="2B313D"/>
                </a:solidFill>
                <a:latin typeface="Calibri"/>
              </a:rPr>
              <a:t>chips per symbol: the spread-spectrum trade that buys the margin</a:t>
            </a:r>
          </a:p>
        </p:txBody>
      </p:sp>
      <p:sp>
        <p:nvSpPr>
          <p:cNvPr id="10" name="Rounded Rectangle 9"/>
          <p:cNvSpPr/>
          <p:nvPr/>
        </p:nvSpPr>
        <p:spPr>
          <a:xfrm>
            <a:off x="8366760" y="1371600"/>
            <a:ext cx="3337560" cy="2240280"/>
          </a:xfrm>
          <a:prstGeom prst="roundRect">
            <a:avLst/>
          </a:prstGeom>
          <a:solidFill>
            <a:srgbClr val="F4F6FA"/>
          </a:solidFill>
          <a:ln w="15875">
            <a:solidFill>
              <a:srgbClr val="162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66760" y="1572768"/>
            <a:ext cx="3337560" cy="914400"/>
          </a:xfrm>
          <a:prstGeom prst="rect">
            <a:avLst/>
          </a:prstGeom>
          <a:noFill/>
        </p:spPr>
        <p:txBody>
          <a:bodyPr wrap="square">
            <a:spAutoFit/>
          </a:bodyPr>
          <a:lstStyle/>
          <a:p>
            <a:pPr algn="ctr"/>
            <a:r>
              <a:rPr sz="3800" b="1">
                <a:solidFill>
                  <a:srgbClr val="E58E1A"/>
                </a:solidFill>
                <a:latin typeface="Cambria"/>
              </a:rPr>
              <a:t>0.56 s</a:t>
            </a:r>
          </a:p>
        </p:txBody>
      </p:sp>
      <p:sp>
        <p:nvSpPr>
          <p:cNvPr id="12" name="TextBox 11"/>
          <p:cNvSpPr txBox="1"/>
          <p:nvPr/>
        </p:nvSpPr>
        <p:spPr>
          <a:xfrm>
            <a:off x="8595360" y="2450591"/>
            <a:ext cx="2880360" cy="1051560"/>
          </a:xfrm>
          <a:prstGeom prst="rect">
            <a:avLst/>
          </a:prstGeom>
          <a:noFill/>
        </p:spPr>
        <p:txBody>
          <a:bodyPr wrap="square">
            <a:spAutoFit/>
          </a:bodyPr>
          <a:lstStyle/>
          <a:p>
            <a:pPr algn="ctr"/>
            <a:r>
              <a:rPr sz="1250" b="0">
                <a:solidFill>
                  <a:srgbClr val="2B313D"/>
                </a:solidFill>
                <a:latin typeface="Calibri"/>
              </a:rPr>
              <a:t>of airtime per position — the currency every packet spends</a:t>
            </a:r>
          </a:p>
        </p:txBody>
      </p:sp>
      <p:sp>
        <p:nvSpPr>
          <p:cNvPr id="13" name="Rounded Rectangle 12"/>
          <p:cNvSpPr/>
          <p:nvPr/>
        </p:nvSpPr>
        <p:spPr>
          <a:xfrm>
            <a:off x="502920" y="3931920"/>
            <a:ext cx="3337560" cy="2240280"/>
          </a:xfrm>
          <a:prstGeom prst="roundRect">
            <a:avLst/>
          </a:prstGeom>
          <a:solidFill>
            <a:srgbClr val="F4F6FA"/>
          </a:solidFill>
          <a:ln w="15875">
            <a:solidFill>
              <a:srgbClr val="162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4133087"/>
            <a:ext cx="3337560" cy="914400"/>
          </a:xfrm>
          <a:prstGeom prst="rect">
            <a:avLst/>
          </a:prstGeom>
          <a:noFill/>
        </p:spPr>
        <p:txBody>
          <a:bodyPr wrap="square">
            <a:spAutoFit/>
          </a:bodyPr>
          <a:lstStyle/>
          <a:p>
            <a:pPr algn="ctr"/>
            <a:r>
              <a:rPr sz="3800" b="1">
                <a:solidFill>
                  <a:srgbClr val="E58E1A"/>
                </a:solidFill>
                <a:latin typeface="Cambria"/>
              </a:rPr>
              <a:t>13 bit/s</a:t>
            </a:r>
          </a:p>
        </p:txBody>
      </p:sp>
      <p:sp>
        <p:nvSpPr>
          <p:cNvPr id="15" name="TextBox 14"/>
          <p:cNvSpPr txBox="1"/>
          <p:nvPr/>
        </p:nvSpPr>
        <p:spPr>
          <a:xfrm>
            <a:off x="731520" y="5010912"/>
            <a:ext cx="2880360" cy="1051560"/>
          </a:xfrm>
          <a:prstGeom prst="rect">
            <a:avLst/>
          </a:prstGeom>
          <a:noFill/>
        </p:spPr>
        <p:txBody>
          <a:bodyPr wrap="square">
            <a:spAutoFit/>
          </a:bodyPr>
          <a:lstStyle/>
          <a:p>
            <a:pPr algn="ctr"/>
            <a:r>
              <a:rPr sz="1250" b="0">
                <a:solidFill>
                  <a:srgbClr val="2B313D"/>
                </a:solidFill>
                <a:latin typeface="Calibri"/>
              </a:rPr>
              <a:t>of useful data. Slower than a 1950s teletype — capacity traded for range, on purpose</a:t>
            </a:r>
          </a:p>
        </p:txBody>
      </p:sp>
      <p:sp>
        <p:nvSpPr>
          <p:cNvPr id="16" name="Rounded Rectangle 15"/>
          <p:cNvSpPr/>
          <p:nvPr/>
        </p:nvSpPr>
        <p:spPr>
          <a:xfrm>
            <a:off x="4434840" y="3931920"/>
            <a:ext cx="3337560" cy="2240280"/>
          </a:xfrm>
          <a:prstGeom prst="roundRect">
            <a:avLst/>
          </a:prstGeom>
          <a:solidFill>
            <a:srgbClr val="F4F6FA"/>
          </a:solidFill>
          <a:ln w="15875">
            <a:solidFill>
              <a:srgbClr val="162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34840" y="4133087"/>
            <a:ext cx="3337560" cy="914400"/>
          </a:xfrm>
          <a:prstGeom prst="rect">
            <a:avLst/>
          </a:prstGeom>
          <a:noFill/>
        </p:spPr>
        <p:txBody>
          <a:bodyPr wrap="square">
            <a:spAutoFit/>
          </a:bodyPr>
          <a:lstStyle/>
          <a:p>
            <a:pPr algn="ctr"/>
            <a:r>
              <a:rPr sz="3800" b="1">
                <a:solidFill>
                  <a:srgbClr val="E58E1A"/>
                </a:solidFill>
                <a:latin typeface="Cambria"/>
              </a:rPr>
              <a:t>7 min</a:t>
            </a:r>
          </a:p>
        </p:txBody>
      </p:sp>
      <p:sp>
        <p:nvSpPr>
          <p:cNvPr id="18" name="TextBox 17"/>
          <p:cNvSpPr txBox="1"/>
          <p:nvPr/>
        </p:nvSpPr>
        <p:spPr>
          <a:xfrm>
            <a:off x="4663440" y="5010912"/>
            <a:ext cx="2880360" cy="1051560"/>
          </a:xfrm>
          <a:prstGeom prst="rect">
            <a:avLst/>
          </a:prstGeom>
          <a:noFill/>
        </p:spPr>
        <p:txBody>
          <a:bodyPr wrap="square">
            <a:spAutoFit/>
          </a:bodyPr>
          <a:lstStyle/>
          <a:p>
            <a:pPr algn="ctr"/>
            <a:r>
              <a:rPr sz="1250" b="0">
                <a:solidFill>
                  <a:srgbClr val="2B313D"/>
                </a:solidFill>
                <a:latin typeface="Calibri"/>
              </a:rPr>
              <a:t>longest silence of the test. Healed by a single packet, no buttons</a:t>
            </a:r>
          </a:p>
        </p:txBody>
      </p:sp>
      <p:sp>
        <p:nvSpPr>
          <p:cNvPr id="19" name="Rounded Rectangle 18"/>
          <p:cNvSpPr/>
          <p:nvPr/>
        </p:nvSpPr>
        <p:spPr>
          <a:xfrm>
            <a:off x="8366760" y="3931920"/>
            <a:ext cx="3337560" cy="2240280"/>
          </a:xfrm>
          <a:prstGeom prst="roundRect">
            <a:avLst/>
          </a:prstGeom>
          <a:solidFill>
            <a:srgbClr val="F4F6FA"/>
          </a:solidFill>
          <a:ln w="15875">
            <a:solidFill>
              <a:srgbClr val="162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66760" y="4133087"/>
            <a:ext cx="3337560" cy="914400"/>
          </a:xfrm>
          <a:prstGeom prst="rect">
            <a:avLst/>
          </a:prstGeom>
          <a:noFill/>
        </p:spPr>
        <p:txBody>
          <a:bodyPr wrap="square">
            <a:spAutoFit/>
          </a:bodyPr>
          <a:lstStyle/>
          <a:p>
            <a:pPr algn="ctr"/>
            <a:r>
              <a:rPr sz="3800" b="1">
                <a:solidFill>
                  <a:srgbClr val="E58E1A"/>
                </a:solidFill>
                <a:latin typeface="Cambria"/>
              </a:rPr>
              <a:t>0.5–4.7 mi</a:t>
            </a:r>
          </a:p>
        </p:txBody>
      </p:sp>
      <p:sp>
        <p:nvSpPr>
          <p:cNvPr id="21" name="TextBox 20"/>
          <p:cNvSpPr txBox="1"/>
          <p:nvPr/>
        </p:nvSpPr>
        <p:spPr>
          <a:xfrm>
            <a:off x="8595360" y="5010912"/>
            <a:ext cx="2880360" cy="1051560"/>
          </a:xfrm>
          <a:prstGeom prst="rect">
            <a:avLst/>
          </a:prstGeom>
          <a:noFill/>
        </p:spPr>
        <p:txBody>
          <a:bodyPr wrap="square">
            <a:spAutoFit/>
          </a:bodyPr>
          <a:lstStyle/>
          <a:p>
            <a:pPr algn="ctr"/>
            <a:r>
              <a:rPr sz="1250" b="0">
                <a:solidFill>
                  <a:srgbClr val="2B313D"/>
                </a:solidFill>
                <a:latin typeface="Calibri"/>
              </a:rPr>
              <a:t>the measured envelope: terrain and antenna height set it, not the radios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5486400" cy="365760"/>
          </a:xfrm>
          <a:prstGeom prst="rect">
            <a:avLst/>
          </a:prstGeom>
          <a:noFill/>
        </p:spPr>
        <p:txBody>
          <a:bodyPr wrap="square">
            <a:spAutoFit/>
          </a:bodyPr>
          <a:lstStyle/>
          <a:p>
            <a:pPr algn="l"/>
            <a:r>
              <a:rPr sz="1250" b="1">
                <a:solidFill>
                  <a:srgbClr val="E58E1A"/>
                </a:solidFill>
                <a:latin typeface="Calibri"/>
              </a:rPr>
              <a:t>PART III  ·  WHAT IT MEANS</a:t>
            </a:r>
          </a:p>
        </p:txBody>
      </p:sp>
      <p:sp>
        <p:nvSpPr>
          <p:cNvPr id="3" name="TextBox 2"/>
          <p:cNvSpPr txBox="1"/>
          <p:nvPr/>
        </p:nvSpPr>
        <p:spPr>
          <a:xfrm>
            <a:off x="502920" y="457200"/>
            <a:ext cx="11185855" cy="777240"/>
          </a:xfrm>
          <a:prstGeom prst="rect">
            <a:avLst/>
          </a:prstGeom>
          <a:noFill/>
        </p:spPr>
        <p:txBody>
          <a:bodyPr wrap="square">
            <a:spAutoFit/>
          </a:bodyPr>
          <a:lstStyle/>
          <a:p>
            <a:pPr algn="l"/>
            <a:r>
              <a:rPr sz="3100" b="1">
                <a:solidFill>
                  <a:srgbClr val="16213D"/>
                </a:solidFill>
                <a:latin typeface="Cambria"/>
              </a:rPr>
              <a:t>Four Geometries, One Lesson</a:t>
            </a:r>
          </a:p>
        </p:txBody>
      </p:sp>
      <p:pic>
        <p:nvPicPr>
          <p:cNvPr id="4" name="Picture 3" descr="g_onset4.png"/>
          <p:cNvPicPr>
            <a:picLocks noChangeAspect="1"/>
          </p:cNvPicPr>
          <p:nvPr/>
        </p:nvPicPr>
        <p:blipFill>
          <a:blip r:embed="rId2"/>
          <a:stretch>
            <a:fillRect/>
          </a:stretch>
        </p:blipFill>
        <p:spPr>
          <a:xfrm>
            <a:off x="1463040" y="1417320"/>
            <a:ext cx="9235440" cy="4136707"/>
          </a:xfrm>
          <a:prstGeom prst="rect">
            <a:avLst/>
          </a:prstGeom>
        </p:spPr>
      </p:pic>
      <p:sp>
        <p:nvSpPr>
          <p:cNvPr id="5" name="TextBox 4"/>
          <p:cNvSpPr txBox="1"/>
          <p:nvPr/>
        </p:nvSpPr>
        <p:spPr>
          <a:xfrm>
            <a:off x="502920" y="6035040"/>
            <a:ext cx="11155680" cy="548640"/>
          </a:xfrm>
          <a:prstGeom prst="rect">
            <a:avLst/>
          </a:prstGeom>
          <a:noFill/>
        </p:spPr>
        <p:txBody>
          <a:bodyPr wrap="square">
            <a:spAutoFit/>
          </a:bodyPr>
          <a:lstStyle/>
          <a:p>
            <a:pPr algn="ctr"/>
            <a:r>
              <a:rPr sz="1500" b="0">
                <a:solidFill>
                  <a:srgbClr val="5E6B85"/>
                </a:solidFill>
                <a:latin typeface="Calibri"/>
              </a:rPr>
              <a:t>Line of sight sets the range; elevation extends it. One parking spot on the rim beat the flat-ground edge by a mile.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5486400" cy="365760"/>
          </a:xfrm>
          <a:prstGeom prst="rect">
            <a:avLst/>
          </a:prstGeom>
          <a:noFill/>
        </p:spPr>
        <p:txBody>
          <a:bodyPr wrap="square">
            <a:spAutoFit/>
          </a:bodyPr>
          <a:lstStyle/>
          <a:p>
            <a:pPr algn="l"/>
            <a:r>
              <a:rPr sz="1250" b="1">
                <a:solidFill>
                  <a:srgbClr val="E58E1A"/>
                </a:solidFill>
                <a:latin typeface="Calibri"/>
              </a:rPr>
              <a:t>PART III  ·  WHAT IT MEANS</a:t>
            </a:r>
          </a:p>
        </p:txBody>
      </p:sp>
      <p:sp>
        <p:nvSpPr>
          <p:cNvPr id="3" name="TextBox 2"/>
          <p:cNvSpPr txBox="1"/>
          <p:nvPr/>
        </p:nvSpPr>
        <p:spPr>
          <a:xfrm>
            <a:off x="502920" y="457200"/>
            <a:ext cx="11185855" cy="777240"/>
          </a:xfrm>
          <a:prstGeom prst="rect">
            <a:avLst/>
          </a:prstGeom>
          <a:noFill/>
        </p:spPr>
        <p:txBody>
          <a:bodyPr wrap="square">
            <a:spAutoFit/>
          </a:bodyPr>
          <a:lstStyle/>
          <a:p>
            <a:pPr algn="l"/>
            <a:r>
              <a:rPr sz="3100" b="1">
                <a:solidFill>
                  <a:srgbClr val="16213D"/>
                </a:solidFill>
                <a:latin typeface="Cambria"/>
              </a:rPr>
              <a:t>Two Campaigns, Side by Side</a:t>
            </a:r>
          </a:p>
        </p:txBody>
      </p:sp>
      <p:pic>
        <p:nvPicPr>
          <p:cNvPr id="4" name="Picture 3" descr="g_compare.png"/>
          <p:cNvPicPr>
            <a:picLocks noChangeAspect="1"/>
          </p:cNvPicPr>
          <p:nvPr/>
        </p:nvPicPr>
        <p:blipFill>
          <a:blip r:embed="rId2"/>
          <a:stretch>
            <a:fillRect/>
          </a:stretch>
        </p:blipFill>
        <p:spPr>
          <a:xfrm>
            <a:off x="1188720" y="1371600"/>
            <a:ext cx="9784080" cy="4061316"/>
          </a:xfrm>
          <a:prstGeom prst="rect">
            <a:avLst/>
          </a:prstGeom>
        </p:spPr>
      </p:pic>
      <p:sp>
        <p:nvSpPr>
          <p:cNvPr id="5" name="TextBox 4"/>
          <p:cNvSpPr txBox="1"/>
          <p:nvPr/>
        </p:nvSpPr>
        <p:spPr>
          <a:xfrm>
            <a:off x="502920" y="6035040"/>
            <a:ext cx="11155680" cy="548640"/>
          </a:xfrm>
          <a:prstGeom prst="rect">
            <a:avLst/>
          </a:prstGeom>
          <a:noFill/>
        </p:spPr>
        <p:txBody>
          <a:bodyPr wrap="square">
            <a:spAutoFit/>
          </a:bodyPr>
          <a:lstStyle/>
          <a:p>
            <a:pPr algn="ctr"/>
            <a:r>
              <a:rPr sz="1500" b="0">
                <a:solidFill>
                  <a:srgbClr val="5E6B85"/>
                </a:solidFill>
                <a:latin typeface="Calibri"/>
              </a:rPr>
              <a:t>The canyon trades early staleness and long silences for a HIGHER line-of-sight ceiling — geometry gives and takes at once.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5486400" cy="365760"/>
          </a:xfrm>
          <a:prstGeom prst="rect">
            <a:avLst/>
          </a:prstGeom>
          <a:noFill/>
        </p:spPr>
        <p:txBody>
          <a:bodyPr wrap="square">
            <a:spAutoFit/>
          </a:bodyPr>
          <a:lstStyle/>
          <a:p>
            <a:pPr algn="l"/>
            <a:r>
              <a:rPr sz="1250" b="1">
                <a:solidFill>
                  <a:srgbClr val="E58E1A"/>
                </a:solidFill>
                <a:latin typeface="Calibri"/>
              </a:rPr>
              <a:t>PART III  ·  WHAT IT MEANS</a:t>
            </a:r>
          </a:p>
        </p:txBody>
      </p:sp>
      <p:sp>
        <p:nvSpPr>
          <p:cNvPr id="3" name="TextBox 2"/>
          <p:cNvSpPr txBox="1"/>
          <p:nvPr/>
        </p:nvSpPr>
        <p:spPr>
          <a:xfrm>
            <a:off x="502920" y="457200"/>
            <a:ext cx="11185855" cy="777240"/>
          </a:xfrm>
          <a:prstGeom prst="rect">
            <a:avLst/>
          </a:prstGeom>
          <a:noFill/>
        </p:spPr>
        <p:txBody>
          <a:bodyPr wrap="square">
            <a:spAutoFit/>
          </a:bodyPr>
          <a:lstStyle/>
          <a:p>
            <a:pPr algn="l"/>
            <a:r>
              <a:rPr sz="3100" b="1">
                <a:solidFill>
                  <a:srgbClr val="16213D"/>
                </a:solidFill>
                <a:latin typeface="Cambria"/>
              </a:rPr>
              <a:t>The Post-Test Audit: It Was Terrain, Not Hardware</a:t>
            </a:r>
          </a:p>
        </p:txBody>
      </p:sp>
      <p:pic>
        <p:nvPicPr>
          <p:cNvPr id="4" name="Picture 3" descr="g_radios.png"/>
          <p:cNvPicPr>
            <a:picLocks noChangeAspect="1"/>
          </p:cNvPicPr>
          <p:nvPr/>
        </p:nvPicPr>
        <p:blipFill>
          <a:blip r:embed="rId2"/>
          <a:stretch>
            <a:fillRect/>
          </a:stretch>
        </p:blipFill>
        <p:spPr>
          <a:xfrm>
            <a:off x="868680" y="1371600"/>
            <a:ext cx="10424160" cy="4309989"/>
          </a:xfrm>
          <a:prstGeom prst="rect">
            <a:avLst/>
          </a:prstGeom>
        </p:spPr>
      </p:pic>
      <p:sp>
        <p:nvSpPr>
          <p:cNvPr id="5" name="TextBox 4"/>
          <p:cNvSpPr txBox="1"/>
          <p:nvPr/>
        </p:nvSpPr>
        <p:spPr>
          <a:xfrm>
            <a:off x="502920" y="6035040"/>
            <a:ext cx="11155680" cy="548640"/>
          </a:xfrm>
          <a:prstGeom prst="rect">
            <a:avLst/>
          </a:prstGeom>
          <a:noFill/>
        </p:spPr>
        <p:txBody>
          <a:bodyPr wrap="square">
            <a:spAutoFit/>
          </a:bodyPr>
          <a:lstStyle/>
          <a:p>
            <a:pPr algn="ctr"/>
            <a:r>
              <a:rPr sz="1500" b="0">
                <a:solidFill>
                  <a:srgbClr val="5E6B85"/>
                </a:solidFill>
                <a:latin typeface="Calibri"/>
              </a:rPr>
              <a:t>Every setting verified on both radios after the run; 23.75 dB of margin in hand. LoRa fails as a cliff, not a fade — perfect until the instant it is gone.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5486400" cy="365760"/>
          </a:xfrm>
          <a:prstGeom prst="rect">
            <a:avLst/>
          </a:prstGeom>
          <a:noFill/>
        </p:spPr>
        <p:txBody>
          <a:bodyPr wrap="square">
            <a:spAutoFit/>
          </a:bodyPr>
          <a:lstStyle/>
          <a:p>
            <a:pPr algn="l"/>
            <a:r>
              <a:rPr sz="1250" b="1">
                <a:solidFill>
                  <a:srgbClr val="E58E1A"/>
                </a:solidFill>
                <a:latin typeface="Calibri"/>
              </a:rPr>
              <a:t>PART III  ·  WHAT IT MEANS</a:t>
            </a:r>
          </a:p>
        </p:txBody>
      </p:sp>
      <p:sp>
        <p:nvSpPr>
          <p:cNvPr id="3" name="TextBox 2"/>
          <p:cNvSpPr txBox="1"/>
          <p:nvPr/>
        </p:nvSpPr>
        <p:spPr>
          <a:xfrm>
            <a:off x="502920" y="457200"/>
            <a:ext cx="11185855" cy="777240"/>
          </a:xfrm>
          <a:prstGeom prst="rect">
            <a:avLst/>
          </a:prstGeom>
          <a:noFill/>
        </p:spPr>
        <p:txBody>
          <a:bodyPr wrap="square">
            <a:spAutoFit/>
          </a:bodyPr>
          <a:lstStyle/>
          <a:p>
            <a:pPr algn="l"/>
            <a:r>
              <a:rPr sz="3100" b="1">
                <a:solidFill>
                  <a:srgbClr val="16213D"/>
                </a:solidFill>
                <a:latin typeface="Cambria"/>
              </a:rPr>
              <a:t>What Fixes It: Change the Geometry</a:t>
            </a:r>
          </a:p>
        </p:txBody>
      </p:sp>
      <p:sp>
        <p:nvSpPr>
          <p:cNvPr id="4" name="Rounded Rectangle 3"/>
          <p:cNvSpPr/>
          <p:nvPr/>
        </p:nvSpPr>
        <p:spPr>
          <a:xfrm>
            <a:off x="365760" y="1371600"/>
            <a:ext cx="3703320" cy="2286000"/>
          </a:xfrm>
          <a:prstGeom prst="roundRect">
            <a:avLst/>
          </a:prstGeom>
          <a:solidFill>
            <a:srgbClr val="F4F6FA"/>
          </a:solidFill>
          <a:ln w="19050">
            <a:solidFill>
              <a:srgbClr val="E58E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30352" y="1490472"/>
            <a:ext cx="3374136" cy="2048256"/>
          </a:xfrm>
          <a:prstGeom prst="rect">
            <a:avLst/>
          </a:prstGeom>
          <a:noFill/>
        </p:spPr>
        <p:txBody>
          <a:bodyPr wrap="square">
            <a:spAutoFit/>
          </a:bodyPr>
          <a:lstStyle/>
          <a:p>
            <a:r>
              <a:rPr sz="1550" b="1">
                <a:solidFill>
                  <a:srgbClr val="E58E1A"/>
                </a:solidFill>
                <a:latin typeface="Cambria"/>
              </a:rPr>
              <a:t>Repeater on high ground</a:t>
            </a:r>
          </a:p>
          <a:p>
            <a:r>
              <a:rPr sz="1250">
                <a:solidFill>
                  <a:srgbClr val="2B313D"/>
                </a:solidFill>
                <a:latin typeface="Calibri"/>
              </a:rPr>
              <a:t>One ROUTER node on the rim relays both canyon arms. Cars stay CLIENT_MUTE; recipe ready in docs/REPEATER_RECIPE.md.</a:t>
            </a:r>
          </a:p>
        </p:txBody>
      </p:sp>
      <p:sp>
        <p:nvSpPr>
          <p:cNvPr id="6" name="Rounded Rectangle 5"/>
          <p:cNvSpPr/>
          <p:nvPr/>
        </p:nvSpPr>
        <p:spPr>
          <a:xfrm>
            <a:off x="4361688" y="1371600"/>
            <a:ext cx="3703320" cy="2286000"/>
          </a:xfrm>
          <a:prstGeom prst="roundRect">
            <a:avLst/>
          </a:prstGeom>
          <a:solidFill>
            <a:srgbClr val="F4F6FA"/>
          </a:solidFill>
          <a:ln w="19050">
            <a:solidFill>
              <a:srgbClr val="162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26279" y="1490472"/>
            <a:ext cx="3374136" cy="2048256"/>
          </a:xfrm>
          <a:prstGeom prst="rect">
            <a:avLst/>
          </a:prstGeom>
          <a:noFill/>
        </p:spPr>
        <p:txBody>
          <a:bodyPr wrap="square">
            <a:spAutoFit/>
          </a:bodyPr>
          <a:lstStyle/>
          <a:p>
            <a:r>
              <a:rPr sz="1550" b="1">
                <a:solidFill>
                  <a:srgbClr val="16213D"/>
                </a:solidFill>
                <a:latin typeface="Cambria"/>
              </a:rPr>
              <a:t>Roof-mounted antennas</a:t>
            </a:r>
          </a:p>
          <a:p>
            <a:r>
              <a:rPr sz="1250">
                <a:solidFill>
                  <a:srgbClr val="2B313D"/>
                </a:solidFill>
                <a:latin typeface="Calibri"/>
              </a:rPr>
              <a:t>1 m → 3 m of height is worth ~19 dB — more than the whole TX power budget. A pure hardware swap.</a:t>
            </a:r>
          </a:p>
        </p:txBody>
      </p:sp>
      <p:sp>
        <p:nvSpPr>
          <p:cNvPr id="8" name="Rounded Rectangle 7"/>
          <p:cNvSpPr/>
          <p:nvPr/>
        </p:nvSpPr>
        <p:spPr>
          <a:xfrm>
            <a:off x="8357616" y="1371600"/>
            <a:ext cx="3703320" cy="2286000"/>
          </a:xfrm>
          <a:prstGeom prst="roundRect">
            <a:avLst/>
          </a:prstGeom>
          <a:solidFill>
            <a:srgbClr val="F4F6FA"/>
          </a:solidFill>
          <a:ln w="19050">
            <a:solidFill>
              <a:srgbClr val="162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22208" y="1490472"/>
            <a:ext cx="3374136" cy="2048256"/>
          </a:xfrm>
          <a:prstGeom prst="rect">
            <a:avLst/>
          </a:prstGeom>
          <a:noFill/>
        </p:spPr>
        <p:txBody>
          <a:bodyPr wrap="square">
            <a:spAutoFit/>
          </a:bodyPr>
          <a:lstStyle/>
          <a:p>
            <a:r>
              <a:rPr sz="1550" b="1">
                <a:solidFill>
                  <a:srgbClr val="16213D"/>
                </a:solidFill>
                <a:latin typeface="Cambria"/>
              </a:rPr>
              <a:t>Third vehicle as relay</a:t>
            </a:r>
          </a:p>
          <a:p>
            <a:r>
              <a:rPr sz="1250">
                <a:solidFill>
                  <a:srgbClr val="2B313D"/>
                </a:solidFill>
                <a:latin typeface="Calibri"/>
              </a:rPr>
              <a:t>The repeater, opportunistic: the mesh relays through any node on the channel, zero configuration.</a:t>
            </a:r>
          </a:p>
        </p:txBody>
      </p:sp>
      <p:sp>
        <p:nvSpPr>
          <p:cNvPr id="10" name="Rounded Rectangle 9"/>
          <p:cNvSpPr/>
          <p:nvPr/>
        </p:nvSpPr>
        <p:spPr>
          <a:xfrm>
            <a:off x="2340864" y="3931920"/>
            <a:ext cx="3703320" cy="2286000"/>
          </a:xfrm>
          <a:prstGeom prst="roundRect">
            <a:avLst/>
          </a:prstGeom>
          <a:solidFill>
            <a:srgbClr val="F4F6FA"/>
          </a:solidFill>
          <a:ln w="19050">
            <a:solidFill>
              <a:srgbClr val="1F9D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505456" y="4050791"/>
            <a:ext cx="3374136" cy="2048256"/>
          </a:xfrm>
          <a:prstGeom prst="rect">
            <a:avLst/>
          </a:prstGeom>
          <a:noFill/>
        </p:spPr>
        <p:txBody>
          <a:bodyPr wrap="square">
            <a:spAutoFit/>
          </a:bodyPr>
          <a:lstStyle/>
          <a:p>
            <a:r>
              <a:rPr sz="1550" b="1">
                <a:solidFill>
                  <a:srgbClr val="1F9D68"/>
                </a:solidFill>
                <a:latin typeface="Cambria"/>
              </a:rPr>
              <a:t>LINK LOST alarm (shipped)</a:t>
            </a:r>
          </a:p>
          <a:p>
            <a:r>
              <a:rPr sz="1250">
                <a:solidFill>
                  <a:srgbClr val="2B313D"/>
                </a:solidFill>
                <a:latin typeface="Calibri"/>
              </a:rPr>
              <a:t>At 3 minutes of silence the display flashes who, how long, and where last seen — the recovery action, on glass.</a:t>
            </a:r>
          </a:p>
        </p:txBody>
      </p:sp>
      <p:sp>
        <p:nvSpPr>
          <p:cNvPr id="12" name="Rounded Rectangle 11"/>
          <p:cNvSpPr/>
          <p:nvPr/>
        </p:nvSpPr>
        <p:spPr>
          <a:xfrm>
            <a:off x="6336792" y="3931920"/>
            <a:ext cx="3703320" cy="2286000"/>
          </a:xfrm>
          <a:prstGeom prst="roundRect">
            <a:avLst/>
          </a:prstGeom>
          <a:solidFill>
            <a:srgbClr val="F4F6FA"/>
          </a:solidFill>
          <a:ln w="19050">
            <a:solidFill>
              <a:srgbClr val="1F9D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01383" y="4050791"/>
            <a:ext cx="3374136" cy="2048256"/>
          </a:xfrm>
          <a:prstGeom prst="rect">
            <a:avLst/>
          </a:prstGeom>
          <a:noFill/>
        </p:spPr>
        <p:txBody>
          <a:bodyPr wrap="square">
            <a:spAutoFit/>
          </a:bodyPr>
          <a:lstStyle/>
          <a:p>
            <a:r>
              <a:rPr sz="1550" b="1">
                <a:solidFill>
                  <a:srgbClr val="1F9D68"/>
                </a:solidFill>
                <a:latin typeface="Cambria"/>
              </a:rPr>
              <a:t>Last-known guidance (proven)</a:t>
            </a:r>
          </a:p>
          <a:p>
            <a:r>
              <a:rPr sz="1250">
                <a:solidFill>
                  <a:srgbClr val="2B313D"/>
                </a:solidFill>
                <a:latin typeface="Calibri"/>
              </a:rPr>
              <a:t>Every blackout becomes “drive toward where they were.” Healed every outage in both campaigns.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5486400" cy="365760"/>
          </a:xfrm>
          <a:prstGeom prst="rect">
            <a:avLst/>
          </a:prstGeom>
          <a:noFill/>
        </p:spPr>
        <p:txBody>
          <a:bodyPr wrap="square">
            <a:spAutoFit/>
          </a:bodyPr>
          <a:lstStyle/>
          <a:p>
            <a:pPr algn="l"/>
            <a:r>
              <a:rPr sz="1250" b="1">
                <a:solidFill>
                  <a:srgbClr val="E58E1A"/>
                </a:solidFill>
                <a:latin typeface="Calibri"/>
              </a:rPr>
              <a:t>PART III  ·  WHAT IT MEANS</a:t>
            </a:r>
          </a:p>
        </p:txBody>
      </p:sp>
      <p:sp>
        <p:nvSpPr>
          <p:cNvPr id="3" name="TextBox 2"/>
          <p:cNvSpPr txBox="1"/>
          <p:nvPr/>
        </p:nvSpPr>
        <p:spPr>
          <a:xfrm>
            <a:off x="502920" y="457200"/>
            <a:ext cx="11185855" cy="777240"/>
          </a:xfrm>
          <a:prstGeom prst="rect">
            <a:avLst/>
          </a:prstGeom>
          <a:noFill/>
        </p:spPr>
        <p:txBody>
          <a:bodyPr wrap="square">
            <a:spAutoFit/>
          </a:bodyPr>
          <a:lstStyle/>
          <a:p>
            <a:pPr algn="l"/>
            <a:r>
              <a:rPr sz="3100" b="1">
                <a:solidFill>
                  <a:srgbClr val="16213D"/>
                </a:solidFill>
                <a:latin typeface="Cambria"/>
              </a:rPr>
              <a:t>The Four Fixes, Animated</a:t>
            </a:r>
          </a:p>
        </p:txBody>
      </p:sp>
      <p:pic>
        <p:nvPicPr>
          <p:cNvPr id="4" name="anim_solutions.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1527048" y="1280160"/>
            <a:ext cx="9144000" cy="5120640"/>
          </a:xfrm>
          <a:prstGeom prst="rect">
            <a:avLst/>
          </a:prstGeom>
        </p:spPr>
      </p:pic>
      <p:sp>
        <p:nvSpPr>
          <p:cNvPr id="5" name="TextBox 4"/>
          <p:cNvSpPr txBox="1"/>
          <p:nvPr/>
        </p:nvSpPr>
        <p:spPr>
          <a:xfrm>
            <a:off x="502920" y="6446520"/>
            <a:ext cx="11155680" cy="365760"/>
          </a:xfrm>
          <a:prstGeom prst="rect">
            <a:avLst/>
          </a:prstGeom>
          <a:noFill/>
        </p:spPr>
        <p:txBody>
          <a:bodyPr wrap="square">
            <a:spAutoFit/>
          </a:bodyPr>
          <a:lstStyle/>
          <a:p>
            <a:pPr algn="ctr"/>
            <a:r>
              <a:rPr sz="1250" b="0">
                <a:solidFill>
                  <a:srgbClr val="5E6B85"/>
                </a:solidFill>
                <a:latin typeface="Calibri"/>
              </a:rPr>
              <a:t>42-second animation: rim repeater, antenna height, mobile relay, and the shipped honest fallback</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4"/>
                </p:tgtEl>
              </p:cMediaNode>
            </p:video>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5486400" cy="365760"/>
          </a:xfrm>
          <a:prstGeom prst="rect">
            <a:avLst/>
          </a:prstGeom>
          <a:noFill/>
        </p:spPr>
        <p:txBody>
          <a:bodyPr wrap="square">
            <a:spAutoFit/>
          </a:bodyPr>
          <a:lstStyle/>
          <a:p>
            <a:pPr algn="l"/>
            <a:r>
              <a:rPr sz="1250" b="1">
                <a:solidFill>
                  <a:srgbClr val="E58E1A"/>
                </a:solidFill>
                <a:latin typeface="Calibri"/>
              </a:rPr>
              <a:t>PART III  ·  WHAT IT MEANS</a:t>
            </a:r>
          </a:p>
        </p:txBody>
      </p:sp>
      <p:sp>
        <p:nvSpPr>
          <p:cNvPr id="3" name="TextBox 2"/>
          <p:cNvSpPr txBox="1"/>
          <p:nvPr/>
        </p:nvSpPr>
        <p:spPr>
          <a:xfrm>
            <a:off x="502920" y="457200"/>
            <a:ext cx="11185855" cy="777240"/>
          </a:xfrm>
          <a:prstGeom prst="rect">
            <a:avLst/>
          </a:prstGeom>
          <a:noFill/>
        </p:spPr>
        <p:txBody>
          <a:bodyPr wrap="square">
            <a:spAutoFit/>
          </a:bodyPr>
          <a:lstStyle/>
          <a:p>
            <a:pPr algn="l"/>
            <a:r>
              <a:rPr sz="3100" b="1">
                <a:solidFill>
                  <a:srgbClr val="16213D"/>
                </a:solidFill>
                <a:latin typeface="Cambria"/>
              </a:rPr>
              <a:t>The Proposition: Completing the Test Program</a:t>
            </a:r>
          </a:p>
        </p:txBody>
      </p:sp>
      <p:sp>
        <p:nvSpPr>
          <p:cNvPr id="4" name="Rounded Rectangle 3"/>
          <p:cNvSpPr/>
          <p:nvPr/>
        </p:nvSpPr>
        <p:spPr>
          <a:xfrm>
            <a:off x="502920" y="1371600"/>
            <a:ext cx="11155680" cy="1298448"/>
          </a:xfrm>
          <a:prstGeom prst="roundRect">
            <a:avLst/>
          </a:prstGeom>
          <a:solidFill>
            <a:srgbClr val="F4F6FA"/>
          </a:solidFill>
          <a:ln w="15875">
            <a:solidFill>
              <a:srgbClr val="162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463040"/>
            <a:ext cx="4846320" cy="1143000"/>
          </a:xfrm>
          <a:prstGeom prst="rect">
            <a:avLst/>
          </a:prstGeom>
          <a:noFill/>
        </p:spPr>
        <p:txBody>
          <a:bodyPr wrap="square">
            <a:spAutoFit/>
          </a:bodyPr>
          <a:lstStyle/>
          <a:p>
            <a:r>
              <a:rPr sz="1500" b="1">
                <a:solidFill>
                  <a:srgbClr val="16213D"/>
                </a:solidFill>
                <a:latin typeface="Cambria"/>
              </a:rPr>
              <a:t>Experiment A — New Mexico maximum</a:t>
            </a:r>
          </a:p>
          <a:p>
            <a:r>
              <a:rPr sz="1200">
                <a:solidFill>
                  <a:srgbClr val="2B313D"/>
                </a:solidFill>
                <a:latin typeface="Calibri"/>
              </a:rPr>
              <a:t>Flat highway, clear Fresnel zone, drive until the catches stop.</a:t>
            </a:r>
          </a:p>
        </p:txBody>
      </p:sp>
      <p:sp>
        <p:nvSpPr>
          <p:cNvPr id="6" name="TextBox 5"/>
          <p:cNvSpPr txBox="1"/>
          <p:nvPr/>
        </p:nvSpPr>
        <p:spPr>
          <a:xfrm>
            <a:off x="5852160" y="1536192"/>
            <a:ext cx="5577840" cy="1051560"/>
          </a:xfrm>
          <a:prstGeom prst="rect">
            <a:avLst/>
          </a:prstGeom>
          <a:noFill/>
        </p:spPr>
        <p:txBody>
          <a:bodyPr wrap="square">
            <a:spAutoFit/>
          </a:bodyPr>
          <a:lstStyle/>
          <a:p>
            <a:r>
              <a:rPr sz="1250" i="1">
                <a:solidFill>
                  <a:srgbClr val="1F9D68"/>
                </a:solidFill>
                <a:latin typeface="Calibri"/>
              </a:rPr>
              <a:t>Prediction: beats 3.75 mi; with any elevation on one end, approaches the 4.7 mi rim figure or better.</a:t>
            </a:r>
          </a:p>
        </p:txBody>
      </p:sp>
      <p:sp>
        <p:nvSpPr>
          <p:cNvPr id="7" name="Rounded Rectangle 6"/>
          <p:cNvSpPr/>
          <p:nvPr/>
        </p:nvSpPr>
        <p:spPr>
          <a:xfrm>
            <a:off x="502920" y="2834640"/>
            <a:ext cx="11155680" cy="1298448"/>
          </a:xfrm>
          <a:prstGeom prst="roundRect">
            <a:avLst/>
          </a:prstGeom>
          <a:solidFill>
            <a:srgbClr val="F4F6FA"/>
          </a:solidFill>
          <a:ln w="15875">
            <a:solidFill>
              <a:srgbClr val="162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926080"/>
            <a:ext cx="4846320" cy="1143000"/>
          </a:xfrm>
          <a:prstGeom prst="rect">
            <a:avLst/>
          </a:prstGeom>
          <a:noFill/>
        </p:spPr>
        <p:txBody>
          <a:bodyPr wrap="square">
            <a:spAutoFit/>
          </a:bodyPr>
          <a:lstStyle/>
          <a:p>
            <a:r>
              <a:rPr sz="1500" b="1">
                <a:solidFill>
                  <a:srgbClr val="16213D"/>
                </a:solidFill>
                <a:latin typeface="Cambria"/>
              </a:rPr>
              <a:t>Experiment B — Rim repeater trial</a:t>
            </a:r>
          </a:p>
          <a:p>
            <a:r>
              <a:rPr sz="1200">
                <a:solidFill>
                  <a:srgbClr val="2B313D"/>
                </a:solidFill>
                <a:latin typeface="Calibri"/>
              </a:rPr>
              <a:t>Return to Ceta Canyon with a third node on the rim, per the ready recipe.</a:t>
            </a:r>
          </a:p>
        </p:txBody>
      </p:sp>
      <p:sp>
        <p:nvSpPr>
          <p:cNvPr id="9" name="TextBox 8"/>
          <p:cNvSpPr txBox="1"/>
          <p:nvPr/>
        </p:nvSpPr>
        <p:spPr>
          <a:xfrm>
            <a:off x="5852160" y="2999232"/>
            <a:ext cx="5577840" cy="1051560"/>
          </a:xfrm>
          <a:prstGeom prst="rect">
            <a:avLst/>
          </a:prstGeom>
          <a:noFill/>
        </p:spPr>
        <p:txBody>
          <a:bodyPr wrap="square">
            <a:spAutoFit/>
          </a:bodyPr>
          <a:lstStyle/>
          <a:p>
            <a:r>
              <a:rPr sz="1250" i="1">
                <a:solidFill>
                  <a:srgbClr val="1F9D68"/>
                </a:solidFill>
                <a:latin typeface="Calibri"/>
              </a:rPr>
              <a:t>Prediction: the 1.29 mi canyon stalls largely disappear; utilization stays under 15%.</a:t>
            </a:r>
          </a:p>
        </p:txBody>
      </p:sp>
      <p:sp>
        <p:nvSpPr>
          <p:cNvPr id="10" name="Rounded Rectangle 9"/>
          <p:cNvSpPr/>
          <p:nvPr/>
        </p:nvSpPr>
        <p:spPr>
          <a:xfrm>
            <a:off x="502920" y="4297680"/>
            <a:ext cx="11155680" cy="1298448"/>
          </a:xfrm>
          <a:prstGeom prst="roundRect">
            <a:avLst/>
          </a:prstGeom>
          <a:solidFill>
            <a:srgbClr val="F4F6FA"/>
          </a:solidFill>
          <a:ln w="15875">
            <a:solidFill>
              <a:srgbClr val="162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4389120"/>
            <a:ext cx="4846320" cy="1143000"/>
          </a:xfrm>
          <a:prstGeom prst="rect">
            <a:avLst/>
          </a:prstGeom>
          <a:noFill/>
        </p:spPr>
        <p:txBody>
          <a:bodyPr wrap="square">
            <a:spAutoFit/>
          </a:bodyPr>
          <a:lstStyle/>
          <a:p>
            <a:r>
              <a:rPr sz="1500" b="1">
                <a:solidFill>
                  <a:srgbClr val="16213D"/>
                </a:solidFill>
                <a:latin typeface="Cambria"/>
              </a:rPr>
              <a:t>Experiment C — Roof antenna A/B</a:t>
            </a:r>
          </a:p>
          <a:p>
            <a:r>
              <a:rPr sz="1200">
                <a:solidFill>
                  <a:srgbClr val="2B313D"/>
                </a:solidFill>
                <a:latin typeface="Calibri"/>
              </a:rPr>
              <a:t>Same route, in-cabin vs magnetic roof mount, alternating runs.</a:t>
            </a:r>
          </a:p>
        </p:txBody>
      </p:sp>
      <p:sp>
        <p:nvSpPr>
          <p:cNvPr id="12" name="TextBox 11"/>
          <p:cNvSpPr txBox="1"/>
          <p:nvPr/>
        </p:nvSpPr>
        <p:spPr>
          <a:xfrm>
            <a:off x="5852160" y="4462272"/>
            <a:ext cx="5577840" cy="1051560"/>
          </a:xfrm>
          <a:prstGeom prst="rect">
            <a:avLst/>
          </a:prstGeom>
          <a:noFill/>
        </p:spPr>
        <p:txBody>
          <a:bodyPr wrap="square">
            <a:spAutoFit/>
          </a:bodyPr>
          <a:lstStyle/>
          <a:p>
            <a:r>
              <a:rPr sz="1250" i="1">
                <a:solidFill>
                  <a:srgbClr val="1F9D68"/>
                </a:solidFill>
                <a:latin typeface="Calibri"/>
              </a:rPr>
              <a:t>Prediction: ~2× open-road range; prices the car-body penalty the model puts at 10–20 dB.</a:t>
            </a:r>
          </a:p>
        </p:txBody>
      </p:sp>
      <p:sp>
        <p:nvSpPr>
          <p:cNvPr id="13" name="Rounded Rectangle 12"/>
          <p:cNvSpPr/>
          <p:nvPr/>
        </p:nvSpPr>
        <p:spPr>
          <a:xfrm>
            <a:off x="502920" y="5806440"/>
            <a:ext cx="11155680" cy="749808"/>
          </a:xfrm>
          <a:prstGeom prst="roundRect">
            <a:avLst/>
          </a:prstGeom>
          <a:solidFill>
            <a:srgbClr val="16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5943600"/>
            <a:ext cx="10789920" cy="502920"/>
          </a:xfrm>
          <a:prstGeom prst="rect">
            <a:avLst/>
          </a:prstGeom>
          <a:noFill/>
        </p:spPr>
        <p:txBody>
          <a:bodyPr wrap="square">
            <a:spAutoFit/>
          </a:bodyPr>
          <a:lstStyle/>
          <a:p>
            <a:pPr algn="ctr"/>
            <a:r>
              <a:rPr sz="1650" b="1">
                <a:solidFill>
                  <a:srgbClr val="FFFFFF"/>
                </a:solidFill>
                <a:latin typeface="Cambria"/>
              </a:rPr>
              <a:t>The system never promised unbreakable radio. It promised to never lie about it — and the canyon could not make it lie.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