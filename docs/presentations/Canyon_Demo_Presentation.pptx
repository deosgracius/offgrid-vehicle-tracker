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Pre-dawn two-vehicle test in caprock canyon terrain near Canyon TX. The question: what does the tracker do when rock, not distance, breaks the link?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hardware as the open-road test. One car held the rim, the other drove down-canyon and back. Every data point comes from video of the live screens.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Staleness appeared from 1.29 miles whenever rock blocked line of sight - far inside the 3.26-mile open-road range. The display says so honestly: banner, inverted age, hollow dart.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money graph. Red is stale, green is live. At 4.28 miles the age RESET while nominally out of contact: a single packet got through as a ridgeline opened. The link is intermittent, not binary - and it never pretends.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Stale onset: half a mile in town, 1.29 miles behind canyon rock, 3.75 on open road. Same radios, same settings, same antennas. The environment is the variable - exactly what the link budget's 20 dB reserve predicted.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buttons, no resets. Drive toward last-known and the moment geometry opens, the ages fall: 54 seconds by 2.9 miles, 11 seconds by 1.45. The guidance banner steers the reunion.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Post-test audit: every setting verified on both radios, link at 6.25 dB SNR - 23.75 dB above the decode limit. LoRa fails as a cliff, not a fade, so the fix for canyons is geometry: a rim repeater (the protocol already supports it) or antenna height.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microsoft.com/office/2007/relationships/media" Target="../media/media1.mp4"/><Relationship Id="rId5" Type="http://schemas.openxmlformats.org/officeDocument/2006/relationships/video" Target="../media/media1.mp4"/><Relationship Id="rId6" Type="http://schemas.openxmlformats.org/officeDocument/2006/relationships/image" Target="../media/image5.jp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6.jpg"/><Relationship Id="rId5" Type="http://schemas.microsoft.com/office/2007/relationships/media" Target="../media/media3.mp4"/><Relationship Id="rId6" Type="http://schemas.openxmlformats.org/officeDocument/2006/relationships/video" Target="../media/media3.mp4"/><Relationship Id="rId7" Type="http://schemas.openxmlformats.org/officeDocument/2006/relationships/image" Target="../media/image7.jp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9.jp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11.jpg"/><Relationship Id="rId5" Type="http://schemas.microsoft.com/office/2007/relationships/media" Target="../media/media6.mp4"/><Relationship Id="rId6" Type="http://schemas.openxmlformats.org/officeDocument/2006/relationships/video" Target="../media/media6.mp4"/><Relationship Id="rId7" Type="http://schemas.openxmlformats.org/officeDocument/2006/relationships/image" Target="../media/image12.jpg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0"/>
            <a:ext cx="5143500" cy="6858000"/>
          </a:xfrm>
          <a:prstGeom prst="rect">
            <a:avLst/>
          </a:prstGeom>
        </p:spPr>
      </p:pic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0"/>
            <a:ext cx="5143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2286000"/>
            <a:ext cx="12191695" cy="1920240"/>
          </a:xfrm>
          <a:prstGeom prst="rect">
            <a:avLst/>
          </a:prstGeom>
          <a:solidFill>
            <a:srgbClr val="16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514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Calibri"/>
              </a:rPr>
              <a:t>Canyon Range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01568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>
                <a:solidFill>
                  <a:srgbClr val="C9D8F0"/>
                </a:solidFill>
                <a:latin typeface="Calibri"/>
              </a:rPr>
              <a:t>Palo Duro canyon country  ·  October 18, 2026  ·  Group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6213D"/>
                </a:solidFill>
                <a:latin typeface="Calibri"/>
              </a:rPr>
              <a:t>The Test</a:t>
            </a:r>
          </a:p>
        </p:txBody>
      </p:sp>
      <p:pic>
        <p:nvPicPr>
          <p:cNvPr id="3" name="Picture 2" descr="WhatsApp Image 2026-10-18 at 8.00.56 AM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3154680" cy="4206240"/>
          </a:xfrm>
          <a:prstGeom prst="rect">
            <a:avLst/>
          </a:prstGeom>
        </p:spPr>
      </p:pic>
      <p:pic>
        <p:nvPicPr>
          <p:cNvPr id="4" name="Picture 3" descr="WhatsApp Image 2026-10-18 at 8.00.56 AM (3)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39" y="1234440"/>
            <a:ext cx="3154680" cy="4206240"/>
          </a:xfrm>
          <a:prstGeom prst="rect">
            <a:avLst/>
          </a:prstGeom>
        </p:spPr>
      </p:pic>
      <p:pic>
        <p:nvPicPr>
          <p:cNvPr id="5" name="c1_scenery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7315200" y="1234440"/>
            <a:ext cx="2363906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6692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E6B85"/>
                </a:solidFill>
                <a:latin typeface="Calibri"/>
              </a:rPr>
              <a:t>Two vehicles, pre-dawn, rim point 34.91° N  101.92° W  ·  antennas inside the cars  ·  cameras on both screens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6213D"/>
                </a:solidFill>
                <a:latin typeface="Calibri"/>
              </a:rPr>
              <a:t>Rock Breaks the Link, Not Distance</a:t>
            </a:r>
          </a:p>
        </p:txBody>
      </p:sp>
      <p:pic>
        <p:nvPicPr>
          <p:cNvPr id="3" name="c2_stale278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377440" y="1188720"/>
            <a:ext cx="2518074" cy="4480560"/>
          </a:xfrm>
          <a:prstGeom prst="rect">
            <a:avLst/>
          </a:prstGeom>
        </p:spPr>
      </p:pic>
      <p:pic>
        <p:nvPicPr>
          <p:cNvPr id="4" name="c3_deepest446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223760" y="1188720"/>
            <a:ext cx="2518074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580644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E6B85"/>
                </a:solidFill>
                <a:latin typeface="Calibri"/>
              </a:rPr>
              <a:t>STALE at 2.77 mi — canyon wall between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580644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E6B85"/>
                </a:solidFill>
                <a:latin typeface="Calibri"/>
              </a:rPr>
              <a:t>Deepest point: 4.46 mi, three minutes silent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6213D"/>
                </a:solidFill>
                <a:latin typeface="Calibri"/>
              </a:rPr>
              <a:t>The Key Finding</a:t>
            </a:r>
          </a:p>
        </p:txBody>
      </p:sp>
      <p:pic>
        <p:nvPicPr>
          <p:cNvPr id="3" name="Picture 2" descr="g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7680960" cy="3840480"/>
          </a:xfrm>
          <a:prstGeom prst="rect">
            <a:avLst/>
          </a:prstGeom>
        </p:spPr>
      </p:pic>
      <p:pic>
        <p:nvPicPr>
          <p:cNvPr id="4" name="c4_agereset428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686800" y="1051560"/>
            <a:ext cx="2749326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603504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E6B85"/>
                </a:solidFill>
                <a:latin typeface="Calibri"/>
              </a:rPr>
              <a:t>4.23 mi: age drops to 1m — a packet through the gap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6213D"/>
                </a:solidFill>
                <a:latin typeface="Calibri"/>
              </a:rPr>
              <a:t>Three Environments, One Lesson</a:t>
            </a:r>
          </a:p>
        </p:txBody>
      </p:sp>
      <p:pic>
        <p:nvPicPr>
          <p:cNvPr id="3" name="Picture 2" descr="g_on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371600"/>
            <a:ext cx="9784080" cy="41475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897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5E6B85"/>
                </a:solidFill>
                <a:latin typeface="Calibri"/>
              </a:rPr>
              <a:t>Line of sight sets the range. The radios were verified identical in all three tests.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6213D"/>
                </a:solidFill>
                <a:latin typeface="Calibri"/>
              </a:rPr>
              <a:t>It Heals Itself</a:t>
            </a:r>
          </a:p>
        </p:txBody>
      </p:sp>
      <p:pic>
        <p:nvPicPr>
          <p:cNvPr id="3" name="c5_reacquire145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377440" y="1188720"/>
            <a:ext cx="2518074" cy="4480560"/>
          </a:xfrm>
          <a:prstGeom prst="rect">
            <a:avLst/>
          </a:prstGeom>
        </p:spPr>
      </p:pic>
      <p:pic>
        <p:nvPicPr>
          <p:cNvPr id="4" name="c6_approach033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223760" y="1188720"/>
            <a:ext cx="2518074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580644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E6B85"/>
                </a:solidFill>
                <a:latin typeface="Calibri"/>
              </a:rPr>
              <a:t>Inbound: live again by 1.45 mi, closing 45 mph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580644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E6B85"/>
                </a:solidFill>
                <a:latin typeface="Calibri"/>
              </a:rPr>
              <a:t>CHANGE COURSE chevrons guide the last mile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6213D"/>
                </a:solidFill>
                <a:latin typeface="Calibri"/>
              </a:rPr>
              <a:t>Both Radios, Analyzed After the Test</a:t>
            </a:r>
          </a:p>
        </p:txBody>
      </p:sp>
      <p:pic>
        <p:nvPicPr>
          <p:cNvPr id="3" name="Picture 2" descr="g_rad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88720"/>
            <a:ext cx="10515600" cy="43477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5E6B85"/>
                </a:solidFill>
                <a:latin typeface="Calibri"/>
              </a:rPr>
              <a:t>The stalls were terrain, not hardware. Next step for canyon country: a repeater on the rim, or roof-mounted antennas.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