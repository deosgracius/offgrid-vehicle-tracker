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short status update. Three things: the range test we planned in New Mexico, why it did not run, and what the team did with the weekend instead. About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chart shows the range we have measured so far, in four kinds of terrain. All of them were limited by what was in the way: buildings, hills, canyon walls. The plan for New Mexico was to remove those limits: antenna on the roof, open flat country, drive apart until the link drops. That gives the true maximum of the radios, which we still do not have.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were there. The map shows where, just below the Capitan Mountains. The photos show the cloud on the peaks and the road we were on. Then the phone alert on the right: a flash flood warning, do not attempt to travel. That is a travel ban, so the drive was not started. The test is rescheduled, not dropped. Next sheet.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site, same plan, five steps. Nothing new has to be built for it. The one change since the 25th is that both radios now have a firmware fix, which I will get to, so even a dead battery on the way cannot lose the radio settings and cost us the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While the weather stopped the drive, the weekend went into a problem that has hit us three times: a radio runs its battery flat and comes back with its settings gone. An engineer at Qualcomm suggested the memory chip itself might be bad, so we measured it. Left picture is radio SF: the red blocks gave a different answer every time we read them. Right is radio RG: clean. Rewriting the red blocks fixed them, so the chip is fine; it was written while the battery was too low. That is the cause. The full evidence is a separate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fix is simple to explain. The radio software was rebuilt so that its factory settings are our settings. If it ever forgets again, it forgets back to the right values. We tested it by forcing a factory reset on both radios: each came back on our channel with the right name, with nobody touching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changes on the display, all from the night drive and the canyon. Directions are clock positions, the screen says holding when both cars are parked, and it says LINK LOST if the radio drops. One bench lesson: indoors the GPS can be hundreds of metres off, so only trust distances outside.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Everything is written down and in the repository: how to recover a radio with a phone or a laptop, the full failure catalog, the measurement records, and the long presentation. The channel key never leaves the private repo.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Four items. The range drive, rescheduled for the next clear weekend. The flat-battery test that proves the fix. Josiah's waterproof enclosure for the display, due next week. And a scope measurement on the radio's supply. The ask is to approve the flat-battery test before the next drive.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5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81328"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3969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98063"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56431"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79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73167"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31535"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89903"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48271"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3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7"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2337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81744"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40112"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698480"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56848"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1521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4592" y="146304"/>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804672"/>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4592" y="1463040"/>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4592" y="2121408"/>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4592" y="2779776"/>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4592" y="3438144"/>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4592" y="4096511"/>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4592" y="4754879"/>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4592" y="5413247"/>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64592" y="6071615"/>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34" name="TextBox 33"/>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35" name="TextBox 34"/>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01/09  STATUS  2026-10-28</a:t>
            </a:r>
          </a:p>
        </p:txBody>
      </p:sp>
      <p:sp>
        <p:nvSpPr>
          <p:cNvPr id="36" name="TextBox 35"/>
          <p:cNvSpPr txBox="1"/>
          <p:nvPr/>
        </p:nvSpPr>
        <p:spPr>
          <a:xfrm>
            <a:off x="640080" y="914400"/>
            <a:ext cx="10881360" cy="822960"/>
          </a:xfrm>
          <a:prstGeom prst="rect">
            <a:avLst/>
          </a:prstGeom>
          <a:noFill/>
        </p:spPr>
        <p:txBody>
          <a:bodyPr wrap="square" lIns="0" rIns="0" tIns="0" bIns="0">
            <a:spAutoFit/>
          </a:bodyPr>
          <a:lstStyle/>
          <a:p>
            <a:pPr algn="l"/>
            <a:r>
              <a:rPr sz="3400" b="1" i="0" spc="300">
                <a:solidFill>
                  <a:srgbClr val="16213D"/>
                </a:solidFill>
                <a:latin typeface="Cambria"/>
              </a:rPr>
              <a:t>STATUS, 28 OCTOBER</a:t>
            </a:r>
          </a:p>
        </p:txBody>
      </p:sp>
      <p:sp>
        <p:nvSpPr>
          <p:cNvPr id="37" name="TextBox 36"/>
          <p:cNvSpPr txBox="1"/>
          <p:nvPr/>
        </p:nvSpPr>
        <p:spPr>
          <a:xfrm>
            <a:off x="658368" y="1755648"/>
            <a:ext cx="10881360" cy="411480"/>
          </a:xfrm>
          <a:prstGeom prst="rect">
            <a:avLst/>
          </a:prstGeom>
          <a:noFill/>
        </p:spPr>
        <p:txBody>
          <a:bodyPr wrap="square" lIns="0" rIns="0" tIns="0" bIns="0">
            <a:spAutoFit/>
          </a:bodyPr>
          <a:lstStyle/>
          <a:p>
            <a:pPr algn="l"/>
            <a:r>
              <a:rPr sz="1600" b="1" i="0" spc="100">
                <a:solidFill>
                  <a:srgbClr val="E58E1A"/>
                </a:solidFill>
                <a:latin typeface="Cambria"/>
              </a:rPr>
              <a:t>THE ROOF-TOP ANTENNA DRIVE, THE WEATHER, AND WHAT WE DID INSTEAD</a:t>
            </a:r>
          </a:p>
        </p:txBody>
      </p:sp>
      <p:sp>
        <p:nvSpPr>
          <p:cNvPr id="38" name="TextBox 37"/>
          <p:cNvSpPr txBox="1"/>
          <p:nvPr/>
        </p:nvSpPr>
        <p:spPr>
          <a:xfrm>
            <a:off x="658368" y="2331720"/>
            <a:ext cx="7315200" cy="1371600"/>
          </a:xfrm>
          <a:prstGeom prst="rect">
            <a:avLst/>
          </a:prstGeom>
          <a:noFill/>
        </p:spPr>
        <p:txBody>
          <a:bodyPr wrap="square" lIns="0" rIns="0" tIns="0" bIns="0">
            <a:spAutoFit/>
          </a:bodyPr>
          <a:lstStyle/>
          <a:p>
            <a:pPr algn="l"/>
            <a:r>
              <a:rPr sz="1400" b="0" i="0">
                <a:solidFill>
                  <a:srgbClr val="222A3F"/>
                </a:solidFill>
                <a:latin typeface="Cambria"/>
              </a:rPr>
              <a:t>We went to New Mexico to measure the radios' maximum range with the antenna on the roof of the car. A flash flood warning stopped the drive. The weekend went into the radios instead: the settings-loss problem was traced to its cause, and a fix is now on both radios.</a:t>
            </a:r>
          </a:p>
        </p:txBody>
      </p:sp>
      <p:sp>
        <p:nvSpPr>
          <p:cNvPr id="39" name="TextBox 38"/>
          <p:cNvSpPr txBox="1"/>
          <p:nvPr/>
        </p:nvSpPr>
        <p:spPr>
          <a:xfrm>
            <a:off x="7589520" y="3657600"/>
            <a:ext cx="3931920" cy="2377440"/>
          </a:xfrm>
          <a:prstGeom prst="rect">
            <a:avLst/>
          </a:prstGeom>
          <a:noFill/>
        </p:spPr>
        <p:txBody>
          <a:bodyPr wrap="square" lIns="0" rIns="0" tIns="0" bIns="0">
            <a:spAutoFit/>
          </a:bodyPr>
          <a:lstStyle/>
          <a:p>
            <a:pPr algn="l"/>
            <a:r>
              <a:rPr sz="1300" b="0" i="0">
                <a:solidFill>
                  <a:srgbClr val="222A3F"/>
                </a:solidFill>
                <a:latin typeface="Courier New"/>
              </a:rPr>
              <a:t>Deo Grace Mwala
Josiah Horn
Victor Okwonna
Cannon Thomas
Sponsor: Dr. Richard Gale
28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02/09  STATUS  2026-10-28</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PLAN: A ROOF-TOP ANTENNA RANGE DRIVE</a:t>
            </a:r>
          </a:p>
        </p:txBody>
      </p:sp>
      <p:sp>
        <p:nvSpPr>
          <p:cNvPr id="8" name="TextBox 7"/>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The one range number we still do not have</a:t>
            </a:r>
          </a:p>
        </p:txBody>
      </p:sp>
      <p:pic>
        <p:nvPicPr>
          <p:cNvPr id="9" name="Picture 8" descr="g_onset4.png"/>
          <p:cNvPicPr>
            <a:picLocks noChangeAspect="1"/>
          </p:cNvPicPr>
          <p:nvPr/>
        </p:nvPicPr>
        <p:blipFill>
          <a:blip r:embed="rId2"/>
          <a:stretch>
            <a:fillRect/>
          </a:stretch>
        </p:blipFill>
        <p:spPr>
          <a:xfrm>
            <a:off x="502920" y="1280160"/>
            <a:ext cx="6035040" cy="2703195"/>
          </a:xfrm>
          <a:prstGeom prst="rect">
            <a:avLst/>
          </a:prstGeom>
        </p:spPr>
      </p:pic>
      <p:sp>
        <p:nvSpPr>
          <p:cNvPr id="10" name="Rectangle 9"/>
          <p:cNvSpPr/>
          <p:nvPr/>
        </p:nvSpPr>
        <p:spPr>
          <a:xfrm>
            <a:off x="6766560" y="1280160"/>
            <a:ext cx="4937760" cy="224028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1152" y="1399031"/>
            <a:ext cx="4608576" cy="2002536"/>
          </a:xfrm>
          <a:prstGeom prst="rect">
            <a:avLst/>
          </a:prstGeom>
          <a:noFill/>
        </p:spPr>
        <p:txBody>
          <a:bodyPr wrap="square" lIns="0" rIns="0" tIns="0" bIns="0">
            <a:spAutoFit/>
          </a:bodyPr>
          <a:lstStyle/>
          <a:p>
            <a:r>
              <a:rPr sz="1400" b="1" spc="100">
                <a:solidFill>
                  <a:srgbClr val="16213D"/>
                </a:solidFill>
                <a:latin typeface="Cambria"/>
              </a:rPr>
              <a:t>THE IDEA</a:t>
            </a:r>
          </a:p>
          <a:p>
            <a:pPr>
              <a:spcBef>
                <a:spcPts val="400"/>
              </a:spcBef>
            </a:pPr>
            <a:r>
              <a:rPr sz="1300">
                <a:solidFill>
                  <a:srgbClr val="222A3F"/>
                </a:solidFill>
                <a:latin typeface="Cambria"/>
              </a:rPr>
              <a:t>•  Put the radio's antenna on the roof of the car instead of inside it</a:t>
            </a:r>
          </a:p>
          <a:p>
            <a:pPr>
              <a:spcBef>
                <a:spcPts val="400"/>
              </a:spcBef>
            </a:pPr>
            <a:r>
              <a:rPr sz="1300">
                <a:solidFill>
                  <a:srgbClr val="222A3F"/>
                </a:solidFill>
                <a:latin typeface="Cambria"/>
              </a:rPr>
              <a:t>•  Drive two cars apart on open road with no hills in between</a:t>
            </a:r>
          </a:p>
          <a:p>
            <a:pPr>
              <a:spcBef>
                <a:spcPts val="400"/>
              </a:spcBef>
            </a:pPr>
            <a:r>
              <a:rPr sz="1300">
                <a:solidFill>
                  <a:srgbClr val="222A3F"/>
                </a:solidFill>
                <a:latin typeface="Cambria"/>
              </a:rPr>
              <a:t>•  Record the distance where the display says LINK LOST</a:t>
            </a:r>
          </a:p>
        </p:txBody>
      </p:sp>
      <p:sp>
        <p:nvSpPr>
          <p:cNvPr id="12" name="Rectangle 11"/>
          <p:cNvSpPr/>
          <p:nvPr/>
        </p:nvSpPr>
        <p:spPr>
          <a:xfrm>
            <a:off x="6766560" y="3703320"/>
            <a:ext cx="4937760" cy="224028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31152" y="3822191"/>
            <a:ext cx="4608576" cy="2002536"/>
          </a:xfrm>
          <a:prstGeom prst="rect">
            <a:avLst/>
          </a:prstGeom>
          <a:noFill/>
        </p:spPr>
        <p:txBody>
          <a:bodyPr wrap="square" lIns="0" rIns="0" tIns="0" bIns="0">
            <a:spAutoFit/>
          </a:bodyPr>
          <a:lstStyle/>
          <a:p>
            <a:r>
              <a:rPr sz="1400" b="1" spc="100">
                <a:solidFill>
                  <a:srgbClr val="E58E1A"/>
                </a:solidFill>
                <a:latin typeface="Cambria"/>
              </a:rPr>
              <a:t>WHY IT MATTERS</a:t>
            </a:r>
          </a:p>
          <a:p>
            <a:pPr>
              <a:spcBef>
                <a:spcPts val="400"/>
              </a:spcBef>
            </a:pPr>
            <a:r>
              <a:rPr sz="1300">
                <a:solidFill>
                  <a:srgbClr val="222A3F"/>
                </a:solidFill>
                <a:latin typeface="Cambria"/>
              </a:rPr>
              <a:t>•  Every range we have so far was limited by terrain or buildings: 0.5 mi in town, 3.75 mi on a farm road, 4.7 mi from a canyon rim</a:t>
            </a:r>
          </a:p>
          <a:p>
            <a:pPr>
              <a:spcBef>
                <a:spcPts val="400"/>
              </a:spcBef>
            </a:pPr>
            <a:r>
              <a:rPr sz="1300">
                <a:solidFill>
                  <a:srgbClr val="222A3F"/>
                </a:solidFill>
                <a:latin typeface="Cambria"/>
              </a:rPr>
              <a:t>•  Open country with a roof antenna gives the true maximum of the hardware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03/09  STATUS  2026-10-28</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ON SITE, 25 OCTOBER: CANCELLED BY WEATHER</a:t>
            </a:r>
          </a:p>
        </p:txBody>
      </p:sp>
      <p:sp>
        <p:nvSpPr>
          <p:cNvPr id="8" name="TextBox 7"/>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Below the Capitan Mountains, north of Capitan, New Mexico</a:t>
            </a:r>
          </a:p>
        </p:txBody>
      </p:sp>
      <p:pic>
        <p:nvPicPr>
          <p:cNvPr id="9" name="Picture 8" descr="g_nm_cancel.png"/>
          <p:cNvPicPr>
            <a:picLocks noChangeAspect="1"/>
          </p:cNvPicPr>
          <p:nvPr/>
        </p:nvPicPr>
        <p:blipFill>
          <a:blip r:embed="rId2"/>
          <a:stretch>
            <a:fillRect/>
          </a:stretch>
        </p:blipFill>
        <p:spPr>
          <a:xfrm>
            <a:off x="502920" y="1234440"/>
            <a:ext cx="7680960" cy="2743200"/>
          </a:xfrm>
          <a:prstGeom prst="rect">
            <a:avLst/>
          </a:prstGeom>
        </p:spPr>
      </p:pic>
      <p:pic>
        <p:nvPicPr>
          <p:cNvPr id="10" name="Picture 9" descr="g_nm_alert.jpg"/>
          <p:cNvPicPr>
            <a:picLocks noChangeAspect="1"/>
          </p:cNvPicPr>
          <p:nvPr/>
        </p:nvPicPr>
        <p:blipFill>
          <a:blip r:embed="rId3"/>
          <a:stretch>
            <a:fillRect/>
          </a:stretch>
        </p:blipFill>
        <p:spPr>
          <a:xfrm>
            <a:off x="8366760" y="1417320"/>
            <a:ext cx="3337560" cy="1201522"/>
          </a:xfrm>
          <a:prstGeom prst="rect">
            <a:avLst/>
          </a:prstGeom>
        </p:spPr>
      </p:pic>
      <p:sp>
        <p:nvSpPr>
          <p:cNvPr id="11" name="TextBox 10"/>
          <p:cNvSpPr txBox="1"/>
          <p:nvPr/>
        </p:nvSpPr>
        <p:spPr>
          <a:xfrm>
            <a:off x="8366760" y="2697480"/>
            <a:ext cx="3337560" cy="1280160"/>
          </a:xfrm>
          <a:prstGeom prst="rect">
            <a:avLst/>
          </a:prstGeom>
          <a:noFill/>
        </p:spPr>
        <p:txBody>
          <a:bodyPr wrap="square" lIns="0" rIns="0" tIns="0" bIns="0">
            <a:spAutoFit/>
          </a:bodyPr>
          <a:lstStyle/>
          <a:p>
            <a:pPr algn="l"/>
            <a:r>
              <a:rPr sz="1000" b="1" i="0">
                <a:solidFill>
                  <a:srgbClr val="C43A4B"/>
                </a:solidFill>
                <a:latin typeface="Courier New"/>
              </a:rPr>
              <a:t>NATIONAL WEATHER SERVICE: FLASH FLOOD WARNING FOR THE AREA UNTIL 9:15 PM MDT. "DO NOT ATTEMPT TO TRAVEL."</a:t>
            </a:r>
          </a:p>
        </p:txBody>
      </p:sp>
      <p:sp>
        <p:nvSpPr>
          <p:cNvPr id="12" name="Rectangle 11"/>
          <p:cNvSpPr/>
          <p:nvPr/>
        </p:nvSpPr>
        <p:spPr>
          <a:xfrm>
            <a:off x="502920" y="4251960"/>
            <a:ext cx="11201400" cy="1783080"/>
          </a:xfrm>
          <a:prstGeom prst="rect">
            <a:avLst/>
          </a:prstGeom>
          <a:solidFill>
            <a:srgbClr val="F2F5FA"/>
          </a:solidFill>
          <a:ln w="15875">
            <a:solidFill>
              <a:srgbClr val="C43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370832"/>
            <a:ext cx="10872216" cy="1545336"/>
          </a:xfrm>
          <a:prstGeom prst="rect">
            <a:avLst/>
          </a:prstGeom>
          <a:noFill/>
        </p:spPr>
        <p:txBody>
          <a:bodyPr wrap="square" lIns="0" rIns="0" tIns="0" bIns="0">
            <a:spAutoFit/>
          </a:bodyPr>
          <a:lstStyle/>
          <a:p>
            <a:r>
              <a:rPr sz="1400" b="1" spc="100">
                <a:solidFill>
                  <a:srgbClr val="C43A4B"/>
                </a:solidFill>
                <a:latin typeface="Cambria"/>
              </a:rPr>
              <a:t>WHAT HAPPENED</a:t>
            </a:r>
          </a:p>
          <a:p>
            <a:pPr>
              <a:spcBef>
                <a:spcPts val="400"/>
              </a:spcBef>
            </a:pPr>
            <a:r>
              <a:rPr sz="1300">
                <a:solidFill>
                  <a:srgbClr val="222A3F"/>
                </a:solidFill>
                <a:latin typeface="Cambria"/>
              </a:rPr>
              <a:t>•  The team was on site with both radios checked and ready (both screens read 912.875 MHz)</a:t>
            </a:r>
          </a:p>
          <a:p>
            <a:pPr>
              <a:spcBef>
                <a:spcPts val="400"/>
              </a:spcBef>
            </a:pPr>
            <a:r>
              <a:rPr sz="1300">
                <a:solidFill>
                  <a:srgbClr val="222A3F"/>
                </a:solidFill>
                <a:latin typeface="Cambria"/>
              </a:rPr>
              <a:t>•  Low cloud sat on the peaks and rain was moving in</a:t>
            </a:r>
          </a:p>
          <a:p>
            <a:pPr>
              <a:spcBef>
                <a:spcPts val="400"/>
              </a:spcBef>
            </a:pPr>
            <a:r>
              <a:rPr sz="1300">
                <a:solidFill>
                  <a:srgbClr val="222A3F"/>
                </a:solidFill>
                <a:latin typeface="Cambria"/>
              </a:rPr>
              <a:t>•  A National Weather Service flash flood warning covered the area: a travel ban, not a judgment call. The drive was not started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04/09  STATUS  2026-10-28</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RESCHEDULED: SAME TEST, NEXT CLEAR WEEKEND</a:t>
            </a:r>
          </a:p>
        </p:txBody>
      </p:sp>
      <p:sp>
        <p:nvSpPr>
          <p:cNvPr id="8" name="Rectangle 7"/>
          <p:cNvSpPr/>
          <p:nvPr/>
        </p:nvSpPr>
        <p:spPr>
          <a:xfrm>
            <a:off x="502920" y="1280160"/>
            <a:ext cx="640080" cy="77724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44751"/>
            <a:ext cx="640080" cy="457200"/>
          </a:xfrm>
          <a:prstGeom prst="rect">
            <a:avLst/>
          </a:prstGeom>
          <a:noFill/>
        </p:spPr>
        <p:txBody>
          <a:bodyPr wrap="square" lIns="0" rIns="0" tIns="0" bIns="0">
            <a:spAutoFit/>
          </a:bodyPr>
          <a:lstStyle/>
          <a:p>
            <a:pPr algn="ctr"/>
            <a:r>
              <a:rPr sz="2200" b="1" i="0">
                <a:solidFill>
                  <a:srgbClr val="FFFFFF"/>
                </a:solidFill>
                <a:latin typeface="Cambria"/>
              </a:rPr>
              <a:t>1</a:t>
            </a:r>
          </a:p>
        </p:txBody>
      </p:sp>
      <p:sp>
        <p:nvSpPr>
          <p:cNvPr id="10" name="Rectangle 9"/>
          <p:cNvSpPr/>
          <p:nvPr/>
        </p:nvSpPr>
        <p:spPr>
          <a:xfrm>
            <a:off x="1143000" y="1280160"/>
            <a:ext cx="10515600" cy="777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371600"/>
            <a:ext cx="2926080" cy="365760"/>
          </a:xfrm>
          <a:prstGeom prst="rect">
            <a:avLst/>
          </a:prstGeom>
          <a:noFill/>
        </p:spPr>
        <p:txBody>
          <a:bodyPr wrap="square" lIns="0" rIns="0" tIns="0" bIns="0">
            <a:spAutoFit/>
          </a:bodyPr>
          <a:lstStyle/>
          <a:p>
            <a:pPr algn="l"/>
            <a:r>
              <a:rPr sz="1300" b="1" i="0" spc="100">
                <a:solidFill>
                  <a:srgbClr val="16213D"/>
                </a:solidFill>
                <a:latin typeface="Cambria"/>
              </a:rPr>
              <a:t>PICK A CLEAR DAY</a:t>
            </a:r>
          </a:p>
        </p:txBody>
      </p:sp>
      <p:sp>
        <p:nvSpPr>
          <p:cNvPr id="12" name="TextBox 11"/>
          <p:cNvSpPr txBox="1"/>
          <p:nvPr/>
        </p:nvSpPr>
        <p:spPr>
          <a:xfrm>
            <a:off x="4297680" y="1481328"/>
            <a:ext cx="7223760" cy="457200"/>
          </a:xfrm>
          <a:prstGeom prst="rect">
            <a:avLst/>
          </a:prstGeom>
          <a:noFill/>
        </p:spPr>
        <p:txBody>
          <a:bodyPr wrap="square" lIns="0" rIns="0" tIns="0" bIns="0">
            <a:spAutoFit/>
          </a:bodyPr>
          <a:lstStyle/>
          <a:p>
            <a:pPr algn="l"/>
            <a:r>
              <a:rPr sz="1300" b="0" i="0">
                <a:solidFill>
                  <a:srgbClr val="222A3F"/>
                </a:solidFill>
                <a:latin typeface="Cambria"/>
              </a:rPr>
              <a:t>Check the forecast the day before; no warnings, no rain</a:t>
            </a:r>
          </a:p>
        </p:txBody>
      </p:sp>
      <p:sp>
        <p:nvSpPr>
          <p:cNvPr id="13" name="Rectangle 12"/>
          <p:cNvSpPr/>
          <p:nvPr/>
        </p:nvSpPr>
        <p:spPr>
          <a:xfrm>
            <a:off x="502920" y="2194560"/>
            <a:ext cx="640080" cy="77724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359152"/>
            <a:ext cx="640080" cy="457200"/>
          </a:xfrm>
          <a:prstGeom prst="rect">
            <a:avLst/>
          </a:prstGeom>
          <a:noFill/>
        </p:spPr>
        <p:txBody>
          <a:bodyPr wrap="square" lIns="0" rIns="0" tIns="0" bIns="0">
            <a:spAutoFit/>
          </a:bodyPr>
          <a:lstStyle/>
          <a:p>
            <a:pPr algn="ctr"/>
            <a:r>
              <a:rPr sz="2200" b="1" i="0">
                <a:solidFill>
                  <a:srgbClr val="FFFFFF"/>
                </a:solidFill>
                <a:latin typeface="Cambria"/>
              </a:rPr>
              <a:t>2</a:t>
            </a:r>
          </a:p>
        </p:txBody>
      </p:sp>
      <p:sp>
        <p:nvSpPr>
          <p:cNvPr id="15" name="Rectangle 14"/>
          <p:cNvSpPr/>
          <p:nvPr/>
        </p:nvSpPr>
        <p:spPr>
          <a:xfrm>
            <a:off x="1143000" y="2194560"/>
            <a:ext cx="10515600" cy="777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5880" y="2286000"/>
            <a:ext cx="2926080" cy="365760"/>
          </a:xfrm>
          <a:prstGeom prst="rect">
            <a:avLst/>
          </a:prstGeom>
          <a:noFill/>
        </p:spPr>
        <p:txBody>
          <a:bodyPr wrap="square" lIns="0" rIns="0" tIns="0" bIns="0">
            <a:spAutoFit/>
          </a:bodyPr>
          <a:lstStyle/>
          <a:p>
            <a:pPr algn="l"/>
            <a:r>
              <a:rPr sz="1300" b="1" i="0" spc="100">
                <a:solidFill>
                  <a:srgbClr val="16213D"/>
                </a:solidFill>
                <a:latin typeface="Cambria"/>
              </a:rPr>
              <a:t>PRE-FLIGHT</a:t>
            </a:r>
          </a:p>
        </p:txBody>
      </p:sp>
      <p:sp>
        <p:nvSpPr>
          <p:cNvPr id="17" name="TextBox 16"/>
          <p:cNvSpPr txBox="1"/>
          <p:nvPr/>
        </p:nvSpPr>
        <p:spPr>
          <a:xfrm>
            <a:off x="4297680" y="2395728"/>
            <a:ext cx="7223760" cy="457200"/>
          </a:xfrm>
          <a:prstGeom prst="rect">
            <a:avLst/>
          </a:prstGeom>
          <a:noFill/>
        </p:spPr>
        <p:txBody>
          <a:bodyPr wrap="square" lIns="0" rIns="0" tIns="0" bIns="0">
            <a:spAutoFit/>
          </a:bodyPr>
          <a:lstStyle/>
          <a:p>
            <a:pPr algn="l"/>
            <a:r>
              <a:rPr sz="1300" b="0" i="0">
                <a:solidFill>
                  <a:srgbClr val="222A3F"/>
                </a:solidFill>
                <a:latin typeface="Cambria"/>
              </a:rPr>
              <a:t>Both radio screens must read 912.875 MHz; both displays show the link</a:t>
            </a:r>
          </a:p>
        </p:txBody>
      </p:sp>
      <p:sp>
        <p:nvSpPr>
          <p:cNvPr id="18" name="Rectangle 17"/>
          <p:cNvSpPr/>
          <p:nvPr/>
        </p:nvSpPr>
        <p:spPr>
          <a:xfrm>
            <a:off x="502920" y="3108960"/>
            <a:ext cx="640080" cy="77724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273552"/>
            <a:ext cx="640080" cy="457200"/>
          </a:xfrm>
          <a:prstGeom prst="rect">
            <a:avLst/>
          </a:prstGeom>
          <a:noFill/>
        </p:spPr>
        <p:txBody>
          <a:bodyPr wrap="square" lIns="0" rIns="0" tIns="0" bIns="0">
            <a:spAutoFit/>
          </a:bodyPr>
          <a:lstStyle/>
          <a:p>
            <a:pPr algn="ctr"/>
            <a:r>
              <a:rPr sz="2200" b="1" i="0">
                <a:solidFill>
                  <a:srgbClr val="FFFFFF"/>
                </a:solidFill>
                <a:latin typeface="Cambria"/>
              </a:rPr>
              <a:t>3</a:t>
            </a:r>
          </a:p>
        </p:txBody>
      </p:sp>
      <p:sp>
        <p:nvSpPr>
          <p:cNvPr id="20" name="Rectangle 19"/>
          <p:cNvSpPr/>
          <p:nvPr/>
        </p:nvSpPr>
        <p:spPr>
          <a:xfrm>
            <a:off x="1143000" y="3108960"/>
            <a:ext cx="10515600" cy="777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3200400"/>
            <a:ext cx="2926080" cy="365760"/>
          </a:xfrm>
          <a:prstGeom prst="rect">
            <a:avLst/>
          </a:prstGeom>
          <a:noFill/>
        </p:spPr>
        <p:txBody>
          <a:bodyPr wrap="square" lIns="0" rIns="0" tIns="0" bIns="0">
            <a:spAutoFit/>
          </a:bodyPr>
          <a:lstStyle/>
          <a:p>
            <a:pPr algn="l"/>
            <a:r>
              <a:rPr sz="1300" b="1" i="0" spc="100">
                <a:solidFill>
                  <a:srgbClr val="16213D"/>
                </a:solidFill>
                <a:latin typeface="Cambria"/>
              </a:rPr>
              <a:t>ANTENNAS ON THE ROOFS</a:t>
            </a:r>
          </a:p>
        </p:txBody>
      </p:sp>
      <p:sp>
        <p:nvSpPr>
          <p:cNvPr id="22" name="TextBox 21"/>
          <p:cNvSpPr txBox="1"/>
          <p:nvPr/>
        </p:nvSpPr>
        <p:spPr>
          <a:xfrm>
            <a:off x="4297680" y="3310128"/>
            <a:ext cx="7223760" cy="457200"/>
          </a:xfrm>
          <a:prstGeom prst="rect">
            <a:avLst/>
          </a:prstGeom>
          <a:noFill/>
        </p:spPr>
        <p:txBody>
          <a:bodyPr wrap="square" lIns="0" rIns="0" tIns="0" bIns="0">
            <a:spAutoFit/>
          </a:bodyPr>
          <a:lstStyle/>
          <a:p>
            <a:pPr algn="l"/>
            <a:r>
              <a:rPr sz="1300" b="0" i="0">
                <a:solidFill>
                  <a:srgbClr val="222A3F"/>
                </a:solidFill>
                <a:latin typeface="Cambria"/>
              </a:rPr>
              <a:t>One radio per car, antenna mounted on the roof, display on the dash</a:t>
            </a:r>
          </a:p>
        </p:txBody>
      </p:sp>
      <p:sp>
        <p:nvSpPr>
          <p:cNvPr id="23" name="Rectangle 22"/>
          <p:cNvSpPr/>
          <p:nvPr/>
        </p:nvSpPr>
        <p:spPr>
          <a:xfrm>
            <a:off x="502920" y="4023360"/>
            <a:ext cx="640080" cy="77724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187952"/>
            <a:ext cx="640080" cy="457200"/>
          </a:xfrm>
          <a:prstGeom prst="rect">
            <a:avLst/>
          </a:prstGeom>
          <a:noFill/>
        </p:spPr>
        <p:txBody>
          <a:bodyPr wrap="square" lIns="0" rIns="0" tIns="0" bIns="0">
            <a:spAutoFit/>
          </a:bodyPr>
          <a:lstStyle/>
          <a:p>
            <a:pPr algn="ctr"/>
            <a:r>
              <a:rPr sz="2200" b="1" i="0">
                <a:solidFill>
                  <a:srgbClr val="FFFFFF"/>
                </a:solidFill>
                <a:latin typeface="Cambria"/>
              </a:rPr>
              <a:t>4</a:t>
            </a:r>
          </a:p>
        </p:txBody>
      </p:sp>
      <p:sp>
        <p:nvSpPr>
          <p:cNvPr id="25" name="Rectangle 24"/>
          <p:cNvSpPr/>
          <p:nvPr/>
        </p:nvSpPr>
        <p:spPr>
          <a:xfrm>
            <a:off x="1143000" y="4023360"/>
            <a:ext cx="10515600" cy="777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25880" y="4114800"/>
            <a:ext cx="2926080" cy="365760"/>
          </a:xfrm>
          <a:prstGeom prst="rect">
            <a:avLst/>
          </a:prstGeom>
          <a:noFill/>
        </p:spPr>
        <p:txBody>
          <a:bodyPr wrap="square" lIns="0" rIns="0" tIns="0" bIns="0">
            <a:spAutoFit/>
          </a:bodyPr>
          <a:lstStyle/>
          <a:p>
            <a:pPr algn="l"/>
            <a:r>
              <a:rPr sz="1300" b="1" i="0" spc="100">
                <a:solidFill>
                  <a:srgbClr val="16213D"/>
                </a:solidFill>
                <a:latin typeface="Cambria"/>
              </a:rPr>
              <a:t>DRIVE APART</a:t>
            </a:r>
          </a:p>
        </p:txBody>
      </p:sp>
      <p:sp>
        <p:nvSpPr>
          <p:cNvPr id="27" name="TextBox 26"/>
          <p:cNvSpPr txBox="1"/>
          <p:nvPr/>
        </p:nvSpPr>
        <p:spPr>
          <a:xfrm>
            <a:off x="4297680" y="4224528"/>
            <a:ext cx="7223760" cy="457200"/>
          </a:xfrm>
          <a:prstGeom prst="rect">
            <a:avLst/>
          </a:prstGeom>
          <a:noFill/>
        </p:spPr>
        <p:txBody>
          <a:bodyPr wrap="square" lIns="0" rIns="0" tIns="0" bIns="0">
            <a:spAutoFit/>
          </a:bodyPr>
          <a:lstStyle/>
          <a:p>
            <a:pPr algn="l"/>
            <a:r>
              <a:rPr sz="1300" b="0" i="0">
                <a:solidFill>
                  <a:srgbClr val="222A3F"/>
                </a:solidFill>
                <a:latin typeface="Cambria"/>
              </a:rPr>
              <a:t>Open road, no hills between the cars, until the display says LINK LOST</a:t>
            </a:r>
          </a:p>
        </p:txBody>
      </p:sp>
      <p:sp>
        <p:nvSpPr>
          <p:cNvPr id="28" name="Rectangle 27"/>
          <p:cNvSpPr/>
          <p:nvPr/>
        </p:nvSpPr>
        <p:spPr>
          <a:xfrm>
            <a:off x="502920" y="4937760"/>
            <a:ext cx="640080" cy="77724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5102352"/>
            <a:ext cx="640080" cy="457200"/>
          </a:xfrm>
          <a:prstGeom prst="rect">
            <a:avLst/>
          </a:prstGeom>
          <a:noFill/>
        </p:spPr>
        <p:txBody>
          <a:bodyPr wrap="square" lIns="0" rIns="0" tIns="0" bIns="0">
            <a:spAutoFit/>
          </a:bodyPr>
          <a:lstStyle/>
          <a:p>
            <a:pPr algn="ctr"/>
            <a:r>
              <a:rPr sz="2200" b="1" i="0">
                <a:solidFill>
                  <a:srgbClr val="FFFFFF"/>
                </a:solidFill>
                <a:latin typeface="Cambria"/>
              </a:rPr>
              <a:t>5</a:t>
            </a:r>
          </a:p>
        </p:txBody>
      </p:sp>
      <p:sp>
        <p:nvSpPr>
          <p:cNvPr id="30" name="Rectangle 29"/>
          <p:cNvSpPr/>
          <p:nvPr/>
        </p:nvSpPr>
        <p:spPr>
          <a:xfrm>
            <a:off x="1143000" y="4937760"/>
            <a:ext cx="10515600" cy="7772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5029200"/>
            <a:ext cx="2926080" cy="365760"/>
          </a:xfrm>
          <a:prstGeom prst="rect">
            <a:avLst/>
          </a:prstGeom>
          <a:noFill/>
        </p:spPr>
        <p:txBody>
          <a:bodyPr wrap="square" lIns="0" rIns="0" tIns="0" bIns="0">
            <a:spAutoFit/>
          </a:bodyPr>
          <a:lstStyle/>
          <a:p>
            <a:pPr algn="l"/>
            <a:r>
              <a:rPr sz="1300" b="1" i="0" spc="100">
                <a:solidFill>
                  <a:srgbClr val="16213D"/>
                </a:solidFill>
                <a:latin typeface="Cambria"/>
              </a:rPr>
              <a:t>RECORD</a:t>
            </a:r>
          </a:p>
        </p:txBody>
      </p:sp>
      <p:sp>
        <p:nvSpPr>
          <p:cNvPr id="32" name="TextBox 31"/>
          <p:cNvSpPr txBox="1"/>
          <p:nvPr/>
        </p:nvSpPr>
        <p:spPr>
          <a:xfrm>
            <a:off x="4297680" y="5138928"/>
            <a:ext cx="7223760" cy="457200"/>
          </a:xfrm>
          <a:prstGeom prst="rect">
            <a:avLst/>
          </a:prstGeom>
          <a:noFill/>
        </p:spPr>
        <p:txBody>
          <a:bodyPr wrap="square" lIns="0" rIns="0" tIns="0" bIns="0">
            <a:spAutoFit/>
          </a:bodyPr>
          <a:lstStyle/>
          <a:p>
            <a:pPr algn="l"/>
            <a:r>
              <a:rPr sz="1300" b="0" i="0">
                <a:solidFill>
                  <a:srgbClr val="222A3F"/>
                </a:solidFill>
                <a:latin typeface="Cambria"/>
              </a:rPr>
              <a:t>Note the distance of the last packet and the distance where the link came back</a:t>
            </a:r>
          </a:p>
        </p:txBody>
      </p:sp>
      <p:sp>
        <p:nvSpPr>
          <p:cNvPr id="33" name="TextBox 32"/>
          <p:cNvSpPr txBox="1"/>
          <p:nvPr/>
        </p:nvSpPr>
        <p:spPr>
          <a:xfrm>
            <a:off x="502920" y="5897880"/>
            <a:ext cx="11155680" cy="365760"/>
          </a:xfrm>
          <a:prstGeom prst="rect">
            <a:avLst/>
          </a:prstGeom>
          <a:noFill/>
        </p:spPr>
        <p:txBody>
          <a:bodyPr wrap="square" lIns="0" rIns="0" tIns="0" bIns="0">
            <a:spAutoFit/>
          </a:bodyPr>
          <a:lstStyle/>
          <a:p>
            <a:pPr algn="l"/>
            <a:r>
              <a:rPr sz="1200" b="0" i="1">
                <a:solidFill>
                  <a:srgbClr val="5E6B85"/>
                </a:solidFill>
                <a:latin typeface="Cambria"/>
              </a:rPr>
              <a:t>Both radios now carry the fix on sheet 6, so a flat battery on the drive out cannot cost the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05/09  STATUS  2026-10-28</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MEANWHILE: WHY THE RADIOS FORGET</a:t>
            </a:r>
          </a:p>
        </p:txBody>
      </p:sp>
      <p:sp>
        <p:nvSpPr>
          <p:cNvPr id="8" name="TextBox 7"/>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A Qualcomm engineer asked whether the memory itself was at fault. We measured it.</a:t>
            </a:r>
          </a:p>
        </p:txBody>
      </p:sp>
      <p:pic>
        <p:nvPicPr>
          <p:cNvPr id="9" name="Picture 8" descr="g_maps_compare.png"/>
          <p:cNvPicPr>
            <a:picLocks noChangeAspect="1"/>
          </p:cNvPicPr>
          <p:nvPr/>
        </p:nvPicPr>
        <p:blipFill>
          <a:blip r:embed="rId2"/>
          <a:stretch>
            <a:fillRect/>
          </a:stretch>
        </p:blipFill>
        <p:spPr>
          <a:xfrm>
            <a:off x="502920" y="1280160"/>
            <a:ext cx="7863840" cy="2283050"/>
          </a:xfrm>
          <a:prstGeom prst="rect">
            <a:avLst/>
          </a:prstGeom>
        </p:spPr>
      </p:pic>
      <p:sp>
        <p:nvSpPr>
          <p:cNvPr id="10" name="Rectangle 9"/>
          <p:cNvSpPr/>
          <p:nvPr/>
        </p:nvSpPr>
        <p:spPr>
          <a:xfrm>
            <a:off x="8549640" y="1280160"/>
            <a:ext cx="3154680" cy="452628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1399031"/>
            <a:ext cx="2825496" cy="4288536"/>
          </a:xfrm>
          <a:prstGeom prst="rect">
            <a:avLst/>
          </a:prstGeom>
          <a:noFill/>
        </p:spPr>
        <p:txBody>
          <a:bodyPr wrap="square" lIns="0" rIns="0" tIns="0" bIns="0">
            <a:spAutoFit/>
          </a:bodyPr>
          <a:lstStyle/>
          <a:p>
            <a:r>
              <a:rPr sz="1400" b="1" spc="100">
                <a:solidFill>
                  <a:srgbClr val="E58E1A"/>
                </a:solidFill>
                <a:latin typeface="Cambria"/>
              </a:rPr>
              <a:t>IN PLAIN WORDS</a:t>
            </a:r>
          </a:p>
          <a:p>
            <a:pPr>
              <a:spcBef>
                <a:spcPts val="400"/>
              </a:spcBef>
            </a:pPr>
            <a:r>
              <a:rPr sz="1250">
                <a:solidFill>
                  <a:srgbClr val="222A3F"/>
                </a:solidFill>
                <a:latin typeface="Cambria"/>
              </a:rPr>
              <a:t>•  Three times this semester a radio came back from a flat battery with its settings gone</a:t>
            </a:r>
          </a:p>
          <a:p>
            <a:pPr>
              <a:spcBef>
                <a:spcPts val="400"/>
              </a:spcBef>
            </a:pPr>
            <a:r>
              <a:rPr sz="1250">
                <a:solidFill>
                  <a:srgbClr val="222A3F"/>
                </a:solidFill>
                <a:latin typeface="Cambria"/>
              </a:rPr>
              <a:t>•  We read the settings area of the memory chip three times in a row, with nothing running</a:t>
            </a:r>
          </a:p>
          <a:p>
            <a:pPr>
              <a:spcBef>
                <a:spcPts val="400"/>
              </a:spcBef>
            </a:pPr>
            <a:r>
              <a:rPr sz="1250">
                <a:solidFill>
                  <a:srgbClr val="222A3F"/>
                </a:solidFill>
                <a:latin typeface="Cambria"/>
              </a:rPr>
              <a:t>•  SF: 21 spots gave different answers each time (red). RG: none</a:t>
            </a:r>
          </a:p>
          <a:p>
            <a:pPr>
              <a:spcBef>
                <a:spcPts val="400"/>
              </a:spcBef>
            </a:pPr>
            <a:r>
              <a:rPr sz="1250">
                <a:solidFill>
                  <a:srgbClr val="222A3F"/>
                </a:solidFill>
                <a:latin typeface="Cambria"/>
              </a:rPr>
              <a:t>•  Rewriting those spots on a good power supply made them perfect. The chip is healthy</a:t>
            </a:r>
          </a:p>
          <a:p>
            <a:pPr>
              <a:spcBef>
                <a:spcPts val="400"/>
              </a:spcBef>
            </a:pPr>
            <a:r>
              <a:rPr sz="1250">
                <a:solidFill>
                  <a:srgbClr val="222A3F"/>
                </a:solidFill>
                <a:latin typeface="Cambria"/>
              </a:rPr>
              <a:t>•  The cause: the radio writes to memory while the battery is sagging below what the chip needs</a:t>
            </a:r>
          </a:p>
        </p:txBody>
      </p:sp>
      <p:sp>
        <p:nvSpPr>
          <p:cNvPr id="12" name="TextBox 11"/>
          <p:cNvSpPr txBox="1"/>
          <p:nvPr/>
        </p:nvSpPr>
        <p:spPr>
          <a:xfrm>
            <a:off x="502920" y="3794760"/>
            <a:ext cx="7863840" cy="1005840"/>
          </a:xfrm>
          <a:prstGeom prst="rect">
            <a:avLst/>
          </a:prstGeom>
          <a:noFill/>
        </p:spPr>
        <p:txBody>
          <a:bodyPr wrap="square" lIns="0" rIns="0" tIns="0" bIns="0">
            <a:spAutoFit/>
          </a:bodyPr>
          <a:lstStyle/>
          <a:p>
            <a:pPr algn="l"/>
            <a:r>
              <a:rPr sz="1250" b="0" i="0">
                <a:solidFill>
                  <a:srgbClr val="222A3F"/>
                </a:solidFill>
                <a:latin typeface="Cambria"/>
              </a:rPr>
              <a:t>Each square is a 4 KB block of the settings area. Red blocks read differently on every pass. Green blocks held the live settings that day. SF was repaired the same day: 21 red blocks to 0. The full evidence is a separate 20-sheet presentation, ready in the repository.</a:t>
            </a:r>
          </a:p>
        </p:txBody>
      </p:sp>
      <p:sp>
        <p:nvSpPr>
          <p:cNvPr id="13" name="Rectangle 12"/>
          <p:cNvSpPr/>
          <p:nvPr/>
        </p:nvSpPr>
        <p:spPr>
          <a:xfrm>
            <a:off x="502920" y="5074920"/>
            <a:ext cx="3794760" cy="96012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184648"/>
            <a:ext cx="3794760" cy="508000"/>
          </a:xfrm>
          <a:prstGeom prst="rect">
            <a:avLst/>
          </a:prstGeom>
          <a:noFill/>
        </p:spPr>
        <p:txBody>
          <a:bodyPr wrap="square" lIns="0" rIns="0" tIns="0" bIns="0">
            <a:spAutoFit/>
          </a:bodyPr>
          <a:lstStyle/>
          <a:p>
            <a:pPr algn="ctr"/>
            <a:r>
              <a:rPr sz="2000" b="1" i="0">
                <a:solidFill>
                  <a:srgbClr val="C43A4B"/>
                </a:solidFill>
                <a:latin typeface="Cambria"/>
              </a:rPr>
              <a:t>21 -&gt; 0</a:t>
            </a:r>
          </a:p>
        </p:txBody>
      </p:sp>
      <p:sp>
        <p:nvSpPr>
          <p:cNvPr id="15" name="TextBox 14"/>
          <p:cNvSpPr txBox="1"/>
          <p:nvPr/>
        </p:nvSpPr>
        <p:spPr>
          <a:xfrm>
            <a:off x="640080" y="5784087"/>
            <a:ext cx="3520440" cy="177799"/>
          </a:xfrm>
          <a:prstGeom prst="rect">
            <a:avLst/>
          </a:prstGeom>
          <a:noFill/>
        </p:spPr>
        <p:txBody>
          <a:bodyPr wrap="square" lIns="0" rIns="0" tIns="0" bIns="0">
            <a:spAutoFit/>
          </a:bodyPr>
          <a:lstStyle/>
          <a:p>
            <a:pPr algn="ctr"/>
            <a:r>
              <a:rPr sz="1100" b="0" i="0">
                <a:solidFill>
                  <a:srgbClr val="222A3F"/>
                </a:solidFill>
                <a:latin typeface="Cambria"/>
              </a:rPr>
              <a:t>bad blocks on SF, before and after the repair</a:t>
            </a:r>
          </a:p>
        </p:txBody>
      </p:sp>
      <p:sp>
        <p:nvSpPr>
          <p:cNvPr id="16" name="Rectangle 15"/>
          <p:cNvSpPr/>
          <p:nvPr/>
        </p:nvSpPr>
        <p:spPr>
          <a:xfrm>
            <a:off x="4572000" y="5074920"/>
            <a:ext cx="3794760" cy="96012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5184648"/>
            <a:ext cx="3794760" cy="508000"/>
          </a:xfrm>
          <a:prstGeom prst="rect">
            <a:avLst/>
          </a:prstGeom>
          <a:noFill/>
        </p:spPr>
        <p:txBody>
          <a:bodyPr wrap="square" lIns="0" rIns="0" tIns="0" bIns="0">
            <a:spAutoFit/>
          </a:bodyPr>
          <a:lstStyle/>
          <a:p>
            <a:pPr algn="ctr"/>
            <a:r>
              <a:rPr sz="2000" b="1" i="0">
                <a:solidFill>
                  <a:srgbClr val="1F9D68"/>
                </a:solidFill>
                <a:latin typeface="Cambria"/>
              </a:rPr>
              <a:t>0</a:t>
            </a:r>
          </a:p>
        </p:txBody>
      </p:sp>
      <p:sp>
        <p:nvSpPr>
          <p:cNvPr id="18" name="TextBox 17"/>
          <p:cNvSpPr txBox="1"/>
          <p:nvPr/>
        </p:nvSpPr>
        <p:spPr>
          <a:xfrm>
            <a:off x="4709160" y="5784087"/>
            <a:ext cx="3520440" cy="177799"/>
          </a:xfrm>
          <a:prstGeom prst="rect">
            <a:avLst/>
          </a:prstGeom>
          <a:noFill/>
        </p:spPr>
        <p:txBody>
          <a:bodyPr wrap="square" lIns="0" rIns="0" tIns="0" bIns="0">
            <a:spAutoFit/>
          </a:bodyPr>
          <a:lstStyle/>
          <a:p>
            <a:pPr algn="ctr"/>
            <a:r>
              <a:rPr sz="1100" b="0" i="0">
                <a:solidFill>
                  <a:srgbClr val="222A3F"/>
                </a:solidFill>
                <a:latin typeface="Cambria"/>
              </a:rPr>
              <a:t>bad blocks on 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06/09  STATUS  2026-10-28</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FIX IS ON BOTH RADIOS</a:t>
            </a:r>
          </a:p>
        </p:txBody>
      </p:sp>
      <p:sp>
        <p:nvSpPr>
          <p:cNvPr id="8" name="TextBox 7"/>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Built 27 October, flashed and tested 28 October</a:t>
            </a:r>
          </a:p>
        </p:txBody>
      </p:sp>
      <p:sp>
        <p:nvSpPr>
          <p:cNvPr id="9" name="Rectangle 8"/>
          <p:cNvSpPr/>
          <p:nvPr/>
        </p:nvSpPr>
        <p:spPr>
          <a:xfrm>
            <a:off x="502920" y="1280160"/>
            <a:ext cx="5486400" cy="246888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399031"/>
            <a:ext cx="5157216" cy="2231136"/>
          </a:xfrm>
          <a:prstGeom prst="rect">
            <a:avLst/>
          </a:prstGeom>
          <a:noFill/>
        </p:spPr>
        <p:txBody>
          <a:bodyPr wrap="square" lIns="0" rIns="0" tIns="0" bIns="0">
            <a:spAutoFit/>
          </a:bodyPr>
          <a:lstStyle/>
          <a:p>
            <a:r>
              <a:rPr sz="1400" b="1" spc="100">
                <a:solidFill>
                  <a:srgbClr val="1F9D68"/>
                </a:solidFill>
                <a:latin typeface="Cambria"/>
              </a:rPr>
              <a:t>WHAT IT IS</a:t>
            </a:r>
          </a:p>
          <a:p>
            <a:pPr>
              <a:spcBef>
                <a:spcPts val="400"/>
              </a:spcBef>
            </a:pPr>
            <a:r>
              <a:rPr sz="1350">
                <a:solidFill>
                  <a:srgbClr val="222A3F"/>
                </a:solidFill>
                <a:latin typeface="Cambria"/>
              </a:rPr>
              <a:t>The radio firmware was rebuilt so that its factory settings ARE our settings: our channel, our frequency, no PIN, our names. If the radio ever loses its settings again, it falls back to the right ones by itself.</a:t>
            </a:r>
          </a:p>
        </p:txBody>
      </p:sp>
      <p:sp>
        <p:nvSpPr>
          <p:cNvPr id="11" name="Rectangle 10"/>
          <p:cNvSpPr/>
          <p:nvPr/>
        </p:nvSpPr>
        <p:spPr>
          <a:xfrm>
            <a:off x="6172200" y="1280160"/>
            <a:ext cx="5532120" cy="246888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399031"/>
            <a:ext cx="5202936" cy="2231136"/>
          </a:xfrm>
          <a:prstGeom prst="rect">
            <a:avLst/>
          </a:prstGeom>
          <a:noFill/>
        </p:spPr>
        <p:txBody>
          <a:bodyPr wrap="square" lIns="0" rIns="0" tIns="0" bIns="0">
            <a:spAutoFit/>
          </a:bodyPr>
          <a:lstStyle/>
          <a:p>
            <a:r>
              <a:rPr sz="1400" b="1" spc="100">
                <a:solidFill>
                  <a:srgbClr val="16213D"/>
                </a:solidFill>
                <a:latin typeface="Cambria"/>
              </a:rPr>
              <a:t>HOW IT WAS TESTED</a:t>
            </a:r>
          </a:p>
          <a:p>
            <a:pPr>
              <a:spcBef>
                <a:spcPts val="400"/>
              </a:spcBef>
            </a:pPr>
            <a:r>
              <a:rPr sz="1300">
                <a:solidFill>
                  <a:srgbClr val="222A3F"/>
                </a:solidFill>
                <a:latin typeface="Cambria"/>
              </a:rPr>
              <a:t>•  Flash the radio, then order a factory reset</a:t>
            </a:r>
          </a:p>
          <a:p>
            <a:pPr>
              <a:spcBef>
                <a:spcPts val="400"/>
              </a:spcBef>
            </a:pPr>
            <a:r>
              <a:rPr sz="1300">
                <a:solidFill>
                  <a:srgbClr val="222A3F"/>
                </a:solidFill>
                <a:latin typeface="Cambria"/>
              </a:rPr>
              <a:t>•  The radio came back on Group9 at 912.875 MHz with the right name and no PIN, with nobody touching it</a:t>
            </a:r>
          </a:p>
          <a:p>
            <a:pPr>
              <a:spcBef>
                <a:spcPts val="400"/>
              </a:spcBef>
            </a:pPr>
            <a:r>
              <a:rPr sz="1300">
                <a:solidFill>
                  <a:srgbClr val="222A3F"/>
                </a:solidFill>
                <a:latin typeface="Cambria"/>
              </a:rPr>
              <a:t>•  Done on both SF and RG; both screens read 912.875 before they were unplugged</a:t>
            </a:r>
          </a:p>
        </p:txBody>
      </p:sp>
      <p:sp>
        <p:nvSpPr>
          <p:cNvPr id="13" name="Rectangle 12"/>
          <p:cNvSpPr/>
          <p:nvPr/>
        </p:nvSpPr>
        <p:spPr>
          <a:xfrm>
            <a:off x="502920" y="3977639"/>
            <a:ext cx="361188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087368"/>
            <a:ext cx="3611880" cy="711200"/>
          </a:xfrm>
          <a:prstGeom prst="rect">
            <a:avLst/>
          </a:prstGeom>
          <a:noFill/>
        </p:spPr>
        <p:txBody>
          <a:bodyPr wrap="square" lIns="0" rIns="0" tIns="0" bIns="0">
            <a:spAutoFit/>
          </a:bodyPr>
          <a:lstStyle/>
          <a:p>
            <a:pPr algn="ctr"/>
            <a:r>
              <a:rPr sz="2800" b="1" i="0">
                <a:solidFill>
                  <a:srgbClr val="1F9D68"/>
                </a:solidFill>
                <a:latin typeface="Cambria"/>
              </a:rPr>
              <a:t>2 / 2</a:t>
            </a:r>
          </a:p>
        </p:txBody>
      </p:sp>
      <p:sp>
        <p:nvSpPr>
          <p:cNvPr id="15" name="TextBox 14"/>
          <p:cNvSpPr txBox="1"/>
          <p:nvPr/>
        </p:nvSpPr>
        <p:spPr>
          <a:xfrm>
            <a:off x="640080" y="4890007"/>
            <a:ext cx="3337560" cy="248920"/>
          </a:xfrm>
          <a:prstGeom prst="rect">
            <a:avLst/>
          </a:prstGeom>
          <a:noFill/>
        </p:spPr>
        <p:txBody>
          <a:bodyPr wrap="square" lIns="0" rIns="0" tIns="0" bIns="0">
            <a:spAutoFit/>
          </a:bodyPr>
          <a:lstStyle/>
          <a:p>
            <a:pPr algn="ctr"/>
            <a:r>
              <a:rPr sz="1100" b="0" i="0">
                <a:solidFill>
                  <a:srgbClr val="222A3F"/>
                </a:solidFill>
                <a:latin typeface="Cambria"/>
              </a:rPr>
              <a:t>radios flashed and tested</a:t>
            </a:r>
          </a:p>
        </p:txBody>
      </p:sp>
      <p:sp>
        <p:nvSpPr>
          <p:cNvPr id="16" name="Rectangle 15"/>
          <p:cNvSpPr/>
          <p:nvPr/>
        </p:nvSpPr>
        <p:spPr>
          <a:xfrm>
            <a:off x="4274820" y="3977639"/>
            <a:ext cx="361188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74820" y="4087368"/>
            <a:ext cx="3611880" cy="711200"/>
          </a:xfrm>
          <a:prstGeom prst="rect">
            <a:avLst/>
          </a:prstGeom>
          <a:noFill/>
        </p:spPr>
        <p:txBody>
          <a:bodyPr wrap="square" lIns="0" rIns="0" tIns="0" bIns="0">
            <a:spAutoFit/>
          </a:bodyPr>
          <a:lstStyle/>
          <a:p>
            <a:pPr algn="ctr"/>
            <a:r>
              <a:rPr sz="2800" b="1" i="0">
                <a:solidFill>
                  <a:srgbClr val="1F9D68"/>
                </a:solidFill>
                <a:latin typeface="Cambria"/>
              </a:rPr>
              <a:t>0</a:t>
            </a:r>
          </a:p>
        </p:txBody>
      </p:sp>
      <p:sp>
        <p:nvSpPr>
          <p:cNvPr id="18" name="TextBox 17"/>
          <p:cNvSpPr txBox="1"/>
          <p:nvPr/>
        </p:nvSpPr>
        <p:spPr>
          <a:xfrm>
            <a:off x="4411980" y="4890007"/>
            <a:ext cx="3337560" cy="248920"/>
          </a:xfrm>
          <a:prstGeom prst="rect">
            <a:avLst/>
          </a:prstGeom>
          <a:noFill/>
        </p:spPr>
        <p:txBody>
          <a:bodyPr wrap="square" lIns="0" rIns="0" tIns="0" bIns="0">
            <a:spAutoFit/>
          </a:bodyPr>
          <a:lstStyle/>
          <a:p>
            <a:pPr algn="ctr"/>
            <a:r>
              <a:rPr sz="1100" b="0" i="0">
                <a:solidFill>
                  <a:srgbClr val="222A3F"/>
                </a:solidFill>
                <a:latin typeface="Cambria"/>
              </a:rPr>
              <a:t>commands needed if a radio forgets again</a:t>
            </a:r>
          </a:p>
        </p:txBody>
      </p:sp>
      <p:sp>
        <p:nvSpPr>
          <p:cNvPr id="19" name="Rectangle 18"/>
          <p:cNvSpPr/>
          <p:nvPr/>
        </p:nvSpPr>
        <p:spPr>
          <a:xfrm>
            <a:off x="8046720" y="3977639"/>
            <a:ext cx="361188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4087368"/>
            <a:ext cx="3611880" cy="711200"/>
          </a:xfrm>
          <a:prstGeom prst="rect">
            <a:avLst/>
          </a:prstGeom>
          <a:noFill/>
        </p:spPr>
        <p:txBody>
          <a:bodyPr wrap="square" lIns="0" rIns="0" tIns="0" bIns="0">
            <a:spAutoFit/>
          </a:bodyPr>
          <a:lstStyle/>
          <a:p>
            <a:pPr algn="ctr"/>
            <a:r>
              <a:rPr sz="2800" b="1" i="0">
                <a:solidFill>
                  <a:srgbClr val="E58E1A"/>
                </a:solidFill>
                <a:latin typeface="Cambria"/>
              </a:rPr>
              <a:t>912.875</a:t>
            </a:r>
          </a:p>
        </p:txBody>
      </p:sp>
      <p:sp>
        <p:nvSpPr>
          <p:cNvPr id="21" name="TextBox 20"/>
          <p:cNvSpPr txBox="1"/>
          <p:nvPr/>
        </p:nvSpPr>
        <p:spPr>
          <a:xfrm>
            <a:off x="8183880" y="4890007"/>
            <a:ext cx="3337560" cy="248920"/>
          </a:xfrm>
          <a:prstGeom prst="rect">
            <a:avLst/>
          </a:prstGeom>
          <a:noFill/>
        </p:spPr>
        <p:txBody>
          <a:bodyPr wrap="square" lIns="0" rIns="0" tIns="0" bIns="0">
            <a:spAutoFit/>
          </a:bodyPr>
          <a:lstStyle/>
          <a:p>
            <a:pPr algn="ctr"/>
            <a:r>
              <a:rPr sz="1100" b="0" i="0">
                <a:solidFill>
                  <a:srgbClr val="222A3F"/>
                </a:solidFill>
                <a:latin typeface="Cambria"/>
              </a:rPr>
              <a:t>MHz on both screens, the pre-flight check</a:t>
            </a:r>
          </a:p>
        </p:txBody>
      </p:sp>
      <p:sp>
        <p:nvSpPr>
          <p:cNvPr id="22" name="TextBox 21"/>
          <p:cNvSpPr txBox="1"/>
          <p:nvPr/>
        </p:nvSpPr>
        <p:spPr>
          <a:xfrm>
            <a:off x="502920" y="5440680"/>
            <a:ext cx="11155680" cy="548640"/>
          </a:xfrm>
          <a:prstGeom prst="rect">
            <a:avLst/>
          </a:prstGeom>
          <a:noFill/>
        </p:spPr>
        <p:txBody>
          <a:bodyPr wrap="square" lIns="0" rIns="0" tIns="0" bIns="0">
            <a:spAutoFit/>
          </a:bodyPr>
          <a:lstStyle/>
          <a:p>
            <a:pPr algn="l"/>
            <a:r>
              <a:rPr sz="1200" b="0" i="1">
                <a:solidFill>
                  <a:srgbClr val="5E6B85"/>
                </a:solidFill>
                <a:latin typeface="Cambria"/>
              </a:rPr>
              <a:t>Still in force: check both screens read 912.875 before any drive; never store a radio with a flat battery.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07/09  STATUS  2026-10-28</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DISPLAY: WHAT CHANGED SINCE THE CANYON</a:t>
            </a:r>
          </a:p>
        </p:txBody>
      </p:sp>
      <p:sp>
        <p:nvSpPr>
          <p:cNvPr id="8" name="Rectangle 7"/>
          <p:cNvSpPr/>
          <p:nvPr/>
        </p:nvSpPr>
        <p:spPr>
          <a:xfrm>
            <a:off x="502920" y="1280160"/>
            <a:ext cx="3657600" cy="2011680"/>
          </a:xfrm>
          <a:prstGeom prst="rect">
            <a:avLst/>
          </a:prstGeom>
          <a:solidFill>
            <a:srgbClr val="F2F5FA"/>
          </a:solidFill>
          <a:ln w="15875">
            <a:solidFill>
              <a:srgbClr val="6D4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399031"/>
            <a:ext cx="3328416" cy="1773936"/>
          </a:xfrm>
          <a:prstGeom prst="rect">
            <a:avLst/>
          </a:prstGeom>
          <a:noFill/>
        </p:spPr>
        <p:txBody>
          <a:bodyPr wrap="square" lIns="0" rIns="0" tIns="0" bIns="0">
            <a:spAutoFit/>
          </a:bodyPr>
          <a:lstStyle/>
          <a:p>
            <a:r>
              <a:rPr sz="1400" b="1" spc="100">
                <a:solidFill>
                  <a:srgbClr val="6D4BDB"/>
                </a:solidFill>
                <a:latin typeface="Cambria"/>
              </a:rPr>
              <a:t>CLOCK-FACE HEADINGS</a:t>
            </a:r>
          </a:p>
          <a:p>
            <a:pPr>
              <a:spcBef>
                <a:spcPts val="400"/>
              </a:spcBef>
            </a:pPr>
            <a:r>
              <a:rPr sz="1300">
                <a:solidFill>
                  <a:srgbClr val="222A3F"/>
                </a:solidFill>
                <a:latin typeface="Cambria"/>
              </a:rPr>
              <a:t>Directions are given as clock positions: 12 is straight ahead, 3 is to the right, 6 behind, 9 to the left. The partner arrow stays.</a:t>
            </a:r>
          </a:p>
        </p:txBody>
      </p:sp>
      <p:sp>
        <p:nvSpPr>
          <p:cNvPr id="10" name="Rectangle 9"/>
          <p:cNvSpPr/>
          <p:nvPr/>
        </p:nvSpPr>
        <p:spPr>
          <a:xfrm>
            <a:off x="4251959" y="1280160"/>
            <a:ext cx="3657600" cy="201168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6551" y="1399031"/>
            <a:ext cx="3328416" cy="1773936"/>
          </a:xfrm>
          <a:prstGeom prst="rect">
            <a:avLst/>
          </a:prstGeom>
          <a:noFill/>
        </p:spPr>
        <p:txBody>
          <a:bodyPr wrap="square" lIns="0" rIns="0" tIns="0" bIns="0">
            <a:spAutoFit/>
          </a:bodyPr>
          <a:lstStyle/>
          <a:p>
            <a:r>
              <a:rPr sz="1400" b="1" spc="100">
                <a:solidFill>
                  <a:srgbClr val="E58E1A"/>
                </a:solidFill>
                <a:latin typeface="Cambria"/>
              </a:rPr>
              <a:t>HOLDING</a:t>
            </a:r>
          </a:p>
          <a:p>
            <a:pPr>
              <a:spcBef>
                <a:spcPts val="400"/>
              </a:spcBef>
            </a:pPr>
            <a:r>
              <a:rPr sz="1300">
                <a:solidFill>
                  <a:srgbClr val="222A3F"/>
                </a:solidFill>
                <a:latin typeface="Cambria"/>
              </a:rPr>
              <a:t>When the car stops, the heading is held instead of spinning. When both cars are parked the screen says 'holding' instead of inventing a distance.</a:t>
            </a:r>
          </a:p>
        </p:txBody>
      </p:sp>
      <p:sp>
        <p:nvSpPr>
          <p:cNvPr id="12" name="Rectangle 11"/>
          <p:cNvSpPr/>
          <p:nvPr/>
        </p:nvSpPr>
        <p:spPr>
          <a:xfrm>
            <a:off x="8001000" y="1280160"/>
            <a:ext cx="3657600" cy="2011680"/>
          </a:xfrm>
          <a:prstGeom prst="rect">
            <a:avLst/>
          </a:prstGeom>
          <a:solidFill>
            <a:srgbClr val="F2F5FA"/>
          </a:solidFill>
          <a:ln w="15875">
            <a:solidFill>
              <a:srgbClr val="C43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65592" y="1399031"/>
            <a:ext cx="3328416" cy="1773936"/>
          </a:xfrm>
          <a:prstGeom prst="rect">
            <a:avLst/>
          </a:prstGeom>
          <a:noFill/>
        </p:spPr>
        <p:txBody>
          <a:bodyPr wrap="square" lIns="0" rIns="0" tIns="0" bIns="0">
            <a:spAutoFit/>
          </a:bodyPr>
          <a:lstStyle/>
          <a:p>
            <a:r>
              <a:rPr sz="1400" b="1" spc="100">
                <a:solidFill>
                  <a:srgbClr val="C43A4B"/>
                </a:solidFill>
                <a:latin typeface="Cambria"/>
              </a:rPr>
              <a:t>LINK LOST</a:t>
            </a:r>
          </a:p>
          <a:p>
            <a:pPr>
              <a:spcBef>
                <a:spcPts val="400"/>
              </a:spcBef>
            </a:pPr>
            <a:r>
              <a:rPr sz="1300">
                <a:solidFill>
                  <a:srgbClr val="222A3F"/>
                </a:solidFill>
                <a:latin typeface="Cambria"/>
              </a:rPr>
              <a:t>If the display loses the radio, it says so in large letters. No silent failure.</a:t>
            </a:r>
          </a:p>
        </p:txBody>
      </p:sp>
      <p:sp>
        <p:nvSpPr>
          <p:cNvPr id="14" name="Rectangle 13"/>
          <p:cNvSpPr/>
          <p:nvPr/>
        </p:nvSpPr>
        <p:spPr>
          <a:xfrm>
            <a:off x="502920" y="3520440"/>
            <a:ext cx="11201400" cy="137160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639312"/>
            <a:ext cx="10872216" cy="1133856"/>
          </a:xfrm>
          <a:prstGeom prst="rect">
            <a:avLst/>
          </a:prstGeom>
          <a:noFill/>
        </p:spPr>
        <p:txBody>
          <a:bodyPr wrap="square" lIns="0" rIns="0" tIns="0" bIns="0">
            <a:spAutoFit/>
          </a:bodyPr>
          <a:lstStyle/>
          <a:p>
            <a:r>
              <a:rPr sz="1400" b="1" spc="100">
                <a:solidFill>
                  <a:srgbClr val="16213D"/>
                </a:solidFill>
                <a:latin typeface="Cambria"/>
              </a:rPr>
              <a:t>BENCH FINDING</a:t>
            </a:r>
          </a:p>
          <a:p>
            <a:pPr>
              <a:spcBef>
                <a:spcPts val="400"/>
              </a:spcBef>
            </a:pPr>
            <a:r>
              <a:rPr sz="1300">
                <a:solidFill>
                  <a:srgbClr val="222A3F"/>
                </a:solidFill>
                <a:latin typeface="Cambria"/>
              </a:rPr>
              <a:t>Two radios on one desk once showed 0.21 miles apart. The displays were right; the GPS fixes were wrong, because indoors the receivers scatter by 100 to 400 m. Rule for anyone testing: judge a distance only with a clear view of the sky.</a:t>
            </a:r>
          </a:p>
        </p:txBody>
      </p:sp>
      <p:sp>
        <p:nvSpPr>
          <p:cNvPr id="16" name="TextBox 15"/>
          <p:cNvSpPr txBox="1"/>
          <p:nvPr/>
        </p:nvSpPr>
        <p:spPr>
          <a:xfrm>
            <a:off x="502920" y="5120640"/>
            <a:ext cx="11155680" cy="548640"/>
          </a:xfrm>
          <a:prstGeom prst="rect">
            <a:avLst/>
          </a:prstGeom>
          <a:noFill/>
        </p:spPr>
        <p:txBody>
          <a:bodyPr wrap="square" lIns="0" rIns="0" tIns="0" bIns="0">
            <a:spAutoFit/>
          </a:bodyPr>
          <a:lstStyle/>
          <a:p>
            <a:pPr algn="l"/>
            <a:r>
              <a:rPr sz="1200" b="0" i="1">
                <a:solidFill>
                  <a:srgbClr val="5E6B85"/>
                </a:solidFill>
                <a:latin typeface="Cambria"/>
              </a:rPr>
              <a:t>Both displays were flashed on 24 October; 13 of 13 firmware tests pass. The bench record behind the 0.21 mi observation is in the Technical Manual, Section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08/09  STATUS  2026-10-28</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DOCUMENTS AND REPOSITORY</a:t>
            </a:r>
          </a:p>
        </p:txBody>
      </p:sp>
      <p:graphicFrame>
        <p:nvGraphicFramePr>
          <p:cNvPr id="8" name="Table 7"/>
          <p:cNvGraphicFramePr>
            <a:graphicFrameLocks noGrp="1"/>
          </p:cNvGraphicFramePr>
          <p:nvPr/>
        </p:nvGraphicFramePr>
        <p:xfrm>
          <a:off x="502920" y="1280160"/>
          <a:ext cx="11155680" cy="3657600"/>
        </p:xfrm>
        <a:graphic>
          <a:graphicData uri="http://schemas.openxmlformats.org/drawingml/2006/table">
            <a:tbl>
              <a:tblPr firstRow="1" bandRow="1">
                <a:tableStyleId>{5C22544A-7EE6-4342-B048-85BDC9FD1C3A}</a:tableStyleId>
              </a:tblPr>
              <a:tblGrid>
                <a:gridCol w="2103120"/>
                <a:gridCol w="5029200"/>
                <a:gridCol w="4023360"/>
              </a:tblGrid>
              <a:tr h="731520">
                <a:tc>
                  <a:txBody>
                    <a:bodyPr/>
                    <a:lstStyle/>
                    <a:p>
                      <a:r>
                        <a:rPr sz="1250" b="1">
                          <a:solidFill>
                            <a:srgbClr val="FFFFFF"/>
                          </a:solidFill>
                          <a:latin typeface="Cambria"/>
                        </a:rPr>
                        <a:t>Document</a:t>
                      </a:r>
                    </a:p>
                  </a:txBody>
                  <a:tcPr marL="73152" marR="73152" marT="27432" marB="27432">
                    <a:solidFill>
                      <a:srgbClr val="16213D"/>
                    </a:solidFill>
                  </a:tcPr>
                </a:tc>
                <a:tc>
                  <a:txBody>
                    <a:bodyPr/>
                    <a:lstStyle/>
                    <a:p>
                      <a:r>
                        <a:rPr sz="1250" b="1">
                          <a:solidFill>
                            <a:srgbClr val="FFFFFF"/>
                          </a:solidFill>
                          <a:latin typeface="Cambria"/>
                        </a:rPr>
                        <a:t>What is new</a:t>
                      </a:r>
                    </a:p>
                  </a:txBody>
                  <a:tcPr marL="73152" marR="73152" marT="27432" marB="27432">
                    <a:solidFill>
                      <a:srgbClr val="16213D"/>
                    </a:solidFill>
                  </a:tcPr>
                </a:tc>
                <a:tc>
                  <a:txBody>
                    <a:bodyPr/>
                    <a:lstStyle/>
                    <a:p>
                      <a:r>
                        <a:rPr sz="1250" b="1">
                          <a:solidFill>
                            <a:srgbClr val="FFFFFF"/>
                          </a:solidFill>
                          <a:latin typeface="Cambria"/>
                        </a:rPr>
                        <a:t>Where</a:t>
                      </a:r>
                    </a:p>
                  </a:txBody>
                  <a:tcPr marL="73152" marR="73152" marT="27432" marB="27432">
                    <a:solidFill>
                      <a:srgbClr val="16213D"/>
                    </a:solidFill>
                  </a:tcPr>
                </a:tc>
              </a:tr>
              <a:tr h="731520">
                <a:tc>
                  <a:txBody>
                    <a:bodyPr/>
                    <a:lstStyle/>
                    <a:p>
                      <a:r>
                        <a:rPr sz="1250" b="0">
                          <a:solidFill>
                            <a:srgbClr val="222A3F"/>
                          </a:solidFill>
                          <a:latin typeface="Cambria"/>
                        </a:rPr>
                        <a:t>Device User Guide</a:t>
                      </a:r>
                    </a:p>
                  </a:txBody>
                  <a:tcPr marL="73152" marR="73152" marT="27432" marB="27432">
                    <a:solidFill>
                      <a:srgbClr val="F2F5FA"/>
                    </a:solidFill>
                  </a:tcPr>
                </a:tc>
                <a:tc>
                  <a:txBody>
                    <a:bodyPr/>
                    <a:lstStyle/>
                    <a:p>
                      <a:r>
                        <a:rPr sz="1250" b="0">
                          <a:solidFill>
                            <a:srgbClr val="222A3F"/>
                          </a:solidFill>
                          <a:latin typeface="Cambria"/>
                        </a:rPr>
                        <a:t>Section 12: restoring a radio that forgot its settings, with a phone and with a laptop</a:t>
                      </a:r>
                    </a:p>
                  </a:txBody>
                  <a:tcPr marL="73152" marR="73152" marT="27432" marB="27432">
                    <a:solidFill>
                      <a:srgbClr val="F2F5FA"/>
                    </a:solidFill>
                  </a:tcPr>
                </a:tc>
                <a:tc>
                  <a:txBody>
                    <a:bodyPr/>
                    <a:lstStyle/>
                    <a:p>
                      <a:r>
                        <a:rPr sz="1250" b="0">
                          <a:solidFill>
                            <a:srgbClr val="222A3F"/>
                          </a:solidFill>
                          <a:latin typeface="Cambria"/>
                        </a:rPr>
                        <a:t>docs/manuals/DEVICE_USER_GUIDE.pdf, 16 pages</a:t>
                      </a:r>
                    </a:p>
                  </a:txBody>
                  <a:tcPr marL="73152" marR="73152" marT="27432" marB="27432">
                    <a:solidFill>
                      <a:srgbClr val="F2F5FA"/>
                    </a:solidFill>
                  </a:tcPr>
                </a:tc>
              </a:tr>
              <a:tr h="731520">
                <a:tc>
                  <a:txBody>
                    <a:bodyPr/>
                    <a:lstStyle/>
                    <a:p>
                      <a:r>
                        <a:rPr sz="1250" b="0">
                          <a:solidFill>
                            <a:srgbClr val="222A3F"/>
                          </a:solidFill>
                          <a:latin typeface="Cambria"/>
                        </a:rPr>
                        <a:t>Technical Manual</a:t>
                      </a:r>
                    </a:p>
                  </a:txBody>
                  <a:tcPr marL="73152" marR="73152" marT="27432" marB="27432">
                    <a:solidFill>
                      <a:srgbClr val="FFFFFF"/>
                    </a:solidFill>
                  </a:tcPr>
                </a:tc>
                <a:tc>
                  <a:txBody>
                    <a:bodyPr/>
                    <a:lstStyle/>
                    <a:p>
                      <a:r>
                        <a:rPr sz="1250" b="0">
                          <a:solidFill>
                            <a:srgbClr val="222A3F"/>
                          </a:solidFill>
                          <a:latin typeface="Cambria"/>
                        </a:rPr>
                        <a:t>Sections 15 and 16: the verification record and the failure catalog, updated through 28 October</a:t>
                      </a:r>
                    </a:p>
                  </a:txBody>
                  <a:tcPr marL="73152" marR="73152" marT="27432" marB="27432">
                    <a:solidFill>
                      <a:srgbClr val="FFFFFF"/>
                    </a:solidFill>
                  </a:tcPr>
                </a:tc>
                <a:tc>
                  <a:txBody>
                    <a:bodyPr/>
                    <a:lstStyle/>
                    <a:p>
                      <a:r>
                        <a:rPr sz="1250" b="0">
                          <a:solidFill>
                            <a:srgbClr val="222A3F"/>
                          </a:solidFill>
                          <a:latin typeface="Cambria"/>
                        </a:rPr>
                        <a:t>docs/manuals/TECHNICAL_MANUAL.pdf, 62 pages</a:t>
                      </a:r>
                    </a:p>
                  </a:txBody>
                  <a:tcPr marL="73152" marR="73152" marT="27432" marB="27432">
                    <a:solidFill>
                      <a:srgbClr val="FFFFFF"/>
                    </a:solidFill>
                  </a:tcPr>
                </a:tc>
              </a:tr>
              <a:tr h="731520">
                <a:tc>
                  <a:txBody>
                    <a:bodyPr/>
                    <a:lstStyle/>
                    <a:p>
                      <a:r>
                        <a:rPr sz="1250" b="0">
                          <a:solidFill>
                            <a:srgbClr val="222A3F"/>
                          </a:solidFill>
                          <a:latin typeface="Cambria"/>
                        </a:rPr>
                        <a:t>Root-cause presentation</a:t>
                      </a:r>
                    </a:p>
                  </a:txBody>
                  <a:tcPr marL="73152" marR="73152" marT="27432" marB="27432">
                    <a:solidFill>
                      <a:srgbClr val="F2F5FA"/>
                    </a:solidFill>
                  </a:tcPr>
                </a:tc>
                <a:tc>
                  <a:txBody>
                    <a:bodyPr/>
                    <a:lstStyle/>
                    <a:p>
                      <a:r>
                        <a:rPr sz="1250" b="0">
                          <a:solidFill>
                            <a:srgbClr val="222A3F"/>
                          </a:solidFill>
                          <a:latin typeface="Cambria"/>
                        </a:rPr>
                        <a:t>Tests, failures and the memory investigation, 20 sheets</a:t>
                      </a:r>
                    </a:p>
                  </a:txBody>
                  <a:tcPr marL="73152" marR="73152" marT="27432" marB="27432">
                    <a:solidFill>
                      <a:srgbClr val="F2F5FA"/>
                    </a:solidFill>
                  </a:tcPr>
                </a:tc>
                <a:tc>
                  <a:txBody>
                    <a:bodyPr/>
                    <a:lstStyle/>
                    <a:p>
                      <a:r>
                        <a:rPr sz="1250" b="0">
                          <a:solidFill>
                            <a:srgbClr val="222A3F"/>
                          </a:solidFill>
                          <a:latin typeface="Cambria"/>
                        </a:rPr>
                        <a:t>docs/presentations/Group9_Presentation.pptx</a:t>
                      </a:r>
                    </a:p>
                  </a:txBody>
                  <a:tcPr marL="73152" marR="73152" marT="27432" marB="27432">
                    <a:solidFill>
                      <a:srgbClr val="F2F5FA"/>
                    </a:solidFill>
                  </a:tcPr>
                </a:tc>
              </a:tr>
              <a:tr h="731520">
                <a:tc>
                  <a:txBody>
                    <a:bodyPr/>
                    <a:lstStyle/>
                    <a:p>
                      <a:r>
                        <a:rPr sz="1250" b="0">
                          <a:solidFill>
                            <a:srgbClr val="222A3F"/>
                          </a:solidFill>
                          <a:latin typeface="Cambria"/>
                        </a:rPr>
                        <a:t>Measurement records</a:t>
                      </a:r>
                    </a:p>
                  </a:txBody>
                  <a:tcPr marL="73152" marR="73152" marT="27432" marB="27432">
                    <a:solidFill>
                      <a:srgbClr val="FFFFFF"/>
                    </a:solidFill>
                  </a:tcPr>
                </a:tc>
                <a:tc>
                  <a:txBody>
                    <a:bodyPr/>
                    <a:lstStyle/>
                    <a:p>
                      <a:r>
                        <a:rPr sz="1250" b="0">
                          <a:solidFill>
                            <a:srgbClr val="222A3F"/>
                          </a:solidFill>
                          <a:latin typeface="Cambria"/>
                        </a:rPr>
                        <a:t>Every flash read and test from 27 October, reproducible</a:t>
                      </a:r>
                    </a:p>
                  </a:txBody>
                  <a:tcPr marL="73152" marR="73152" marT="27432" marB="27432">
                    <a:solidFill>
                      <a:srgbClr val="FFFFFF"/>
                    </a:solidFill>
                  </a:tcPr>
                </a:tc>
                <a:tc>
                  <a:txBody>
                    <a:bodyPr/>
                    <a:lstStyle/>
                    <a:p>
                      <a:r>
                        <a:rPr sz="1250" b="0">
                          <a:solidFill>
                            <a:srgbClr val="222A3F"/>
                          </a:solidFill>
                          <a:latin typeface="Cambria"/>
                        </a:rPr>
                        <a:t>docs/src/flash_forensics</a:t>
                      </a:r>
                    </a:p>
                  </a:txBody>
                  <a:tcPr marL="73152" marR="73152" marT="27432" marB="27432">
                    <a:solidFill>
                      <a:srgbClr val="FFFFFF"/>
                    </a:solidFill>
                  </a:tcPr>
                </a:tc>
              </a:tr>
            </a:tbl>
          </a:graphicData>
        </a:graphic>
      </p:graphicFrame>
      <p:sp>
        <p:nvSpPr>
          <p:cNvPr id="9" name="Rectangle 8"/>
          <p:cNvSpPr/>
          <p:nvPr/>
        </p:nvSpPr>
        <p:spPr>
          <a:xfrm>
            <a:off x="502920" y="5120640"/>
            <a:ext cx="11155680" cy="868680"/>
          </a:xfrm>
          <a:prstGeom prst="rect">
            <a:avLst/>
          </a:prstGeom>
          <a:solidFill>
            <a:srgbClr val="F2F5FA"/>
          </a:solidFill>
          <a:ln w="15875">
            <a:solidFill>
              <a:srgbClr val="5E6B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9512"/>
            <a:ext cx="10826496" cy="630936"/>
          </a:xfrm>
          <a:prstGeom prst="rect">
            <a:avLst/>
          </a:prstGeom>
          <a:noFill/>
        </p:spPr>
        <p:txBody>
          <a:bodyPr wrap="square" lIns="0" rIns="0" tIns="0" bIns="0">
            <a:spAutoFit/>
          </a:bodyPr>
          <a:lstStyle/>
          <a:p>
            <a:r>
              <a:rPr sz="1300" b="1" spc="100">
                <a:solidFill>
                  <a:srgbClr val="5E6B85"/>
                </a:solidFill>
                <a:latin typeface="Cambria"/>
              </a:rPr>
              <a:t>PRIVATE</a:t>
            </a:r>
          </a:p>
          <a:p>
            <a:pPr>
              <a:spcBef>
                <a:spcPts val="400"/>
              </a:spcBef>
            </a:pPr>
            <a:r>
              <a:rPr sz="1250">
                <a:solidFill>
                  <a:srgbClr val="222A3F"/>
                </a:solidFill>
                <a:latin typeface="Cambria"/>
              </a:rPr>
              <a:t>The channel key, the radio configuration snapshots and the fixed firmware images stay in the private repository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STATUS UPDATE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09/09  STATUS  2026-10-28</a:t>
            </a:r>
          </a:p>
        </p:txBody>
      </p:sp>
      <p:sp>
        <p:nvSpPr>
          <p:cNvPr id="7" name="TextBox 6"/>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NEXT</a:t>
            </a:r>
          </a:p>
        </p:txBody>
      </p:sp>
      <p:graphicFrame>
        <p:nvGraphicFramePr>
          <p:cNvPr id="8" name="Table 7"/>
          <p:cNvGraphicFramePr>
            <a:graphicFrameLocks noGrp="1"/>
          </p:cNvGraphicFramePr>
          <p:nvPr/>
        </p:nvGraphicFramePr>
        <p:xfrm>
          <a:off x="502920" y="1280160"/>
          <a:ext cx="11155680" cy="3657600"/>
        </p:xfrm>
        <a:graphic>
          <a:graphicData uri="http://schemas.openxmlformats.org/drawingml/2006/table">
            <a:tbl>
              <a:tblPr firstRow="1" bandRow="1">
                <a:tableStyleId>{5C22544A-7EE6-4342-B048-85BDC9FD1C3A}</a:tableStyleId>
              </a:tblPr>
              <a:tblGrid>
                <a:gridCol w="1737360"/>
                <a:gridCol w="5029200"/>
                <a:gridCol w="2560320"/>
                <a:gridCol w="1828800"/>
              </a:tblGrid>
              <a:tr h="731520">
                <a:tc>
                  <a:txBody>
                    <a:bodyPr/>
                    <a:lstStyle/>
                    <a:p>
                      <a:r>
                        <a:rPr sz="1250" b="1">
                          <a:solidFill>
                            <a:srgbClr val="FFFFFF"/>
                          </a:solidFill>
                          <a:latin typeface="Cambria"/>
                        </a:rPr>
                        <a:t>When</a:t>
                      </a:r>
                    </a:p>
                  </a:txBody>
                  <a:tcPr marL="73152" marR="73152" marT="27432" marB="27432">
                    <a:solidFill>
                      <a:srgbClr val="16213D"/>
                    </a:solidFill>
                  </a:tcPr>
                </a:tc>
                <a:tc>
                  <a:txBody>
                    <a:bodyPr/>
                    <a:lstStyle/>
                    <a:p>
                      <a:r>
                        <a:rPr sz="1250" b="1">
                          <a:solidFill>
                            <a:srgbClr val="FFFFFF"/>
                          </a:solidFill>
                          <a:latin typeface="Cambria"/>
                        </a:rPr>
                        <a:t>What</a:t>
                      </a:r>
                    </a:p>
                  </a:txBody>
                  <a:tcPr marL="73152" marR="73152" marT="27432" marB="27432">
                    <a:solidFill>
                      <a:srgbClr val="16213D"/>
                    </a:solidFill>
                  </a:tcPr>
                </a:tc>
                <a:tc>
                  <a:txBody>
                    <a:bodyPr/>
                    <a:lstStyle/>
                    <a:p>
                      <a:r>
                        <a:rPr sz="1250" b="1">
                          <a:solidFill>
                            <a:srgbClr val="FFFFFF"/>
                          </a:solidFill>
                          <a:latin typeface="Cambria"/>
                        </a:rPr>
                        <a:t>Done when</a:t>
                      </a:r>
                    </a:p>
                  </a:txBody>
                  <a:tcPr marL="73152" marR="73152" marT="27432" marB="27432">
                    <a:solidFill>
                      <a:srgbClr val="16213D"/>
                    </a:solidFill>
                  </a:tcPr>
                </a:tc>
                <a:tc>
                  <a:txBody>
                    <a:bodyPr/>
                    <a:lstStyle/>
                    <a:p>
                      <a:r>
                        <a:rPr sz="1250" b="1">
                          <a:solidFill>
                            <a:srgbClr val="FFFFFF"/>
                          </a:solidFill>
                          <a:latin typeface="Cambria"/>
                        </a:rPr>
                        <a:t>Owner</a:t>
                      </a:r>
                    </a:p>
                  </a:txBody>
                  <a:tcPr marL="73152" marR="73152" marT="27432" marB="27432">
                    <a:solidFill>
                      <a:srgbClr val="16213D"/>
                    </a:solidFill>
                  </a:tcPr>
                </a:tc>
              </a:tr>
              <a:tr h="731520">
                <a:tc>
                  <a:txBody>
                    <a:bodyPr/>
                    <a:lstStyle/>
                    <a:p>
                      <a:r>
                        <a:rPr sz="1250" b="0">
                          <a:solidFill>
                            <a:srgbClr val="222A3F"/>
                          </a:solidFill>
                          <a:latin typeface="Cambria"/>
                        </a:rPr>
                        <a:t>Next clear weekend</a:t>
                      </a:r>
                    </a:p>
                  </a:txBody>
                  <a:tcPr marL="73152" marR="73152" marT="27432" marB="27432">
                    <a:solidFill>
                      <a:srgbClr val="F2F5FA"/>
                    </a:solidFill>
                  </a:tcPr>
                </a:tc>
                <a:tc>
                  <a:txBody>
                    <a:bodyPr/>
                    <a:lstStyle/>
                    <a:p>
                      <a:r>
                        <a:rPr sz="1250" b="0">
                          <a:solidFill>
                            <a:srgbClr val="222A3F"/>
                          </a:solidFill>
                          <a:latin typeface="Cambria"/>
                        </a:rPr>
                        <a:t>Roof-top antenna range drive, rescheduled (sheet 4)</a:t>
                      </a:r>
                    </a:p>
                  </a:txBody>
                  <a:tcPr marL="73152" marR="73152" marT="27432" marB="27432">
                    <a:solidFill>
                      <a:srgbClr val="F2F5FA"/>
                    </a:solidFill>
                  </a:tcPr>
                </a:tc>
                <a:tc>
                  <a:txBody>
                    <a:bodyPr/>
                    <a:lstStyle/>
                    <a:p>
                      <a:r>
                        <a:rPr sz="1250" b="0">
                          <a:solidFill>
                            <a:srgbClr val="222A3F"/>
                          </a:solidFill>
                          <a:latin typeface="Cambria"/>
                        </a:rPr>
                        <a:t>Last-packet distance recorded</a:t>
                      </a:r>
                    </a:p>
                  </a:txBody>
                  <a:tcPr marL="73152" marR="73152" marT="27432" marB="27432">
                    <a:solidFill>
                      <a:srgbClr val="F2F5FA"/>
                    </a:solidFill>
                  </a:tcPr>
                </a:tc>
                <a:tc>
                  <a:txBody>
                    <a:bodyPr/>
                    <a:lstStyle/>
                    <a:p>
                      <a:r>
                        <a:rPr sz="1250" b="0">
                          <a:solidFill>
                            <a:srgbClr val="222A3F"/>
                          </a:solidFill>
                          <a:latin typeface="Cambria"/>
                        </a:rPr>
                        <a:t>Cannon, Victor</a:t>
                      </a:r>
                    </a:p>
                  </a:txBody>
                  <a:tcPr marL="73152" marR="73152" marT="27432" marB="27432">
                    <a:solidFill>
                      <a:srgbClr val="F2F5FA"/>
                    </a:solidFill>
                  </a:tcPr>
                </a:tc>
              </a:tr>
              <a:tr h="731520">
                <a:tc>
                  <a:txBody>
                    <a:bodyPr/>
                    <a:lstStyle/>
                    <a:p>
                      <a:r>
                        <a:rPr sz="1250" b="0">
                          <a:solidFill>
                            <a:srgbClr val="222A3F"/>
                          </a:solidFill>
                          <a:latin typeface="Cambria"/>
                        </a:rPr>
                        <a:t>This week</a:t>
                      </a:r>
                    </a:p>
                  </a:txBody>
                  <a:tcPr marL="73152" marR="73152" marT="27432" marB="27432">
                    <a:solidFill>
                      <a:srgbClr val="FFFFFF"/>
                    </a:solidFill>
                  </a:tcPr>
                </a:tc>
                <a:tc>
                  <a:txBody>
                    <a:bodyPr/>
                    <a:lstStyle/>
                    <a:p>
                      <a:r>
                        <a:rPr sz="1250" b="0">
                          <a:solidFill>
                            <a:srgbClr val="222A3F"/>
                          </a:solidFill>
                          <a:latin typeface="Cambria"/>
                        </a:rPr>
                        <a:t>Flat-battery test: run each radio flat five times, check settings and memory after each</a:t>
                      </a:r>
                    </a:p>
                  </a:txBody>
                  <a:tcPr marL="73152" marR="73152" marT="27432" marB="27432">
                    <a:solidFill>
                      <a:srgbClr val="FFFFFF"/>
                    </a:solidFill>
                  </a:tcPr>
                </a:tc>
                <a:tc>
                  <a:txBody>
                    <a:bodyPr/>
                    <a:lstStyle/>
                    <a:p>
                      <a:r>
                        <a:rPr sz="1250" b="0">
                          <a:solidFill>
                            <a:srgbClr val="222A3F"/>
                          </a:solidFill>
                          <a:latin typeface="Cambria"/>
                        </a:rPr>
                        <a:t>0 of 10 runs lose settings</a:t>
                      </a:r>
                    </a:p>
                  </a:txBody>
                  <a:tcPr marL="73152" marR="73152" marT="27432" marB="27432">
                    <a:solidFill>
                      <a:srgbClr val="FFFFFF"/>
                    </a:solidFill>
                  </a:tcPr>
                </a:tc>
                <a:tc>
                  <a:txBody>
                    <a:bodyPr/>
                    <a:lstStyle/>
                    <a:p>
                      <a:r>
                        <a:rPr sz="1250" b="0">
                          <a:solidFill>
                            <a:srgbClr val="222A3F"/>
                          </a:solidFill>
                          <a:latin typeface="Cambria"/>
                        </a:rPr>
                        <a:t>Deo</a:t>
                      </a:r>
                    </a:p>
                  </a:txBody>
                  <a:tcPr marL="73152" marR="73152" marT="27432" marB="27432">
                    <a:solidFill>
                      <a:srgbClr val="FFFFFF"/>
                    </a:solidFill>
                  </a:tcPr>
                </a:tc>
              </a:tr>
              <a:tr h="731520">
                <a:tc>
                  <a:txBody>
                    <a:bodyPr/>
                    <a:lstStyle/>
                    <a:p>
                      <a:r>
                        <a:rPr sz="1250" b="0">
                          <a:solidFill>
                            <a:srgbClr val="222A3F"/>
                          </a:solidFill>
                          <a:latin typeface="Cambria"/>
                        </a:rPr>
                        <a:t>Next week</a:t>
                      </a:r>
                    </a:p>
                  </a:txBody>
                  <a:tcPr marL="73152" marR="73152" marT="27432" marB="27432">
                    <a:solidFill>
                      <a:srgbClr val="F2F5FA"/>
                    </a:solidFill>
                  </a:tcPr>
                </a:tc>
                <a:tc>
                  <a:txBody>
                    <a:bodyPr/>
                    <a:lstStyle/>
                    <a:p>
                      <a:r>
                        <a:rPr sz="1250" b="0">
                          <a:solidFill>
                            <a:srgbClr val="222A3F"/>
                          </a:solidFill>
                          <a:latin typeface="Cambria"/>
                        </a:rPr>
                        <a:t>Enclosure for the Waveshare LCD display</a:t>
                      </a:r>
                    </a:p>
                  </a:txBody>
                  <a:tcPr marL="73152" marR="73152" marT="27432" marB="27432">
                    <a:solidFill>
                      <a:srgbClr val="F2F5FA"/>
                    </a:solidFill>
                  </a:tcPr>
                </a:tc>
                <a:tc>
                  <a:txBody>
                    <a:bodyPr/>
                    <a:lstStyle/>
                    <a:p>
                      <a:r>
                        <a:rPr sz="1250" b="0">
                          <a:solidFill>
                            <a:srgbClr val="222A3F"/>
                          </a:solidFill>
                          <a:latin typeface="Cambria"/>
                        </a:rPr>
                        <a:t>Waterproof</a:t>
                      </a:r>
                    </a:p>
                  </a:txBody>
                  <a:tcPr marL="73152" marR="73152" marT="27432" marB="27432">
                    <a:solidFill>
                      <a:srgbClr val="F2F5FA"/>
                    </a:solidFill>
                  </a:tcPr>
                </a:tc>
                <a:tc>
                  <a:txBody>
                    <a:bodyPr/>
                    <a:lstStyle/>
                    <a:p>
                      <a:r>
                        <a:rPr sz="1250" b="0">
                          <a:solidFill>
                            <a:srgbClr val="222A3F"/>
                          </a:solidFill>
                          <a:latin typeface="Cambria"/>
                        </a:rPr>
                        <a:t>Josiah</a:t>
                      </a:r>
                    </a:p>
                  </a:txBody>
                  <a:tcPr marL="73152" marR="73152" marT="27432" marB="27432">
                    <a:solidFill>
                      <a:srgbClr val="F2F5FA"/>
                    </a:solidFill>
                  </a:tcPr>
                </a:tc>
              </a:tr>
              <a:tr h="731520">
                <a:tc>
                  <a:txBody>
                    <a:bodyPr/>
                    <a:lstStyle/>
                    <a:p>
                      <a:r>
                        <a:rPr sz="1250" b="0">
                          <a:solidFill>
                            <a:srgbClr val="222A3F"/>
                          </a:solidFill>
                          <a:latin typeface="Cambria"/>
                        </a:rPr>
                        <a:t>This week</a:t>
                      </a:r>
                    </a:p>
                  </a:txBody>
                  <a:tcPr marL="73152" marR="73152" marT="27432" marB="27432">
                    <a:solidFill>
                      <a:srgbClr val="FFFFFF"/>
                    </a:solidFill>
                  </a:tcPr>
                </a:tc>
                <a:tc>
                  <a:txBody>
                    <a:bodyPr/>
                    <a:lstStyle/>
                    <a:p>
                      <a:r>
                        <a:rPr sz="1250" b="0">
                          <a:solidFill>
                            <a:srgbClr val="222A3F"/>
                          </a:solidFill>
                          <a:latin typeface="Cambria"/>
                        </a:rPr>
                        <a:t>Oscilloscope on the radio's 3.3 V supply during a transmit burst on a low battery</a:t>
                      </a:r>
                    </a:p>
                  </a:txBody>
                  <a:tcPr marL="73152" marR="73152" marT="27432" marB="27432">
                    <a:solidFill>
                      <a:srgbClr val="FFFFFF"/>
                    </a:solidFill>
                  </a:tcPr>
                </a:tc>
                <a:tc>
                  <a:txBody>
                    <a:bodyPr/>
                    <a:lstStyle/>
                    <a:p>
                      <a:r>
                        <a:rPr sz="1250" b="0">
                          <a:solidFill>
                            <a:srgbClr val="222A3F"/>
                          </a:solidFill>
                          <a:latin typeface="Cambria"/>
                        </a:rPr>
                        <a:t>Lowest voltage recorded</a:t>
                      </a:r>
                    </a:p>
                  </a:txBody>
                  <a:tcPr marL="73152" marR="73152" marT="27432" marB="27432">
                    <a:solidFill>
                      <a:srgbClr val="FFFFFF"/>
                    </a:solidFill>
                  </a:tcPr>
                </a:tc>
                <a:tc>
                  <a:txBody>
                    <a:bodyPr/>
                    <a:lstStyle/>
                    <a:p>
                      <a:r>
                        <a:rPr sz="1250" b="0">
                          <a:solidFill>
                            <a:srgbClr val="222A3F"/>
                          </a:solidFill>
                          <a:latin typeface="Cambria"/>
                        </a:rPr>
                        <a:t>Victor</a:t>
                      </a:r>
                    </a:p>
                  </a:txBody>
                  <a:tcPr marL="73152" marR="73152" marT="27432" marB="27432">
                    <a:solidFill>
                      <a:srgbClr val="FFFFFF"/>
                    </a:solidFill>
                  </a:tcPr>
                </a:tc>
              </a:tr>
            </a:tbl>
          </a:graphicData>
        </a:graphic>
      </p:graphicFrame>
      <p:sp>
        <p:nvSpPr>
          <p:cNvPr id="9" name="Rectangle 8"/>
          <p:cNvSpPr/>
          <p:nvPr/>
        </p:nvSpPr>
        <p:spPr>
          <a:xfrm>
            <a:off x="502920" y="5120640"/>
            <a:ext cx="11155680" cy="91440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239512"/>
            <a:ext cx="10826496" cy="676656"/>
          </a:xfrm>
          <a:prstGeom prst="rect">
            <a:avLst/>
          </a:prstGeom>
          <a:noFill/>
        </p:spPr>
        <p:txBody>
          <a:bodyPr wrap="square" lIns="0" rIns="0" tIns="0" bIns="0">
            <a:spAutoFit/>
          </a:bodyPr>
          <a:lstStyle/>
          <a:p>
            <a:r>
              <a:rPr sz="1350" b="1" spc="100">
                <a:solidFill>
                  <a:srgbClr val="1F9D68"/>
                </a:solidFill>
                <a:latin typeface="Cambria"/>
              </a:rPr>
              <a:t>THE ASK</a:t>
            </a:r>
          </a:p>
          <a:p>
            <a:pPr>
              <a:spcBef>
                <a:spcPts val="400"/>
              </a:spcBef>
            </a:pPr>
            <a:r>
              <a:rPr sz="1250">
                <a:solidFill>
                  <a:srgbClr val="222A3F"/>
                </a:solidFill>
                <a:latin typeface="Cambria"/>
              </a:rPr>
              <a:t>Approve the flat-battery test before the next field drive. It repeats the exact conditions of all three failures and proves the fix instead of hoping for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