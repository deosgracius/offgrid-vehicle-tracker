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One cancelled test, one investigation, one fix, one plan.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team was on site. Say that first: the test was not skipped, it was stopped by a flash flood warning, which is a travel ban, not a judgment call. Rescheduled, not dropped, and the radios are in better shape for it than they were on the 25th.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to the headline. The hypothesis came from a Qualcomm engineer; the experiment design and scripts were drafted with an AI assistant; every measurement was run by us on our radios, with the records in the repository. Details next week.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deliverable of the week: a configuration loss is now invisible to the driver.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sheet for the rest of the team's output. The display changes were validated on the bench; the next drive validates them on the road.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the ask.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5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8132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3969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9806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5643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79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77316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31535"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8990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74827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3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72337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381744"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4011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698480"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35684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201521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64592" y="14630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64592" y="804672"/>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64592" y="1463040"/>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64592" y="2121408"/>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64592" y="2779776"/>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64592" y="343814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64592" y="4096511"/>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64592" y="4754879"/>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64592" y="5413247"/>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64592" y="6071615"/>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34" name="TextBox 33"/>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STATUS UPDATE</a:t>
            </a:r>
          </a:p>
        </p:txBody>
      </p:sp>
      <p:sp>
        <p:nvSpPr>
          <p:cNvPr id="35" name="TextBox 34"/>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01/06  STATUS  2026-10-28</a:t>
            </a:r>
          </a:p>
        </p:txBody>
      </p:sp>
      <p:sp>
        <p:nvSpPr>
          <p:cNvPr id="36" name="TextBox 35"/>
          <p:cNvSpPr txBox="1"/>
          <p:nvPr/>
        </p:nvSpPr>
        <p:spPr>
          <a:xfrm>
            <a:off x="640080" y="914400"/>
            <a:ext cx="10881360" cy="822960"/>
          </a:xfrm>
          <a:prstGeom prst="rect">
            <a:avLst/>
          </a:prstGeom>
          <a:noFill/>
        </p:spPr>
        <p:txBody>
          <a:bodyPr wrap="square" lIns="0" rIns="0" tIns="0" bIns="0">
            <a:spAutoFit/>
          </a:bodyPr>
          <a:lstStyle/>
          <a:p>
            <a:pPr algn="l"/>
            <a:r>
              <a:rPr sz="3400" b="1" i="0" spc="300">
                <a:solidFill>
                  <a:srgbClr val="16213D"/>
                </a:solidFill>
                <a:latin typeface="Cambria"/>
              </a:rPr>
              <a:t>STATUS, 28 OCTOBER</a:t>
            </a:r>
          </a:p>
        </p:txBody>
      </p:sp>
      <p:sp>
        <p:nvSpPr>
          <p:cNvPr id="37" name="TextBox 36"/>
          <p:cNvSpPr txBox="1"/>
          <p:nvPr/>
        </p:nvSpPr>
        <p:spPr>
          <a:xfrm>
            <a:off x="658368" y="1755648"/>
            <a:ext cx="10881360" cy="411480"/>
          </a:xfrm>
          <a:prstGeom prst="rect">
            <a:avLst/>
          </a:prstGeom>
          <a:noFill/>
        </p:spPr>
        <p:txBody>
          <a:bodyPr wrap="square" lIns="0" rIns="0" tIns="0" bIns="0">
            <a:spAutoFit/>
          </a:bodyPr>
          <a:lstStyle/>
          <a:p>
            <a:pPr algn="l"/>
            <a:r>
              <a:rPr sz="1600" b="1" i="0" spc="100">
                <a:solidFill>
                  <a:srgbClr val="E58E1A"/>
                </a:solidFill>
                <a:latin typeface="Cambria"/>
              </a:rPr>
              <a:t>NEW MEXICO RAINED OUT; THE WEEKEND WENT INTO THE RADIOS INSTEAD</a:t>
            </a:r>
          </a:p>
        </p:txBody>
      </p:sp>
      <p:sp>
        <p:nvSpPr>
          <p:cNvPr id="38" name="TextBox 37"/>
          <p:cNvSpPr txBox="1"/>
          <p:nvPr/>
        </p:nvSpPr>
        <p:spPr>
          <a:xfrm>
            <a:off x="658368" y="2331720"/>
            <a:ext cx="7315200" cy="1188720"/>
          </a:xfrm>
          <a:prstGeom prst="rect">
            <a:avLst/>
          </a:prstGeom>
          <a:noFill/>
        </p:spPr>
        <p:txBody>
          <a:bodyPr wrap="square" lIns="0" rIns="0" tIns="0" bIns="0">
            <a:spAutoFit/>
          </a:bodyPr>
          <a:lstStyle/>
          <a:p>
            <a:pPr algn="l"/>
            <a:r>
              <a:rPr sz="1300" b="0" i="0">
                <a:solidFill>
                  <a:srgbClr val="222A3F"/>
                </a:solidFill>
                <a:latin typeface="Cambria"/>
              </a:rPr>
              <a:t>The maximum-range drive was cancelled by weather. In its place: the battery-death configuration loss was traced to the flash cells and measured on both radios, SF was repaired, and a firmware build that makes the failure harmless is now on both radios. Full root-cause presentation on 4 November.</a:t>
            </a:r>
          </a:p>
        </p:txBody>
      </p:sp>
      <p:sp>
        <p:nvSpPr>
          <p:cNvPr id="39" name="TextBox 38"/>
          <p:cNvSpPr txBox="1"/>
          <p:nvPr/>
        </p:nvSpPr>
        <p:spPr>
          <a:xfrm>
            <a:off x="7589520" y="3657600"/>
            <a:ext cx="3931920" cy="2377440"/>
          </a:xfrm>
          <a:prstGeom prst="rect">
            <a:avLst/>
          </a:prstGeom>
          <a:noFill/>
        </p:spPr>
        <p:txBody>
          <a:bodyPr wrap="square" lIns="0" rIns="0" tIns="0" bIns="0">
            <a:spAutoFit/>
          </a:bodyPr>
          <a:lstStyle/>
          <a:p>
            <a:pPr algn="l"/>
            <a:r>
              <a:rPr sz="1300" b="0" i="0">
                <a:solidFill>
                  <a:srgbClr val="222A3F"/>
                </a:solidFill>
                <a:latin typeface="Courier New"/>
              </a:rPr>
              <a:t>Deo Grace Mwala
Josiah Horn
Victor Okwonna
Cannon Thomas
Sponsor: Dr. Richard Gale
28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STATUS UPDATE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02/06  STATUS  2026-10-28</a:t>
            </a:r>
          </a:p>
        </p:txBody>
      </p:sp>
      <p:sp>
        <p:nvSpPr>
          <p:cNvPr id="7" name="Rectangle 6"/>
          <p:cNvSpPr/>
          <p:nvPr/>
        </p:nvSpPr>
        <p:spPr>
          <a:xfrm>
            <a:off x="9646920" y="347472"/>
            <a:ext cx="2148840" cy="420624"/>
          </a:xfrm>
          <a:prstGeom prst="rect">
            <a:avLst/>
          </a:prstGeom>
          <a:solidFill>
            <a:srgbClr val="FFFFFF"/>
          </a:solidFill>
          <a:ln w="19050">
            <a:solidFill>
              <a:srgbClr val="D948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D9488C"/>
                </a:solidFill>
                <a:latin typeface="Courier New"/>
              </a:rPr>
              <a:t>OWNER: CANNON</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NEW MEXICO: ON SITE, THEN CANCELLED BY WEATHER</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25 October, below the Capitan Mountains: the maximum-range geometry we have not measured</a:t>
            </a:r>
          </a:p>
        </p:txBody>
      </p:sp>
      <p:pic>
        <p:nvPicPr>
          <p:cNvPr id="11" name="Picture 10" descr="g_nm_cancel.png"/>
          <p:cNvPicPr>
            <a:picLocks noChangeAspect="1"/>
          </p:cNvPicPr>
          <p:nvPr/>
        </p:nvPicPr>
        <p:blipFill>
          <a:blip r:embed="rId2"/>
          <a:stretch>
            <a:fillRect/>
          </a:stretch>
        </p:blipFill>
        <p:spPr>
          <a:xfrm>
            <a:off x="502920" y="1234440"/>
            <a:ext cx="7680960" cy="2743200"/>
          </a:xfrm>
          <a:prstGeom prst="rect">
            <a:avLst/>
          </a:prstGeom>
        </p:spPr>
      </p:pic>
      <p:pic>
        <p:nvPicPr>
          <p:cNvPr id="12" name="Picture 11" descr="g_nm_alert.jpg"/>
          <p:cNvPicPr>
            <a:picLocks noChangeAspect="1"/>
          </p:cNvPicPr>
          <p:nvPr/>
        </p:nvPicPr>
        <p:blipFill>
          <a:blip r:embed="rId3"/>
          <a:stretch>
            <a:fillRect/>
          </a:stretch>
        </p:blipFill>
        <p:spPr>
          <a:xfrm>
            <a:off x="8366760" y="1417320"/>
            <a:ext cx="3337560" cy="1201522"/>
          </a:xfrm>
          <a:prstGeom prst="rect">
            <a:avLst/>
          </a:prstGeom>
        </p:spPr>
      </p:pic>
      <p:sp>
        <p:nvSpPr>
          <p:cNvPr id="13" name="TextBox 12"/>
          <p:cNvSpPr txBox="1"/>
          <p:nvPr/>
        </p:nvSpPr>
        <p:spPr>
          <a:xfrm>
            <a:off x="8366760" y="2697480"/>
            <a:ext cx="3337560" cy="1188720"/>
          </a:xfrm>
          <a:prstGeom prst="rect">
            <a:avLst/>
          </a:prstGeom>
          <a:noFill/>
        </p:spPr>
        <p:txBody>
          <a:bodyPr wrap="square" lIns="0" rIns="0" tIns="0" bIns="0">
            <a:spAutoFit/>
          </a:bodyPr>
          <a:lstStyle/>
          <a:p>
            <a:pPr algn="l"/>
            <a:r>
              <a:rPr sz="950" b="1" i="0">
                <a:solidFill>
                  <a:srgbClr val="C43A4B"/>
                </a:solidFill>
                <a:latin typeface="Courier New"/>
              </a:rPr>
              <a:t>NATIONAL WEATHER SERVICE, 25 OCTOBER: FLASH FLOOD WARNING FOR THE AREA UNTIL 9:15 PM MDT. "DO NOT ATTEMPT TO TRAVEL."</a:t>
            </a:r>
          </a:p>
        </p:txBody>
      </p:sp>
      <p:sp>
        <p:nvSpPr>
          <p:cNvPr id="14" name="Rectangle 13"/>
          <p:cNvSpPr/>
          <p:nvPr/>
        </p:nvSpPr>
        <p:spPr>
          <a:xfrm>
            <a:off x="502920" y="4251960"/>
            <a:ext cx="3611880" cy="178308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4370832"/>
            <a:ext cx="3282696" cy="1545336"/>
          </a:xfrm>
          <a:prstGeom prst="rect">
            <a:avLst/>
          </a:prstGeom>
          <a:noFill/>
        </p:spPr>
        <p:txBody>
          <a:bodyPr wrap="square" lIns="0" rIns="0" tIns="0" bIns="0">
            <a:spAutoFit/>
          </a:bodyPr>
          <a:lstStyle/>
          <a:p>
            <a:r>
              <a:rPr sz="1250" b="1" spc="100">
                <a:solidFill>
                  <a:srgbClr val="16213D"/>
                </a:solidFill>
                <a:latin typeface="Cambria"/>
              </a:rPr>
              <a:t>WHAT IT WOULD HAVE MEASURED</a:t>
            </a:r>
          </a:p>
          <a:p>
            <a:pPr>
              <a:spcBef>
                <a:spcPts val="400"/>
              </a:spcBef>
            </a:pPr>
            <a:r>
              <a:rPr sz="1100">
                <a:solidFill>
                  <a:srgbClr val="222A3F"/>
                </a:solidFill>
                <a:latin typeface="Cambria"/>
              </a:rPr>
              <a:t>•  Open country with no terrain in the path: the true maximum of the radios</a:t>
            </a:r>
          </a:p>
          <a:p>
            <a:pPr>
              <a:spcBef>
                <a:spcPts val="400"/>
              </a:spcBef>
            </a:pPr>
            <a:r>
              <a:rPr sz="1100">
                <a:solidFill>
                  <a:srgbClr val="222A3F"/>
                </a:solidFill>
                <a:latin typeface="Cambria"/>
              </a:rPr>
              <a:t>•  Measured so far: 0.5 mi in town, 3.75 mi on a farm road, 4.7 mi from the canyon rim</a:t>
            </a:r>
          </a:p>
        </p:txBody>
      </p:sp>
      <p:sp>
        <p:nvSpPr>
          <p:cNvPr id="16" name="Rectangle 15"/>
          <p:cNvSpPr/>
          <p:nvPr/>
        </p:nvSpPr>
        <p:spPr>
          <a:xfrm>
            <a:off x="4274820" y="4251960"/>
            <a:ext cx="3611880" cy="178308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39412" y="4370832"/>
            <a:ext cx="3282696" cy="1545336"/>
          </a:xfrm>
          <a:prstGeom prst="rect">
            <a:avLst/>
          </a:prstGeom>
          <a:noFill/>
        </p:spPr>
        <p:txBody>
          <a:bodyPr wrap="square" lIns="0" rIns="0" tIns="0" bIns="0">
            <a:spAutoFit/>
          </a:bodyPr>
          <a:lstStyle/>
          <a:p>
            <a:r>
              <a:rPr sz="1250" b="1" spc="100">
                <a:solidFill>
                  <a:srgbClr val="C43A4B"/>
                </a:solidFill>
                <a:latin typeface="Cambria"/>
              </a:rPr>
              <a:t>WHAT HAPPENED ON SITE</a:t>
            </a:r>
          </a:p>
          <a:p>
            <a:pPr>
              <a:spcBef>
                <a:spcPts val="400"/>
              </a:spcBef>
            </a:pPr>
            <a:r>
              <a:rPr sz="1100">
                <a:solidFill>
                  <a:srgbClr val="222A3F"/>
                </a:solidFill>
                <a:latin typeface="Cambria"/>
              </a:rPr>
              <a:t>•  Flash flood warning from the National Weather Service for the area, 'do not attempt to travel'</a:t>
            </a:r>
          </a:p>
          <a:p>
            <a:pPr>
              <a:spcBef>
                <a:spcPts val="400"/>
              </a:spcBef>
            </a:pPr>
            <a:r>
              <a:rPr sz="1100">
                <a:solidFill>
                  <a:srgbClr val="222A3F"/>
                </a:solidFill>
                <a:latin typeface="Cambria"/>
              </a:rPr>
              <a:t>•  Low cloud on the peaks, rain moving in; the pre-flight (both OLEDs 912.875) was done, the drive was not started</a:t>
            </a:r>
          </a:p>
        </p:txBody>
      </p:sp>
      <p:sp>
        <p:nvSpPr>
          <p:cNvPr id="18" name="Rectangle 17"/>
          <p:cNvSpPr/>
          <p:nvPr/>
        </p:nvSpPr>
        <p:spPr>
          <a:xfrm>
            <a:off x="8046720" y="4251960"/>
            <a:ext cx="3611880" cy="178308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11312" y="4370832"/>
            <a:ext cx="3282696" cy="1545336"/>
          </a:xfrm>
          <a:prstGeom prst="rect">
            <a:avLst/>
          </a:prstGeom>
          <a:noFill/>
        </p:spPr>
        <p:txBody>
          <a:bodyPr wrap="square" lIns="0" rIns="0" tIns="0" bIns="0">
            <a:spAutoFit/>
          </a:bodyPr>
          <a:lstStyle/>
          <a:p>
            <a:r>
              <a:rPr sz="1250" b="1" spc="100">
                <a:solidFill>
                  <a:srgbClr val="1F9D68"/>
                </a:solidFill>
                <a:latin typeface="Cambria"/>
              </a:rPr>
              <a:t>RESCHEDULE</a:t>
            </a:r>
          </a:p>
          <a:p>
            <a:pPr>
              <a:spcBef>
                <a:spcPts val="400"/>
              </a:spcBef>
            </a:pPr>
            <a:r>
              <a:rPr sz="1100">
                <a:solidFill>
                  <a:srgbClr val="222A3F"/>
                </a:solidFill>
                <a:latin typeface="Cambria"/>
              </a:rPr>
              <a:t>•  Next clear weekend, same site and plan: two cars, radios on the roofs, drive apart until LINK LOST, log the last packet</a:t>
            </a:r>
          </a:p>
          <a:p>
            <a:pPr>
              <a:spcBef>
                <a:spcPts val="400"/>
              </a:spcBef>
            </a:pPr>
            <a:r>
              <a:rPr sz="1100">
                <a:solidFill>
                  <a:srgbClr val="222A3F"/>
                </a:solidFill>
                <a:latin typeface="Cambria"/>
              </a:rPr>
              <a:t>•  Both radios now carry fix 1 (sheet 4), so a flat battery on the way cannot cost the test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STATUS UPDATE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03/06  STATUS  2026-10-28</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WEEKEND INSTEAD: WHY THE RADIOS FORGET</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A Qualcomm engineer asked whether the memory itself was at fault. We measured it.</a:t>
            </a:r>
          </a:p>
        </p:txBody>
      </p:sp>
      <p:pic>
        <p:nvPicPr>
          <p:cNvPr id="11" name="Picture 10" descr="g_maps_compare.png"/>
          <p:cNvPicPr>
            <a:picLocks noChangeAspect="1"/>
          </p:cNvPicPr>
          <p:nvPr/>
        </p:nvPicPr>
        <p:blipFill>
          <a:blip r:embed="rId2"/>
          <a:stretch>
            <a:fillRect/>
          </a:stretch>
        </p:blipFill>
        <p:spPr>
          <a:xfrm>
            <a:off x="502920" y="1280160"/>
            <a:ext cx="7863840" cy="2283050"/>
          </a:xfrm>
          <a:prstGeom prst="rect">
            <a:avLst/>
          </a:prstGeom>
        </p:spPr>
      </p:pic>
      <p:sp>
        <p:nvSpPr>
          <p:cNvPr id="12" name="Rectangle 11"/>
          <p:cNvSpPr/>
          <p:nvPr/>
        </p:nvSpPr>
        <p:spPr>
          <a:xfrm>
            <a:off x="8549640" y="1280160"/>
            <a:ext cx="3154680" cy="228600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14232" y="1399031"/>
            <a:ext cx="2825496" cy="2048256"/>
          </a:xfrm>
          <a:prstGeom prst="rect">
            <a:avLst/>
          </a:prstGeom>
          <a:noFill/>
        </p:spPr>
        <p:txBody>
          <a:bodyPr wrap="square" lIns="0" rIns="0" tIns="0" bIns="0">
            <a:spAutoFit/>
          </a:bodyPr>
          <a:lstStyle/>
          <a:p>
            <a:r>
              <a:rPr sz="1250" b="1" spc="100">
                <a:solidFill>
                  <a:srgbClr val="E58E1A"/>
                </a:solidFill>
                <a:latin typeface="Cambria"/>
              </a:rPr>
              <a:t>THE MEASUREMENT</a:t>
            </a:r>
          </a:p>
          <a:p>
            <a:pPr>
              <a:spcBef>
                <a:spcPts val="400"/>
              </a:spcBef>
            </a:pPr>
            <a:r>
              <a:rPr sz="1050">
                <a:solidFill>
                  <a:srgbClr val="222A3F"/>
                </a:solidFill>
                <a:latin typeface="Cambria"/>
              </a:rPr>
              <a:t>•  Settings area of the flash read three times with the firmware stopped, on both radios</a:t>
            </a:r>
          </a:p>
          <a:p>
            <a:pPr>
              <a:spcBef>
                <a:spcPts val="400"/>
              </a:spcBef>
            </a:pPr>
            <a:r>
              <a:rPr sz="1050">
                <a:solidFill>
                  <a:srgbClr val="222A3F"/>
                </a:solidFill>
                <a:latin typeface="Cambria"/>
              </a:rPr>
              <a:t>•  SF: 21 sectors gave different bytes on every pass</a:t>
            </a:r>
          </a:p>
          <a:p>
            <a:pPr>
              <a:spcBef>
                <a:spcPts val="400"/>
              </a:spcBef>
            </a:pPr>
            <a:r>
              <a:rPr sz="1050">
                <a:solidFill>
                  <a:srgbClr val="222A3F"/>
                </a:solidFill>
                <a:latin typeface="Cambria"/>
              </a:rPr>
              <a:t>•  RG: zero</a:t>
            </a:r>
          </a:p>
          <a:p>
            <a:pPr>
              <a:spcBef>
                <a:spcPts val="400"/>
              </a:spcBef>
            </a:pPr>
            <a:r>
              <a:rPr sz="1050">
                <a:solidFill>
                  <a:srgbClr val="222A3F"/>
                </a:solidFill>
                <a:latin typeface="Cambria"/>
              </a:rPr>
              <a:t>•  Program code, read the same way: zero differences</a:t>
            </a:r>
          </a:p>
        </p:txBody>
      </p:sp>
      <p:sp>
        <p:nvSpPr>
          <p:cNvPr id="14" name="Rectangle 13"/>
          <p:cNvSpPr/>
          <p:nvPr/>
        </p:nvSpPr>
        <p:spPr>
          <a:xfrm>
            <a:off x="8549640" y="3703320"/>
            <a:ext cx="3154680" cy="224028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14232" y="3822191"/>
            <a:ext cx="2825496" cy="2002536"/>
          </a:xfrm>
          <a:prstGeom prst="rect">
            <a:avLst/>
          </a:prstGeom>
          <a:noFill/>
        </p:spPr>
        <p:txBody>
          <a:bodyPr wrap="square" lIns="0" rIns="0" tIns="0" bIns="0">
            <a:spAutoFit/>
          </a:bodyPr>
          <a:lstStyle/>
          <a:p>
            <a:r>
              <a:rPr sz="1250" b="1" spc="100">
                <a:solidFill>
                  <a:srgbClr val="1F9D68"/>
                </a:solidFill>
                <a:latin typeface="Cambria"/>
              </a:rPr>
              <a:t>THE ANSWER</a:t>
            </a:r>
          </a:p>
          <a:p>
            <a:pPr>
              <a:spcBef>
                <a:spcPts val="400"/>
              </a:spcBef>
            </a:pPr>
            <a:r>
              <a:rPr sz="1050">
                <a:solidFill>
                  <a:srgbClr val="222A3F"/>
                </a:solidFill>
                <a:latin typeface="Cambria"/>
              </a:rPr>
              <a:t>•  The cells are healthy: erased and rewritten on a good supply they held every pattern</a:t>
            </a:r>
          </a:p>
          <a:p>
            <a:pPr>
              <a:spcBef>
                <a:spcPts val="400"/>
              </a:spcBef>
            </a:pPr>
            <a:r>
              <a:rPr sz="1050">
                <a:solidFill>
                  <a:srgbClr val="222A3F"/>
                </a:solidFill>
                <a:latin typeface="Cambria"/>
              </a:rPr>
              <a:t>•  They were left half-written when the firmware wrote to flash while the battery sagged below the chip's 2.7 V minimum</a:t>
            </a:r>
          </a:p>
          <a:p>
            <a:pPr>
              <a:spcBef>
                <a:spcPts val="400"/>
              </a:spcBef>
            </a:pPr>
            <a:r>
              <a:rPr sz="1050">
                <a:solidFill>
                  <a:srgbClr val="222A3F"/>
                </a:solidFill>
                <a:latin typeface="Cambria"/>
              </a:rPr>
              <a:t>•  The firmware then overwrites any unreadable file with factory settings</a:t>
            </a:r>
          </a:p>
        </p:txBody>
      </p:sp>
      <p:sp>
        <p:nvSpPr>
          <p:cNvPr id="16" name="TextBox 15"/>
          <p:cNvSpPr txBox="1"/>
          <p:nvPr/>
        </p:nvSpPr>
        <p:spPr>
          <a:xfrm>
            <a:off x="502920" y="3703320"/>
            <a:ext cx="7863840" cy="822960"/>
          </a:xfrm>
          <a:prstGeom prst="rect">
            <a:avLst/>
          </a:prstGeom>
          <a:noFill/>
        </p:spPr>
        <p:txBody>
          <a:bodyPr wrap="square" lIns="0" rIns="0" tIns="0" bIns="0">
            <a:spAutoFit/>
          </a:bodyPr>
          <a:lstStyle/>
          <a:p>
            <a:pPr algn="l"/>
            <a:r>
              <a:rPr sz="1150" b="0" i="0">
                <a:solidFill>
                  <a:srgbClr val="222A3F"/>
                </a:solidFill>
                <a:latin typeface="Cambria"/>
              </a:rPr>
              <a:t>Each square is one 4 KB sector. Red: read differently every time with nothing running. Green: the live settings files. SF was repaired the same day (21 to 0 unstable sectors). The full chain of evidence, the firmware source, the datasheets and the upstream reports are the 4 November presentation.</a:t>
            </a:r>
          </a:p>
        </p:txBody>
      </p:sp>
      <p:sp>
        <p:nvSpPr>
          <p:cNvPr id="17" name="Rectangle 16"/>
          <p:cNvSpPr/>
          <p:nvPr/>
        </p:nvSpPr>
        <p:spPr>
          <a:xfrm>
            <a:off x="502920" y="4663440"/>
            <a:ext cx="246888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4773168"/>
            <a:ext cx="2468880" cy="558800"/>
          </a:xfrm>
          <a:prstGeom prst="rect">
            <a:avLst/>
          </a:prstGeom>
          <a:noFill/>
        </p:spPr>
        <p:txBody>
          <a:bodyPr wrap="square" lIns="0" rIns="0" tIns="0" bIns="0">
            <a:spAutoFit/>
          </a:bodyPr>
          <a:lstStyle/>
          <a:p>
            <a:pPr algn="ctr"/>
            <a:r>
              <a:rPr sz="2200" b="1" i="0">
                <a:solidFill>
                  <a:srgbClr val="C43A4B"/>
                </a:solidFill>
                <a:latin typeface="Cambria"/>
              </a:rPr>
              <a:t>21 -&gt; 0</a:t>
            </a:r>
          </a:p>
        </p:txBody>
      </p:sp>
      <p:sp>
        <p:nvSpPr>
          <p:cNvPr id="19" name="TextBox 18"/>
          <p:cNvSpPr txBox="1"/>
          <p:nvPr/>
        </p:nvSpPr>
        <p:spPr>
          <a:xfrm>
            <a:off x="640080" y="5423408"/>
            <a:ext cx="2194560" cy="401320"/>
          </a:xfrm>
          <a:prstGeom prst="rect">
            <a:avLst/>
          </a:prstGeom>
          <a:noFill/>
        </p:spPr>
        <p:txBody>
          <a:bodyPr wrap="square" lIns="0" rIns="0" tIns="0" bIns="0">
            <a:spAutoFit/>
          </a:bodyPr>
          <a:lstStyle/>
          <a:p>
            <a:pPr algn="ctr"/>
            <a:r>
              <a:rPr sz="1100" b="0" i="0">
                <a:solidFill>
                  <a:srgbClr val="222A3F"/>
                </a:solidFill>
                <a:latin typeface="Cambria"/>
              </a:rPr>
              <a:t>unstable sectors on SF, before and after repair</a:t>
            </a:r>
          </a:p>
        </p:txBody>
      </p:sp>
      <p:sp>
        <p:nvSpPr>
          <p:cNvPr id="20" name="Rectangle 19"/>
          <p:cNvSpPr/>
          <p:nvPr/>
        </p:nvSpPr>
        <p:spPr>
          <a:xfrm>
            <a:off x="3200400" y="4663440"/>
            <a:ext cx="246888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0" y="4773168"/>
            <a:ext cx="2468880" cy="558800"/>
          </a:xfrm>
          <a:prstGeom prst="rect">
            <a:avLst/>
          </a:prstGeom>
          <a:noFill/>
        </p:spPr>
        <p:txBody>
          <a:bodyPr wrap="square" lIns="0" rIns="0" tIns="0" bIns="0">
            <a:spAutoFit/>
          </a:bodyPr>
          <a:lstStyle/>
          <a:p>
            <a:pPr algn="ctr"/>
            <a:r>
              <a:rPr sz="2200" b="1" i="0">
                <a:solidFill>
                  <a:srgbClr val="1F9D68"/>
                </a:solidFill>
                <a:latin typeface="Cambria"/>
              </a:rPr>
              <a:t>0</a:t>
            </a:r>
          </a:p>
        </p:txBody>
      </p:sp>
      <p:sp>
        <p:nvSpPr>
          <p:cNvPr id="22" name="TextBox 21"/>
          <p:cNvSpPr txBox="1"/>
          <p:nvPr/>
        </p:nvSpPr>
        <p:spPr>
          <a:xfrm>
            <a:off x="3337560" y="5423408"/>
            <a:ext cx="2194560" cy="401320"/>
          </a:xfrm>
          <a:prstGeom prst="rect">
            <a:avLst/>
          </a:prstGeom>
          <a:noFill/>
        </p:spPr>
        <p:txBody>
          <a:bodyPr wrap="square" lIns="0" rIns="0" tIns="0" bIns="0">
            <a:spAutoFit/>
          </a:bodyPr>
          <a:lstStyle/>
          <a:p>
            <a:pPr algn="ctr"/>
            <a:r>
              <a:rPr sz="1100" b="0" i="0">
                <a:solidFill>
                  <a:srgbClr val="222A3F"/>
                </a:solidFill>
                <a:latin typeface="Cambria"/>
              </a:rPr>
              <a:t>unstable sectors on RG</a:t>
            </a:r>
          </a:p>
        </p:txBody>
      </p:sp>
      <p:sp>
        <p:nvSpPr>
          <p:cNvPr id="23" name="Rectangle 22"/>
          <p:cNvSpPr/>
          <p:nvPr/>
        </p:nvSpPr>
        <p:spPr>
          <a:xfrm>
            <a:off x="5897880" y="4663440"/>
            <a:ext cx="246888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97880" y="4773168"/>
            <a:ext cx="2468880" cy="558800"/>
          </a:xfrm>
          <a:prstGeom prst="rect">
            <a:avLst/>
          </a:prstGeom>
          <a:noFill/>
        </p:spPr>
        <p:txBody>
          <a:bodyPr wrap="square" lIns="0" rIns="0" tIns="0" bIns="0">
            <a:spAutoFit/>
          </a:bodyPr>
          <a:lstStyle/>
          <a:p>
            <a:pPr algn="ctr"/>
            <a:r>
              <a:rPr sz="2200" b="1" i="0">
                <a:solidFill>
                  <a:srgbClr val="E58E1A"/>
                </a:solidFill>
                <a:latin typeface="Cambria"/>
              </a:rPr>
              <a:t>260 mV</a:t>
            </a:r>
          </a:p>
        </p:txBody>
      </p:sp>
      <p:sp>
        <p:nvSpPr>
          <p:cNvPr id="25" name="TextBox 24"/>
          <p:cNvSpPr txBox="1"/>
          <p:nvPr/>
        </p:nvSpPr>
        <p:spPr>
          <a:xfrm>
            <a:off x="6035040" y="5423408"/>
            <a:ext cx="2194560" cy="401320"/>
          </a:xfrm>
          <a:prstGeom prst="rect">
            <a:avLst/>
          </a:prstGeom>
          <a:noFill/>
        </p:spPr>
        <p:txBody>
          <a:bodyPr wrap="square" lIns="0" rIns="0" tIns="0" bIns="0">
            <a:spAutoFit/>
          </a:bodyPr>
          <a:lstStyle/>
          <a:p>
            <a:pPr algn="ctr"/>
            <a:r>
              <a:rPr sz="1100" b="0" i="0">
                <a:solidFill>
                  <a:srgbClr val="222A3F"/>
                </a:solidFill>
                <a:latin typeface="Cambria"/>
              </a:rPr>
              <a:t>gap between CPU reset (2.44 V) and flash minimum (2.70 V)</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STATUS UPDATE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04/06  STATUS  2026-10-28</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FIX 1 IS ON BOTH RADIOS</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Built 27 October, flashed and accepted 28 October</a:t>
            </a:r>
          </a:p>
        </p:txBody>
      </p:sp>
      <p:sp>
        <p:nvSpPr>
          <p:cNvPr id="11" name="Rectangle 10"/>
          <p:cNvSpPr/>
          <p:nvPr/>
        </p:nvSpPr>
        <p:spPr>
          <a:xfrm>
            <a:off x="502920" y="1280160"/>
            <a:ext cx="5486400" cy="237744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1399031"/>
            <a:ext cx="5157216" cy="2139696"/>
          </a:xfrm>
          <a:prstGeom prst="rect">
            <a:avLst/>
          </a:prstGeom>
          <a:noFill/>
        </p:spPr>
        <p:txBody>
          <a:bodyPr wrap="square" lIns="0" rIns="0" tIns="0" bIns="0">
            <a:spAutoFit/>
          </a:bodyPr>
          <a:lstStyle/>
          <a:p>
            <a:r>
              <a:rPr sz="1350" b="1" spc="100">
                <a:solidFill>
                  <a:srgbClr val="1F9D68"/>
                </a:solidFill>
                <a:latin typeface="Cambria"/>
              </a:rPr>
              <a:t>WHAT IT IS</a:t>
            </a:r>
          </a:p>
          <a:p>
            <a:pPr>
              <a:spcBef>
                <a:spcPts val="400"/>
              </a:spcBef>
            </a:pPr>
            <a:r>
              <a:rPr sz="1200">
                <a:solidFill>
                  <a:srgbClr val="222A3F"/>
                </a:solidFill>
                <a:latin typeface="Cambria"/>
              </a:rPr>
              <a:t>Meshtastic rebuilt from source so that its factory settings are our settings: Group9 at 912.875 MHz, No PIN, CLIENT_MUTE, named SF or RG, our GPS cadence. When the firmware falls back to defaults after a bad write, the defaults are now right. The key is compiled into a binary that never leaves the private repository.</a:t>
            </a:r>
          </a:p>
        </p:txBody>
      </p:sp>
      <p:sp>
        <p:nvSpPr>
          <p:cNvPr id="13" name="Rectangle 12"/>
          <p:cNvSpPr/>
          <p:nvPr/>
        </p:nvSpPr>
        <p:spPr>
          <a:xfrm>
            <a:off x="6172200" y="1280160"/>
            <a:ext cx="5532120" cy="237744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36792" y="1399031"/>
            <a:ext cx="5202936" cy="2139696"/>
          </a:xfrm>
          <a:prstGeom prst="rect">
            <a:avLst/>
          </a:prstGeom>
          <a:noFill/>
        </p:spPr>
        <p:txBody>
          <a:bodyPr wrap="square" lIns="0" rIns="0" tIns="0" bIns="0">
            <a:spAutoFit/>
          </a:bodyPr>
          <a:lstStyle/>
          <a:p>
            <a:r>
              <a:rPr sz="1350" b="1" spc="100">
                <a:solidFill>
                  <a:srgbClr val="16213D"/>
                </a:solidFill>
                <a:latin typeface="Cambria"/>
              </a:rPr>
              <a:t>ACCEPTANCE TEST, BOTH RADIOS</a:t>
            </a:r>
          </a:p>
          <a:p>
            <a:pPr>
              <a:spcBef>
                <a:spcPts val="400"/>
              </a:spcBef>
            </a:pPr>
            <a:r>
              <a:rPr sz="1150">
                <a:solidFill>
                  <a:srgbClr val="222A3F"/>
                </a:solidFill>
                <a:latin typeface="Cambria"/>
              </a:rPr>
              <a:t>•  Flash, then send a factory reset, then read back with zero provisioning</a:t>
            </a:r>
          </a:p>
          <a:p>
            <a:pPr>
              <a:spcBef>
                <a:spcPts val="400"/>
              </a:spcBef>
            </a:pPr>
            <a:r>
              <a:rPr sz="1150">
                <a:solidFill>
                  <a:srgbClr val="222A3F"/>
                </a:solidFill>
                <a:latin typeface="Cambria"/>
              </a:rPr>
              <a:t>•  SF came back as SF and RG as RG: Group9 with the 32-byte key, precision 32, No PIN, CLIENT_MUTE, US LONG_FAST</a:t>
            </a:r>
          </a:p>
          <a:p>
            <a:pPr>
              <a:spcBef>
                <a:spcPts val="400"/>
              </a:spcBef>
            </a:pPr>
            <a:r>
              <a:rPr sz="1150">
                <a:solidFill>
                  <a:srgbClr val="222A3F"/>
                </a:solidFill>
                <a:latin typeface="Cambria"/>
              </a:rPr>
              <a:t>•  The snapshot then restored the 21 presets, the smart-broadcast minimums and the original key pair</a:t>
            </a:r>
          </a:p>
          <a:p>
            <a:pPr>
              <a:spcBef>
                <a:spcPts val="400"/>
              </a:spcBef>
            </a:pPr>
            <a:r>
              <a:rPr sz="1150">
                <a:solidFill>
                  <a:srgbClr val="222A3F"/>
                </a:solidFill>
                <a:latin typeface="Cambria"/>
              </a:rPr>
              <a:t>•  Both OLEDs read 912.875 before they were unplugged</a:t>
            </a:r>
          </a:p>
        </p:txBody>
      </p:sp>
      <p:sp>
        <p:nvSpPr>
          <p:cNvPr id="15" name="Rectangle 14"/>
          <p:cNvSpPr/>
          <p:nvPr/>
        </p:nvSpPr>
        <p:spPr>
          <a:xfrm>
            <a:off x="502920" y="3886200"/>
            <a:ext cx="3611880" cy="118872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3995928"/>
            <a:ext cx="3611880" cy="660400"/>
          </a:xfrm>
          <a:prstGeom prst="rect">
            <a:avLst/>
          </a:prstGeom>
          <a:noFill/>
        </p:spPr>
        <p:txBody>
          <a:bodyPr wrap="square" lIns="0" rIns="0" tIns="0" bIns="0">
            <a:spAutoFit/>
          </a:bodyPr>
          <a:lstStyle/>
          <a:p>
            <a:pPr algn="ctr"/>
            <a:r>
              <a:rPr sz="2600" b="1" i="0">
                <a:solidFill>
                  <a:srgbClr val="1F9D68"/>
                </a:solidFill>
                <a:latin typeface="Cambria"/>
              </a:rPr>
              <a:t>2 / 2</a:t>
            </a:r>
          </a:p>
        </p:txBody>
      </p:sp>
      <p:sp>
        <p:nvSpPr>
          <p:cNvPr id="17" name="TextBox 16"/>
          <p:cNvSpPr txBox="1"/>
          <p:nvPr/>
        </p:nvSpPr>
        <p:spPr>
          <a:xfrm>
            <a:off x="640080" y="4747768"/>
            <a:ext cx="3337560" cy="254000"/>
          </a:xfrm>
          <a:prstGeom prst="rect">
            <a:avLst/>
          </a:prstGeom>
          <a:noFill/>
        </p:spPr>
        <p:txBody>
          <a:bodyPr wrap="square" lIns="0" rIns="0" tIns="0" bIns="0">
            <a:spAutoFit/>
          </a:bodyPr>
          <a:lstStyle/>
          <a:p>
            <a:pPr algn="ctr"/>
            <a:r>
              <a:rPr sz="1100" b="0" i="0">
                <a:solidFill>
                  <a:srgbClr val="222A3F"/>
                </a:solidFill>
                <a:latin typeface="Cambria"/>
              </a:rPr>
              <a:t>radios flashed and accepted</a:t>
            </a:r>
          </a:p>
        </p:txBody>
      </p:sp>
      <p:sp>
        <p:nvSpPr>
          <p:cNvPr id="18" name="Rectangle 17"/>
          <p:cNvSpPr/>
          <p:nvPr/>
        </p:nvSpPr>
        <p:spPr>
          <a:xfrm>
            <a:off x="4274820" y="3886200"/>
            <a:ext cx="3611880" cy="118872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74820" y="3995928"/>
            <a:ext cx="3611880" cy="660400"/>
          </a:xfrm>
          <a:prstGeom prst="rect">
            <a:avLst/>
          </a:prstGeom>
          <a:noFill/>
        </p:spPr>
        <p:txBody>
          <a:bodyPr wrap="square" lIns="0" rIns="0" tIns="0" bIns="0">
            <a:spAutoFit/>
          </a:bodyPr>
          <a:lstStyle/>
          <a:p>
            <a:pPr algn="ctr"/>
            <a:r>
              <a:rPr sz="2600" b="1" i="0">
                <a:solidFill>
                  <a:srgbClr val="1F9D68"/>
                </a:solidFill>
                <a:latin typeface="Cambria"/>
              </a:rPr>
              <a:t>0</a:t>
            </a:r>
          </a:p>
        </p:txBody>
      </p:sp>
      <p:sp>
        <p:nvSpPr>
          <p:cNvPr id="20" name="TextBox 19"/>
          <p:cNvSpPr txBox="1"/>
          <p:nvPr/>
        </p:nvSpPr>
        <p:spPr>
          <a:xfrm>
            <a:off x="4411980" y="4747768"/>
            <a:ext cx="3337560" cy="254000"/>
          </a:xfrm>
          <a:prstGeom prst="rect">
            <a:avLst/>
          </a:prstGeom>
          <a:noFill/>
        </p:spPr>
        <p:txBody>
          <a:bodyPr wrap="square" lIns="0" rIns="0" tIns="0" bIns="0">
            <a:spAutoFit/>
          </a:bodyPr>
          <a:lstStyle/>
          <a:p>
            <a:pPr algn="ctr"/>
            <a:r>
              <a:rPr sz="1100" b="0" i="0">
                <a:solidFill>
                  <a:srgbClr val="222A3F"/>
                </a:solidFill>
                <a:latin typeface="Cambria"/>
              </a:rPr>
              <a:t>commands needed after a future revert</a:t>
            </a:r>
          </a:p>
        </p:txBody>
      </p:sp>
      <p:sp>
        <p:nvSpPr>
          <p:cNvPr id="21" name="Rectangle 20"/>
          <p:cNvSpPr/>
          <p:nvPr/>
        </p:nvSpPr>
        <p:spPr>
          <a:xfrm>
            <a:off x="8046720" y="3886200"/>
            <a:ext cx="3611880" cy="118872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0" y="3995928"/>
            <a:ext cx="3611880" cy="660400"/>
          </a:xfrm>
          <a:prstGeom prst="rect">
            <a:avLst/>
          </a:prstGeom>
          <a:noFill/>
        </p:spPr>
        <p:txBody>
          <a:bodyPr wrap="square" lIns="0" rIns="0" tIns="0" bIns="0">
            <a:spAutoFit/>
          </a:bodyPr>
          <a:lstStyle/>
          <a:p>
            <a:pPr algn="ctr"/>
            <a:r>
              <a:rPr sz="2600" b="1" i="0">
                <a:solidFill>
                  <a:srgbClr val="E58E1A"/>
                </a:solidFill>
                <a:latin typeface="Cambria"/>
              </a:rPr>
              <a:t>90 s</a:t>
            </a:r>
          </a:p>
        </p:txBody>
      </p:sp>
      <p:sp>
        <p:nvSpPr>
          <p:cNvPr id="23" name="TextBox 22"/>
          <p:cNvSpPr txBox="1"/>
          <p:nvPr/>
        </p:nvSpPr>
        <p:spPr>
          <a:xfrm>
            <a:off x="8183880" y="4747768"/>
            <a:ext cx="3337560" cy="254000"/>
          </a:xfrm>
          <a:prstGeom prst="rect">
            <a:avLst/>
          </a:prstGeom>
          <a:noFill/>
        </p:spPr>
        <p:txBody>
          <a:bodyPr wrap="square" lIns="0" rIns="0" tIns="0" bIns="0">
            <a:spAutoFit/>
          </a:bodyPr>
          <a:lstStyle/>
          <a:p>
            <a:pPr algn="ctr"/>
            <a:r>
              <a:rPr sz="1100" b="0" i="0">
                <a:solidFill>
                  <a:srgbClr val="222A3F"/>
                </a:solidFill>
                <a:latin typeface="Cambria"/>
              </a:rPr>
              <a:t>to restore presets and minimums from the snapshot</a:t>
            </a:r>
          </a:p>
        </p:txBody>
      </p:sp>
      <p:sp>
        <p:nvSpPr>
          <p:cNvPr id="24" name="Rectangle 23"/>
          <p:cNvSpPr/>
          <p:nvPr/>
        </p:nvSpPr>
        <p:spPr>
          <a:xfrm>
            <a:off x="502920" y="5257800"/>
            <a:ext cx="11201400" cy="731520"/>
          </a:xfrm>
          <a:prstGeom prst="rect">
            <a:avLst/>
          </a:prstGeom>
          <a:solidFill>
            <a:srgbClr val="F2F5FA"/>
          </a:solidFill>
          <a:ln w="15875">
            <a:solidFill>
              <a:srgbClr val="5E6B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 y="5376672"/>
            <a:ext cx="10872216" cy="493776"/>
          </a:xfrm>
          <a:prstGeom prst="rect">
            <a:avLst/>
          </a:prstGeom>
          <a:noFill/>
        </p:spPr>
        <p:txBody>
          <a:bodyPr wrap="square" lIns="0" rIns="0" tIns="0" bIns="0">
            <a:spAutoFit/>
          </a:bodyPr>
          <a:lstStyle/>
          <a:p>
            <a:r>
              <a:rPr sz="1250" b="1" spc="100">
                <a:solidFill>
                  <a:srgbClr val="5E6B85"/>
                </a:solidFill>
                <a:latin typeface="Cambria"/>
              </a:rPr>
              <a:t>ALSO IN FORCE</a:t>
            </a:r>
          </a:p>
          <a:p>
            <a:pPr>
              <a:spcBef>
                <a:spcPts val="400"/>
              </a:spcBef>
            </a:pPr>
            <a:r>
              <a:rPr sz="1150">
                <a:solidFill>
                  <a:srgbClr val="222A3F"/>
                </a:solidFill>
                <a:latin typeface="Cambria"/>
              </a:rPr>
              <a:t>Pre-flight: both OLEDs read 912.875. Config snapshot per radio. Phone-app QR recovery when no laptop is at hand (User Guide 12). Never store a radio flat.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STATUS UPDATE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05/06  STATUS  2026-10-28</a:t>
            </a:r>
          </a:p>
        </p:txBody>
      </p:sp>
      <p:sp>
        <p:nvSpPr>
          <p:cNvPr id="7" name="Rectangle 6"/>
          <p:cNvSpPr/>
          <p:nvPr/>
        </p:nvSpPr>
        <p:spPr>
          <a:xfrm>
            <a:off x="9646920" y="347472"/>
            <a:ext cx="2148840" cy="420624"/>
          </a:xfrm>
          <a:prstGeom prst="rect">
            <a:avLst/>
          </a:prstGeom>
          <a:solidFill>
            <a:srgbClr val="FFFFFF"/>
          </a:solidFill>
          <a:ln w="19050">
            <a:solidFill>
              <a:srgbClr val="6D4B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6D4BDB"/>
                </a:solidFill>
                <a:latin typeface="Courier New"/>
              </a:rPr>
              <a:t>OWNER: JOSIAH</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SINCE THE CANYON: DISPLAY AND DOCUMENTS</a:t>
            </a:r>
          </a:p>
        </p:txBody>
      </p:sp>
      <p:sp>
        <p:nvSpPr>
          <p:cNvPr id="10" name="Rectangle 9"/>
          <p:cNvSpPr/>
          <p:nvPr/>
        </p:nvSpPr>
        <p:spPr>
          <a:xfrm>
            <a:off x="502920" y="1280160"/>
            <a:ext cx="3657600" cy="2743200"/>
          </a:xfrm>
          <a:prstGeom prst="rect">
            <a:avLst/>
          </a:prstGeom>
          <a:solidFill>
            <a:srgbClr val="F2F5FA"/>
          </a:solidFill>
          <a:ln w="15875">
            <a:solidFill>
              <a:srgbClr val="6D4B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399031"/>
            <a:ext cx="3328416" cy="2505456"/>
          </a:xfrm>
          <a:prstGeom prst="rect">
            <a:avLst/>
          </a:prstGeom>
          <a:noFill/>
        </p:spPr>
        <p:txBody>
          <a:bodyPr wrap="square" lIns="0" rIns="0" tIns="0" bIns="0">
            <a:spAutoFit/>
          </a:bodyPr>
          <a:lstStyle/>
          <a:p>
            <a:r>
              <a:rPr sz="1350" b="1" spc="100">
                <a:solidFill>
                  <a:srgbClr val="6D4BDB"/>
                </a:solidFill>
                <a:latin typeface="Cambria"/>
              </a:rPr>
              <a:t>DISPLAY FIRMWARE</a:t>
            </a:r>
          </a:p>
          <a:p>
            <a:pPr>
              <a:spcBef>
                <a:spcPts val="400"/>
              </a:spcBef>
            </a:pPr>
            <a:r>
              <a:rPr sz="1150">
                <a:solidFill>
                  <a:srgbClr val="222A3F"/>
                </a:solidFill>
                <a:latin typeface="Cambria"/>
              </a:rPr>
              <a:t>•  Headings as clock positions (12, 3, 6, 9), partner arrow kept</a:t>
            </a:r>
          </a:p>
          <a:p>
            <a:pPr>
              <a:spcBef>
                <a:spcPts val="400"/>
              </a:spcBef>
            </a:pPr>
            <a:r>
              <a:rPr sz="1150">
                <a:solidFill>
                  <a:srgbClr val="222A3F"/>
                </a:solidFill>
                <a:latin typeface="Cambria"/>
              </a:rPr>
              <a:t>•  Heading held while stopped; 'holding' when both cars are parked</a:t>
            </a:r>
          </a:p>
          <a:p>
            <a:pPr>
              <a:spcBef>
                <a:spcPts val="400"/>
              </a:spcBef>
            </a:pPr>
            <a:r>
              <a:rPr sz="1150">
                <a:solidFill>
                  <a:srgbClr val="222A3F"/>
                </a:solidFill>
                <a:latin typeface="Cambria"/>
              </a:rPr>
              <a:t>•  LINK LOST alarm when the radio drops</a:t>
            </a:r>
          </a:p>
          <a:p>
            <a:pPr>
              <a:spcBef>
                <a:spcPts val="400"/>
              </a:spcBef>
            </a:pPr>
            <a:r>
              <a:rPr sz="1150">
                <a:solidFill>
                  <a:srgbClr val="222A3F"/>
                </a:solidFill>
                <a:latin typeface="Cambria"/>
              </a:rPr>
              <a:t>•  Flashed to both displays; 13 of 13 native tests pass</a:t>
            </a:r>
          </a:p>
        </p:txBody>
      </p:sp>
      <p:sp>
        <p:nvSpPr>
          <p:cNvPr id="12" name="Rectangle 11"/>
          <p:cNvSpPr/>
          <p:nvPr/>
        </p:nvSpPr>
        <p:spPr>
          <a:xfrm>
            <a:off x="4251959" y="1280160"/>
            <a:ext cx="3657600" cy="274320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16551" y="1399031"/>
            <a:ext cx="3328416" cy="2505456"/>
          </a:xfrm>
          <a:prstGeom prst="rect">
            <a:avLst/>
          </a:prstGeom>
          <a:noFill/>
        </p:spPr>
        <p:txBody>
          <a:bodyPr wrap="square" lIns="0" rIns="0" tIns="0" bIns="0">
            <a:spAutoFit/>
          </a:bodyPr>
          <a:lstStyle/>
          <a:p>
            <a:r>
              <a:rPr sz="1350" b="1" spc="100">
                <a:solidFill>
                  <a:srgbClr val="E58E1A"/>
                </a:solidFill>
                <a:latin typeface="Cambria"/>
              </a:rPr>
              <a:t>BENCH OBSERVATIONS</a:t>
            </a:r>
          </a:p>
          <a:p>
            <a:pPr>
              <a:spcBef>
                <a:spcPts val="400"/>
              </a:spcBef>
            </a:pPr>
            <a:r>
              <a:rPr sz="1150">
                <a:solidFill>
                  <a:srgbClr val="222A3F"/>
                </a:solidFill>
                <a:latin typeface="Cambria"/>
              </a:rPr>
              <a:t>•  Two radios on one desk showed 0.21 mi apart: indoor GPS scatter of 100 to 400 m, not a link fault</a:t>
            </a:r>
          </a:p>
          <a:p>
            <a:pPr>
              <a:spcBef>
                <a:spcPts val="400"/>
              </a:spcBef>
            </a:pPr>
            <a:r>
              <a:rPr sz="1150">
                <a:solidFill>
                  <a:srgbClr val="222A3F"/>
                </a:solidFill>
                <a:latin typeface="Cambria"/>
              </a:rPr>
              <a:t>•  Both displays paired in under 8 s with every config write accepted</a:t>
            </a:r>
          </a:p>
          <a:p>
            <a:pPr>
              <a:spcBef>
                <a:spcPts val="400"/>
              </a:spcBef>
            </a:pPr>
            <a:r>
              <a:rPr sz="1150">
                <a:solidFill>
                  <a:srgbClr val="222A3F"/>
                </a:solidFill>
                <a:latin typeface="Cambria"/>
              </a:rPr>
              <a:t>•  Rule: judge a bench distance only with sky view</a:t>
            </a:r>
          </a:p>
        </p:txBody>
      </p:sp>
      <p:sp>
        <p:nvSpPr>
          <p:cNvPr id="14" name="Rectangle 13"/>
          <p:cNvSpPr/>
          <p:nvPr/>
        </p:nvSpPr>
        <p:spPr>
          <a:xfrm>
            <a:off x="8001000" y="1280160"/>
            <a:ext cx="3657600" cy="274320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5592" y="1399031"/>
            <a:ext cx="3328416" cy="2505456"/>
          </a:xfrm>
          <a:prstGeom prst="rect">
            <a:avLst/>
          </a:prstGeom>
          <a:noFill/>
        </p:spPr>
        <p:txBody>
          <a:bodyPr wrap="square" lIns="0" rIns="0" tIns="0" bIns="0">
            <a:spAutoFit/>
          </a:bodyPr>
          <a:lstStyle/>
          <a:p>
            <a:r>
              <a:rPr sz="1350" b="1" spc="100">
                <a:solidFill>
                  <a:srgbClr val="16213D"/>
                </a:solidFill>
                <a:latin typeface="Cambria"/>
              </a:rPr>
              <a:t>DOCUMENTS</a:t>
            </a:r>
          </a:p>
          <a:p>
            <a:pPr>
              <a:spcBef>
                <a:spcPts val="400"/>
              </a:spcBef>
            </a:pPr>
            <a:r>
              <a:rPr sz="1150">
                <a:solidFill>
                  <a:srgbClr val="222A3F"/>
                </a:solidFill>
                <a:latin typeface="Cambria"/>
              </a:rPr>
              <a:t>•  User Guide 12: restoring a radio that forgot its settings, phone and laptop paths</a:t>
            </a:r>
          </a:p>
          <a:p>
            <a:pPr>
              <a:spcBef>
                <a:spcPts val="400"/>
              </a:spcBef>
            </a:pPr>
            <a:r>
              <a:rPr sz="1150">
                <a:solidFill>
                  <a:srgbClr val="222A3F"/>
                </a:solidFill>
                <a:latin typeface="Cambria"/>
              </a:rPr>
              <a:t>•  Technical Manual 15 and 16: verification record and failure catalog updated through 28 October</a:t>
            </a:r>
          </a:p>
          <a:p>
            <a:pPr>
              <a:spcBef>
                <a:spcPts val="400"/>
              </a:spcBef>
            </a:pPr>
            <a:r>
              <a:rPr sz="1150">
                <a:solidFill>
                  <a:srgbClr val="222A3F"/>
                </a:solidFill>
                <a:latin typeface="Cambria"/>
              </a:rPr>
              <a:t>•  Presentation for 4 November: 20 sheets, built and in the repository</a:t>
            </a:r>
          </a:p>
        </p:txBody>
      </p:sp>
      <p:pic>
        <p:nvPicPr>
          <p:cNvPr id="16" name="Picture 15" descr="g_lcddiag.png"/>
          <p:cNvPicPr>
            <a:picLocks noChangeAspect="1"/>
          </p:cNvPicPr>
          <p:nvPr/>
        </p:nvPicPr>
        <p:blipFill>
          <a:blip r:embed="rId2"/>
          <a:stretch>
            <a:fillRect/>
          </a:stretch>
        </p:blipFill>
        <p:spPr>
          <a:xfrm>
            <a:off x="502920" y="4206240"/>
            <a:ext cx="5029200" cy="1865671"/>
          </a:xfrm>
          <a:prstGeom prst="rect">
            <a:avLst/>
          </a:prstGeom>
        </p:spPr>
      </p:pic>
      <p:sp>
        <p:nvSpPr>
          <p:cNvPr id="17" name="Rectangle 16"/>
          <p:cNvSpPr/>
          <p:nvPr/>
        </p:nvSpPr>
        <p:spPr>
          <a:xfrm>
            <a:off x="5715000" y="4206240"/>
            <a:ext cx="5989320" cy="1856231"/>
          </a:xfrm>
          <a:prstGeom prst="rect">
            <a:avLst/>
          </a:prstGeom>
          <a:solidFill>
            <a:srgbClr val="F2F5FA"/>
          </a:solidFill>
          <a:ln w="15875">
            <a:solidFill>
              <a:srgbClr val="5E6B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79592" y="4325112"/>
            <a:ext cx="5660136" cy="1618487"/>
          </a:xfrm>
          <a:prstGeom prst="rect">
            <a:avLst/>
          </a:prstGeom>
          <a:noFill/>
        </p:spPr>
        <p:txBody>
          <a:bodyPr wrap="square" lIns="0" rIns="0" tIns="0" bIns="0">
            <a:spAutoFit/>
          </a:bodyPr>
          <a:lstStyle/>
          <a:p>
            <a:r>
              <a:rPr sz="1250" b="1" spc="100">
                <a:solidFill>
                  <a:srgbClr val="5E6B85"/>
                </a:solidFill>
                <a:latin typeface="Cambria"/>
              </a:rPr>
              <a:t>THE BENCH RECORD BEHIND THE 0.21 MI</a:t>
            </a:r>
          </a:p>
          <a:p>
            <a:pPr>
              <a:spcBef>
                <a:spcPts val="400"/>
              </a:spcBef>
            </a:pPr>
            <a:r>
              <a:rPr sz="1100">
                <a:solidFill>
                  <a:srgbClr val="222A3F"/>
                </a:solidFill>
                <a:latin typeface="Cambria"/>
              </a:rPr>
              <a:t>Parsed from both displays' serial logs on 24 October: clean boots, pairing in under 8 s, correct node tables, and SF's indoor GPS fix wandering 100 to 400 m between packets with phantom speed. The displays were right; the fixes were wrong. Everything on this sheet is committed and pushed; nothing with the channel key is public.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STATUS UPDATE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06/06  STATUS  2026-10-28</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NEXT</a:t>
            </a:r>
          </a:p>
        </p:txBody>
      </p:sp>
      <p:graphicFrame>
        <p:nvGraphicFramePr>
          <p:cNvPr id="8" name="Table 7"/>
          <p:cNvGraphicFramePr>
            <a:graphicFrameLocks noGrp="1"/>
          </p:cNvGraphicFramePr>
          <p:nvPr/>
        </p:nvGraphicFramePr>
        <p:xfrm>
          <a:off x="502920" y="1280160"/>
          <a:ext cx="11155680" cy="3200400"/>
        </p:xfrm>
        <a:graphic>
          <a:graphicData uri="http://schemas.openxmlformats.org/drawingml/2006/table">
            <a:tbl>
              <a:tblPr firstRow="1" bandRow="1">
                <a:tableStyleId>{5C22544A-7EE6-4342-B048-85BDC9FD1C3A}</a:tableStyleId>
              </a:tblPr>
              <a:tblGrid>
                <a:gridCol w="1645920"/>
                <a:gridCol w="4572000"/>
                <a:gridCol w="3291840"/>
                <a:gridCol w="1645920"/>
              </a:tblGrid>
              <a:tr h="640080">
                <a:tc>
                  <a:txBody>
                    <a:bodyPr/>
                    <a:lstStyle/>
                    <a:p>
                      <a:r>
                        <a:rPr sz="1150" b="1">
                          <a:solidFill>
                            <a:srgbClr val="FFFFFF"/>
                          </a:solidFill>
                          <a:latin typeface="Cambria"/>
                        </a:rPr>
                        <a:t>When</a:t>
                      </a:r>
                    </a:p>
                  </a:txBody>
                  <a:tcPr marL="73152" marR="73152" marT="27432" marB="27432">
                    <a:solidFill>
                      <a:srgbClr val="16213D"/>
                    </a:solidFill>
                  </a:tcPr>
                </a:tc>
                <a:tc>
                  <a:txBody>
                    <a:bodyPr/>
                    <a:lstStyle/>
                    <a:p>
                      <a:r>
                        <a:rPr sz="1150" b="1">
                          <a:solidFill>
                            <a:srgbClr val="FFFFFF"/>
                          </a:solidFill>
                          <a:latin typeface="Cambria"/>
                        </a:rPr>
                        <a:t>What</a:t>
                      </a:r>
                    </a:p>
                  </a:txBody>
                  <a:tcPr marL="73152" marR="73152" marT="27432" marB="27432">
                    <a:solidFill>
                      <a:srgbClr val="16213D"/>
                    </a:solidFill>
                  </a:tcPr>
                </a:tc>
                <a:tc>
                  <a:txBody>
                    <a:bodyPr/>
                    <a:lstStyle/>
                    <a:p>
                      <a:r>
                        <a:rPr sz="1150" b="1">
                          <a:solidFill>
                            <a:srgbClr val="FFFFFF"/>
                          </a:solidFill>
                          <a:latin typeface="Cambria"/>
                        </a:rPr>
                        <a:t>Pass criterion</a:t>
                      </a:r>
                    </a:p>
                  </a:txBody>
                  <a:tcPr marL="73152" marR="73152" marT="27432" marB="27432">
                    <a:solidFill>
                      <a:srgbClr val="16213D"/>
                    </a:solidFill>
                  </a:tcPr>
                </a:tc>
                <a:tc>
                  <a:txBody>
                    <a:bodyPr/>
                    <a:lstStyle/>
                    <a:p>
                      <a:r>
                        <a:rPr sz="1150" b="1">
                          <a:solidFill>
                            <a:srgbClr val="FFFFFF"/>
                          </a:solidFill>
                          <a:latin typeface="Cambria"/>
                        </a:rPr>
                        <a:t>Owner</a:t>
                      </a:r>
                    </a:p>
                  </a:txBody>
                  <a:tcPr marL="73152" marR="73152" marT="27432" marB="27432">
                    <a:solidFill>
                      <a:srgbClr val="16213D"/>
                    </a:solidFill>
                  </a:tcPr>
                </a:tc>
              </a:tr>
              <a:tr h="640080">
                <a:tc>
                  <a:txBody>
                    <a:bodyPr/>
                    <a:lstStyle/>
                    <a:p>
                      <a:r>
                        <a:rPr sz="1150" b="0">
                          <a:solidFill>
                            <a:srgbClr val="222A3F"/>
                          </a:solidFill>
                          <a:latin typeface="Cambria"/>
                        </a:rPr>
                        <a:t>Next clear weekend</a:t>
                      </a:r>
                    </a:p>
                  </a:txBody>
                  <a:tcPr marL="73152" marR="73152" marT="27432" marB="27432">
                    <a:solidFill>
                      <a:srgbClr val="F2F5FA"/>
                    </a:solidFill>
                  </a:tcPr>
                </a:tc>
                <a:tc>
                  <a:txBody>
                    <a:bodyPr/>
                    <a:lstStyle/>
                    <a:p>
                      <a:r>
                        <a:rPr sz="1150" b="0">
                          <a:solidFill>
                            <a:srgbClr val="222A3F"/>
                          </a:solidFill>
                          <a:latin typeface="Cambria"/>
                        </a:rPr>
                        <a:t>New Mexico maximum-range drive, rescheduled</a:t>
                      </a:r>
                    </a:p>
                  </a:txBody>
                  <a:tcPr marL="73152" marR="73152" marT="27432" marB="27432">
                    <a:solidFill>
                      <a:srgbClr val="F2F5FA"/>
                    </a:solidFill>
                  </a:tcPr>
                </a:tc>
                <a:tc>
                  <a:txBody>
                    <a:bodyPr/>
                    <a:lstStyle/>
                    <a:p>
                      <a:r>
                        <a:rPr sz="1150" b="0">
                          <a:solidFill>
                            <a:srgbClr val="222A3F"/>
                          </a:solidFill>
                          <a:latin typeface="Cambria"/>
                        </a:rPr>
                        <a:t>Last packet distance logged; LINK LOST behaviour on the road</a:t>
                      </a:r>
                    </a:p>
                  </a:txBody>
                  <a:tcPr marL="73152" marR="73152" marT="27432" marB="27432">
                    <a:solidFill>
                      <a:srgbClr val="F2F5FA"/>
                    </a:solidFill>
                  </a:tcPr>
                </a:tc>
                <a:tc>
                  <a:txBody>
                    <a:bodyPr/>
                    <a:lstStyle/>
                    <a:p>
                      <a:r>
                        <a:rPr sz="1150" b="0">
                          <a:solidFill>
                            <a:srgbClr val="222A3F"/>
                          </a:solidFill>
                          <a:latin typeface="Cambria"/>
                        </a:rPr>
                        <a:t>Cannon, Victor</a:t>
                      </a:r>
                    </a:p>
                  </a:txBody>
                  <a:tcPr marL="73152" marR="73152" marT="27432" marB="27432">
                    <a:solidFill>
                      <a:srgbClr val="F2F5FA"/>
                    </a:solidFill>
                  </a:tcPr>
                </a:tc>
              </a:tr>
              <a:tr h="640080">
                <a:tc>
                  <a:txBody>
                    <a:bodyPr/>
                    <a:lstStyle/>
                    <a:p>
                      <a:r>
                        <a:rPr sz="1150" b="0">
                          <a:solidFill>
                            <a:srgbClr val="222A3F"/>
                          </a:solidFill>
                          <a:latin typeface="Cambria"/>
                        </a:rPr>
                        <a:t>This week</a:t>
                      </a:r>
                    </a:p>
                  </a:txBody>
                  <a:tcPr marL="73152" marR="73152" marT="27432" marB="27432">
                    <a:solidFill>
                      <a:srgbClr val="FFFFFF"/>
                    </a:solidFill>
                  </a:tcPr>
                </a:tc>
                <a:tc>
                  <a:txBody>
                    <a:bodyPr/>
                    <a:lstStyle/>
                    <a:p>
                      <a:r>
                        <a:rPr sz="1150" b="0">
                          <a:solidFill>
                            <a:srgbClr val="222A3F"/>
                          </a:solidFill>
                          <a:latin typeface="Cambria"/>
                        </a:rPr>
                        <a:t>Flat-battery campaign: five full discharges per radio, config and flash map read after each</a:t>
                      </a:r>
                    </a:p>
                  </a:txBody>
                  <a:tcPr marL="73152" marR="73152" marT="27432" marB="27432">
                    <a:solidFill>
                      <a:srgbClr val="FFFFFF"/>
                    </a:solidFill>
                  </a:tcPr>
                </a:tc>
                <a:tc>
                  <a:txBody>
                    <a:bodyPr/>
                    <a:lstStyle/>
                    <a:p>
                      <a:r>
                        <a:rPr sz="1150" b="0">
                          <a:solidFill>
                            <a:srgbClr val="222A3F"/>
                          </a:solidFill>
                          <a:latin typeface="Cambria"/>
                        </a:rPr>
                        <a:t>0 of 10 cycles lose configuration; no new unstable sectors</a:t>
                      </a:r>
                    </a:p>
                  </a:txBody>
                  <a:tcPr marL="73152" marR="73152" marT="27432" marB="27432">
                    <a:solidFill>
                      <a:srgbClr val="FFFFFF"/>
                    </a:solidFill>
                  </a:tcPr>
                </a:tc>
                <a:tc>
                  <a:txBody>
                    <a:bodyPr/>
                    <a:lstStyle/>
                    <a:p>
                      <a:r>
                        <a:rPr sz="1150" b="0">
                          <a:solidFill>
                            <a:srgbClr val="222A3F"/>
                          </a:solidFill>
                          <a:latin typeface="Cambria"/>
                        </a:rPr>
                        <a:t>Deo</a:t>
                      </a:r>
                    </a:p>
                  </a:txBody>
                  <a:tcPr marL="73152" marR="73152" marT="27432" marB="27432">
                    <a:solidFill>
                      <a:srgbClr val="FFFFFF"/>
                    </a:solidFill>
                  </a:tcPr>
                </a:tc>
              </a:tr>
              <a:tr h="640080">
                <a:tc>
                  <a:txBody>
                    <a:bodyPr/>
                    <a:lstStyle/>
                    <a:p>
                      <a:r>
                        <a:rPr sz="1150" b="0">
                          <a:solidFill>
                            <a:srgbClr val="222A3F"/>
                          </a:solidFill>
                          <a:latin typeface="Cambria"/>
                        </a:rPr>
                        <a:t>This week</a:t>
                      </a:r>
                    </a:p>
                  </a:txBody>
                  <a:tcPr marL="73152" marR="73152" marT="27432" marB="27432">
                    <a:solidFill>
                      <a:srgbClr val="F2F5FA"/>
                    </a:solidFill>
                  </a:tcPr>
                </a:tc>
                <a:tc>
                  <a:txBody>
                    <a:bodyPr/>
                    <a:lstStyle/>
                    <a:p>
                      <a:r>
                        <a:rPr sz="1150" b="0">
                          <a:solidFill>
                            <a:srgbClr val="222A3F"/>
                          </a:solidFill>
                          <a:latin typeface="Cambria"/>
                        </a:rPr>
                        <a:t>Oscilloscope on the 3V3 pin during a transmit burst at a 3.4 V cell</a:t>
                      </a:r>
                    </a:p>
                  </a:txBody>
                  <a:tcPr marL="73152" marR="73152" marT="27432" marB="27432">
                    <a:solidFill>
                      <a:srgbClr val="F2F5FA"/>
                    </a:solidFill>
                  </a:tcPr>
                </a:tc>
                <a:tc>
                  <a:txBody>
                    <a:bodyPr/>
                    <a:lstStyle/>
                    <a:p>
                      <a:r>
                        <a:rPr sz="1150" b="0">
                          <a:solidFill>
                            <a:srgbClr val="222A3F"/>
                          </a:solidFill>
                          <a:latin typeface="Cambria"/>
                        </a:rPr>
                        <a:t>Minimum rail voltage recorded</a:t>
                      </a:r>
                    </a:p>
                  </a:txBody>
                  <a:tcPr marL="73152" marR="73152" marT="27432" marB="27432">
                    <a:solidFill>
                      <a:srgbClr val="F2F5FA"/>
                    </a:solidFill>
                  </a:tcPr>
                </a:tc>
                <a:tc>
                  <a:txBody>
                    <a:bodyPr/>
                    <a:lstStyle/>
                    <a:p>
                      <a:r>
                        <a:rPr sz="1150" b="0">
                          <a:solidFill>
                            <a:srgbClr val="222A3F"/>
                          </a:solidFill>
                          <a:latin typeface="Cambria"/>
                        </a:rPr>
                        <a:t>Victor</a:t>
                      </a:r>
                    </a:p>
                  </a:txBody>
                  <a:tcPr marL="73152" marR="73152" marT="27432" marB="27432">
                    <a:solidFill>
                      <a:srgbClr val="F2F5FA"/>
                    </a:solidFill>
                  </a:tcPr>
                </a:tc>
              </a:tr>
              <a:tr h="640080">
                <a:tc>
                  <a:txBody>
                    <a:bodyPr/>
                    <a:lstStyle/>
                    <a:p>
                      <a:r>
                        <a:rPr sz="1150" b="0">
                          <a:solidFill>
                            <a:srgbClr val="222A3F"/>
                          </a:solidFill>
                          <a:latin typeface="Cambria"/>
                        </a:rPr>
                        <a:t>4 November</a:t>
                      </a:r>
                    </a:p>
                  </a:txBody>
                  <a:tcPr marL="73152" marR="73152" marT="27432" marB="27432">
                    <a:solidFill>
                      <a:srgbClr val="FFFFFF"/>
                    </a:solidFill>
                  </a:tcPr>
                </a:tc>
                <a:tc>
                  <a:txBody>
                    <a:bodyPr/>
                    <a:lstStyle/>
                    <a:p>
                      <a:r>
                        <a:rPr sz="1150" b="0">
                          <a:solidFill>
                            <a:srgbClr val="222A3F"/>
                          </a:solidFill>
                          <a:latin typeface="Cambria"/>
                        </a:rPr>
                        <a:t>Full presentation: tests, failures, root cause</a:t>
                      </a:r>
                    </a:p>
                  </a:txBody>
                  <a:tcPr marL="73152" marR="73152" marT="27432" marB="27432">
                    <a:solidFill>
                      <a:srgbClr val="FFFFFF"/>
                    </a:solidFill>
                  </a:tcPr>
                </a:tc>
                <a:tc>
                  <a:txBody>
                    <a:bodyPr/>
                    <a:lstStyle/>
                    <a:p>
                      <a:r>
                        <a:rPr sz="1150" b="0">
                          <a:solidFill>
                            <a:srgbClr val="222A3F"/>
                          </a:solidFill>
                          <a:latin typeface="Cambria"/>
                        </a:rPr>
                        <a:t>20 sheets, 25 minutes</a:t>
                      </a:r>
                    </a:p>
                  </a:txBody>
                  <a:tcPr marL="73152" marR="73152" marT="27432" marB="27432">
                    <a:solidFill>
                      <a:srgbClr val="FFFFFF"/>
                    </a:solidFill>
                  </a:tcPr>
                </a:tc>
                <a:tc>
                  <a:txBody>
                    <a:bodyPr/>
                    <a:lstStyle/>
                    <a:p>
                      <a:r>
                        <a:rPr sz="1150" b="0">
                          <a:solidFill>
                            <a:srgbClr val="222A3F"/>
                          </a:solidFill>
                          <a:latin typeface="Cambria"/>
                        </a:rPr>
                        <a:t>All</a:t>
                      </a:r>
                    </a:p>
                  </a:txBody>
                  <a:tcPr marL="73152" marR="73152" marT="27432" marB="27432">
                    <a:solidFill>
                      <a:srgbClr val="FFFFFF"/>
                    </a:solidFill>
                  </a:tcPr>
                </a:tc>
              </a:tr>
            </a:tbl>
          </a:graphicData>
        </a:graphic>
      </p:graphicFrame>
      <p:sp>
        <p:nvSpPr>
          <p:cNvPr id="9" name="Rectangle 8"/>
          <p:cNvSpPr/>
          <p:nvPr/>
        </p:nvSpPr>
        <p:spPr>
          <a:xfrm>
            <a:off x="502920" y="4663440"/>
            <a:ext cx="11155680" cy="128016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4782312"/>
            <a:ext cx="10826496" cy="1042415"/>
          </a:xfrm>
          <a:prstGeom prst="rect">
            <a:avLst/>
          </a:prstGeom>
          <a:noFill/>
        </p:spPr>
        <p:txBody>
          <a:bodyPr wrap="square" lIns="0" rIns="0" tIns="0" bIns="0">
            <a:spAutoFit/>
          </a:bodyPr>
          <a:lstStyle/>
          <a:p>
            <a:r>
              <a:rPr sz="1350" b="1" spc="100">
                <a:solidFill>
                  <a:srgbClr val="1F9D68"/>
                </a:solidFill>
                <a:latin typeface="Cambria"/>
              </a:rPr>
              <a:t>THE ASK</a:t>
            </a:r>
          </a:p>
          <a:p>
            <a:pPr>
              <a:spcBef>
                <a:spcPts val="400"/>
              </a:spcBef>
            </a:pPr>
            <a:r>
              <a:rPr sz="1250">
                <a:solidFill>
                  <a:srgbClr val="222A3F"/>
                </a:solidFill>
                <a:latin typeface="Cambria"/>
              </a:rPr>
              <a:t>Approve the flat-battery campaign before the next field test. It reproduces the exact conditions of all three battery incidents, with the flash read after every cycle, and it is the test that proves the fix rather than hoping for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